
<file path=[Content_Types].xml><?xml version="1.0" encoding="utf-8"?>
<Types xmlns="http://schemas.openxmlformats.org/package/2006/content-types">
  <Default Extension="odttf" ContentType="application/vnd.openxmlformats-officedocument.obfuscatedFont"/>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4"/>
  </p:notesMasterIdLst>
  <p:sldIdLst>
    <p:sldId id="282" r:id="rId2"/>
    <p:sldId id="284" r:id="rId3"/>
    <p:sldId id="258" r:id="rId4"/>
    <p:sldId id="259" r:id="rId5"/>
    <p:sldId id="260" r:id="rId6"/>
    <p:sldId id="278" r:id="rId7"/>
    <p:sldId id="288" r:id="rId8"/>
    <p:sldId id="279" r:id="rId9"/>
    <p:sldId id="283" r:id="rId10"/>
    <p:sldId id="287" r:id="rId11"/>
    <p:sldId id="286" r:id="rId12"/>
    <p:sldId id="289" r:id="rId13"/>
  </p:sldIdLst>
  <p:sldSz cx="12192000" cy="6858000"/>
  <p:notesSz cx="6858000" cy="9144000"/>
  <p:embeddedFontLst>
    <p:embeddedFont>
      <p:font typeface="Silkscreen" pitchFamily="2" charset="0"/>
      <p:regular r:id="rId15"/>
      <p:bold r:id="rId15"/>
    </p:embeddedFont>
    <p:embeddedFont>
      <p:font typeface="Tiny5" panose="02000000000000000000" pitchFamily="2" charset="0"/>
      <p:regular r:id="rId16"/>
      <p:bold r:id="rId16"/>
    </p:embeddedFont>
  </p:embeddedFontLst>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6" autoAdjust="0"/>
    <p:restoredTop sz="76820" autoAdjust="0"/>
  </p:normalViewPr>
  <p:slideViewPr>
    <p:cSldViewPr snapToGrid="0" snapToObjects="1">
      <p:cViewPr varScale="1">
        <p:scale>
          <a:sx n="85" d="100"/>
          <a:sy n="85" d="100"/>
        </p:scale>
        <p:origin x="52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odttf"/><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odttf"/><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6463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deck explains </a:t>
            </a:r>
            <a:r>
              <a:rPr lang="en-US" b="1" dirty="0"/>
              <a:t>how Mistral AI can win financial-services customers</a:t>
            </a:r>
            <a:r>
              <a:rPr lang="en-US" dirty="0"/>
              <a:t> with secure, controlled AI. </a:t>
            </a:r>
            <a:r>
              <a:rPr lang="en-US" b="1" dirty="0"/>
              <a:t>Win one important, document-heavy banking workflow by proving Mistral is accurate, secure, controllable, and easy to approve—then expand from that proof.</a:t>
            </a:r>
          </a:p>
          <a:p>
            <a:endParaRPr lang="en-US" b="1" dirty="0"/>
          </a:p>
          <a:p>
            <a:r>
              <a:rPr lang="en-US" dirty="0"/>
              <a:t>I approached the assignment as an Industries PMM, not as someone simply producing an FSI marketing deck. I started with the market and buyer problem, translated that into two repeatable Mistral solutions, grounded the positioning in customer proof, identified where Sales should focus, built the campaign and partner motion, and then worked backward from the technical and governance gates that Sales and FDEs actually need to clear to get into production.</a:t>
            </a:r>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Start with </a:t>
            </a:r>
            <a:r>
              <a:rPr lang="en-US" b="1" dirty="0"/>
              <a:t>one sensitive banking use case</a:t>
            </a:r>
            <a:r>
              <a:rPr lang="en-US" dirty="0"/>
              <a:t>, prove Mistral works safely, then expand to similar use cases. </a:t>
            </a:r>
          </a:p>
          <a:p>
            <a:endParaRPr lang="en-US" dirty="0"/>
          </a:p>
          <a:p>
            <a:r>
              <a:rPr lang="en-US" dirty="0"/>
              <a:t>[Sources]</a:t>
            </a:r>
          </a:p>
          <a:p>
            <a:r>
              <a:rPr lang="en-US" dirty="0"/>
              <a:t>https://mistral.ai/industry/finance/</a:t>
            </a:r>
          </a:p>
          <a:p>
            <a:r>
              <a:rPr lang="en-US" dirty="0"/>
              <a:t>https://group.bnpparibas/en/press-release/bnp-paribas-and-mistral-ai-extend-their-partnership-to-support-the-next-phase-of-generative-ai-deployment-within-the-group</a:t>
            </a:r>
          </a:p>
          <a:p>
            <a:r>
              <a:rPr lang="en-US" dirty="0"/>
              <a:t>https://mistral.ai/customers/bnp-paribas/</a:t>
            </a:r>
          </a:p>
          <a:p>
            <a:r>
              <a:rPr lang="en-US" dirty="0"/>
              <a:t>https://mistral.ai/customers/ardian/</a:t>
            </a:r>
          </a:p>
          <a:p>
            <a:r>
              <a:rPr lang="en-US" dirty="0"/>
              <a:t>https://www.hsbc.com/news-and-views/news/media-releases/2025/hsbc-and-mistral-ai-join-forces-to-accelerate-ai-adoption-across-global-bank</a:t>
            </a:r>
          </a:p>
          <a:p>
            <a:r>
              <a:rPr lang="en-US" dirty="0"/>
              <a:t>https://www.lapostegroupe.com/en/news/la-banque-postale-signs-a-strategic-partnership-with-mistral-ai-to-accelerate-progress-in-ai</a:t>
            </a:r>
          </a:p>
          <a:p>
            <a:r>
              <a:rPr lang="en-US" dirty="0"/>
              <a:t>https://mistral.ai/news/ai-studio/</a:t>
            </a:r>
          </a:p>
          <a:p>
            <a:r>
              <a:rPr lang="en-US" dirty="0"/>
              <a:t>https://mistral.ai/products/studio/</a:t>
            </a:r>
          </a:p>
          <a:p>
            <a:r>
              <a:rPr lang="en-US" dirty="0"/>
              <a:t>https://mistral.ai/fr/news/ocr-4/</a:t>
            </a:r>
          </a:p>
          <a:p>
            <a:r>
              <a:rPr lang="en-US" dirty="0"/>
              <a:t>https://www.groupemutuel.ch/en/groupe-mutuel/media-communication/press-area/press-releases.html</a:t>
            </a:r>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Banks want the benefits of AI </a:t>
            </a:r>
            <a:r>
              <a:rPr lang="en-US" b="1" dirty="0"/>
              <a:t>without losing control over data, security, compliance, and decisions</a:t>
            </a:r>
            <a:r>
              <a:rPr lang="en-US" dirty="0"/>
              <a:t>. Mistral should position itself at that intersection. Build messaging around the buyer tension: </a:t>
            </a:r>
            <a:r>
              <a:rPr lang="en-US" b="1" dirty="0"/>
              <a:t>they want AI capability, but need control, security and auditability</a:t>
            </a:r>
            <a:r>
              <a:rPr lang="en-US" dirty="0"/>
              <a:t>.</a:t>
            </a:r>
          </a:p>
          <a:p>
            <a:endParaRPr lang="en-US" dirty="0"/>
          </a:p>
          <a:p>
            <a:r>
              <a:rPr lang="en-US" b="1" dirty="0"/>
              <a:t>Sales opens the door → you run industry/customer discovery → FDE validates technically → you turn the learning into better GTM.</a:t>
            </a:r>
          </a:p>
          <a:p>
            <a:r>
              <a:rPr lang="en-US" dirty="0"/>
              <a:t>Sales owns the pipeline. You help Sales decide where to focus and how to convert it faster.</a:t>
            </a:r>
          </a:p>
          <a:p>
            <a:endParaRPr lang="en-US" dirty="0"/>
          </a:p>
          <a:p>
            <a:pPr lvl="0"/>
            <a:r>
              <a:rPr lang="en-US" b="1" dirty="0"/>
              <a:t>Sales/AE</a:t>
            </a:r>
            <a:r>
              <a:rPr lang="en-US" dirty="0"/>
              <a:t> brings you into active customer conversations. </a:t>
            </a:r>
          </a:p>
          <a:p>
            <a:pPr lvl="0"/>
            <a:r>
              <a:rPr lang="en-US" b="1" dirty="0"/>
              <a:t>FDEs</a:t>
            </a:r>
            <a:r>
              <a:rPr lang="en-US" dirty="0"/>
              <a:t> bring you into technical discovery, pilots, and evaluations. </a:t>
            </a:r>
          </a:p>
          <a:p>
            <a:pPr lvl="0"/>
            <a:r>
              <a:rPr lang="en-US" b="1" dirty="0"/>
              <a:t>Customer success / existing account owners</a:t>
            </a:r>
            <a:r>
              <a:rPr lang="en-US" dirty="0"/>
              <a:t> connect you with current customers for feedback and case studies. </a:t>
            </a:r>
          </a:p>
          <a:p>
            <a:pPr lvl="0"/>
            <a:r>
              <a:rPr lang="en-US" b="1" dirty="0"/>
              <a:t>Events, webinars, and executive roundtables</a:t>
            </a:r>
            <a:r>
              <a:rPr lang="en-US" dirty="0"/>
              <a:t> create new customer conversations. </a:t>
            </a:r>
          </a:p>
          <a:p>
            <a:pPr lvl="0"/>
            <a:r>
              <a:rPr lang="en-US" dirty="0"/>
              <a:t>For strategic accounts, you may ask Sales: </a:t>
            </a:r>
            <a:r>
              <a:rPr lang="en-US" b="1" dirty="0"/>
              <a:t>“Can you get me 30 minutes with the customer to understand this workflow and their blockers?”</a:t>
            </a:r>
            <a:r>
              <a:rPr lang="en-US" dirty="0"/>
              <a:t> </a:t>
            </a:r>
          </a:p>
          <a:p>
            <a:r>
              <a:rPr lang="en-US"/>
              <a:t>Proposed PMM positioning — “Where Mistral should win” is a selective workload-positioning recommendation based on the differentiated capabilities already described in the deck; it is not presented as a verified Mistral internal segmentation process or a claim of superiority across all AI workloads.</a:t>
            </a:r>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Focus first on </a:t>
            </a:r>
            <a:r>
              <a:rPr lang="en-US" b="1" dirty="0"/>
              <a:t>regulated workflows</a:t>
            </a:r>
            <a:r>
              <a:rPr lang="en-US" dirty="0"/>
              <a:t> and </a:t>
            </a:r>
            <a:r>
              <a:rPr lang="en-US" b="1" dirty="0"/>
              <a:t>financial-document intelligence</a:t>
            </a:r>
            <a:r>
              <a:rPr lang="en-US" dirty="0"/>
              <a:t>. Other AI use cases come later. </a:t>
            </a:r>
          </a:p>
          <a:p>
            <a:r>
              <a:rPr lang="en-US" b="1" dirty="0"/>
              <a:t>Main stakeholder: Product</a:t>
            </a:r>
            <a:endParaRPr lang="en-US" dirty="0"/>
          </a:p>
          <a:p>
            <a:endParaRPr lang="en-US" dirty="0"/>
          </a:p>
          <a:p>
            <a:pPr lvl="0"/>
            <a:r>
              <a:rPr lang="en-US" b="1" dirty="0"/>
              <a:t>Regulated Workflows</a:t>
            </a:r>
            <a:r>
              <a:rPr lang="en-US" dirty="0"/>
              <a:t> </a:t>
            </a:r>
            <a:r>
              <a:rPr lang="en-US" b="1" dirty="0"/>
              <a:t>Example:</a:t>
            </a:r>
            <a:r>
              <a:rPr lang="en-US" dirty="0"/>
              <a:t> An AI reviews a </a:t>
            </a:r>
            <a:r>
              <a:rPr lang="en-US" b="1" dirty="0"/>
              <a:t>KYC case</a:t>
            </a:r>
            <a:r>
              <a:rPr lang="en-US" dirty="0"/>
              <a:t>, summarizes suspicious information, shows its sources, and a compliance officer makes the final decision. </a:t>
            </a:r>
          </a:p>
          <a:p>
            <a:pPr lvl="0"/>
            <a:r>
              <a:rPr lang="en-US" b="1" dirty="0"/>
              <a:t>Financial-document intelligence</a:t>
            </a:r>
            <a:r>
              <a:rPr lang="en-US" dirty="0"/>
              <a:t> = using AI to read, extract, compare, and cite information from complex financial documents.</a:t>
            </a:r>
            <a:br>
              <a:rPr lang="en-US" dirty="0"/>
            </a:br>
            <a:r>
              <a:rPr lang="en-US" b="1" dirty="0"/>
              <a:t>Example:</a:t>
            </a:r>
            <a:r>
              <a:rPr lang="en-US" dirty="0"/>
              <a:t> A private-equity analyst uploads a 200-page deal pack; AI extracts revenue numbers, compares documents, and cites exactly where each answer came from.</a:t>
            </a:r>
          </a:p>
          <a:p>
            <a:endParaRPr lang="en-US" dirty="0"/>
          </a:p>
          <a:p>
            <a:r>
              <a:rPr lang="en-US" dirty="0"/>
              <a:t>I’d package each as a </a:t>
            </a:r>
            <a:r>
              <a:rPr lang="en-US" b="1" dirty="0"/>
              <a:t>field-ready solution kit</a:t>
            </a:r>
            <a:r>
              <a:rPr lang="en-US" dirty="0"/>
              <a:t>:</a:t>
            </a:r>
          </a:p>
          <a:p>
            <a:pPr lvl="0"/>
            <a:r>
              <a:rPr lang="en-US" b="1" dirty="0"/>
              <a:t>Regulated Workflows:</a:t>
            </a:r>
            <a:r>
              <a:rPr lang="en-US" dirty="0"/>
              <a:t> buyer problem + KYC/AML/credit use case + demo + architecture + compliance proof + sales pitch. </a:t>
            </a:r>
          </a:p>
          <a:p>
            <a:pPr lvl="0"/>
            <a:r>
              <a:rPr lang="en-US" b="1" dirty="0"/>
              <a:t>Financial Document Intelligence:</a:t>
            </a:r>
            <a:r>
              <a:rPr lang="en-US" dirty="0"/>
              <a:t> document use case + OCR/RAG demo + benchmark + customer proof + one-pager + evaluation offer.</a:t>
            </a:r>
          </a:p>
          <a:p>
            <a:endParaRPr lang="en-US"/>
          </a:p>
          <a:p>
            <a:r>
              <a:rPr lang="en-US"/>
              <a:t>Proposed PMM operating model — Field-Ready Solution Kit</a:t>
            </a:r>
          </a:p>
          <a:p>
            <a:r>
              <a:rPr lang="en-US"/>
              <a:t>The visible kit structure (seller play, customer deck, demo, discovery, objection handling, evaluation offer and proof pack) is a proposed enablement mechanism. Existing Mistral products, deployment capabilities and customer proof remain source-backed only where separately cited in these notes.</a:t>
            </a:r>
          </a:p>
          <a:p>
            <a:r>
              <a:rPr lang="en-US"/>
              <a:t>These operating mechanisms are proposed PMM approaches intended to scale validated customer learnings into repeatable solutions and field motions; they are not presented as existing Mistral internal processes unless separately sourced.</a:t>
            </a:r>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Use customer examples carefully. </a:t>
            </a:r>
            <a:r>
              <a:rPr lang="en-US" b="1" dirty="0"/>
              <a:t>Only claim what the evidence actually proves</a:t>
            </a:r>
            <a:r>
              <a:rPr lang="en-US" dirty="0"/>
              <a:t> about deployment, adoption, or production. </a:t>
            </a:r>
          </a:p>
          <a:p>
            <a:r>
              <a:rPr lang="en-US"/>
              <a:t>Proposed PMM operating model — Customer-Proof Flywheel. The proof-to-reference-to-field-asset motion is illustrative. Customer references, quotations, case studies and named field assets should be used only where customer permission allows; the mechanism does not imply that every customer is referenceable or has approved publication.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Prioritize banks where there is already a strong AI initiative and a clear document-heavy problem. </a:t>
            </a:r>
            <a:r>
              <a:rPr lang="en-US" b="1" dirty="0"/>
              <a:t>Crédit Agricole, Société Générale, Santander, and FAB are the strongest immediate targets.</a:t>
            </a:r>
          </a:p>
          <a:p>
            <a:r>
              <a:rPr lang="en-US" dirty="0"/>
              <a:t>Main stakeholder: Sales</a:t>
            </a:r>
          </a:p>
          <a:p>
            <a:r>
              <a:rPr lang="en-US" b="1" dirty="0"/>
              <a:t>Pipeline Created →</a:t>
            </a:r>
            <a:r>
              <a:rPr lang="en-US" dirty="0"/>
              <a:t> focuses on </a:t>
            </a:r>
            <a:r>
              <a:rPr lang="en-US" b="1" dirty="0"/>
              <a:t>who to target, why now, and what use case to lead with</a:t>
            </a:r>
            <a:r>
              <a:rPr lang="en-US" dirty="0"/>
              <a:t>.</a:t>
            </a:r>
          </a:p>
          <a:p>
            <a:endParaRPr lang="en-US" dirty="0"/>
          </a:p>
          <a:p>
            <a:r>
              <a:rPr lang="en-US" dirty="0"/>
              <a:t>[Sources]</a:t>
            </a:r>
          </a:p>
          <a:p>
            <a:r>
              <a:rPr lang="en-US" dirty="0"/>
              <a:t>Crédit Agricole trigger / AI investment, Group AI company and CA-GIP posture — Crédit Agricole steps up its AI transformation — https://presse.credit-agricole.com/credit-agricole-steps-up-its-ai-transformation/?lang=eng</a:t>
            </a:r>
          </a:p>
          <a:p>
            <a:r>
              <a:rPr lang="en-US" dirty="0"/>
              <a:t>Crédit Agricole Group KYC target — Crédit Agricole S.A. unveils strategic plan ACT 2028 — https://pressroom.credit-agricole.com/news/credit-agricole-s-a-unveils-its-strategic-plan-act-2028-fc45e-94727.html</a:t>
            </a:r>
          </a:p>
          <a:p>
            <a:r>
              <a:rPr lang="en-US" dirty="0"/>
              <a:t>Crédit Agricole transformation context — ACT 2028 transformation — https://rapport-integre.credit-agricole.com/en/strategy/act-2028-credit-agricole-sa-new-strategic-plan/transformation/</a:t>
            </a:r>
          </a:p>
          <a:p>
            <a:r>
              <a:rPr lang="en-US" dirty="0"/>
              <a:t>Société Générale production AI estate — Innovation &amp; digital — https://investors.societegenerale.com/en/strategy-governance/strategy/innovation-digital</a:t>
            </a:r>
          </a:p>
          <a:p>
            <a:r>
              <a:rPr lang="en-US" dirty="0"/>
              <a:t>Société Générale Global Markets trigger — Global Markets Data/AI Office role — https://careers.societegenerale.com/en/job-offers/graduate-program-business-analyst-ai-office-global-markets-26000F90-en</a:t>
            </a:r>
          </a:p>
          <a:p>
            <a:r>
              <a:rPr lang="en-US" dirty="0"/>
              <a:t>Santander scale, agents, AML and value trigger — Santander turns AI-first strategy into measurable impact — https://www.santander.com/en/stories/santander-turns-its-ai-first-strategy-into-measurable-impact-and-extends-ai-access-to-all-185000-employees</a:t>
            </a:r>
          </a:p>
          <a:p>
            <a:r>
              <a:rPr lang="en-US" dirty="0"/>
              <a:t>Santander G42 incumbent — Santander and G42 strategic AI cooperation — https://www.santander.com/en/press-room/press-releases/2026/06/banco-santander-and-g42-sign-memorandum-of-understanding-to-explore-strategic-cooperation-in-artificial-intelligence</a:t>
            </a:r>
          </a:p>
          <a:p>
            <a:r>
              <a:rPr lang="en-US" dirty="0"/>
              <a:t>Santander OpenAI / multi-provider context — Santander Data &amp; AI First strategy — https://www.santander.com/en/stories/santander-data-ai-first-strategy-accelerates-through-openai-collaboration</a:t>
            </a:r>
          </a:p>
          <a:p>
            <a:r>
              <a:rPr lang="en-US" dirty="0"/>
              <a:t>FAB agentic use cases and data platform — FAB accelerates enterprise AI adoption — https://www.bankfab.com/en-ae/about-fab/group/in-the-media/fab-accelerates-enterprise-ai-adoption</a:t>
            </a:r>
          </a:p>
          <a:p>
            <a:r>
              <a:rPr lang="en-US" dirty="0"/>
              <a:t>FAB productivity and manual-effort outcomes — FAB delivers strong H1 2026 results — https://www.bankfab.com/en-ae/about-fab/group/in-the-media/fab-delivers-strong-h1-2026-results</a:t>
            </a:r>
          </a:p>
          <a:p>
            <a:r>
              <a:rPr lang="en-US" dirty="0"/>
              <a:t>ING onboarding/KYC/CDD trigger — Product Area Lead, WB Advanced Analytics — https://careers.ing.com/nl/banen/amsterdam/product-area-lead-wholesale-banking-advanced-analytics-onboarding-and-kyc/3121/39966330560</a:t>
            </a:r>
          </a:p>
          <a:p>
            <a:r>
              <a:rPr lang="en-US" dirty="0"/>
              <a:t>UBS Red incumbent metrics — UBS innovation and AI — https://www.ubs.com/global/en/our-firm/what-we-do/technology/innovation-and-ai.html</a:t>
            </a:r>
          </a:p>
          <a:p>
            <a:r>
              <a:rPr lang="en-US" dirty="0"/>
              <a:t>DBS scale and economic value — DBS Annual Report 2025, CEO reflections — https://www.dbs.com/annualreports/2025/ceo-reflections.html</a:t>
            </a:r>
          </a:p>
          <a:p>
            <a:r>
              <a:rPr lang="en-US" dirty="0"/>
              <a:t>DBS ADA and GenAI governance estate — DBS Annual Report 2025, CIO statement — https://www.dbs.com/annualreports/2025/cio-statement.html</a:t>
            </a:r>
          </a:p>
          <a:p>
            <a:r>
              <a:rPr lang="en-US" dirty="0"/>
              <a:t>Julius Baer on-prem assistant and screening estate — Julius Baer global AI transformation — https://www.juliusbaer.com/en/insights/company-insights/behind-the-scenes/how-julius-baers-20-years-in-asia-are-shaping-its-global-ai-transformation/</a:t>
            </a:r>
          </a:p>
          <a:p>
            <a:r>
              <a:rPr lang="en-US" dirty="0"/>
              <a:t>BNY production metrics and Eliza incumbent — BNY Annual Report 2025 — https://www.bny.com/corporate/global/en/investor-relations/annual-report-2025.html</a:t>
            </a:r>
          </a:p>
          <a:p>
            <a:r>
              <a:rPr lang="en-US" dirty="0"/>
              <a:t>Deutsche Bank live TPRM workflow and performance — Putting agentic AI to work in TPRM — https://www.db.com/news/detail/20260513-putting-agentic-ai-to-work-in-third-party-risk-management?language_id=1</a:t>
            </a:r>
          </a:p>
          <a:p>
            <a:r>
              <a:rPr lang="en-US" dirty="0"/>
              <a:t>Mistral finance KYC/AML architecture — Mistral AI for financial services — https://mistral.ai/industry/finance/</a:t>
            </a:r>
          </a:p>
          <a:p>
            <a:r>
              <a:rPr lang="en-US" dirty="0"/>
              <a:t>OCR4 capability and self-hosting status — OCR 4 announcement — https://mistral.ai/fr/news/ocr-4/</a:t>
            </a:r>
          </a:p>
          <a:p>
            <a:r>
              <a:rPr lang="en-US" dirty="0"/>
              <a:t>OCR4 model specification — OCR 4.0 model card — https://docs.mistral.ai/models/model-cards/ocr-4-0</a:t>
            </a:r>
          </a:p>
          <a:p>
            <a:r>
              <a:rPr lang="en-US" dirty="0"/>
              <a:t>Workflows preview, orchestration and customer-use status — Mistral Workflows — https://mistral.ai/fr/news/workflows/</a:t>
            </a:r>
          </a:p>
          <a:p>
            <a:r>
              <a:rPr lang="en-US" dirty="0"/>
              <a:t>Workflows execution / human-approval architecture — Building Workflows — https://docs.mistral.ai/studio-api/workflows/building-workflows/workflows</a:t>
            </a:r>
          </a:p>
          <a:p>
            <a:r>
              <a:rPr lang="en-US" dirty="0"/>
              <a:t>Studio evaluation, observability and lineage — Mistral AI Studio — https://mistral.ai/news/ai-studio/</a:t>
            </a:r>
          </a:p>
          <a:p>
            <a:r>
              <a:rPr lang="en-US" dirty="0"/>
              <a:t>BNP Paribas Global Markets and bank-controlled deployment proof — BNP Paribas customer story — https://mistral.ai/customers/bnp-paribas/</a:t>
            </a:r>
          </a:p>
          <a:p>
            <a:r>
              <a:rPr lang="en-US" dirty="0"/>
              <a:t>Ardian financial-document intelligence proof — Ardian customer story — https://mistral.ai/fr/customers/ardian/</a:t>
            </a:r>
          </a:p>
          <a:p>
            <a:r>
              <a:rPr lang="en-US" dirty="0"/>
              <a:t>La Banque </a:t>
            </a:r>
            <a:r>
              <a:rPr lang="en-US" dirty="0" err="1"/>
              <a:t>Postale</a:t>
            </a:r>
            <a:r>
              <a:rPr lang="en-US" dirty="0"/>
              <a:t> on-prem banking partnership proof — La Banque </a:t>
            </a:r>
            <a:r>
              <a:rPr lang="en-US" dirty="0" err="1"/>
              <a:t>Postale</a:t>
            </a:r>
            <a:r>
              <a:rPr lang="en-US" dirty="0"/>
              <a:t> and Mistral AI partnership — https://www.lapostegroupe.com/en/news/la-banque-postale-signs-a-strategic-partnership-with-mistral-ai-to-accelerate-progress-in-ai</a:t>
            </a:r>
          </a:p>
          <a:p>
            <a:r>
              <a:rPr lang="en-US" dirty="0"/>
              <a:t>HSBC complex financial-document and multilingual scope — HSBC and Mistral AI partnership — https://www.hsbc.com/news-and-views/news/media-releases/2025/hsbc-and-mistral-ai-join-forces-to-accelerate-ai-adoption-across-global-bank</a:t>
            </a:r>
          </a:p>
          <a:p>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Sources:</a:t>
            </a:r>
          </a:p>
          <a:p>
            <a:r>
              <a:t>https://mistral.ai/customers/bnp-paribas/</a:t>
            </a:r>
          </a:p>
          <a:p>
            <a:r>
              <a:t>https://group.bnpparibas/en/press-release/bnp-paribas-and-mistral-ai-extend-their-partnership-to-support-the-next-phase-of-generative-ai-deployment-within-the-group</a:t>
            </a:r>
          </a:p>
          <a:p>
            <a:r>
              <a:t>https://www.quantexa.com/platform/agent-gateway/</a:t>
            </a:r>
          </a:p>
          <a:p>
            <a:r>
              <a:t>https://www.quantexa.com/press/quantexa-makes-its-decision-intelligence-platform-agent-ready/</a:t>
            </a:r>
          </a:p>
          <a:p>
            <a:r>
              <a:t>https://www.quantexa.com/partner-program/</a:t>
            </a:r>
          </a:p>
          <a:p>
            <a:r>
              <a:t>https://eqtgroup.com/about/motherbrain</a:t>
            </a:r>
          </a:p>
          <a:p>
            <a:r>
              <a:t>https://eqtgroup.com/</a:t>
            </a:r>
          </a:p>
          <a:p>
            <a:r>
              <a:t>https://about.amundi.com/</a:t>
            </a:r>
          </a:p>
          <a:p>
            <a:r>
              <a:t>https://www.partnersgroup.com/</a:t>
            </a:r>
          </a:p>
          <a:p>
            <a:r>
              <a:t>https://www.mubadala.com/</a:t>
            </a:r>
          </a:p>
          <a:p>
            <a:r>
              <a:t>https://www.mubadala.com/en/news/abu-dhabi-launches-comprehensive-global-investment-strategy-on-artificial-intelligence</a:t>
            </a:r>
          </a:p>
          <a:p>
            <a:r>
              <a:t>https://www.mgx.ae/</a:t>
            </a:r>
          </a:p>
          <a:p>
            <a:r>
              <a:t>https://www.swissre.com/risk-knowledge/advancing-societal-benefits-digitalisation.html</a:t>
            </a:r>
          </a:p>
          <a:p>
            <a:r>
              <a:t>https://www.swissre.com/</a:t>
            </a:r>
          </a:p>
          <a:p>
            <a:r>
              <a:t>https://www.lseg.com/en/risk-intelligence</a:t>
            </a:r>
          </a:p>
          <a:p>
            <a:r>
              <a:t>https://www.lseg.com/en/solutions/ai-finance-solutions</a:t>
            </a:r>
          </a:p>
          <a:p>
            <a:r>
              <a:t>https://corporate.visa.com/en/sites/visa-perspectives/newsroom/product-drop-intelligent-commerce.html</a:t>
            </a:r>
          </a:p>
          <a:p>
            <a:r>
              <a:t>https://www.swift.com/news-events/news/swift-led-experiments-reveal-blueprint-collaborative-fraud-defence-using-ai</a:t>
            </a:r>
          </a:p>
          <a:p>
            <a:r>
              <a:t>https://www.swift.com/</a:t>
            </a:r>
          </a:p>
          <a:p>
            <a:r>
              <a:t>https://mistral.ai/industry/finance/</a:t>
            </a:r>
          </a:p>
          <a:p>
            <a:r>
              <a:t>https://mistral.ai/products/studio/</a:t>
            </a:r>
          </a:p>
          <a:p>
            <a:r>
              <a:t>https://mistral.ai/news/ai-studio/</a:t>
            </a:r>
          </a:p>
          <a:p>
            <a:r>
              <a:t>https://mistral.ai/fr/news/workflows/</a:t>
            </a:r>
          </a:p>
          <a:p>
            <a:r>
              <a:t>https://mistral.ai/fr/news/ocr-4/</a:t>
            </a:r>
          </a:p>
          <a:p>
            <a:r>
              <a:t>https://group.bnpparibas/en/news/2026-at-a-glance-all-the-key-information-about-the-group-in-our-new-brochure</a:t>
            </a:r>
          </a:p>
          <a:p>
            <a:r>
              <a:t>https://about.amundi.com/files/nuxeo/dl/408954de-3e9b-4486-b9b3-72fb9959a771</a:t>
            </a:r>
          </a:p>
          <a:p>
            <a:r>
              <a:t>https://about.amundi.com/article/van-lanschot-kempen-has-selected-amundi-technology-alto-investment</a:t>
            </a:r>
          </a:p>
          <a:p>
            <a:r>
              <a:t>https://www.partnersgroup.com/en/news-and-views/press-releases/corporate-news/detail?news_id=f67a7c5a-4d18-4895-914f-e7182d9d58a7</a:t>
            </a:r>
          </a:p>
          <a:p>
            <a:r>
              <a:t>https://annualreport.visa.com/financials/default.aspx</a:t>
            </a:r>
          </a:p>
          <a:p>
            <a:r>
              <a:t>https://www.swift.com/about-us/who-we-are</a:t>
            </a:r>
          </a:p>
          <a:p>
            <a:r>
              <a:t>https://www.swift.com/news-events/press-releases/swift-ai-innovation-creates-blueprint-banks-stop-fraud-faster-through-cross-border-collaboration</a:t>
            </a:r>
          </a:p>
          <a:p>
            <a:r>
              <a:t>https://www.lseg.com/en/media-centre/press-releases/2025/lseg-and-microsoft-transform-access-to-ai-ready-financial-data-in-customer-workflows</a:t>
            </a:r>
          </a:p>
          <a:p>
            <a:r>
              <a:t>https://www.swissre.com/risk-knowledge/advancing-societal-benefits-digitalisation/beyond-wonderland-how-swissre-using-ai-boost-contract-clarity.html</a:t>
            </a:r>
          </a:p>
          <a:p>
            <a:r>
              <a:t>https://www.mubadala.com/en/news/mubadala-investment-company-reports-2024-financial-results</a:t>
            </a:r>
          </a:p>
          <a:p>
            <a:r>
              <a:t>https://eqtgroup.com/news/eqt-ab-publ-half-year-report-2026-2026-07-17</a:t>
            </a:r>
          </a:p>
          <a:p>
            <a:endParaRPr lang="en-US"/>
          </a:p>
          <a:p>
            <a:r>
              <a:rPr lang="en-US"/>
              <a:t>[Detail retained from prior research table]</a:t>
            </a:r>
          </a:p>
          <a:p>
            <a:r>
              <a:rPr lang="en-US"/>
              <a:t>BNP Paribas — capability: Studio, Workflows, Forge, OCR/models. Buyer: existing AI/Digital sponsors, CIO, CIB/CPBS leadership. Revenue model: upsell + cross-sell. Risk: multi-model posture means Mistral must win specific workloads.</a:t>
            </a:r>
          </a:p>
          <a:p>
            <a:r>
              <a:rPr lang="en-US"/>
              <a:t>Quantexa — capability: Mistral models, reasoning and Workflows over Quantexa entity/context data. Buyer: Technology Partnerships + Financial Crime Product. Revenue model: OEM / embedded consumption + co-sell. Risk: gateway supports multiple model providers.</a:t>
            </a:r>
          </a:p>
          <a:p>
            <a:r>
              <a:rPr lang="en-US"/>
              <a:t>EQT — capability: OCR / Document Intelligence, Forge and agents. Buyer: Motherbrain / Digital &amp; AI leadership + investment teams. Revenue model: enterprise contract + portfolio expansion. Risk: complement Motherbrain rather than replace it.</a:t>
            </a:r>
          </a:p>
          <a:p>
            <a:r>
              <a:rPr lang="en-US"/>
              <a:t>Amundi — capability: Forge, RAG, Document Intelligence and Studio. Buyer: AI Steering Committee + ALTO / Investment Technology. Revenue model: enterprise platform/model consumption. Risk: governance and approval cycles.</a:t>
            </a:r>
          </a:p>
          <a:p>
            <a:r>
              <a:rPr lang="en-US"/>
              <a:t>Partners Group — capability: OCR, document intelligence and agents. Buyer: Digital/AI + investment operations. Revenue model: enterprise deployment + portfolio expansion. Risk: must beat existing internal tooling.</a:t>
            </a:r>
          </a:p>
          <a:p>
            <a:r>
              <a:rPr lang="en-US"/>
              <a:t>Mubadala — capability: Forge, Studio, private deployment and multilingual models. Buyer: Mubadala AI/Digital + MGX/G42 ecosystem leadership. Revenue model: enterprise + ecosystem/portfolio expansion. Risk: complex stakeholder ecosystem and strong existing AI capability.</a:t>
            </a:r>
          </a:p>
          <a:p>
            <a:r>
              <a:rPr lang="en-US"/>
              <a:t>Swiss Re — capability: OCR 4, Workflows and Studio. Buyer: Underwriting, Claims, Digital and Technology. Revenue model: enterprise workflow deployment. Risk: significant proprietary AI capability.</a:t>
            </a:r>
          </a:p>
          <a:p>
            <a:r>
              <a:rPr lang="en-US"/>
              <a:t>LSEG — capability: Mistral agents, Studio and LSEG MCP/data. Buyer: Enterprise AI + Data Platform Partnerships. Revenue model: platform integration + co-sell/distribution. Risk: major AI platforms already integrated.</a:t>
            </a:r>
          </a:p>
          <a:p>
            <a:r>
              <a:rPr lang="en-US"/>
              <a:t>Visa — capability: Mistral agents + Visa Intelligent Commerce / Agent APIs. Buyer: Product &amp; Strategy + Growth Products &amp; Partnerships. Revenue model: joint platform / API-led ecosystem usage. Risk: Mistral is one of many AI partners.</a:t>
            </a:r>
          </a:p>
          <a:p>
            <a:r>
              <a:rPr lang="en-US"/>
              <a:t>SWIFT — capability: models, Workflows and private/self-hosted deployment. Buyer: AI, Product and Financial Crime leadership. Revenue model: strategic platform partnership to network adoption. Risk: long governance, security and industry-wide decision cycles.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Keep the same core story, but </a:t>
            </a:r>
            <a:r>
              <a:rPr lang="en-US" b="1" dirty="0"/>
              <a:t>change the message based on geography and banking use case</a:t>
            </a:r>
            <a:r>
              <a:rPr lang="en-US" dirty="0"/>
              <a:t>—for example, autonomy in Europe and document intelligence in North America. </a:t>
            </a:r>
            <a:endParaRPr dirty="0"/>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Pipeline Activation — sources supporting Mistral finance positioning, Studio, Workflows, OCR, controlled evaluation, and relevant customer proof.</a:t>
            </a:r>
          </a:p>
          <a:p>
            <a:r>
              <a:rPr lang="en-US" dirty="0"/>
              <a:t>https://mistral.ai/industry/finance/</a:t>
            </a:r>
          </a:p>
          <a:p>
            <a:r>
              <a:rPr lang="en-US" dirty="0"/>
              <a:t>https://mistral.ai/products/studio/</a:t>
            </a:r>
          </a:p>
          <a:p>
            <a:r>
              <a:rPr lang="en-US" dirty="0"/>
              <a:t>https://mistral.ai/news/ai-studio/</a:t>
            </a:r>
          </a:p>
          <a:p>
            <a:r>
              <a:rPr lang="en-US" dirty="0"/>
              <a:t>https://docs.mistral.ai/studio-api/workflows/getting-started/overview</a:t>
            </a:r>
          </a:p>
          <a:p>
            <a:r>
              <a:rPr lang="en-US" dirty="0"/>
              <a:t>https://docs.mistral.ai/studio-api/workflows/building-workflows/workflows</a:t>
            </a:r>
          </a:p>
          <a:p>
            <a:r>
              <a:rPr lang="en-US" dirty="0"/>
              <a:t>https://docs.mistral.ai/studio-api/workflows/managing-workflows-in-production/hardened_deployments</a:t>
            </a:r>
          </a:p>
          <a:p>
            <a:r>
              <a:rPr lang="en-US" dirty="0"/>
              <a:t>https://mistral.ai/fr/news/workflows/</a:t>
            </a:r>
          </a:p>
          <a:p>
            <a:r>
              <a:rPr lang="en-US" dirty="0"/>
              <a:t>https://mistral.ai/fr/news/ocr-4/</a:t>
            </a:r>
          </a:p>
          <a:p>
            <a:r>
              <a:rPr lang="en-US" dirty="0"/>
              <a:t>https://docs.mistral.ai/models/model-cards/ocr-4-0</a:t>
            </a:r>
          </a:p>
          <a:p>
            <a:r>
              <a:rPr lang="en-US" dirty="0"/>
              <a:t>https://mistral.ai/customers/bnp-paribas/</a:t>
            </a:r>
          </a:p>
          <a:p>
            <a:r>
              <a:rPr lang="en-US" dirty="0"/>
              <a:t>https://mistral.ai/customers/ardian/</a:t>
            </a:r>
          </a:p>
          <a:p>
            <a:r>
              <a:rPr lang="en-US" dirty="0"/>
              <a:t>https://www.hsbc.com/news-and-views/news/media-releases/2025/hsbc-and-mistral-ai-join-forces-to-accelerate-ai-adoption-across-global-bank</a:t>
            </a:r>
          </a:p>
          <a:p>
            <a:r>
              <a:rPr lang="en-US" dirty="0"/>
              <a:t>https://www.lapostegroupe.com/en/news/la-banque-postale-signs-a-strategic-partnership-with-mistral-ai-to-accelerate-progress-in-ai</a:t>
            </a:r>
          </a:p>
          <a:p>
            <a:endParaRPr lang="en-US"/>
          </a:p>
          <a:p>
            <a:r>
              <a:rPr lang="en-US"/>
              <a:t>Proposed PMM operating model — Field Learning Loop</a:t>
            </a:r>
          </a:p>
          <a:p>
            <a:r>
              <a:rPr lang="en-US"/>
              <a:t>The Field Learning Loop and the CONTROL GAP, DOCUMENT GAP and GTM SIGNAL examples are illustrative. They are not confirmed Mistral internal processes, product-roadmap commitments or statements that these gaps currently exist. PMM synthesizes evidence; Product and technical leaders retain roadmap and implementation decisions.</a:t>
            </a:r>
          </a:p>
          <a:p>
            <a:r>
              <a:rPr lang="en-US"/>
              <a:t>These operating mechanisms are proposed PMM approaches intended to scale validated customer learnings into repeatable solutions and field motions; they are not presented as existing Mistral internal processes unless separately sourced.</a:t>
            </a:r>
          </a:p>
        </p:txBody>
      </p:sp>
    </p:spTree>
    <p:extLst>
      <p:ext uri="{BB962C8B-B14F-4D97-AF65-F5344CB8AC3E}">
        <p14:creationId xmlns:p14="http://schemas.microsoft.com/office/powerpoint/2010/main" val="30091793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Partner Marketing — all detailed partner strategy, partner types, selection, activation, execution, and partner measurement are consolidated on this slide.</a:t>
            </a:r>
          </a:p>
          <a:p>
            <a:r>
              <a:rPr lang="en-US"/>
              <a:t>https://mistral.ai/partners/</a:t>
            </a:r>
          </a:p>
          <a:p>
            <a:r>
              <a:rPr lang="en-US"/>
              <a:t>https://news.microsoft.com/source/2026/07/21/microsoft-and-mistral-expand-strategic-partnership-to-give-enterprises-and-regulated-industries-frontier-ai-they-can-control/</a:t>
            </a:r>
          </a:p>
          <a:p>
            <a:r>
              <a:rPr lang="en-US"/>
              <a:t>https://www.tcs.com/who-we-are/newsroom/press-release/tcs-partners-mistral-first-global-systems-integrator-enterprises-worldwide</a:t>
            </a:r>
          </a:p>
          <a:p>
            <a:r>
              <a:rPr lang="en-US"/>
              <a:t>https://www.quantexa.com/press/quantexa-makes-its-decision-intelligence-platform-agent-ready/</a:t>
            </a:r>
          </a:p>
          <a:p>
            <a:r>
              <a:rPr lang="en-US"/>
              <a:t>https://www.quantexa.com/partner-program/</a:t>
            </a:r>
          </a:p>
          <a:p>
            <a:r>
              <a:rPr lang="en-US"/>
              <a:t>https://www.fenergo.com/partners</a:t>
            </a:r>
          </a:p>
          <a:p>
            <a:r>
              <a:rPr lang="en-US"/>
              <a:t>https://www.fenergo.com/ai-agents</a:t>
            </a:r>
          </a:p>
          <a:p>
            <a:r>
              <a:rPr lang="en-US"/>
              <a:t>https://developer.temenos.com/article/welcome-developers</a:t>
            </a:r>
          </a:p>
          <a:p>
            <a:r>
              <a:rPr lang="en-US"/>
              <a:t>https://www.temenos.com/press_release/temenos-launches-embedded-ai-capabilities-to-help-banks-move-faster/</a:t>
            </a:r>
          </a:p>
          <a:p>
            <a:r>
              <a:rPr lang="en-US"/>
              <a:t>https://www.lseg.com/en/risk-intelligence</a:t>
            </a:r>
          </a:p>
          <a:p>
            <a:r>
              <a:rPr lang="en-US"/>
              <a:t>https://developers.lseg.com/en/api-catalog/customer-and-third-party-screening/world-check-data-api/</a:t>
            </a:r>
          </a:p>
          <a:p>
            <a:r>
              <a:rPr lang="en-US"/>
              <a:t>https://complyadvantage.com/partnerships/</a:t>
            </a:r>
          </a:p>
          <a:p>
            <a:r>
              <a:rPr lang="en-US"/>
              <a:t>https://mistral.ai/customers/ardian/</a:t>
            </a:r>
          </a:p>
          <a:p>
            <a:r>
              <a:rPr lang="en-US"/>
              <a:t>https://mistral.ai/industry/finance/</a:t>
            </a:r>
          </a:p>
          <a:p>
            <a:endParaRPr lang="en-US"/>
          </a:p>
          <a:p>
            <a:r>
              <a:rPr lang="en-US"/>
              <a:t>[Executive detail retained from prior slide]</a:t>
            </a:r>
          </a:p>
          <a:p>
            <a:r>
              <a:rPr lang="en-US"/>
              <a:t>Partner types by blocker:</a:t>
            </a:r>
          </a:p>
          <a:p>
            <a:r>
              <a:rPr lang="en-US"/>
              <a:t>Cloud &amp; infrastructure — deployment, residency and procurement friction. Examples: Microsoft/Azure, AWS, sovereign cloud providers and marketplaces.</a:t>
            </a:r>
          </a:p>
          <a:p>
            <a:r>
              <a:rPr lang="en-US"/>
              <a:t>Global SIs — implementation and scale constraints. Examples: TCS, Accenture, Capgemini and NTT DATA.</a:t>
            </a:r>
          </a:p>
          <a:p>
            <a:r>
              <a:rPr lang="en-US"/>
              <a:t>FSI ISVs / technology platforms — workflow integration friction. Examples: Quantexa, Fenergo, Temenos, LSEG and ComplyAdvantage.</a:t>
            </a:r>
          </a:p>
          <a:p>
            <a:r>
              <a:rPr lang="en-US"/>
              <a:t>Specialist partners — domain, evaluation or model-risk gaps. Examples: Artefact and Giskard.</a:t>
            </a:r>
          </a:p>
          <a:p>
            <a:endParaRPr lang="en-US"/>
          </a:p>
          <a:p>
            <a:r>
              <a:rPr lang="en-US"/>
              <a:t>Priority principles:</a:t>
            </a:r>
          </a:p>
          <a:p>
            <a:r>
              <a:rPr lang="en-US"/>
              <a:t>Quantexa — convert existing technical compatibility into a commercial joint solution.</a:t>
            </a:r>
          </a:p>
          <a:p>
            <a:r>
              <a:rPr lang="en-US"/>
              <a:t>LSEG — preserve LSEG as the trusted source; use Mistral for reasoning and investigation intelligence.</a:t>
            </a:r>
          </a:p>
          <a:p>
            <a:r>
              <a:rPr lang="en-US"/>
              <a:t>ComplyAdvantage — start with one product, one workflow and one measurable customer outcome.</a:t>
            </a:r>
          </a:p>
          <a:p>
            <a:r>
              <a:rPr lang="en-US"/>
              <a:t>Temenos — build working proof before pursuing a large strategic partnership.</a:t>
            </a:r>
          </a:p>
          <a:p>
            <a:r>
              <a:rPr lang="en-US"/>
              <a:t>Fenergo — complement Fen-AI rather than position Mistral as a replacement.</a:t>
            </a:r>
          </a:p>
          <a:p>
            <a:endParaRPr lang="en-US"/>
          </a:p>
          <a:p>
            <a:r>
              <a:rPr lang="en-US"/>
              <a:t>PMM owns partner motion, packaging, proof creation and field enablement—not technical implementation, account ownership, negotiation or production engineering.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n-US"/>
          </a:p>
        </p:txBody>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Before production, Mistral must clear </a:t>
            </a:r>
            <a:r>
              <a:rPr lang="en-US" b="1" dirty="0"/>
              <a:t>six approval gates</a:t>
            </a:r>
            <a:r>
              <a:rPr lang="en-US" dirty="0"/>
              <a:t>: infrastructure, governance, workflow controls, document accuracy, regulatory classification, and implementation ownership.</a:t>
            </a:r>
          </a:p>
          <a:p>
            <a:endParaRPr lang="en-US" b="1" dirty="0"/>
          </a:p>
          <a:p>
            <a:r>
              <a:rPr lang="en-US" b="1" dirty="0"/>
              <a:t>Objective: </a:t>
            </a:r>
            <a:r>
              <a:rPr lang="en-US" dirty="0"/>
              <a:t>Equip </a:t>
            </a:r>
            <a:r>
              <a:rPr lang="en-US" b="1" dirty="0"/>
              <a:t>Sales and FDEs</a:t>
            </a:r>
            <a:r>
              <a:rPr lang="en-US" dirty="0"/>
              <a:t> with the proof needed to anticipate blockers and move deals toward production faster.</a:t>
            </a:r>
          </a:p>
          <a:p>
            <a:endParaRPr lang="en-US" b="1" dirty="0"/>
          </a:p>
          <a:p>
            <a:r>
              <a:rPr lang="en-US" b="1" dirty="0"/>
              <a:t>How</a:t>
            </a:r>
          </a:p>
          <a:p>
            <a:pPr lvl="0"/>
            <a:r>
              <a:rPr lang="en-US" b="1" dirty="0"/>
              <a:t>Identify the gate</a:t>
            </a:r>
            <a:r>
              <a:rPr lang="en-US" dirty="0"/>
              <a:t> — learn recurring blockers from Sales, FDEs, Security, Legal, Compliance, Product, and customers. </a:t>
            </a:r>
          </a:p>
          <a:p>
            <a:pPr lvl="0"/>
            <a:r>
              <a:rPr lang="en-US" b="1" dirty="0"/>
              <a:t>Map the buyer</a:t>
            </a:r>
            <a:r>
              <a:rPr lang="en-US" dirty="0"/>
              <a:t> — e.g. CISO → security; Model Risk → governance; Compliance → human review. </a:t>
            </a:r>
          </a:p>
          <a:p>
            <a:pPr lvl="0"/>
            <a:r>
              <a:rPr lang="en-US" b="1" dirty="0"/>
              <a:t>Validate Mistral</a:t>
            </a:r>
            <a:r>
              <a:rPr lang="en-US" dirty="0"/>
              <a:t> — confirm the capability or evidence that satisfies each requirement. </a:t>
            </a:r>
          </a:p>
          <a:p>
            <a:pPr lvl="0"/>
            <a:r>
              <a:rPr lang="en-US" b="1" dirty="0"/>
              <a:t>Prove it</a:t>
            </a:r>
            <a:r>
              <a:rPr lang="en-US" dirty="0"/>
              <a:t> — test with real customer data and workflows. </a:t>
            </a:r>
          </a:p>
          <a:p>
            <a:pPr lvl="0"/>
            <a:r>
              <a:rPr lang="en-US" b="1" dirty="0"/>
              <a:t>Package the evidence</a:t>
            </a:r>
            <a:r>
              <a:rPr lang="en-US" dirty="0"/>
              <a:t> — architecture, evaluations, audit logs, references, and approval criteria. </a:t>
            </a:r>
          </a:p>
          <a:p>
            <a:pPr lvl="0"/>
            <a:r>
              <a:rPr lang="en-US" b="1" dirty="0"/>
              <a:t>Escalate gaps</a:t>
            </a:r>
            <a:r>
              <a:rPr lang="en-US" dirty="0"/>
              <a:t> — if Mistral cannot pass a gate, surface it to Product. </a:t>
            </a:r>
          </a:p>
          <a:p>
            <a:endParaRPr lang="en-US" b="1" dirty="0"/>
          </a:p>
          <a:p>
            <a:r>
              <a:rPr lang="en-US" b="1" dirty="0"/>
              <a:t>Core principle: </a:t>
            </a:r>
            <a:r>
              <a:rPr lang="en-US" dirty="0"/>
              <a:t>Don’t discover blockers in month 6. </a:t>
            </a:r>
            <a:r>
              <a:rPr lang="en-US" b="1" dirty="0"/>
              <a:t>Prove the critical requirements in month 1.</a:t>
            </a:r>
            <a:endParaRPr lang="en-US" dirty="0"/>
          </a:p>
          <a:p>
            <a:r>
              <a:rPr lang="en-US" dirty="0"/>
              <a:t>For each gate, package: </a:t>
            </a:r>
            <a:r>
              <a:rPr lang="en-US" b="1" dirty="0"/>
              <a:t>buyer → objection → Mistral proof → asset → approval signal.</a:t>
            </a:r>
            <a:endParaRPr lang="en-US" dirty="0"/>
          </a:p>
          <a:p>
            <a:endParaRPr lang="en-US" dirty="0"/>
          </a:p>
          <a:p>
            <a:r>
              <a:rPr lang="en-US" dirty="0"/>
              <a:t>[Sources]</a:t>
            </a:r>
          </a:p>
          <a:p>
            <a:r>
              <a:rPr lang="en-US" dirty="0"/>
              <a:t>https://mistral.ai/industry/finance/https://mistral.ai/news/ai-studio/https://mistral.ai/products/studio/https://docs.mistral.ai/studio-api/workflows/getting-started/overviewhttps://docs.mistral.ai/studio-api/workflows/managing-workflows-in-production/hardened_deploymentshttps://mistral.ai/fr/news/workflows/https://mistral.ai/fr/news/ocr-4/https://mistral.ai/customers/ardian/https://mistral.ai/customers/bnp-paribas/https://group.bnpparibas/en/press-release/bnp-paribas-and-mistral-ai-extend-their-partnership-to-support-the-next-phase-of-generative-ai-deployment-within-the-grouphttps://www.hsbc.com/news-and-views/news/media-releases/2025/hsbc-and-mistral-ai-join-forces-to-accelerate-ai-adoption-across-global-bankhttps://www.lapostegroupe.com/en/news/la-banque-postale-signs-a-strategic-partnership-with-mistral-ai-to-accelerate-progress-in-aihttps://www.tcs.com/who-we-are/newsroom/press-release/tcs-partners-mistral-first-global-systems-integrator-enterprises-worldwidehttps://eur-lex.europa.eu/eli/reg/2022/2554/ojhttps://www.eba.europa.eu/activities/direct-supervision-and-oversight/digital-operational-resilience-acthttps://eur-lex.europa.eu/eli/reg/2024/1689/ojhttps://ai-act-service-desk.ec.europa.eu/en/essential-serviceshttps://www.federalreserve.gov/supervisionreg/srletters/SR2602.htm</a:t>
            </a:r>
          </a:p>
          <a:p>
            <a:r>
              <a:rPr lang="en-US"/>
              <a:t>FIELD RULE: no generic AI enablement — every asset must move one named FSI control owner to an explicit decision.</a:t>
            </a:r>
          </a:p>
        </p:txBody>
      </p:sp>
    </p:spTree>
    <p:extLst>
      <p:ext uri="{BB962C8B-B14F-4D97-AF65-F5344CB8AC3E}">
        <p14:creationId xmlns:p14="http://schemas.microsoft.com/office/powerpoint/2010/main" val="19027888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rPr lang="en-US"/>
              <a:t>TWO-MINUTE EXECUTIVE CLOSE</a:t>
            </a:r>
          </a:p>
          <a:p>
            <a:r>
              <a:rPr lang="en-US"/>
              <a:t>The closing point is simple: focus PMM on the next customer decision.</a:t>
            </a:r>
          </a:p>
          <a:p>
            <a:r>
              <a:rPr lang="en-US"/>
              <a:t>First, expand. Start with customers where Mistral has already earned proof, then identify the next high-value workflow, the buyer who owns it, and the commercial opportunity. Expansion is credible when there is measurable pain, a clear owner, and a reason to act now.</a:t>
            </a:r>
          </a:p>
          <a:p>
            <a:r>
              <a:rPr lang="en-US"/>
              <a:t>Second, unblock. In active opportunities, PMM should identify the precise issue stopping progress—whether that is a stakeholder concern, missing evidence, or an unclear owner—and mobilize Product, FDEs, Sales, and Marketing around the evidence needed for the next customer decision.</a:t>
            </a:r>
          </a:p>
          <a:p>
            <a:r>
              <a:rPr lang="en-US"/>
              <a:t>Third, convert. Evaluations should begin with the commercial decision that follows success. Agree the workflow, baseline, success criteria, production path, and next decision before significant work starts. A strong evaluation does not end with a technical score; it ends with clarity on what the customer will do next.</a:t>
            </a:r>
          </a:p>
          <a:p>
            <a:r>
              <a:rPr lang="en-US"/>
              <a:t>Together, these moves show the role of an Industries PMM: connect customer pain to a differentiated solution, give the field a repeatable story and proof, and turn each customer engagement into learning for Product and GTM.</a:t>
            </a:r>
          </a:p>
          <a:p>
            <a:r>
              <a:rPr lang="en-US"/>
              <a:t>FSI is the first vertical instance, not a one-off strategy. The same operating logic—industry pain, priority workflow, solution package, customer proof, evaluation, enablement, and product feedback—can scale to manufacturing and the public sector once validated.</a:t>
            </a:r>
          </a:p>
          <a:p>
            <a:r>
              <a:rPr lang="en-US"/>
              <a:t>The takeaway is: package the solution, enable the field, learn from customers, and scale what works. That is how PMM turns differentiated product capability into repeatable industry growth.</a:t>
            </a:r>
          </a:p>
          <a:p>
            <a:r>
              <a:rPr lang="en-US"/>
              <a:t>Note: The cross-industry operating system is a proposed PMM model, not a verified Mistral internal process.</a:t>
            </a:r>
            <a:endParaRPr dirty="0"/>
          </a:p>
          <a:p>
            <a:r>
              <a:rPr lang="en-US"/>
              <a:t>REFERENCE SOURCES — NOT PART OF SPOKEN DELIVERY</a:t>
            </a:r>
            <a:br>
              <a:rPr lang="en-US"/>
            </a:br>
            <a:r>
              <a:rPr dirty="0"/>
              <a:t>https://mistral.ai/industry/finance/</a:t>
            </a:r>
            <a:br>
              <a:rPr lang="en-US"/>
            </a:br>
            <a:r>
              <a:rPr dirty="0"/>
              <a:t>https://mistral.ai/services/</a:t>
            </a:r>
            <a:br>
              <a:rPr lang="en-US"/>
            </a:br>
            <a:r>
              <a:rPr dirty="0"/>
              <a:t>https://mistral.ai/customers/bnp-paribas/</a:t>
            </a:r>
            <a:br>
              <a:rPr lang="en-US"/>
            </a:br>
            <a:r>
              <a:rPr dirty="0"/>
              <a:t>https://group.bnpparibas/en/press-release/bnp-paribas-and-mistral-ai-extend-their-partnership-to-support-the-next-phase-of-generative-ai-deployment-within-the-group</a:t>
            </a:r>
            <a:br>
              <a:rPr lang="en-US"/>
            </a:br>
            <a:r>
              <a:rPr dirty="0"/>
              <a:t>https://www.hsbc.com/news-and-views/news/media-releases/2025/hsbc-and-mistral-ai-join-forces-to-accelerate-ai-adoption-across-global-bank</a:t>
            </a:r>
            <a:br>
              <a:rPr lang="en-US"/>
            </a:br>
            <a:r>
              <a:rPr dirty="0"/>
              <a:t>https://www.lapostegroupe.com/en/news/la-banque-postale-signs-a-strategic-partnership-with-mistral-ai-to-accelerate-progress-in-ai</a:t>
            </a:r>
            <a:br>
              <a:rPr lang="en-US"/>
            </a:br>
            <a:r>
              <a:rPr dirty="0"/>
              <a:t>https://mistral.ai/customers/ardian/</a:t>
            </a:r>
            <a:br>
              <a:rPr lang="en-US"/>
            </a:br>
            <a:r>
              <a:rPr dirty="0"/>
              <a:t>https://mistral.ai/customers/axa/</a:t>
            </a:r>
            <a:br>
              <a:rPr lang="en-US"/>
            </a:br>
            <a:r>
              <a:rPr dirty="0"/>
              <a:t>https://mistral.ai/news/ai-studio/</a:t>
            </a:r>
            <a:br>
              <a:rPr lang="en-US"/>
            </a:br>
            <a:r>
              <a:rPr dirty="0"/>
              <a:t>https://mistral.ai/products/studio/</a:t>
            </a:r>
            <a:br>
              <a:rPr lang="en-US"/>
            </a:br>
            <a:r>
              <a:rPr dirty="0"/>
              <a:t>https://mistral.ai/products/forge/</a:t>
            </a:r>
            <a:br>
              <a:rPr lang="en-US"/>
            </a:br>
            <a:r>
              <a:rPr dirty="0"/>
              <a:t>https://mistral.ai/fr/news/workflows/</a:t>
            </a:r>
            <a:br>
              <a:rPr lang="en-US"/>
            </a:br>
            <a:r>
              <a:rPr dirty="0"/>
              <a:t>https://docs.mistral.ai/studio/workflows/getting-started/overview</a:t>
            </a:r>
            <a:br>
              <a:rPr lang="en-US"/>
            </a:br>
            <a:r>
              <a:rPr dirty="0"/>
              <a:t>https://docs.mistral.ai/studio-api/workflows/building-workflows/workflows</a:t>
            </a:r>
            <a:br>
              <a:rPr lang="en-US"/>
            </a:br>
            <a:r>
              <a:rPr dirty="0"/>
              <a:t>https://docs.mistral.ai/studio-api/workflows/managing-workflows-in-production/hardened_deployments</a:t>
            </a:r>
            <a:br>
              <a:rPr lang="en-US"/>
            </a:br>
            <a:r>
              <a:rPr dirty="0"/>
              <a:t>https://mistral.ai/fr/news/ocr-4/</a:t>
            </a:r>
            <a:br>
              <a:rPr lang="en-US"/>
            </a:br>
            <a:r>
              <a:rPr dirty="0"/>
              <a:t>https://docs.mistral.ai/models/model-cards/ocr-4-0</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1623"/>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39DF208-2595-44E4-FEE7-D81C884D8D96}"/>
              </a:ext>
            </a:extLst>
          </p:cNvPr>
          <p:cNvPicPr>
            <a:picLocks noChangeAspect="1"/>
          </p:cNvPicPr>
          <p:nvPr/>
        </p:nvPicPr>
        <p:blipFill>
          <a:blip r:embed="rId3"/>
          <a:stretch>
            <a:fillRect/>
          </a:stretch>
        </p:blipFill>
        <p:spPr>
          <a:xfrm>
            <a:off x="8332324" y="0"/>
            <a:ext cx="3859676" cy="6858000"/>
          </a:xfrm>
          <a:prstGeom prst="rect">
            <a:avLst/>
          </a:prstGeom>
        </p:spPr>
      </p:pic>
      <p:pic>
        <p:nvPicPr>
          <p:cNvPr id="25" name="Mistral company monogram — slide 1" descr="Mistral AI company monogram"/>
          <p:cNvPicPr>
            <a:picLocks noChangeAspect="1"/>
          </p:cNvPicPr>
          <p:nvPr/>
        </p:nvPicPr>
        <p:blipFill>
          <a:blip r:embed="rId4"/>
          <a:srcRect l="12902" t="16578" r="9422" b="17217"/>
          <a:stretch>
            <a:fillRect/>
          </a:stretch>
        </p:blipFill>
        <p:spPr>
          <a:xfrm>
            <a:off x="685800" y="1012316"/>
            <a:ext cx="815805" cy="695325"/>
          </a:xfrm>
          <a:prstGeom prst="rect">
            <a:avLst/>
          </a:prstGeom>
          <a:ln/>
        </p:spPr>
      </p:pic>
      <p:sp>
        <p:nvSpPr>
          <p:cNvPr id="300" name="Kicker"/>
          <p:cNvSpPr>
            <a:spLocks noGrp="1"/>
          </p:cNvSpPr>
          <p:nvPr/>
        </p:nvSpPr>
        <p:spPr>
          <a:xfrm>
            <a:off x="685800" y="603504"/>
            <a:ext cx="4572000"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1" i="0" u="none" strike="noStrike" kern="1200" cap="none" spc="140" normalizeH="0" baseline="0" noProof="0">
                <a:ln>
                  <a:noFill/>
                </a:ln>
                <a:solidFill>
                  <a:srgbClr val="FA500E"/>
                </a:solidFill>
                <a:effectLst/>
                <a:uLnTx/>
                <a:uFillTx/>
                <a:latin typeface="Arial"/>
                <a:ea typeface="Arial"/>
                <a:cs typeface="Arial"/>
              </a:rPr>
              <a:t>GO-TO-MARKET STRATEGY</a:t>
            </a:r>
          </a:p>
        </p:txBody>
      </p:sp>
      <p:sp>
        <p:nvSpPr>
          <p:cNvPr id="301" name="Kick rule"/>
          <p:cNvSpPr>
            <a:spLocks noGrp="1"/>
          </p:cNvSpPr>
          <p:nvPr/>
        </p:nvSpPr>
        <p:spPr>
          <a:xfrm>
            <a:off x="685800" y="896112"/>
            <a:ext cx="1188720" cy="23774"/>
          </a:xfrm>
          <a:prstGeom prst="rect">
            <a:avLst/>
          </a:prstGeom>
          <a:solidFill>
            <a:srgbClr val="FA500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02" name="Title"/>
          <p:cNvSpPr>
            <a:spLocks noGrp="1"/>
          </p:cNvSpPr>
          <p:nvPr/>
        </p:nvSpPr>
        <p:spPr>
          <a:xfrm>
            <a:off x="685800" y="1133856"/>
            <a:ext cx="6675120" cy="2157984"/>
          </a:xfrm>
          <a:prstGeom prst="rect">
            <a:avLst/>
          </a:prstGeom>
          <a:noFill/>
          <a:ln w="0">
            <a:noFill/>
          </a:ln>
        </p:spPr>
        <p:txBody>
          <a:bodyPr wrap="square" lIns="0" tIns="0" rIns="0" bIns="0" anchor="t">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4400" b="1" i="0" u="none" strike="noStrike" kern="1200" cap="none" spc="-20" normalizeH="0" baseline="0" noProof="0" dirty="0">
                <a:ln>
                  <a:noFill/>
                </a:ln>
                <a:solidFill>
                  <a:srgbClr val="FFF8F2"/>
                </a:solidFill>
                <a:effectLst/>
                <a:uLnTx/>
                <a:uFillTx/>
                <a:latin typeface="Tiny5" panose="02000000000000000000" pitchFamily="2" charset="0"/>
                <a:ea typeface="Arial"/>
                <a:cs typeface="Tiny5" panose="02000000000000000000" pitchFamily="2" charset="0"/>
              </a:rPr>
              <a:t>      ISTRAL AI</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3200" b="1" i="0" u="none" strike="noStrike" kern="1200" cap="none" spc="-20" normalizeH="0" baseline="0" noProof="0" dirty="0">
                <a:ln>
                  <a:noFill/>
                </a:ln>
                <a:solidFill>
                  <a:srgbClr val="FFF8F2"/>
                </a:solidFill>
                <a:effectLst/>
                <a:uLnTx/>
                <a:uFillTx/>
                <a:latin typeface="Arial"/>
                <a:ea typeface="Arial"/>
                <a:cs typeface="Arial"/>
              </a:rPr>
              <a:t>Financial Services</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3200" b="1" i="0" u="none" strike="noStrike" kern="1200" cap="none" spc="-20" normalizeH="0" baseline="0" noProof="0" dirty="0">
                <a:ln>
                  <a:noFill/>
                </a:ln>
                <a:solidFill>
                  <a:srgbClr val="FFF8F2"/>
                </a:solidFill>
                <a:effectLst/>
                <a:uLnTx/>
                <a:uFillTx/>
                <a:latin typeface="Arial"/>
                <a:ea typeface="Arial"/>
                <a:cs typeface="Arial"/>
              </a:rPr>
              <a:t>Solutions</a:t>
            </a:r>
          </a:p>
        </p:txBody>
      </p:sp>
      <p:sp>
        <p:nvSpPr>
          <p:cNvPr id="303" name="Sub rule"/>
          <p:cNvSpPr>
            <a:spLocks noGrp="1"/>
          </p:cNvSpPr>
          <p:nvPr/>
        </p:nvSpPr>
        <p:spPr>
          <a:xfrm>
            <a:off x="685800" y="3511296"/>
            <a:ext cx="2011680" cy="23774"/>
          </a:xfrm>
          <a:prstGeom prst="rect">
            <a:avLst/>
          </a:prstGeom>
          <a:solidFill>
            <a:srgbClr val="FA500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04" name="Sub"/>
          <p:cNvSpPr>
            <a:spLocks noGrp="1"/>
          </p:cNvSpPr>
          <p:nvPr/>
        </p:nvSpPr>
        <p:spPr>
          <a:xfrm>
            <a:off x="685800" y="3456432"/>
            <a:ext cx="6035040" cy="899580"/>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a:ln>
                  <a:noFill/>
                </a:ln>
                <a:solidFill>
                  <a:srgbClr val="8A8AA5"/>
                </a:solidFill>
                <a:effectLst/>
                <a:uLnTx/>
                <a:uFillTx/>
                <a:latin typeface="Arial"/>
                <a:ea typeface="Arial"/>
                <a:cs typeface="Arial"/>
              </a:rPr>
              <a:t>Controlled AI for financial intelligence</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a:ln>
                  <a:noFill/>
                </a:ln>
                <a:solidFill>
                  <a:srgbClr val="8A8AA5"/>
                </a:solidFill>
                <a:effectLst/>
                <a:uLnTx/>
                <a:uFillTx/>
                <a:latin typeface="Arial"/>
                <a:ea typeface="Arial"/>
                <a:cs typeface="Arial"/>
              </a:rPr>
              <a:t>and regulated workflows</a:t>
            </a:r>
          </a:p>
        </p:txBody>
      </p:sp>
      <p:sp>
        <p:nvSpPr>
          <p:cNvPr id="305" name="Ix rule 0"/>
          <p:cNvSpPr>
            <a:spLocks noGrp="1"/>
          </p:cNvSpPr>
          <p:nvPr/>
        </p:nvSpPr>
        <p:spPr>
          <a:xfrm>
            <a:off x="685800" y="5015704"/>
            <a:ext cx="1563624" cy="25987"/>
          </a:xfrm>
          <a:prstGeom prst="rect">
            <a:avLst/>
          </a:prstGeom>
          <a:solidFill>
            <a:srgbClr val="34344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06" name="Ix num 0"/>
          <p:cNvSpPr>
            <a:spLocks noGrp="1"/>
          </p:cNvSpPr>
          <p:nvPr/>
        </p:nvSpPr>
        <p:spPr>
          <a:xfrm>
            <a:off x="685800" y="5195620"/>
            <a:ext cx="1563624" cy="219897"/>
          </a:xfrm>
          <a:prstGeom prst="rect">
            <a:avLst/>
          </a:prstGeom>
          <a:noFill/>
          <a:ln w="0">
            <a:noFill/>
          </a:ln>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a:ln>
                  <a:noFill/>
                </a:ln>
                <a:solidFill>
                  <a:srgbClr val="FA500E"/>
                </a:solidFill>
                <a:effectLst/>
                <a:uLnTx/>
                <a:uFillTx/>
                <a:latin typeface="Silkscreen"/>
                <a:ea typeface="Silkscreen"/>
                <a:cs typeface="Silkscreen"/>
              </a:rPr>
              <a:t>01</a:t>
            </a:r>
          </a:p>
        </p:txBody>
      </p:sp>
      <p:sp>
        <p:nvSpPr>
          <p:cNvPr id="307" name="Ix nm 0"/>
          <p:cNvSpPr>
            <a:spLocks noGrp="1"/>
          </p:cNvSpPr>
          <p:nvPr/>
        </p:nvSpPr>
        <p:spPr>
          <a:xfrm>
            <a:off x="685800" y="5475490"/>
            <a:ext cx="1563624" cy="23988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8F2"/>
                </a:solidFill>
                <a:effectLst/>
                <a:uLnTx/>
                <a:uFillTx/>
                <a:latin typeface="Arial"/>
                <a:ea typeface="Arial"/>
                <a:cs typeface="Arial"/>
              </a:rPr>
              <a:t>P0 PLAYS</a:t>
            </a:r>
          </a:p>
        </p:txBody>
      </p:sp>
      <p:sp>
        <p:nvSpPr>
          <p:cNvPr id="308" name="Ix rule 1"/>
          <p:cNvSpPr>
            <a:spLocks noGrp="1"/>
          </p:cNvSpPr>
          <p:nvPr/>
        </p:nvSpPr>
        <p:spPr>
          <a:xfrm>
            <a:off x="2450592" y="5015704"/>
            <a:ext cx="1563624" cy="25987"/>
          </a:xfrm>
          <a:prstGeom prst="rect">
            <a:avLst/>
          </a:prstGeom>
          <a:solidFill>
            <a:srgbClr val="34344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09" name="Ix num 1"/>
          <p:cNvSpPr>
            <a:spLocks noGrp="1"/>
          </p:cNvSpPr>
          <p:nvPr/>
        </p:nvSpPr>
        <p:spPr>
          <a:xfrm>
            <a:off x="2450592" y="5195620"/>
            <a:ext cx="1563624" cy="219897"/>
          </a:xfrm>
          <a:prstGeom prst="rect">
            <a:avLst/>
          </a:prstGeom>
          <a:noFill/>
          <a:ln w="0">
            <a:noFill/>
          </a:ln>
        </p:spPr>
        <p:txBody>
          <a:bodyPr wrap="square" lIns="0" tIns="0" rIns="0" bIns="0" anchor="ctr">
            <a:normAutofit fontScale="92500" lnSpcReduction="10000"/>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a:ln>
                  <a:noFill/>
                </a:ln>
                <a:solidFill>
                  <a:srgbClr val="FA500E"/>
                </a:solidFill>
                <a:effectLst/>
                <a:uLnTx/>
                <a:uFillTx/>
                <a:latin typeface="Silkscreen"/>
                <a:ea typeface="Silkscreen"/>
                <a:cs typeface="Silkscreen"/>
              </a:rPr>
              <a:t>02</a:t>
            </a:r>
            <a:endParaRPr kumimoji="0" lang="en-US" sz="1050" b="0" i="0" u="none" strike="noStrike" kern="1200" cap="none" spc="0" normalizeH="0" baseline="0" noProof="0" dirty="0">
              <a:ln>
                <a:noFill/>
              </a:ln>
              <a:solidFill>
                <a:srgbClr val="FA500E"/>
              </a:solidFill>
              <a:effectLst/>
              <a:uLnTx/>
              <a:uFillTx/>
              <a:latin typeface="Silkscreen"/>
              <a:ea typeface="Silkscreen"/>
              <a:cs typeface="Silkscreen"/>
            </a:endParaRPr>
          </a:p>
        </p:txBody>
      </p:sp>
      <p:sp>
        <p:nvSpPr>
          <p:cNvPr id="310" name="Ix nm 1"/>
          <p:cNvSpPr>
            <a:spLocks noGrp="1"/>
          </p:cNvSpPr>
          <p:nvPr/>
        </p:nvSpPr>
        <p:spPr>
          <a:xfrm>
            <a:off x="2450592" y="5475490"/>
            <a:ext cx="1563624" cy="239888"/>
          </a:xfrm>
          <a:prstGeom prst="rect">
            <a:avLst/>
          </a:prstGeom>
          <a:noFill/>
          <a:ln w="0">
            <a:noFill/>
          </a:ln>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8F2"/>
                </a:solidFill>
                <a:effectLst/>
                <a:uLnTx/>
                <a:uFillTx/>
                <a:latin typeface="Arial"/>
                <a:ea typeface="Arial"/>
                <a:cs typeface="Arial"/>
              </a:rPr>
              <a:t>LIGHTHOUSE PROOF</a:t>
            </a:r>
          </a:p>
        </p:txBody>
      </p:sp>
      <p:sp>
        <p:nvSpPr>
          <p:cNvPr id="311" name="Ix rule 2"/>
          <p:cNvSpPr>
            <a:spLocks noGrp="1"/>
          </p:cNvSpPr>
          <p:nvPr/>
        </p:nvSpPr>
        <p:spPr>
          <a:xfrm>
            <a:off x="4215384" y="5015704"/>
            <a:ext cx="1563624" cy="25987"/>
          </a:xfrm>
          <a:prstGeom prst="rect">
            <a:avLst/>
          </a:prstGeom>
          <a:solidFill>
            <a:srgbClr val="34344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12" name="Ix num 2"/>
          <p:cNvSpPr>
            <a:spLocks noGrp="1"/>
          </p:cNvSpPr>
          <p:nvPr/>
        </p:nvSpPr>
        <p:spPr>
          <a:xfrm>
            <a:off x="4215384" y="5195620"/>
            <a:ext cx="1563624" cy="219897"/>
          </a:xfrm>
          <a:prstGeom prst="rect">
            <a:avLst/>
          </a:prstGeom>
          <a:noFill/>
          <a:ln w="0">
            <a:noFill/>
          </a:ln>
        </p:spPr>
        <p:txBody>
          <a:bodyPr wrap="square" lIns="0" tIns="0" rIns="0" bIns="0" anchor="ctr">
            <a:normAutofit fontScale="92500" lnSpcReduction="10000"/>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a:ln>
                  <a:noFill/>
                </a:ln>
                <a:solidFill>
                  <a:srgbClr val="FA500E"/>
                </a:solidFill>
                <a:effectLst/>
                <a:uLnTx/>
                <a:uFillTx/>
                <a:latin typeface="Silkscreen"/>
                <a:ea typeface="Silkscreen"/>
                <a:cs typeface="Silkscreen"/>
              </a:rPr>
              <a:t>03</a:t>
            </a:r>
            <a:endParaRPr kumimoji="0" lang="en-US" sz="1050" b="0" i="0" u="none" strike="noStrike" kern="1200" cap="none" spc="0" normalizeH="0" baseline="0" noProof="0" dirty="0">
              <a:ln>
                <a:noFill/>
              </a:ln>
              <a:solidFill>
                <a:srgbClr val="FA500E"/>
              </a:solidFill>
              <a:effectLst/>
              <a:uLnTx/>
              <a:uFillTx/>
              <a:latin typeface="Silkscreen"/>
              <a:ea typeface="Silkscreen"/>
              <a:cs typeface="Silkscreen"/>
            </a:endParaRPr>
          </a:p>
        </p:txBody>
      </p:sp>
      <p:sp>
        <p:nvSpPr>
          <p:cNvPr id="313" name="Ix nm 2"/>
          <p:cNvSpPr>
            <a:spLocks noGrp="1"/>
          </p:cNvSpPr>
          <p:nvPr/>
        </p:nvSpPr>
        <p:spPr>
          <a:xfrm>
            <a:off x="4215384" y="5475490"/>
            <a:ext cx="1563624" cy="239888"/>
          </a:xfrm>
          <a:prstGeom prst="rect">
            <a:avLst/>
          </a:prstGeom>
          <a:noFill/>
          <a:ln w="0">
            <a:noFill/>
          </a:ln>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8F2"/>
                </a:solidFill>
                <a:effectLst/>
                <a:uLnTx/>
                <a:uFillTx/>
                <a:latin typeface="Arial"/>
                <a:ea typeface="Arial"/>
                <a:cs typeface="Arial"/>
              </a:rPr>
              <a:t>FIELD MOTIONS</a:t>
            </a:r>
          </a:p>
        </p:txBody>
      </p:sp>
      <p:sp>
        <p:nvSpPr>
          <p:cNvPr id="314" name="Ix rule 3"/>
          <p:cNvSpPr>
            <a:spLocks noGrp="1"/>
          </p:cNvSpPr>
          <p:nvPr/>
        </p:nvSpPr>
        <p:spPr>
          <a:xfrm>
            <a:off x="5980176" y="5015704"/>
            <a:ext cx="1563624" cy="25987"/>
          </a:xfrm>
          <a:prstGeom prst="rect">
            <a:avLst/>
          </a:prstGeom>
          <a:solidFill>
            <a:srgbClr val="34344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15" name="Ix num 3"/>
          <p:cNvSpPr>
            <a:spLocks noGrp="1"/>
          </p:cNvSpPr>
          <p:nvPr/>
        </p:nvSpPr>
        <p:spPr>
          <a:xfrm>
            <a:off x="5980176" y="5195620"/>
            <a:ext cx="1563624" cy="219897"/>
          </a:xfrm>
          <a:prstGeom prst="rect">
            <a:avLst/>
          </a:prstGeom>
          <a:noFill/>
          <a:ln w="0">
            <a:noFill/>
          </a:ln>
        </p:spPr>
        <p:txBody>
          <a:bodyPr wrap="square" lIns="0" tIns="0" rIns="0" bIns="0" anchor="ctr">
            <a:normAutofit fontScale="92500" lnSpcReduction="10000"/>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a:ln>
                  <a:noFill/>
                </a:ln>
                <a:solidFill>
                  <a:srgbClr val="FA500E"/>
                </a:solidFill>
                <a:effectLst/>
                <a:uLnTx/>
                <a:uFillTx/>
                <a:latin typeface="Silkscreen"/>
                <a:ea typeface="Silkscreen"/>
                <a:cs typeface="Silkscreen"/>
              </a:rPr>
              <a:t>04</a:t>
            </a:r>
            <a:endParaRPr kumimoji="0" lang="en-US" sz="950" b="0" i="0" u="none" strike="noStrike" kern="1200" cap="none" spc="0" normalizeH="0" baseline="0" noProof="0" dirty="0">
              <a:ln>
                <a:noFill/>
              </a:ln>
              <a:solidFill>
                <a:srgbClr val="FA500E"/>
              </a:solidFill>
              <a:effectLst/>
              <a:uLnTx/>
              <a:uFillTx/>
              <a:latin typeface="Silkscreen"/>
              <a:ea typeface="Silkscreen"/>
              <a:cs typeface="Silkscreen"/>
            </a:endParaRPr>
          </a:p>
        </p:txBody>
      </p:sp>
      <p:sp>
        <p:nvSpPr>
          <p:cNvPr id="316" name="Ix nm 3"/>
          <p:cNvSpPr>
            <a:spLocks noGrp="1"/>
          </p:cNvSpPr>
          <p:nvPr/>
        </p:nvSpPr>
        <p:spPr>
          <a:xfrm>
            <a:off x="5980176" y="5475490"/>
            <a:ext cx="1563624" cy="239888"/>
          </a:xfrm>
          <a:prstGeom prst="rect">
            <a:avLst/>
          </a:prstGeom>
          <a:noFill/>
          <a:ln w="0">
            <a:noFill/>
          </a:ln>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8F2"/>
                </a:solidFill>
                <a:effectLst/>
                <a:uLnTx/>
                <a:uFillTx/>
                <a:latin typeface="Arial"/>
                <a:ea typeface="Arial"/>
                <a:cs typeface="Arial"/>
              </a:rPr>
              <a:t>READINESS</a:t>
            </a:r>
          </a:p>
        </p:txBody>
      </p:sp>
      <p:sp>
        <p:nvSpPr>
          <p:cNvPr id="317" name="Note"/>
          <p:cNvSpPr>
            <a:spLocks noGrp="1"/>
          </p:cNvSpPr>
          <p:nvPr/>
        </p:nvSpPr>
        <p:spPr>
          <a:xfrm>
            <a:off x="685800" y="6115191"/>
            <a:ext cx="5943600" cy="23988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30" b="0" i="0" u="none" strike="noStrike" kern="1200" cap="none" spc="0" normalizeH="0" baseline="0" noProof="0">
                <a:ln>
                  <a:noFill/>
                </a:ln>
                <a:solidFill>
                  <a:srgbClr val="8A8AA5"/>
                </a:solidFill>
                <a:effectLst/>
                <a:uLnTx/>
                <a:uFillTx/>
                <a:latin typeface="Arial"/>
                <a:ea typeface="Arial"/>
                <a:cs typeface="Arial"/>
              </a:rPr>
              <a:t>EXECUTIVE GTM NARRATIVE WITH FIELD-READY OPERATING DETAIL.</a:t>
            </a:r>
          </a:p>
        </p:txBody>
      </p:sp>
      <p:sp>
        <p:nvSpPr>
          <p:cNvPr id="318" name="Byline"/>
          <p:cNvSpPr>
            <a:spLocks noGrp="1"/>
          </p:cNvSpPr>
          <p:nvPr/>
        </p:nvSpPr>
        <p:spPr>
          <a:xfrm>
            <a:off x="7808976" y="6115191"/>
            <a:ext cx="3694176" cy="239888"/>
          </a:xfrm>
          <a:prstGeom prst="rect">
            <a:avLst/>
          </a:prstGeom>
          <a:noFill/>
          <a:ln w="0">
            <a:noFill/>
          </a:ln>
        </p:spPr>
        <p:txBody>
          <a:bodyPr wrap="square" lIns="0" tIns="0" rIns="0" bIns="0" anchor="ctr">
            <a:norm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130" b="0" i="0" u="none" strike="noStrike" kern="1200" cap="none" spc="0" normalizeH="0" baseline="0" noProof="0">
                <a:ln>
                  <a:noFill/>
                </a:ln>
                <a:solidFill>
                  <a:srgbClr val="FFF8F2"/>
                </a:solidFill>
                <a:effectLst/>
                <a:uLnTx/>
                <a:uFillTx/>
                <a:latin typeface="Arial"/>
                <a:ea typeface="Arial"/>
                <a:cs typeface="Arial"/>
              </a:rPr>
              <a:t>SHIV  ·  PMM CANDIDATE  ·  18 AUG 2026</a:t>
            </a:r>
          </a:p>
        </p:txBody>
      </p:sp>
      <p:pic>
        <p:nvPicPr>
          <p:cNvPr id="9" name="Picture 8">
            <a:extLst>
              <a:ext uri="{FF2B5EF4-FFF2-40B4-BE49-F238E27FC236}">
                <a16:creationId xmlns:a16="http://schemas.microsoft.com/office/drawing/2014/main" id="{239F2403-E029-1E28-65CC-770EBDD70FB8}"/>
              </a:ext>
            </a:extLst>
          </p:cNvPr>
          <p:cNvPicPr>
            <a:picLocks noChangeAspect="1"/>
          </p:cNvPicPr>
          <p:nvPr/>
        </p:nvPicPr>
        <p:blipFill>
          <a:blip r:embed="rId5"/>
          <a:srcRect l="14609" t="20880" r="14609" b="20880"/>
          <a:stretch>
            <a:fillRect/>
          </a:stretch>
        </p:blipFill>
        <p:spPr>
          <a:xfrm>
            <a:off x="672938" y="1060704"/>
            <a:ext cx="793480" cy="652883"/>
          </a:xfrm>
          <a:prstGeom prst="rect">
            <a:avLst/>
          </a:prstGeom>
        </p:spPr>
      </p:pic>
    </p:spTree>
    <p:extLst>
      <p:ext uri="{BB962C8B-B14F-4D97-AF65-F5344CB8AC3E}">
        <p14:creationId xmlns:p14="http://schemas.microsoft.com/office/powerpoint/2010/main" val="2872354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8F2"/>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AF4C5DB4-64A4-46C9-95D4-7D4DBCC8A9E5}"/>
              </a:ext>
            </a:extLst>
          </p:cNvPr>
          <p:cNvSpPr>
            <a:spLocks noGrp="1"/>
          </p:cNvSpPr>
          <p:nvPr/>
        </p:nvSpPr>
        <p:spPr>
          <a:xfrm>
            <a:off x="609600" y="266700"/>
            <a:ext cx="76200" cy="742950"/>
          </a:xfrm>
          <a:prstGeom prst="rect">
            <a:avLst/>
          </a:prstGeom>
          <a:solidFill>
            <a:srgbClr val="FA500E"/>
          </a:solidFill>
          <a:ln w="0">
            <a:no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 name="Rectangle 1">
            <a:extLst>
              <a:ext uri="{FF2B5EF4-FFF2-40B4-BE49-F238E27FC236}">
                <a16:creationId xmlns:a16="http://schemas.microsoft.com/office/drawing/2014/main" id="{4E2EF7FF-F483-435E-B34F-1A40899104C8}"/>
              </a:ext>
            </a:extLst>
          </p:cNvPr>
          <p:cNvSpPr>
            <a:spLocks noGrp="1"/>
          </p:cNvSpPr>
          <p:nvPr/>
        </p:nvSpPr>
        <p:spPr>
          <a:xfrm>
            <a:off x="841248" y="256032"/>
            <a:ext cx="4206240" cy="173736"/>
          </a:xfrm>
          <a:prstGeom prst="rect">
            <a:avLst/>
          </a:prstGeom>
          <a:noFill/>
          <a:ln w="0">
            <a:noFill/>
            <a:prstDash val="solid"/>
          </a:ln>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sz="975" b="1">
                <a:solidFill>
                  <a:srgbClr val="FA520F"/>
                </a:solidFill>
                <a:latin typeface="Arial"/>
                <a:ea typeface="Arial"/>
                <a:cs typeface="Arial"/>
              </a:defRPr>
            </a:pPr>
            <a:r>
              <a:rPr kumimoji="0" lang="en-US" sz="1100" b="1" i="0" u="none" strike="noStrike" kern="1200" cap="none" spc="0" normalizeH="0" baseline="0" noProof="0">
                <a:ln>
                  <a:noFill/>
                </a:ln>
                <a:solidFill>
                  <a:srgbClr val="FA500E"/>
                </a:solidFill>
                <a:effectLst/>
                <a:uLnTx/>
                <a:uFillTx/>
                <a:latin typeface="Arial"/>
                <a:ea typeface="Arial"/>
                <a:cs typeface="Arial"/>
              </a:rPr>
              <a:t>STRATEGY THESIS</a:t>
            </a:r>
          </a:p>
        </p:txBody>
      </p:sp>
      <p:sp>
        <p:nvSpPr>
          <p:cNvPr id="3" name="Rectangle 2">
            <a:extLst>
              <a:ext uri="{FF2B5EF4-FFF2-40B4-BE49-F238E27FC236}">
                <a16:creationId xmlns:a16="http://schemas.microsoft.com/office/drawing/2014/main" id="{13E6CDE1-BFD6-48F0-A58E-CD2C7DCF1065}"/>
              </a:ext>
            </a:extLst>
          </p:cNvPr>
          <p:cNvSpPr>
            <a:spLocks noGrp="1"/>
          </p:cNvSpPr>
          <p:nvPr/>
        </p:nvSpPr>
        <p:spPr>
          <a:xfrm>
            <a:off x="841248" y="457200"/>
            <a:ext cx="10515600" cy="1508760"/>
          </a:xfrm>
          <a:prstGeom prst="rect">
            <a:avLst/>
          </a:prstGeom>
          <a:noFill/>
          <a:ln w="0">
            <a:noFill/>
            <a:prstDash val="solid"/>
          </a:ln>
        </p:spPr>
        <p:txBody>
          <a:bodyPr wrap="square" lIns="0" tIns="0" rIns="0" bIns="0" anchor="t">
            <a:noAutofit/>
          </a:bodyPr>
          <a:lstStyle/>
          <a:p>
            <a:pPr marL="0" marR="0" lvl="0" indent="0" algn="l" defTabSz="914400" eaLnBrk="1" fontAlgn="auto" latinLnBrk="0" hangingPunct="1">
              <a:lnSpc>
                <a:spcPct val="95000"/>
              </a:lnSpc>
              <a:spcBef>
                <a:spcPts val="0"/>
              </a:spcBef>
              <a:spcAft>
                <a:spcPts val="0"/>
              </a:spcAft>
              <a:buClrTx/>
              <a:buSzTx/>
              <a:buFontTx/>
              <a:buNone/>
              <a:tabLst/>
              <a:defRPr sz="2700" b="1">
                <a:solidFill>
                  <a:srgbClr val="1F1F1F"/>
                </a:solidFill>
                <a:latin typeface="Arial"/>
                <a:ea typeface="Arial"/>
                <a:cs typeface="Arial"/>
              </a:defRPr>
            </a:pPr>
            <a:r>
              <a:rPr lang="en-US" sz="3600" b="1" dirty="0">
                <a:solidFill>
                  <a:srgbClr val="161623"/>
                </a:solidFill>
                <a:latin typeface="Tiny5"/>
              </a:rPr>
              <a:t>CONTROL-SENSITIVE FSI WORKLOADS —</a:t>
            </a:r>
            <a:br>
              <a:rPr lang="en-US" dirty="0"/>
            </a:br>
            <a:r>
              <a:rPr lang="en-US" sz="3600" b="1" dirty="0">
                <a:solidFill>
                  <a:srgbClr val="161623"/>
                </a:solidFill>
                <a:latin typeface="Tiny5"/>
              </a:rPr>
              <a:t>THEN EXPAND FROM PROOF</a:t>
            </a:r>
          </a:p>
        </p:txBody>
      </p:sp>
      <p:sp>
        <p:nvSpPr>
          <p:cNvPr id="4" name="Rectangle 3">
            <a:extLst>
              <a:ext uri="{FF2B5EF4-FFF2-40B4-BE49-F238E27FC236}">
                <a16:creationId xmlns:a16="http://schemas.microsoft.com/office/drawing/2014/main" id="{5A643B90-867D-4ED2-B537-8F3CFD84A921}"/>
              </a:ext>
            </a:extLst>
          </p:cNvPr>
          <p:cNvSpPr>
            <a:spLocks noGrp="1"/>
          </p:cNvSpPr>
          <p:nvPr/>
        </p:nvSpPr>
        <p:spPr>
          <a:xfrm>
            <a:off x="612648" y="6556248"/>
            <a:ext cx="10972800" cy="9144"/>
          </a:xfrm>
          <a:prstGeom prst="rect">
            <a:avLst/>
          </a:prstGeom>
          <a:solidFill>
            <a:srgbClr val="E8CBBE"/>
          </a:solidFill>
          <a:ln w="0">
            <a:no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5" name="Rectangle 4">
            <a:extLst>
              <a:ext uri="{FF2B5EF4-FFF2-40B4-BE49-F238E27FC236}">
                <a16:creationId xmlns:a16="http://schemas.microsoft.com/office/drawing/2014/main" id="{BF5A6CD9-4FD9-48F7-AE88-E85F8BD1F5B8}"/>
              </a:ext>
            </a:extLst>
          </p:cNvPr>
          <p:cNvSpPr>
            <a:spLocks noGrp="1"/>
          </p:cNvSpPr>
          <p:nvPr/>
        </p:nvSpPr>
        <p:spPr>
          <a:xfrm>
            <a:off x="612648" y="6620256"/>
            <a:ext cx="4005072" cy="128016"/>
          </a:xfrm>
          <a:prstGeom prst="rect">
            <a:avLst/>
          </a:prstGeom>
          <a:noFill/>
          <a:ln w="0">
            <a:noFill/>
            <a:prstDash val="solid"/>
          </a:ln>
        </p:spPr>
        <p:txBody>
          <a:bodyPr wrap="square" lIns="0" tIns="0" rIns="0" bIns="0" anchor="ctr">
            <a:noAutofit/>
          </a:bodyPr>
          <a:lstStyle/>
          <a:p>
            <a:pPr marL="0" marR="0" lvl="0" indent="0" algn="l" defTabSz="914400" eaLnBrk="1" fontAlgn="auto" latinLnBrk="0" hangingPunct="1">
              <a:lnSpc>
                <a:spcPct val="105000"/>
              </a:lnSpc>
              <a:spcBef>
                <a:spcPts val="0"/>
              </a:spcBef>
              <a:spcAft>
                <a:spcPts val="0"/>
              </a:spcAft>
              <a:buClrTx/>
              <a:buSzTx/>
              <a:buFontTx/>
              <a:buNone/>
              <a:tabLst/>
              <a:defRPr sz="750" b="0">
                <a:solidFill>
                  <a:srgbClr val="5A554B"/>
                </a:solidFill>
                <a:latin typeface="Arial"/>
                <a:ea typeface="Arial"/>
                <a:cs typeface="Arial"/>
              </a:defRPr>
            </a:pPr>
            <a:r>
              <a:rPr kumimoji="0" lang="en-US" sz="900" b="0" i="0" u="none" strike="noStrike" kern="1200" cap="none" spc="0" normalizeH="0" baseline="0" noProof="0">
                <a:ln>
                  <a:noFill/>
                </a:ln>
                <a:solidFill>
                  <a:srgbClr val="62544F"/>
                </a:solidFill>
                <a:effectLst/>
                <a:uLnTx/>
                <a:uFillTx/>
                <a:latin typeface="Arial"/>
                <a:ea typeface="Arial"/>
                <a:cs typeface="Arial"/>
              </a:rPr>
              <a:t>SHIV  ·  PMM CANDIDATE  ·  18 AUG 2026</a:t>
            </a:r>
          </a:p>
        </p:txBody>
      </p:sp>
      <p:sp>
        <p:nvSpPr>
          <p:cNvPr id="6" name="Rectangle 5">
            <a:extLst>
              <a:ext uri="{FF2B5EF4-FFF2-40B4-BE49-F238E27FC236}">
                <a16:creationId xmlns:a16="http://schemas.microsoft.com/office/drawing/2014/main" id="{93210515-81FA-48D5-A3EC-059FFF807D9D}"/>
              </a:ext>
            </a:extLst>
          </p:cNvPr>
          <p:cNvSpPr>
            <a:spLocks noGrp="1"/>
          </p:cNvSpPr>
          <p:nvPr/>
        </p:nvSpPr>
        <p:spPr>
          <a:xfrm>
            <a:off x="11237976" y="6620256"/>
            <a:ext cx="347472" cy="128016"/>
          </a:xfrm>
          <a:prstGeom prst="rect">
            <a:avLst/>
          </a:prstGeom>
          <a:noFill/>
          <a:ln w="0">
            <a:noFill/>
            <a:prstDash val="solid"/>
          </a:ln>
        </p:spPr>
        <p:txBody>
          <a:bodyPr wrap="none" lIns="0" tIns="0" rIns="0" bIns="0" anchor="ctr">
            <a:noAutofit/>
          </a:bodyPr>
          <a:lstStyle/>
          <a:p>
            <a:pPr marL="0" marR="0" lvl="0" indent="0" algn="r" defTabSz="914400" eaLnBrk="1" fontAlgn="auto" latinLnBrk="0" hangingPunct="1">
              <a:lnSpc>
                <a:spcPct val="105000"/>
              </a:lnSpc>
              <a:spcBef>
                <a:spcPts val="0"/>
              </a:spcBef>
              <a:spcAft>
                <a:spcPts val="0"/>
              </a:spcAft>
              <a:buClrTx/>
              <a:buSzTx/>
              <a:buFontTx/>
              <a:buNone/>
              <a:tabLst/>
              <a:defRPr sz="750" b="1">
                <a:solidFill>
                  <a:srgbClr val="5A554B"/>
                </a:solidFill>
                <a:latin typeface="Arial"/>
                <a:ea typeface="Arial"/>
                <a:cs typeface="Arial"/>
              </a:defRPr>
            </a:pPr>
            <a:r>
              <a:rPr kumimoji="0" lang="en-US" sz="900" b="0" i="0" u="none" strike="noStrike" kern="1200" cap="none" spc="0" normalizeH="0" baseline="0" noProof="0">
                <a:ln>
                  <a:noFill/>
                </a:ln>
                <a:solidFill>
                  <a:srgbClr val="62544F"/>
                </a:solidFill>
                <a:effectLst/>
                <a:uLnTx/>
                <a:uFillTx/>
                <a:latin typeface="Silkscreen"/>
                <a:cs typeface="Arial"/>
              </a:rPr>
              <a:t>2</a:t>
            </a:r>
          </a:p>
        </p:txBody>
      </p:sp>
      <p:pic>
        <p:nvPicPr>
          <p:cNvPr id="42" name="Mistral company monogram — slide 2" descr="Mistral AI company monogram"/>
          <p:cNvPicPr>
            <a:picLocks noChangeAspect="1"/>
          </p:cNvPicPr>
          <p:nvPr/>
        </p:nvPicPr>
        <p:blipFill>
          <a:blip r:embed="rId3"/>
          <a:stretch>
            <a:fillRect/>
          </a:stretch>
        </p:blipFill>
        <p:spPr>
          <a:xfrm>
            <a:off x="11658600" y="182880"/>
            <a:ext cx="347472" cy="347472"/>
          </a:xfrm>
          <a:prstGeom prst="rect">
            <a:avLst/>
          </a:prstGeom>
          <a:ln/>
        </p:spPr>
      </p:pic>
      <p:sp>
        <p:nvSpPr>
          <p:cNvPr id="43" name="TextBox 42"/>
          <p:cNvSpPr txBox="1"/>
          <p:nvPr/>
        </p:nvSpPr>
        <p:spPr>
          <a:xfrm>
            <a:off x="841248" y="1901952"/>
            <a:ext cx="10515600" cy="296194"/>
          </a:xfrm>
          <a:prstGeom prst="rect">
            <a:avLst/>
          </a:prstGeom>
          <a:noFill/>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a:ln>
                  <a:noFill/>
                </a:ln>
                <a:solidFill>
                  <a:srgbClr val="62544F"/>
                </a:solidFill>
                <a:effectLst/>
                <a:uLnTx/>
                <a:uFillTx/>
                <a:latin typeface="Arial"/>
                <a:ea typeface="Calibri"/>
                <a:cs typeface="Calibri"/>
              </a:rPr>
              <a:t>Win a document-heavy wedge, prove it in the institution’s environment, clear controls, then replicate only the same pattern.</a:t>
            </a:r>
          </a:p>
        </p:txBody>
      </p:sp>
      <p:sp>
        <p:nvSpPr>
          <p:cNvPr id="44" name="FSI thesis axis"/>
          <p:cNvSpPr/>
          <p:nvPr/>
        </p:nvSpPr>
        <p:spPr>
          <a:xfrm>
            <a:off x="841248" y="2303929"/>
            <a:ext cx="10515600" cy="37024"/>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Calibri"/>
              <a:cs typeface="Calibri"/>
            </a:endParaRPr>
          </a:p>
        </p:txBody>
      </p:sp>
      <p:sp>
        <p:nvSpPr>
          <p:cNvPr id="45" name="Stage divider 1"/>
          <p:cNvSpPr/>
          <p:nvPr/>
        </p:nvSpPr>
        <p:spPr>
          <a:xfrm>
            <a:off x="2941624" y="2452026"/>
            <a:ext cx="10972" cy="3258133"/>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Calibri"/>
              <a:cs typeface="Calibri"/>
            </a:endParaRPr>
          </a:p>
        </p:txBody>
      </p:sp>
      <p:sp>
        <p:nvSpPr>
          <p:cNvPr id="46" name="Stage divider 2"/>
          <p:cNvSpPr/>
          <p:nvPr/>
        </p:nvSpPr>
        <p:spPr>
          <a:xfrm>
            <a:off x="5044744" y="2452026"/>
            <a:ext cx="10972" cy="3258133"/>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Calibri"/>
              <a:cs typeface="Calibri"/>
            </a:endParaRPr>
          </a:p>
        </p:txBody>
      </p:sp>
      <p:sp>
        <p:nvSpPr>
          <p:cNvPr id="47" name="Stage divider 3"/>
          <p:cNvSpPr/>
          <p:nvPr/>
        </p:nvSpPr>
        <p:spPr>
          <a:xfrm>
            <a:off x="7147864" y="2452026"/>
            <a:ext cx="10972" cy="3258133"/>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Calibri"/>
              <a:cs typeface="Calibri"/>
            </a:endParaRPr>
          </a:p>
        </p:txBody>
      </p:sp>
      <p:sp>
        <p:nvSpPr>
          <p:cNvPr id="48" name="Stage divider 4"/>
          <p:cNvSpPr/>
          <p:nvPr/>
        </p:nvSpPr>
        <p:spPr>
          <a:xfrm>
            <a:off x="9250984" y="2452026"/>
            <a:ext cx="10972" cy="3258133"/>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Calibri"/>
              <a:cs typeface="Calibri"/>
            </a:endParaRPr>
          </a:p>
        </p:txBody>
      </p:sp>
      <p:sp>
        <p:nvSpPr>
          <p:cNvPr id="49" name="Stage 01 number"/>
          <p:cNvSpPr txBox="1">
            <a:spLocks/>
          </p:cNvSpPr>
          <p:nvPr/>
        </p:nvSpPr>
        <p:spPr>
          <a:xfrm>
            <a:off x="966520" y="2515496"/>
            <a:ext cx="402336" cy="211567"/>
          </a:xfrm>
          <a:prstGeom prst="rect">
            <a:avLst/>
          </a:prstGeom>
          <a:noFill/>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A500E"/>
                </a:solidFill>
                <a:effectLst/>
                <a:uLnTx/>
                <a:uFillTx/>
                <a:latin typeface="Silkscreen"/>
                <a:ea typeface="Calibri"/>
                <a:cs typeface="Calibri"/>
              </a:rPr>
              <a:t>01</a:t>
            </a:r>
          </a:p>
        </p:txBody>
      </p:sp>
      <p:sp>
        <p:nvSpPr>
          <p:cNvPr id="50" name="Stage 01 label"/>
          <p:cNvSpPr txBox="1">
            <a:spLocks/>
          </p:cNvSpPr>
          <p:nvPr/>
        </p:nvSpPr>
        <p:spPr>
          <a:xfrm>
            <a:off x="966520" y="2854003"/>
            <a:ext cx="1828800" cy="476026"/>
          </a:xfrm>
          <a:prstGeom prst="rect">
            <a:avLst/>
          </a:prstGeom>
          <a:noFill/>
        </p:spPr>
        <p:txBody>
          <a:bodyPr wrap="square" lIns="0" tIns="0" rIns="0" bIns="0" anchor="ctr">
            <a:noAutofit/>
          </a:bodyPr>
          <a:lstStyle/>
          <a:p>
            <a:pPr marL="0" marR="0" lvl="0" indent="0" algn="l" defTabSz="914400" eaLnBrk="1" fontAlgn="auto" latinLnBrk="0" hangingPunct="1">
              <a:lnSpc>
                <a:spcPct val="95000"/>
              </a:lnSpc>
              <a:spcBef>
                <a:spcPts val="0"/>
              </a:spcBef>
              <a:spcAft>
                <a:spcPts val="0"/>
              </a:spcAft>
              <a:buClrTx/>
              <a:buSzTx/>
              <a:buFontTx/>
              <a:buNone/>
              <a:tabLst/>
              <a:defRPr/>
            </a:pPr>
            <a:r>
              <a:rPr kumimoji="0" lang="en-US" sz="1540" b="1" i="0" u="none" strike="noStrike" kern="1200" cap="none" spc="0" normalizeH="0" baseline="0" noProof="0">
                <a:ln>
                  <a:noFill/>
                </a:ln>
                <a:solidFill>
                  <a:srgbClr val="161623"/>
                </a:solidFill>
                <a:effectLst/>
                <a:uLnTx/>
                <a:uFillTx/>
                <a:latin typeface="Arial"/>
                <a:ea typeface="Calibri"/>
                <a:cs typeface="Calibri"/>
              </a:rPr>
              <a:t>LAND</a:t>
            </a:r>
          </a:p>
        </p:txBody>
      </p:sp>
      <p:sp>
        <p:nvSpPr>
          <p:cNvPr id="51" name="Stage 01 accent"/>
          <p:cNvSpPr/>
          <p:nvPr/>
        </p:nvSpPr>
        <p:spPr>
          <a:xfrm>
            <a:off x="966520" y="3541596"/>
            <a:ext cx="34747" cy="581809"/>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endParaRPr>
          </a:p>
        </p:txBody>
      </p:sp>
      <p:sp>
        <p:nvSpPr>
          <p:cNvPr id="52" name="Stage 01 body"/>
          <p:cNvSpPr txBox="1">
            <a:spLocks/>
          </p:cNvSpPr>
          <p:nvPr/>
        </p:nvSpPr>
        <p:spPr>
          <a:xfrm>
            <a:off x="1067104" y="3509861"/>
            <a:ext cx="1682496" cy="2200297"/>
          </a:xfrm>
          <a:prstGeom prst="rect">
            <a:avLst/>
          </a:prstGeom>
          <a:noFill/>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380" b="0" i="0" u="none" strike="noStrike" kern="1200" cap="none" spc="0" normalizeH="0" baseline="0" noProof="0">
                <a:ln>
                  <a:noFill/>
                </a:ln>
                <a:solidFill>
                  <a:srgbClr val="62544F"/>
                </a:solidFill>
                <a:effectLst/>
                <a:uLnTx/>
                <a:uFillTx/>
                <a:latin typeface="Arial"/>
                <a:ea typeface="Calibri"/>
                <a:cs typeface="Calibri"/>
              </a:rPr>
              <a:t>Start in KYC/AML + onboarding or credit, deal + underwriting document workloads.</a:t>
            </a:r>
          </a:p>
        </p:txBody>
      </p:sp>
      <p:sp>
        <p:nvSpPr>
          <p:cNvPr id="53" name="Stage 02 number"/>
          <p:cNvSpPr txBox="1">
            <a:spLocks/>
          </p:cNvSpPr>
          <p:nvPr/>
        </p:nvSpPr>
        <p:spPr>
          <a:xfrm>
            <a:off x="3069640" y="2515496"/>
            <a:ext cx="402336" cy="211567"/>
          </a:xfrm>
          <a:prstGeom prst="rect">
            <a:avLst/>
          </a:prstGeom>
          <a:noFill/>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E96B22"/>
                </a:solidFill>
                <a:effectLst/>
                <a:uLnTx/>
                <a:uFillTx/>
                <a:latin typeface="Silkscreen"/>
                <a:ea typeface="Calibri"/>
                <a:cs typeface="Calibri"/>
              </a:rPr>
              <a:t>02</a:t>
            </a:r>
          </a:p>
        </p:txBody>
      </p:sp>
      <p:sp>
        <p:nvSpPr>
          <p:cNvPr id="54" name="Stage 02 label"/>
          <p:cNvSpPr txBox="1">
            <a:spLocks/>
          </p:cNvSpPr>
          <p:nvPr/>
        </p:nvSpPr>
        <p:spPr>
          <a:xfrm>
            <a:off x="3069640" y="2854003"/>
            <a:ext cx="1828800" cy="476026"/>
          </a:xfrm>
          <a:prstGeom prst="rect">
            <a:avLst/>
          </a:prstGeom>
          <a:noFill/>
        </p:spPr>
        <p:txBody>
          <a:bodyPr wrap="square" lIns="0" tIns="0" rIns="0" bIns="0" anchor="ctr">
            <a:noAutofit/>
          </a:bodyPr>
          <a:lstStyle/>
          <a:p>
            <a:pPr marL="0" marR="0" lvl="0" indent="0" algn="l" defTabSz="914400" eaLnBrk="1" fontAlgn="auto" latinLnBrk="0" hangingPunct="1">
              <a:lnSpc>
                <a:spcPct val="95000"/>
              </a:lnSpc>
              <a:spcBef>
                <a:spcPts val="0"/>
              </a:spcBef>
              <a:spcAft>
                <a:spcPts val="0"/>
              </a:spcAft>
              <a:buClrTx/>
              <a:buSzTx/>
              <a:buFontTx/>
              <a:buNone/>
              <a:tabLst/>
              <a:defRPr/>
            </a:pPr>
            <a:r>
              <a:rPr kumimoji="0" lang="en-US" sz="1540" b="1" i="0" u="none" strike="noStrike" kern="1200" cap="none" spc="0" normalizeH="0" baseline="0" noProof="0">
                <a:ln>
                  <a:noFill/>
                </a:ln>
                <a:solidFill>
                  <a:srgbClr val="161623"/>
                </a:solidFill>
                <a:effectLst/>
                <a:uLnTx/>
                <a:uFillTx/>
                <a:latin typeface="Arial"/>
                <a:ea typeface="Calibri"/>
                <a:cs typeface="Calibri"/>
              </a:rPr>
              <a:t>DEPLOY</a:t>
            </a:r>
          </a:p>
        </p:txBody>
      </p:sp>
      <p:sp>
        <p:nvSpPr>
          <p:cNvPr id="55" name="Stage 02 accent"/>
          <p:cNvSpPr>
            <a:spLocks/>
          </p:cNvSpPr>
          <p:nvPr/>
        </p:nvSpPr>
        <p:spPr>
          <a:xfrm>
            <a:off x="3069640" y="3541596"/>
            <a:ext cx="34747" cy="581809"/>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Calibri"/>
              <a:cs typeface="Calibri"/>
            </a:endParaRPr>
          </a:p>
        </p:txBody>
      </p:sp>
      <p:sp>
        <p:nvSpPr>
          <p:cNvPr id="56" name="Stage 02 body"/>
          <p:cNvSpPr txBox="1"/>
          <p:nvPr/>
        </p:nvSpPr>
        <p:spPr>
          <a:xfrm>
            <a:off x="3170224" y="3509861"/>
            <a:ext cx="1682496" cy="2200297"/>
          </a:xfrm>
          <a:prstGeom prst="rect">
            <a:avLst/>
          </a:prstGeom>
          <a:noFill/>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380" b="0" i="0" u="none" strike="noStrike" kern="1200" cap="none" spc="0" normalizeH="0" baseline="0" noProof="0">
                <a:ln>
                  <a:noFill/>
                </a:ln>
                <a:solidFill>
                  <a:srgbClr val="62544F"/>
                </a:solidFill>
                <a:effectLst/>
                <a:uLnTx/>
                <a:uFillTx/>
                <a:latin typeface="Arial"/>
                <a:ea typeface="Calibri"/>
                <a:cs typeface="Calibri"/>
              </a:rPr>
              <a:t>Use customer-controlled infrastructure: private/on-prem or an approved cloud architecture.</a:t>
            </a:r>
          </a:p>
        </p:txBody>
      </p:sp>
      <p:sp>
        <p:nvSpPr>
          <p:cNvPr id="57" name="Stage 03 number"/>
          <p:cNvSpPr txBox="1"/>
          <p:nvPr/>
        </p:nvSpPr>
        <p:spPr>
          <a:xfrm>
            <a:off x="5172760" y="2515496"/>
            <a:ext cx="402336" cy="211567"/>
          </a:xfrm>
          <a:prstGeom prst="rect">
            <a:avLst/>
          </a:prstGeom>
          <a:noFill/>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6A000"/>
                </a:solidFill>
                <a:effectLst/>
                <a:uLnTx/>
                <a:uFillTx/>
                <a:latin typeface="Silkscreen"/>
                <a:ea typeface="Calibri"/>
                <a:cs typeface="Calibri"/>
              </a:rPr>
              <a:t>03</a:t>
            </a:r>
          </a:p>
        </p:txBody>
      </p:sp>
      <p:sp>
        <p:nvSpPr>
          <p:cNvPr id="58" name="Stage 03 label"/>
          <p:cNvSpPr txBox="1">
            <a:spLocks/>
          </p:cNvSpPr>
          <p:nvPr/>
        </p:nvSpPr>
        <p:spPr>
          <a:xfrm>
            <a:off x="5172760" y="2854003"/>
            <a:ext cx="1828800" cy="476026"/>
          </a:xfrm>
          <a:prstGeom prst="rect">
            <a:avLst/>
          </a:prstGeom>
          <a:noFill/>
        </p:spPr>
        <p:txBody>
          <a:bodyPr wrap="square" lIns="0" tIns="0" rIns="0" bIns="0" anchor="ctr">
            <a:noAutofit/>
          </a:bodyPr>
          <a:lstStyle/>
          <a:p>
            <a:pPr marL="0" marR="0" lvl="0" indent="0" algn="l" defTabSz="914400" eaLnBrk="1" fontAlgn="auto" latinLnBrk="0" hangingPunct="1">
              <a:lnSpc>
                <a:spcPct val="95000"/>
              </a:lnSpc>
              <a:spcBef>
                <a:spcPts val="0"/>
              </a:spcBef>
              <a:spcAft>
                <a:spcPts val="0"/>
              </a:spcAft>
              <a:buClrTx/>
              <a:buSzTx/>
              <a:buFontTx/>
              <a:buNone/>
              <a:tabLst/>
              <a:defRPr/>
            </a:pPr>
            <a:r>
              <a:rPr kumimoji="0" lang="en-US" sz="1540" b="1" i="0" u="none" strike="noStrike" kern="1200" cap="none" spc="0" normalizeH="0" baseline="0" noProof="0">
                <a:ln>
                  <a:noFill/>
                </a:ln>
                <a:solidFill>
                  <a:srgbClr val="161623"/>
                </a:solidFill>
                <a:effectLst/>
                <a:uLnTx/>
                <a:uFillTx/>
                <a:latin typeface="Arial"/>
                <a:ea typeface="Calibri"/>
                <a:cs typeface="Calibri"/>
              </a:rPr>
              <a:t>PROVE</a:t>
            </a:r>
          </a:p>
        </p:txBody>
      </p:sp>
      <p:sp>
        <p:nvSpPr>
          <p:cNvPr id="59" name="Stage 03 accent"/>
          <p:cNvSpPr>
            <a:spLocks/>
          </p:cNvSpPr>
          <p:nvPr/>
        </p:nvSpPr>
        <p:spPr>
          <a:xfrm>
            <a:off x="5172760" y="3541596"/>
            <a:ext cx="34747" cy="581809"/>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Calibri"/>
              <a:cs typeface="Calibri"/>
            </a:endParaRPr>
          </a:p>
        </p:txBody>
      </p:sp>
      <p:sp>
        <p:nvSpPr>
          <p:cNvPr id="60" name="Stage 03 body"/>
          <p:cNvSpPr txBox="1"/>
          <p:nvPr/>
        </p:nvSpPr>
        <p:spPr>
          <a:xfrm>
            <a:off x="5273344" y="3509861"/>
            <a:ext cx="1682496" cy="2200297"/>
          </a:xfrm>
          <a:prstGeom prst="rect">
            <a:avLst/>
          </a:prstGeom>
          <a:noFill/>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380" b="0" i="0" u="none" strike="noStrike" kern="1200" cap="none" spc="0" normalizeH="0" baseline="0" noProof="0">
                <a:ln>
                  <a:noFill/>
                </a:ln>
                <a:solidFill>
                  <a:srgbClr val="62544F"/>
                </a:solidFill>
                <a:effectLst/>
                <a:uLnTx/>
                <a:uFillTx/>
                <a:latin typeface="Arial"/>
                <a:ea typeface="Calibri"/>
                <a:cs typeface="Calibri"/>
              </a:rPr>
              <a:t>Evaluate the institution’s real documents and cases with OCR 4, RAG, Studio + Workflows.</a:t>
            </a:r>
          </a:p>
        </p:txBody>
      </p:sp>
      <p:sp>
        <p:nvSpPr>
          <p:cNvPr id="61" name="Stage 04 number"/>
          <p:cNvSpPr txBox="1">
            <a:spLocks/>
          </p:cNvSpPr>
          <p:nvPr/>
        </p:nvSpPr>
        <p:spPr>
          <a:xfrm>
            <a:off x="7275880" y="2515496"/>
            <a:ext cx="402336" cy="211567"/>
          </a:xfrm>
          <a:prstGeom prst="rect">
            <a:avLst/>
          </a:prstGeom>
          <a:noFill/>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E96B22"/>
                </a:solidFill>
                <a:effectLst/>
                <a:uLnTx/>
                <a:uFillTx/>
                <a:latin typeface="Silkscreen"/>
                <a:ea typeface="Calibri"/>
                <a:cs typeface="Calibri"/>
              </a:rPr>
              <a:t>04</a:t>
            </a:r>
          </a:p>
        </p:txBody>
      </p:sp>
      <p:sp>
        <p:nvSpPr>
          <p:cNvPr id="62" name="Stage 04 label"/>
          <p:cNvSpPr txBox="1"/>
          <p:nvPr/>
        </p:nvSpPr>
        <p:spPr>
          <a:xfrm>
            <a:off x="7275880" y="2854003"/>
            <a:ext cx="1828800" cy="476026"/>
          </a:xfrm>
          <a:prstGeom prst="rect">
            <a:avLst/>
          </a:prstGeom>
          <a:noFill/>
        </p:spPr>
        <p:txBody>
          <a:bodyPr wrap="square" lIns="0" tIns="0" rIns="0" bIns="0" anchor="ctr">
            <a:noAutofit/>
          </a:bodyPr>
          <a:lstStyle/>
          <a:p>
            <a:pPr marL="0" marR="0" lvl="0" indent="0" algn="l" defTabSz="914400" eaLnBrk="1" fontAlgn="auto" latinLnBrk="0" hangingPunct="1">
              <a:lnSpc>
                <a:spcPct val="95000"/>
              </a:lnSpc>
              <a:spcBef>
                <a:spcPts val="0"/>
              </a:spcBef>
              <a:spcAft>
                <a:spcPts val="0"/>
              </a:spcAft>
              <a:buClrTx/>
              <a:buSzTx/>
              <a:buFontTx/>
              <a:buNone/>
              <a:tabLst/>
              <a:defRPr/>
            </a:pPr>
            <a:r>
              <a:rPr kumimoji="0" lang="en-US" sz="1540" b="1" i="0" u="none" strike="noStrike" kern="1200" cap="none" spc="0" normalizeH="0" baseline="0" noProof="0">
                <a:ln>
                  <a:noFill/>
                </a:ln>
                <a:solidFill>
                  <a:srgbClr val="161623"/>
                </a:solidFill>
                <a:effectLst/>
                <a:uLnTx/>
                <a:uFillTx/>
                <a:latin typeface="Arial"/>
                <a:ea typeface="Calibri"/>
                <a:cs typeface="Calibri"/>
              </a:rPr>
              <a:t>CLEAR CONTROL</a:t>
            </a:r>
          </a:p>
        </p:txBody>
      </p:sp>
      <p:sp>
        <p:nvSpPr>
          <p:cNvPr id="63" name="Stage 04 accent"/>
          <p:cNvSpPr>
            <a:spLocks/>
          </p:cNvSpPr>
          <p:nvPr/>
        </p:nvSpPr>
        <p:spPr>
          <a:xfrm>
            <a:off x="7275880" y="3541596"/>
            <a:ext cx="34747" cy="581809"/>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Calibri"/>
              <a:cs typeface="Calibri"/>
            </a:endParaRPr>
          </a:p>
        </p:txBody>
      </p:sp>
      <p:sp>
        <p:nvSpPr>
          <p:cNvPr id="64" name="Stage 04 body"/>
          <p:cNvSpPr txBox="1">
            <a:spLocks/>
          </p:cNvSpPr>
          <p:nvPr/>
        </p:nvSpPr>
        <p:spPr>
          <a:xfrm>
            <a:off x="7376464" y="3509861"/>
            <a:ext cx="1682496" cy="2200297"/>
          </a:xfrm>
          <a:prstGeom prst="rect">
            <a:avLst/>
          </a:prstGeom>
          <a:noFill/>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380" b="0" i="0" u="none" strike="noStrike" kern="1200" cap="none" spc="0" normalizeH="0" baseline="0" noProof="0">
                <a:ln>
                  <a:noFill/>
                </a:ln>
                <a:solidFill>
                  <a:srgbClr val="62544F"/>
                </a:solidFill>
                <a:effectLst/>
                <a:uLnTx/>
                <a:uFillTx/>
                <a:latin typeface="Arial"/>
                <a:ea typeface="Calibri"/>
                <a:cs typeface="Calibri"/>
              </a:rPr>
              <a:t>Test security, compliance + model risk; capture traces, observability + human approval.</a:t>
            </a:r>
          </a:p>
        </p:txBody>
      </p:sp>
      <p:sp>
        <p:nvSpPr>
          <p:cNvPr id="65" name="Stage 05 number"/>
          <p:cNvSpPr txBox="1"/>
          <p:nvPr/>
        </p:nvSpPr>
        <p:spPr>
          <a:xfrm>
            <a:off x="9379000" y="2515496"/>
            <a:ext cx="402336" cy="211567"/>
          </a:xfrm>
          <a:prstGeom prst="rect">
            <a:avLst/>
          </a:prstGeom>
          <a:noFill/>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A500E"/>
                </a:solidFill>
                <a:effectLst/>
                <a:uLnTx/>
                <a:uFillTx/>
                <a:latin typeface="Silkscreen"/>
                <a:ea typeface="Calibri"/>
                <a:cs typeface="Calibri"/>
              </a:rPr>
              <a:t>05</a:t>
            </a:r>
          </a:p>
        </p:txBody>
      </p:sp>
      <p:sp>
        <p:nvSpPr>
          <p:cNvPr id="66" name="Stage 05 label"/>
          <p:cNvSpPr txBox="1"/>
          <p:nvPr/>
        </p:nvSpPr>
        <p:spPr>
          <a:xfrm>
            <a:off x="9379000" y="2854003"/>
            <a:ext cx="1828800" cy="476026"/>
          </a:xfrm>
          <a:prstGeom prst="rect">
            <a:avLst/>
          </a:prstGeom>
          <a:noFill/>
        </p:spPr>
        <p:txBody>
          <a:bodyPr wrap="square" lIns="0" tIns="0" rIns="0" bIns="0" anchor="ctr">
            <a:noAutofit/>
          </a:bodyPr>
          <a:lstStyle/>
          <a:p>
            <a:pPr marL="0" marR="0" lvl="0" indent="0" algn="l" defTabSz="914400" eaLnBrk="1" fontAlgn="auto" latinLnBrk="0" hangingPunct="1">
              <a:lnSpc>
                <a:spcPct val="95000"/>
              </a:lnSpc>
              <a:spcBef>
                <a:spcPts val="0"/>
              </a:spcBef>
              <a:spcAft>
                <a:spcPts val="0"/>
              </a:spcAft>
              <a:buClrTx/>
              <a:buSzTx/>
              <a:buFontTx/>
              <a:buNone/>
              <a:tabLst/>
              <a:defRPr/>
            </a:pPr>
            <a:r>
              <a:rPr kumimoji="0" lang="en-US" sz="1540" b="1" i="0" u="none" strike="noStrike" kern="1200" cap="none" spc="0" normalizeH="0" baseline="0" noProof="0">
                <a:ln>
                  <a:noFill/>
                </a:ln>
                <a:solidFill>
                  <a:srgbClr val="161623"/>
                </a:solidFill>
                <a:effectLst/>
                <a:uLnTx/>
                <a:uFillTx/>
                <a:latin typeface="Arial"/>
                <a:ea typeface="Calibri"/>
                <a:cs typeface="Calibri"/>
              </a:rPr>
              <a:t>EXPAND</a:t>
            </a:r>
          </a:p>
        </p:txBody>
      </p:sp>
      <p:sp>
        <p:nvSpPr>
          <p:cNvPr id="67" name="Stage 05 accent"/>
          <p:cNvSpPr/>
          <p:nvPr/>
        </p:nvSpPr>
        <p:spPr>
          <a:xfrm>
            <a:off x="9379000" y="3541596"/>
            <a:ext cx="34747" cy="581809"/>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endParaRPr>
          </a:p>
        </p:txBody>
      </p:sp>
      <p:sp>
        <p:nvSpPr>
          <p:cNvPr id="68" name="Stage 05 body"/>
          <p:cNvSpPr txBox="1">
            <a:spLocks/>
          </p:cNvSpPr>
          <p:nvPr/>
        </p:nvSpPr>
        <p:spPr>
          <a:xfrm>
            <a:off x="9479584" y="3509861"/>
            <a:ext cx="1682496" cy="2200297"/>
          </a:xfrm>
          <a:prstGeom prst="rect">
            <a:avLst/>
          </a:prstGeom>
          <a:noFill/>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380" b="0" i="0" u="none" strike="noStrike" kern="1200" cap="none" spc="0" normalizeH="0" baseline="0" noProof="0">
                <a:ln>
                  <a:noFill/>
                </a:ln>
                <a:solidFill>
                  <a:srgbClr val="62544F"/>
                </a:solidFill>
                <a:effectLst/>
                <a:uLnTx/>
                <a:uFillTx/>
                <a:latin typeface="Arial"/>
                <a:ea typeface="Calibri"/>
                <a:cs typeface="Calibri"/>
              </a:rPr>
              <a:t>Scale only when the same workload, deployment, and control pattern repeats.</a:t>
            </a:r>
          </a:p>
        </p:txBody>
      </p:sp>
      <p:sp>
        <p:nvSpPr>
          <p:cNvPr id="69" name="Expansion gate band"/>
          <p:cNvSpPr>
            <a:spLocks/>
          </p:cNvSpPr>
          <p:nvPr/>
        </p:nvSpPr>
        <p:spPr>
          <a:xfrm>
            <a:off x="838504" y="5942882"/>
            <a:ext cx="10515600" cy="401977"/>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Calibri"/>
              <a:cs typeface="Calibri"/>
            </a:endParaRPr>
          </a:p>
        </p:txBody>
      </p:sp>
      <p:sp>
        <p:nvSpPr>
          <p:cNvPr id="70" name="Expansion gate label"/>
          <p:cNvSpPr txBox="1"/>
          <p:nvPr/>
        </p:nvSpPr>
        <p:spPr>
          <a:xfrm>
            <a:off x="1003096" y="6038088"/>
            <a:ext cx="1417320" cy="169254"/>
          </a:xfrm>
          <a:prstGeom prst="rect">
            <a:avLst/>
          </a:prstGeom>
          <a:noFill/>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A500E"/>
                </a:solidFill>
                <a:effectLst/>
                <a:uLnTx/>
                <a:uFillTx/>
                <a:latin typeface="Arial"/>
                <a:ea typeface="Calibri"/>
                <a:cs typeface="Calibri"/>
              </a:rPr>
              <a:t>EXPANSION GATE</a:t>
            </a:r>
          </a:p>
        </p:txBody>
      </p:sp>
      <p:sp>
        <p:nvSpPr>
          <p:cNvPr id="71" name="Expansion gate statement"/>
          <p:cNvSpPr txBox="1"/>
          <p:nvPr/>
        </p:nvSpPr>
        <p:spPr>
          <a:xfrm>
            <a:off x="2438704" y="6016931"/>
            <a:ext cx="8686800" cy="200989"/>
          </a:xfrm>
          <a:prstGeom prst="rect">
            <a:avLst/>
          </a:prstGeom>
          <a:noFill/>
        </p:spPr>
        <p:txBody>
          <a:bodyPr wrap="square" lIns="0" tIns="0" rIns="0" bIns="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60" b="1" i="0" u="none" strike="noStrike" kern="1200" cap="none" spc="0" normalizeH="0" baseline="0" noProof="0">
                <a:ln>
                  <a:noFill/>
                </a:ln>
                <a:solidFill>
                  <a:srgbClr val="FFFFFF"/>
                </a:solidFill>
                <a:effectLst/>
                <a:uLnTx/>
                <a:uFillTx/>
                <a:latin typeface="Arial"/>
                <a:ea typeface="Calibri"/>
                <a:cs typeface="Calibri"/>
              </a:rPr>
              <a:t>WORKLOAD MATCH  ×  DEPLOYMENT MATCH  ×  CONTROL MATCH  —  OTHERWISE, DO NOT REPLICATE</a:t>
            </a:r>
          </a:p>
        </p:txBody>
      </p:sp>
    </p:spTree>
    <p:extLst>
      <p:ext uri="{BB962C8B-B14F-4D97-AF65-F5344CB8AC3E}">
        <p14:creationId xmlns:p14="http://schemas.microsoft.com/office/powerpoint/2010/main" val="3576942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F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16D29C6D-262F-4C6C-812E-57087E04B3A8}"/>
              </a:ext>
            </a:extLst>
          </p:cNvPr>
          <p:cNvSpPr>
            <a:spLocks noGrp="1"/>
          </p:cNvSpPr>
          <p:nvPr/>
        </p:nvSpPr>
        <p:spPr>
          <a:xfrm>
            <a:off x="609600" y="266700"/>
            <a:ext cx="76200" cy="742950"/>
          </a:xfrm>
          <a:prstGeom prst="rect">
            <a:avLst/>
          </a:prstGeom>
          <a:solidFill>
            <a:srgbClr val="FA500E"/>
          </a:solidFill>
          <a:ln w="0">
            <a:no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 name="Rectangle 1">
            <a:extLst>
              <a:ext uri="{FF2B5EF4-FFF2-40B4-BE49-F238E27FC236}">
                <a16:creationId xmlns:a16="http://schemas.microsoft.com/office/drawing/2014/main" id="{04732A84-AA98-4463-B879-012A671EA286}"/>
              </a:ext>
            </a:extLst>
          </p:cNvPr>
          <p:cNvSpPr>
            <a:spLocks noGrp="1"/>
          </p:cNvSpPr>
          <p:nvPr/>
        </p:nvSpPr>
        <p:spPr>
          <a:xfrm>
            <a:off x="841248" y="256032"/>
            <a:ext cx="4206240" cy="173736"/>
          </a:xfrm>
          <a:prstGeom prst="rect">
            <a:avLst/>
          </a:prstGeom>
          <a:noFill/>
          <a:ln w="0">
            <a:noFill/>
            <a:prstDash val="solid"/>
          </a:ln>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sz="975" b="1">
                <a:solidFill>
                  <a:srgbClr val="FFD900"/>
                </a:solidFill>
                <a:latin typeface="Arial"/>
                <a:ea typeface="Arial"/>
                <a:cs typeface="Arial"/>
              </a:defRPr>
            </a:pPr>
            <a:r>
              <a:rPr kumimoji="0" lang="en-US" sz="1100" b="1" i="0" u="none" strike="noStrike" kern="1200" cap="none" spc="0" normalizeH="0" baseline="0" noProof="0">
                <a:ln>
                  <a:noFill/>
                </a:ln>
                <a:solidFill>
                  <a:srgbClr val="FA500E"/>
                </a:solidFill>
                <a:effectLst/>
                <a:uLnTx/>
                <a:uFillTx/>
                <a:latin typeface="Arial"/>
                <a:ea typeface="Arial"/>
                <a:cs typeface="Arial"/>
              </a:rPr>
              <a:t>MARKET LOGIC</a:t>
            </a:r>
          </a:p>
        </p:txBody>
      </p:sp>
      <p:sp>
        <p:nvSpPr>
          <p:cNvPr id="3" name="Rectangle 2">
            <a:extLst>
              <a:ext uri="{FF2B5EF4-FFF2-40B4-BE49-F238E27FC236}">
                <a16:creationId xmlns:a16="http://schemas.microsoft.com/office/drawing/2014/main" id="{D9EF87EF-242B-4CF8-A940-838B012EFB15}"/>
              </a:ext>
            </a:extLst>
          </p:cNvPr>
          <p:cNvSpPr>
            <a:spLocks noGrp="1"/>
          </p:cNvSpPr>
          <p:nvPr/>
        </p:nvSpPr>
        <p:spPr>
          <a:xfrm>
            <a:off x="841248" y="457200"/>
            <a:ext cx="10515600" cy="822960"/>
          </a:xfrm>
          <a:prstGeom prst="rect">
            <a:avLst/>
          </a:prstGeom>
          <a:noFill/>
          <a:ln w="0">
            <a:noFill/>
            <a:prstDash val="solid"/>
          </a:ln>
        </p:spPr>
        <p:txBody>
          <a:bodyPr wrap="square" lIns="0" tIns="0" rIns="0" bIns="0" anchor="t">
            <a:noAutofit/>
          </a:bodyPr>
          <a:lstStyle/>
          <a:p>
            <a:pPr marL="0" marR="0" lvl="0" indent="0" algn="l" defTabSz="914400" eaLnBrk="1" fontAlgn="auto" latinLnBrk="0" hangingPunct="1">
              <a:lnSpc>
                <a:spcPct val="95000"/>
              </a:lnSpc>
              <a:spcBef>
                <a:spcPts val="0"/>
              </a:spcBef>
              <a:spcAft>
                <a:spcPts val="0"/>
              </a:spcAft>
              <a:buClrTx/>
              <a:buSzTx/>
              <a:buFontTx/>
              <a:buNone/>
              <a:tabLst/>
              <a:defRPr sz="2850" b="1">
                <a:solidFill>
                  <a:srgbClr val="1F1F1F"/>
                </a:solidFill>
                <a:latin typeface="Arial"/>
                <a:ea typeface="Arial"/>
                <a:cs typeface="Arial"/>
              </a:defRPr>
            </a:pPr>
            <a:r>
              <a:rPr kumimoji="0" lang="en-US" sz="3600" b="1" i="0" u="none" strike="noStrike" kern="1200" cap="none" spc="0" normalizeH="0" baseline="0" noProof="0">
                <a:ln>
                  <a:noFill/>
                </a:ln>
                <a:solidFill>
                  <a:srgbClr val="161623"/>
                </a:solidFill>
                <a:effectLst/>
                <a:uLnTx/>
                <a:uFillTx/>
                <a:latin typeface="Tiny5" panose="02000000000000000000" pitchFamily="2" charset="0"/>
                <a:ea typeface="Arial"/>
                <a:cs typeface="Tiny5" panose="02000000000000000000" pitchFamily="2" charset="0"/>
              </a:rPr>
              <a:t>FSI BUYERS WANT AI WITHOUT LOSING CONTROL</a:t>
            </a:r>
          </a:p>
        </p:txBody>
      </p:sp>
      <p:sp>
        <p:nvSpPr>
          <p:cNvPr id="4" name="Rectangle 3">
            <a:extLst>
              <a:ext uri="{FF2B5EF4-FFF2-40B4-BE49-F238E27FC236}">
                <a16:creationId xmlns:a16="http://schemas.microsoft.com/office/drawing/2014/main" id="{6E0AECDB-2F31-4C3C-8928-3F6CE9054FA7}"/>
              </a:ext>
            </a:extLst>
          </p:cNvPr>
          <p:cNvSpPr>
            <a:spLocks noGrp="1"/>
          </p:cNvSpPr>
          <p:nvPr/>
        </p:nvSpPr>
        <p:spPr>
          <a:xfrm>
            <a:off x="612648" y="6556248"/>
            <a:ext cx="10972800" cy="9144"/>
          </a:xfrm>
          <a:prstGeom prst="rect">
            <a:avLst/>
          </a:prstGeom>
          <a:solidFill>
            <a:srgbClr val="E8CBBE"/>
          </a:solidFill>
          <a:ln w="0">
            <a:no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5" name="Rectangle 4">
            <a:extLst>
              <a:ext uri="{FF2B5EF4-FFF2-40B4-BE49-F238E27FC236}">
                <a16:creationId xmlns:a16="http://schemas.microsoft.com/office/drawing/2014/main" id="{1D26FC36-5300-47FC-807B-8D8FCB5D8F9F}"/>
              </a:ext>
            </a:extLst>
          </p:cNvPr>
          <p:cNvSpPr>
            <a:spLocks noGrp="1"/>
          </p:cNvSpPr>
          <p:nvPr/>
        </p:nvSpPr>
        <p:spPr>
          <a:xfrm>
            <a:off x="612648" y="6620256"/>
            <a:ext cx="4005072" cy="128016"/>
          </a:xfrm>
          <a:prstGeom prst="rect">
            <a:avLst/>
          </a:prstGeom>
          <a:noFill/>
          <a:ln w="0">
            <a:noFill/>
            <a:prstDash val="solid"/>
          </a:ln>
        </p:spPr>
        <p:txBody>
          <a:bodyPr wrap="square" lIns="0" tIns="0" rIns="0" bIns="0" anchor="ctr">
            <a:noAutofit/>
          </a:bodyPr>
          <a:lstStyle/>
          <a:p>
            <a:pPr marL="0" marR="0" lvl="0" indent="0" algn="l" defTabSz="914400" eaLnBrk="1" fontAlgn="auto" latinLnBrk="0" hangingPunct="1">
              <a:lnSpc>
                <a:spcPct val="90000"/>
              </a:lnSpc>
              <a:spcBef>
                <a:spcPts val="0"/>
              </a:spcBef>
              <a:spcAft>
                <a:spcPts val="0"/>
              </a:spcAft>
              <a:buClrTx/>
              <a:buSzTx/>
              <a:buFontTx/>
              <a:buNone/>
              <a:tabLst/>
              <a:defRPr sz="750" b="0">
                <a:solidFill>
                  <a:srgbClr val="5A554B"/>
                </a:solidFill>
                <a:latin typeface="Arial"/>
                <a:ea typeface="Arial"/>
                <a:cs typeface="Arial"/>
              </a:defRPr>
            </a:pPr>
            <a:r>
              <a:rPr lang="en-US" sz="900" b="0">
                <a:solidFill>
                  <a:srgbClr val="62544F"/>
                </a:solidFill>
                <a:latin typeface="Arial"/>
              </a:rPr>
              <a:t>SHIV  ·  PMM CANDIDATE  ·  18 AUG 2026</a:t>
            </a:r>
          </a:p>
        </p:txBody>
      </p:sp>
      <p:sp>
        <p:nvSpPr>
          <p:cNvPr id="6" name="Rectangle 5">
            <a:extLst>
              <a:ext uri="{FF2B5EF4-FFF2-40B4-BE49-F238E27FC236}">
                <a16:creationId xmlns:a16="http://schemas.microsoft.com/office/drawing/2014/main" id="{FDC400E4-2021-43EE-812E-22FD834BADC2}"/>
              </a:ext>
            </a:extLst>
          </p:cNvPr>
          <p:cNvSpPr>
            <a:spLocks noGrp="1"/>
          </p:cNvSpPr>
          <p:nvPr/>
        </p:nvSpPr>
        <p:spPr>
          <a:xfrm>
            <a:off x="11237976" y="6620256"/>
            <a:ext cx="347472" cy="128016"/>
          </a:xfrm>
          <a:prstGeom prst="rect">
            <a:avLst/>
          </a:prstGeom>
          <a:noFill/>
          <a:ln w="0">
            <a:noFill/>
            <a:prstDash val="solid"/>
          </a:ln>
        </p:spPr>
        <p:txBody>
          <a:bodyPr wrap="square" lIns="0" tIns="0" rIns="0" bIns="0" anchor="ctr">
            <a:noAutofit/>
          </a:bodyPr>
          <a:lstStyle/>
          <a:p>
            <a:pPr marL="0" marR="0" lvl="0" indent="0" algn="r" defTabSz="914400" eaLnBrk="1" fontAlgn="auto" latinLnBrk="0" hangingPunct="1">
              <a:lnSpc>
                <a:spcPct val="90000"/>
              </a:lnSpc>
              <a:spcBef>
                <a:spcPts val="0"/>
              </a:spcBef>
              <a:spcAft>
                <a:spcPts val="0"/>
              </a:spcAft>
              <a:buClrTx/>
              <a:buSzTx/>
              <a:buFontTx/>
              <a:buNone/>
              <a:tabLst/>
              <a:defRPr sz="750" b="1">
                <a:solidFill>
                  <a:srgbClr val="5A554B"/>
                </a:solidFill>
                <a:latin typeface="Arial"/>
                <a:ea typeface="Arial"/>
                <a:cs typeface="Arial"/>
              </a:defRPr>
            </a:pPr>
            <a:r>
              <a:rPr lang="en-US" sz="900" b="0">
                <a:solidFill>
                  <a:srgbClr val="62544F"/>
                </a:solidFill>
                <a:latin typeface="Silkscreen"/>
              </a:rPr>
              <a:t>3</a:t>
            </a:r>
          </a:p>
        </p:txBody>
      </p:sp>
      <p:pic>
        <p:nvPicPr>
          <p:cNvPr id="31" name="Mistral company monogram — slide 3" descr="Mistral AI company monogram"/>
          <p:cNvPicPr>
            <a:picLocks noChangeAspect="1"/>
          </p:cNvPicPr>
          <p:nvPr/>
        </p:nvPicPr>
        <p:blipFill>
          <a:blip r:embed="rId3"/>
          <a:stretch>
            <a:fillRect/>
          </a:stretch>
        </p:blipFill>
        <p:spPr>
          <a:xfrm>
            <a:off x="11658600" y="182880"/>
            <a:ext cx="347472" cy="347472"/>
          </a:xfrm>
          <a:prstGeom prst="rect">
            <a:avLst/>
          </a:prstGeom>
          <a:ln/>
        </p:spPr>
      </p:pic>
      <p:sp>
        <p:nvSpPr>
          <p:cNvPr id="300" name="Deck"/>
          <p:cNvSpPr>
            <a:spLocks noGrp="1"/>
          </p:cNvSpPr>
          <p:nvPr/>
        </p:nvSpPr>
        <p:spPr>
          <a:xfrm>
            <a:off x="841248" y="1389888"/>
            <a:ext cx="10515600" cy="237744"/>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a:ln>
                  <a:noFill/>
                </a:ln>
                <a:solidFill>
                  <a:srgbClr val="62544F"/>
                </a:solidFill>
                <a:effectLst/>
                <a:uLnTx/>
                <a:uFillTx/>
                <a:latin typeface="Arial"/>
                <a:ea typeface="Arial"/>
                <a:cs typeface="Arial"/>
              </a:rPr>
              <a:t>Do not compete for every AI workload; win where differentiated control and workflow capabilities matter.</a:t>
            </a:r>
          </a:p>
        </p:txBody>
      </p:sp>
      <p:sp>
        <p:nvSpPr>
          <p:cNvPr id="301" name="Lab THE SQUEEZE"/>
          <p:cNvSpPr>
            <a:spLocks noGrp="1"/>
          </p:cNvSpPr>
          <p:nvPr/>
        </p:nvSpPr>
        <p:spPr>
          <a:xfrm>
            <a:off x="838230" y="1700784"/>
            <a:ext cx="10515600"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1" i="0" u="none" strike="noStrike" kern="1200" cap="none" spc="120" normalizeH="0" baseline="0" noProof="0">
                <a:ln>
                  <a:noFill/>
                </a:ln>
                <a:solidFill>
                  <a:srgbClr val="FA500E"/>
                </a:solidFill>
                <a:effectLst/>
                <a:uLnTx/>
                <a:uFillTx/>
                <a:latin typeface="Arial"/>
                <a:ea typeface="Arial"/>
                <a:cs typeface="Arial"/>
              </a:rPr>
              <a:t>THE SQUEEZE</a:t>
            </a:r>
          </a:p>
        </p:txBody>
      </p:sp>
      <p:sp>
        <p:nvSpPr>
          <p:cNvPr id="302" name="Rule THE SQUEEZE"/>
          <p:cNvSpPr>
            <a:spLocks noGrp="1"/>
          </p:cNvSpPr>
          <p:nvPr/>
        </p:nvSpPr>
        <p:spPr>
          <a:xfrm>
            <a:off x="841248" y="1956816"/>
            <a:ext cx="10515600" cy="20117"/>
          </a:xfrm>
          <a:prstGeom prst="rect">
            <a:avLst/>
          </a:prstGeom>
          <a:solidFill>
            <a:srgbClr val="161623"/>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03" name="Amb"/>
          <p:cNvSpPr>
            <a:spLocks noGrp="1"/>
          </p:cNvSpPr>
          <p:nvPr/>
        </p:nvSpPr>
        <p:spPr>
          <a:xfrm>
            <a:off x="838230" y="2103120"/>
            <a:ext cx="3108960" cy="1188720"/>
          </a:xfrm>
          <a:prstGeom prst="rect">
            <a:avLst/>
          </a:prstGeom>
          <a:solidFill>
            <a:srgbClr val="FFE8D6"/>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04" name="Amb lb"/>
          <p:cNvSpPr>
            <a:spLocks noGrp="1"/>
          </p:cNvSpPr>
          <p:nvPr/>
        </p:nvSpPr>
        <p:spPr>
          <a:xfrm>
            <a:off x="1057686" y="2304288"/>
            <a:ext cx="2670048"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1" i="0" u="none" strike="noStrike" kern="1200" cap="none" spc="120" normalizeH="0" baseline="0" noProof="0">
                <a:ln>
                  <a:noFill/>
                </a:ln>
                <a:solidFill>
                  <a:srgbClr val="FA500E"/>
                </a:solidFill>
                <a:effectLst/>
                <a:uLnTx/>
                <a:uFillTx/>
                <a:latin typeface="Arial"/>
                <a:ea typeface="Arial"/>
                <a:cs typeface="Arial"/>
              </a:rPr>
              <a:t>AI AMBITION</a:t>
            </a:r>
          </a:p>
        </p:txBody>
      </p:sp>
      <p:sp>
        <p:nvSpPr>
          <p:cNvPr id="305" name="Amb tx"/>
          <p:cNvSpPr>
            <a:spLocks noGrp="1"/>
          </p:cNvSpPr>
          <p:nvPr/>
        </p:nvSpPr>
        <p:spPr>
          <a:xfrm>
            <a:off x="1057686" y="2596896"/>
            <a:ext cx="2670048" cy="548640"/>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0" i="0" u="none" strike="noStrike" kern="1200" cap="none" spc="0" normalizeH="0" baseline="0" noProof="0">
                <a:ln>
                  <a:noFill/>
                </a:ln>
                <a:solidFill>
                  <a:srgbClr val="62544F"/>
                </a:solidFill>
                <a:effectLst/>
                <a:uLnTx/>
                <a:uFillTx/>
                <a:latin typeface="Arial"/>
                <a:ea typeface="Arial"/>
                <a:cs typeface="Arial"/>
              </a:rPr>
              <a:t>Speed, coverage and analyst leverage across customer, credit and investment work.</a:t>
            </a:r>
          </a:p>
        </p:txBody>
      </p:sp>
      <p:sp>
        <p:nvSpPr>
          <p:cNvPr id="306" name="Arw L"/>
          <p:cNvSpPr>
            <a:spLocks noGrp="1"/>
          </p:cNvSpPr>
          <p:nvPr/>
        </p:nvSpPr>
        <p:spPr>
          <a:xfrm>
            <a:off x="4075206" y="2578608"/>
            <a:ext cx="402336" cy="237744"/>
          </a:xfrm>
          <a:prstGeom prst="rightArrow">
            <a:avLst/>
          </a:prstGeom>
          <a:solidFill>
            <a:srgbClr val="FA500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07" name="Core"/>
          <p:cNvSpPr>
            <a:spLocks noGrp="1"/>
          </p:cNvSpPr>
          <p:nvPr/>
        </p:nvSpPr>
        <p:spPr>
          <a:xfrm>
            <a:off x="4605558" y="2011680"/>
            <a:ext cx="2980944" cy="1371600"/>
          </a:xfrm>
          <a:prstGeom prst="rect">
            <a:avLst/>
          </a:prstGeom>
          <a:solidFill>
            <a:srgbClr val="161623"/>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08" name="Core lb"/>
          <p:cNvSpPr>
            <a:spLocks noGrp="1"/>
          </p:cNvSpPr>
          <p:nvPr/>
        </p:nvSpPr>
        <p:spPr>
          <a:xfrm>
            <a:off x="4825014" y="2249424"/>
            <a:ext cx="2542032"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1" i="0" u="none" strike="noStrike" kern="1200" cap="none" spc="120" normalizeH="0" baseline="0" noProof="0">
                <a:ln>
                  <a:noFill/>
                </a:ln>
                <a:solidFill>
                  <a:srgbClr val="FA500E"/>
                </a:solidFill>
                <a:effectLst/>
                <a:uLnTx/>
                <a:uFillTx/>
                <a:latin typeface="Arial"/>
                <a:ea typeface="Arial"/>
                <a:cs typeface="Arial"/>
              </a:rPr>
              <a:t>CONTROLLED AI FOR</a:t>
            </a:r>
          </a:p>
        </p:txBody>
      </p:sp>
      <p:sp>
        <p:nvSpPr>
          <p:cNvPr id="309" name="Core tx"/>
          <p:cNvSpPr>
            <a:spLocks noGrp="1"/>
          </p:cNvSpPr>
          <p:nvPr/>
        </p:nvSpPr>
        <p:spPr>
          <a:xfrm>
            <a:off x="4825014" y="2560320"/>
            <a:ext cx="2542032" cy="603504"/>
          </a:xfrm>
          <a:prstGeom prst="rect">
            <a:avLst/>
          </a:prstGeom>
          <a:noFill/>
          <a:ln w="0">
            <a:noFill/>
          </a:ln>
        </p:spPr>
        <p:txBody>
          <a:bodyPr wrap="square" lIns="0" tIns="0" rIns="0" bIns="0" anchor="ctr">
            <a:normAutofit fontScale="92500"/>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a:ln>
                  <a:noFill/>
                </a:ln>
                <a:solidFill>
                  <a:srgbClr val="FFF8F2"/>
                </a:solidFill>
                <a:effectLst/>
                <a:uLnTx/>
                <a:uFillTx/>
                <a:latin typeface="Arial"/>
                <a:ea typeface="Arial"/>
                <a:cs typeface="Arial"/>
              </a:rPr>
              <a:t>Financial Intelligence</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a:ln>
                  <a:noFill/>
                </a:ln>
                <a:solidFill>
                  <a:srgbClr val="FFF8F2"/>
                </a:solidFill>
                <a:effectLst/>
                <a:uLnTx/>
                <a:uFillTx/>
                <a:latin typeface="Arial"/>
                <a:ea typeface="Arial"/>
                <a:cs typeface="Arial"/>
              </a:rPr>
              <a:t>and Regulated Workflows</a:t>
            </a:r>
          </a:p>
        </p:txBody>
      </p:sp>
      <p:sp>
        <p:nvSpPr>
          <p:cNvPr id="310" name="Arw R"/>
          <p:cNvSpPr>
            <a:spLocks noGrp="1"/>
          </p:cNvSpPr>
          <p:nvPr/>
        </p:nvSpPr>
        <p:spPr>
          <a:xfrm>
            <a:off x="7714518" y="2578608"/>
            <a:ext cx="402336" cy="237744"/>
          </a:xfrm>
          <a:prstGeom prst="leftArrow">
            <a:avLst/>
          </a:prstGeom>
          <a:solidFill>
            <a:srgbClr val="FA500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11" name="Ctrl"/>
          <p:cNvSpPr>
            <a:spLocks noGrp="1"/>
          </p:cNvSpPr>
          <p:nvPr/>
        </p:nvSpPr>
        <p:spPr>
          <a:xfrm>
            <a:off x="8244870" y="2103120"/>
            <a:ext cx="3108960" cy="1188720"/>
          </a:xfrm>
          <a:prstGeom prst="rect">
            <a:avLst/>
          </a:prstGeom>
          <a:solidFill>
            <a:srgbClr val="FFE8D6"/>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12" name="Ctrl lb"/>
          <p:cNvSpPr>
            <a:spLocks noGrp="1"/>
          </p:cNvSpPr>
          <p:nvPr/>
        </p:nvSpPr>
        <p:spPr>
          <a:xfrm>
            <a:off x="8464326" y="2304288"/>
            <a:ext cx="2670048"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1" i="0" u="none" strike="noStrike" kern="1200" cap="none" spc="120" normalizeH="0" baseline="0" noProof="0">
                <a:ln>
                  <a:noFill/>
                </a:ln>
                <a:solidFill>
                  <a:srgbClr val="FA500E"/>
                </a:solidFill>
                <a:effectLst/>
                <a:uLnTx/>
                <a:uFillTx/>
                <a:latin typeface="Arial"/>
                <a:ea typeface="Arial"/>
                <a:cs typeface="Arial"/>
              </a:rPr>
              <a:t>CONTROL REQUIREMENTS</a:t>
            </a:r>
          </a:p>
        </p:txBody>
      </p:sp>
      <p:sp>
        <p:nvSpPr>
          <p:cNvPr id="313" name="Ctrl tx"/>
          <p:cNvSpPr>
            <a:spLocks noGrp="1"/>
          </p:cNvSpPr>
          <p:nvPr/>
        </p:nvSpPr>
        <p:spPr>
          <a:xfrm>
            <a:off x="8464326" y="2596896"/>
            <a:ext cx="2670048" cy="548640"/>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0" i="0" u="none" strike="noStrike" kern="1200" cap="none" spc="0" normalizeH="0" baseline="0" noProof="0">
                <a:ln>
                  <a:noFill/>
                </a:ln>
                <a:solidFill>
                  <a:srgbClr val="62544F"/>
                </a:solidFill>
                <a:effectLst/>
                <a:uLnTx/>
                <a:uFillTx/>
                <a:latin typeface="Arial"/>
                <a:ea typeface="Arial"/>
                <a:cs typeface="Arial"/>
              </a:rPr>
              <a:t>Residency, risk, audit, identity and human review before approval.</a:t>
            </a:r>
          </a:p>
        </p:txBody>
      </p:sp>
      <p:sp>
        <p:nvSpPr>
          <p:cNvPr id="314" name="Lab MARKET CONDITIONS"/>
          <p:cNvSpPr>
            <a:spLocks noGrp="1"/>
          </p:cNvSpPr>
          <p:nvPr/>
        </p:nvSpPr>
        <p:spPr>
          <a:xfrm>
            <a:off x="838230" y="3566160"/>
            <a:ext cx="10515600"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1" i="0" u="none" strike="noStrike" kern="1200" cap="none" spc="120" normalizeH="0" baseline="0" noProof="0">
                <a:ln>
                  <a:noFill/>
                </a:ln>
                <a:solidFill>
                  <a:srgbClr val="FA500E"/>
                </a:solidFill>
                <a:effectLst/>
                <a:uLnTx/>
                <a:uFillTx/>
                <a:latin typeface="Arial"/>
                <a:ea typeface="Arial"/>
                <a:cs typeface="Arial"/>
              </a:rPr>
              <a:t>WHERE MISTRAL SHOULD WIN   </a:t>
            </a:r>
            <a:r>
              <a:rPr kumimoji="0" lang="en-US" sz="1160" b="1" i="0" u="none" strike="noStrike" kern="1200" cap="none" spc="40" normalizeH="0" baseline="0" noProof="0">
                <a:ln>
                  <a:noFill/>
                </a:ln>
                <a:solidFill>
                  <a:srgbClr val="62544F"/>
                </a:solidFill>
                <a:effectLst/>
                <a:uLnTx/>
                <a:uFillTx/>
                <a:latin typeface="Arial"/>
                <a:ea typeface="Arial"/>
                <a:cs typeface="Arial"/>
              </a:rPr>
              <a:t>control · customization · document intelligence · traceability · multi-model coexistence</a:t>
            </a:r>
          </a:p>
        </p:txBody>
      </p:sp>
      <p:sp>
        <p:nvSpPr>
          <p:cNvPr id="315" name="Rule MARKET CONDITIONS"/>
          <p:cNvSpPr>
            <a:spLocks noGrp="1"/>
          </p:cNvSpPr>
          <p:nvPr/>
        </p:nvSpPr>
        <p:spPr>
          <a:xfrm>
            <a:off x="841248" y="3822191"/>
            <a:ext cx="10515600" cy="20117"/>
          </a:xfrm>
          <a:prstGeom prst="rect">
            <a:avLst/>
          </a:prstGeom>
          <a:solidFill>
            <a:srgbClr val="161623"/>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16" name="Cond 0"/>
          <p:cNvSpPr>
            <a:spLocks noGrp="1"/>
          </p:cNvSpPr>
          <p:nvPr/>
        </p:nvSpPr>
        <p:spPr>
          <a:xfrm>
            <a:off x="838230" y="3968495"/>
            <a:ext cx="2436876" cy="2487168"/>
          </a:xfrm>
          <a:prstGeom prst="rect">
            <a:avLst/>
          </a:prstGeom>
          <a:solidFill>
            <a:srgbClr val="FFE8D6"/>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17" name="Cond bar 0"/>
          <p:cNvSpPr>
            <a:spLocks noGrp="1"/>
          </p:cNvSpPr>
          <p:nvPr/>
        </p:nvSpPr>
        <p:spPr>
          <a:xfrm>
            <a:off x="838230" y="3968495"/>
            <a:ext cx="50292" cy="2487168"/>
          </a:xfrm>
          <a:prstGeom prst="rect">
            <a:avLst/>
          </a:prstGeom>
          <a:solidFill>
            <a:srgbClr val="FA500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18" name="Cond num 0"/>
          <p:cNvSpPr>
            <a:spLocks noGrp="1"/>
          </p:cNvSpPr>
          <p:nvPr/>
        </p:nvSpPr>
        <p:spPr>
          <a:xfrm>
            <a:off x="1039398" y="4160519"/>
            <a:ext cx="914400"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A500E"/>
                </a:solidFill>
                <a:effectLst/>
                <a:uLnTx/>
                <a:uFillTx/>
                <a:latin typeface="Silkscreen"/>
                <a:ea typeface="Silkscreen"/>
                <a:cs typeface="Silkscreen"/>
              </a:rPr>
              <a:t>01</a:t>
            </a:r>
          </a:p>
        </p:txBody>
      </p:sp>
      <p:sp>
        <p:nvSpPr>
          <p:cNvPr id="319" name="Cond nm 0"/>
          <p:cNvSpPr>
            <a:spLocks noGrp="1"/>
          </p:cNvSpPr>
          <p:nvPr/>
        </p:nvSpPr>
        <p:spPr>
          <a:xfrm>
            <a:off x="1039398" y="4498848"/>
            <a:ext cx="2034540" cy="219456"/>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380" b="1" i="0" u="none" strike="noStrike" kern="1200" cap="none" spc="0" normalizeH="0" baseline="0" noProof="0">
                <a:ln>
                  <a:noFill/>
                </a:ln>
                <a:solidFill>
                  <a:srgbClr val="161623"/>
                </a:solidFill>
                <a:effectLst/>
                <a:uLnTx/>
                <a:uFillTx/>
                <a:latin typeface="Arial"/>
                <a:ea typeface="Arial"/>
                <a:cs typeface="Arial"/>
              </a:rPr>
              <a:t>Sensitive data</a:t>
            </a:r>
          </a:p>
        </p:txBody>
      </p:sp>
      <p:sp>
        <p:nvSpPr>
          <p:cNvPr id="320" name="Cond d 0"/>
          <p:cNvSpPr>
            <a:spLocks noGrp="1"/>
          </p:cNvSpPr>
          <p:nvPr/>
        </p:nvSpPr>
        <p:spPr>
          <a:xfrm>
            <a:off x="1039398" y="4873752"/>
            <a:ext cx="2034540" cy="502920"/>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62544F"/>
                </a:solidFill>
                <a:effectLst/>
                <a:uLnTx/>
                <a:uFillTx/>
                <a:latin typeface="Arial"/>
                <a:ea typeface="Arial"/>
                <a:cs typeface="Arial"/>
              </a:rPr>
              <a:t>Customer, transaction, credit, investment and internal data.</a:t>
            </a:r>
          </a:p>
        </p:txBody>
      </p:sp>
      <p:sp>
        <p:nvSpPr>
          <p:cNvPr id="321" name="Cond rule 0"/>
          <p:cNvSpPr>
            <a:spLocks noGrp="1"/>
          </p:cNvSpPr>
          <p:nvPr/>
        </p:nvSpPr>
        <p:spPr>
          <a:xfrm>
            <a:off x="1039398" y="5577840"/>
            <a:ext cx="2034540" cy="14630"/>
          </a:xfrm>
          <a:prstGeom prst="rect">
            <a:avLst/>
          </a:prstGeom>
          <a:solidFill>
            <a:srgbClr val="E8CBB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22" name="Cond imp 0"/>
          <p:cNvSpPr>
            <a:spLocks noGrp="1"/>
          </p:cNvSpPr>
          <p:nvPr/>
        </p:nvSpPr>
        <p:spPr>
          <a:xfrm>
            <a:off x="1039398" y="5705856"/>
            <a:ext cx="2034540" cy="56692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A500E"/>
                </a:solidFill>
                <a:effectLst/>
                <a:uLnTx/>
                <a:uFillTx/>
                <a:latin typeface="Arial"/>
                <a:ea typeface="Arial"/>
                <a:cs typeface="Arial"/>
              </a:rPr>
              <a:t>Lead with deployment control and residency.</a:t>
            </a:r>
          </a:p>
        </p:txBody>
      </p:sp>
      <p:sp>
        <p:nvSpPr>
          <p:cNvPr id="323" name="Cond 1"/>
          <p:cNvSpPr>
            <a:spLocks noGrp="1"/>
          </p:cNvSpPr>
          <p:nvPr/>
        </p:nvSpPr>
        <p:spPr>
          <a:xfrm>
            <a:off x="3531138" y="3968495"/>
            <a:ext cx="2436876" cy="2487168"/>
          </a:xfrm>
          <a:prstGeom prst="rect">
            <a:avLst/>
          </a:prstGeom>
          <a:solidFill>
            <a:srgbClr val="FFE8D6"/>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24" name="Cond bar 1"/>
          <p:cNvSpPr>
            <a:spLocks noGrp="1"/>
          </p:cNvSpPr>
          <p:nvPr/>
        </p:nvSpPr>
        <p:spPr>
          <a:xfrm>
            <a:off x="3531138" y="3968495"/>
            <a:ext cx="50292" cy="2487168"/>
          </a:xfrm>
          <a:prstGeom prst="rect">
            <a:avLst/>
          </a:prstGeom>
          <a:solidFill>
            <a:srgbClr val="FA500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25" name="Cond num 1"/>
          <p:cNvSpPr>
            <a:spLocks noGrp="1"/>
          </p:cNvSpPr>
          <p:nvPr/>
        </p:nvSpPr>
        <p:spPr>
          <a:xfrm>
            <a:off x="3732306" y="4160519"/>
            <a:ext cx="914400"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A500E"/>
                </a:solidFill>
                <a:effectLst/>
                <a:uLnTx/>
                <a:uFillTx/>
                <a:latin typeface="Silkscreen"/>
                <a:ea typeface="Silkscreen"/>
                <a:cs typeface="Silkscreen"/>
              </a:rPr>
              <a:t>02</a:t>
            </a:r>
          </a:p>
        </p:txBody>
      </p:sp>
      <p:sp>
        <p:nvSpPr>
          <p:cNvPr id="326" name="Cond nm 1"/>
          <p:cNvSpPr>
            <a:spLocks noGrp="1"/>
          </p:cNvSpPr>
          <p:nvPr/>
        </p:nvSpPr>
        <p:spPr>
          <a:xfrm>
            <a:off x="3732306" y="4498848"/>
            <a:ext cx="2034540" cy="219456"/>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380" b="1" i="0" u="none" strike="noStrike" kern="1200" cap="none" spc="0" normalizeH="0" baseline="0" noProof="0">
                <a:ln>
                  <a:noFill/>
                </a:ln>
                <a:solidFill>
                  <a:srgbClr val="161623"/>
                </a:solidFill>
                <a:effectLst/>
                <a:uLnTx/>
                <a:uFillTx/>
                <a:latin typeface="Arial"/>
                <a:ea typeface="Arial"/>
                <a:cs typeface="Arial"/>
              </a:rPr>
              <a:t>Governance burden</a:t>
            </a:r>
          </a:p>
        </p:txBody>
      </p:sp>
      <p:sp>
        <p:nvSpPr>
          <p:cNvPr id="327" name="Cond d 1"/>
          <p:cNvSpPr>
            <a:spLocks noGrp="1"/>
          </p:cNvSpPr>
          <p:nvPr/>
        </p:nvSpPr>
        <p:spPr>
          <a:xfrm>
            <a:off x="3732306" y="4873752"/>
            <a:ext cx="2034540" cy="502920"/>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62544F"/>
                </a:solidFill>
                <a:effectLst/>
                <a:uLnTx/>
                <a:uFillTx/>
                <a:latin typeface="Arial"/>
                <a:ea typeface="Arial"/>
                <a:cs typeface="Arial"/>
              </a:rPr>
              <a:t>Security, Legal, Model Risk, Compliance and Audit shape approval.</a:t>
            </a:r>
          </a:p>
        </p:txBody>
      </p:sp>
      <p:sp>
        <p:nvSpPr>
          <p:cNvPr id="328" name="Cond rule 1"/>
          <p:cNvSpPr>
            <a:spLocks noGrp="1"/>
          </p:cNvSpPr>
          <p:nvPr/>
        </p:nvSpPr>
        <p:spPr>
          <a:xfrm>
            <a:off x="3732306" y="5577840"/>
            <a:ext cx="2034540" cy="14630"/>
          </a:xfrm>
          <a:prstGeom prst="rect">
            <a:avLst/>
          </a:prstGeom>
          <a:solidFill>
            <a:srgbClr val="E8CBB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29" name="Cond imp 1"/>
          <p:cNvSpPr>
            <a:spLocks noGrp="1"/>
          </p:cNvSpPr>
          <p:nvPr/>
        </p:nvSpPr>
        <p:spPr>
          <a:xfrm>
            <a:off x="3732306" y="5705856"/>
            <a:ext cx="2034540" cy="56692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A500E"/>
                </a:solidFill>
                <a:effectLst/>
                <a:uLnTx/>
                <a:uFillTx/>
                <a:latin typeface="Arial"/>
                <a:ea typeface="Arial"/>
                <a:cs typeface="Arial"/>
              </a:rPr>
              <a:t>Make approval evidence the output of the evaluation.</a:t>
            </a:r>
          </a:p>
        </p:txBody>
      </p:sp>
      <p:sp>
        <p:nvSpPr>
          <p:cNvPr id="330" name="Cond 2"/>
          <p:cNvSpPr>
            <a:spLocks noGrp="1"/>
          </p:cNvSpPr>
          <p:nvPr/>
        </p:nvSpPr>
        <p:spPr>
          <a:xfrm>
            <a:off x="6224046" y="3968495"/>
            <a:ext cx="2436876" cy="2487168"/>
          </a:xfrm>
          <a:prstGeom prst="rect">
            <a:avLst/>
          </a:prstGeom>
          <a:solidFill>
            <a:srgbClr val="FFE8D6"/>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31" name="Cond bar 2"/>
          <p:cNvSpPr>
            <a:spLocks noGrp="1"/>
          </p:cNvSpPr>
          <p:nvPr/>
        </p:nvSpPr>
        <p:spPr>
          <a:xfrm>
            <a:off x="6224046" y="3968495"/>
            <a:ext cx="50292" cy="2487168"/>
          </a:xfrm>
          <a:prstGeom prst="rect">
            <a:avLst/>
          </a:prstGeom>
          <a:solidFill>
            <a:srgbClr val="FA500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32" name="Cond num 2"/>
          <p:cNvSpPr>
            <a:spLocks noGrp="1"/>
          </p:cNvSpPr>
          <p:nvPr/>
        </p:nvSpPr>
        <p:spPr>
          <a:xfrm>
            <a:off x="6425214" y="4160519"/>
            <a:ext cx="914400"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A500E"/>
                </a:solidFill>
                <a:effectLst/>
                <a:uLnTx/>
                <a:uFillTx/>
                <a:latin typeface="Silkscreen"/>
                <a:ea typeface="Silkscreen"/>
                <a:cs typeface="Silkscreen"/>
              </a:rPr>
              <a:t>03</a:t>
            </a:r>
          </a:p>
        </p:txBody>
      </p:sp>
      <p:sp>
        <p:nvSpPr>
          <p:cNvPr id="333" name="Cond nm 2"/>
          <p:cNvSpPr>
            <a:spLocks noGrp="1"/>
          </p:cNvSpPr>
          <p:nvPr/>
        </p:nvSpPr>
        <p:spPr>
          <a:xfrm>
            <a:off x="6425214" y="4498848"/>
            <a:ext cx="2034540" cy="219456"/>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380" b="1" i="0" u="none" strike="noStrike" kern="1200" cap="none" spc="0" normalizeH="0" baseline="0" noProof="0">
                <a:ln>
                  <a:noFill/>
                </a:ln>
                <a:solidFill>
                  <a:srgbClr val="161623"/>
                </a:solidFill>
                <a:effectLst/>
                <a:uLnTx/>
                <a:uFillTx/>
                <a:latin typeface="Arial"/>
                <a:ea typeface="Arial"/>
                <a:cs typeface="Arial"/>
              </a:rPr>
              <a:t>Document intensity</a:t>
            </a:r>
          </a:p>
        </p:txBody>
      </p:sp>
      <p:sp>
        <p:nvSpPr>
          <p:cNvPr id="334" name="Cond d 2"/>
          <p:cNvSpPr>
            <a:spLocks noGrp="1"/>
          </p:cNvSpPr>
          <p:nvPr/>
        </p:nvSpPr>
        <p:spPr>
          <a:xfrm>
            <a:off x="6425214" y="4873752"/>
            <a:ext cx="2034540" cy="502920"/>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62544F"/>
                </a:solidFill>
                <a:effectLst/>
                <a:uLnTx/>
                <a:uFillTx/>
                <a:latin typeface="Arial"/>
                <a:ea typeface="Arial"/>
                <a:cs typeface="Arial"/>
              </a:rPr>
              <a:t>Filings, credit files, diligence packs and policies remain document-heavy.</a:t>
            </a:r>
          </a:p>
        </p:txBody>
      </p:sp>
      <p:sp>
        <p:nvSpPr>
          <p:cNvPr id="335" name="Cond rule 2"/>
          <p:cNvSpPr>
            <a:spLocks noGrp="1"/>
          </p:cNvSpPr>
          <p:nvPr/>
        </p:nvSpPr>
        <p:spPr>
          <a:xfrm>
            <a:off x="6425214" y="5577840"/>
            <a:ext cx="2034540" cy="14630"/>
          </a:xfrm>
          <a:prstGeom prst="rect">
            <a:avLst/>
          </a:prstGeom>
          <a:solidFill>
            <a:srgbClr val="E8CBB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36" name="Cond imp 2"/>
          <p:cNvSpPr>
            <a:spLocks noGrp="1"/>
          </p:cNvSpPr>
          <p:nvPr/>
        </p:nvSpPr>
        <p:spPr>
          <a:xfrm>
            <a:off x="6425214" y="5705856"/>
            <a:ext cx="2034540" cy="56692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A500E"/>
                </a:solidFill>
                <a:effectLst/>
                <a:uLnTx/>
                <a:uFillTx/>
                <a:latin typeface="Arial"/>
                <a:ea typeface="Arial"/>
                <a:cs typeface="Arial"/>
              </a:rPr>
              <a:t>Benchmark real documents with traceable citations.</a:t>
            </a:r>
          </a:p>
        </p:txBody>
      </p:sp>
      <p:sp>
        <p:nvSpPr>
          <p:cNvPr id="337" name="Cond 3"/>
          <p:cNvSpPr>
            <a:spLocks noGrp="1"/>
          </p:cNvSpPr>
          <p:nvPr/>
        </p:nvSpPr>
        <p:spPr>
          <a:xfrm>
            <a:off x="8916954" y="3968495"/>
            <a:ext cx="2436876" cy="2487168"/>
          </a:xfrm>
          <a:prstGeom prst="rect">
            <a:avLst/>
          </a:prstGeom>
          <a:solidFill>
            <a:srgbClr val="FFE8D6"/>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38" name="Cond bar 3"/>
          <p:cNvSpPr>
            <a:spLocks noGrp="1"/>
          </p:cNvSpPr>
          <p:nvPr/>
        </p:nvSpPr>
        <p:spPr>
          <a:xfrm>
            <a:off x="8916954" y="3968495"/>
            <a:ext cx="50292" cy="2487168"/>
          </a:xfrm>
          <a:prstGeom prst="rect">
            <a:avLst/>
          </a:prstGeom>
          <a:solidFill>
            <a:srgbClr val="FA500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39" name="Cond num 3"/>
          <p:cNvSpPr>
            <a:spLocks noGrp="1"/>
          </p:cNvSpPr>
          <p:nvPr/>
        </p:nvSpPr>
        <p:spPr>
          <a:xfrm>
            <a:off x="9118122" y="4160519"/>
            <a:ext cx="914400"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A500E"/>
                </a:solidFill>
                <a:effectLst/>
                <a:uLnTx/>
                <a:uFillTx/>
                <a:latin typeface="Silkscreen"/>
                <a:ea typeface="Silkscreen"/>
                <a:cs typeface="Silkscreen"/>
              </a:rPr>
              <a:t>04</a:t>
            </a:r>
          </a:p>
        </p:txBody>
      </p:sp>
      <p:sp>
        <p:nvSpPr>
          <p:cNvPr id="340" name="Cond nm 3"/>
          <p:cNvSpPr>
            <a:spLocks noGrp="1"/>
          </p:cNvSpPr>
          <p:nvPr/>
        </p:nvSpPr>
        <p:spPr>
          <a:xfrm>
            <a:off x="9118122" y="4498848"/>
            <a:ext cx="2034540" cy="219456"/>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380" b="1" i="0" u="none" strike="noStrike" kern="1200" cap="none" spc="0" normalizeH="0" baseline="0" noProof="0">
                <a:ln>
                  <a:noFill/>
                </a:ln>
                <a:solidFill>
                  <a:srgbClr val="161623"/>
                </a:solidFill>
                <a:effectLst/>
                <a:uLnTx/>
                <a:uFillTx/>
                <a:latin typeface="Arial"/>
                <a:ea typeface="Arial"/>
                <a:cs typeface="Arial"/>
              </a:rPr>
              <a:t>Multi-model reality</a:t>
            </a:r>
          </a:p>
        </p:txBody>
      </p:sp>
      <p:sp>
        <p:nvSpPr>
          <p:cNvPr id="341" name="Cond d 3"/>
          <p:cNvSpPr>
            <a:spLocks noGrp="1"/>
          </p:cNvSpPr>
          <p:nvPr/>
        </p:nvSpPr>
        <p:spPr>
          <a:xfrm>
            <a:off x="9118122" y="4873752"/>
            <a:ext cx="2034540" cy="502920"/>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62544F"/>
                </a:solidFill>
                <a:effectLst/>
                <a:uLnTx/>
                <a:uFillTx/>
                <a:latin typeface="Arial"/>
                <a:ea typeface="Arial"/>
                <a:cs typeface="Arial"/>
              </a:rPr>
              <a:t>Mistral often sits inside an existing multi-model estate.</a:t>
            </a:r>
          </a:p>
        </p:txBody>
      </p:sp>
      <p:sp>
        <p:nvSpPr>
          <p:cNvPr id="342" name="Cond rule 3"/>
          <p:cNvSpPr>
            <a:spLocks noGrp="1"/>
          </p:cNvSpPr>
          <p:nvPr/>
        </p:nvSpPr>
        <p:spPr>
          <a:xfrm>
            <a:off x="9118122" y="5577840"/>
            <a:ext cx="2034540" cy="14630"/>
          </a:xfrm>
          <a:prstGeom prst="rect">
            <a:avLst/>
          </a:prstGeom>
          <a:solidFill>
            <a:srgbClr val="E8CBB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43" name="Cond imp 3"/>
          <p:cNvSpPr>
            <a:spLocks noGrp="1"/>
          </p:cNvSpPr>
          <p:nvPr/>
        </p:nvSpPr>
        <p:spPr>
          <a:xfrm>
            <a:off x="9118122" y="5705856"/>
            <a:ext cx="2034540" cy="56692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A500E"/>
                </a:solidFill>
                <a:effectLst/>
                <a:uLnTx/>
                <a:uFillTx/>
                <a:latin typeface="Arial"/>
                <a:ea typeface="Arial"/>
                <a:cs typeface="Arial"/>
              </a:rPr>
              <a:t>Coexist in the estate; wedge one differentiated workload.</a:t>
            </a:r>
          </a:p>
        </p:txBody>
      </p:sp>
    </p:spTree>
    <p:extLst>
      <p:ext uri="{BB962C8B-B14F-4D97-AF65-F5344CB8AC3E}">
        <p14:creationId xmlns:p14="http://schemas.microsoft.com/office/powerpoint/2010/main" val="1149264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F2"/>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7258D30-BBD4-48DE-8A60-A5B64215B50F}"/>
              </a:ext>
            </a:extLst>
          </p:cNvPr>
          <p:cNvSpPr>
            <a:spLocks noGrp="1"/>
          </p:cNvSpPr>
          <p:nvPr/>
        </p:nvSpPr>
        <p:spPr>
          <a:xfrm>
            <a:off x="609600" y="266700"/>
            <a:ext cx="76200" cy="742950"/>
          </a:xfrm>
          <a:prstGeom prst="rect">
            <a:avLst/>
          </a:prstGeom>
          <a:solidFill>
            <a:srgbClr val="FA500E"/>
          </a:solidFill>
          <a:ln w="0">
            <a:no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 name="Rectangle 1">
            <a:extLst>
              <a:ext uri="{FF2B5EF4-FFF2-40B4-BE49-F238E27FC236}">
                <a16:creationId xmlns:a16="http://schemas.microsoft.com/office/drawing/2014/main" id="{F04BD0F0-1328-4EEB-8499-FE38558FCE42}"/>
              </a:ext>
            </a:extLst>
          </p:cNvPr>
          <p:cNvSpPr>
            <a:spLocks noGrp="1"/>
          </p:cNvSpPr>
          <p:nvPr/>
        </p:nvSpPr>
        <p:spPr>
          <a:xfrm>
            <a:off x="841248" y="256032"/>
            <a:ext cx="4206240" cy="173736"/>
          </a:xfrm>
          <a:prstGeom prst="rect">
            <a:avLst/>
          </a:prstGeom>
          <a:noFill/>
          <a:ln w="0">
            <a:noFill/>
            <a:prstDash val="solid"/>
          </a:ln>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sz="975" b="1">
                <a:solidFill>
                  <a:srgbClr val="3767E8"/>
                </a:solidFill>
                <a:latin typeface="Arial"/>
                <a:ea typeface="Arial"/>
                <a:cs typeface="Arial"/>
              </a:defRPr>
            </a:pPr>
            <a:r>
              <a:rPr kumimoji="0" lang="en-US" sz="1100" b="1" i="0" u="none" strike="noStrike" kern="1200" cap="none" spc="0" normalizeH="0" baseline="0" noProof="0">
                <a:ln>
                  <a:noFill/>
                </a:ln>
                <a:solidFill>
                  <a:srgbClr val="FA500E"/>
                </a:solidFill>
                <a:effectLst/>
                <a:uLnTx/>
                <a:uFillTx/>
                <a:latin typeface="Arial"/>
                <a:ea typeface="Arial"/>
                <a:cs typeface="Arial"/>
              </a:rPr>
              <a:t>PORTFOLIO</a:t>
            </a:r>
          </a:p>
        </p:txBody>
      </p:sp>
      <p:sp>
        <p:nvSpPr>
          <p:cNvPr id="3" name="Rectangle 2">
            <a:extLst>
              <a:ext uri="{FF2B5EF4-FFF2-40B4-BE49-F238E27FC236}">
                <a16:creationId xmlns:a16="http://schemas.microsoft.com/office/drawing/2014/main" id="{1EE46972-DBB6-4158-87F9-A78B6AD297A8}"/>
              </a:ext>
            </a:extLst>
          </p:cNvPr>
          <p:cNvSpPr>
            <a:spLocks noGrp="1"/>
          </p:cNvSpPr>
          <p:nvPr/>
        </p:nvSpPr>
        <p:spPr>
          <a:xfrm>
            <a:off x="841248" y="457200"/>
            <a:ext cx="10515600" cy="822960"/>
          </a:xfrm>
          <a:prstGeom prst="rect">
            <a:avLst/>
          </a:prstGeom>
          <a:noFill/>
          <a:ln w="0">
            <a:noFill/>
            <a:prstDash val="solid"/>
          </a:ln>
        </p:spPr>
        <p:txBody>
          <a:bodyPr wrap="square" lIns="0" tIns="0" rIns="0" bIns="0" anchor="t">
            <a:noAutofit/>
          </a:bodyPr>
          <a:lstStyle/>
          <a:p>
            <a:pPr marL="0" marR="0" lvl="0" indent="0" algn="l" defTabSz="914400" eaLnBrk="1" fontAlgn="auto" latinLnBrk="0" hangingPunct="1">
              <a:lnSpc>
                <a:spcPct val="95000"/>
              </a:lnSpc>
              <a:spcBef>
                <a:spcPts val="0"/>
              </a:spcBef>
              <a:spcAft>
                <a:spcPts val="0"/>
              </a:spcAft>
              <a:buClrTx/>
              <a:buSzTx/>
              <a:buFontTx/>
              <a:buNone/>
              <a:tabLst/>
              <a:defRPr sz="3150" b="1">
                <a:solidFill>
                  <a:srgbClr val="1F1F1F"/>
                </a:solidFill>
                <a:latin typeface="Arial"/>
                <a:ea typeface="Arial"/>
                <a:cs typeface="Arial"/>
              </a:defRPr>
            </a:pPr>
            <a:r>
              <a:rPr kumimoji="0" lang="en-US" sz="3600" b="1" i="0" u="none" strike="noStrike" kern="1200" cap="none" spc="0" normalizeH="0" baseline="0" noProof="0">
                <a:ln>
                  <a:noFill/>
                </a:ln>
                <a:solidFill>
                  <a:srgbClr val="161623"/>
                </a:solidFill>
                <a:effectLst/>
                <a:uLnTx/>
                <a:uFillTx/>
                <a:latin typeface="Tiny5" panose="02000000000000000000" pitchFamily="2" charset="0"/>
                <a:ea typeface="Arial"/>
                <a:cs typeface="Tiny5" panose="02000000000000000000" pitchFamily="2" charset="0"/>
              </a:rPr>
              <a:t>TWO P0 PLAYS LEAD; EXPANSION FOLLOWS</a:t>
            </a:r>
          </a:p>
        </p:txBody>
      </p:sp>
      <p:sp>
        <p:nvSpPr>
          <p:cNvPr id="4" name="Rectangle 3">
            <a:extLst>
              <a:ext uri="{FF2B5EF4-FFF2-40B4-BE49-F238E27FC236}">
                <a16:creationId xmlns:a16="http://schemas.microsoft.com/office/drawing/2014/main" id="{AAB17817-B0FB-43C5-8F3A-B5B40F86B231}"/>
              </a:ext>
            </a:extLst>
          </p:cNvPr>
          <p:cNvSpPr>
            <a:spLocks noGrp="1"/>
          </p:cNvSpPr>
          <p:nvPr/>
        </p:nvSpPr>
        <p:spPr>
          <a:xfrm>
            <a:off x="612648" y="6556248"/>
            <a:ext cx="10972800" cy="9144"/>
          </a:xfrm>
          <a:prstGeom prst="rect">
            <a:avLst/>
          </a:prstGeom>
          <a:solidFill>
            <a:srgbClr val="E8CBBE"/>
          </a:solidFill>
          <a:ln w="0">
            <a:no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5" name="Rectangle 4">
            <a:extLst>
              <a:ext uri="{FF2B5EF4-FFF2-40B4-BE49-F238E27FC236}">
                <a16:creationId xmlns:a16="http://schemas.microsoft.com/office/drawing/2014/main" id="{185AD545-8621-4089-984A-CF11C54D4345}"/>
              </a:ext>
            </a:extLst>
          </p:cNvPr>
          <p:cNvSpPr>
            <a:spLocks noGrp="1"/>
          </p:cNvSpPr>
          <p:nvPr/>
        </p:nvSpPr>
        <p:spPr>
          <a:xfrm>
            <a:off x="612648" y="6620256"/>
            <a:ext cx="4005072" cy="128016"/>
          </a:xfrm>
          <a:prstGeom prst="rect">
            <a:avLst/>
          </a:prstGeom>
          <a:noFill/>
          <a:ln w="0">
            <a:noFill/>
            <a:prstDash val="solid"/>
          </a:ln>
        </p:spPr>
        <p:txBody>
          <a:bodyPr wrap="square" lIns="0" tIns="0" rIns="0" bIns="0" anchor="ctr">
            <a:noAutofit/>
          </a:bodyPr>
          <a:lstStyle/>
          <a:p>
            <a:pPr marL="0" marR="0" lvl="0" indent="0" algn="l" defTabSz="914400" eaLnBrk="1" fontAlgn="auto" latinLnBrk="0" hangingPunct="1">
              <a:lnSpc>
                <a:spcPct val="90000"/>
              </a:lnSpc>
              <a:spcBef>
                <a:spcPts val="0"/>
              </a:spcBef>
              <a:spcAft>
                <a:spcPts val="0"/>
              </a:spcAft>
              <a:buClrTx/>
              <a:buSzTx/>
              <a:buFontTx/>
              <a:buNone/>
              <a:tabLst/>
              <a:defRPr sz="750" b="0">
                <a:solidFill>
                  <a:srgbClr val="5A554B"/>
                </a:solidFill>
                <a:latin typeface="Arial"/>
                <a:ea typeface="Arial"/>
                <a:cs typeface="Arial"/>
              </a:defRPr>
            </a:pPr>
            <a:r>
              <a:rPr lang="en-US" sz="900" b="0">
                <a:solidFill>
                  <a:srgbClr val="62544F"/>
                </a:solidFill>
                <a:latin typeface="Arial"/>
              </a:rPr>
              <a:t>SHIV  ·  PMM CANDIDATE  ·  18 AUG 2026</a:t>
            </a:r>
          </a:p>
        </p:txBody>
      </p:sp>
      <p:sp>
        <p:nvSpPr>
          <p:cNvPr id="6" name="Rectangle 5">
            <a:extLst>
              <a:ext uri="{FF2B5EF4-FFF2-40B4-BE49-F238E27FC236}">
                <a16:creationId xmlns:a16="http://schemas.microsoft.com/office/drawing/2014/main" id="{4C718079-B518-4773-A9A9-43D3B8E12307}"/>
              </a:ext>
            </a:extLst>
          </p:cNvPr>
          <p:cNvSpPr>
            <a:spLocks noGrp="1"/>
          </p:cNvSpPr>
          <p:nvPr/>
        </p:nvSpPr>
        <p:spPr>
          <a:xfrm>
            <a:off x="11237976" y="6620256"/>
            <a:ext cx="347472" cy="128016"/>
          </a:xfrm>
          <a:prstGeom prst="rect">
            <a:avLst/>
          </a:prstGeom>
          <a:noFill/>
          <a:ln w="0">
            <a:noFill/>
            <a:prstDash val="solid"/>
          </a:ln>
        </p:spPr>
        <p:txBody>
          <a:bodyPr wrap="square" lIns="0" tIns="0" rIns="0" bIns="0" anchor="ctr">
            <a:noAutofit/>
          </a:bodyPr>
          <a:lstStyle/>
          <a:p>
            <a:pPr marL="0" marR="0" lvl="0" indent="0" algn="r" defTabSz="914400" eaLnBrk="1" fontAlgn="auto" latinLnBrk="0" hangingPunct="1">
              <a:lnSpc>
                <a:spcPct val="90000"/>
              </a:lnSpc>
              <a:spcBef>
                <a:spcPts val="0"/>
              </a:spcBef>
              <a:spcAft>
                <a:spcPts val="0"/>
              </a:spcAft>
              <a:buClrTx/>
              <a:buSzTx/>
              <a:buFontTx/>
              <a:buNone/>
              <a:tabLst/>
              <a:defRPr sz="750" b="1">
                <a:solidFill>
                  <a:srgbClr val="5A554B"/>
                </a:solidFill>
                <a:latin typeface="Arial"/>
                <a:ea typeface="Arial"/>
                <a:cs typeface="Arial"/>
              </a:defRPr>
            </a:pPr>
            <a:r>
              <a:rPr lang="en-US" sz="900" b="0">
                <a:solidFill>
                  <a:srgbClr val="62544F"/>
                </a:solidFill>
                <a:latin typeface="Silkscreen"/>
              </a:rPr>
              <a:t>4</a:t>
            </a:r>
          </a:p>
        </p:txBody>
      </p:sp>
      <p:pic>
        <p:nvPicPr>
          <p:cNvPr id="34" name="Mistral company monogram — slide 4" descr="Mistral AI company monogram"/>
          <p:cNvPicPr>
            <a:picLocks noChangeAspect="1"/>
          </p:cNvPicPr>
          <p:nvPr/>
        </p:nvPicPr>
        <p:blipFill>
          <a:blip r:embed="rId3"/>
          <a:stretch>
            <a:fillRect/>
          </a:stretch>
        </p:blipFill>
        <p:spPr>
          <a:xfrm>
            <a:off x="11658600" y="182880"/>
            <a:ext cx="347472" cy="347472"/>
          </a:xfrm>
          <a:prstGeom prst="rect">
            <a:avLst/>
          </a:prstGeom>
          <a:ln/>
        </p:spPr>
      </p:pic>
      <p:sp>
        <p:nvSpPr>
          <p:cNvPr id="300" name="Deck"/>
          <p:cNvSpPr>
            <a:spLocks noGrp="1"/>
          </p:cNvSpPr>
          <p:nvPr/>
        </p:nvSpPr>
        <p:spPr>
          <a:xfrm>
            <a:off x="841248" y="1389888"/>
            <a:ext cx="10515600" cy="237744"/>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a:ln>
                  <a:noFill/>
                </a:ln>
                <a:solidFill>
                  <a:srgbClr val="62544F"/>
                </a:solidFill>
                <a:effectLst/>
                <a:uLnTx/>
                <a:uFillTx/>
                <a:latin typeface="Arial"/>
                <a:ea typeface="Arial"/>
                <a:cs typeface="Arial"/>
              </a:rPr>
              <a:t>Lead with two proof-backed P0 plays; use developer and employee AI to expand, never to carry the thesis.</a:t>
            </a:r>
          </a:p>
        </p:txBody>
      </p:sp>
      <p:sp>
        <p:nvSpPr>
          <p:cNvPr id="301" name="Lab P0   LEAD PLAYS"/>
          <p:cNvSpPr>
            <a:spLocks noGrp="1"/>
          </p:cNvSpPr>
          <p:nvPr/>
        </p:nvSpPr>
        <p:spPr>
          <a:xfrm>
            <a:off x="838230" y="1700784"/>
            <a:ext cx="10515600"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1" i="0" u="none" strike="noStrike" kern="1200" cap="none" spc="120" normalizeH="0" baseline="0" noProof="0">
                <a:ln>
                  <a:noFill/>
                </a:ln>
                <a:solidFill>
                  <a:srgbClr val="FA500E"/>
                </a:solidFill>
                <a:effectLst/>
                <a:uLnTx/>
                <a:uFillTx/>
                <a:latin typeface="Arial"/>
                <a:ea typeface="Arial"/>
                <a:cs typeface="Arial"/>
              </a:rPr>
              <a:t>P0   LEAD PLAYS</a:t>
            </a:r>
            <a:r>
              <a:rPr kumimoji="0" lang="en-US" sz="1160" b="1" i="0" u="none" strike="noStrike" kern="1200" cap="none" spc="40" normalizeH="0" baseline="0" noProof="0">
                <a:ln>
                  <a:noFill/>
                </a:ln>
                <a:solidFill>
                  <a:srgbClr val="62544F"/>
                </a:solidFill>
                <a:effectLst/>
                <a:uLnTx/>
                <a:uFillTx/>
                <a:latin typeface="Arial"/>
                <a:ea typeface="Arial"/>
                <a:cs typeface="Arial"/>
              </a:rPr>
              <a:t>   where the field concentrates</a:t>
            </a:r>
          </a:p>
        </p:txBody>
      </p:sp>
      <p:sp>
        <p:nvSpPr>
          <p:cNvPr id="302" name="Rule P0   LEAD PLAYS"/>
          <p:cNvSpPr>
            <a:spLocks noGrp="1"/>
          </p:cNvSpPr>
          <p:nvPr/>
        </p:nvSpPr>
        <p:spPr>
          <a:xfrm>
            <a:off x="841248" y="1956816"/>
            <a:ext cx="10515600" cy="20117"/>
          </a:xfrm>
          <a:prstGeom prst="rect">
            <a:avLst/>
          </a:prstGeom>
          <a:solidFill>
            <a:srgbClr val="161623"/>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03" name="Play bg 0"/>
          <p:cNvSpPr>
            <a:spLocks noGrp="1"/>
          </p:cNvSpPr>
          <p:nvPr/>
        </p:nvSpPr>
        <p:spPr>
          <a:xfrm>
            <a:off x="838230" y="2103120"/>
            <a:ext cx="5120640" cy="2304288"/>
          </a:xfrm>
          <a:prstGeom prst="rect">
            <a:avLst/>
          </a:prstGeom>
          <a:solidFill>
            <a:srgbClr val="FFE8D6"/>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04" name="Play hd 0"/>
          <p:cNvSpPr>
            <a:spLocks noGrp="1"/>
          </p:cNvSpPr>
          <p:nvPr/>
        </p:nvSpPr>
        <p:spPr>
          <a:xfrm>
            <a:off x="838230" y="2103120"/>
            <a:ext cx="5120640" cy="1060704"/>
          </a:xfrm>
          <a:prstGeom prst="rect">
            <a:avLst/>
          </a:prstGeom>
          <a:solidFill>
            <a:srgbClr val="161623"/>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05" name="Play tag 0"/>
          <p:cNvSpPr>
            <a:spLocks noGrp="1"/>
          </p:cNvSpPr>
          <p:nvPr/>
        </p:nvSpPr>
        <p:spPr>
          <a:xfrm>
            <a:off x="1094262" y="2267712"/>
            <a:ext cx="4608576" cy="182880"/>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1" i="0" u="none" strike="noStrike" kern="1200" cap="none" spc="140" normalizeH="0" baseline="0" noProof="0">
                <a:ln>
                  <a:noFill/>
                </a:ln>
                <a:solidFill>
                  <a:srgbClr val="FA500E"/>
                </a:solidFill>
                <a:effectLst/>
                <a:uLnTx/>
                <a:uFillTx/>
                <a:latin typeface="Arial"/>
                <a:ea typeface="Arial"/>
                <a:cs typeface="Arial"/>
              </a:rPr>
              <a:t>P0 ANCHOR</a:t>
            </a:r>
          </a:p>
        </p:txBody>
      </p:sp>
      <p:sp>
        <p:nvSpPr>
          <p:cNvPr id="306" name="Play ti 0"/>
          <p:cNvSpPr>
            <a:spLocks noGrp="1"/>
          </p:cNvSpPr>
          <p:nvPr/>
        </p:nvSpPr>
        <p:spPr>
          <a:xfrm>
            <a:off x="1094262" y="2523744"/>
            <a:ext cx="4608576" cy="56692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a:ln>
                  <a:noFill/>
                </a:ln>
                <a:solidFill>
                  <a:srgbClr val="FFF8F2"/>
                </a:solidFill>
                <a:effectLst/>
                <a:uLnTx/>
                <a:uFillTx/>
                <a:latin typeface="Arial"/>
                <a:ea typeface="Arial"/>
                <a:cs typeface="Arial"/>
              </a:rPr>
              <a:t>Controlled AI for</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a:ln>
                  <a:noFill/>
                </a:ln>
                <a:solidFill>
                  <a:srgbClr val="FFF8F2"/>
                </a:solidFill>
                <a:effectLst/>
                <a:uLnTx/>
                <a:uFillTx/>
                <a:latin typeface="Arial"/>
                <a:ea typeface="Arial"/>
                <a:cs typeface="Arial"/>
              </a:rPr>
              <a:t>Regulated Workflows</a:t>
            </a:r>
          </a:p>
        </p:txBody>
      </p:sp>
      <p:sp>
        <p:nvSpPr>
          <p:cNvPr id="307" name="Play k 00"/>
          <p:cNvSpPr>
            <a:spLocks noGrp="1"/>
          </p:cNvSpPr>
          <p:nvPr/>
        </p:nvSpPr>
        <p:spPr>
          <a:xfrm>
            <a:off x="1094262" y="3291840"/>
            <a:ext cx="1188720"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90" b="1" i="0" u="none" strike="noStrike" kern="1200" cap="none" spc="110" normalizeH="0" baseline="0" noProof="0">
                <a:ln>
                  <a:noFill/>
                </a:ln>
                <a:solidFill>
                  <a:srgbClr val="FA500E"/>
                </a:solidFill>
                <a:effectLst/>
                <a:uLnTx/>
                <a:uFillTx/>
                <a:latin typeface="Arial"/>
                <a:ea typeface="Arial"/>
                <a:cs typeface="Arial"/>
              </a:rPr>
              <a:t>BUYER</a:t>
            </a:r>
          </a:p>
        </p:txBody>
      </p:sp>
      <p:sp>
        <p:nvSpPr>
          <p:cNvPr id="308" name="Play v 00"/>
          <p:cNvSpPr>
            <a:spLocks noGrp="1"/>
          </p:cNvSpPr>
          <p:nvPr/>
        </p:nvSpPr>
        <p:spPr>
          <a:xfrm>
            <a:off x="2356134" y="3291840"/>
            <a:ext cx="3346704"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0" i="0" u="none" strike="noStrike" kern="1200" cap="none" spc="0" normalizeH="0" baseline="0" noProof="0">
                <a:ln>
                  <a:noFill/>
                </a:ln>
                <a:solidFill>
                  <a:srgbClr val="161623"/>
                </a:solidFill>
                <a:effectLst/>
                <a:uLnTx/>
                <a:uFillTx/>
                <a:latin typeface="Arial"/>
                <a:ea typeface="Arial"/>
                <a:cs typeface="Arial"/>
              </a:rPr>
              <a:t>CRO / CCO / CISO / CIO</a:t>
            </a:r>
          </a:p>
        </p:txBody>
      </p:sp>
      <p:sp>
        <p:nvSpPr>
          <p:cNvPr id="309" name="Play r 00"/>
          <p:cNvSpPr>
            <a:spLocks noGrp="1"/>
          </p:cNvSpPr>
          <p:nvPr/>
        </p:nvSpPr>
        <p:spPr>
          <a:xfrm>
            <a:off x="1094262" y="3566160"/>
            <a:ext cx="4608576" cy="12802"/>
          </a:xfrm>
          <a:prstGeom prst="rect">
            <a:avLst/>
          </a:prstGeom>
          <a:solidFill>
            <a:srgbClr val="E8CBB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10" name="Play k 01"/>
          <p:cNvSpPr>
            <a:spLocks noGrp="1"/>
          </p:cNvSpPr>
          <p:nvPr/>
        </p:nvSpPr>
        <p:spPr>
          <a:xfrm>
            <a:off x="1094262" y="3675888"/>
            <a:ext cx="1188720"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90" b="1" i="0" u="none" strike="noStrike" kern="1200" cap="none" spc="110" normalizeH="0" baseline="0" noProof="0">
                <a:ln>
                  <a:noFill/>
                </a:ln>
                <a:solidFill>
                  <a:srgbClr val="FA500E"/>
                </a:solidFill>
                <a:effectLst/>
                <a:uLnTx/>
                <a:uFillTx/>
                <a:latin typeface="Arial"/>
                <a:ea typeface="Arial"/>
                <a:cs typeface="Arial"/>
              </a:rPr>
              <a:t>WORKFLOWS</a:t>
            </a:r>
          </a:p>
        </p:txBody>
      </p:sp>
      <p:sp>
        <p:nvSpPr>
          <p:cNvPr id="311" name="Play v 01"/>
          <p:cNvSpPr>
            <a:spLocks noGrp="1"/>
          </p:cNvSpPr>
          <p:nvPr/>
        </p:nvSpPr>
        <p:spPr>
          <a:xfrm>
            <a:off x="2356134" y="3675888"/>
            <a:ext cx="3346704"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0" i="0" u="none" strike="noStrike" kern="1200" cap="none" spc="0" normalizeH="0" baseline="0" noProof="0">
                <a:ln>
                  <a:noFill/>
                </a:ln>
                <a:solidFill>
                  <a:srgbClr val="161623"/>
                </a:solidFill>
                <a:effectLst/>
                <a:uLnTx/>
                <a:uFillTx/>
                <a:latin typeface="Arial"/>
                <a:ea typeface="Arial"/>
                <a:cs typeface="Arial"/>
              </a:rPr>
              <a:t>KYC, AML, credit, policy</a:t>
            </a:r>
          </a:p>
        </p:txBody>
      </p:sp>
      <p:sp>
        <p:nvSpPr>
          <p:cNvPr id="312" name="Play r 01"/>
          <p:cNvSpPr>
            <a:spLocks noGrp="1"/>
          </p:cNvSpPr>
          <p:nvPr/>
        </p:nvSpPr>
        <p:spPr>
          <a:xfrm>
            <a:off x="1094262" y="3950208"/>
            <a:ext cx="4608576" cy="12802"/>
          </a:xfrm>
          <a:prstGeom prst="rect">
            <a:avLst/>
          </a:prstGeom>
          <a:solidFill>
            <a:srgbClr val="E8CBB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13" name="Play k 02"/>
          <p:cNvSpPr>
            <a:spLocks noGrp="1"/>
          </p:cNvSpPr>
          <p:nvPr/>
        </p:nvSpPr>
        <p:spPr>
          <a:xfrm>
            <a:off x="1094262" y="4059936"/>
            <a:ext cx="1188720"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90" b="1" i="0" u="none" strike="noStrike" kern="1200" cap="none" spc="110" normalizeH="0" baseline="0" noProof="0">
                <a:ln>
                  <a:noFill/>
                </a:ln>
                <a:solidFill>
                  <a:srgbClr val="FA500E"/>
                </a:solidFill>
                <a:effectLst/>
                <a:uLnTx/>
                <a:uFillTx/>
                <a:latin typeface="Arial"/>
                <a:ea typeface="Arial"/>
                <a:cs typeface="Arial"/>
              </a:rPr>
              <a:t>WIN</a:t>
            </a:r>
          </a:p>
        </p:txBody>
      </p:sp>
      <p:sp>
        <p:nvSpPr>
          <p:cNvPr id="314" name="Play v 02"/>
          <p:cNvSpPr>
            <a:spLocks noGrp="1"/>
          </p:cNvSpPr>
          <p:nvPr/>
        </p:nvSpPr>
        <p:spPr>
          <a:xfrm>
            <a:off x="2356134" y="4059936"/>
            <a:ext cx="3346704" cy="201168"/>
          </a:xfrm>
          <a:prstGeom prst="rect">
            <a:avLst/>
          </a:prstGeom>
          <a:noFill/>
          <a:ln w="0">
            <a:noFill/>
          </a:ln>
        </p:spPr>
        <p:txBody>
          <a:bodyPr wrap="square" lIns="0" tIns="0" rIns="0" bIns="0" anchor="ctr">
            <a:normAutofit fontScale="85000" lnSpcReduction="10000"/>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0" i="0" u="none" strike="noStrike" kern="1200" cap="none" spc="0" normalizeH="0" baseline="0" noProof="0">
                <a:ln>
                  <a:noFill/>
                </a:ln>
                <a:solidFill>
                  <a:srgbClr val="161623"/>
                </a:solidFill>
                <a:effectLst/>
                <a:uLnTx/>
                <a:uFillTx/>
                <a:latin typeface="Arial"/>
                <a:ea typeface="Arial"/>
                <a:cs typeface="Arial"/>
              </a:rPr>
              <a:t>Deployment control + customization + approval evidence</a:t>
            </a:r>
          </a:p>
        </p:txBody>
      </p:sp>
      <p:sp>
        <p:nvSpPr>
          <p:cNvPr id="317" name="Play bg 1"/>
          <p:cNvSpPr>
            <a:spLocks noGrp="1"/>
          </p:cNvSpPr>
          <p:nvPr/>
        </p:nvSpPr>
        <p:spPr>
          <a:xfrm>
            <a:off x="6233190" y="2103120"/>
            <a:ext cx="5120640" cy="2304288"/>
          </a:xfrm>
          <a:prstGeom prst="rect">
            <a:avLst/>
          </a:prstGeom>
          <a:solidFill>
            <a:srgbClr val="FFE8D6"/>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18" name="Play hd 1"/>
          <p:cNvSpPr>
            <a:spLocks noGrp="1"/>
          </p:cNvSpPr>
          <p:nvPr/>
        </p:nvSpPr>
        <p:spPr>
          <a:xfrm>
            <a:off x="6233190" y="2103120"/>
            <a:ext cx="5120640" cy="1060704"/>
          </a:xfrm>
          <a:prstGeom prst="rect">
            <a:avLst/>
          </a:prstGeom>
          <a:solidFill>
            <a:srgbClr val="161623"/>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19" name="Play tag 1"/>
          <p:cNvSpPr>
            <a:spLocks noGrp="1"/>
          </p:cNvSpPr>
          <p:nvPr/>
        </p:nvSpPr>
        <p:spPr>
          <a:xfrm>
            <a:off x="6489222" y="2267712"/>
            <a:ext cx="4608576" cy="182880"/>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1" i="0" u="none" strike="noStrike" kern="1200" cap="none" spc="140" normalizeH="0" baseline="0" noProof="0">
                <a:ln>
                  <a:noFill/>
                </a:ln>
                <a:solidFill>
                  <a:srgbClr val="FA500E"/>
                </a:solidFill>
                <a:effectLst/>
                <a:uLnTx/>
                <a:uFillTx/>
                <a:latin typeface="Arial"/>
                <a:ea typeface="Arial"/>
                <a:cs typeface="Arial"/>
              </a:rPr>
              <a:t>P0 TECHNICAL WEDGE</a:t>
            </a:r>
          </a:p>
        </p:txBody>
      </p:sp>
      <p:sp>
        <p:nvSpPr>
          <p:cNvPr id="320" name="Play ti 1"/>
          <p:cNvSpPr>
            <a:spLocks noGrp="1"/>
          </p:cNvSpPr>
          <p:nvPr/>
        </p:nvSpPr>
        <p:spPr>
          <a:xfrm>
            <a:off x="6489222" y="2523744"/>
            <a:ext cx="4608576" cy="56692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a:ln>
                  <a:noFill/>
                </a:ln>
                <a:solidFill>
                  <a:srgbClr val="FFF8F2"/>
                </a:solidFill>
                <a:effectLst/>
                <a:uLnTx/>
                <a:uFillTx/>
                <a:latin typeface="Arial"/>
                <a:ea typeface="Arial"/>
                <a:cs typeface="Arial"/>
              </a:rPr>
              <a:t>Financial Intelligence &amp;</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a:ln>
                  <a:noFill/>
                </a:ln>
                <a:solidFill>
                  <a:srgbClr val="FFF8F2"/>
                </a:solidFill>
                <a:effectLst/>
                <a:uLnTx/>
                <a:uFillTx/>
                <a:latin typeface="Arial"/>
                <a:ea typeface="Arial"/>
                <a:cs typeface="Arial"/>
              </a:rPr>
              <a:t>Document Automation</a:t>
            </a:r>
          </a:p>
        </p:txBody>
      </p:sp>
      <p:sp>
        <p:nvSpPr>
          <p:cNvPr id="321" name="Play k 10"/>
          <p:cNvSpPr>
            <a:spLocks noGrp="1"/>
          </p:cNvSpPr>
          <p:nvPr/>
        </p:nvSpPr>
        <p:spPr>
          <a:xfrm>
            <a:off x="6489222" y="3291840"/>
            <a:ext cx="1188720"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90" b="1" i="0" u="none" strike="noStrike" kern="1200" cap="none" spc="110" normalizeH="0" baseline="0" noProof="0">
                <a:ln>
                  <a:noFill/>
                </a:ln>
                <a:solidFill>
                  <a:srgbClr val="FA500E"/>
                </a:solidFill>
                <a:effectLst/>
                <a:uLnTx/>
                <a:uFillTx/>
                <a:latin typeface="Arial"/>
                <a:ea typeface="Arial"/>
                <a:cs typeface="Arial"/>
              </a:rPr>
              <a:t>BUYER</a:t>
            </a:r>
          </a:p>
        </p:txBody>
      </p:sp>
      <p:sp>
        <p:nvSpPr>
          <p:cNvPr id="322" name="Play v 10"/>
          <p:cNvSpPr>
            <a:spLocks noGrp="1"/>
          </p:cNvSpPr>
          <p:nvPr/>
        </p:nvSpPr>
        <p:spPr>
          <a:xfrm>
            <a:off x="7751094" y="3291840"/>
            <a:ext cx="3346704"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0" i="0" u="none" strike="noStrike" kern="1200" cap="none" spc="0" normalizeH="0" baseline="0" noProof="0">
                <a:ln>
                  <a:noFill/>
                </a:ln>
                <a:solidFill>
                  <a:srgbClr val="161623"/>
                </a:solidFill>
                <a:effectLst/>
                <a:uLnTx/>
                <a:uFillTx/>
                <a:latin typeface="Arial"/>
                <a:ea typeface="Arial"/>
                <a:cs typeface="Arial"/>
              </a:rPr>
              <a:t>CIO / Research / Credit / PE</a:t>
            </a:r>
          </a:p>
        </p:txBody>
      </p:sp>
      <p:sp>
        <p:nvSpPr>
          <p:cNvPr id="323" name="Play r 10"/>
          <p:cNvSpPr>
            <a:spLocks noGrp="1"/>
          </p:cNvSpPr>
          <p:nvPr/>
        </p:nvSpPr>
        <p:spPr>
          <a:xfrm>
            <a:off x="6489222" y="3566160"/>
            <a:ext cx="4608576" cy="12802"/>
          </a:xfrm>
          <a:prstGeom prst="rect">
            <a:avLst/>
          </a:prstGeom>
          <a:solidFill>
            <a:srgbClr val="E8CBB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24" name="Play k 11"/>
          <p:cNvSpPr>
            <a:spLocks noGrp="1"/>
          </p:cNvSpPr>
          <p:nvPr/>
        </p:nvSpPr>
        <p:spPr>
          <a:xfrm>
            <a:off x="6489222" y="3675888"/>
            <a:ext cx="1188720"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90" b="1" i="0" u="none" strike="noStrike" kern="1200" cap="none" spc="110" normalizeH="0" baseline="0" noProof="0">
                <a:ln>
                  <a:noFill/>
                </a:ln>
                <a:solidFill>
                  <a:srgbClr val="FA500E"/>
                </a:solidFill>
                <a:effectLst/>
                <a:uLnTx/>
                <a:uFillTx/>
                <a:latin typeface="Arial"/>
                <a:ea typeface="Arial"/>
                <a:cs typeface="Arial"/>
              </a:rPr>
              <a:t>WORKFLOWS</a:t>
            </a:r>
          </a:p>
        </p:txBody>
      </p:sp>
      <p:sp>
        <p:nvSpPr>
          <p:cNvPr id="325" name="Play v 11"/>
          <p:cNvSpPr>
            <a:spLocks noGrp="1"/>
          </p:cNvSpPr>
          <p:nvPr/>
        </p:nvSpPr>
        <p:spPr>
          <a:xfrm>
            <a:off x="7751094" y="3675888"/>
            <a:ext cx="3346704"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0" i="0" u="none" strike="noStrike" kern="1200" cap="none" spc="0" normalizeH="0" baseline="0" noProof="0">
                <a:ln>
                  <a:noFill/>
                </a:ln>
                <a:solidFill>
                  <a:srgbClr val="161623"/>
                </a:solidFill>
                <a:effectLst/>
                <a:uLnTx/>
                <a:uFillTx/>
                <a:latin typeface="Arial"/>
                <a:ea typeface="Arial"/>
                <a:cs typeface="Arial"/>
              </a:rPr>
              <a:t>Extraction, diligence, filings</a:t>
            </a:r>
          </a:p>
        </p:txBody>
      </p:sp>
      <p:sp>
        <p:nvSpPr>
          <p:cNvPr id="326" name="Play r 11"/>
          <p:cNvSpPr>
            <a:spLocks noGrp="1"/>
          </p:cNvSpPr>
          <p:nvPr/>
        </p:nvSpPr>
        <p:spPr>
          <a:xfrm>
            <a:off x="6489222" y="3950208"/>
            <a:ext cx="4608576" cy="12802"/>
          </a:xfrm>
          <a:prstGeom prst="rect">
            <a:avLst/>
          </a:prstGeom>
          <a:solidFill>
            <a:srgbClr val="E8CBB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27" name="Play k 12"/>
          <p:cNvSpPr>
            <a:spLocks noGrp="1"/>
          </p:cNvSpPr>
          <p:nvPr/>
        </p:nvSpPr>
        <p:spPr>
          <a:xfrm>
            <a:off x="6489222" y="4059936"/>
            <a:ext cx="1188720"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90" b="1" i="0" u="none" strike="noStrike" kern="1200" cap="none" spc="110" normalizeH="0" baseline="0" noProof="0">
                <a:ln>
                  <a:noFill/>
                </a:ln>
                <a:solidFill>
                  <a:srgbClr val="FA500E"/>
                </a:solidFill>
                <a:effectLst/>
                <a:uLnTx/>
                <a:uFillTx/>
                <a:latin typeface="Arial"/>
                <a:ea typeface="Arial"/>
                <a:cs typeface="Arial"/>
              </a:rPr>
              <a:t>WIN</a:t>
            </a:r>
          </a:p>
        </p:txBody>
      </p:sp>
      <p:sp>
        <p:nvSpPr>
          <p:cNvPr id="328" name="Play v 12"/>
          <p:cNvSpPr>
            <a:spLocks noGrp="1"/>
          </p:cNvSpPr>
          <p:nvPr/>
        </p:nvSpPr>
        <p:spPr>
          <a:xfrm>
            <a:off x="7751094" y="4059936"/>
            <a:ext cx="3346704" cy="20116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0" i="0" u="none" strike="noStrike" kern="1200" cap="none" spc="0" normalizeH="0" baseline="0" noProof="0">
                <a:ln>
                  <a:noFill/>
                </a:ln>
                <a:solidFill>
                  <a:srgbClr val="161623"/>
                </a:solidFill>
                <a:effectLst/>
                <a:uLnTx/>
                <a:uFillTx/>
                <a:latin typeface="Arial"/>
                <a:ea typeface="Arial"/>
                <a:cs typeface="Arial"/>
              </a:rPr>
              <a:t>Document intelligence + traceability + workflow fit</a:t>
            </a:r>
          </a:p>
        </p:txBody>
      </p:sp>
      <p:sp>
        <p:nvSpPr>
          <p:cNvPr id="329" name="TextBox 328"/>
          <p:cNvSpPr txBox="1"/>
          <p:nvPr/>
        </p:nvSpPr>
        <p:spPr>
          <a:xfrm>
            <a:off x="841248" y="4608576"/>
            <a:ext cx="3749039" cy="182880"/>
          </a:xfrm>
          <a:prstGeom prst="rect">
            <a:avLst/>
          </a:prstGeom>
          <a:noFill/>
        </p:spPr>
        <p:txBody>
          <a:bodyPr wrap="square" lIns="0" tIns="0" rIns="0" bIns="0" anchor="ctr">
            <a:spAutoFit/>
          </a:bodyPr>
          <a:lstStyle/>
          <a:p>
            <a:pPr algn="l"/>
            <a:r>
              <a:rPr sz="1150" b="1">
                <a:solidFill>
                  <a:srgbClr val="FA500E"/>
                </a:solidFill>
                <a:latin typeface="Arial"/>
              </a:rPr>
              <a:t>FIELD-READY SOLUTION KIT</a:t>
            </a:r>
          </a:p>
        </p:txBody>
      </p:sp>
      <p:sp>
        <p:nvSpPr>
          <p:cNvPr id="330" name="TextBox 329"/>
          <p:cNvSpPr txBox="1"/>
          <p:nvPr/>
        </p:nvSpPr>
        <p:spPr>
          <a:xfrm>
            <a:off x="7315200" y="4608576"/>
            <a:ext cx="4041648" cy="182880"/>
          </a:xfrm>
          <a:prstGeom prst="rect">
            <a:avLst/>
          </a:prstGeom>
          <a:noFill/>
        </p:spPr>
        <p:txBody>
          <a:bodyPr wrap="square" lIns="0" tIns="0" rIns="0" bIns="0" anchor="ctr">
            <a:spAutoFit/>
          </a:bodyPr>
          <a:lstStyle/>
          <a:p>
            <a:pPr algn="r"/>
            <a:r>
              <a:rPr sz="1000" b="1">
                <a:solidFill>
                  <a:srgbClr val="62544F"/>
                </a:solidFill>
                <a:latin typeface="Arial"/>
              </a:rPr>
              <a:t>FOR EACH P0 PLAY · PMM PACKAGES</a:t>
            </a:r>
          </a:p>
        </p:txBody>
      </p:sp>
      <p:sp>
        <p:nvSpPr>
          <p:cNvPr id="331" name="Rectangle 330"/>
          <p:cNvSpPr>
            <a:spLocks/>
          </p:cNvSpPr>
          <p:nvPr/>
        </p:nvSpPr>
        <p:spPr>
          <a:xfrm>
            <a:off x="841248" y="4882896"/>
            <a:ext cx="10515600" cy="22860"/>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2" name="TextBox 331"/>
          <p:cNvSpPr txBox="1">
            <a:spLocks/>
          </p:cNvSpPr>
          <p:nvPr/>
        </p:nvSpPr>
        <p:spPr>
          <a:xfrm>
            <a:off x="841248" y="5020056"/>
            <a:ext cx="2331720" cy="164592"/>
          </a:xfrm>
          <a:prstGeom prst="rect">
            <a:avLst/>
          </a:prstGeom>
          <a:noFill/>
        </p:spPr>
        <p:txBody>
          <a:bodyPr wrap="square" lIns="0" tIns="0" rIns="0" bIns="0" anchor="ctr">
            <a:spAutoFit/>
          </a:bodyPr>
          <a:lstStyle/>
          <a:p>
            <a:pPr algn="l"/>
            <a:r>
              <a:rPr lang="en-US" sz="980" b="1">
                <a:solidFill>
                  <a:srgbClr val="FA500E"/>
                </a:solidFill>
                <a:latin typeface="Arial"/>
              </a:rPr>
              <a:t>1-PAGE SELLER PLAY</a:t>
            </a:r>
          </a:p>
        </p:txBody>
      </p:sp>
      <p:sp>
        <p:nvSpPr>
          <p:cNvPr id="333" name="TextBox 332"/>
          <p:cNvSpPr txBox="1">
            <a:spLocks/>
          </p:cNvSpPr>
          <p:nvPr/>
        </p:nvSpPr>
        <p:spPr>
          <a:xfrm>
            <a:off x="841248" y="5239512"/>
            <a:ext cx="2331720" cy="310896"/>
          </a:xfrm>
          <a:prstGeom prst="rect">
            <a:avLst/>
          </a:prstGeom>
          <a:noFill/>
        </p:spPr>
        <p:txBody>
          <a:bodyPr wrap="square" lIns="0" tIns="0" rIns="0" bIns="0" anchor="ctr">
            <a:spAutoFit/>
          </a:bodyPr>
          <a:lstStyle/>
          <a:p>
            <a:pPr algn="l"/>
            <a:r>
              <a:rPr lang="en-US" sz="969" b="0">
                <a:solidFill>
                  <a:srgbClr val="62544F"/>
                </a:solidFill>
                <a:latin typeface="Arial"/>
              </a:rPr>
              <a:t>Buyer · trigger · problem · differentiation · CTA</a:t>
            </a:r>
          </a:p>
        </p:txBody>
      </p:sp>
      <p:sp>
        <p:nvSpPr>
          <p:cNvPr id="334" name="TextBox 333"/>
          <p:cNvSpPr txBox="1">
            <a:spLocks/>
          </p:cNvSpPr>
          <p:nvPr/>
        </p:nvSpPr>
        <p:spPr>
          <a:xfrm>
            <a:off x="3511296" y="5020056"/>
            <a:ext cx="2331720" cy="164592"/>
          </a:xfrm>
          <a:prstGeom prst="rect">
            <a:avLst/>
          </a:prstGeom>
          <a:noFill/>
        </p:spPr>
        <p:txBody>
          <a:bodyPr wrap="square" lIns="0" tIns="0" rIns="0" bIns="0" anchor="ctr">
            <a:spAutoFit/>
          </a:bodyPr>
          <a:lstStyle/>
          <a:p>
            <a:pPr algn="l"/>
            <a:r>
              <a:rPr lang="en-US" sz="980" b="1">
                <a:solidFill>
                  <a:srgbClr val="FA500E"/>
                </a:solidFill>
                <a:latin typeface="Arial"/>
              </a:rPr>
              <a:t>5-SLIDE CUSTOMER DECK</a:t>
            </a:r>
          </a:p>
        </p:txBody>
      </p:sp>
      <p:sp>
        <p:nvSpPr>
          <p:cNvPr id="335" name="TextBox 334"/>
          <p:cNvSpPr txBox="1">
            <a:spLocks/>
          </p:cNvSpPr>
          <p:nvPr/>
        </p:nvSpPr>
        <p:spPr>
          <a:xfrm>
            <a:off x="3511296" y="5239512"/>
            <a:ext cx="2331720" cy="310896"/>
          </a:xfrm>
          <a:prstGeom prst="rect">
            <a:avLst/>
          </a:prstGeom>
          <a:noFill/>
        </p:spPr>
        <p:txBody>
          <a:bodyPr wrap="square" lIns="0" tIns="0" rIns="0" bIns="0" anchor="ctr">
            <a:spAutoFit/>
          </a:bodyPr>
          <a:lstStyle/>
          <a:p>
            <a:pPr algn="l"/>
            <a:r>
              <a:rPr lang="en-US" sz="969" b="0">
                <a:solidFill>
                  <a:srgbClr val="62544F"/>
                </a:solidFill>
                <a:latin typeface="Arial"/>
              </a:rPr>
              <a:t>Problem · workflow · architecture · proof · evaluation</a:t>
            </a:r>
          </a:p>
        </p:txBody>
      </p:sp>
      <p:sp>
        <p:nvSpPr>
          <p:cNvPr id="336" name="TextBox 335"/>
          <p:cNvSpPr txBox="1">
            <a:spLocks/>
          </p:cNvSpPr>
          <p:nvPr/>
        </p:nvSpPr>
        <p:spPr>
          <a:xfrm>
            <a:off x="6181344" y="5020056"/>
            <a:ext cx="2331720" cy="164592"/>
          </a:xfrm>
          <a:prstGeom prst="rect">
            <a:avLst/>
          </a:prstGeom>
          <a:noFill/>
        </p:spPr>
        <p:txBody>
          <a:bodyPr wrap="square" lIns="0" tIns="0" rIns="0" bIns="0" anchor="ctr">
            <a:spAutoFit/>
          </a:bodyPr>
          <a:lstStyle/>
          <a:p>
            <a:pPr algn="l"/>
            <a:r>
              <a:rPr lang="en-US" sz="980" b="1">
                <a:solidFill>
                  <a:srgbClr val="FA500E"/>
                </a:solidFill>
                <a:latin typeface="Arial"/>
              </a:rPr>
              <a:t>DEMO</a:t>
            </a:r>
          </a:p>
        </p:txBody>
      </p:sp>
      <p:sp>
        <p:nvSpPr>
          <p:cNvPr id="337" name="TextBox 336"/>
          <p:cNvSpPr txBox="1">
            <a:spLocks/>
          </p:cNvSpPr>
          <p:nvPr/>
        </p:nvSpPr>
        <p:spPr>
          <a:xfrm>
            <a:off x="6181344" y="5239512"/>
            <a:ext cx="2331720" cy="310896"/>
          </a:xfrm>
          <a:prstGeom prst="rect">
            <a:avLst/>
          </a:prstGeom>
          <a:noFill/>
        </p:spPr>
        <p:txBody>
          <a:bodyPr wrap="square" lIns="0" tIns="0" rIns="0" bIns="0" anchor="ctr">
            <a:spAutoFit/>
          </a:bodyPr>
          <a:lstStyle/>
          <a:p>
            <a:pPr algn="l"/>
            <a:r>
              <a:rPr lang="en-US" sz="969" b="0">
                <a:solidFill>
                  <a:srgbClr val="62544F"/>
                </a:solidFill>
                <a:latin typeface="Arial"/>
              </a:rPr>
              <a:t>One realistic workflow using representative documents / cases</a:t>
            </a:r>
          </a:p>
        </p:txBody>
      </p:sp>
      <p:sp>
        <p:nvSpPr>
          <p:cNvPr id="338" name="TextBox 337"/>
          <p:cNvSpPr txBox="1">
            <a:spLocks/>
          </p:cNvSpPr>
          <p:nvPr/>
        </p:nvSpPr>
        <p:spPr>
          <a:xfrm>
            <a:off x="8851392" y="5020056"/>
            <a:ext cx="2331720" cy="164592"/>
          </a:xfrm>
          <a:prstGeom prst="rect">
            <a:avLst/>
          </a:prstGeom>
          <a:noFill/>
        </p:spPr>
        <p:txBody>
          <a:bodyPr wrap="square" lIns="0" tIns="0" rIns="0" bIns="0" anchor="ctr">
            <a:spAutoFit/>
          </a:bodyPr>
          <a:lstStyle/>
          <a:p>
            <a:pPr algn="l"/>
            <a:r>
              <a:rPr lang="en-US" sz="980" b="1">
                <a:solidFill>
                  <a:srgbClr val="FA500E"/>
                </a:solidFill>
                <a:latin typeface="Arial"/>
              </a:rPr>
              <a:t>DISCOVERY QUESTIONS</a:t>
            </a:r>
          </a:p>
        </p:txBody>
      </p:sp>
      <p:sp>
        <p:nvSpPr>
          <p:cNvPr id="339" name="TextBox 338"/>
          <p:cNvSpPr txBox="1">
            <a:spLocks/>
          </p:cNvSpPr>
          <p:nvPr/>
        </p:nvSpPr>
        <p:spPr>
          <a:xfrm>
            <a:off x="8851392" y="5239512"/>
            <a:ext cx="2331720" cy="310896"/>
          </a:xfrm>
          <a:prstGeom prst="rect">
            <a:avLst/>
          </a:prstGeom>
          <a:noFill/>
        </p:spPr>
        <p:txBody>
          <a:bodyPr wrap="square" lIns="0" tIns="0" rIns="0" bIns="0" anchor="ctr">
            <a:spAutoFit/>
          </a:bodyPr>
          <a:lstStyle/>
          <a:p>
            <a:pPr algn="l"/>
            <a:r>
              <a:rPr lang="en-US" sz="969" b="0">
                <a:solidFill>
                  <a:srgbClr val="62544F"/>
                </a:solidFill>
                <a:latin typeface="Arial"/>
              </a:rPr>
              <a:t>Pain · owner · data · controls · commercial next step</a:t>
            </a:r>
          </a:p>
        </p:txBody>
      </p:sp>
      <p:sp>
        <p:nvSpPr>
          <p:cNvPr id="340" name="TextBox 339"/>
          <p:cNvSpPr txBox="1">
            <a:spLocks/>
          </p:cNvSpPr>
          <p:nvPr/>
        </p:nvSpPr>
        <p:spPr>
          <a:xfrm>
            <a:off x="841248" y="5605272"/>
            <a:ext cx="3154680" cy="155448"/>
          </a:xfrm>
          <a:prstGeom prst="rect">
            <a:avLst/>
          </a:prstGeom>
          <a:noFill/>
        </p:spPr>
        <p:txBody>
          <a:bodyPr wrap="square" lIns="0" tIns="0" rIns="0" bIns="0" anchor="ctr">
            <a:spAutoFit/>
          </a:bodyPr>
          <a:lstStyle/>
          <a:p>
            <a:pPr algn="l"/>
            <a:r>
              <a:rPr lang="en-US" sz="980" b="1">
                <a:solidFill>
                  <a:srgbClr val="FA500E"/>
                </a:solidFill>
                <a:latin typeface="Arial"/>
              </a:rPr>
              <a:t>OBJECTION HANDLING</a:t>
            </a:r>
          </a:p>
        </p:txBody>
      </p:sp>
      <p:sp>
        <p:nvSpPr>
          <p:cNvPr id="341" name="TextBox 340"/>
          <p:cNvSpPr txBox="1">
            <a:spLocks/>
          </p:cNvSpPr>
          <p:nvPr/>
        </p:nvSpPr>
        <p:spPr>
          <a:xfrm>
            <a:off x="841248" y="5797296"/>
            <a:ext cx="3154680" cy="265176"/>
          </a:xfrm>
          <a:prstGeom prst="rect">
            <a:avLst/>
          </a:prstGeom>
          <a:noFill/>
        </p:spPr>
        <p:txBody>
          <a:bodyPr wrap="square" lIns="0" tIns="0" rIns="0" bIns="0" anchor="ctr">
            <a:spAutoFit/>
          </a:bodyPr>
          <a:lstStyle/>
          <a:p>
            <a:pPr algn="l"/>
            <a:r>
              <a:rPr lang="en-US" sz="969" b="0">
                <a:solidFill>
                  <a:srgbClr val="62544F"/>
                </a:solidFill>
                <a:latin typeface="Arial"/>
              </a:rPr>
              <a:t>Incumbent · private deployment · human approval · traceability</a:t>
            </a:r>
          </a:p>
        </p:txBody>
      </p:sp>
      <p:sp>
        <p:nvSpPr>
          <p:cNvPr id="342" name="TextBox 341"/>
          <p:cNvSpPr txBox="1"/>
          <p:nvPr/>
        </p:nvSpPr>
        <p:spPr>
          <a:xfrm>
            <a:off x="4425696" y="5605272"/>
            <a:ext cx="3154680" cy="155448"/>
          </a:xfrm>
          <a:prstGeom prst="rect">
            <a:avLst/>
          </a:prstGeom>
          <a:noFill/>
        </p:spPr>
        <p:txBody>
          <a:bodyPr wrap="square" lIns="0" tIns="0" rIns="0" bIns="0" anchor="ctr">
            <a:spAutoFit/>
          </a:bodyPr>
          <a:lstStyle/>
          <a:p>
            <a:pPr algn="l"/>
            <a:r>
              <a:rPr sz="980" b="1">
                <a:solidFill>
                  <a:srgbClr val="FA500E"/>
                </a:solidFill>
                <a:latin typeface="Arial"/>
              </a:rPr>
              <a:t>EVALUATION OFFER</a:t>
            </a:r>
          </a:p>
        </p:txBody>
      </p:sp>
      <p:sp>
        <p:nvSpPr>
          <p:cNvPr id="343" name="TextBox 342"/>
          <p:cNvSpPr txBox="1"/>
          <p:nvPr/>
        </p:nvSpPr>
        <p:spPr>
          <a:xfrm>
            <a:off x="4425696" y="5797296"/>
            <a:ext cx="3154680" cy="265176"/>
          </a:xfrm>
          <a:prstGeom prst="rect">
            <a:avLst/>
          </a:prstGeom>
          <a:noFill/>
        </p:spPr>
        <p:txBody>
          <a:bodyPr wrap="square" lIns="0" tIns="0" rIns="0" bIns="0" anchor="ctr">
            <a:spAutoFit/>
          </a:bodyPr>
          <a:lstStyle/>
          <a:p>
            <a:pPr algn="l"/>
            <a:r>
              <a:rPr sz="969" b="0">
                <a:solidFill>
                  <a:srgbClr val="62544F"/>
                </a:solidFill>
                <a:latin typeface="Arial"/>
              </a:rPr>
              <a:t>Workflow · customer data · baseline · success criteria · next decision</a:t>
            </a:r>
          </a:p>
        </p:txBody>
      </p:sp>
      <p:sp>
        <p:nvSpPr>
          <p:cNvPr id="344" name="TextBox 343"/>
          <p:cNvSpPr txBox="1"/>
          <p:nvPr/>
        </p:nvSpPr>
        <p:spPr>
          <a:xfrm>
            <a:off x="8001000" y="5605272"/>
            <a:ext cx="3154680" cy="155448"/>
          </a:xfrm>
          <a:prstGeom prst="rect">
            <a:avLst/>
          </a:prstGeom>
          <a:noFill/>
        </p:spPr>
        <p:txBody>
          <a:bodyPr wrap="square" lIns="0" tIns="0" rIns="0" bIns="0" anchor="ctr">
            <a:spAutoFit/>
          </a:bodyPr>
          <a:lstStyle/>
          <a:p>
            <a:pPr algn="l"/>
            <a:r>
              <a:rPr sz="980" b="1">
                <a:solidFill>
                  <a:srgbClr val="FA500E"/>
                </a:solidFill>
                <a:latin typeface="Arial"/>
              </a:rPr>
              <a:t>PROOF PACK</a:t>
            </a:r>
          </a:p>
        </p:txBody>
      </p:sp>
      <p:sp>
        <p:nvSpPr>
          <p:cNvPr id="345" name="TextBox 344"/>
          <p:cNvSpPr txBox="1"/>
          <p:nvPr/>
        </p:nvSpPr>
        <p:spPr>
          <a:xfrm>
            <a:off x="8001000" y="5797296"/>
            <a:ext cx="3154680" cy="265176"/>
          </a:xfrm>
          <a:prstGeom prst="rect">
            <a:avLst/>
          </a:prstGeom>
          <a:noFill/>
        </p:spPr>
        <p:txBody>
          <a:bodyPr wrap="square" lIns="0" tIns="0" rIns="0" bIns="0" anchor="ctr">
            <a:spAutoFit/>
          </a:bodyPr>
          <a:lstStyle/>
          <a:p>
            <a:pPr algn="l"/>
            <a:r>
              <a:rPr sz="969" b="0">
                <a:solidFill>
                  <a:srgbClr val="62544F"/>
                </a:solidFill>
                <a:latin typeface="Arial"/>
              </a:rPr>
              <a:t>Customer evidence · architecture · results · control / governance evidence</a:t>
            </a:r>
          </a:p>
        </p:txBody>
      </p:sp>
      <p:sp>
        <p:nvSpPr>
          <p:cNvPr id="346" name="Rectangle 345"/>
          <p:cNvSpPr/>
          <p:nvPr/>
        </p:nvSpPr>
        <p:spPr>
          <a:xfrm>
            <a:off x="841248" y="6108192"/>
            <a:ext cx="10515600" cy="274320"/>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pPr algn="ctr"/>
            <a:r>
              <a:rPr sz="980" b="1">
                <a:solidFill>
                  <a:srgbClr val="FA500E"/>
                </a:solidFill>
                <a:latin typeface="Arial"/>
              </a:rPr>
              <a:t>PACKAGE → ENABLE  </a:t>
            </a:r>
            <a:r>
              <a:rPr sz="980" b="1">
                <a:solidFill>
                  <a:srgbClr val="FFF8F2"/>
                </a:solidFill>
                <a:latin typeface="Arial"/>
              </a:rPr>
              <a:t>PMM turns capabilities into a repeatable package Sales and FDEs can use without rebuilding the story for every account.</a:t>
            </a:r>
          </a:p>
        </p:txBody>
      </p:sp>
    </p:spTree>
    <p:extLst>
      <p:ext uri="{BB962C8B-B14F-4D97-AF65-F5344CB8AC3E}">
        <p14:creationId xmlns:p14="http://schemas.microsoft.com/office/powerpoint/2010/main" val="676782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F2"/>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4F2A597A-5254-43C2-A2E8-57352E22B70B}"/>
              </a:ext>
            </a:extLst>
          </p:cNvPr>
          <p:cNvSpPr>
            <a:spLocks noGrp="1"/>
          </p:cNvSpPr>
          <p:nvPr/>
        </p:nvSpPr>
        <p:spPr>
          <a:xfrm>
            <a:off x="609600" y="266700"/>
            <a:ext cx="76200" cy="742950"/>
          </a:xfrm>
          <a:prstGeom prst="rect">
            <a:avLst/>
          </a:prstGeom>
          <a:solidFill>
            <a:srgbClr val="FA500E"/>
          </a:solidFill>
          <a:ln w="0">
            <a:noFill/>
            <a:prstDash val="solid"/>
          </a:ln>
        </p:spPr>
        <p:txBody>
          <a:bodyPr/>
          <a:lstStyle/>
          <a:p>
            <a:pPr>
              <a:spcBef>
                <a:spcPts val="0"/>
              </a:spcBef>
              <a:spcAft>
                <a:spcPts val="0"/>
              </a:spcAft>
            </a:pPr>
            <a:endParaRPr lang="en-US"/>
          </a:p>
        </p:txBody>
      </p:sp>
      <p:sp>
        <p:nvSpPr>
          <p:cNvPr id="2" name="Rectangle 1">
            <a:extLst>
              <a:ext uri="{FF2B5EF4-FFF2-40B4-BE49-F238E27FC236}">
                <a16:creationId xmlns:a16="http://schemas.microsoft.com/office/drawing/2014/main" id="{07976C58-4819-4BD6-8C3F-66F87AB81F8F}"/>
              </a:ext>
            </a:extLst>
          </p:cNvPr>
          <p:cNvSpPr>
            <a:spLocks noGrp="1"/>
          </p:cNvSpPr>
          <p:nvPr/>
        </p:nvSpPr>
        <p:spPr>
          <a:xfrm>
            <a:off x="841248" y="256032"/>
            <a:ext cx="4206240" cy="173736"/>
          </a:xfrm>
          <a:prstGeom prst="rect">
            <a:avLst/>
          </a:prstGeom>
          <a:noFill/>
          <a:ln w="0">
            <a:noFill/>
            <a:prstDash val="solid"/>
          </a:ln>
        </p:spPr>
        <p:txBody>
          <a:bodyPr wrap="square" lIns="0" tIns="0" rIns="0" bIns="0" anchor="ctr">
            <a:noAutofit/>
          </a:bodyPr>
          <a:lstStyle/>
          <a:p>
            <a:pPr algn="l">
              <a:lnSpc>
                <a:spcPct val="100000"/>
              </a:lnSpc>
              <a:spcBef>
                <a:spcPts val="0"/>
              </a:spcBef>
              <a:spcAft>
                <a:spcPts val="0"/>
              </a:spcAft>
              <a:buNone/>
              <a:defRPr sz="975" b="1">
                <a:solidFill>
                  <a:srgbClr val="17A34A"/>
                </a:solidFill>
                <a:latin typeface="Arial"/>
                <a:ea typeface="Arial"/>
                <a:cs typeface="Arial"/>
              </a:defRPr>
            </a:pPr>
            <a:r>
              <a:rPr lang="en-US" sz="1100" b="1">
                <a:solidFill>
                  <a:srgbClr val="FA500E"/>
                </a:solidFill>
                <a:latin typeface="Arial"/>
                <a:ea typeface="Arial"/>
                <a:cs typeface="Arial"/>
              </a:rPr>
              <a:t>EVIDENCE / LIGHTHOUSE PROOF</a:t>
            </a:r>
          </a:p>
        </p:txBody>
      </p:sp>
      <p:sp>
        <p:nvSpPr>
          <p:cNvPr id="3" name="Rectangle 2">
            <a:extLst>
              <a:ext uri="{FF2B5EF4-FFF2-40B4-BE49-F238E27FC236}">
                <a16:creationId xmlns:a16="http://schemas.microsoft.com/office/drawing/2014/main" id="{FA9C19EA-2CD1-4682-A699-E1167D328CFB}"/>
              </a:ext>
            </a:extLst>
          </p:cNvPr>
          <p:cNvSpPr>
            <a:spLocks noGrp="1"/>
          </p:cNvSpPr>
          <p:nvPr/>
        </p:nvSpPr>
        <p:spPr>
          <a:xfrm>
            <a:off x="841248" y="457200"/>
            <a:ext cx="10515600" cy="822960"/>
          </a:xfrm>
          <a:prstGeom prst="rect">
            <a:avLst/>
          </a:prstGeom>
          <a:noFill/>
          <a:ln w="0">
            <a:noFill/>
            <a:prstDash val="solid"/>
          </a:ln>
        </p:spPr>
        <p:txBody>
          <a:bodyPr wrap="square" lIns="0" tIns="0" rIns="0" bIns="0" anchor="t">
            <a:noAutofit/>
          </a:bodyPr>
          <a:lstStyle/>
          <a:p>
            <a:pPr algn="l">
              <a:lnSpc>
                <a:spcPct val="95000"/>
              </a:lnSpc>
              <a:spcBef>
                <a:spcPts val="0"/>
              </a:spcBef>
              <a:spcAft>
                <a:spcPts val="0"/>
              </a:spcAft>
              <a:buNone/>
              <a:defRPr sz="2550" b="1">
                <a:solidFill>
                  <a:srgbClr val="1F1F1F"/>
                </a:solidFill>
                <a:latin typeface="Arial"/>
                <a:ea typeface="Arial"/>
                <a:cs typeface="Arial"/>
              </a:defRPr>
            </a:pPr>
            <a:r>
              <a:rPr lang="en-US" sz="3600" b="1">
                <a:solidFill>
                  <a:srgbClr val="161623"/>
                </a:solidFill>
                <a:latin typeface="Tiny5" panose="02000000000000000000" pitchFamily="2" charset="0"/>
                <a:ea typeface="Arial"/>
                <a:cs typeface="Tiny5" panose="02000000000000000000" pitchFamily="2" charset="0"/>
              </a:rPr>
              <a:t>MAKE CLAIMS THAT EVIDENCE SUPPORTS</a:t>
            </a:r>
          </a:p>
        </p:txBody>
      </p:sp>
      <p:sp>
        <p:nvSpPr>
          <p:cNvPr id="4" name="Rectangle 3">
            <a:extLst>
              <a:ext uri="{FF2B5EF4-FFF2-40B4-BE49-F238E27FC236}">
                <a16:creationId xmlns:a16="http://schemas.microsoft.com/office/drawing/2014/main" id="{E9D10E37-E2A2-4D65-B542-877B667AE339}"/>
              </a:ext>
            </a:extLst>
          </p:cNvPr>
          <p:cNvSpPr>
            <a:spLocks noGrp="1"/>
          </p:cNvSpPr>
          <p:nvPr/>
        </p:nvSpPr>
        <p:spPr>
          <a:xfrm>
            <a:off x="612648" y="6556248"/>
            <a:ext cx="10972800" cy="9144"/>
          </a:xfrm>
          <a:prstGeom prst="rect">
            <a:avLst/>
          </a:prstGeom>
          <a:solidFill>
            <a:srgbClr val="E8CBBE"/>
          </a:solidFill>
          <a:ln w="0">
            <a:noFill/>
            <a:prstDash val="solid"/>
          </a:ln>
        </p:spPr>
        <p:txBody>
          <a:bodyPr/>
          <a:lstStyle/>
          <a:p>
            <a:pPr>
              <a:spcBef>
                <a:spcPts val="0"/>
              </a:spcBef>
              <a:spcAft>
                <a:spcPts val="0"/>
              </a:spcAft>
            </a:pPr>
            <a:endParaRPr lang="en-US"/>
          </a:p>
        </p:txBody>
      </p:sp>
      <p:sp>
        <p:nvSpPr>
          <p:cNvPr id="5" name="Rectangle 4">
            <a:extLst>
              <a:ext uri="{FF2B5EF4-FFF2-40B4-BE49-F238E27FC236}">
                <a16:creationId xmlns:a16="http://schemas.microsoft.com/office/drawing/2014/main" id="{1A7F53D2-05DC-4A2F-A38B-6744B87BB102}"/>
              </a:ext>
            </a:extLst>
          </p:cNvPr>
          <p:cNvSpPr>
            <a:spLocks noGrp="1"/>
          </p:cNvSpPr>
          <p:nvPr/>
        </p:nvSpPr>
        <p:spPr>
          <a:xfrm>
            <a:off x="612648" y="6620256"/>
            <a:ext cx="4005072" cy="128016"/>
          </a:xfrm>
          <a:prstGeom prst="rect">
            <a:avLst/>
          </a:prstGeom>
          <a:noFill/>
          <a:ln w="0">
            <a:noFill/>
            <a:prstDash val="solid"/>
          </a:ln>
        </p:spPr>
        <p:txBody>
          <a:bodyPr wrap="square" lIns="0" tIns="0" rIns="0" bIns="0" anchor="ctr">
            <a:noAutofit/>
          </a:bodyPr>
          <a:lstStyle/>
          <a:p>
            <a:pPr algn="l">
              <a:lnSpc>
                <a:spcPct val="105000"/>
              </a:lnSpc>
              <a:spcBef>
                <a:spcPts val="0"/>
              </a:spcBef>
              <a:spcAft>
                <a:spcPts val="0"/>
              </a:spcAft>
              <a:buNone/>
              <a:defRPr sz="750" b="0">
                <a:solidFill>
                  <a:srgbClr val="5A554B"/>
                </a:solidFill>
                <a:latin typeface="Arial"/>
                <a:ea typeface="Arial"/>
                <a:cs typeface="Arial"/>
              </a:defRPr>
            </a:pPr>
            <a:r>
              <a:rPr lang="en-US" sz="900" b="0">
                <a:solidFill>
                  <a:srgbClr val="62544F"/>
                </a:solidFill>
                <a:latin typeface="Arial"/>
                <a:ea typeface="Arial"/>
                <a:cs typeface="Arial"/>
              </a:rPr>
              <a:t>SHIV  ·  PMM CANDIDATE  ·  18 AUG 2026</a:t>
            </a:r>
          </a:p>
        </p:txBody>
      </p:sp>
      <p:sp>
        <p:nvSpPr>
          <p:cNvPr id="6" name="Rectangle 5">
            <a:extLst>
              <a:ext uri="{FF2B5EF4-FFF2-40B4-BE49-F238E27FC236}">
                <a16:creationId xmlns:a16="http://schemas.microsoft.com/office/drawing/2014/main" id="{32F0C773-8086-4C39-983D-6FEB46F2D8C9}"/>
              </a:ext>
            </a:extLst>
          </p:cNvPr>
          <p:cNvSpPr>
            <a:spLocks noGrp="1"/>
          </p:cNvSpPr>
          <p:nvPr/>
        </p:nvSpPr>
        <p:spPr>
          <a:xfrm>
            <a:off x="11237976" y="6620256"/>
            <a:ext cx="347472" cy="128016"/>
          </a:xfrm>
          <a:prstGeom prst="rect">
            <a:avLst/>
          </a:prstGeom>
          <a:noFill/>
          <a:ln w="0">
            <a:noFill/>
            <a:prstDash val="solid"/>
          </a:ln>
        </p:spPr>
        <p:txBody>
          <a:bodyPr wrap="none" lIns="0" tIns="0" rIns="0" bIns="0" anchor="ctr">
            <a:noAutofit/>
          </a:bodyPr>
          <a:lstStyle/>
          <a:p>
            <a:pPr algn="r">
              <a:lnSpc>
                <a:spcPct val="105000"/>
              </a:lnSpc>
              <a:spcBef>
                <a:spcPts val="0"/>
              </a:spcBef>
              <a:spcAft>
                <a:spcPts val="0"/>
              </a:spcAft>
              <a:buNone/>
              <a:defRPr sz="750" b="1">
                <a:solidFill>
                  <a:srgbClr val="5A554B"/>
                </a:solidFill>
                <a:latin typeface="Arial"/>
                <a:ea typeface="Arial"/>
                <a:cs typeface="Arial"/>
              </a:defRPr>
            </a:pPr>
            <a:r>
              <a:rPr lang="en-US" sz="900" b="0">
                <a:solidFill>
                  <a:srgbClr val="62544F"/>
                </a:solidFill>
                <a:latin typeface="Silkscreen"/>
              </a:rPr>
              <a:t>5</a:t>
            </a:r>
          </a:p>
        </p:txBody>
      </p:sp>
      <p:sp>
        <p:nvSpPr>
          <p:cNvPr id="7" name="Rectangle 6">
            <a:extLst>
              <a:ext uri="{FF2B5EF4-FFF2-40B4-BE49-F238E27FC236}">
                <a16:creationId xmlns:a16="http://schemas.microsoft.com/office/drawing/2014/main" id="{ACB7C93C-7E7F-43A5-BAAE-90F70EE6BBB7}"/>
              </a:ext>
            </a:extLst>
          </p:cNvPr>
          <p:cNvSpPr>
            <a:spLocks noGrp="1"/>
          </p:cNvSpPr>
          <p:nvPr/>
        </p:nvSpPr>
        <p:spPr>
          <a:xfrm>
            <a:off x="841248" y="1389888"/>
            <a:ext cx="10515600" cy="271249"/>
          </a:xfrm>
          <a:prstGeom prst="rect">
            <a:avLst/>
          </a:prstGeom>
          <a:noFill/>
          <a:ln w="0">
            <a:noFill/>
            <a:prstDash val="solid"/>
          </a:ln>
        </p:spPr>
        <p:txBody>
          <a:bodyPr wrap="square" lIns="0" tIns="0" rIns="0" bIns="0" anchor="ctr">
            <a:noAutofit/>
          </a:bodyPr>
          <a:lstStyle/>
          <a:p>
            <a:pPr algn="l">
              <a:lnSpc>
                <a:spcPct val="100000"/>
              </a:lnSpc>
              <a:spcBef>
                <a:spcPts val="0"/>
              </a:spcBef>
              <a:spcAft>
                <a:spcPts val="0"/>
              </a:spcAft>
              <a:buNone/>
              <a:defRPr sz="1650" b="0">
                <a:solidFill>
                  <a:srgbClr val="5A554B"/>
                </a:solidFill>
                <a:latin typeface="Arial"/>
                <a:ea typeface="Arial"/>
                <a:cs typeface="Arial"/>
              </a:defRPr>
            </a:pPr>
            <a:r>
              <a:rPr lang="en-US" sz="1450" b="0">
                <a:solidFill>
                  <a:srgbClr val="62544F"/>
                </a:solidFill>
                <a:latin typeface="Arial"/>
                <a:ea typeface="Arial"/>
                <a:cs typeface="Arial"/>
              </a:rPr>
              <a:t>PMM turns validated evidence into reusable proof—where customer permission allows.</a:t>
            </a:r>
          </a:p>
        </p:txBody>
      </p:sp>
      <p:sp>
        <p:nvSpPr>
          <p:cNvPr id="31" name="Rectangle 30">
            <a:extLst>
              <a:ext uri="{FF2B5EF4-FFF2-40B4-BE49-F238E27FC236}">
                <a16:creationId xmlns:a16="http://schemas.microsoft.com/office/drawing/2014/main" id="{D7385DDB-D546-40C7-BE9C-5986B7B39727}"/>
              </a:ext>
            </a:extLst>
          </p:cNvPr>
          <p:cNvSpPr>
            <a:spLocks noGrp="1"/>
          </p:cNvSpPr>
          <p:nvPr/>
        </p:nvSpPr>
        <p:spPr>
          <a:xfrm>
            <a:off x="841248" y="5950452"/>
            <a:ext cx="10515600" cy="467670"/>
          </a:xfrm>
          <a:prstGeom prst="rect">
            <a:avLst/>
          </a:prstGeom>
          <a:solidFill>
            <a:srgbClr val="161623"/>
          </a:solidFill>
          <a:ln w="0">
            <a:noFill/>
            <a:prstDash val="solid"/>
          </a:ln>
        </p:spPr>
        <p:txBody>
          <a:bodyPr/>
          <a:lstStyle/>
          <a:p>
            <a:pPr>
              <a:spcBef>
                <a:spcPts val="0"/>
              </a:spcBef>
              <a:spcAft>
                <a:spcPts val="0"/>
              </a:spcAft>
            </a:pPr>
            <a:endParaRPr lang="en-US"/>
          </a:p>
        </p:txBody>
      </p:sp>
      <p:sp>
        <p:nvSpPr>
          <p:cNvPr id="32" name="Rectangle 31">
            <a:extLst>
              <a:ext uri="{FF2B5EF4-FFF2-40B4-BE49-F238E27FC236}">
                <a16:creationId xmlns:a16="http://schemas.microsoft.com/office/drawing/2014/main" id="{C7DBFB1D-5A1A-47F2-A614-F6C670F98647}"/>
              </a:ext>
            </a:extLst>
          </p:cNvPr>
          <p:cNvSpPr>
            <a:spLocks noGrp="1"/>
          </p:cNvSpPr>
          <p:nvPr/>
        </p:nvSpPr>
        <p:spPr>
          <a:xfrm>
            <a:off x="1069848" y="6077112"/>
            <a:ext cx="10058400" cy="214349"/>
          </a:xfrm>
          <a:prstGeom prst="rect">
            <a:avLst/>
          </a:prstGeom>
          <a:noFill/>
          <a:ln w="0">
            <a:noFill/>
            <a:prstDash val="solid"/>
          </a:ln>
        </p:spPr>
        <p:txBody>
          <a:bodyPr wrap="square" lIns="0" tIns="0" rIns="0" bIns="0" anchor="ctr">
            <a:noAutofit/>
          </a:bodyPr>
          <a:lstStyle/>
          <a:p>
            <a:pPr algn="ctr">
              <a:lnSpc>
                <a:spcPct val="100000"/>
              </a:lnSpc>
              <a:spcBef>
                <a:spcPts val="0"/>
              </a:spcBef>
              <a:spcAft>
                <a:spcPts val="0"/>
              </a:spcAft>
              <a:buNone/>
              <a:defRPr sz="1350" b="1">
                <a:solidFill>
                  <a:srgbClr val="FFFFFF"/>
                </a:solidFill>
                <a:latin typeface="Arial"/>
                <a:ea typeface="Arial"/>
                <a:cs typeface="Arial"/>
              </a:defRPr>
            </a:pPr>
            <a:r>
              <a:rPr lang="en-US" sz="1240" b="1">
                <a:solidFill>
                  <a:srgbClr val="FFFFFF"/>
                </a:solidFill>
                <a:latin typeface="Arial"/>
                <a:ea typeface="Arial"/>
                <a:cs typeface="Arial"/>
              </a:rPr>
              <a:t>EVIDENCE RULE   Relationship ≠ partnership ≠ deployment ≠ production</a:t>
            </a:r>
          </a:p>
        </p:txBody>
      </p:sp>
      <p:pic>
        <p:nvPicPr>
          <p:cNvPr id="34" name="Mistral company monogram — slide 5" descr="Mistral AI company monogram"/>
          <p:cNvPicPr>
            <a:picLocks noChangeAspect="1"/>
          </p:cNvPicPr>
          <p:nvPr/>
        </p:nvPicPr>
        <p:blipFill>
          <a:blip r:embed="rId3"/>
          <a:stretch>
            <a:fillRect/>
          </a:stretch>
        </p:blipFill>
        <p:spPr>
          <a:xfrm>
            <a:off x="11658600" y="182880"/>
            <a:ext cx="347472" cy="347472"/>
          </a:xfrm>
          <a:prstGeom prst="rect">
            <a:avLst/>
          </a:prstGeom>
          <a:ln/>
        </p:spPr>
      </p:pic>
      <p:sp>
        <p:nvSpPr>
          <p:cNvPr id="35" name="TextBox 34"/>
          <p:cNvSpPr txBox="1"/>
          <p:nvPr/>
        </p:nvSpPr>
        <p:spPr>
          <a:xfrm>
            <a:off x="841248" y="1739203"/>
            <a:ext cx="3657600" cy="177876"/>
          </a:xfrm>
          <a:prstGeom prst="rect">
            <a:avLst/>
          </a:prstGeom>
          <a:noFill/>
        </p:spPr>
        <p:txBody>
          <a:bodyPr wrap="square" lIns="18288" tIns="0" rIns="18288" bIns="0" anchor="ctr">
            <a:spAutoFit/>
          </a:bodyPr>
          <a:lstStyle/>
          <a:p>
            <a:pPr algn="l">
              <a:lnSpc>
                <a:spcPct val="100000"/>
              </a:lnSpc>
              <a:spcBef>
                <a:spcPts val="0"/>
              </a:spcBef>
              <a:spcAft>
                <a:spcPts val="0"/>
              </a:spcAft>
            </a:pPr>
            <a:r>
              <a:rPr lang="en-US" sz="1130" b="1" i="0">
                <a:solidFill>
                  <a:srgbClr val="FA500E"/>
                </a:solidFill>
                <a:latin typeface="Arial"/>
              </a:rPr>
              <a:t>PROOF COVERAGE BY CUSTOMER</a:t>
            </a:r>
          </a:p>
        </p:txBody>
      </p:sp>
      <p:graphicFrame>
        <p:nvGraphicFramePr>
          <p:cNvPr id="36" name="Table 35"/>
          <p:cNvGraphicFramePr>
            <a:graphicFrameLocks noGrp="1"/>
          </p:cNvGraphicFramePr>
          <p:nvPr>
            <p:extLst>
              <p:ext uri="{D42A27DB-BD31-4B8C-83A1-F6EECF244321}">
                <p14:modId xmlns:p14="http://schemas.microsoft.com/office/powerpoint/2010/main" val="1601451247"/>
              </p:ext>
            </p:extLst>
          </p:nvPr>
        </p:nvGraphicFramePr>
        <p:xfrm>
          <a:off x="841248" y="2025918"/>
          <a:ext cx="10515600" cy="3610413"/>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tblGrid>
              <a:tr h="515773">
                <a:tc>
                  <a:txBody>
                    <a:bodyPr/>
                    <a:lstStyle/>
                    <a:p>
                      <a:pPr algn="l">
                        <a:lnSpc>
                          <a:spcPct val="90000"/>
                        </a:lnSpc>
                        <a:spcBef>
                          <a:spcPts val="0"/>
                        </a:spcBef>
                        <a:spcAft>
                          <a:spcPts val="0"/>
                        </a:spcAft>
                      </a:pPr>
                      <a:r>
                        <a:rPr lang="en-US" sz="1080" b="1">
                          <a:solidFill>
                            <a:srgbClr val="FFFFFF"/>
                          </a:solidFill>
                          <a:latin typeface="Arial"/>
                        </a:rPr>
                        <a:t>CUSTOMER</a:t>
                      </a:r>
                    </a:p>
                  </a:txBody>
                  <a:tcPr marL="68580" marR="68580" marT="12700" marB="12700" anchor="ctr">
                    <a:solidFill>
                      <a:srgbClr val="161623"/>
                    </a:solidFill>
                  </a:tcPr>
                </a:tc>
                <a:tc>
                  <a:txBody>
                    <a:bodyPr/>
                    <a:lstStyle/>
                    <a:p>
                      <a:pPr algn="l">
                        <a:lnSpc>
                          <a:spcPct val="90000"/>
                        </a:lnSpc>
                        <a:spcBef>
                          <a:spcPts val="0"/>
                        </a:spcBef>
                        <a:spcAft>
                          <a:spcPts val="0"/>
                        </a:spcAft>
                      </a:pPr>
                      <a:r>
                        <a:rPr lang="en-US" sz="1080" b="1">
                          <a:solidFill>
                            <a:srgbClr val="FFFFFF"/>
                          </a:solidFill>
                          <a:latin typeface="Arial"/>
                        </a:rPr>
                        <a:t>EXACT CLAIM SNAPSHOT</a:t>
                      </a:r>
                    </a:p>
                  </a:txBody>
                  <a:tcPr marL="68580" marR="68580" marT="12700" marB="12700" anchor="ctr">
                    <a:solidFill>
                      <a:srgbClr val="161623"/>
                    </a:solidFill>
                  </a:tcPr>
                </a:tc>
                <a:tc>
                  <a:txBody>
                    <a:bodyPr/>
                    <a:lstStyle/>
                    <a:p>
                      <a:pPr algn="ctr">
                        <a:lnSpc>
                          <a:spcPct val="90000"/>
                        </a:lnSpc>
                        <a:spcBef>
                          <a:spcPts val="0"/>
                        </a:spcBef>
                        <a:spcAft>
                          <a:spcPts val="0"/>
                        </a:spcAft>
                      </a:pPr>
                      <a:r>
                        <a:rPr lang="en-US" sz="1080" b="1">
                          <a:solidFill>
                            <a:srgbClr val="FFFFFF"/>
                          </a:solidFill>
                          <a:latin typeface="Arial"/>
                        </a:rPr>
                        <a:t>CONTROL / DEPLOY</a:t>
                      </a:r>
                    </a:p>
                  </a:txBody>
                  <a:tcPr marL="68580" marR="68580" marT="12700" marB="12700" anchor="ctr">
                    <a:solidFill>
                      <a:srgbClr val="161623"/>
                    </a:solidFill>
                  </a:tcPr>
                </a:tc>
                <a:tc>
                  <a:txBody>
                    <a:bodyPr/>
                    <a:lstStyle/>
                    <a:p>
                      <a:pPr algn="ctr">
                        <a:lnSpc>
                          <a:spcPct val="90000"/>
                        </a:lnSpc>
                        <a:spcBef>
                          <a:spcPts val="0"/>
                        </a:spcBef>
                        <a:spcAft>
                          <a:spcPts val="0"/>
                        </a:spcAft>
                      </a:pPr>
                      <a:r>
                        <a:rPr lang="en-US" sz="1080" b="1">
                          <a:solidFill>
                            <a:srgbClr val="FFFFFF"/>
                          </a:solidFill>
                          <a:latin typeface="Arial"/>
                        </a:rPr>
                        <a:t>DOC / WORKFLOW</a:t>
                      </a:r>
                    </a:p>
                  </a:txBody>
                  <a:tcPr marL="68580" marR="68580" marT="12700" marB="12700" anchor="ctr">
                    <a:solidFill>
                      <a:srgbClr val="161623"/>
                    </a:solidFill>
                  </a:tcPr>
                </a:tc>
                <a:tc>
                  <a:txBody>
                    <a:bodyPr/>
                    <a:lstStyle/>
                    <a:p>
                      <a:pPr algn="ctr">
                        <a:lnSpc>
                          <a:spcPct val="90000"/>
                        </a:lnSpc>
                        <a:spcBef>
                          <a:spcPts val="0"/>
                        </a:spcBef>
                        <a:spcAft>
                          <a:spcPts val="0"/>
                        </a:spcAft>
                      </a:pPr>
                      <a:r>
                        <a:rPr lang="en-US" sz="1080" b="1">
                          <a:solidFill>
                            <a:srgbClr val="FFFFFF"/>
                          </a:solidFill>
                          <a:latin typeface="Arial"/>
                        </a:rPr>
                        <a:t>ADOPTION</a:t>
                      </a:r>
                    </a:p>
                  </a:txBody>
                  <a:tcPr marL="68580" marR="68580" marT="12700" marB="12700" anchor="ctr">
                    <a:solidFill>
                      <a:srgbClr val="161623"/>
                    </a:solidFill>
                  </a:tcPr>
                </a:tc>
                <a:tc>
                  <a:txBody>
                    <a:bodyPr/>
                    <a:lstStyle/>
                    <a:p>
                      <a:pPr algn="ctr">
                        <a:lnSpc>
                          <a:spcPct val="90000"/>
                        </a:lnSpc>
                        <a:spcBef>
                          <a:spcPts val="0"/>
                        </a:spcBef>
                        <a:spcAft>
                          <a:spcPts val="0"/>
                        </a:spcAft>
                      </a:pPr>
                      <a:r>
                        <a:rPr lang="en-US" sz="1080" b="1">
                          <a:solidFill>
                            <a:srgbClr val="FFFFFF"/>
                          </a:solidFill>
                          <a:latin typeface="Arial"/>
                        </a:rPr>
                        <a:t>PRODUCTION</a:t>
                      </a:r>
                    </a:p>
                  </a:txBody>
                  <a:tcPr marL="68580" marR="68580" marT="12700" marB="12700" anchor="ctr">
                    <a:solidFill>
                      <a:srgbClr val="161623"/>
                    </a:solidFill>
                  </a:tcPr>
                </a:tc>
                <a:extLst>
                  <a:ext uri="{0D108BD9-81ED-4DB2-BD59-A6C34878D82A}">
                    <a16:rowId xmlns:a16="http://schemas.microsoft.com/office/drawing/2014/main" val="10000"/>
                  </a:ext>
                </a:extLst>
              </a:tr>
              <a:tr h="515773">
                <a:tc>
                  <a:txBody>
                    <a:bodyPr/>
                    <a:lstStyle/>
                    <a:p>
                      <a:pPr algn="l">
                        <a:lnSpc>
                          <a:spcPct val="92000"/>
                        </a:lnSpc>
                        <a:spcBef>
                          <a:spcPts val="0"/>
                        </a:spcBef>
                        <a:spcAft>
                          <a:spcPts val="0"/>
                        </a:spcAft>
                      </a:pPr>
                      <a:r>
                        <a:rPr lang="en-US" sz="1240" b="1">
                          <a:solidFill>
                            <a:srgbClr val="161623"/>
                          </a:solidFill>
                          <a:latin typeface="Arial"/>
                        </a:rPr>
                        <a:t>BNP Paribas</a:t>
                      </a:r>
                    </a:p>
                  </a:txBody>
                  <a:tcPr marL="68580" marR="68580" marT="12700" marB="12700" anchor="ctr">
                    <a:noFill/>
                  </a:tcPr>
                </a:tc>
                <a:tc>
                  <a:txBody>
                    <a:bodyPr/>
                    <a:lstStyle/>
                    <a:p>
                      <a:pPr algn="l">
                        <a:lnSpc>
                          <a:spcPct val="92000"/>
                        </a:lnSpc>
                        <a:spcBef>
                          <a:spcPts val="0"/>
                        </a:spcBef>
                        <a:spcAft>
                          <a:spcPts val="0"/>
                        </a:spcAft>
                      </a:pPr>
                      <a:r>
                        <a:rPr lang="fr-FR" sz="1160" b="0">
                          <a:solidFill>
                            <a:srgbClr val="514743"/>
                          </a:solidFill>
                          <a:latin typeface="Arial"/>
                        </a:rPr>
                        <a:t>Multi-model infrastructure · co-development · document analysis</a:t>
                      </a:r>
                    </a:p>
                  </a:txBody>
                  <a:tcPr marL="68580" marR="68580" marT="12700" marB="12700" anchor="ctr">
                    <a:noFill/>
                  </a:tcPr>
                </a:tc>
                <a:tc>
                  <a:txBody>
                    <a:bodyPr/>
                    <a:lstStyle/>
                    <a:p>
                      <a:pPr algn="ctr">
                        <a:lnSpc>
                          <a:spcPct val="92000"/>
                        </a:lnSpc>
                        <a:spcBef>
                          <a:spcPts val="0"/>
                        </a:spcBef>
                        <a:spcAft>
                          <a:spcPts val="0"/>
                        </a:spcAft>
                      </a:pPr>
                      <a:r>
                        <a:rPr lang="en-US" sz="1400" b="1">
                          <a:solidFill>
                            <a:srgbClr val="FA500E"/>
                          </a:solidFill>
                          <a:latin typeface="Arial"/>
                        </a:rPr>
                        <a:t>●</a:t>
                      </a:r>
                    </a:p>
                  </a:txBody>
                  <a:tcPr marL="68580" marR="68580" marT="12700" marB="12700" anchor="ctr">
                    <a:solidFill>
                      <a:srgbClr val="FFD8C9"/>
                    </a:solidFill>
                  </a:tcPr>
                </a:tc>
                <a:tc>
                  <a:txBody>
                    <a:bodyPr/>
                    <a:lstStyle/>
                    <a:p>
                      <a:pPr algn="ctr">
                        <a:lnSpc>
                          <a:spcPct val="92000"/>
                        </a:lnSpc>
                        <a:spcBef>
                          <a:spcPts val="0"/>
                        </a:spcBef>
                        <a:spcAft>
                          <a:spcPts val="0"/>
                        </a:spcAft>
                      </a:pPr>
                      <a:r>
                        <a:rPr lang="en-US" sz="1400" b="1">
                          <a:solidFill>
                            <a:srgbClr val="FA500E"/>
                          </a:solidFill>
                          <a:latin typeface="Arial"/>
                        </a:rPr>
                        <a:t>●</a:t>
                      </a:r>
                    </a:p>
                  </a:txBody>
                  <a:tcPr marL="68580" marR="68580" marT="12700" marB="12700" anchor="ctr">
                    <a:solidFill>
                      <a:srgbClr val="FFD8C9"/>
                    </a:solidFill>
                  </a:tcPr>
                </a:tc>
                <a:tc>
                  <a:txBody>
                    <a:bodyPr/>
                    <a:lstStyle/>
                    <a:p>
                      <a:pPr algn="ctr">
                        <a:lnSpc>
                          <a:spcPct val="92000"/>
                        </a:lnSpc>
                        <a:spcBef>
                          <a:spcPts val="0"/>
                        </a:spcBef>
                        <a:spcAft>
                          <a:spcPts val="0"/>
                        </a:spcAft>
                      </a:pPr>
                      <a:r>
                        <a:rPr lang="en-US" sz="1300" b="0">
                          <a:solidFill>
                            <a:srgbClr val="E8CBBE"/>
                          </a:solidFill>
                          <a:latin typeface="Arial"/>
                        </a:rPr>
                        <a:t>—</a:t>
                      </a:r>
                    </a:p>
                  </a:txBody>
                  <a:tcPr marL="68580" marR="68580" marT="12700" marB="12700" anchor="ctr">
                    <a:noFill/>
                  </a:tcPr>
                </a:tc>
                <a:tc>
                  <a:txBody>
                    <a:bodyPr/>
                    <a:lstStyle/>
                    <a:p>
                      <a:pPr algn="ctr">
                        <a:lnSpc>
                          <a:spcPct val="92000"/>
                        </a:lnSpc>
                        <a:spcBef>
                          <a:spcPts val="0"/>
                        </a:spcBef>
                        <a:spcAft>
                          <a:spcPts val="0"/>
                        </a:spcAft>
                      </a:pPr>
                      <a:r>
                        <a:rPr lang="en-US" sz="940" b="0">
                          <a:solidFill>
                            <a:srgbClr val="514743"/>
                          </a:solidFill>
                          <a:latin typeface="Arial"/>
                        </a:rPr>
                        <a:t>Not stated</a:t>
                      </a:r>
                    </a:p>
                  </a:txBody>
                  <a:tcPr marL="68580" marR="68580" marT="12700" marB="12700" anchor="ctr">
                    <a:noFill/>
                  </a:tcPr>
                </a:tc>
                <a:extLst>
                  <a:ext uri="{0D108BD9-81ED-4DB2-BD59-A6C34878D82A}">
                    <a16:rowId xmlns:a16="http://schemas.microsoft.com/office/drawing/2014/main" val="10001"/>
                  </a:ext>
                </a:extLst>
              </a:tr>
              <a:tr h="515773">
                <a:tc>
                  <a:txBody>
                    <a:bodyPr/>
                    <a:lstStyle/>
                    <a:p>
                      <a:pPr algn="l">
                        <a:lnSpc>
                          <a:spcPct val="92000"/>
                        </a:lnSpc>
                        <a:spcBef>
                          <a:spcPts val="0"/>
                        </a:spcBef>
                        <a:spcAft>
                          <a:spcPts val="0"/>
                        </a:spcAft>
                      </a:pPr>
                      <a:r>
                        <a:rPr lang="en-US" sz="1240" b="1">
                          <a:solidFill>
                            <a:srgbClr val="161623"/>
                          </a:solidFill>
                          <a:latin typeface="Arial"/>
                        </a:rPr>
                        <a:t>Ardian</a:t>
                      </a:r>
                    </a:p>
                  </a:txBody>
                  <a:tcPr marL="68580" marR="68580" marT="12700" marB="12700" anchor="ctr">
                    <a:noFill/>
                  </a:tcPr>
                </a:tc>
                <a:tc>
                  <a:txBody>
                    <a:bodyPr/>
                    <a:lstStyle/>
                    <a:p>
                      <a:pPr algn="l">
                        <a:lnSpc>
                          <a:spcPct val="92000"/>
                        </a:lnSpc>
                        <a:spcBef>
                          <a:spcPts val="0"/>
                        </a:spcBef>
                        <a:spcAft>
                          <a:spcPts val="0"/>
                        </a:spcAft>
                      </a:pPr>
                      <a:r>
                        <a:rPr lang="en-US" sz="1160" b="0">
                          <a:solidFill>
                            <a:srgbClr val="514743"/>
                          </a:solidFill>
                          <a:latin typeface="Arial"/>
                        </a:rPr>
                        <a:t>GAIA document intelligence · secure multi-model · adoption metrics</a:t>
                      </a:r>
                    </a:p>
                  </a:txBody>
                  <a:tcPr marL="68580" marR="68580" marT="12700" marB="12700" anchor="ctr">
                    <a:noFill/>
                  </a:tcPr>
                </a:tc>
                <a:tc>
                  <a:txBody>
                    <a:bodyPr/>
                    <a:lstStyle/>
                    <a:p>
                      <a:pPr algn="ctr">
                        <a:lnSpc>
                          <a:spcPct val="92000"/>
                        </a:lnSpc>
                        <a:spcBef>
                          <a:spcPts val="0"/>
                        </a:spcBef>
                        <a:spcAft>
                          <a:spcPts val="0"/>
                        </a:spcAft>
                      </a:pPr>
                      <a:r>
                        <a:rPr lang="en-US" sz="1400" b="1">
                          <a:solidFill>
                            <a:srgbClr val="FA500E"/>
                          </a:solidFill>
                          <a:latin typeface="Arial"/>
                        </a:rPr>
                        <a:t>●</a:t>
                      </a:r>
                    </a:p>
                  </a:txBody>
                  <a:tcPr marL="68580" marR="68580" marT="12700" marB="12700" anchor="ctr">
                    <a:solidFill>
                      <a:srgbClr val="FFD8C9"/>
                    </a:solidFill>
                  </a:tcPr>
                </a:tc>
                <a:tc>
                  <a:txBody>
                    <a:bodyPr/>
                    <a:lstStyle/>
                    <a:p>
                      <a:pPr algn="ctr">
                        <a:lnSpc>
                          <a:spcPct val="92000"/>
                        </a:lnSpc>
                        <a:spcBef>
                          <a:spcPts val="0"/>
                        </a:spcBef>
                        <a:spcAft>
                          <a:spcPts val="0"/>
                        </a:spcAft>
                      </a:pPr>
                      <a:r>
                        <a:rPr lang="en-US" sz="1400" b="1">
                          <a:solidFill>
                            <a:srgbClr val="FA500E"/>
                          </a:solidFill>
                          <a:latin typeface="Arial"/>
                        </a:rPr>
                        <a:t>●</a:t>
                      </a:r>
                    </a:p>
                  </a:txBody>
                  <a:tcPr marL="68580" marR="68580" marT="12700" marB="12700" anchor="ctr">
                    <a:solidFill>
                      <a:srgbClr val="FFD8C9"/>
                    </a:solidFill>
                  </a:tcPr>
                </a:tc>
                <a:tc>
                  <a:txBody>
                    <a:bodyPr/>
                    <a:lstStyle/>
                    <a:p>
                      <a:pPr algn="ctr">
                        <a:lnSpc>
                          <a:spcPct val="92000"/>
                        </a:lnSpc>
                        <a:spcBef>
                          <a:spcPts val="0"/>
                        </a:spcBef>
                        <a:spcAft>
                          <a:spcPts val="0"/>
                        </a:spcAft>
                      </a:pPr>
                      <a:r>
                        <a:rPr lang="en-US" sz="1400" b="1">
                          <a:solidFill>
                            <a:srgbClr val="FA500E"/>
                          </a:solidFill>
                          <a:latin typeface="Arial"/>
                        </a:rPr>
                        <a:t>●</a:t>
                      </a:r>
                    </a:p>
                  </a:txBody>
                  <a:tcPr marL="68580" marR="68580" marT="12700" marB="12700" anchor="ctr">
                    <a:solidFill>
                      <a:srgbClr val="FFD8C9"/>
                    </a:solidFill>
                  </a:tcPr>
                </a:tc>
                <a:tc>
                  <a:txBody>
                    <a:bodyPr/>
                    <a:lstStyle/>
                    <a:p>
                      <a:pPr algn="ctr">
                        <a:lnSpc>
                          <a:spcPct val="92000"/>
                        </a:lnSpc>
                        <a:spcBef>
                          <a:spcPts val="0"/>
                        </a:spcBef>
                        <a:spcAft>
                          <a:spcPts val="0"/>
                        </a:spcAft>
                      </a:pPr>
                      <a:r>
                        <a:rPr lang="en-US" sz="940" b="0">
                          <a:solidFill>
                            <a:srgbClr val="514743"/>
                          </a:solidFill>
                          <a:latin typeface="Arial"/>
                        </a:rPr>
                        <a:t>Not stated</a:t>
                      </a:r>
                    </a:p>
                  </a:txBody>
                  <a:tcPr marL="68580" marR="68580" marT="12700" marB="12700" anchor="ctr">
                    <a:noFill/>
                  </a:tcPr>
                </a:tc>
                <a:extLst>
                  <a:ext uri="{0D108BD9-81ED-4DB2-BD59-A6C34878D82A}">
                    <a16:rowId xmlns:a16="http://schemas.microsoft.com/office/drawing/2014/main" val="10002"/>
                  </a:ext>
                </a:extLst>
              </a:tr>
              <a:tr h="515773">
                <a:tc>
                  <a:txBody>
                    <a:bodyPr/>
                    <a:lstStyle/>
                    <a:p>
                      <a:pPr algn="l">
                        <a:lnSpc>
                          <a:spcPct val="92000"/>
                        </a:lnSpc>
                        <a:spcBef>
                          <a:spcPts val="0"/>
                        </a:spcBef>
                        <a:spcAft>
                          <a:spcPts val="0"/>
                        </a:spcAft>
                      </a:pPr>
                      <a:r>
                        <a:rPr lang="en-US" sz="1240" b="1">
                          <a:solidFill>
                            <a:srgbClr val="161623"/>
                          </a:solidFill>
                          <a:latin typeface="Arial"/>
                        </a:rPr>
                        <a:t>ABN AMRO</a:t>
                      </a:r>
                    </a:p>
                  </a:txBody>
                  <a:tcPr marL="68580" marR="68580" marT="12700" marB="12700" anchor="ctr">
                    <a:noFill/>
                  </a:tcPr>
                </a:tc>
                <a:tc>
                  <a:txBody>
                    <a:bodyPr/>
                    <a:lstStyle/>
                    <a:p>
                      <a:pPr algn="l">
                        <a:lnSpc>
                          <a:spcPct val="92000"/>
                        </a:lnSpc>
                        <a:spcBef>
                          <a:spcPts val="0"/>
                        </a:spcBef>
                        <a:spcAft>
                          <a:spcPts val="0"/>
                        </a:spcAft>
                      </a:pPr>
                      <a:r>
                        <a:rPr lang="en-US" sz="1160" b="0">
                          <a:solidFill>
                            <a:srgbClr val="514743"/>
                          </a:solidFill>
                          <a:latin typeface="Arial"/>
                        </a:rPr>
                        <a:t>Strategic autonomy · security + privacy · early / unclear production</a:t>
                      </a:r>
                    </a:p>
                  </a:txBody>
                  <a:tcPr marL="68580" marR="68580" marT="12700" marB="12700" anchor="ctr">
                    <a:noFill/>
                  </a:tcPr>
                </a:tc>
                <a:tc>
                  <a:txBody>
                    <a:bodyPr/>
                    <a:lstStyle/>
                    <a:p>
                      <a:pPr algn="ctr">
                        <a:lnSpc>
                          <a:spcPct val="92000"/>
                        </a:lnSpc>
                        <a:spcBef>
                          <a:spcPts val="0"/>
                        </a:spcBef>
                        <a:spcAft>
                          <a:spcPts val="0"/>
                        </a:spcAft>
                      </a:pPr>
                      <a:r>
                        <a:rPr lang="en-US" sz="1400" b="1">
                          <a:solidFill>
                            <a:srgbClr val="FA500E"/>
                          </a:solidFill>
                          <a:latin typeface="Arial"/>
                        </a:rPr>
                        <a:t>●</a:t>
                      </a:r>
                    </a:p>
                  </a:txBody>
                  <a:tcPr marL="68580" marR="68580" marT="12700" marB="12700" anchor="ctr">
                    <a:solidFill>
                      <a:srgbClr val="FFD8C9"/>
                    </a:solidFill>
                  </a:tcPr>
                </a:tc>
                <a:tc>
                  <a:txBody>
                    <a:bodyPr/>
                    <a:lstStyle/>
                    <a:p>
                      <a:pPr algn="ctr">
                        <a:lnSpc>
                          <a:spcPct val="92000"/>
                        </a:lnSpc>
                        <a:spcBef>
                          <a:spcPts val="0"/>
                        </a:spcBef>
                        <a:spcAft>
                          <a:spcPts val="0"/>
                        </a:spcAft>
                      </a:pPr>
                      <a:r>
                        <a:rPr lang="en-US" sz="1300" b="0">
                          <a:solidFill>
                            <a:srgbClr val="E8CBBE"/>
                          </a:solidFill>
                          <a:latin typeface="Arial"/>
                        </a:rPr>
                        <a:t>—</a:t>
                      </a:r>
                    </a:p>
                  </a:txBody>
                  <a:tcPr marL="68580" marR="68580" marT="12700" marB="12700" anchor="ctr">
                    <a:noFill/>
                  </a:tcPr>
                </a:tc>
                <a:tc>
                  <a:txBody>
                    <a:bodyPr/>
                    <a:lstStyle/>
                    <a:p>
                      <a:pPr algn="ctr">
                        <a:lnSpc>
                          <a:spcPct val="92000"/>
                        </a:lnSpc>
                        <a:spcBef>
                          <a:spcPts val="0"/>
                        </a:spcBef>
                        <a:spcAft>
                          <a:spcPts val="0"/>
                        </a:spcAft>
                      </a:pPr>
                      <a:r>
                        <a:rPr lang="en-US" sz="1300" b="0">
                          <a:solidFill>
                            <a:srgbClr val="E8CBBE"/>
                          </a:solidFill>
                          <a:latin typeface="Arial"/>
                        </a:rPr>
                        <a:t>—</a:t>
                      </a:r>
                    </a:p>
                  </a:txBody>
                  <a:tcPr marL="68580" marR="68580" marT="12700" marB="12700" anchor="ctr">
                    <a:noFill/>
                  </a:tcPr>
                </a:tc>
                <a:tc>
                  <a:txBody>
                    <a:bodyPr/>
                    <a:lstStyle/>
                    <a:p>
                      <a:pPr algn="ctr">
                        <a:lnSpc>
                          <a:spcPct val="92000"/>
                        </a:lnSpc>
                        <a:spcBef>
                          <a:spcPts val="0"/>
                        </a:spcBef>
                        <a:spcAft>
                          <a:spcPts val="0"/>
                        </a:spcAft>
                      </a:pPr>
                      <a:r>
                        <a:rPr lang="en-US" sz="1030" b="1">
                          <a:solidFill>
                            <a:srgbClr val="161623"/>
                          </a:solidFill>
                          <a:latin typeface="Arial"/>
                        </a:rPr>
                        <a:t>Unclear</a:t>
                      </a:r>
                    </a:p>
                  </a:txBody>
                  <a:tcPr marL="68580" marR="68580" marT="12700" marB="12700" anchor="ctr">
                    <a:solidFill>
                      <a:srgbClr val="E8CBBE"/>
                    </a:solidFill>
                  </a:tcPr>
                </a:tc>
                <a:extLst>
                  <a:ext uri="{0D108BD9-81ED-4DB2-BD59-A6C34878D82A}">
                    <a16:rowId xmlns:a16="http://schemas.microsoft.com/office/drawing/2014/main" val="10003"/>
                  </a:ext>
                </a:extLst>
              </a:tr>
              <a:tr h="515773">
                <a:tc>
                  <a:txBody>
                    <a:bodyPr/>
                    <a:lstStyle/>
                    <a:p>
                      <a:pPr algn="l">
                        <a:lnSpc>
                          <a:spcPct val="92000"/>
                        </a:lnSpc>
                        <a:spcBef>
                          <a:spcPts val="0"/>
                        </a:spcBef>
                        <a:spcAft>
                          <a:spcPts val="0"/>
                        </a:spcAft>
                      </a:pPr>
                      <a:r>
                        <a:rPr lang="en-US" sz="1240" b="1">
                          <a:solidFill>
                            <a:srgbClr val="161623"/>
                          </a:solidFill>
                          <a:latin typeface="Arial"/>
                        </a:rPr>
                        <a:t>HSBC</a:t>
                      </a:r>
                    </a:p>
                  </a:txBody>
                  <a:tcPr marL="68580" marR="68580" marT="12700" marB="12700" anchor="ctr">
                    <a:noFill/>
                  </a:tcPr>
                </a:tc>
                <a:tc>
                  <a:txBody>
                    <a:bodyPr/>
                    <a:lstStyle/>
                    <a:p>
                      <a:pPr algn="l">
                        <a:lnSpc>
                          <a:spcPct val="92000"/>
                        </a:lnSpc>
                        <a:spcBef>
                          <a:spcPts val="0"/>
                        </a:spcBef>
                        <a:spcAft>
                          <a:spcPts val="0"/>
                        </a:spcAft>
                      </a:pPr>
                      <a:r>
                        <a:rPr lang="en-US" sz="1160" b="0">
                          <a:solidFill>
                            <a:srgbClr val="514743"/>
                          </a:solidFill>
                          <a:latin typeface="Arial"/>
                        </a:rPr>
                        <a:t>Self-hosted deployment · lending documents · multilingual + developer</a:t>
                      </a:r>
                    </a:p>
                  </a:txBody>
                  <a:tcPr marL="68580" marR="68580" marT="12700" marB="12700" anchor="ctr">
                    <a:noFill/>
                  </a:tcPr>
                </a:tc>
                <a:tc>
                  <a:txBody>
                    <a:bodyPr/>
                    <a:lstStyle/>
                    <a:p>
                      <a:pPr algn="ctr">
                        <a:lnSpc>
                          <a:spcPct val="92000"/>
                        </a:lnSpc>
                        <a:spcBef>
                          <a:spcPts val="0"/>
                        </a:spcBef>
                        <a:spcAft>
                          <a:spcPts val="0"/>
                        </a:spcAft>
                      </a:pPr>
                      <a:r>
                        <a:rPr lang="en-US" sz="1400" b="1">
                          <a:solidFill>
                            <a:srgbClr val="FA500E"/>
                          </a:solidFill>
                          <a:latin typeface="Arial"/>
                        </a:rPr>
                        <a:t>●</a:t>
                      </a:r>
                    </a:p>
                  </a:txBody>
                  <a:tcPr marL="68580" marR="68580" marT="12700" marB="12700" anchor="ctr">
                    <a:solidFill>
                      <a:srgbClr val="FFD8C9"/>
                    </a:solidFill>
                  </a:tcPr>
                </a:tc>
                <a:tc>
                  <a:txBody>
                    <a:bodyPr/>
                    <a:lstStyle/>
                    <a:p>
                      <a:pPr algn="ctr">
                        <a:lnSpc>
                          <a:spcPct val="92000"/>
                        </a:lnSpc>
                        <a:spcBef>
                          <a:spcPts val="0"/>
                        </a:spcBef>
                        <a:spcAft>
                          <a:spcPts val="0"/>
                        </a:spcAft>
                      </a:pPr>
                      <a:r>
                        <a:rPr lang="en-US" sz="1400" b="1">
                          <a:solidFill>
                            <a:srgbClr val="FA500E"/>
                          </a:solidFill>
                          <a:latin typeface="Arial"/>
                        </a:rPr>
                        <a:t>●</a:t>
                      </a:r>
                    </a:p>
                  </a:txBody>
                  <a:tcPr marL="68580" marR="68580" marT="12700" marB="12700" anchor="ctr">
                    <a:solidFill>
                      <a:srgbClr val="FFD8C9"/>
                    </a:solidFill>
                  </a:tcPr>
                </a:tc>
                <a:tc>
                  <a:txBody>
                    <a:bodyPr/>
                    <a:lstStyle/>
                    <a:p>
                      <a:pPr algn="ctr">
                        <a:lnSpc>
                          <a:spcPct val="92000"/>
                        </a:lnSpc>
                        <a:spcBef>
                          <a:spcPts val="0"/>
                        </a:spcBef>
                        <a:spcAft>
                          <a:spcPts val="0"/>
                        </a:spcAft>
                      </a:pPr>
                      <a:r>
                        <a:rPr lang="en-US" sz="1300" b="0">
                          <a:solidFill>
                            <a:srgbClr val="E8CBBE"/>
                          </a:solidFill>
                          <a:latin typeface="Arial"/>
                        </a:rPr>
                        <a:t>—</a:t>
                      </a:r>
                    </a:p>
                  </a:txBody>
                  <a:tcPr marL="68580" marR="68580" marT="12700" marB="12700" anchor="ctr">
                    <a:noFill/>
                  </a:tcPr>
                </a:tc>
                <a:tc>
                  <a:txBody>
                    <a:bodyPr/>
                    <a:lstStyle/>
                    <a:p>
                      <a:pPr algn="ctr">
                        <a:lnSpc>
                          <a:spcPct val="92000"/>
                        </a:lnSpc>
                        <a:spcBef>
                          <a:spcPts val="0"/>
                        </a:spcBef>
                        <a:spcAft>
                          <a:spcPts val="0"/>
                        </a:spcAft>
                      </a:pPr>
                      <a:r>
                        <a:rPr lang="en-US" sz="940" b="0">
                          <a:solidFill>
                            <a:srgbClr val="514743"/>
                          </a:solidFill>
                          <a:latin typeface="Arial"/>
                        </a:rPr>
                        <a:t>Not stated</a:t>
                      </a:r>
                    </a:p>
                  </a:txBody>
                  <a:tcPr marL="68580" marR="68580" marT="12700" marB="12700" anchor="ctr">
                    <a:noFill/>
                  </a:tcPr>
                </a:tc>
                <a:extLst>
                  <a:ext uri="{0D108BD9-81ED-4DB2-BD59-A6C34878D82A}">
                    <a16:rowId xmlns:a16="http://schemas.microsoft.com/office/drawing/2014/main" val="10004"/>
                  </a:ext>
                </a:extLst>
              </a:tr>
              <a:tr h="515773">
                <a:tc>
                  <a:txBody>
                    <a:bodyPr/>
                    <a:lstStyle/>
                    <a:p>
                      <a:pPr algn="l">
                        <a:lnSpc>
                          <a:spcPct val="92000"/>
                        </a:lnSpc>
                        <a:spcBef>
                          <a:spcPts val="0"/>
                        </a:spcBef>
                        <a:spcAft>
                          <a:spcPts val="0"/>
                        </a:spcAft>
                      </a:pPr>
                      <a:r>
                        <a:rPr lang="en-US" sz="1240" b="1">
                          <a:solidFill>
                            <a:srgbClr val="161623"/>
                          </a:solidFill>
                          <a:latin typeface="Arial"/>
                        </a:rPr>
                        <a:t>La Banque Postale</a:t>
                      </a:r>
                    </a:p>
                  </a:txBody>
                  <a:tcPr marL="68580" marR="68580" marT="12700" marB="12700" anchor="ctr">
                    <a:noFill/>
                  </a:tcPr>
                </a:tc>
                <a:tc>
                  <a:txBody>
                    <a:bodyPr/>
                    <a:lstStyle/>
                    <a:p>
                      <a:pPr algn="l">
                        <a:lnSpc>
                          <a:spcPct val="92000"/>
                        </a:lnSpc>
                        <a:spcBef>
                          <a:spcPts val="0"/>
                        </a:spcBef>
                        <a:spcAft>
                          <a:spcPts val="0"/>
                        </a:spcAft>
                      </a:pPr>
                      <a:r>
                        <a:rPr lang="en-US" sz="1160" b="0">
                          <a:solidFill>
                            <a:srgbClr val="514743"/>
                          </a:solidFill>
                          <a:latin typeface="Arial" panose="020B0604020202020204" pitchFamily="34" charset="0"/>
                          <a:cs typeface="Arial" panose="020B0604020202020204" pitchFamily="34" charset="0"/>
                        </a:rPr>
                        <a:t>Bank infrastructure · 5,000-employee rollout · IT + business workflows</a:t>
                      </a:r>
                    </a:p>
                  </a:txBody>
                  <a:tcPr marL="68580" marR="68580" marT="12700" marB="12700" anchor="ctr">
                    <a:noFill/>
                  </a:tcPr>
                </a:tc>
                <a:tc>
                  <a:txBody>
                    <a:bodyPr/>
                    <a:lstStyle/>
                    <a:p>
                      <a:pPr algn="ctr">
                        <a:lnSpc>
                          <a:spcPct val="92000"/>
                        </a:lnSpc>
                        <a:spcBef>
                          <a:spcPts val="0"/>
                        </a:spcBef>
                        <a:spcAft>
                          <a:spcPts val="0"/>
                        </a:spcAft>
                      </a:pPr>
                      <a:r>
                        <a:rPr lang="en-US" sz="1400" b="1">
                          <a:solidFill>
                            <a:srgbClr val="FA500E"/>
                          </a:solidFill>
                          <a:latin typeface="Arial"/>
                        </a:rPr>
                        <a:t>●</a:t>
                      </a:r>
                    </a:p>
                  </a:txBody>
                  <a:tcPr marL="68580" marR="68580" marT="12700" marB="12700" anchor="ctr">
                    <a:solidFill>
                      <a:srgbClr val="FFD8C9"/>
                    </a:solidFill>
                  </a:tcPr>
                </a:tc>
                <a:tc>
                  <a:txBody>
                    <a:bodyPr/>
                    <a:lstStyle/>
                    <a:p>
                      <a:pPr algn="ctr">
                        <a:lnSpc>
                          <a:spcPct val="92000"/>
                        </a:lnSpc>
                        <a:spcBef>
                          <a:spcPts val="0"/>
                        </a:spcBef>
                        <a:spcAft>
                          <a:spcPts val="0"/>
                        </a:spcAft>
                      </a:pPr>
                      <a:r>
                        <a:rPr lang="en-US" sz="1400" b="1">
                          <a:solidFill>
                            <a:srgbClr val="FA500E"/>
                          </a:solidFill>
                          <a:latin typeface="Arial"/>
                        </a:rPr>
                        <a:t>●</a:t>
                      </a:r>
                    </a:p>
                  </a:txBody>
                  <a:tcPr marL="68580" marR="68580" marT="12700" marB="12700" anchor="ctr">
                    <a:solidFill>
                      <a:srgbClr val="FFD8C9"/>
                    </a:solidFill>
                  </a:tcPr>
                </a:tc>
                <a:tc>
                  <a:txBody>
                    <a:bodyPr/>
                    <a:lstStyle/>
                    <a:p>
                      <a:pPr algn="ctr">
                        <a:lnSpc>
                          <a:spcPct val="92000"/>
                        </a:lnSpc>
                        <a:spcBef>
                          <a:spcPts val="0"/>
                        </a:spcBef>
                        <a:spcAft>
                          <a:spcPts val="0"/>
                        </a:spcAft>
                      </a:pPr>
                      <a:r>
                        <a:rPr lang="en-US" sz="1400" b="1">
                          <a:solidFill>
                            <a:srgbClr val="FA500E"/>
                          </a:solidFill>
                          <a:latin typeface="Arial"/>
                        </a:rPr>
                        <a:t>●</a:t>
                      </a:r>
                    </a:p>
                  </a:txBody>
                  <a:tcPr marL="68580" marR="68580" marT="12700" marB="12700" anchor="ctr">
                    <a:solidFill>
                      <a:srgbClr val="FFD8C9"/>
                    </a:solidFill>
                  </a:tcPr>
                </a:tc>
                <a:tc>
                  <a:txBody>
                    <a:bodyPr/>
                    <a:lstStyle/>
                    <a:p>
                      <a:pPr algn="ctr">
                        <a:lnSpc>
                          <a:spcPct val="92000"/>
                        </a:lnSpc>
                        <a:spcBef>
                          <a:spcPts val="0"/>
                        </a:spcBef>
                        <a:spcAft>
                          <a:spcPts val="0"/>
                        </a:spcAft>
                      </a:pPr>
                      <a:r>
                        <a:rPr lang="en-US" sz="940" b="0">
                          <a:solidFill>
                            <a:srgbClr val="514743"/>
                          </a:solidFill>
                          <a:latin typeface="Arial"/>
                        </a:rPr>
                        <a:t>Not stated</a:t>
                      </a:r>
                    </a:p>
                  </a:txBody>
                  <a:tcPr marL="68580" marR="68580" marT="12700" marB="12700" anchor="ctr">
                    <a:noFill/>
                  </a:tcPr>
                </a:tc>
                <a:extLst>
                  <a:ext uri="{0D108BD9-81ED-4DB2-BD59-A6C34878D82A}">
                    <a16:rowId xmlns:a16="http://schemas.microsoft.com/office/drawing/2014/main" val="10005"/>
                  </a:ext>
                </a:extLst>
              </a:tr>
              <a:tr h="515775">
                <a:tc>
                  <a:txBody>
                    <a:bodyPr/>
                    <a:lstStyle/>
                    <a:p>
                      <a:pPr algn="l">
                        <a:lnSpc>
                          <a:spcPct val="92000"/>
                        </a:lnSpc>
                        <a:spcBef>
                          <a:spcPts val="0"/>
                        </a:spcBef>
                        <a:spcAft>
                          <a:spcPts val="0"/>
                        </a:spcAft>
                      </a:pPr>
                      <a:r>
                        <a:rPr lang="en-US" sz="1240" b="1">
                          <a:solidFill>
                            <a:srgbClr val="161623"/>
                          </a:solidFill>
                          <a:latin typeface="Arial"/>
                        </a:rPr>
                        <a:t>Groupe Mutuel</a:t>
                      </a:r>
                    </a:p>
                  </a:txBody>
                  <a:tcPr marL="68580" marR="68580" marT="12700" marB="12700" anchor="ctr">
                    <a:noFill/>
                  </a:tcPr>
                </a:tc>
                <a:tc>
                  <a:txBody>
                    <a:bodyPr/>
                    <a:lstStyle/>
                    <a:p>
                      <a:pPr algn="l">
                        <a:lnSpc>
                          <a:spcPct val="92000"/>
                        </a:lnSpc>
                        <a:spcBef>
                          <a:spcPts val="0"/>
                        </a:spcBef>
                        <a:spcAft>
                          <a:spcPts val="0"/>
                        </a:spcAft>
                      </a:pPr>
                      <a:r>
                        <a:rPr lang="en-US" sz="1160" b="0">
                          <a:solidFill>
                            <a:srgbClr val="514743"/>
                          </a:solidFill>
                          <a:latin typeface="Arial"/>
                        </a:rPr>
                        <a:t>Insurance partnership · processing workflows · early / unclear production</a:t>
                      </a:r>
                    </a:p>
                  </a:txBody>
                  <a:tcPr marL="68580" marR="68580" marT="12700" marB="12700" anchor="ctr">
                    <a:noFill/>
                  </a:tcPr>
                </a:tc>
                <a:tc>
                  <a:txBody>
                    <a:bodyPr/>
                    <a:lstStyle/>
                    <a:p>
                      <a:pPr algn="ctr">
                        <a:lnSpc>
                          <a:spcPct val="92000"/>
                        </a:lnSpc>
                        <a:spcBef>
                          <a:spcPts val="0"/>
                        </a:spcBef>
                        <a:spcAft>
                          <a:spcPts val="0"/>
                        </a:spcAft>
                      </a:pPr>
                      <a:r>
                        <a:rPr lang="en-US" sz="1300" b="0">
                          <a:solidFill>
                            <a:srgbClr val="E8CBBE"/>
                          </a:solidFill>
                          <a:latin typeface="Arial"/>
                        </a:rPr>
                        <a:t>—</a:t>
                      </a:r>
                    </a:p>
                  </a:txBody>
                  <a:tcPr marL="68580" marR="68580" marT="12700" marB="12700" anchor="ctr">
                    <a:noFill/>
                  </a:tcPr>
                </a:tc>
                <a:tc>
                  <a:txBody>
                    <a:bodyPr/>
                    <a:lstStyle/>
                    <a:p>
                      <a:pPr algn="ctr">
                        <a:lnSpc>
                          <a:spcPct val="92000"/>
                        </a:lnSpc>
                        <a:spcBef>
                          <a:spcPts val="0"/>
                        </a:spcBef>
                        <a:spcAft>
                          <a:spcPts val="0"/>
                        </a:spcAft>
                      </a:pPr>
                      <a:r>
                        <a:rPr lang="en-US" sz="1400" b="1">
                          <a:solidFill>
                            <a:srgbClr val="FA500E"/>
                          </a:solidFill>
                          <a:latin typeface="Arial"/>
                        </a:rPr>
                        <a:t>●</a:t>
                      </a:r>
                    </a:p>
                  </a:txBody>
                  <a:tcPr marL="68580" marR="68580" marT="12700" marB="12700" anchor="ctr">
                    <a:solidFill>
                      <a:srgbClr val="FFD8C9"/>
                    </a:solidFill>
                  </a:tcPr>
                </a:tc>
                <a:tc>
                  <a:txBody>
                    <a:bodyPr/>
                    <a:lstStyle/>
                    <a:p>
                      <a:pPr algn="ctr">
                        <a:lnSpc>
                          <a:spcPct val="92000"/>
                        </a:lnSpc>
                        <a:spcBef>
                          <a:spcPts val="0"/>
                        </a:spcBef>
                        <a:spcAft>
                          <a:spcPts val="0"/>
                        </a:spcAft>
                      </a:pPr>
                      <a:r>
                        <a:rPr lang="en-US" sz="1300" b="0">
                          <a:solidFill>
                            <a:srgbClr val="E8CBBE"/>
                          </a:solidFill>
                          <a:latin typeface="Arial"/>
                        </a:rPr>
                        <a:t>—</a:t>
                      </a:r>
                    </a:p>
                  </a:txBody>
                  <a:tcPr marL="68580" marR="68580" marT="12700" marB="12700" anchor="ctr">
                    <a:noFill/>
                  </a:tcPr>
                </a:tc>
                <a:tc>
                  <a:txBody>
                    <a:bodyPr/>
                    <a:lstStyle/>
                    <a:p>
                      <a:pPr algn="ctr">
                        <a:lnSpc>
                          <a:spcPct val="92000"/>
                        </a:lnSpc>
                        <a:spcBef>
                          <a:spcPts val="0"/>
                        </a:spcBef>
                        <a:spcAft>
                          <a:spcPts val="0"/>
                        </a:spcAft>
                      </a:pPr>
                      <a:r>
                        <a:rPr lang="en-US" sz="1030" b="1">
                          <a:solidFill>
                            <a:srgbClr val="161623"/>
                          </a:solidFill>
                          <a:latin typeface="Arial"/>
                        </a:rPr>
                        <a:t>Unclear</a:t>
                      </a:r>
                    </a:p>
                  </a:txBody>
                  <a:tcPr marL="68580" marR="68580" marT="12700" marB="12700" anchor="ctr">
                    <a:solidFill>
                      <a:srgbClr val="E8CBBE"/>
                    </a:solidFill>
                  </a:tcPr>
                </a:tc>
                <a:extLst>
                  <a:ext uri="{0D108BD9-81ED-4DB2-BD59-A6C34878D82A}">
                    <a16:rowId xmlns:a16="http://schemas.microsoft.com/office/drawing/2014/main" val="10006"/>
                  </a:ext>
                </a:extLst>
              </a:tr>
            </a:tbl>
          </a:graphicData>
        </a:graphic>
      </p:graphicFrame>
      <p:sp>
        <p:nvSpPr>
          <p:cNvPr id="37" name="Rectangle 36"/>
          <p:cNvSpPr/>
          <p:nvPr/>
        </p:nvSpPr>
        <p:spPr>
          <a:xfrm>
            <a:off x="841248" y="2541692"/>
            <a:ext cx="10515600" cy="11223"/>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endParaRPr lang="en-US"/>
          </a:p>
        </p:txBody>
      </p:sp>
      <p:sp>
        <p:nvSpPr>
          <p:cNvPr id="38" name="Rectangle 37"/>
          <p:cNvSpPr/>
          <p:nvPr/>
        </p:nvSpPr>
        <p:spPr>
          <a:xfrm>
            <a:off x="841248" y="3057465"/>
            <a:ext cx="10515600" cy="11223"/>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endParaRPr lang="en-US"/>
          </a:p>
        </p:txBody>
      </p:sp>
      <p:sp>
        <p:nvSpPr>
          <p:cNvPr id="39" name="Rectangle 38"/>
          <p:cNvSpPr/>
          <p:nvPr/>
        </p:nvSpPr>
        <p:spPr>
          <a:xfrm>
            <a:off x="841248" y="3573238"/>
            <a:ext cx="10515600" cy="11223"/>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endParaRPr lang="en-US"/>
          </a:p>
        </p:txBody>
      </p:sp>
      <p:sp>
        <p:nvSpPr>
          <p:cNvPr id="40" name="Rectangle 39"/>
          <p:cNvSpPr/>
          <p:nvPr/>
        </p:nvSpPr>
        <p:spPr>
          <a:xfrm>
            <a:off x="841248" y="4089013"/>
            <a:ext cx="10515600" cy="11223"/>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endParaRPr lang="en-US"/>
          </a:p>
        </p:txBody>
      </p:sp>
      <p:sp>
        <p:nvSpPr>
          <p:cNvPr id="41" name="Rectangle 40"/>
          <p:cNvSpPr/>
          <p:nvPr/>
        </p:nvSpPr>
        <p:spPr>
          <a:xfrm>
            <a:off x="841248" y="4604786"/>
            <a:ext cx="10515600" cy="11223"/>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endParaRPr lang="en-US"/>
          </a:p>
        </p:txBody>
      </p:sp>
      <p:sp>
        <p:nvSpPr>
          <p:cNvPr id="42" name="Rectangle 41"/>
          <p:cNvSpPr/>
          <p:nvPr/>
        </p:nvSpPr>
        <p:spPr>
          <a:xfrm>
            <a:off x="841248" y="5120559"/>
            <a:ext cx="10515600" cy="11223"/>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endParaRPr lang="en-US"/>
          </a:p>
        </p:txBody>
      </p:sp>
      <p:sp>
        <p:nvSpPr>
          <p:cNvPr id="43" name="Customer-proof flywheel"/>
          <p:cNvSpPr txBox="1"/>
          <p:nvPr/>
        </p:nvSpPr>
        <p:spPr>
          <a:xfrm>
            <a:off x="841248" y="5705856"/>
            <a:ext cx="10515600" cy="182880"/>
          </a:xfrm>
          <a:prstGeom prst="rect">
            <a:avLst/>
          </a:prstGeom>
          <a:noFill/>
        </p:spPr>
        <p:txBody>
          <a:bodyPr wrap="square" lIns="0" tIns="0" rIns="0" bIns="0" anchor="ctr">
            <a:spAutoFit/>
          </a:bodyPr>
          <a:lstStyle/>
          <a:p>
            <a:pPr algn="ctr"/>
            <a:r>
              <a:rPr sz="1200" b="1">
                <a:solidFill>
                  <a:srgbClr val="FA500E"/>
                </a:solidFill>
                <a:latin typeface="Arial"/>
              </a:rPr>
              <a:t>PROOF  →  REFERENCE  →  FIELD ASSET  →  NEXT EVALUATION  →  EXPANSION</a:t>
            </a:r>
          </a:p>
        </p:txBody>
      </p:sp>
    </p:spTree>
    <p:extLst>
      <p:ext uri="{BB962C8B-B14F-4D97-AF65-F5344CB8AC3E}">
        <p14:creationId xmlns:p14="http://schemas.microsoft.com/office/powerpoint/2010/main" val="234068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F2"/>
        </a:soli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54E66732-8EA3-4482-BF77-BF02A0E6199A}"/>
              </a:ext>
            </a:extLst>
          </p:cNvPr>
          <p:cNvSpPr>
            <a:spLocks noGrp="1"/>
          </p:cNvSpPr>
          <p:nvPr/>
        </p:nvSpPr>
        <p:spPr>
          <a:xfrm>
            <a:off x="609600" y="266700"/>
            <a:ext cx="76200" cy="742950"/>
          </a:xfrm>
          <a:prstGeom prst="rect">
            <a:avLst/>
          </a:prstGeom>
          <a:solidFill>
            <a:srgbClr val="FA500E"/>
          </a:solidFill>
          <a:ln w="0">
            <a:no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 name="Rectangle 1">
            <a:extLst>
              <a:ext uri="{FF2B5EF4-FFF2-40B4-BE49-F238E27FC236}">
                <a16:creationId xmlns:a16="http://schemas.microsoft.com/office/drawing/2014/main" id="{7CF4BCF0-7014-4E01-A92C-6CD03830505B}"/>
              </a:ext>
            </a:extLst>
          </p:cNvPr>
          <p:cNvSpPr>
            <a:spLocks noGrp="1"/>
          </p:cNvSpPr>
          <p:nvPr/>
        </p:nvSpPr>
        <p:spPr>
          <a:xfrm>
            <a:off x="841248" y="256032"/>
            <a:ext cx="4206240" cy="173736"/>
          </a:xfrm>
          <a:prstGeom prst="rect">
            <a:avLst/>
          </a:prstGeom>
          <a:noFill/>
          <a:ln w="0">
            <a:noFill/>
            <a:prstDash val="solid"/>
          </a:ln>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sz="975" b="1">
                <a:solidFill>
                  <a:srgbClr val="FA520F"/>
                </a:solidFill>
                <a:latin typeface="Arial"/>
                <a:ea typeface="Arial"/>
                <a:cs typeface="Arial"/>
              </a:defRPr>
            </a:pPr>
            <a:r>
              <a:rPr kumimoji="0" lang="en-US" sz="1100" b="1" i="0" u="none" strike="noStrike" kern="1200" cap="none" spc="0" normalizeH="0" baseline="0" noProof="0">
                <a:ln>
                  <a:noFill/>
                </a:ln>
                <a:solidFill>
                  <a:srgbClr val="FA500E"/>
                </a:solidFill>
                <a:effectLst/>
                <a:uLnTx/>
                <a:uFillTx/>
                <a:latin typeface="Arial"/>
                <a:ea typeface="Arial"/>
                <a:cs typeface="Arial"/>
              </a:rPr>
              <a:t>TARGET ACCOUNTS</a:t>
            </a:r>
          </a:p>
        </p:txBody>
      </p:sp>
      <p:sp>
        <p:nvSpPr>
          <p:cNvPr id="3" name="Rectangle 2">
            <a:extLst>
              <a:ext uri="{FF2B5EF4-FFF2-40B4-BE49-F238E27FC236}">
                <a16:creationId xmlns:a16="http://schemas.microsoft.com/office/drawing/2014/main" id="{4A46F890-2DB4-473D-BBFB-AB17FE88A34F}"/>
              </a:ext>
            </a:extLst>
          </p:cNvPr>
          <p:cNvSpPr>
            <a:spLocks noGrp="1"/>
          </p:cNvSpPr>
          <p:nvPr/>
        </p:nvSpPr>
        <p:spPr>
          <a:xfrm>
            <a:off x="841248" y="457200"/>
            <a:ext cx="10515600" cy="822960"/>
          </a:xfrm>
          <a:prstGeom prst="rect">
            <a:avLst/>
          </a:prstGeom>
          <a:noFill/>
          <a:ln w="0">
            <a:noFill/>
            <a:prstDash val="solid"/>
          </a:ln>
        </p:spPr>
        <p:txBody>
          <a:bodyPr wrap="square" lIns="0" tIns="0" rIns="0" bIns="0" anchor="t">
            <a:noAutofit/>
          </a:bodyPr>
          <a:lstStyle/>
          <a:p>
            <a:pPr algn="l">
              <a:lnSpc>
                <a:spcPct val="95000"/>
              </a:lnSpc>
              <a:spcBef>
                <a:spcPts val="0"/>
              </a:spcBef>
              <a:spcAft>
                <a:spcPts val="0"/>
              </a:spcAft>
              <a:defRPr sz="2700" b="1">
                <a:solidFill>
                  <a:srgbClr val="1F1F1F"/>
                </a:solidFill>
                <a:latin typeface="Arial"/>
                <a:ea typeface="Arial"/>
                <a:cs typeface="Arial"/>
              </a:defRPr>
            </a:pPr>
            <a:r>
              <a:rPr lang="en-US" sz="3600" b="1">
                <a:solidFill>
                  <a:srgbClr val="161623"/>
                </a:solidFill>
                <a:latin typeface="Tiny5"/>
              </a:rPr>
              <a:t>WHERE TO START WITH 10 TARGET BANKS</a:t>
            </a:r>
          </a:p>
        </p:txBody>
      </p:sp>
      <p:sp>
        <p:nvSpPr>
          <p:cNvPr id="4" name="Rectangle 3">
            <a:extLst>
              <a:ext uri="{FF2B5EF4-FFF2-40B4-BE49-F238E27FC236}">
                <a16:creationId xmlns:a16="http://schemas.microsoft.com/office/drawing/2014/main" id="{8DFC240D-5DE4-4363-BD5F-ED6360C76CFA}"/>
              </a:ext>
            </a:extLst>
          </p:cNvPr>
          <p:cNvSpPr>
            <a:spLocks noGrp="1"/>
          </p:cNvSpPr>
          <p:nvPr/>
        </p:nvSpPr>
        <p:spPr>
          <a:xfrm>
            <a:off x="612648" y="6556248"/>
            <a:ext cx="10972800" cy="9144"/>
          </a:xfrm>
          <a:prstGeom prst="rect">
            <a:avLst/>
          </a:prstGeom>
          <a:solidFill>
            <a:srgbClr val="E8CBBE"/>
          </a:solidFill>
          <a:ln w="0">
            <a:no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5" name="Rectangle 4">
            <a:extLst>
              <a:ext uri="{FF2B5EF4-FFF2-40B4-BE49-F238E27FC236}">
                <a16:creationId xmlns:a16="http://schemas.microsoft.com/office/drawing/2014/main" id="{AC3B1D75-BE7F-40CA-AA99-82E17D2D0A2C}"/>
              </a:ext>
            </a:extLst>
          </p:cNvPr>
          <p:cNvSpPr>
            <a:spLocks noGrp="1"/>
          </p:cNvSpPr>
          <p:nvPr/>
        </p:nvSpPr>
        <p:spPr>
          <a:xfrm>
            <a:off x="612648" y="6620256"/>
            <a:ext cx="4005072" cy="128016"/>
          </a:xfrm>
          <a:prstGeom prst="rect">
            <a:avLst/>
          </a:prstGeom>
          <a:noFill/>
          <a:ln w="0">
            <a:noFill/>
            <a:prstDash val="solid"/>
          </a:ln>
        </p:spPr>
        <p:txBody>
          <a:bodyPr wrap="square" lIns="0" tIns="0" rIns="0" bIns="0" anchor="ctr">
            <a:noAutofit/>
          </a:bodyPr>
          <a:lstStyle/>
          <a:p>
            <a:pPr algn="l">
              <a:lnSpc>
                <a:spcPct val="105000"/>
              </a:lnSpc>
              <a:spcBef>
                <a:spcPts val="0"/>
              </a:spcBef>
              <a:spcAft>
                <a:spcPts val="0"/>
              </a:spcAft>
              <a:buNone/>
              <a:defRPr sz="750" b="0">
                <a:solidFill>
                  <a:srgbClr val="5A554B"/>
                </a:solidFill>
                <a:latin typeface="Arial"/>
                <a:ea typeface="Arial"/>
                <a:cs typeface="Arial"/>
              </a:defRPr>
            </a:pPr>
            <a:r>
              <a:rPr lang="en-US" sz="900" b="0">
                <a:solidFill>
                  <a:srgbClr val="62544F"/>
                </a:solidFill>
                <a:latin typeface="Arial"/>
                <a:ea typeface="Arial"/>
                <a:cs typeface="Arial"/>
              </a:rPr>
              <a:t>SHIV  ·  PMM CANDIDATE  ·  18 AUG 2026</a:t>
            </a:r>
          </a:p>
        </p:txBody>
      </p:sp>
      <p:sp>
        <p:nvSpPr>
          <p:cNvPr id="6" name="Rectangle 5">
            <a:extLst>
              <a:ext uri="{FF2B5EF4-FFF2-40B4-BE49-F238E27FC236}">
                <a16:creationId xmlns:a16="http://schemas.microsoft.com/office/drawing/2014/main" id="{9DEDAC10-4741-42D5-9943-BA31CBDD74D5}"/>
              </a:ext>
            </a:extLst>
          </p:cNvPr>
          <p:cNvSpPr>
            <a:spLocks noGrp="1"/>
          </p:cNvSpPr>
          <p:nvPr/>
        </p:nvSpPr>
        <p:spPr>
          <a:xfrm>
            <a:off x="11237976" y="6620256"/>
            <a:ext cx="347472" cy="128016"/>
          </a:xfrm>
          <a:prstGeom prst="rect">
            <a:avLst/>
          </a:prstGeom>
          <a:noFill/>
          <a:ln w="0">
            <a:noFill/>
            <a:prstDash val="solid"/>
          </a:ln>
        </p:spPr>
        <p:txBody>
          <a:bodyPr wrap="none" lIns="0" tIns="0" rIns="0" bIns="0" anchor="ctr">
            <a:noAutofit/>
          </a:bodyPr>
          <a:lstStyle/>
          <a:p>
            <a:pPr algn="r">
              <a:lnSpc>
                <a:spcPct val="105000"/>
              </a:lnSpc>
              <a:spcBef>
                <a:spcPts val="0"/>
              </a:spcBef>
              <a:spcAft>
                <a:spcPts val="0"/>
              </a:spcAft>
              <a:buNone/>
              <a:defRPr sz="750" b="1">
                <a:solidFill>
                  <a:srgbClr val="5A554B"/>
                </a:solidFill>
                <a:latin typeface="Arial"/>
                <a:ea typeface="Arial"/>
                <a:cs typeface="Arial"/>
              </a:defRPr>
            </a:pPr>
            <a:r>
              <a:rPr lang="en-US" sz="900" b="0">
                <a:solidFill>
                  <a:srgbClr val="62544F"/>
                </a:solidFill>
                <a:latin typeface="Silkscreen"/>
              </a:rPr>
              <a:t>6</a:t>
            </a:r>
          </a:p>
        </p:txBody>
      </p:sp>
      <p:sp>
        <p:nvSpPr>
          <p:cNvPr id="7" name="Rectangle 6">
            <a:extLst>
              <a:ext uri="{FF2B5EF4-FFF2-40B4-BE49-F238E27FC236}">
                <a16:creationId xmlns:a16="http://schemas.microsoft.com/office/drawing/2014/main" id="{E9334800-1939-440B-AE4C-36394FADB89A}"/>
              </a:ext>
            </a:extLst>
          </p:cNvPr>
          <p:cNvSpPr>
            <a:spLocks noGrp="1"/>
          </p:cNvSpPr>
          <p:nvPr/>
        </p:nvSpPr>
        <p:spPr>
          <a:xfrm>
            <a:off x="841248" y="1389888"/>
            <a:ext cx="10515600" cy="228849"/>
          </a:xfrm>
          <a:prstGeom prst="rect">
            <a:avLst/>
          </a:prstGeom>
          <a:noFill/>
          <a:ln w="0">
            <a:noFill/>
            <a:prstDash val="solid"/>
          </a:ln>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sz="1650" b="0">
                <a:solidFill>
                  <a:srgbClr val="5A554B"/>
                </a:solidFill>
                <a:latin typeface="Arial"/>
                <a:ea typeface="Arial"/>
                <a:cs typeface="Arial"/>
              </a:defRPr>
            </a:pPr>
            <a:r>
              <a:rPr lang="en-US" sz="1450" b="0">
                <a:solidFill>
                  <a:srgbClr val="62544F"/>
                </a:solidFill>
                <a:latin typeface="Arial"/>
              </a:rPr>
              <a:t>Start with 4 now, prepare 4 next, and be selective with 2.</a:t>
            </a:r>
          </a:p>
        </p:txBody>
      </p:sp>
      <p:pic>
        <p:nvPicPr>
          <p:cNvPr id="49" name="Mistral company monogram — slide 6" descr="Mistral AI company monogram"/>
          <p:cNvPicPr>
            <a:picLocks noChangeAspect="1"/>
          </p:cNvPicPr>
          <p:nvPr/>
        </p:nvPicPr>
        <p:blipFill>
          <a:blip r:embed="rId3"/>
          <a:stretch>
            <a:fillRect/>
          </a:stretch>
        </p:blipFill>
        <p:spPr>
          <a:xfrm>
            <a:off x="11658600" y="182880"/>
            <a:ext cx="347472" cy="347472"/>
          </a:xfrm>
          <a:prstGeom prst="rect">
            <a:avLst/>
          </a:prstGeom>
          <a:ln/>
        </p:spPr>
      </p:pic>
      <p:sp>
        <p:nvSpPr>
          <p:cNvPr id="50" name="Rectangle 49"/>
          <p:cNvSpPr/>
          <p:nvPr/>
        </p:nvSpPr>
        <p:spPr>
          <a:xfrm>
            <a:off x="838618" y="1685484"/>
            <a:ext cx="10515600" cy="343274"/>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endParaRPr lang="en-US"/>
          </a:p>
        </p:txBody>
      </p:sp>
      <p:sp>
        <p:nvSpPr>
          <p:cNvPr id="51" name="TextBox 50"/>
          <p:cNvSpPr txBox="1">
            <a:spLocks/>
          </p:cNvSpPr>
          <p:nvPr/>
        </p:nvSpPr>
        <p:spPr>
          <a:xfrm>
            <a:off x="838618" y="1685484"/>
            <a:ext cx="1445895" cy="343274"/>
          </a:xfrm>
          <a:prstGeom prst="rect">
            <a:avLst/>
          </a:prstGeom>
          <a:noFill/>
        </p:spPr>
        <p:txBody>
          <a:bodyPr wrap="square" lIns="54864" tIns="0" rIns="54864" bIns="0" anchor="ctr">
            <a:noAutofit/>
          </a:bodyPr>
          <a:lstStyle/>
          <a:p>
            <a:pPr algn="l">
              <a:lnSpc>
                <a:spcPct val="90000"/>
              </a:lnSpc>
              <a:spcBef>
                <a:spcPts val="0"/>
              </a:spcBef>
              <a:spcAft>
                <a:spcPts val="0"/>
              </a:spcAft>
            </a:pPr>
            <a:r>
              <a:rPr lang="en-US" sz="1050" b="1">
                <a:solidFill>
                  <a:srgbClr val="FFF8F2"/>
                </a:solidFill>
                <a:latin typeface="Arial"/>
              </a:rPr>
              <a:t>ACCOUNT</a:t>
            </a:r>
          </a:p>
        </p:txBody>
      </p:sp>
      <p:sp>
        <p:nvSpPr>
          <p:cNvPr id="52" name="TextBox 51"/>
          <p:cNvSpPr txBox="1">
            <a:spLocks/>
          </p:cNvSpPr>
          <p:nvPr/>
        </p:nvSpPr>
        <p:spPr>
          <a:xfrm>
            <a:off x="2284513" y="1685484"/>
            <a:ext cx="2891790" cy="343274"/>
          </a:xfrm>
          <a:prstGeom prst="rect">
            <a:avLst/>
          </a:prstGeom>
          <a:noFill/>
        </p:spPr>
        <p:txBody>
          <a:bodyPr wrap="square" lIns="54864" tIns="0" rIns="54864" bIns="0" anchor="ctr">
            <a:noAutofit/>
          </a:bodyPr>
          <a:lstStyle/>
          <a:p>
            <a:pPr algn="l">
              <a:lnSpc>
                <a:spcPct val="90000"/>
              </a:lnSpc>
              <a:spcBef>
                <a:spcPts val="0"/>
              </a:spcBef>
              <a:spcAft>
                <a:spcPts val="0"/>
              </a:spcAft>
            </a:pPr>
            <a:r>
              <a:rPr lang="en-US" sz="1050" b="1">
                <a:solidFill>
                  <a:srgbClr val="FFF8F2"/>
                </a:solidFill>
                <a:latin typeface="Arial"/>
              </a:rPr>
              <a:t>WHY NOW</a:t>
            </a:r>
          </a:p>
        </p:txBody>
      </p:sp>
      <p:sp>
        <p:nvSpPr>
          <p:cNvPr id="53" name="TextBox 52"/>
          <p:cNvSpPr txBox="1">
            <a:spLocks/>
          </p:cNvSpPr>
          <p:nvPr/>
        </p:nvSpPr>
        <p:spPr>
          <a:xfrm>
            <a:off x="5176303" y="1685484"/>
            <a:ext cx="3549015" cy="343274"/>
          </a:xfrm>
          <a:prstGeom prst="rect">
            <a:avLst/>
          </a:prstGeom>
          <a:noFill/>
        </p:spPr>
        <p:txBody>
          <a:bodyPr wrap="square" lIns="54864" tIns="0" rIns="54864" bIns="0" anchor="ctr">
            <a:noAutofit/>
          </a:bodyPr>
          <a:lstStyle/>
          <a:p>
            <a:pPr algn="l">
              <a:lnSpc>
                <a:spcPct val="90000"/>
              </a:lnSpc>
              <a:spcBef>
                <a:spcPts val="0"/>
              </a:spcBef>
              <a:spcAft>
                <a:spcPts val="0"/>
              </a:spcAft>
            </a:pPr>
            <a:r>
              <a:rPr lang="en-US" sz="1050" b="1">
                <a:solidFill>
                  <a:srgbClr val="FFF8F2"/>
                </a:solidFill>
                <a:latin typeface="Arial"/>
              </a:rPr>
              <a:t>BEST FIRST USE</a:t>
            </a:r>
          </a:p>
        </p:txBody>
      </p:sp>
      <p:sp>
        <p:nvSpPr>
          <p:cNvPr id="54" name="TextBox 53"/>
          <p:cNvSpPr txBox="1">
            <a:spLocks/>
          </p:cNvSpPr>
          <p:nvPr/>
        </p:nvSpPr>
        <p:spPr>
          <a:xfrm>
            <a:off x="8725318" y="1685484"/>
            <a:ext cx="2628900" cy="343274"/>
          </a:xfrm>
          <a:prstGeom prst="rect">
            <a:avLst/>
          </a:prstGeom>
          <a:noFill/>
        </p:spPr>
        <p:txBody>
          <a:bodyPr wrap="square" lIns="54864" tIns="0" rIns="54864" bIns="0" anchor="ctr">
            <a:noAutofit/>
          </a:bodyPr>
          <a:lstStyle/>
          <a:p>
            <a:pPr algn="l">
              <a:lnSpc>
                <a:spcPct val="90000"/>
              </a:lnSpc>
              <a:spcBef>
                <a:spcPts val="0"/>
              </a:spcBef>
              <a:spcAft>
                <a:spcPts val="0"/>
              </a:spcAft>
            </a:pPr>
            <a:r>
              <a:rPr lang="en-US" sz="1050" b="1">
                <a:solidFill>
                  <a:srgbClr val="FFF8F2"/>
                </a:solidFill>
                <a:latin typeface="Arial"/>
              </a:rPr>
              <a:t>NEXT STEP</a:t>
            </a:r>
          </a:p>
        </p:txBody>
      </p:sp>
      <p:sp>
        <p:nvSpPr>
          <p:cNvPr id="55" name="Rectangle 54"/>
          <p:cNvSpPr/>
          <p:nvPr/>
        </p:nvSpPr>
        <p:spPr>
          <a:xfrm>
            <a:off x="838618" y="2028758"/>
            <a:ext cx="10515600" cy="171637"/>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endParaRPr lang="en-US"/>
          </a:p>
        </p:txBody>
      </p:sp>
      <p:sp>
        <p:nvSpPr>
          <p:cNvPr id="56" name="TextBox 55"/>
          <p:cNvSpPr txBox="1"/>
          <p:nvPr/>
        </p:nvSpPr>
        <p:spPr>
          <a:xfrm>
            <a:off x="891196" y="2028758"/>
            <a:ext cx="1884045" cy="171637"/>
          </a:xfrm>
          <a:prstGeom prst="rect">
            <a:avLst/>
          </a:prstGeom>
          <a:noFill/>
        </p:spPr>
        <p:txBody>
          <a:bodyPr wrap="square" lIns="0" tIns="0" rIns="0" bIns="0" anchor="ctr">
            <a:noAutofit/>
          </a:bodyPr>
          <a:lstStyle/>
          <a:p>
            <a:pPr algn="l">
              <a:lnSpc>
                <a:spcPct val="90000"/>
              </a:lnSpc>
              <a:spcBef>
                <a:spcPts val="0"/>
              </a:spcBef>
              <a:spcAft>
                <a:spcPts val="0"/>
              </a:spcAft>
            </a:pPr>
            <a:r>
              <a:rPr lang="en-US" sz="969" b="1">
                <a:solidFill>
                  <a:srgbClr val="FFF8F2"/>
                </a:solidFill>
                <a:latin typeface="Arial"/>
              </a:rPr>
              <a:t>START NOW</a:t>
            </a:r>
          </a:p>
        </p:txBody>
      </p:sp>
      <p:sp>
        <p:nvSpPr>
          <p:cNvPr id="57" name="TextBox 56"/>
          <p:cNvSpPr txBox="1"/>
          <p:nvPr/>
        </p:nvSpPr>
        <p:spPr>
          <a:xfrm>
            <a:off x="2810293" y="2028758"/>
            <a:ext cx="4644390" cy="171637"/>
          </a:xfrm>
          <a:prstGeom prst="rect">
            <a:avLst/>
          </a:prstGeom>
          <a:noFill/>
        </p:spPr>
        <p:txBody>
          <a:bodyPr wrap="square" lIns="0" tIns="0" rIns="0" bIns="0" anchor="ctr">
            <a:noAutofit/>
          </a:bodyPr>
          <a:lstStyle/>
          <a:p>
            <a:pPr algn="l">
              <a:lnSpc>
                <a:spcPct val="90000"/>
              </a:lnSpc>
              <a:spcBef>
                <a:spcPts val="0"/>
              </a:spcBef>
              <a:spcAft>
                <a:spcPts val="0"/>
              </a:spcAft>
            </a:pPr>
            <a:r>
              <a:rPr lang="en-US" sz="900" b="0">
                <a:solidFill>
                  <a:srgbClr val="FFF8F2"/>
                </a:solidFill>
                <a:latin typeface="Arial"/>
              </a:rPr>
              <a:t>4 accounts with a clear need and timing</a:t>
            </a:r>
          </a:p>
        </p:txBody>
      </p:sp>
      <p:sp>
        <p:nvSpPr>
          <p:cNvPr id="58" name="TextBox 57"/>
          <p:cNvSpPr txBox="1"/>
          <p:nvPr/>
        </p:nvSpPr>
        <p:spPr>
          <a:xfrm>
            <a:off x="838618" y="2200395"/>
            <a:ext cx="1445895" cy="463419"/>
          </a:xfrm>
          <a:prstGeom prst="rect">
            <a:avLst/>
          </a:prstGeom>
          <a:solidFill>
            <a:srgbClr val="FFF8F2"/>
          </a:solidFill>
          <a:ln>
            <a:noFill/>
          </a:ln>
        </p:spPr>
        <p:txBody>
          <a:bodyPr wrap="square" lIns="54864" tIns="0" rIns="54864" bIns="0" anchor="ctr">
            <a:noAutofit/>
          </a:bodyPr>
          <a:lstStyle/>
          <a:p>
            <a:pPr algn="l">
              <a:lnSpc>
                <a:spcPct val="88000"/>
              </a:lnSpc>
              <a:spcBef>
                <a:spcPts val="0"/>
              </a:spcBef>
              <a:spcAft>
                <a:spcPts val="0"/>
              </a:spcAft>
            </a:pPr>
            <a:r>
              <a:rPr lang="en-US" sz="1080" b="1">
                <a:solidFill>
                  <a:srgbClr val="FA500E"/>
                </a:solidFill>
                <a:latin typeface="Arial"/>
              </a:rPr>
              <a:t>CRÉDIT AGRICOLE</a:t>
            </a:r>
          </a:p>
          <a:p>
            <a:pPr algn="l">
              <a:lnSpc>
                <a:spcPct val="88000"/>
              </a:lnSpc>
              <a:spcBef>
                <a:spcPts val="0"/>
              </a:spcBef>
              <a:spcAft>
                <a:spcPts val="0"/>
              </a:spcAft>
            </a:pPr>
            <a:r>
              <a:rPr lang="en-US" sz="969" b="1">
                <a:solidFill>
                  <a:srgbClr val="FA500E"/>
                </a:solidFill>
                <a:latin typeface="Arial"/>
              </a:rPr>
              <a:t>#1 PRIORITY</a:t>
            </a:r>
          </a:p>
        </p:txBody>
      </p:sp>
      <p:sp>
        <p:nvSpPr>
          <p:cNvPr id="59" name="TextBox 58"/>
          <p:cNvSpPr txBox="1"/>
          <p:nvPr/>
        </p:nvSpPr>
        <p:spPr>
          <a:xfrm>
            <a:off x="2284513" y="2200395"/>
            <a:ext cx="2891790" cy="463419"/>
          </a:xfrm>
          <a:prstGeom prst="rect">
            <a:avLst/>
          </a:prstGeom>
          <a:solidFill>
            <a:srgbClr val="FFF8F2"/>
          </a:solidFill>
          <a:ln>
            <a:noFill/>
          </a:ln>
        </p:spPr>
        <p:txBody>
          <a:bodyPr wrap="square" lIns="54864" tIns="0" rIns="54864" bIns="0" anchor="ctr">
            <a:noAutofit/>
          </a:bodyPr>
          <a:lstStyle/>
          <a:p>
            <a:pPr algn="l">
              <a:lnSpc>
                <a:spcPct val="88000"/>
              </a:lnSpc>
              <a:spcBef>
                <a:spcPts val="0"/>
              </a:spcBef>
              <a:spcAft>
                <a:spcPts val="0"/>
              </a:spcAft>
            </a:pPr>
            <a:r>
              <a:rPr lang="en-US" sz="1080" b="1">
                <a:solidFill>
                  <a:srgbClr val="161623"/>
                </a:solidFill>
                <a:latin typeface="Arial"/>
              </a:rPr>
              <a:t>€500M AI plan; customer-check efficiency goal</a:t>
            </a:r>
          </a:p>
          <a:p>
            <a:pPr algn="l">
              <a:lnSpc>
                <a:spcPct val="88000"/>
              </a:lnSpc>
              <a:spcBef>
                <a:spcPts val="0"/>
              </a:spcBef>
              <a:spcAft>
                <a:spcPts val="0"/>
              </a:spcAft>
            </a:pPr>
            <a:r>
              <a:rPr lang="en-US" sz="969" b="0">
                <a:solidFill>
                  <a:srgbClr val="514743"/>
                </a:solidFill>
                <a:latin typeface="Arial"/>
              </a:rPr>
              <a:t>Runs sensitive work on private cloud</a:t>
            </a:r>
          </a:p>
        </p:txBody>
      </p:sp>
      <p:sp>
        <p:nvSpPr>
          <p:cNvPr id="60" name="TextBox 59"/>
          <p:cNvSpPr txBox="1">
            <a:spLocks/>
          </p:cNvSpPr>
          <p:nvPr/>
        </p:nvSpPr>
        <p:spPr>
          <a:xfrm>
            <a:off x="5176303" y="2200395"/>
            <a:ext cx="3549015" cy="463419"/>
          </a:xfrm>
          <a:prstGeom prst="rect">
            <a:avLst/>
          </a:prstGeom>
          <a:solidFill>
            <a:srgbClr val="FFF8F2"/>
          </a:solidFill>
          <a:ln>
            <a:noFill/>
          </a:ln>
        </p:spPr>
        <p:txBody>
          <a:bodyPr wrap="square" lIns="54864" tIns="0" rIns="54864" bIns="0" anchor="ctr">
            <a:noAutofit/>
          </a:bodyPr>
          <a:lstStyle/>
          <a:p>
            <a:pPr algn="l">
              <a:lnSpc>
                <a:spcPct val="88000"/>
              </a:lnSpc>
              <a:spcBef>
                <a:spcPts val="0"/>
              </a:spcBef>
              <a:spcAft>
                <a:spcPts val="0"/>
              </a:spcAft>
            </a:pPr>
            <a:r>
              <a:rPr lang="en-US" sz="1080" b="1">
                <a:solidFill>
                  <a:srgbClr val="161623"/>
                </a:solidFill>
                <a:latin typeface="Arial"/>
              </a:rPr>
              <a:t>Read customer-check documents</a:t>
            </a:r>
          </a:p>
          <a:p>
            <a:pPr algn="l">
              <a:lnSpc>
                <a:spcPct val="88000"/>
              </a:lnSpc>
              <a:spcBef>
                <a:spcPts val="0"/>
              </a:spcBef>
              <a:spcAft>
                <a:spcPts val="0"/>
              </a:spcAft>
            </a:pPr>
            <a:r>
              <a:rPr lang="en-US" sz="969" b="1">
                <a:solidFill>
                  <a:srgbClr val="FA500E"/>
                </a:solidFill>
                <a:latin typeface="Arial"/>
              </a:rPr>
              <a:t>Route checks for human review</a:t>
            </a:r>
          </a:p>
        </p:txBody>
      </p:sp>
      <p:sp>
        <p:nvSpPr>
          <p:cNvPr id="61" name="TextBox 60"/>
          <p:cNvSpPr txBox="1">
            <a:spLocks/>
          </p:cNvSpPr>
          <p:nvPr/>
        </p:nvSpPr>
        <p:spPr>
          <a:xfrm>
            <a:off x="8725318" y="2200395"/>
            <a:ext cx="2628900" cy="463419"/>
          </a:xfrm>
          <a:prstGeom prst="rect">
            <a:avLst/>
          </a:prstGeom>
          <a:solidFill>
            <a:srgbClr val="FFF8F2"/>
          </a:solidFill>
          <a:ln>
            <a:noFill/>
          </a:ln>
        </p:spPr>
        <p:txBody>
          <a:bodyPr wrap="square" lIns="54864" tIns="0" rIns="54864" bIns="0" anchor="ctr">
            <a:noAutofit/>
          </a:bodyPr>
          <a:lstStyle/>
          <a:p>
            <a:pPr algn="l">
              <a:lnSpc>
                <a:spcPct val="88000"/>
              </a:lnSpc>
              <a:spcBef>
                <a:spcPts val="0"/>
              </a:spcBef>
              <a:spcAft>
                <a:spcPts val="0"/>
              </a:spcAft>
            </a:pPr>
            <a:r>
              <a:rPr lang="en-US" sz="1080" b="0">
                <a:solidFill>
                  <a:srgbClr val="514743"/>
                </a:solidFill>
                <a:latin typeface="Arial"/>
              </a:rPr>
              <a:t>Test one customer-check workflow</a:t>
            </a:r>
          </a:p>
          <a:p>
            <a:pPr algn="l">
              <a:lnSpc>
                <a:spcPct val="88000"/>
              </a:lnSpc>
              <a:spcBef>
                <a:spcPts val="0"/>
              </a:spcBef>
              <a:spcAft>
                <a:spcPts val="0"/>
              </a:spcAft>
            </a:pPr>
            <a:endParaRPr lang="en-US" sz="980" b="0">
              <a:solidFill>
                <a:srgbClr val="62544F"/>
              </a:solidFill>
              <a:latin typeface="Arial"/>
            </a:endParaRPr>
          </a:p>
        </p:txBody>
      </p:sp>
      <p:sp>
        <p:nvSpPr>
          <p:cNvPr id="62" name="Rectangle 61"/>
          <p:cNvSpPr>
            <a:spLocks/>
          </p:cNvSpPr>
          <p:nvPr/>
        </p:nvSpPr>
        <p:spPr>
          <a:xfrm>
            <a:off x="841248" y="2663814"/>
            <a:ext cx="10515600" cy="5960"/>
          </a:xfrm>
          <a:prstGeom prst="rect">
            <a:avLst/>
          </a:prstGeom>
          <a:solidFill>
            <a:srgbClr val="E8C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82000"/>
              </a:lnSpc>
              <a:spcBef>
                <a:spcPts val="0"/>
              </a:spcBef>
              <a:spcAft>
                <a:spcPts val="0"/>
              </a:spcAft>
            </a:pPr>
            <a:endParaRPr lang="en-US"/>
          </a:p>
        </p:txBody>
      </p:sp>
      <p:sp>
        <p:nvSpPr>
          <p:cNvPr id="63" name="TextBox 62"/>
          <p:cNvSpPr txBox="1"/>
          <p:nvPr/>
        </p:nvSpPr>
        <p:spPr>
          <a:xfrm>
            <a:off x="838618" y="2663814"/>
            <a:ext cx="1445895" cy="463419"/>
          </a:xfrm>
          <a:prstGeom prst="rect">
            <a:avLst/>
          </a:prstGeom>
          <a:solidFill>
            <a:srgbClr val="FDF3ED"/>
          </a:solidFill>
          <a:ln>
            <a:noFill/>
          </a:ln>
        </p:spPr>
        <p:txBody>
          <a:bodyPr wrap="square" lIns="54864" tIns="0" rIns="54864" bIns="0" anchor="ctr">
            <a:noAutofit/>
          </a:bodyPr>
          <a:lstStyle/>
          <a:p>
            <a:pPr algn="l">
              <a:lnSpc>
                <a:spcPct val="88000"/>
              </a:lnSpc>
              <a:spcBef>
                <a:spcPts val="0"/>
              </a:spcBef>
              <a:spcAft>
                <a:spcPts val="0"/>
              </a:spcAft>
            </a:pPr>
            <a:r>
              <a:rPr lang="en-US" sz="1080" b="1">
                <a:solidFill>
                  <a:srgbClr val="FA500E"/>
                </a:solidFill>
                <a:latin typeface="Arial"/>
              </a:rPr>
              <a:t>SOCIÉTÉ GÉNÉRALE</a:t>
            </a:r>
          </a:p>
          <a:p>
            <a:pPr algn="l">
              <a:lnSpc>
                <a:spcPct val="88000"/>
              </a:lnSpc>
              <a:spcBef>
                <a:spcPts val="0"/>
              </a:spcBef>
              <a:spcAft>
                <a:spcPts val="0"/>
              </a:spcAft>
            </a:pPr>
            <a:r>
              <a:rPr lang="en-US" sz="969" b="1">
                <a:solidFill>
                  <a:srgbClr val="FA500E"/>
                </a:solidFill>
                <a:latin typeface="Arial"/>
              </a:rPr>
              <a:t>#2 PRIORITY</a:t>
            </a:r>
          </a:p>
        </p:txBody>
      </p:sp>
      <p:sp>
        <p:nvSpPr>
          <p:cNvPr id="64" name="TextBox 63"/>
          <p:cNvSpPr txBox="1"/>
          <p:nvPr/>
        </p:nvSpPr>
        <p:spPr>
          <a:xfrm>
            <a:off x="2284513" y="2663814"/>
            <a:ext cx="2891790" cy="463419"/>
          </a:xfrm>
          <a:prstGeom prst="rect">
            <a:avLst/>
          </a:prstGeom>
          <a:solidFill>
            <a:srgbClr val="FDF3ED"/>
          </a:solidFill>
          <a:ln>
            <a:noFill/>
          </a:ln>
        </p:spPr>
        <p:txBody>
          <a:bodyPr wrap="square" lIns="54864" tIns="0" rIns="54864" bIns="0" anchor="ctr">
            <a:noAutofit/>
          </a:bodyPr>
          <a:lstStyle/>
          <a:p>
            <a:pPr algn="l">
              <a:lnSpc>
                <a:spcPct val="88000"/>
              </a:lnSpc>
              <a:spcBef>
                <a:spcPts val="0"/>
              </a:spcBef>
              <a:spcAft>
                <a:spcPts val="0"/>
              </a:spcAft>
            </a:pPr>
            <a:r>
              <a:rPr lang="en-US" sz="1080" b="1">
                <a:solidFill>
                  <a:srgbClr val="161623"/>
                </a:solidFill>
                <a:latin typeface="Arial"/>
              </a:rPr>
              <a:t>~200 AI uses live; new Markets AI office</a:t>
            </a:r>
          </a:p>
          <a:p>
            <a:pPr algn="l">
              <a:lnSpc>
                <a:spcPct val="88000"/>
              </a:lnSpc>
              <a:spcBef>
                <a:spcPts val="0"/>
              </a:spcBef>
              <a:spcAft>
                <a:spcPts val="0"/>
              </a:spcAft>
            </a:pPr>
            <a:r>
              <a:rPr lang="en-US" sz="969" b="0">
                <a:solidFill>
                  <a:srgbClr val="514743"/>
                </a:solidFill>
                <a:latin typeface="Arial"/>
              </a:rPr>
              <a:t>Already has its own model stack</a:t>
            </a:r>
          </a:p>
        </p:txBody>
      </p:sp>
      <p:sp>
        <p:nvSpPr>
          <p:cNvPr id="65" name="TextBox 64"/>
          <p:cNvSpPr txBox="1"/>
          <p:nvPr/>
        </p:nvSpPr>
        <p:spPr>
          <a:xfrm>
            <a:off x="5176303" y="2663814"/>
            <a:ext cx="3549015" cy="463419"/>
          </a:xfrm>
          <a:prstGeom prst="rect">
            <a:avLst/>
          </a:prstGeom>
          <a:solidFill>
            <a:srgbClr val="FDF3ED"/>
          </a:solidFill>
          <a:ln>
            <a:noFill/>
          </a:ln>
        </p:spPr>
        <p:txBody>
          <a:bodyPr wrap="square" lIns="54864" tIns="0" rIns="54864" bIns="0" anchor="ctr">
            <a:noAutofit/>
          </a:bodyPr>
          <a:lstStyle/>
          <a:p>
            <a:pPr algn="l">
              <a:lnSpc>
                <a:spcPct val="88000"/>
              </a:lnSpc>
              <a:spcBef>
                <a:spcPts val="0"/>
              </a:spcBef>
              <a:spcAft>
                <a:spcPts val="0"/>
              </a:spcAft>
            </a:pPr>
            <a:r>
              <a:rPr lang="en-US" sz="1080" b="1">
                <a:solidFill>
                  <a:srgbClr val="161623"/>
                </a:solidFill>
                <a:latin typeface="Arial"/>
              </a:rPr>
              <a:t>Compare research and financial documents</a:t>
            </a:r>
          </a:p>
          <a:p>
            <a:pPr algn="l">
              <a:lnSpc>
                <a:spcPct val="88000"/>
              </a:lnSpc>
              <a:spcBef>
                <a:spcPts val="0"/>
              </a:spcBef>
              <a:spcAft>
                <a:spcPts val="0"/>
              </a:spcAft>
            </a:pPr>
            <a:r>
              <a:rPr lang="en-US" sz="969" b="1">
                <a:solidFill>
                  <a:srgbClr val="FA500E"/>
                </a:solidFill>
                <a:latin typeface="Arial"/>
              </a:rPr>
              <a:t>Measure quality against current models</a:t>
            </a:r>
          </a:p>
        </p:txBody>
      </p:sp>
      <p:sp>
        <p:nvSpPr>
          <p:cNvPr id="66" name="TextBox 65"/>
          <p:cNvSpPr txBox="1">
            <a:spLocks/>
          </p:cNvSpPr>
          <p:nvPr/>
        </p:nvSpPr>
        <p:spPr>
          <a:xfrm>
            <a:off x="8725318" y="2663814"/>
            <a:ext cx="2628900" cy="463419"/>
          </a:xfrm>
          <a:prstGeom prst="rect">
            <a:avLst/>
          </a:prstGeom>
          <a:solidFill>
            <a:srgbClr val="FDF3ED"/>
          </a:solidFill>
          <a:ln>
            <a:noFill/>
          </a:ln>
        </p:spPr>
        <p:txBody>
          <a:bodyPr wrap="square" lIns="54864" tIns="0" rIns="54864" bIns="0" anchor="ctr">
            <a:noAutofit/>
          </a:bodyPr>
          <a:lstStyle/>
          <a:p>
            <a:pPr algn="l">
              <a:lnSpc>
                <a:spcPct val="88000"/>
              </a:lnSpc>
              <a:spcBef>
                <a:spcPts val="0"/>
              </a:spcBef>
              <a:spcAft>
                <a:spcPts val="0"/>
              </a:spcAft>
            </a:pPr>
            <a:r>
              <a:rPr lang="en-US" sz="1080" b="0">
                <a:solidFill>
                  <a:srgbClr val="514743"/>
                </a:solidFill>
                <a:latin typeface="Arial"/>
              </a:rPr>
              <a:t>Test one research/document task</a:t>
            </a:r>
          </a:p>
          <a:p>
            <a:pPr algn="l">
              <a:lnSpc>
                <a:spcPct val="88000"/>
              </a:lnSpc>
              <a:spcBef>
                <a:spcPts val="0"/>
              </a:spcBef>
              <a:spcAft>
                <a:spcPts val="0"/>
              </a:spcAft>
            </a:pPr>
            <a:endParaRPr lang="en-US" sz="980" b="0">
              <a:solidFill>
                <a:srgbClr val="62544F"/>
              </a:solidFill>
              <a:latin typeface="Arial"/>
            </a:endParaRPr>
          </a:p>
        </p:txBody>
      </p:sp>
      <p:sp>
        <p:nvSpPr>
          <p:cNvPr id="67" name="Rectangle 66"/>
          <p:cNvSpPr/>
          <p:nvPr/>
        </p:nvSpPr>
        <p:spPr>
          <a:xfrm>
            <a:off x="841248" y="3127232"/>
            <a:ext cx="10515600" cy="5960"/>
          </a:xfrm>
          <a:prstGeom prst="rect">
            <a:avLst/>
          </a:prstGeom>
          <a:solidFill>
            <a:srgbClr val="E8C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82000"/>
              </a:lnSpc>
              <a:spcBef>
                <a:spcPts val="0"/>
              </a:spcBef>
              <a:spcAft>
                <a:spcPts val="0"/>
              </a:spcAft>
            </a:pPr>
            <a:endParaRPr lang="en-US"/>
          </a:p>
        </p:txBody>
      </p:sp>
      <p:sp>
        <p:nvSpPr>
          <p:cNvPr id="68" name="TextBox 67"/>
          <p:cNvSpPr txBox="1"/>
          <p:nvPr/>
        </p:nvSpPr>
        <p:spPr>
          <a:xfrm>
            <a:off x="838618" y="3127232"/>
            <a:ext cx="1445895" cy="463419"/>
          </a:xfrm>
          <a:prstGeom prst="rect">
            <a:avLst/>
          </a:prstGeom>
          <a:solidFill>
            <a:srgbClr val="FFF8F2"/>
          </a:solidFill>
          <a:ln>
            <a:noFill/>
          </a:ln>
        </p:spPr>
        <p:txBody>
          <a:bodyPr wrap="square" lIns="54864" tIns="0" rIns="54864" bIns="0" anchor="ctr">
            <a:noAutofit/>
          </a:bodyPr>
          <a:lstStyle/>
          <a:p>
            <a:pPr algn="l">
              <a:lnSpc>
                <a:spcPct val="88000"/>
              </a:lnSpc>
              <a:spcBef>
                <a:spcPts val="0"/>
              </a:spcBef>
              <a:spcAft>
                <a:spcPts val="0"/>
              </a:spcAft>
            </a:pPr>
            <a:r>
              <a:rPr lang="en-US" sz="1080" b="1">
                <a:solidFill>
                  <a:srgbClr val="FA500E"/>
                </a:solidFill>
                <a:latin typeface="Arial"/>
              </a:rPr>
              <a:t>SANTANDER</a:t>
            </a:r>
          </a:p>
          <a:p>
            <a:pPr algn="l">
              <a:lnSpc>
                <a:spcPct val="88000"/>
              </a:lnSpc>
              <a:spcBef>
                <a:spcPts val="0"/>
              </a:spcBef>
              <a:spcAft>
                <a:spcPts val="0"/>
              </a:spcAft>
            </a:pPr>
            <a:r>
              <a:rPr lang="en-US" sz="969" b="1">
                <a:solidFill>
                  <a:srgbClr val="FA500E"/>
                </a:solidFill>
                <a:latin typeface="Arial"/>
              </a:rPr>
              <a:t>COMPETITIVE</a:t>
            </a:r>
          </a:p>
        </p:txBody>
      </p:sp>
      <p:sp>
        <p:nvSpPr>
          <p:cNvPr id="69" name="TextBox 68"/>
          <p:cNvSpPr txBox="1"/>
          <p:nvPr/>
        </p:nvSpPr>
        <p:spPr>
          <a:xfrm>
            <a:off x="2284513" y="3127232"/>
            <a:ext cx="2891790" cy="463419"/>
          </a:xfrm>
          <a:prstGeom prst="rect">
            <a:avLst/>
          </a:prstGeom>
          <a:solidFill>
            <a:srgbClr val="FFF8F2"/>
          </a:solidFill>
          <a:ln>
            <a:noFill/>
          </a:ln>
        </p:spPr>
        <p:txBody>
          <a:bodyPr wrap="square" lIns="54864" tIns="0" rIns="54864" bIns="0" anchor="ctr">
            <a:noAutofit/>
          </a:bodyPr>
          <a:lstStyle/>
          <a:p>
            <a:pPr algn="l">
              <a:lnSpc>
                <a:spcPct val="88000"/>
              </a:lnSpc>
              <a:spcBef>
                <a:spcPts val="0"/>
              </a:spcBef>
              <a:spcAft>
                <a:spcPts val="0"/>
              </a:spcAft>
            </a:pPr>
            <a:r>
              <a:rPr lang="en-US" sz="1080" b="1">
                <a:solidFill>
                  <a:srgbClr val="161623"/>
                </a:solidFill>
                <a:latin typeface="Arial"/>
              </a:rPr>
              <a:t>185k employees have AI; 100k money-laundering alerts/year</a:t>
            </a:r>
          </a:p>
          <a:p>
            <a:pPr algn="l">
              <a:lnSpc>
                <a:spcPct val="88000"/>
              </a:lnSpc>
              <a:spcBef>
                <a:spcPts val="0"/>
              </a:spcBef>
              <a:spcAft>
                <a:spcPts val="0"/>
              </a:spcAft>
            </a:pPr>
            <a:r>
              <a:rPr lang="en-US" sz="969" b="0">
                <a:solidFill>
                  <a:srgbClr val="514743"/>
                </a:solidFill>
                <a:latin typeface="Arial"/>
              </a:rPr>
              <a:t>Uses several AI providers</a:t>
            </a:r>
          </a:p>
        </p:txBody>
      </p:sp>
      <p:sp>
        <p:nvSpPr>
          <p:cNvPr id="70" name="TextBox 69"/>
          <p:cNvSpPr txBox="1"/>
          <p:nvPr/>
        </p:nvSpPr>
        <p:spPr>
          <a:xfrm>
            <a:off x="5176303" y="3127232"/>
            <a:ext cx="3549015" cy="463419"/>
          </a:xfrm>
          <a:prstGeom prst="rect">
            <a:avLst/>
          </a:prstGeom>
          <a:solidFill>
            <a:srgbClr val="FFF8F2"/>
          </a:solidFill>
          <a:ln>
            <a:noFill/>
          </a:ln>
        </p:spPr>
        <p:txBody>
          <a:bodyPr wrap="square" lIns="54864" tIns="0" rIns="54864" bIns="0" anchor="ctr">
            <a:noAutofit/>
          </a:bodyPr>
          <a:lstStyle/>
          <a:p>
            <a:pPr algn="l">
              <a:lnSpc>
                <a:spcPct val="88000"/>
              </a:lnSpc>
              <a:spcBef>
                <a:spcPts val="0"/>
              </a:spcBef>
              <a:spcAft>
                <a:spcPts val="0"/>
              </a:spcAft>
            </a:pPr>
            <a:r>
              <a:rPr lang="en-US" sz="1080" b="1">
                <a:solidFill>
                  <a:srgbClr val="161623"/>
                </a:solidFill>
                <a:latin typeface="Arial"/>
              </a:rPr>
              <a:t>Review a past money-laundering/customer-check case</a:t>
            </a:r>
          </a:p>
          <a:p>
            <a:pPr algn="l">
              <a:lnSpc>
                <a:spcPct val="88000"/>
              </a:lnSpc>
              <a:spcBef>
                <a:spcPts val="0"/>
              </a:spcBef>
              <a:spcAft>
                <a:spcPts val="0"/>
              </a:spcAft>
            </a:pPr>
            <a:r>
              <a:rPr lang="en-US" sz="969" b="1">
                <a:solidFill>
                  <a:srgbClr val="FA500E"/>
                </a:solidFill>
                <a:latin typeface="Arial"/>
              </a:rPr>
              <a:t>Work inside the current AI setup</a:t>
            </a:r>
          </a:p>
        </p:txBody>
      </p:sp>
      <p:sp>
        <p:nvSpPr>
          <p:cNvPr id="71" name="TextBox 70"/>
          <p:cNvSpPr txBox="1"/>
          <p:nvPr/>
        </p:nvSpPr>
        <p:spPr>
          <a:xfrm>
            <a:off x="8725318" y="3127232"/>
            <a:ext cx="2628900" cy="463419"/>
          </a:xfrm>
          <a:prstGeom prst="rect">
            <a:avLst/>
          </a:prstGeom>
          <a:solidFill>
            <a:srgbClr val="FFF8F2"/>
          </a:solidFill>
          <a:ln>
            <a:noFill/>
          </a:ln>
        </p:spPr>
        <p:txBody>
          <a:bodyPr wrap="square" lIns="54864" tIns="0" rIns="54864" bIns="0" anchor="ctr">
            <a:noAutofit/>
          </a:bodyPr>
          <a:lstStyle/>
          <a:p>
            <a:pPr algn="l">
              <a:lnSpc>
                <a:spcPct val="88000"/>
              </a:lnSpc>
              <a:spcBef>
                <a:spcPts val="0"/>
              </a:spcBef>
              <a:spcAft>
                <a:spcPts val="0"/>
              </a:spcAft>
            </a:pPr>
            <a:r>
              <a:rPr lang="en-US" sz="1080" b="0">
                <a:solidFill>
                  <a:srgbClr val="514743"/>
                </a:solidFill>
                <a:latin typeface="Arial"/>
              </a:rPr>
              <a:t>Compare results with current models</a:t>
            </a:r>
          </a:p>
          <a:p>
            <a:pPr algn="l">
              <a:lnSpc>
                <a:spcPct val="88000"/>
              </a:lnSpc>
              <a:spcBef>
                <a:spcPts val="0"/>
              </a:spcBef>
              <a:spcAft>
                <a:spcPts val="0"/>
              </a:spcAft>
            </a:pPr>
            <a:endParaRPr lang="en-US" sz="980" b="0">
              <a:solidFill>
                <a:srgbClr val="62544F"/>
              </a:solidFill>
              <a:latin typeface="Arial"/>
            </a:endParaRPr>
          </a:p>
        </p:txBody>
      </p:sp>
      <p:sp>
        <p:nvSpPr>
          <p:cNvPr id="72" name="Rectangle 71"/>
          <p:cNvSpPr/>
          <p:nvPr/>
        </p:nvSpPr>
        <p:spPr>
          <a:xfrm>
            <a:off x="841248" y="3590652"/>
            <a:ext cx="10515600" cy="5960"/>
          </a:xfrm>
          <a:prstGeom prst="rect">
            <a:avLst/>
          </a:prstGeom>
          <a:solidFill>
            <a:srgbClr val="E8C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82000"/>
              </a:lnSpc>
              <a:spcBef>
                <a:spcPts val="0"/>
              </a:spcBef>
              <a:spcAft>
                <a:spcPts val="0"/>
              </a:spcAft>
            </a:pPr>
            <a:endParaRPr lang="en-US"/>
          </a:p>
        </p:txBody>
      </p:sp>
      <p:sp>
        <p:nvSpPr>
          <p:cNvPr id="73" name="TextBox 72"/>
          <p:cNvSpPr txBox="1">
            <a:spLocks/>
          </p:cNvSpPr>
          <p:nvPr/>
        </p:nvSpPr>
        <p:spPr>
          <a:xfrm>
            <a:off x="838618" y="3590652"/>
            <a:ext cx="1445895" cy="463419"/>
          </a:xfrm>
          <a:prstGeom prst="rect">
            <a:avLst/>
          </a:prstGeom>
          <a:solidFill>
            <a:srgbClr val="FDF3ED"/>
          </a:solidFill>
          <a:ln>
            <a:noFill/>
          </a:ln>
        </p:spPr>
        <p:txBody>
          <a:bodyPr wrap="square" lIns="54864" tIns="0" rIns="54864" bIns="0" anchor="ctr">
            <a:noAutofit/>
          </a:bodyPr>
          <a:lstStyle/>
          <a:p>
            <a:pPr algn="l">
              <a:lnSpc>
                <a:spcPct val="88000"/>
              </a:lnSpc>
              <a:spcBef>
                <a:spcPts val="0"/>
              </a:spcBef>
              <a:spcAft>
                <a:spcPts val="0"/>
              </a:spcAft>
            </a:pPr>
            <a:r>
              <a:rPr lang="en-US" sz="1080" b="1">
                <a:solidFill>
                  <a:srgbClr val="FA500E"/>
                </a:solidFill>
                <a:latin typeface="Arial"/>
              </a:rPr>
              <a:t>FAB</a:t>
            </a:r>
          </a:p>
          <a:p>
            <a:pPr algn="l">
              <a:lnSpc>
                <a:spcPct val="88000"/>
              </a:lnSpc>
              <a:spcBef>
                <a:spcPts val="0"/>
              </a:spcBef>
              <a:spcAft>
                <a:spcPts val="0"/>
              </a:spcAft>
            </a:pPr>
            <a:r>
              <a:rPr lang="en-US" sz="969" b="1">
                <a:solidFill>
                  <a:srgbClr val="FA500E"/>
                </a:solidFill>
                <a:latin typeface="Arial"/>
              </a:rPr>
              <a:t>START NOW</a:t>
            </a:r>
          </a:p>
        </p:txBody>
      </p:sp>
      <p:sp>
        <p:nvSpPr>
          <p:cNvPr id="74" name="TextBox 73"/>
          <p:cNvSpPr txBox="1"/>
          <p:nvPr/>
        </p:nvSpPr>
        <p:spPr>
          <a:xfrm>
            <a:off x="2284513" y="3590652"/>
            <a:ext cx="2891790" cy="463419"/>
          </a:xfrm>
          <a:prstGeom prst="rect">
            <a:avLst/>
          </a:prstGeom>
          <a:solidFill>
            <a:srgbClr val="FDF3ED"/>
          </a:solidFill>
          <a:ln>
            <a:noFill/>
          </a:ln>
        </p:spPr>
        <p:txBody>
          <a:bodyPr wrap="square" lIns="54864" tIns="0" rIns="54864" bIns="0" anchor="ctr">
            <a:noAutofit/>
          </a:bodyPr>
          <a:lstStyle/>
          <a:p>
            <a:pPr algn="l">
              <a:lnSpc>
                <a:spcPct val="88000"/>
              </a:lnSpc>
              <a:spcBef>
                <a:spcPts val="0"/>
              </a:spcBef>
              <a:spcAft>
                <a:spcPts val="0"/>
              </a:spcAft>
            </a:pPr>
            <a:r>
              <a:rPr lang="en-US" sz="1080" b="1">
                <a:solidFill>
                  <a:srgbClr val="161623"/>
                </a:solidFill>
                <a:latin typeface="Arial"/>
              </a:rPr>
              <a:t>30+ AI-agent uses; 20% productivity gain</a:t>
            </a:r>
          </a:p>
          <a:p>
            <a:pPr algn="l">
              <a:lnSpc>
                <a:spcPct val="88000"/>
              </a:lnSpc>
              <a:spcBef>
                <a:spcPts val="0"/>
              </a:spcBef>
              <a:spcAft>
                <a:spcPts val="0"/>
              </a:spcAft>
            </a:pPr>
            <a:r>
              <a:rPr lang="en-US" sz="969" b="0">
                <a:solidFill>
                  <a:srgbClr val="514743"/>
                </a:solidFill>
                <a:latin typeface="Arial"/>
              </a:rPr>
              <a:t>Strong enterprise data platform</a:t>
            </a:r>
          </a:p>
        </p:txBody>
      </p:sp>
      <p:sp>
        <p:nvSpPr>
          <p:cNvPr id="75" name="TextBox 74"/>
          <p:cNvSpPr txBox="1"/>
          <p:nvPr/>
        </p:nvSpPr>
        <p:spPr>
          <a:xfrm>
            <a:off x="5176303" y="3590652"/>
            <a:ext cx="3549015" cy="463419"/>
          </a:xfrm>
          <a:prstGeom prst="rect">
            <a:avLst/>
          </a:prstGeom>
          <a:solidFill>
            <a:srgbClr val="FDF3ED"/>
          </a:solidFill>
          <a:ln>
            <a:noFill/>
          </a:ln>
        </p:spPr>
        <p:txBody>
          <a:bodyPr wrap="square" lIns="54864" tIns="0" rIns="54864" bIns="0" anchor="ctr">
            <a:noAutofit/>
          </a:bodyPr>
          <a:lstStyle/>
          <a:p>
            <a:pPr algn="l">
              <a:lnSpc>
                <a:spcPct val="88000"/>
              </a:lnSpc>
              <a:spcBef>
                <a:spcPts val="0"/>
              </a:spcBef>
              <a:spcAft>
                <a:spcPts val="0"/>
              </a:spcAft>
            </a:pPr>
            <a:r>
              <a:rPr lang="en-US" sz="1080" b="1">
                <a:solidFill>
                  <a:srgbClr val="161623"/>
                </a:solidFill>
                <a:latin typeface="Arial"/>
              </a:rPr>
              <a:t>Check trade documents</a:t>
            </a:r>
          </a:p>
          <a:p>
            <a:pPr algn="l">
              <a:lnSpc>
                <a:spcPct val="88000"/>
              </a:lnSpc>
              <a:spcBef>
                <a:spcPts val="0"/>
              </a:spcBef>
              <a:spcAft>
                <a:spcPts val="0"/>
              </a:spcAft>
            </a:pPr>
            <a:r>
              <a:rPr lang="en-US" sz="969" b="1">
                <a:solidFill>
                  <a:srgbClr val="FA500E"/>
                </a:solidFill>
                <a:latin typeface="Arial"/>
              </a:rPr>
              <a:t>Route unclear cases to people</a:t>
            </a:r>
          </a:p>
        </p:txBody>
      </p:sp>
      <p:sp>
        <p:nvSpPr>
          <p:cNvPr id="76" name="TextBox 75"/>
          <p:cNvSpPr txBox="1"/>
          <p:nvPr/>
        </p:nvSpPr>
        <p:spPr>
          <a:xfrm>
            <a:off x="8725318" y="3590652"/>
            <a:ext cx="2628900" cy="463419"/>
          </a:xfrm>
          <a:prstGeom prst="rect">
            <a:avLst/>
          </a:prstGeom>
          <a:solidFill>
            <a:srgbClr val="FDF3ED"/>
          </a:solidFill>
          <a:ln>
            <a:noFill/>
          </a:ln>
        </p:spPr>
        <p:txBody>
          <a:bodyPr wrap="square" lIns="54864" tIns="0" rIns="54864" bIns="0" anchor="ctr">
            <a:noAutofit/>
          </a:bodyPr>
          <a:lstStyle/>
          <a:p>
            <a:pPr algn="l">
              <a:lnSpc>
                <a:spcPct val="88000"/>
              </a:lnSpc>
              <a:spcBef>
                <a:spcPts val="0"/>
              </a:spcBef>
              <a:spcAft>
                <a:spcPts val="0"/>
              </a:spcAft>
            </a:pPr>
            <a:r>
              <a:rPr lang="en-US" sz="1080" b="0">
                <a:solidFill>
                  <a:srgbClr val="514743"/>
                </a:solidFill>
                <a:latin typeface="Arial"/>
              </a:rPr>
              <a:t>Test one current trade-document process</a:t>
            </a:r>
          </a:p>
          <a:p>
            <a:pPr algn="l">
              <a:lnSpc>
                <a:spcPct val="88000"/>
              </a:lnSpc>
              <a:spcBef>
                <a:spcPts val="0"/>
              </a:spcBef>
              <a:spcAft>
                <a:spcPts val="0"/>
              </a:spcAft>
            </a:pPr>
            <a:endParaRPr lang="en-US" sz="980" b="0">
              <a:solidFill>
                <a:srgbClr val="62544F"/>
              </a:solidFill>
              <a:latin typeface="Arial"/>
            </a:endParaRPr>
          </a:p>
        </p:txBody>
      </p:sp>
      <p:sp>
        <p:nvSpPr>
          <p:cNvPr id="78" name="Rectangle 77"/>
          <p:cNvSpPr/>
          <p:nvPr/>
        </p:nvSpPr>
        <p:spPr>
          <a:xfrm>
            <a:off x="841248" y="4164682"/>
            <a:ext cx="10515600" cy="266991"/>
          </a:xfrm>
          <a:prstGeom prst="rect">
            <a:avLst/>
          </a:prstGeom>
          <a:solidFill>
            <a:srgbClr val="FFD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endParaRPr lang="en-US"/>
          </a:p>
        </p:txBody>
      </p:sp>
      <p:sp>
        <p:nvSpPr>
          <p:cNvPr id="79" name="TextBox 78"/>
          <p:cNvSpPr txBox="1">
            <a:spLocks/>
          </p:cNvSpPr>
          <p:nvPr/>
        </p:nvSpPr>
        <p:spPr>
          <a:xfrm>
            <a:off x="886968" y="4164682"/>
            <a:ext cx="1883664" cy="266991"/>
          </a:xfrm>
          <a:prstGeom prst="rect">
            <a:avLst/>
          </a:prstGeom>
          <a:noFill/>
        </p:spPr>
        <p:txBody>
          <a:bodyPr wrap="square" lIns="0" tIns="0" rIns="0" bIns="0" anchor="ctr">
            <a:noAutofit/>
          </a:bodyPr>
          <a:lstStyle/>
          <a:p>
            <a:pPr algn="l">
              <a:lnSpc>
                <a:spcPct val="90000"/>
              </a:lnSpc>
              <a:spcBef>
                <a:spcPts val="0"/>
              </a:spcBef>
              <a:spcAft>
                <a:spcPts val="0"/>
              </a:spcAft>
            </a:pPr>
            <a:r>
              <a:rPr lang="en-US" sz="969" b="1">
                <a:solidFill>
                  <a:srgbClr val="161623"/>
                </a:solidFill>
                <a:latin typeface="Arial"/>
              </a:rPr>
              <a:t>BUILD NEXT</a:t>
            </a:r>
          </a:p>
        </p:txBody>
      </p:sp>
      <p:sp>
        <p:nvSpPr>
          <p:cNvPr id="80" name="TextBox 79"/>
          <p:cNvSpPr txBox="1"/>
          <p:nvPr/>
        </p:nvSpPr>
        <p:spPr>
          <a:xfrm>
            <a:off x="2807208" y="4164682"/>
            <a:ext cx="4645152" cy="266991"/>
          </a:xfrm>
          <a:prstGeom prst="rect">
            <a:avLst/>
          </a:prstGeom>
          <a:noFill/>
        </p:spPr>
        <p:txBody>
          <a:bodyPr wrap="square" lIns="0" tIns="0" rIns="0" bIns="0" anchor="ctr">
            <a:noAutofit/>
          </a:bodyPr>
          <a:lstStyle/>
          <a:p>
            <a:pPr algn="l">
              <a:lnSpc>
                <a:spcPct val="90000"/>
              </a:lnSpc>
              <a:spcBef>
                <a:spcPts val="0"/>
              </a:spcBef>
              <a:spcAft>
                <a:spcPts val="0"/>
              </a:spcAft>
            </a:pPr>
            <a:r>
              <a:rPr lang="en-US" sz="900" b="0">
                <a:solidFill>
                  <a:srgbClr val="514743"/>
                </a:solidFill>
                <a:latin typeface="Arial"/>
              </a:rPr>
              <a:t>4 accounts to shape with a small test</a:t>
            </a:r>
          </a:p>
        </p:txBody>
      </p:sp>
      <p:sp>
        <p:nvSpPr>
          <p:cNvPr id="81" name="TextBox 80"/>
          <p:cNvSpPr txBox="1"/>
          <p:nvPr/>
        </p:nvSpPr>
        <p:spPr>
          <a:xfrm>
            <a:off x="841248" y="4431673"/>
            <a:ext cx="1444752" cy="715153"/>
          </a:xfrm>
          <a:prstGeom prst="rect">
            <a:avLst/>
          </a:prstGeom>
          <a:solidFill>
            <a:srgbClr val="FFF8F2"/>
          </a:solidFill>
          <a:ln>
            <a:noFill/>
          </a:ln>
        </p:spPr>
        <p:txBody>
          <a:bodyPr wrap="square" lIns="54864" tIns="0" rIns="54864" bIns="0" anchor="ctr">
            <a:noAutofit/>
          </a:bodyPr>
          <a:lstStyle/>
          <a:p>
            <a:pPr algn="l">
              <a:lnSpc>
                <a:spcPct val="88000"/>
              </a:lnSpc>
              <a:spcBef>
                <a:spcPts val="0"/>
              </a:spcBef>
              <a:spcAft>
                <a:spcPts val="0"/>
              </a:spcAft>
            </a:pPr>
            <a:r>
              <a:rPr lang="en-US" sz="1030" b="1">
                <a:solidFill>
                  <a:srgbClr val="161623"/>
                </a:solidFill>
                <a:latin typeface="Arial"/>
              </a:rPr>
              <a:t>ING · UBS</a:t>
            </a:r>
          </a:p>
          <a:p>
            <a:pPr algn="l">
              <a:lnSpc>
                <a:spcPct val="88000"/>
              </a:lnSpc>
              <a:spcBef>
                <a:spcPts val="0"/>
              </a:spcBef>
              <a:spcAft>
                <a:spcPts val="0"/>
              </a:spcAft>
            </a:pPr>
            <a:r>
              <a:rPr lang="en-US" sz="990" b="1">
                <a:solidFill>
                  <a:srgbClr val="161623"/>
                </a:solidFill>
                <a:latin typeface="Arial"/>
              </a:rPr>
              <a:t>DBS · JULIUS BAER</a:t>
            </a:r>
          </a:p>
        </p:txBody>
      </p:sp>
      <p:sp>
        <p:nvSpPr>
          <p:cNvPr id="82" name="TextBox 81"/>
          <p:cNvSpPr txBox="1"/>
          <p:nvPr/>
        </p:nvSpPr>
        <p:spPr>
          <a:xfrm>
            <a:off x="2286000" y="4431673"/>
            <a:ext cx="2889504" cy="715153"/>
          </a:xfrm>
          <a:prstGeom prst="rect">
            <a:avLst/>
          </a:prstGeom>
          <a:solidFill>
            <a:srgbClr val="FFF8F2"/>
          </a:solidFill>
          <a:ln>
            <a:noFill/>
          </a:ln>
        </p:spPr>
        <p:txBody>
          <a:bodyPr wrap="square" lIns="54864" tIns="0" rIns="54864" bIns="0" anchor="ctr">
            <a:noAutofit/>
          </a:bodyPr>
          <a:lstStyle/>
          <a:p>
            <a:pPr algn="l">
              <a:lnSpc>
                <a:spcPct val="88000"/>
              </a:lnSpc>
              <a:spcBef>
                <a:spcPts val="0"/>
              </a:spcBef>
              <a:spcAft>
                <a:spcPts val="0"/>
              </a:spcAft>
            </a:pPr>
            <a:r>
              <a:rPr lang="en-US" sz="1030" b="1">
                <a:solidFill>
                  <a:srgbClr val="161623"/>
                </a:solidFill>
                <a:latin typeface="Arial"/>
              </a:rPr>
              <a:t>Governed AI environments</a:t>
            </a:r>
          </a:p>
          <a:p>
            <a:pPr algn="l">
              <a:lnSpc>
                <a:spcPct val="88000"/>
              </a:lnSpc>
              <a:spcBef>
                <a:spcPts val="0"/>
              </a:spcBef>
              <a:spcAft>
                <a:spcPts val="0"/>
              </a:spcAft>
            </a:pPr>
            <a:r>
              <a:rPr lang="en-US" sz="960" b="0">
                <a:solidFill>
                  <a:srgbClr val="514743"/>
                </a:solidFill>
                <a:latin typeface="Arial"/>
              </a:rPr>
              <a:t>Defined document workflows</a:t>
            </a:r>
          </a:p>
        </p:txBody>
      </p:sp>
      <p:sp>
        <p:nvSpPr>
          <p:cNvPr id="83" name="TextBox 82"/>
          <p:cNvSpPr txBox="1"/>
          <p:nvPr/>
        </p:nvSpPr>
        <p:spPr>
          <a:xfrm>
            <a:off x="5175504" y="4431673"/>
            <a:ext cx="3547872" cy="715153"/>
          </a:xfrm>
          <a:prstGeom prst="rect">
            <a:avLst/>
          </a:prstGeom>
          <a:solidFill>
            <a:srgbClr val="FFF8F2"/>
          </a:solidFill>
          <a:ln>
            <a:noFill/>
          </a:ln>
        </p:spPr>
        <p:txBody>
          <a:bodyPr wrap="square" lIns="54864" tIns="0" rIns="54864" bIns="0" anchor="ctr">
            <a:noAutofit/>
          </a:bodyPr>
          <a:lstStyle/>
          <a:p>
            <a:pPr algn="l">
              <a:lnSpc>
                <a:spcPct val="88000"/>
              </a:lnSpc>
              <a:spcBef>
                <a:spcPts val="0"/>
              </a:spcBef>
              <a:spcAft>
                <a:spcPts val="0"/>
              </a:spcAft>
            </a:pPr>
            <a:r>
              <a:rPr lang="en-US" sz="1030" b="1">
                <a:solidFill>
                  <a:srgbClr val="161623"/>
                </a:solidFill>
                <a:latin typeface="Arial"/>
              </a:rPr>
              <a:t>Onboarding · investment · credit/trade</a:t>
            </a:r>
          </a:p>
          <a:p>
            <a:pPr algn="l">
              <a:lnSpc>
                <a:spcPct val="88000"/>
              </a:lnSpc>
              <a:spcBef>
                <a:spcPts val="0"/>
              </a:spcBef>
              <a:spcAft>
                <a:spcPts val="0"/>
              </a:spcAft>
            </a:pPr>
            <a:r>
              <a:rPr lang="en-US" sz="960" b="1">
                <a:solidFill>
                  <a:srgbClr val="FA500E"/>
                </a:solidFill>
                <a:latin typeface="Arial"/>
              </a:rPr>
              <a:t>Compliance and screening documents</a:t>
            </a:r>
          </a:p>
        </p:txBody>
      </p:sp>
      <p:sp>
        <p:nvSpPr>
          <p:cNvPr id="84" name="TextBox 83"/>
          <p:cNvSpPr txBox="1">
            <a:spLocks/>
          </p:cNvSpPr>
          <p:nvPr/>
        </p:nvSpPr>
        <p:spPr>
          <a:xfrm>
            <a:off x="8723376" y="4431673"/>
            <a:ext cx="2633472" cy="715153"/>
          </a:xfrm>
          <a:prstGeom prst="rect">
            <a:avLst/>
          </a:prstGeom>
          <a:solidFill>
            <a:srgbClr val="FFF8F2"/>
          </a:solidFill>
          <a:ln>
            <a:noFill/>
          </a:ln>
        </p:spPr>
        <p:txBody>
          <a:bodyPr wrap="square" lIns="54864" tIns="0" rIns="54864" bIns="0" anchor="ctr">
            <a:noAutofit/>
          </a:bodyPr>
          <a:lstStyle/>
          <a:p>
            <a:pPr algn="l">
              <a:lnSpc>
                <a:spcPct val="88000"/>
              </a:lnSpc>
              <a:spcBef>
                <a:spcPts val="0"/>
              </a:spcBef>
              <a:spcAft>
                <a:spcPts val="0"/>
              </a:spcAft>
            </a:pPr>
            <a:r>
              <a:rPr lang="en-US" sz="1030" b="0">
                <a:solidFill>
                  <a:srgbClr val="514743"/>
                </a:solidFill>
                <a:latin typeface="Arial"/>
              </a:rPr>
              <a:t>Shape one small test</a:t>
            </a:r>
          </a:p>
          <a:p>
            <a:pPr algn="l">
              <a:lnSpc>
                <a:spcPct val="88000"/>
              </a:lnSpc>
              <a:spcBef>
                <a:spcPts val="0"/>
              </a:spcBef>
              <a:spcAft>
                <a:spcPts val="0"/>
              </a:spcAft>
            </a:pPr>
            <a:r>
              <a:rPr lang="en-US" sz="960" b="0">
                <a:solidFill>
                  <a:srgbClr val="514743"/>
                </a:solidFill>
                <a:latin typeface="Arial"/>
              </a:rPr>
              <a:t>per account</a:t>
            </a:r>
          </a:p>
        </p:txBody>
      </p:sp>
      <p:sp>
        <p:nvSpPr>
          <p:cNvPr id="101" name="Rectangle 100"/>
          <p:cNvSpPr>
            <a:spLocks/>
          </p:cNvSpPr>
          <p:nvPr/>
        </p:nvSpPr>
        <p:spPr>
          <a:xfrm>
            <a:off x="841248" y="5308928"/>
            <a:ext cx="10515600" cy="266991"/>
          </a:xfrm>
          <a:prstGeom prst="rect">
            <a:avLst/>
          </a:prstGeom>
          <a:solidFill>
            <a:srgbClr val="FFE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endParaRPr lang="en-US"/>
          </a:p>
        </p:txBody>
      </p:sp>
      <p:sp>
        <p:nvSpPr>
          <p:cNvPr id="102" name="TextBox 101"/>
          <p:cNvSpPr txBox="1">
            <a:spLocks/>
          </p:cNvSpPr>
          <p:nvPr/>
        </p:nvSpPr>
        <p:spPr>
          <a:xfrm>
            <a:off x="886968" y="5308928"/>
            <a:ext cx="1883664" cy="266991"/>
          </a:xfrm>
          <a:prstGeom prst="rect">
            <a:avLst/>
          </a:prstGeom>
          <a:noFill/>
        </p:spPr>
        <p:txBody>
          <a:bodyPr wrap="square" lIns="0" tIns="0" rIns="0" bIns="0" anchor="ctr">
            <a:noAutofit/>
          </a:bodyPr>
          <a:lstStyle/>
          <a:p>
            <a:pPr algn="l">
              <a:lnSpc>
                <a:spcPct val="90000"/>
              </a:lnSpc>
              <a:spcBef>
                <a:spcPts val="0"/>
              </a:spcBef>
              <a:spcAft>
                <a:spcPts val="0"/>
              </a:spcAft>
            </a:pPr>
            <a:r>
              <a:rPr lang="en-US" sz="969" b="1">
                <a:solidFill>
                  <a:srgbClr val="514743"/>
                </a:solidFill>
                <a:latin typeface="Arial"/>
              </a:rPr>
              <a:t>BE SELECTIVE</a:t>
            </a:r>
          </a:p>
        </p:txBody>
      </p:sp>
      <p:sp>
        <p:nvSpPr>
          <p:cNvPr id="103" name="TextBox 102"/>
          <p:cNvSpPr txBox="1">
            <a:spLocks/>
          </p:cNvSpPr>
          <p:nvPr/>
        </p:nvSpPr>
        <p:spPr>
          <a:xfrm>
            <a:off x="2807208" y="5308928"/>
            <a:ext cx="4645152" cy="266991"/>
          </a:xfrm>
          <a:prstGeom prst="rect">
            <a:avLst/>
          </a:prstGeom>
          <a:noFill/>
        </p:spPr>
        <p:txBody>
          <a:bodyPr wrap="square" lIns="0" tIns="0" rIns="0" bIns="0" anchor="ctr">
            <a:noAutofit/>
          </a:bodyPr>
          <a:lstStyle/>
          <a:p>
            <a:pPr algn="l">
              <a:lnSpc>
                <a:spcPct val="90000"/>
              </a:lnSpc>
              <a:spcBef>
                <a:spcPts val="0"/>
              </a:spcBef>
              <a:spcAft>
                <a:spcPts val="0"/>
              </a:spcAft>
            </a:pPr>
            <a:r>
              <a:rPr lang="en-US" sz="900" b="0">
                <a:solidFill>
                  <a:srgbClr val="514743"/>
                </a:solidFill>
                <a:latin typeface="Arial"/>
              </a:rPr>
              <a:t>2 accounts where Mistral must fit the existing setup</a:t>
            </a:r>
          </a:p>
        </p:txBody>
      </p:sp>
      <p:sp>
        <p:nvSpPr>
          <p:cNvPr id="104" name="TextBox 103"/>
          <p:cNvSpPr txBox="1"/>
          <p:nvPr/>
        </p:nvSpPr>
        <p:spPr>
          <a:xfrm>
            <a:off x="841248" y="5575918"/>
            <a:ext cx="1444752" cy="715153"/>
          </a:xfrm>
          <a:prstGeom prst="rect">
            <a:avLst/>
          </a:prstGeom>
          <a:solidFill>
            <a:srgbClr val="FFF8F2"/>
          </a:solidFill>
          <a:ln>
            <a:noFill/>
          </a:ln>
        </p:spPr>
        <p:txBody>
          <a:bodyPr wrap="square" lIns="54864" tIns="0" rIns="54864" bIns="0" anchor="ctr">
            <a:noAutofit/>
          </a:bodyPr>
          <a:lstStyle/>
          <a:p>
            <a:pPr algn="l">
              <a:lnSpc>
                <a:spcPct val="88000"/>
              </a:lnSpc>
              <a:spcBef>
                <a:spcPts val="0"/>
              </a:spcBef>
              <a:spcAft>
                <a:spcPts val="0"/>
              </a:spcAft>
            </a:pPr>
            <a:r>
              <a:rPr lang="en-US" sz="1030" b="1">
                <a:solidFill>
                  <a:srgbClr val="514743"/>
                </a:solidFill>
                <a:latin typeface="Arial"/>
              </a:rPr>
              <a:t>BNY</a:t>
            </a:r>
          </a:p>
          <a:p>
            <a:pPr algn="l">
              <a:lnSpc>
                <a:spcPct val="88000"/>
              </a:lnSpc>
              <a:spcBef>
                <a:spcPts val="0"/>
              </a:spcBef>
              <a:spcAft>
                <a:spcPts val="0"/>
              </a:spcAft>
            </a:pPr>
            <a:r>
              <a:rPr lang="en-US" sz="990" b="1">
                <a:solidFill>
                  <a:srgbClr val="514743"/>
                </a:solidFill>
                <a:latin typeface="Arial"/>
              </a:rPr>
              <a:t>DEUTSCHE BANK</a:t>
            </a:r>
          </a:p>
        </p:txBody>
      </p:sp>
      <p:sp>
        <p:nvSpPr>
          <p:cNvPr id="105" name="TextBox 104"/>
          <p:cNvSpPr txBox="1"/>
          <p:nvPr/>
        </p:nvSpPr>
        <p:spPr>
          <a:xfrm>
            <a:off x="2286000" y="5575918"/>
            <a:ext cx="2889504" cy="715153"/>
          </a:xfrm>
          <a:prstGeom prst="rect">
            <a:avLst/>
          </a:prstGeom>
          <a:solidFill>
            <a:srgbClr val="FFF8F2"/>
          </a:solidFill>
          <a:ln>
            <a:noFill/>
          </a:ln>
        </p:spPr>
        <p:txBody>
          <a:bodyPr wrap="square" lIns="54864" tIns="0" rIns="54864" bIns="0" anchor="ctr">
            <a:noAutofit/>
          </a:bodyPr>
          <a:lstStyle/>
          <a:p>
            <a:pPr algn="l">
              <a:lnSpc>
                <a:spcPct val="88000"/>
              </a:lnSpc>
              <a:spcBef>
                <a:spcPts val="0"/>
              </a:spcBef>
              <a:spcAft>
                <a:spcPts val="0"/>
              </a:spcAft>
            </a:pPr>
            <a:r>
              <a:rPr lang="en-US" sz="1030" b="1">
                <a:solidFill>
                  <a:srgbClr val="161623"/>
                </a:solidFill>
                <a:latin typeface="Arial"/>
              </a:rPr>
              <a:t>Strong platforms already in place</a:t>
            </a:r>
          </a:p>
          <a:p>
            <a:pPr algn="l">
              <a:lnSpc>
                <a:spcPct val="88000"/>
              </a:lnSpc>
              <a:spcBef>
                <a:spcPts val="0"/>
              </a:spcBef>
              <a:spcAft>
                <a:spcPts val="0"/>
              </a:spcAft>
            </a:pPr>
            <a:r>
              <a:rPr lang="en-US" sz="960" b="0">
                <a:solidFill>
                  <a:srgbClr val="514743"/>
                </a:solidFill>
                <a:latin typeface="Arial"/>
              </a:rPr>
              <a:t>Existing performance must be respected</a:t>
            </a:r>
          </a:p>
        </p:txBody>
      </p:sp>
      <p:sp>
        <p:nvSpPr>
          <p:cNvPr id="106" name="TextBox 105"/>
          <p:cNvSpPr txBox="1"/>
          <p:nvPr/>
        </p:nvSpPr>
        <p:spPr>
          <a:xfrm>
            <a:off x="5175504" y="5575918"/>
            <a:ext cx="3547872" cy="715153"/>
          </a:xfrm>
          <a:prstGeom prst="rect">
            <a:avLst/>
          </a:prstGeom>
          <a:solidFill>
            <a:srgbClr val="FFF8F2"/>
          </a:solidFill>
          <a:ln>
            <a:noFill/>
          </a:ln>
        </p:spPr>
        <p:txBody>
          <a:bodyPr wrap="square" lIns="54864" tIns="0" rIns="54864" bIns="0" anchor="ctr">
            <a:noAutofit/>
          </a:bodyPr>
          <a:lstStyle/>
          <a:p>
            <a:pPr algn="l">
              <a:lnSpc>
                <a:spcPct val="88000"/>
              </a:lnSpc>
              <a:spcBef>
                <a:spcPts val="0"/>
              </a:spcBef>
              <a:spcAft>
                <a:spcPts val="0"/>
              </a:spcAft>
            </a:pPr>
            <a:r>
              <a:rPr lang="en-US" sz="1030" b="1">
                <a:solidFill>
                  <a:srgbClr val="161623"/>
                </a:solidFill>
                <a:latin typeface="Arial"/>
              </a:rPr>
              <a:t>Add Mistral only for differentiated documents</a:t>
            </a:r>
          </a:p>
          <a:p>
            <a:pPr algn="l">
              <a:lnSpc>
                <a:spcPct val="88000"/>
              </a:lnSpc>
              <a:spcBef>
                <a:spcPts val="0"/>
              </a:spcBef>
              <a:spcAft>
                <a:spcPts val="0"/>
              </a:spcAft>
            </a:pPr>
            <a:r>
              <a:rPr lang="en-US" sz="960" b="1">
                <a:solidFill>
                  <a:srgbClr val="FA500E"/>
                </a:solidFill>
                <a:latin typeface="Arial"/>
              </a:rPr>
              <a:t>Do not replace what already works</a:t>
            </a:r>
          </a:p>
        </p:txBody>
      </p:sp>
      <p:sp>
        <p:nvSpPr>
          <p:cNvPr id="107" name="TextBox 106"/>
          <p:cNvSpPr txBox="1"/>
          <p:nvPr/>
        </p:nvSpPr>
        <p:spPr>
          <a:xfrm>
            <a:off x="8723376" y="5575918"/>
            <a:ext cx="2633472" cy="715153"/>
          </a:xfrm>
          <a:prstGeom prst="rect">
            <a:avLst/>
          </a:prstGeom>
          <a:solidFill>
            <a:srgbClr val="FFF8F2"/>
          </a:solidFill>
          <a:ln>
            <a:noFill/>
          </a:ln>
        </p:spPr>
        <p:txBody>
          <a:bodyPr wrap="square" lIns="54864" tIns="0" rIns="54864" bIns="0" anchor="ctr">
            <a:noAutofit/>
          </a:bodyPr>
          <a:lstStyle/>
          <a:p>
            <a:pPr algn="l">
              <a:lnSpc>
                <a:spcPct val="88000"/>
              </a:lnSpc>
              <a:spcBef>
                <a:spcPts val="0"/>
              </a:spcBef>
              <a:spcAft>
                <a:spcPts val="0"/>
              </a:spcAft>
            </a:pPr>
            <a:r>
              <a:rPr lang="en-US" sz="1030" b="0">
                <a:solidFill>
                  <a:srgbClr val="514743"/>
                </a:solidFill>
                <a:latin typeface="Arial"/>
              </a:rPr>
              <a:t>Compare one adjacent</a:t>
            </a:r>
          </a:p>
          <a:p>
            <a:pPr algn="l">
              <a:lnSpc>
                <a:spcPct val="88000"/>
              </a:lnSpc>
              <a:spcBef>
                <a:spcPts val="0"/>
              </a:spcBef>
              <a:spcAft>
                <a:spcPts val="0"/>
              </a:spcAft>
            </a:pPr>
            <a:r>
              <a:rPr lang="en-US" sz="960" b="0">
                <a:solidFill>
                  <a:srgbClr val="514743"/>
                </a:solidFill>
                <a:latin typeface="Arial"/>
              </a:rPr>
              <a:t>document workflow</a:t>
            </a:r>
          </a:p>
        </p:txBody>
      </p:sp>
    </p:spTree>
    <p:extLst>
      <p:ext uri="{BB962C8B-B14F-4D97-AF65-F5344CB8AC3E}">
        <p14:creationId xmlns:p14="http://schemas.microsoft.com/office/powerpoint/2010/main" val="1246300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F2"/>
        </a:solidFill>
        <a:effectLst/>
      </p:bgPr>
    </p:bg>
    <p:spTree>
      <p:nvGrpSpPr>
        <p:cNvPr id="1" name=""/>
        <p:cNvGrpSpPr/>
        <p:nvPr/>
      </p:nvGrpSpPr>
      <p:grpSpPr>
        <a:xfrm>
          <a:off x="0" y="0"/>
          <a:ext cx="0" cy="0"/>
          <a:chOff x="0" y="0"/>
          <a:chExt cx="0" cy="0"/>
        </a:xfrm>
      </p:grpSpPr>
      <p:sp>
        <p:nvSpPr>
          <p:cNvPr id="2" name="Rectangle 1"/>
          <p:cNvSpPr/>
          <p:nvPr/>
        </p:nvSpPr>
        <p:spPr>
          <a:xfrm>
            <a:off x="609904" y="267004"/>
            <a:ext cx="75895" cy="740664"/>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41248" y="256032"/>
            <a:ext cx="4206240" cy="173736"/>
          </a:xfrm>
          <a:prstGeom prst="rect">
            <a:avLst/>
          </a:prstGeom>
          <a:noFill/>
        </p:spPr>
        <p:txBody>
          <a:bodyPr wrap="square" lIns="0" tIns="0" rIns="0" bIns="0" anchor="ctr">
            <a:spAutoFit/>
          </a:bodyPr>
          <a:lstStyle/>
          <a:p>
            <a:pPr algn="l">
              <a:spcBef>
                <a:spcPts val="0"/>
              </a:spcBef>
              <a:spcAft>
                <a:spcPts val="0"/>
              </a:spcAft>
            </a:pPr>
            <a:r>
              <a:rPr lang="en-US" sz="1100" b="1">
                <a:solidFill>
                  <a:srgbClr val="FA500E"/>
                </a:solidFill>
                <a:latin typeface="Arial"/>
              </a:rPr>
              <a:t>REVENUE PRIORITIZATION</a:t>
            </a:r>
          </a:p>
        </p:txBody>
      </p:sp>
      <p:sp>
        <p:nvSpPr>
          <p:cNvPr id="4" name="TextBox 3"/>
          <p:cNvSpPr txBox="1"/>
          <p:nvPr/>
        </p:nvSpPr>
        <p:spPr>
          <a:xfrm>
            <a:off x="841248" y="457200"/>
            <a:ext cx="10515600" cy="475488"/>
          </a:xfrm>
          <a:prstGeom prst="rect">
            <a:avLst/>
          </a:prstGeom>
          <a:noFill/>
        </p:spPr>
        <p:txBody>
          <a:bodyPr wrap="none" lIns="0" tIns="0" rIns="0" bIns="0" anchor="t">
            <a:spAutoFit/>
          </a:bodyPr>
          <a:lstStyle/>
          <a:p>
            <a:pPr algn="l">
              <a:spcBef>
                <a:spcPts val="0"/>
              </a:spcBef>
              <a:spcAft>
                <a:spcPts val="0"/>
              </a:spcAft>
            </a:pPr>
            <a:r>
              <a:rPr sz="2500" b="1">
                <a:solidFill>
                  <a:srgbClr val="161623"/>
                </a:solidFill>
                <a:latin typeface="Tiny5"/>
              </a:rPr>
              <a:t>HIGH-LEVERAGE FSI REVENUE TARGETS BEYOND BANKING</a:t>
            </a:r>
          </a:p>
        </p:txBody>
      </p:sp>
      <p:sp>
        <p:nvSpPr>
          <p:cNvPr id="5" name="TextBox 4"/>
          <p:cNvSpPr txBox="1"/>
          <p:nvPr/>
        </p:nvSpPr>
        <p:spPr>
          <a:xfrm>
            <a:off x="841248" y="996696"/>
            <a:ext cx="10515600" cy="148630"/>
          </a:xfrm>
          <a:prstGeom prst="rect">
            <a:avLst/>
          </a:prstGeom>
          <a:noFill/>
        </p:spPr>
        <p:txBody>
          <a:bodyPr wrap="square" lIns="0" tIns="0" rIns="0" bIns="0" anchor="ctr">
            <a:spAutoFit/>
          </a:bodyPr>
          <a:lstStyle/>
          <a:p>
            <a:pPr algn="l">
              <a:lnSpc>
                <a:spcPct val="92000"/>
              </a:lnSpc>
              <a:spcBef>
                <a:spcPts val="0"/>
              </a:spcBef>
              <a:spcAft>
                <a:spcPts val="0"/>
              </a:spcAft>
            </a:pPr>
            <a:r>
              <a:rPr lang="en-US" sz="1050" b="0">
                <a:solidFill>
                  <a:srgbClr val="62544F"/>
                </a:solidFill>
                <a:latin typeface="Arial"/>
              </a:rPr>
              <a:t>Prioritize near-term dollars and strategic leverage — proposed GTM actions; public relationship status as of 18 Aug 2026.</a:t>
            </a:r>
          </a:p>
        </p:txBody>
      </p:sp>
      <p:pic>
        <p:nvPicPr>
          <p:cNvPr id="6" name="Picture 5" descr="image.png"/>
          <p:cNvPicPr>
            <a:picLocks noChangeAspect="1"/>
          </p:cNvPicPr>
          <p:nvPr/>
        </p:nvPicPr>
        <p:blipFill>
          <a:blip r:embed="rId3"/>
          <a:stretch>
            <a:fillRect/>
          </a:stretch>
        </p:blipFill>
        <p:spPr>
          <a:xfrm>
            <a:off x="11658600" y="182880"/>
            <a:ext cx="347472" cy="347472"/>
          </a:xfrm>
          <a:prstGeom prst="rect">
            <a:avLst/>
          </a:prstGeom>
        </p:spPr>
      </p:pic>
      <p:sp>
        <p:nvSpPr>
          <p:cNvPr id="19" name="Rectangle 18"/>
          <p:cNvSpPr/>
          <p:nvPr/>
        </p:nvSpPr>
        <p:spPr>
          <a:xfrm>
            <a:off x="612648" y="6556248"/>
            <a:ext cx="10972800" cy="9144"/>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2648" y="6615015"/>
            <a:ext cx="4005072" cy="138499"/>
          </a:xfrm>
          <a:prstGeom prst="rect">
            <a:avLst/>
          </a:prstGeom>
          <a:noFill/>
        </p:spPr>
        <p:txBody>
          <a:bodyPr wrap="square" lIns="0" tIns="0" rIns="0" bIns="0" anchor="ctr">
            <a:spAutoFit/>
          </a:bodyPr>
          <a:lstStyle/>
          <a:p>
            <a:pPr algn="l">
              <a:spcBef>
                <a:spcPts val="0"/>
              </a:spcBef>
              <a:spcAft>
                <a:spcPts val="0"/>
              </a:spcAft>
            </a:pPr>
            <a:r>
              <a:rPr lang="en-US" sz="900" b="0">
                <a:solidFill>
                  <a:srgbClr val="62544F"/>
                </a:solidFill>
                <a:latin typeface="Arial"/>
              </a:rPr>
              <a:t>SHIV  ·  PMM CANDIDATE  ·  18 AUG 2026</a:t>
            </a:r>
          </a:p>
        </p:txBody>
      </p:sp>
      <p:sp>
        <p:nvSpPr>
          <p:cNvPr id="21" name="TextBox 20"/>
          <p:cNvSpPr txBox="1"/>
          <p:nvPr/>
        </p:nvSpPr>
        <p:spPr>
          <a:xfrm>
            <a:off x="11237976" y="6615015"/>
            <a:ext cx="347472" cy="138499"/>
          </a:xfrm>
          <a:prstGeom prst="rect">
            <a:avLst/>
          </a:prstGeom>
          <a:noFill/>
        </p:spPr>
        <p:txBody>
          <a:bodyPr wrap="square" lIns="0" tIns="0" rIns="0" bIns="0" anchor="ctr">
            <a:spAutoFit/>
          </a:bodyPr>
          <a:lstStyle/>
          <a:p>
            <a:pPr algn="r">
              <a:spcBef>
                <a:spcPts val="0"/>
              </a:spcBef>
              <a:spcAft>
                <a:spcPts val="0"/>
              </a:spcAft>
            </a:pPr>
            <a:r>
              <a:rPr lang="en-US" sz="900" b="0">
                <a:solidFill>
                  <a:srgbClr val="62544F"/>
                </a:solidFill>
                <a:latin typeface="Silkscreen"/>
              </a:rPr>
              <a:t>6A</a:t>
            </a:r>
          </a:p>
        </p:txBody>
      </p:sp>
      <p:sp>
        <p:nvSpPr>
          <p:cNvPr id="22" name="Rectangle 21"/>
          <p:cNvSpPr/>
          <p:nvPr/>
        </p:nvSpPr>
        <p:spPr>
          <a:xfrm>
            <a:off x="841248" y="1261872"/>
            <a:ext cx="10515600" cy="334061"/>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92000"/>
              </a:lnSpc>
              <a:spcBef>
                <a:spcPts val="0"/>
              </a:spcBef>
              <a:spcAft>
                <a:spcPts val="0"/>
              </a:spcAft>
            </a:pPr>
            <a:r>
              <a:rPr lang="en-US" sz="950" b="1">
                <a:solidFill>
                  <a:srgbClr val="FFFFFF"/>
                </a:solidFill>
                <a:latin typeface="Arial"/>
              </a:rPr>
              <a:t>REVENUE STRATEGY   EXPAND existing customers now  →  EMBED into FSI software  →  DISTRIBUTE through industry platforms  →  MULTIPLY through portfolios</a:t>
            </a:r>
          </a:p>
        </p:txBody>
      </p:sp>
      <p:sp>
        <p:nvSpPr>
          <p:cNvPr id="23" name="TextBox 22"/>
          <p:cNvSpPr txBox="1"/>
          <p:nvPr/>
        </p:nvSpPr>
        <p:spPr>
          <a:xfrm>
            <a:off x="8887968" y="1627337"/>
            <a:ext cx="2468880" cy="222126"/>
          </a:xfrm>
          <a:prstGeom prst="rect">
            <a:avLst/>
          </a:prstGeom>
          <a:noFill/>
        </p:spPr>
        <p:txBody>
          <a:bodyPr wrap="square" lIns="0" tIns="0" rIns="0" bIns="0" anchor="ctr">
            <a:spAutoFit/>
          </a:bodyPr>
          <a:lstStyle/>
          <a:p>
            <a:pPr algn="r">
              <a:lnSpc>
                <a:spcPct val="92000"/>
              </a:lnSpc>
              <a:spcBef>
                <a:spcPts val="0"/>
              </a:spcBef>
              <a:spcAft>
                <a:spcPts val="0"/>
              </a:spcAft>
            </a:pPr>
            <a:r>
              <a:rPr lang="en-US" sz="730" b="1">
                <a:solidFill>
                  <a:srgbClr val="62544F"/>
                </a:solidFill>
                <a:latin typeface="Arial"/>
              </a:rPr>
              <a:t>NT = NEAR-TERM REVENUE     LT = LONG-TERM MULTIPLIER</a:t>
            </a:r>
          </a:p>
        </p:txBody>
      </p:sp>
      <p:sp>
        <p:nvSpPr>
          <p:cNvPr id="24" name="Rectangle 23"/>
          <p:cNvSpPr/>
          <p:nvPr/>
        </p:nvSpPr>
        <p:spPr>
          <a:xfrm>
            <a:off x="6099048" y="1851391"/>
            <a:ext cx="10972" cy="3949777"/>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41248" y="3836105"/>
            <a:ext cx="10515600" cy="14738"/>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1248" y="1862178"/>
            <a:ext cx="1131570" cy="174931"/>
          </a:xfrm>
          <a:prstGeom prst="rect">
            <a:avLst/>
          </a:prstGeom>
          <a:noFill/>
        </p:spPr>
        <p:txBody>
          <a:bodyPr wrap="square" lIns="0" tIns="0" rIns="0" bIns="0" anchor="ctr">
            <a:spAutoFit/>
          </a:bodyPr>
          <a:lstStyle/>
          <a:p>
            <a:pPr algn="l">
              <a:lnSpc>
                <a:spcPct val="92000"/>
              </a:lnSpc>
              <a:spcBef>
                <a:spcPts val="0"/>
              </a:spcBef>
              <a:spcAft>
                <a:spcPts val="0"/>
              </a:spcAft>
            </a:pPr>
            <a:r>
              <a:rPr lang="en-US" sz="1150" b="1">
                <a:solidFill>
                  <a:srgbClr val="FA500E"/>
                </a:solidFill>
                <a:latin typeface="Arial"/>
              </a:rPr>
              <a:t>EXPAND</a:t>
            </a:r>
          </a:p>
        </p:txBody>
      </p:sp>
      <p:sp>
        <p:nvSpPr>
          <p:cNvPr id="27" name="TextBox 26"/>
          <p:cNvSpPr txBox="1"/>
          <p:nvPr/>
        </p:nvSpPr>
        <p:spPr>
          <a:xfrm>
            <a:off x="1972818" y="1881193"/>
            <a:ext cx="4011930" cy="136900"/>
          </a:xfrm>
          <a:prstGeom prst="rect">
            <a:avLst/>
          </a:prstGeom>
          <a:noFill/>
        </p:spPr>
        <p:txBody>
          <a:bodyPr wrap="square" lIns="0" tIns="0" rIns="0" bIns="0" anchor="ctr">
            <a:spAutoFit/>
          </a:bodyPr>
          <a:lstStyle/>
          <a:p>
            <a:pPr algn="r">
              <a:lnSpc>
                <a:spcPct val="92000"/>
              </a:lnSpc>
              <a:spcBef>
                <a:spcPts val="0"/>
              </a:spcBef>
              <a:spcAft>
                <a:spcPts val="0"/>
              </a:spcAft>
            </a:pPr>
            <a:r>
              <a:rPr lang="en-US" sz="900" b="1">
                <a:solidFill>
                  <a:srgbClr val="161623"/>
                </a:solidFill>
                <a:latin typeface="Arial"/>
              </a:rPr>
              <a:t>Immediate dollars from regulated workflow expansion</a:t>
            </a:r>
          </a:p>
        </p:txBody>
      </p:sp>
      <p:sp>
        <p:nvSpPr>
          <p:cNvPr id="28" name="Rectangle 27"/>
          <p:cNvSpPr/>
          <p:nvPr/>
        </p:nvSpPr>
        <p:spPr>
          <a:xfrm>
            <a:off x="841248" y="2106849"/>
            <a:ext cx="5143500" cy="24563"/>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1248" y="2242621"/>
            <a:ext cx="932688" cy="146063"/>
          </a:xfrm>
          <a:prstGeom prst="rect">
            <a:avLst/>
          </a:prstGeom>
          <a:noFill/>
        </p:spPr>
        <p:txBody>
          <a:bodyPr wrap="square" lIns="0" tIns="0" rIns="0" bIns="0" anchor="ctr">
            <a:spAutoFit/>
          </a:bodyPr>
          <a:lstStyle/>
          <a:p>
            <a:pPr algn="l">
              <a:lnSpc>
                <a:spcPct val="92000"/>
              </a:lnSpc>
              <a:spcBef>
                <a:spcPts val="0"/>
              </a:spcBef>
              <a:spcAft>
                <a:spcPts val="0"/>
              </a:spcAft>
            </a:pPr>
            <a:r>
              <a:rPr lang="en-US" sz="960" b="1">
                <a:solidFill>
                  <a:srgbClr val="FA500E"/>
                </a:solidFill>
                <a:latin typeface="Arial"/>
              </a:rPr>
              <a:t>BNP Paribas</a:t>
            </a:r>
          </a:p>
        </p:txBody>
      </p:sp>
      <p:sp>
        <p:nvSpPr>
          <p:cNvPr id="30" name="TextBox 29"/>
          <p:cNvSpPr txBox="1"/>
          <p:nvPr/>
        </p:nvSpPr>
        <p:spPr>
          <a:xfrm>
            <a:off x="841248" y="2438275"/>
            <a:ext cx="932688" cy="109547"/>
          </a:xfrm>
          <a:prstGeom prst="rect">
            <a:avLst/>
          </a:prstGeom>
          <a:noFill/>
        </p:spPr>
        <p:txBody>
          <a:bodyPr wrap="square" lIns="0" tIns="0" rIns="0" bIns="0" anchor="ctr">
            <a:spAutoFit/>
          </a:bodyPr>
          <a:lstStyle/>
          <a:p>
            <a:pPr algn="l">
              <a:lnSpc>
                <a:spcPct val="92000"/>
              </a:lnSpc>
              <a:spcBef>
                <a:spcPts val="0"/>
              </a:spcBef>
              <a:spcAft>
                <a:spcPts val="0"/>
              </a:spcAft>
            </a:pPr>
            <a:r>
              <a:rPr lang="en-US" sz="720" b="0">
                <a:solidFill>
                  <a:srgbClr val="62544F"/>
                </a:solidFill>
                <a:latin typeface="Arial"/>
              </a:rPr>
              <a:t>Existing customer</a:t>
            </a:r>
          </a:p>
        </p:txBody>
      </p:sp>
      <p:sp>
        <p:nvSpPr>
          <p:cNvPr id="31" name="TextBox 30"/>
          <p:cNvSpPr txBox="1"/>
          <p:nvPr/>
        </p:nvSpPr>
        <p:spPr>
          <a:xfrm>
            <a:off x="1801368" y="2216118"/>
            <a:ext cx="612648" cy="106516"/>
          </a:xfrm>
          <a:prstGeom prst="rect">
            <a:avLst/>
          </a:prstGeom>
          <a:noFill/>
        </p:spPr>
        <p:txBody>
          <a:bodyPr wrap="square" lIns="0" tIns="0" rIns="0" bIns="0" anchor="ctr">
            <a:spAutoFit/>
          </a:bodyPr>
          <a:lstStyle/>
          <a:p>
            <a:pPr algn="l">
              <a:lnSpc>
                <a:spcPct val="92000"/>
              </a:lnSpc>
              <a:spcBef>
                <a:spcPts val="0"/>
              </a:spcBef>
              <a:spcAft>
                <a:spcPts val="0"/>
              </a:spcAft>
            </a:pPr>
            <a:r>
              <a:rPr lang="en-US" sz="700" b="1">
                <a:solidFill>
                  <a:srgbClr val="FA500E"/>
                </a:solidFill>
                <a:latin typeface="Arial"/>
              </a:rPr>
              <a:t>EXISTING</a:t>
            </a:r>
          </a:p>
        </p:txBody>
      </p:sp>
      <p:sp>
        <p:nvSpPr>
          <p:cNvPr id="32" name="TextBox 31"/>
          <p:cNvSpPr txBox="1"/>
          <p:nvPr/>
        </p:nvSpPr>
        <p:spPr>
          <a:xfrm>
            <a:off x="1801368" y="2382179"/>
            <a:ext cx="2446020" cy="226881"/>
          </a:xfrm>
          <a:prstGeom prst="rect">
            <a:avLst/>
          </a:prstGeom>
          <a:noFill/>
        </p:spPr>
        <p:txBody>
          <a:bodyPr wrap="square" lIns="0" tIns="0" rIns="0" bIns="0" anchor="ctr">
            <a:spAutoFit/>
          </a:bodyPr>
          <a:lstStyle/>
          <a:p>
            <a:pPr algn="l">
              <a:lnSpc>
                <a:spcPct val="88000"/>
              </a:lnSpc>
              <a:spcBef>
                <a:spcPts val="0"/>
              </a:spcBef>
              <a:spcAft>
                <a:spcPts val="0"/>
              </a:spcAft>
            </a:pPr>
            <a:r>
              <a:rPr lang="en-US" sz="819" b="1">
                <a:solidFill>
                  <a:srgbClr val="161623"/>
                </a:solidFill>
                <a:latin typeface="Arial"/>
              </a:rPr>
              <a:t>Expand regulated workflows across CIB / CPBS</a:t>
            </a:r>
          </a:p>
          <a:p>
            <a:pPr algn="l">
              <a:lnSpc>
                <a:spcPct val="88000"/>
              </a:lnSpc>
              <a:spcBef>
                <a:spcPts val="0"/>
              </a:spcBef>
              <a:spcAft>
                <a:spcPts val="0"/>
              </a:spcAft>
            </a:pPr>
            <a:r>
              <a:rPr lang="en-US" sz="740" b="0">
                <a:solidFill>
                  <a:srgbClr val="62544F"/>
                </a:solidFill>
                <a:latin typeface="Arial"/>
              </a:rPr>
              <a:t>3-workload workshop → pick top 2 by incremental ACV</a:t>
            </a:r>
          </a:p>
        </p:txBody>
      </p:sp>
      <p:sp>
        <p:nvSpPr>
          <p:cNvPr id="33" name="Rectangle 32"/>
          <p:cNvSpPr/>
          <p:nvPr/>
        </p:nvSpPr>
        <p:spPr>
          <a:xfrm>
            <a:off x="4951476" y="2205102"/>
            <a:ext cx="484632" cy="422489"/>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lnSpc>
                <a:spcPct val="92000"/>
              </a:lnSpc>
              <a:spcBef>
                <a:spcPts val="0"/>
              </a:spcBef>
              <a:spcAft>
                <a:spcPts val="0"/>
              </a:spcAft>
            </a:pPr>
            <a:r>
              <a:rPr lang="en-US" sz="680" b="1">
                <a:solidFill>
                  <a:srgbClr val="FFFFFF"/>
                </a:solidFill>
                <a:latin typeface="Arial"/>
              </a:rPr>
              <a:t>NT
VERY
HIGH</a:t>
            </a:r>
          </a:p>
        </p:txBody>
      </p:sp>
      <p:sp>
        <p:nvSpPr>
          <p:cNvPr id="34" name="Rectangle 33"/>
          <p:cNvSpPr/>
          <p:nvPr/>
        </p:nvSpPr>
        <p:spPr>
          <a:xfrm>
            <a:off x="5463540" y="2205102"/>
            <a:ext cx="521207" cy="422489"/>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lnSpc>
                <a:spcPct val="92000"/>
              </a:lnSpc>
              <a:spcBef>
                <a:spcPts val="0"/>
              </a:spcBef>
              <a:spcAft>
                <a:spcPts val="0"/>
              </a:spcAft>
            </a:pPr>
            <a:r>
              <a:rPr lang="en-US" sz="680" b="1">
                <a:solidFill>
                  <a:srgbClr val="FFFFFF"/>
                </a:solidFill>
                <a:latin typeface="Arial"/>
              </a:rPr>
              <a:t>LT
VERY
HIGH</a:t>
            </a:r>
          </a:p>
        </p:txBody>
      </p:sp>
      <p:sp>
        <p:nvSpPr>
          <p:cNvPr id="35" name="Rectangle 34"/>
          <p:cNvSpPr/>
          <p:nvPr/>
        </p:nvSpPr>
        <p:spPr>
          <a:xfrm>
            <a:off x="841248" y="2699643"/>
            <a:ext cx="5143500" cy="7860"/>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1248" y="2756812"/>
            <a:ext cx="932688" cy="146063"/>
          </a:xfrm>
          <a:prstGeom prst="rect">
            <a:avLst/>
          </a:prstGeom>
          <a:noFill/>
        </p:spPr>
        <p:txBody>
          <a:bodyPr wrap="square" lIns="0" tIns="0" rIns="0" bIns="0" anchor="ctr">
            <a:spAutoFit/>
          </a:bodyPr>
          <a:lstStyle/>
          <a:p>
            <a:pPr algn="l">
              <a:lnSpc>
                <a:spcPct val="92000"/>
              </a:lnSpc>
              <a:spcBef>
                <a:spcPts val="0"/>
              </a:spcBef>
              <a:spcAft>
                <a:spcPts val="0"/>
              </a:spcAft>
            </a:pPr>
            <a:r>
              <a:rPr lang="en-US" sz="960" b="1">
                <a:solidFill>
                  <a:srgbClr val="161623"/>
                </a:solidFill>
                <a:latin typeface="Arial"/>
              </a:rPr>
              <a:t>Amundi</a:t>
            </a:r>
          </a:p>
        </p:txBody>
      </p:sp>
      <p:sp>
        <p:nvSpPr>
          <p:cNvPr id="37" name="TextBox 36"/>
          <p:cNvSpPr txBox="1"/>
          <p:nvPr/>
        </p:nvSpPr>
        <p:spPr>
          <a:xfrm>
            <a:off x="841248" y="2952467"/>
            <a:ext cx="932688" cy="109547"/>
          </a:xfrm>
          <a:prstGeom prst="rect">
            <a:avLst/>
          </a:prstGeom>
          <a:noFill/>
        </p:spPr>
        <p:txBody>
          <a:bodyPr wrap="square" lIns="0" tIns="0" rIns="0" bIns="0" anchor="ctr">
            <a:spAutoFit/>
          </a:bodyPr>
          <a:lstStyle/>
          <a:p>
            <a:pPr algn="l">
              <a:lnSpc>
                <a:spcPct val="92000"/>
              </a:lnSpc>
              <a:spcBef>
                <a:spcPts val="0"/>
              </a:spcBef>
              <a:spcAft>
                <a:spcPts val="0"/>
              </a:spcAft>
            </a:pPr>
            <a:r>
              <a:rPr lang="en-US" sz="720" b="0">
                <a:solidFill>
                  <a:srgbClr val="62544F"/>
                </a:solidFill>
                <a:latin typeface="Arial"/>
              </a:rPr>
              <a:t>Asset management</a:t>
            </a:r>
          </a:p>
        </p:txBody>
      </p:sp>
      <p:sp>
        <p:nvSpPr>
          <p:cNvPr id="38" name="TextBox 37"/>
          <p:cNvSpPr txBox="1"/>
          <p:nvPr/>
        </p:nvSpPr>
        <p:spPr>
          <a:xfrm>
            <a:off x="1801368" y="2730309"/>
            <a:ext cx="612648" cy="106516"/>
          </a:xfrm>
          <a:prstGeom prst="rect">
            <a:avLst/>
          </a:prstGeom>
          <a:noFill/>
        </p:spPr>
        <p:txBody>
          <a:bodyPr wrap="square" lIns="0" tIns="0" rIns="0" bIns="0" anchor="ctr">
            <a:spAutoFit/>
          </a:bodyPr>
          <a:lstStyle/>
          <a:p>
            <a:pPr algn="l">
              <a:lnSpc>
                <a:spcPct val="92000"/>
              </a:lnSpc>
              <a:spcBef>
                <a:spcPts val="0"/>
              </a:spcBef>
              <a:spcAft>
                <a:spcPts val="0"/>
              </a:spcAft>
            </a:pPr>
            <a:r>
              <a:rPr lang="en-US" sz="700" b="1">
                <a:solidFill>
                  <a:srgbClr val="62544F"/>
                </a:solidFill>
                <a:latin typeface="Arial"/>
              </a:rPr>
              <a:t>NEW</a:t>
            </a:r>
          </a:p>
        </p:txBody>
      </p:sp>
      <p:sp>
        <p:nvSpPr>
          <p:cNvPr id="39" name="TextBox 38"/>
          <p:cNvSpPr txBox="1"/>
          <p:nvPr/>
        </p:nvSpPr>
        <p:spPr>
          <a:xfrm>
            <a:off x="1801368" y="2896371"/>
            <a:ext cx="2446020" cy="226881"/>
          </a:xfrm>
          <a:prstGeom prst="rect">
            <a:avLst/>
          </a:prstGeom>
          <a:noFill/>
        </p:spPr>
        <p:txBody>
          <a:bodyPr wrap="square" lIns="0" tIns="0" rIns="0" bIns="0" anchor="ctr">
            <a:spAutoFit/>
          </a:bodyPr>
          <a:lstStyle/>
          <a:p>
            <a:pPr algn="l">
              <a:lnSpc>
                <a:spcPct val="88000"/>
              </a:lnSpc>
              <a:spcBef>
                <a:spcPts val="0"/>
              </a:spcBef>
              <a:spcAft>
                <a:spcPts val="0"/>
              </a:spcAft>
            </a:pPr>
            <a:r>
              <a:rPr lang="en-US" sz="819" b="1">
                <a:solidFill>
                  <a:srgbClr val="161623"/>
                </a:solidFill>
                <a:latin typeface="Arial"/>
              </a:rPr>
              <a:t>Controlled investment-research agents</a:t>
            </a:r>
          </a:p>
          <a:p>
            <a:pPr algn="l">
              <a:lnSpc>
                <a:spcPct val="88000"/>
              </a:lnSpc>
              <a:spcBef>
                <a:spcPts val="0"/>
              </a:spcBef>
              <a:spcAft>
                <a:spcPts val="0"/>
              </a:spcAft>
            </a:pPr>
            <a:r>
              <a:rPr lang="en-US" sz="740" b="0">
                <a:solidFill>
                  <a:srgbClr val="62544F"/>
                </a:solidFill>
                <a:latin typeface="Arial"/>
              </a:rPr>
              <a:t>Benchmark one issuer-research workflow</a:t>
            </a:r>
          </a:p>
        </p:txBody>
      </p:sp>
      <p:sp>
        <p:nvSpPr>
          <p:cNvPr id="40" name="Rectangle 39"/>
          <p:cNvSpPr/>
          <p:nvPr/>
        </p:nvSpPr>
        <p:spPr>
          <a:xfrm>
            <a:off x="4951476" y="2719294"/>
            <a:ext cx="484632" cy="422489"/>
          </a:xfrm>
          <a:prstGeom prst="rect">
            <a:avLst/>
          </a:prstGeom>
          <a:solidFill>
            <a:srgbClr val="FFE8D6"/>
          </a:solidFill>
          <a:ln>
            <a:noFill/>
          </a:ln>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lnSpc>
                <a:spcPct val="92000"/>
              </a:lnSpc>
              <a:spcBef>
                <a:spcPts val="0"/>
              </a:spcBef>
              <a:spcAft>
                <a:spcPts val="0"/>
              </a:spcAft>
            </a:pPr>
            <a:r>
              <a:rPr lang="en-US" sz="680" b="1">
                <a:solidFill>
                  <a:srgbClr val="161623"/>
                </a:solidFill>
                <a:latin typeface="Arial"/>
              </a:rPr>
              <a:t>NT
MED</a:t>
            </a:r>
          </a:p>
        </p:txBody>
      </p:sp>
      <p:sp>
        <p:nvSpPr>
          <p:cNvPr id="41" name="Rectangle 40"/>
          <p:cNvSpPr/>
          <p:nvPr/>
        </p:nvSpPr>
        <p:spPr>
          <a:xfrm>
            <a:off x="5463540" y="2719294"/>
            <a:ext cx="521207" cy="422489"/>
          </a:xfrm>
          <a:prstGeom prst="rect">
            <a:avLst/>
          </a:prstGeom>
          <a:solidFill>
            <a:srgbClr val="FF8755"/>
          </a:solidFill>
          <a:ln>
            <a:noFill/>
          </a:ln>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lnSpc>
                <a:spcPct val="92000"/>
              </a:lnSpc>
              <a:spcBef>
                <a:spcPts val="0"/>
              </a:spcBef>
              <a:spcAft>
                <a:spcPts val="0"/>
              </a:spcAft>
            </a:pPr>
            <a:r>
              <a:rPr lang="en-US" sz="680" b="1">
                <a:solidFill>
                  <a:srgbClr val="161623"/>
                </a:solidFill>
                <a:latin typeface="Arial"/>
              </a:rPr>
              <a:t>LT
HIGH</a:t>
            </a:r>
          </a:p>
        </p:txBody>
      </p:sp>
      <p:sp>
        <p:nvSpPr>
          <p:cNvPr id="42" name="Rectangle 41"/>
          <p:cNvSpPr/>
          <p:nvPr/>
        </p:nvSpPr>
        <p:spPr>
          <a:xfrm>
            <a:off x="841248" y="3213835"/>
            <a:ext cx="5143500" cy="7860"/>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41248" y="3271004"/>
            <a:ext cx="932688" cy="146063"/>
          </a:xfrm>
          <a:prstGeom prst="rect">
            <a:avLst/>
          </a:prstGeom>
          <a:noFill/>
        </p:spPr>
        <p:txBody>
          <a:bodyPr wrap="square" lIns="0" tIns="0" rIns="0" bIns="0" anchor="ctr">
            <a:spAutoFit/>
          </a:bodyPr>
          <a:lstStyle/>
          <a:p>
            <a:pPr algn="l">
              <a:lnSpc>
                <a:spcPct val="92000"/>
              </a:lnSpc>
              <a:spcBef>
                <a:spcPts val="0"/>
              </a:spcBef>
              <a:spcAft>
                <a:spcPts val="0"/>
              </a:spcAft>
            </a:pPr>
            <a:r>
              <a:rPr lang="en-US" sz="960" b="1">
                <a:solidFill>
                  <a:srgbClr val="161623"/>
                </a:solidFill>
                <a:latin typeface="Arial"/>
              </a:rPr>
              <a:t>Swiss Re</a:t>
            </a:r>
          </a:p>
        </p:txBody>
      </p:sp>
      <p:sp>
        <p:nvSpPr>
          <p:cNvPr id="44" name="TextBox 43"/>
          <p:cNvSpPr txBox="1"/>
          <p:nvPr/>
        </p:nvSpPr>
        <p:spPr>
          <a:xfrm>
            <a:off x="841248" y="3411885"/>
            <a:ext cx="932688" cy="219095"/>
          </a:xfrm>
          <a:prstGeom prst="rect">
            <a:avLst/>
          </a:prstGeom>
          <a:noFill/>
        </p:spPr>
        <p:txBody>
          <a:bodyPr wrap="square" lIns="0" tIns="0" rIns="0" bIns="0" anchor="ctr">
            <a:spAutoFit/>
          </a:bodyPr>
          <a:lstStyle/>
          <a:p>
            <a:pPr algn="l">
              <a:lnSpc>
                <a:spcPct val="92000"/>
              </a:lnSpc>
              <a:spcBef>
                <a:spcPts val="0"/>
              </a:spcBef>
              <a:spcAft>
                <a:spcPts val="0"/>
              </a:spcAft>
            </a:pPr>
            <a:r>
              <a:rPr lang="en-US" sz="720" b="0">
                <a:solidFill>
                  <a:srgbClr val="62544F"/>
                </a:solidFill>
                <a:latin typeface="Arial"/>
              </a:rPr>
              <a:t>Insurance / reinsurance</a:t>
            </a:r>
          </a:p>
        </p:txBody>
      </p:sp>
      <p:sp>
        <p:nvSpPr>
          <p:cNvPr id="45" name="TextBox 44"/>
          <p:cNvSpPr txBox="1"/>
          <p:nvPr/>
        </p:nvSpPr>
        <p:spPr>
          <a:xfrm>
            <a:off x="1801368" y="3244501"/>
            <a:ext cx="612648" cy="106516"/>
          </a:xfrm>
          <a:prstGeom prst="rect">
            <a:avLst/>
          </a:prstGeom>
          <a:noFill/>
        </p:spPr>
        <p:txBody>
          <a:bodyPr wrap="square" lIns="0" tIns="0" rIns="0" bIns="0" anchor="ctr">
            <a:spAutoFit/>
          </a:bodyPr>
          <a:lstStyle/>
          <a:p>
            <a:pPr algn="l">
              <a:lnSpc>
                <a:spcPct val="92000"/>
              </a:lnSpc>
              <a:spcBef>
                <a:spcPts val="0"/>
              </a:spcBef>
              <a:spcAft>
                <a:spcPts val="0"/>
              </a:spcAft>
            </a:pPr>
            <a:r>
              <a:rPr lang="en-US" sz="700" b="1">
                <a:solidFill>
                  <a:srgbClr val="62544F"/>
                </a:solidFill>
                <a:latin typeface="Arial"/>
              </a:rPr>
              <a:t>NEW</a:t>
            </a:r>
          </a:p>
        </p:txBody>
      </p:sp>
      <p:sp>
        <p:nvSpPr>
          <p:cNvPr id="46" name="TextBox 45"/>
          <p:cNvSpPr txBox="1"/>
          <p:nvPr/>
        </p:nvSpPr>
        <p:spPr>
          <a:xfrm>
            <a:off x="1801368" y="3410562"/>
            <a:ext cx="2446020" cy="226881"/>
          </a:xfrm>
          <a:prstGeom prst="rect">
            <a:avLst/>
          </a:prstGeom>
          <a:noFill/>
        </p:spPr>
        <p:txBody>
          <a:bodyPr wrap="square" lIns="0" tIns="0" rIns="0" bIns="0" anchor="ctr">
            <a:spAutoFit/>
          </a:bodyPr>
          <a:lstStyle/>
          <a:p>
            <a:pPr algn="l">
              <a:lnSpc>
                <a:spcPct val="88000"/>
              </a:lnSpc>
              <a:spcBef>
                <a:spcPts val="0"/>
              </a:spcBef>
              <a:spcAft>
                <a:spcPts val="0"/>
              </a:spcAft>
            </a:pPr>
            <a:r>
              <a:rPr lang="en-US" sz="819" b="1">
                <a:solidFill>
                  <a:srgbClr val="161623"/>
                </a:solidFill>
                <a:latin typeface="Arial"/>
              </a:rPr>
              <a:t>Underwriting + claims document intelligence</a:t>
            </a:r>
          </a:p>
          <a:p>
            <a:pPr algn="l">
              <a:lnSpc>
                <a:spcPct val="88000"/>
              </a:lnSpc>
              <a:spcBef>
                <a:spcPts val="0"/>
              </a:spcBef>
              <a:spcAft>
                <a:spcPts val="0"/>
              </a:spcAft>
            </a:pPr>
            <a:r>
              <a:rPr lang="en-US" sz="740" b="0">
                <a:solidFill>
                  <a:srgbClr val="62544F"/>
                </a:solidFill>
                <a:latin typeface="Arial"/>
              </a:rPr>
              <a:t>Benchmark 500–1K files on quality + review rate</a:t>
            </a:r>
          </a:p>
        </p:txBody>
      </p:sp>
      <p:sp>
        <p:nvSpPr>
          <p:cNvPr id="47" name="Rectangle 46"/>
          <p:cNvSpPr/>
          <p:nvPr/>
        </p:nvSpPr>
        <p:spPr>
          <a:xfrm>
            <a:off x="4951476" y="3233485"/>
            <a:ext cx="484632" cy="422489"/>
          </a:xfrm>
          <a:prstGeom prst="rect">
            <a:avLst/>
          </a:prstGeom>
          <a:solidFill>
            <a:srgbClr val="FFE8D6"/>
          </a:solidFill>
          <a:ln>
            <a:noFill/>
          </a:ln>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lnSpc>
                <a:spcPct val="92000"/>
              </a:lnSpc>
              <a:spcBef>
                <a:spcPts val="0"/>
              </a:spcBef>
              <a:spcAft>
                <a:spcPts val="0"/>
              </a:spcAft>
            </a:pPr>
            <a:r>
              <a:rPr lang="en-US" sz="680" b="1">
                <a:solidFill>
                  <a:srgbClr val="161623"/>
                </a:solidFill>
                <a:latin typeface="Arial"/>
              </a:rPr>
              <a:t>NT
MED</a:t>
            </a:r>
          </a:p>
        </p:txBody>
      </p:sp>
      <p:sp>
        <p:nvSpPr>
          <p:cNvPr id="48" name="Rectangle 47"/>
          <p:cNvSpPr/>
          <p:nvPr/>
        </p:nvSpPr>
        <p:spPr>
          <a:xfrm>
            <a:off x="5463540" y="3233485"/>
            <a:ext cx="521207" cy="422489"/>
          </a:xfrm>
          <a:prstGeom prst="rect">
            <a:avLst/>
          </a:prstGeom>
          <a:solidFill>
            <a:srgbClr val="FF8755"/>
          </a:solidFill>
          <a:ln>
            <a:noFill/>
          </a:ln>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lnSpc>
                <a:spcPct val="92000"/>
              </a:lnSpc>
              <a:spcBef>
                <a:spcPts val="0"/>
              </a:spcBef>
              <a:spcAft>
                <a:spcPts val="0"/>
              </a:spcAft>
            </a:pPr>
            <a:r>
              <a:rPr lang="en-US" sz="680" b="1">
                <a:solidFill>
                  <a:srgbClr val="161623"/>
                </a:solidFill>
                <a:latin typeface="Arial"/>
              </a:rPr>
              <a:t>LT
HIGH</a:t>
            </a:r>
          </a:p>
        </p:txBody>
      </p:sp>
      <p:sp>
        <p:nvSpPr>
          <p:cNvPr id="49" name="TextBox 48"/>
          <p:cNvSpPr txBox="1"/>
          <p:nvPr/>
        </p:nvSpPr>
        <p:spPr>
          <a:xfrm>
            <a:off x="6213348" y="1862178"/>
            <a:ext cx="1131570" cy="174931"/>
          </a:xfrm>
          <a:prstGeom prst="rect">
            <a:avLst/>
          </a:prstGeom>
          <a:noFill/>
        </p:spPr>
        <p:txBody>
          <a:bodyPr wrap="square" lIns="0" tIns="0" rIns="0" bIns="0" anchor="ctr">
            <a:spAutoFit/>
          </a:bodyPr>
          <a:lstStyle/>
          <a:p>
            <a:pPr algn="l">
              <a:lnSpc>
                <a:spcPct val="92000"/>
              </a:lnSpc>
              <a:spcBef>
                <a:spcPts val="0"/>
              </a:spcBef>
              <a:spcAft>
                <a:spcPts val="0"/>
              </a:spcAft>
            </a:pPr>
            <a:r>
              <a:rPr lang="en-US" sz="1150" b="1">
                <a:solidFill>
                  <a:srgbClr val="FA500E"/>
                </a:solidFill>
                <a:latin typeface="Arial"/>
              </a:rPr>
              <a:t>EMBED</a:t>
            </a:r>
          </a:p>
        </p:txBody>
      </p:sp>
      <p:sp>
        <p:nvSpPr>
          <p:cNvPr id="50" name="TextBox 49"/>
          <p:cNvSpPr txBox="1"/>
          <p:nvPr/>
        </p:nvSpPr>
        <p:spPr>
          <a:xfrm>
            <a:off x="7344918" y="1881193"/>
            <a:ext cx="4011930" cy="136900"/>
          </a:xfrm>
          <a:prstGeom prst="rect">
            <a:avLst/>
          </a:prstGeom>
          <a:noFill/>
        </p:spPr>
        <p:txBody>
          <a:bodyPr wrap="square" lIns="0" tIns="0" rIns="0" bIns="0" anchor="ctr">
            <a:spAutoFit/>
          </a:bodyPr>
          <a:lstStyle/>
          <a:p>
            <a:pPr algn="r">
              <a:lnSpc>
                <a:spcPct val="92000"/>
              </a:lnSpc>
              <a:spcBef>
                <a:spcPts val="0"/>
              </a:spcBef>
              <a:spcAft>
                <a:spcPts val="0"/>
              </a:spcAft>
            </a:pPr>
            <a:r>
              <a:rPr lang="en-US" sz="900" b="1">
                <a:solidFill>
                  <a:srgbClr val="161623"/>
                </a:solidFill>
                <a:latin typeface="Arial"/>
              </a:rPr>
              <a:t>Turn software compatibility into distribution leverage</a:t>
            </a:r>
          </a:p>
        </p:txBody>
      </p:sp>
      <p:sp>
        <p:nvSpPr>
          <p:cNvPr id="51" name="Rectangle 50"/>
          <p:cNvSpPr/>
          <p:nvPr/>
        </p:nvSpPr>
        <p:spPr>
          <a:xfrm>
            <a:off x="6213348" y="2106849"/>
            <a:ext cx="5143500" cy="24563"/>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213348" y="2463724"/>
            <a:ext cx="932688" cy="146063"/>
          </a:xfrm>
          <a:prstGeom prst="rect">
            <a:avLst/>
          </a:prstGeom>
          <a:noFill/>
        </p:spPr>
        <p:txBody>
          <a:bodyPr wrap="square" lIns="0" tIns="0" rIns="0" bIns="0" anchor="ctr">
            <a:spAutoFit/>
          </a:bodyPr>
          <a:lstStyle/>
          <a:p>
            <a:pPr algn="l">
              <a:lnSpc>
                <a:spcPct val="92000"/>
              </a:lnSpc>
              <a:spcBef>
                <a:spcPts val="0"/>
              </a:spcBef>
              <a:spcAft>
                <a:spcPts val="0"/>
              </a:spcAft>
            </a:pPr>
            <a:r>
              <a:rPr lang="en-US" sz="960" b="1">
                <a:solidFill>
                  <a:srgbClr val="FA500E"/>
                </a:solidFill>
                <a:latin typeface="Arial"/>
              </a:rPr>
              <a:t>Quantexa</a:t>
            </a:r>
          </a:p>
        </p:txBody>
      </p:sp>
      <p:sp>
        <p:nvSpPr>
          <p:cNvPr id="53" name="TextBox 52"/>
          <p:cNvSpPr txBox="1"/>
          <p:nvPr/>
        </p:nvSpPr>
        <p:spPr>
          <a:xfrm>
            <a:off x="6213348" y="3014169"/>
            <a:ext cx="932688" cy="109547"/>
          </a:xfrm>
          <a:prstGeom prst="rect">
            <a:avLst/>
          </a:prstGeom>
          <a:noFill/>
        </p:spPr>
        <p:txBody>
          <a:bodyPr wrap="square" lIns="0" tIns="0" rIns="0" bIns="0" anchor="ctr">
            <a:spAutoFit/>
          </a:bodyPr>
          <a:lstStyle/>
          <a:p>
            <a:pPr algn="l">
              <a:lnSpc>
                <a:spcPct val="92000"/>
              </a:lnSpc>
              <a:spcBef>
                <a:spcPts val="0"/>
              </a:spcBef>
              <a:spcAft>
                <a:spcPts val="0"/>
              </a:spcAft>
            </a:pPr>
            <a:r>
              <a:rPr lang="en-US" sz="720" b="0">
                <a:solidFill>
                  <a:srgbClr val="62544F"/>
                </a:solidFill>
                <a:latin typeface="Arial"/>
              </a:rPr>
              <a:t>FSI software / OEM</a:t>
            </a:r>
          </a:p>
        </p:txBody>
      </p:sp>
      <p:sp>
        <p:nvSpPr>
          <p:cNvPr id="54" name="TextBox 53"/>
          <p:cNvSpPr txBox="1"/>
          <p:nvPr/>
        </p:nvSpPr>
        <p:spPr>
          <a:xfrm>
            <a:off x="7173468" y="2344665"/>
            <a:ext cx="612648" cy="106516"/>
          </a:xfrm>
          <a:prstGeom prst="rect">
            <a:avLst/>
          </a:prstGeom>
          <a:noFill/>
        </p:spPr>
        <p:txBody>
          <a:bodyPr wrap="square" lIns="0" tIns="0" rIns="0" bIns="0" anchor="ctr">
            <a:spAutoFit/>
          </a:bodyPr>
          <a:lstStyle/>
          <a:p>
            <a:pPr algn="l">
              <a:lnSpc>
                <a:spcPct val="92000"/>
              </a:lnSpc>
              <a:spcBef>
                <a:spcPts val="0"/>
              </a:spcBef>
              <a:spcAft>
                <a:spcPts val="0"/>
              </a:spcAft>
            </a:pPr>
            <a:r>
              <a:rPr lang="en-US" sz="700" b="1">
                <a:solidFill>
                  <a:srgbClr val="5B3A63"/>
                </a:solidFill>
                <a:latin typeface="Arial"/>
              </a:rPr>
              <a:t>ADJACENT</a:t>
            </a:r>
          </a:p>
        </p:txBody>
      </p:sp>
      <p:sp>
        <p:nvSpPr>
          <p:cNvPr id="55" name="TextBox 54"/>
          <p:cNvSpPr txBox="1"/>
          <p:nvPr/>
        </p:nvSpPr>
        <p:spPr>
          <a:xfrm>
            <a:off x="7173468" y="2909372"/>
            <a:ext cx="2446020" cy="334567"/>
          </a:xfrm>
          <a:prstGeom prst="rect">
            <a:avLst/>
          </a:prstGeom>
          <a:noFill/>
        </p:spPr>
        <p:txBody>
          <a:bodyPr wrap="square" lIns="0" tIns="0" rIns="0" bIns="0" anchor="ctr">
            <a:spAutoFit/>
          </a:bodyPr>
          <a:lstStyle/>
          <a:p>
            <a:pPr algn="l">
              <a:lnSpc>
                <a:spcPct val="88000"/>
              </a:lnSpc>
              <a:spcBef>
                <a:spcPts val="0"/>
              </a:spcBef>
              <a:spcAft>
                <a:spcPts val="0"/>
              </a:spcAft>
            </a:pPr>
            <a:r>
              <a:rPr lang="en-US" sz="819" b="1">
                <a:solidFill>
                  <a:srgbClr val="161623"/>
                </a:solidFill>
                <a:latin typeface="Arial"/>
              </a:rPr>
              <a:t>Embed Mistral into Financial Crime Investigator</a:t>
            </a:r>
          </a:p>
          <a:p>
            <a:pPr algn="l">
              <a:lnSpc>
                <a:spcPct val="88000"/>
              </a:lnSpc>
              <a:spcBef>
                <a:spcPts val="0"/>
              </a:spcBef>
              <a:spcAft>
                <a:spcPts val="0"/>
              </a:spcAft>
            </a:pPr>
            <a:r>
              <a:rPr lang="en-US" sz="740" b="0">
                <a:solidFill>
                  <a:srgbClr val="62544F"/>
                </a:solidFill>
                <a:latin typeface="Arial"/>
              </a:rPr>
              <a:t>2-week Agent Gateway prototype → one mutual-bank evaluation</a:t>
            </a:r>
          </a:p>
        </p:txBody>
      </p:sp>
      <p:sp>
        <p:nvSpPr>
          <p:cNvPr id="56" name="Rectangle 55"/>
          <p:cNvSpPr/>
          <p:nvPr/>
        </p:nvSpPr>
        <p:spPr>
          <a:xfrm>
            <a:off x="10323576" y="2205102"/>
            <a:ext cx="484632" cy="422489"/>
          </a:xfrm>
          <a:prstGeom prst="rect">
            <a:avLst/>
          </a:prstGeom>
          <a:solidFill>
            <a:srgbClr val="FFE8D6"/>
          </a:solidFill>
          <a:ln>
            <a:noFill/>
          </a:ln>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lnSpc>
                <a:spcPct val="92000"/>
              </a:lnSpc>
              <a:spcBef>
                <a:spcPts val="0"/>
              </a:spcBef>
              <a:spcAft>
                <a:spcPts val="0"/>
              </a:spcAft>
            </a:pPr>
            <a:r>
              <a:rPr lang="en-US" sz="680" b="1">
                <a:solidFill>
                  <a:srgbClr val="161623"/>
                </a:solidFill>
                <a:latin typeface="Arial"/>
              </a:rPr>
              <a:t>NT
MED</a:t>
            </a:r>
          </a:p>
        </p:txBody>
      </p:sp>
      <p:sp>
        <p:nvSpPr>
          <p:cNvPr id="57" name="Rectangle 56"/>
          <p:cNvSpPr/>
          <p:nvPr/>
        </p:nvSpPr>
        <p:spPr>
          <a:xfrm>
            <a:off x="10835640" y="2205102"/>
            <a:ext cx="521207" cy="422489"/>
          </a:xfrm>
          <a:prstGeom prst="rect">
            <a:avLst/>
          </a:prstGeom>
          <a:solidFill>
            <a:srgbClr val="5B3A63"/>
          </a:solidFill>
          <a:ln>
            <a:noFill/>
          </a:ln>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lnSpc>
                <a:spcPct val="92000"/>
              </a:lnSpc>
              <a:spcBef>
                <a:spcPts val="0"/>
              </a:spcBef>
              <a:spcAft>
                <a:spcPts val="0"/>
              </a:spcAft>
            </a:pPr>
            <a:r>
              <a:rPr lang="en-US" sz="680" b="1">
                <a:solidFill>
                  <a:srgbClr val="FFFFFF"/>
                </a:solidFill>
                <a:latin typeface="Arial"/>
              </a:rPr>
              <a:t>LT
EXTREME</a:t>
            </a:r>
          </a:p>
        </p:txBody>
      </p:sp>
      <p:sp>
        <p:nvSpPr>
          <p:cNvPr id="58" name="TextBox 57"/>
          <p:cNvSpPr txBox="1"/>
          <p:nvPr/>
        </p:nvSpPr>
        <p:spPr>
          <a:xfrm>
            <a:off x="841248" y="3964796"/>
            <a:ext cx="1131570" cy="174931"/>
          </a:xfrm>
          <a:prstGeom prst="rect">
            <a:avLst/>
          </a:prstGeom>
          <a:noFill/>
        </p:spPr>
        <p:txBody>
          <a:bodyPr wrap="square" lIns="0" tIns="0" rIns="0" bIns="0" anchor="ctr">
            <a:spAutoFit/>
          </a:bodyPr>
          <a:lstStyle/>
          <a:p>
            <a:pPr algn="l">
              <a:lnSpc>
                <a:spcPct val="92000"/>
              </a:lnSpc>
              <a:spcBef>
                <a:spcPts val="0"/>
              </a:spcBef>
              <a:spcAft>
                <a:spcPts val="0"/>
              </a:spcAft>
            </a:pPr>
            <a:r>
              <a:rPr lang="en-US" sz="1150" b="1">
                <a:solidFill>
                  <a:srgbClr val="FA500E"/>
                </a:solidFill>
                <a:latin typeface="Arial"/>
              </a:rPr>
              <a:t>DISTRIBUTE</a:t>
            </a:r>
          </a:p>
        </p:txBody>
      </p:sp>
      <p:sp>
        <p:nvSpPr>
          <p:cNvPr id="59" name="TextBox 58"/>
          <p:cNvSpPr txBox="1"/>
          <p:nvPr/>
        </p:nvSpPr>
        <p:spPr>
          <a:xfrm>
            <a:off x="1972818" y="3983811"/>
            <a:ext cx="4011930" cy="136900"/>
          </a:xfrm>
          <a:prstGeom prst="rect">
            <a:avLst/>
          </a:prstGeom>
          <a:noFill/>
        </p:spPr>
        <p:txBody>
          <a:bodyPr wrap="square" lIns="0" tIns="0" rIns="0" bIns="0" anchor="ctr">
            <a:spAutoFit/>
          </a:bodyPr>
          <a:lstStyle/>
          <a:p>
            <a:pPr algn="r">
              <a:lnSpc>
                <a:spcPct val="92000"/>
              </a:lnSpc>
              <a:spcBef>
                <a:spcPts val="0"/>
              </a:spcBef>
              <a:spcAft>
                <a:spcPts val="0"/>
              </a:spcAft>
            </a:pPr>
            <a:r>
              <a:rPr lang="en-US" sz="900" b="1">
                <a:solidFill>
                  <a:srgbClr val="161623"/>
                </a:solidFill>
                <a:latin typeface="Arial"/>
              </a:rPr>
              <a:t>Win reach through platforms already serving the industry</a:t>
            </a:r>
          </a:p>
        </p:txBody>
      </p:sp>
      <p:sp>
        <p:nvSpPr>
          <p:cNvPr id="60" name="Rectangle 59"/>
          <p:cNvSpPr/>
          <p:nvPr/>
        </p:nvSpPr>
        <p:spPr>
          <a:xfrm>
            <a:off x="841248" y="4209467"/>
            <a:ext cx="5143500" cy="24563"/>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41248" y="4345239"/>
            <a:ext cx="932688" cy="146063"/>
          </a:xfrm>
          <a:prstGeom prst="rect">
            <a:avLst/>
          </a:prstGeom>
          <a:noFill/>
        </p:spPr>
        <p:txBody>
          <a:bodyPr wrap="square" lIns="0" tIns="0" rIns="0" bIns="0" anchor="ctr">
            <a:spAutoFit/>
          </a:bodyPr>
          <a:lstStyle/>
          <a:p>
            <a:pPr algn="l">
              <a:lnSpc>
                <a:spcPct val="92000"/>
              </a:lnSpc>
              <a:spcBef>
                <a:spcPts val="0"/>
              </a:spcBef>
              <a:spcAft>
                <a:spcPts val="0"/>
              </a:spcAft>
            </a:pPr>
            <a:r>
              <a:rPr lang="en-US" sz="960" b="1">
                <a:solidFill>
                  <a:srgbClr val="FA500E"/>
                </a:solidFill>
                <a:latin typeface="Arial"/>
              </a:rPr>
              <a:t>Visa</a:t>
            </a:r>
          </a:p>
        </p:txBody>
      </p:sp>
      <p:sp>
        <p:nvSpPr>
          <p:cNvPr id="62" name="TextBox 61"/>
          <p:cNvSpPr txBox="1"/>
          <p:nvPr/>
        </p:nvSpPr>
        <p:spPr>
          <a:xfrm>
            <a:off x="841248" y="4540893"/>
            <a:ext cx="932688" cy="109547"/>
          </a:xfrm>
          <a:prstGeom prst="rect">
            <a:avLst/>
          </a:prstGeom>
          <a:noFill/>
        </p:spPr>
        <p:txBody>
          <a:bodyPr wrap="square" lIns="0" tIns="0" rIns="0" bIns="0" anchor="ctr">
            <a:spAutoFit/>
          </a:bodyPr>
          <a:lstStyle/>
          <a:p>
            <a:pPr algn="l">
              <a:lnSpc>
                <a:spcPct val="92000"/>
              </a:lnSpc>
              <a:spcBef>
                <a:spcPts val="0"/>
              </a:spcBef>
              <a:spcAft>
                <a:spcPts val="0"/>
              </a:spcAft>
            </a:pPr>
            <a:r>
              <a:rPr lang="en-US" sz="720" b="0">
                <a:solidFill>
                  <a:srgbClr val="62544F"/>
                </a:solidFill>
                <a:latin typeface="Arial"/>
              </a:rPr>
              <a:t>Payments</a:t>
            </a:r>
          </a:p>
        </p:txBody>
      </p:sp>
      <p:sp>
        <p:nvSpPr>
          <p:cNvPr id="63" name="TextBox 62"/>
          <p:cNvSpPr txBox="1"/>
          <p:nvPr/>
        </p:nvSpPr>
        <p:spPr>
          <a:xfrm>
            <a:off x="1801368" y="4318736"/>
            <a:ext cx="612648" cy="106516"/>
          </a:xfrm>
          <a:prstGeom prst="rect">
            <a:avLst/>
          </a:prstGeom>
          <a:noFill/>
        </p:spPr>
        <p:txBody>
          <a:bodyPr wrap="square" lIns="0" tIns="0" rIns="0" bIns="0" anchor="ctr">
            <a:spAutoFit/>
          </a:bodyPr>
          <a:lstStyle/>
          <a:p>
            <a:pPr algn="l">
              <a:lnSpc>
                <a:spcPct val="92000"/>
              </a:lnSpc>
              <a:spcBef>
                <a:spcPts val="0"/>
              </a:spcBef>
              <a:spcAft>
                <a:spcPts val="0"/>
              </a:spcAft>
            </a:pPr>
            <a:r>
              <a:rPr lang="en-US" sz="700" b="1">
                <a:solidFill>
                  <a:srgbClr val="FA500E"/>
                </a:solidFill>
                <a:latin typeface="Arial"/>
              </a:rPr>
              <a:t>EXISTING</a:t>
            </a:r>
          </a:p>
        </p:txBody>
      </p:sp>
      <p:sp>
        <p:nvSpPr>
          <p:cNvPr id="64" name="TextBox 63"/>
          <p:cNvSpPr txBox="1"/>
          <p:nvPr/>
        </p:nvSpPr>
        <p:spPr>
          <a:xfrm>
            <a:off x="1801368" y="4484797"/>
            <a:ext cx="2446020" cy="226881"/>
          </a:xfrm>
          <a:prstGeom prst="rect">
            <a:avLst/>
          </a:prstGeom>
          <a:noFill/>
        </p:spPr>
        <p:txBody>
          <a:bodyPr wrap="square" lIns="0" tIns="0" rIns="0" bIns="0" anchor="ctr">
            <a:spAutoFit/>
          </a:bodyPr>
          <a:lstStyle/>
          <a:p>
            <a:pPr algn="l">
              <a:lnSpc>
                <a:spcPct val="88000"/>
              </a:lnSpc>
              <a:spcBef>
                <a:spcPts val="0"/>
              </a:spcBef>
              <a:spcAft>
                <a:spcPts val="0"/>
              </a:spcAft>
            </a:pPr>
            <a:r>
              <a:rPr lang="en-US" sz="819" b="1">
                <a:solidFill>
                  <a:srgbClr val="161623"/>
                </a:solidFill>
                <a:latin typeface="Arial"/>
              </a:rPr>
              <a:t>Scale an agentic-commerce production use case</a:t>
            </a:r>
          </a:p>
          <a:p>
            <a:pPr algn="l">
              <a:lnSpc>
                <a:spcPct val="88000"/>
              </a:lnSpc>
              <a:spcBef>
                <a:spcPts val="0"/>
              </a:spcBef>
              <a:spcAft>
                <a:spcPts val="0"/>
              </a:spcAft>
            </a:pPr>
            <a:r>
              <a:rPr lang="en-US" sz="740" b="0">
                <a:solidFill>
                  <a:srgbClr val="62544F"/>
                </a:solidFill>
                <a:latin typeface="Arial"/>
              </a:rPr>
              <a:t>One Mistral agent + one issuer / merchant proof</a:t>
            </a:r>
          </a:p>
        </p:txBody>
      </p:sp>
      <p:sp>
        <p:nvSpPr>
          <p:cNvPr id="65" name="Rectangle 64"/>
          <p:cNvSpPr/>
          <p:nvPr/>
        </p:nvSpPr>
        <p:spPr>
          <a:xfrm>
            <a:off x="4951476" y="4307720"/>
            <a:ext cx="484632" cy="422489"/>
          </a:xfrm>
          <a:prstGeom prst="rect">
            <a:avLst/>
          </a:prstGeom>
          <a:solidFill>
            <a:srgbClr val="FF8755"/>
          </a:solidFill>
          <a:ln>
            <a:noFill/>
          </a:ln>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lnSpc>
                <a:spcPct val="92000"/>
              </a:lnSpc>
              <a:spcBef>
                <a:spcPts val="0"/>
              </a:spcBef>
              <a:spcAft>
                <a:spcPts val="0"/>
              </a:spcAft>
            </a:pPr>
            <a:r>
              <a:rPr lang="en-US" sz="680" b="1">
                <a:solidFill>
                  <a:srgbClr val="161623"/>
                </a:solidFill>
                <a:latin typeface="Arial"/>
              </a:rPr>
              <a:t>NT
HIGH</a:t>
            </a:r>
          </a:p>
        </p:txBody>
      </p:sp>
      <p:sp>
        <p:nvSpPr>
          <p:cNvPr id="66" name="Rectangle 65"/>
          <p:cNvSpPr/>
          <p:nvPr/>
        </p:nvSpPr>
        <p:spPr>
          <a:xfrm>
            <a:off x="5463540" y="4307720"/>
            <a:ext cx="521207" cy="422489"/>
          </a:xfrm>
          <a:prstGeom prst="rect">
            <a:avLst/>
          </a:prstGeom>
          <a:solidFill>
            <a:srgbClr val="5B3A63"/>
          </a:solidFill>
          <a:ln>
            <a:noFill/>
          </a:ln>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lnSpc>
                <a:spcPct val="92000"/>
              </a:lnSpc>
              <a:spcBef>
                <a:spcPts val="0"/>
              </a:spcBef>
              <a:spcAft>
                <a:spcPts val="0"/>
              </a:spcAft>
            </a:pPr>
            <a:r>
              <a:rPr lang="en-US" sz="680" b="1">
                <a:solidFill>
                  <a:srgbClr val="FFFFFF"/>
                </a:solidFill>
                <a:latin typeface="Arial"/>
              </a:rPr>
              <a:t>LT
EXTREME</a:t>
            </a:r>
          </a:p>
        </p:txBody>
      </p:sp>
      <p:sp>
        <p:nvSpPr>
          <p:cNvPr id="67" name="Rectangle 66"/>
          <p:cNvSpPr/>
          <p:nvPr/>
        </p:nvSpPr>
        <p:spPr>
          <a:xfrm>
            <a:off x="841248" y="4802261"/>
            <a:ext cx="5143500" cy="7860"/>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41248" y="4859430"/>
            <a:ext cx="932688" cy="146063"/>
          </a:xfrm>
          <a:prstGeom prst="rect">
            <a:avLst/>
          </a:prstGeom>
          <a:noFill/>
        </p:spPr>
        <p:txBody>
          <a:bodyPr wrap="square" lIns="0" tIns="0" rIns="0" bIns="0" anchor="ctr">
            <a:spAutoFit/>
          </a:bodyPr>
          <a:lstStyle/>
          <a:p>
            <a:pPr algn="l">
              <a:lnSpc>
                <a:spcPct val="92000"/>
              </a:lnSpc>
              <a:spcBef>
                <a:spcPts val="0"/>
              </a:spcBef>
              <a:spcAft>
                <a:spcPts val="0"/>
              </a:spcAft>
            </a:pPr>
            <a:r>
              <a:rPr lang="en-US" sz="960" b="1">
                <a:solidFill>
                  <a:srgbClr val="FA500E"/>
                </a:solidFill>
                <a:latin typeface="Arial"/>
              </a:rPr>
              <a:t>LSEG</a:t>
            </a:r>
          </a:p>
        </p:txBody>
      </p:sp>
      <p:sp>
        <p:nvSpPr>
          <p:cNvPr id="69" name="TextBox 68"/>
          <p:cNvSpPr txBox="1"/>
          <p:nvPr/>
        </p:nvSpPr>
        <p:spPr>
          <a:xfrm>
            <a:off x="841248" y="5055085"/>
            <a:ext cx="932688" cy="109547"/>
          </a:xfrm>
          <a:prstGeom prst="rect">
            <a:avLst/>
          </a:prstGeom>
          <a:noFill/>
        </p:spPr>
        <p:txBody>
          <a:bodyPr wrap="square" lIns="0" tIns="0" rIns="0" bIns="0" anchor="ctr">
            <a:spAutoFit/>
          </a:bodyPr>
          <a:lstStyle/>
          <a:p>
            <a:pPr algn="l">
              <a:lnSpc>
                <a:spcPct val="92000"/>
              </a:lnSpc>
              <a:spcBef>
                <a:spcPts val="0"/>
              </a:spcBef>
              <a:spcAft>
                <a:spcPts val="0"/>
              </a:spcAft>
            </a:pPr>
            <a:r>
              <a:rPr lang="en-US" sz="720" b="0">
                <a:solidFill>
                  <a:srgbClr val="62544F"/>
                </a:solidFill>
                <a:latin typeface="Arial"/>
              </a:rPr>
              <a:t>Financial data</a:t>
            </a:r>
          </a:p>
        </p:txBody>
      </p:sp>
      <p:sp>
        <p:nvSpPr>
          <p:cNvPr id="70" name="TextBox 69"/>
          <p:cNvSpPr txBox="1"/>
          <p:nvPr/>
        </p:nvSpPr>
        <p:spPr>
          <a:xfrm>
            <a:off x="1801368" y="4832927"/>
            <a:ext cx="612648" cy="106516"/>
          </a:xfrm>
          <a:prstGeom prst="rect">
            <a:avLst/>
          </a:prstGeom>
          <a:noFill/>
        </p:spPr>
        <p:txBody>
          <a:bodyPr wrap="square" lIns="0" tIns="0" rIns="0" bIns="0" anchor="ctr">
            <a:spAutoFit/>
          </a:bodyPr>
          <a:lstStyle/>
          <a:p>
            <a:pPr algn="l">
              <a:lnSpc>
                <a:spcPct val="92000"/>
              </a:lnSpc>
              <a:spcBef>
                <a:spcPts val="0"/>
              </a:spcBef>
              <a:spcAft>
                <a:spcPts val="0"/>
              </a:spcAft>
            </a:pPr>
            <a:r>
              <a:rPr lang="en-US" sz="700" b="1">
                <a:solidFill>
                  <a:srgbClr val="62544F"/>
                </a:solidFill>
                <a:latin typeface="Arial"/>
              </a:rPr>
              <a:t>NEW</a:t>
            </a:r>
          </a:p>
        </p:txBody>
      </p:sp>
      <p:sp>
        <p:nvSpPr>
          <p:cNvPr id="71" name="TextBox 70"/>
          <p:cNvSpPr txBox="1"/>
          <p:nvPr/>
        </p:nvSpPr>
        <p:spPr>
          <a:xfrm>
            <a:off x="1801368" y="4940175"/>
            <a:ext cx="2446020" cy="344508"/>
          </a:xfrm>
          <a:prstGeom prst="rect">
            <a:avLst/>
          </a:prstGeom>
          <a:noFill/>
        </p:spPr>
        <p:txBody>
          <a:bodyPr wrap="square" lIns="0" tIns="0" rIns="0" bIns="0" anchor="ctr">
            <a:spAutoFit/>
          </a:bodyPr>
          <a:lstStyle/>
          <a:p>
            <a:pPr algn="l">
              <a:lnSpc>
                <a:spcPct val="88000"/>
              </a:lnSpc>
              <a:spcBef>
                <a:spcPts val="0"/>
              </a:spcBef>
              <a:spcAft>
                <a:spcPts val="0"/>
              </a:spcAft>
            </a:pPr>
            <a:r>
              <a:rPr lang="en-US" sz="819" b="1">
                <a:solidFill>
                  <a:srgbClr val="161623"/>
                </a:solidFill>
                <a:latin typeface="Arial"/>
              </a:rPr>
              <a:t>Trusted LSEG data + Mistral financial-intelligence agents</a:t>
            </a:r>
          </a:p>
          <a:p>
            <a:pPr algn="l">
              <a:lnSpc>
                <a:spcPct val="88000"/>
              </a:lnSpc>
              <a:spcBef>
                <a:spcPts val="0"/>
              </a:spcBef>
              <a:spcAft>
                <a:spcPts val="0"/>
              </a:spcAft>
            </a:pPr>
            <a:r>
              <a:rPr lang="en-US" sz="740" b="0">
                <a:solidFill>
                  <a:srgbClr val="62544F"/>
                </a:solidFill>
                <a:latin typeface="Arial"/>
              </a:rPr>
              <a:t>One-week MCP prototype for equity / credit research</a:t>
            </a:r>
          </a:p>
        </p:txBody>
      </p:sp>
      <p:sp>
        <p:nvSpPr>
          <p:cNvPr id="72" name="Rectangle 71"/>
          <p:cNvSpPr/>
          <p:nvPr/>
        </p:nvSpPr>
        <p:spPr>
          <a:xfrm>
            <a:off x="4951476" y="4821912"/>
            <a:ext cx="484632" cy="422489"/>
          </a:xfrm>
          <a:prstGeom prst="rect">
            <a:avLst/>
          </a:prstGeom>
          <a:solidFill>
            <a:srgbClr val="FFE8D6"/>
          </a:solidFill>
          <a:ln>
            <a:noFill/>
          </a:ln>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lnSpc>
                <a:spcPct val="92000"/>
              </a:lnSpc>
              <a:spcBef>
                <a:spcPts val="0"/>
              </a:spcBef>
              <a:spcAft>
                <a:spcPts val="0"/>
              </a:spcAft>
            </a:pPr>
            <a:r>
              <a:rPr lang="en-US" sz="680" b="1">
                <a:solidFill>
                  <a:srgbClr val="161623"/>
                </a:solidFill>
                <a:latin typeface="Arial"/>
              </a:rPr>
              <a:t>NT
MED</a:t>
            </a:r>
          </a:p>
        </p:txBody>
      </p:sp>
      <p:sp>
        <p:nvSpPr>
          <p:cNvPr id="73" name="Rectangle 72"/>
          <p:cNvSpPr/>
          <p:nvPr/>
        </p:nvSpPr>
        <p:spPr>
          <a:xfrm>
            <a:off x="5463540" y="4821912"/>
            <a:ext cx="521207" cy="422489"/>
          </a:xfrm>
          <a:prstGeom prst="rect">
            <a:avLst/>
          </a:prstGeom>
          <a:solidFill>
            <a:srgbClr val="5B3A63"/>
          </a:solidFill>
          <a:ln>
            <a:noFill/>
          </a:ln>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lnSpc>
                <a:spcPct val="92000"/>
              </a:lnSpc>
              <a:spcBef>
                <a:spcPts val="0"/>
              </a:spcBef>
              <a:spcAft>
                <a:spcPts val="0"/>
              </a:spcAft>
            </a:pPr>
            <a:r>
              <a:rPr lang="en-US" sz="680" b="1">
                <a:solidFill>
                  <a:srgbClr val="FFFFFF"/>
                </a:solidFill>
                <a:latin typeface="Arial"/>
              </a:rPr>
              <a:t>LT
EXTREME</a:t>
            </a:r>
          </a:p>
        </p:txBody>
      </p:sp>
      <p:sp>
        <p:nvSpPr>
          <p:cNvPr id="74" name="Rectangle 73"/>
          <p:cNvSpPr/>
          <p:nvPr/>
        </p:nvSpPr>
        <p:spPr>
          <a:xfrm>
            <a:off x="841248" y="5316453"/>
            <a:ext cx="5143500" cy="7860"/>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841248" y="5373622"/>
            <a:ext cx="932688" cy="146063"/>
          </a:xfrm>
          <a:prstGeom prst="rect">
            <a:avLst/>
          </a:prstGeom>
          <a:noFill/>
        </p:spPr>
        <p:txBody>
          <a:bodyPr wrap="square" lIns="0" tIns="0" rIns="0" bIns="0" anchor="ctr">
            <a:spAutoFit/>
          </a:bodyPr>
          <a:lstStyle/>
          <a:p>
            <a:pPr algn="l">
              <a:lnSpc>
                <a:spcPct val="92000"/>
              </a:lnSpc>
              <a:spcBef>
                <a:spcPts val="0"/>
              </a:spcBef>
              <a:spcAft>
                <a:spcPts val="0"/>
              </a:spcAft>
            </a:pPr>
            <a:r>
              <a:rPr lang="en-US" sz="960" b="1">
                <a:solidFill>
                  <a:srgbClr val="161623"/>
                </a:solidFill>
                <a:latin typeface="Arial"/>
              </a:rPr>
              <a:t>SWIFT</a:t>
            </a:r>
          </a:p>
        </p:txBody>
      </p:sp>
      <p:sp>
        <p:nvSpPr>
          <p:cNvPr id="76" name="TextBox 75"/>
          <p:cNvSpPr txBox="1"/>
          <p:nvPr/>
        </p:nvSpPr>
        <p:spPr>
          <a:xfrm>
            <a:off x="841248" y="5569276"/>
            <a:ext cx="932688" cy="109547"/>
          </a:xfrm>
          <a:prstGeom prst="rect">
            <a:avLst/>
          </a:prstGeom>
          <a:noFill/>
        </p:spPr>
        <p:txBody>
          <a:bodyPr wrap="square" lIns="0" tIns="0" rIns="0" bIns="0" anchor="ctr">
            <a:spAutoFit/>
          </a:bodyPr>
          <a:lstStyle/>
          <a:p>
            <a:pPr algn="l">
              <a:lnSpc>
                <a:spcPct val="92000"/>
              </a:lnSpc>
              <a:spcBef>
                <a:spcPts val="0"/>
              </a:spcBef>
              <a:spcAft>
                <a:spcPts val="0"/>
              </a:spcAft>
            </a:pPr>
            <a:r>
              <a:rPr lang="en-US" sz="720" b="0">
                <a:solidFill>
                  <a:srgbClr val="62544F"/>
                </a:solidFill>
                <a:latin typeface="Arial"/>
              </a:rPr>
              <a:t>Market infrastructure</a:t>
            </a:r>
          </a:p>
        </p:txBody>
      </p:sp>
      <p:sp>
        <p:nvSpPr>
          <p:cNvPr id="77" name="TextBox 76"/>
          <p:cNvSpPr txBox="1"/>
          <p:nvPr/>
        </p:nvSpPr>
        <p:spPr>
          <a:xfrm>
            <a:off x="1801368" y="5347119"/>
            <a:ext cx="612648" cy="106516"/>
          </a:xfrm>
          <a:prstGeom prst="rect">
            <a:avLst/>
          </a:prstGeom>
          <a:noFill/>
        </p:spPr>
        <p:txBody>
          <a:bodyPr wrap="square" lIns="0" tIns="0" rIns="0" bIns="0" anchor="ctr">
            <a:spAutoFit/>
          </a:bodyPr>
          <a:lstStyle/>
          <a:p>
            <a:pPr algn="l">
              <a:lnSpc>
                <a:spcPct val="92000"/>
              </a:lnSpc>
              <a:spcBef>
                <a:spcPts val="0"/>
              </a:spcBef>
              <a:spcAft>
                <a:spcPts val="0"/>
              </a:spcAft>
            </a:pPr>
            <a:r>
              <a:rPr lang="en-US" sz="700" b="1">
                <a:solidFill>
                  <a:srgbClr val="62544F"/>
                </a:solidFill>
                <a:latin typeface="Arial"/>
              </a:rPr>
              <a:t>NEW</a:t>
            </a:r>
          </a:p>
        </p:txBody>
      </p:sp>
      <p:sp>
        <p:nvSpPr>
          <p:cNvPr id="78" name="TextBox 77"/>
          <p:cNvSpPr txBox="1"/>
          <p:nvPr/>
        </p:nvSpPr>
        <p:spPr>
          <a:xfrm>
            <a:off x="1801368" y="5513180"/>
            <a:ext cx="2446020" cy="226881"/>
          </a:xfrm>
          <a:prstGeom prst="rect">
            <a:avLst/>
          </a:prstGeom>
          <a:noFill/>
        </p:spPr>
        <p:txBody>
          <a:bodyPr wrap="square" lIns="0" tIns="0" rIns="0" bIns="0" anchor="ctr">
            <a:spAutoFit/>
          </a:bodyPr>
          <a:lstStyle/>
          <a:p>
            <a:pPr algn="l">
              <a:lnSpc>
                <a:spcPct val="88000"/>
              </a:lnSpc>
              <a:spcBef>
                <a:spcPts val="0"/>
              </a:spcBef>
              <a:spcAft>
                <a:spcPts val="0"/>
              </a:spcAft>
            </a:pPr>
            <a:r>
              <a:rPr lang="en-US" sz="819" b="1">
                <a:solidFill>
                  <a:srgbClr val="161623"/>
                </a:solidFill>
                <a:latin typeface="Arial"/>
              </a:rPr>
              <a:t>Controlled cross-border fraud / FinCrime layer</a:t>
            </a:r>
          </a:p>
          <a:p>
            <a:pPr algn="l">
              <a:lnSpc>
                <a:spcPct val="88000"/>
              </a:lnSpc>
              <a:spcBef>
                <a:spcPts val="0"/>
              </a:spcBef>
              <a:spcAft>
                <a:spcPts val="0"/>
              </a:spcAft>
            </a:pPr>
            <a:r>
              <a:rPr lang="en-US" sz="740" b="0">
                <a:solidFill>
                  <a:srgbClr val="62544F"/>
                </a:solidFill>
                <a:latin typeface="Arial"/>
              </a:rPr>
              <a:t>Join next real-data fraud test with 2–3 banks</a:t>
            </a:r>
          </a:p>
        </p:txBody>
      </p:sp>
      <p:sp>
        <p:nvSpPr>
          <p:cNvPr id="79" name="Rectangle 78"/>
          <p:cNvSpPr/>
          <p:nvPr/>
        </p:nvSpPr>
        <p:spPr>
          <a:xfrm>
            <a:off x="4951476" y="5336103"/>
            <a:ext cx="484632" cy="422489"/>
          </a:xfrm>
          <a:prstGeom prst="rect">
            <a:avLst/>
          </a:prstGeom>
          <a:solidFill>
            <a:srgbClr val="EEE9E5"/>
          </a:solidFill>
          <a:ln>
            <a:noFill/>
          </a:ln>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lnSpc>
                <a:spcPct val="92000"/>
              </a:lnSpc>
              <a:spcBef>
                <a:spcPts val="0"/>
              </a:spcBef>
              <a:spcAft>
                <a:spcPts val="0"/>
              </a:spcAft>
            </a:pPr>
            <a:r>
              <a:rPr lang="en-US" sz="680" b="1">
                <a:solidFill>
                  <a:srgbClr val="62544F"/>
                </a:solidFill>
                <a:latin typeface="Arial"/>
              </a:rPr>
              <a:t>NT
LOW</a:t>
            </a:r>
          </a:p>
        </p:txBody>
      </p:sp>
      <p:sp>
        <p:nvSpPr>
          <p:cNvPr id="80" name="Rectangle 79"/>
          <p:cNvSpPr/>
          <p:nvPr/>
        </p:nvSpPr>
        <p:spPr>
          <a:xfrm>
            <a:off x="5463540" y="5336103"/>
            <a:ext cx="521207" cy="422489"/>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lnSpc>
                <a:spcPct val="92000"/>
              </a:lnSpc>
              <a:spcBef>
                <a:spcPts val="0"/>
              </a:spcBef>
              <a:spcAft>
                <a:spcPts val="0"/>
              </a:spcAft>
            </a:pPr>
            <a:r>
              <a:rPr lang="en-US" sz="680" b="1">
                <a:solidFill>
                  <a:srgbClr val="FA500E"/>
                </a:solidFill>
                <a:latin typeface="Arial"/>
              </a:rPr>
              <a:t>LT
EXCEPT.</a:t>
            </a:r>
          </a:p>
        </p:txBody>
      </p:sp>
      <p:sp>
        <p:nvSpPr>
          <p:cNvPr id="81" name="TextBox 80"/>
          <p:cNvSpPr txBox="1"/>
          <p:nvPr/>
        </p:nvSpPr>
        <p:spPr>
          <a:xfrm>
            <a:off x="6213348" y="3964796"/>
            <a:ext cx="1131570" cy="174931"/>
          </a:xfrm>
          <a:prstGeom prst="rect">
            <a:avLst/>
          </a:prstGeom>
          <a:noFill/>
        </p:spPr>
        <p:txBody>
          <a:bodyPr wrap="square" lIns="0" tIns="0" rIns="0" bIns="0" anchor="ctr">
            <a:spAutoFit/>
          </a:bodyPr>
          <a:lstStyle/>
          <a:p>
            <a:pPr algn="l">
              <a:lnSpc>
                <a:spcPct val="92000"/>
              </a:lnSpc>
              <a:spcBef>
                <a:spcPts val="0"/>
              </a:spcBef>
              <a:spcAft>
                <a:spcPts val="0"/>
              </a:spcAft>
            </a:pPr>
            <a:r>
              <a:rPr lang="en-US" sz="1150" b="1">
                <a:solidFill>
                  <a:srgbClr val="161623"/>
                </a:solidFill>
                <a:latin typeface="Arial"/>
              </a:rPr>
              <a:t>MULTIPLY</a:t>
            </a:r>
          </a:p>
        </p:txBody>
      </p:sp>
      <p:sp>
        <p:nvSpPr>
          <p:cNvPr id="82" name="TextBox 81"/>
          <p:cNvSpPr txBox="1"/>
          <p:nvPr/>
        </p:nvSpPr>
        <p:spPr>
          <a:xfrm>
            <a:off x="7344918" y="3983811"/>
            <a:ext cx="4011930" cy="136900"/>
          </a:xfrm>
          <a:prstGeom prst="rect">
            <a:avLst/>
          </a:prstGeom>
          <a:noFill/>
        </p:spPr>
        <p:txBody>
          <a:bodyPr wrap="square" lIns="0" tIns="0" rIns="0" bIns="0" anchor="ctr">
            <a:spAutoFit/>
          </a:bodyPr>
          <a:lstStyle/>
          <a:p>
            <a:pPr algn="r">
              <a:lnSpc>
                <a:spcPct val="92000"/>
              </a:lnSpc>
              <a:spcBef>
                <a:spcPts val="0"/>
              </a:spcBef>
              <a:spcAft>
                <a:spcPts val="0"/>
              </a:spcAft>
            </a:pPr>
            <a:r>
              <a:rPr lang="en-US" sz="900" b="1">
                <a:solidFill>
                  <a:srgbClr val="161623"/>
                </a:solidFill>
                <a:latin typeface="Arial"/>
              </a:rPr>
              <a:t>Use portfolio and ecosystem access to replicate proof</a:t>
            </a:r>
          </a:p>
        </p:txBody>
      </p:sp>
      <p:sp>
        <p:nvSpPr>
          <p:cNvPr id="83" name="Rectangle 82"/>
          <p:cNvSpPr/>
          <p:nvPr/>
        </p:nvSpPr>
        <p:spPr>
          <a:xfrm>
            <a:off x="6213348" y="4209467"/>
            <a:ext cx="5143500" cy="24563"/>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6213348" y="4345239"/>
            <a:ext cx="932688" cy="146063"/>
          </a:xfrm>
          <a:prstGeom prst="rect">
            <a:avLst/>
          </a:prstGeom>
          <a:noFill/>
        </p:spPr>
        <p:txBody>
          <a:bodyPr wrap="square" lIns="0" tIns="0" rIns="0" bIns="0" anchor="ctr">
            <a:spAutoFit/>
          </a:bodyPr>
          <a:lstStyle/>
          <a:p>
            <a:pPr algn="l">
              <a:lnSpc>
                <a:spcPct val="92000"/>
              </a:lnSpc>
              <a:spcBef>
                <a:spcPts val="0"/>
              </a:spcBef>
              <a:spcAft>
                <a:spcPts val="0"/>
              </a:spcAft>
            </a:pPr>
            <a:r>
              <a:rPr lang="en-US" sz="960" b="1">
                <a:solidFill>
                  <a:srgbClr val="161623"/>
                </a:solidFill>
                <a:latin typeface="Arial"/>
              </a:rPr>
              <a:t>EQT</a:t>
            </a:r>
          </a:p>
        </p:txBody>
      </p:sp>
      <p:sp>
        <p:nvSpPr>
          <p:cNvPr id="85" name="TextBox 84"/>
          <p:cNvSpPr txBox="1"/>
          <p:nvPr/>
        </p:nvSpPr>
        <p:spPr>
          <a:xfrm>
            <a:off x="6213348" y="4540893"/>
            <a:ext cx="932688" cy="109547"/>
          </a:xfrm>
          <a:prstGeom prst="rect">
            <a:avLst/>
          </a:prstGeom>
          <a:noFill/>
        </p:spPr>
        <p:txBody>
          <a:bodyPr wrap="square" lIns="0" tIns="0" rIns="0" bIns="0" anchor="ctr">
            <a:spAutoFit/>
          </a:bodyPr>
          <a:lstStyle/>
          <a:p>
            <a:pPr algn="l">
              <a:lnSpc>
                <a:spcPct val="92000"/>
              </a:lnSpc>
              <a:spcBef>
                <a:spcPts val="0"/>
              </a:spcBef>
              <a:spcAft>
                <a:spcPts val="0"/>
              </a:spcAft>
            </a:pPr>
            <a:r>
              <a:rPr lang="en-US" sz="720" b="0">
                <a:solidFill>
                  <a:srgbClr val="62544F"/>
                </a:solidFill>
                <a:latin typeface="Arial"/>
              </a:rPr>
              <a:t>Private equity</a:t>
            </a:r>
          </a:p>
        </p:txBody>
      </p:sp>
      <p:sp>
        <p:nvSpPr>
          <p:cNvPr id="86" name="TextBox 85"/>
          <p:cNvSpPr txBox="1"/>
          <p:nvPr/>
        </p:nvSpPr>
        <p:spPr>
          <a:xfrm>
            <a:off x="7173468" y="4318736"/>
            <a:ext cx="612648" cy="106516"/>
          </a:xfrm>
          <a:prstGeom prst="rect">
            <a:avLst/>
          </a:prstGeom>
          <a:noFill/>
        </p:spPr>
        <p:txBody>
          <a:bodyPr wrap="square" lIns="0" tIns="0" rIns="0" bIns="0" anchor="ctr">
            <a:spAutoFit/>
          </a:bodyPr>
          <a:lstStyle/>
          <a:p>
            <a:pPr algn="l">
              <a:lnSpc>
                <a:spcPct val="92000"/>
              </a:lnSpc>
              <a:spcBef>
                <a:spcPts val="0"/>
              </a:spcBef>
              <a:spcAft>
                <a:spcPts val="0"/>
              </a:spcAft>
            </a:pPr>
            <a:r>
              <a:rPr lang="en-US" sz="700" b="1">
                <a:solidFill>
                  <a:srgbClr val="62544F"/>
                </a:solidFill>
                <a:latin typeface="Arial"/>
              </a:rPr>
              <a:t>NEW</a:t>
            </a:r>
          </a:p>
        </p:txBody>
      </p:sp>
      <p:sp>
        <p:nvSpPr>
          <p:cNvPr id="87" name="TextBox 86"/>
          <p:cNvSpPr txBox="1"/>
          <p:nvPr/>
        </p:nvSpPr>
        <p:spPr>
          <a:xfrm>
            <a:off x="7173468" y="4484797"/>
            <a:ext cx="2446020" cy="226881"/>
          </a:xfrm>
          <a:prstGeom prst="rect">
            <a:avLst/>
          </a:prstGeom>
          <a:noFill/>
        </p:spPr>
        <p:txBody>
          <a:bodyPr wrap="square" lIns="0" tIns="0" rIns="0" bIns="0" anchor="ctr">
            <a:spAutoFit/>
          </a:bodyPr>
          <a:lstStyle/>
          <a:p>
            <a:pPr algn="l">
              <a:lnSpc>
                <a:spcPct val="88000"/>
              </a:lnSpc>
              <a:spcBef>
                <a:spcPts val="0"/>
              </a:spcBef>
              <a:spcAft>
                <a:spcPts val="0"/>
              </a:spcAft>
            </a:pPr>
            <a:r>
              <a:rPr lang="en-US" sz="819" b="1">
                <a:solidFill>
                  <a:srgbClr val="161623"/>
                </a:solidFill>
                <a:latin typeface="Arial"/>
              </a:rPr>
              <a:t>Motherbrain document reasoning + agents</a:t>
            </a:r>
          </a:p>
          <a:p>
            <a:pPr algn="l">
              <a:lnSpc>
                <a:spcPct val="88000"/>
              </a:lnSpc>
              <a:spcBef>
                <a:spcPts val="0"/>
              </a:spcBef>
              <a:spcAft>
                <a:spcPts val="0"/>
              </a:spcAft>
            </a:pPr>
            <a:r>
              <a:rPr lang="en-US" sz="740" b="0">
                <a:solidFill>
                  <a:srgbClr val="62544F"/>
                </a:solidFill>
                <a:latin typeface="Arial"/>
              </a:rPr>
              <a:t>Benchmark one deal room → 3 portfolio opportunities</a:t>
            </a:r>
          </a:p>
        </p:txBody>
      </p:sp>
      <p:sp>
        <p:nvSpPr>
          <p:cNvPr id="88" name="Rectangle 87"/>
          <p:cNvSpPr/>
          <p:nvPr/>
        </p:nvSpPr>
        <p:spPr>
          <a:xfrm>
            <a:off x="10323576" y="4307720"/>
            <a:ext cx="484632" cy="422489"/>
          </a:xfrm>
          <a:prstGeom prst="rect">
            <a:avLst/>
          </a:prstGeom>
          <a:solidFill>
            <a:srgbClr val="FFE8D6"/>
          </a:solidFill>
          <a:ln>
            <a:noFill/>
          </a:ln>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lnSpc>
                <a:spcPct val="92000"/>
              </a:lnSpc>
              <a:spcBef>
                <a:spcPts val="0"/>
              </a:spcBef>
              <a:spcAft>
                <a:spcPts val="0"/>
              </a:spcAft>
            </a:pPr>
            <a:r>
              <a:rPr lang="en-US" sz="680" b="1">
                <a:solidFill>
                  <a:srgbClr val="161623"/>
                </a:solidFill>
                <a:latin typeface="Arial"/>
              </a:rPr>
              <a:t>NT
MED</a:t>
            </a:r>
          </a:p>
        </p:txBody>
      </p:sp>
      <p:sp>
        <p:nvSpPr>
          <p:cNvPr id="89" name="Rectangle 88"/>
          <p:cNvSpPr/>
          <p:nvPr/>
        </p:nvSpPr>
        <p:spPr>
          <a:xfrm>
            <a:off x="10835640" y="4307720"/>
            <a:ext cx="521207" cy="422489"/>
          </a:xfrm>
          <a:prstGeom prst="rect">
            <a:avLst/>
          </a:prstGeom>
          <a:solidFill>
            <a:srgbClr val="5B3A63"/>
          </a:solidFill>
          <a:ln>
            <a:noFill/>
          </a:ln>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lnSpc>
                <a:spcPct val="92000"/>
              </a:lnSpc>
              <a:spcBef>
                <a:spcPts val="0"/>
              </a:spcBef>
              <a:spcAft>
                <a:spcPts val="0"/>
              </a:spcAft>
            </a:pPr>
            <a:r>
              <a:rPr lang="en-US" sz="680" b="1">
                <a:solidFill>
                  <a:srgbClr val="FFFFFF"/>
                </a:solidFill>
                <a:latin typeface="Arial"/>
              </a:rPr>
              <a:t>LT
EXTREME</a:t>
            </a:r>
          </a:p>
        </p:txBody>
      </p:sp>
      <p:sp>
        <p:nvSpPr>
          <p:cNvPr id="90" name="Rectangle 89"/>
          <p:cNvSpPr/>
          <p:nvPr/>
        </p:nvSpPr>
        <p:spPr>
          <a:xfrm>
            <a:off x="6213348" y="4802261"/>
            <a:ext cx="5143500" cy="7860"/>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6213348" y="4859430"/>
            <a:ext cx="932688" cy="146063"/>
          </a:xfrm>
          <a:prstGeom prst="rect">
            <a:avLst/>
          </a:prstGeom>
          <a:noFill/>
        </p:spPr>
        <p:txBody>
          <a:bodyPr wrap="square" lIns="0" tIns="0" rIns="0" bIns="0" anchor="ctr">
            <a:spAutoFit/>
          </a:bodyPr>
          <a:lstStyle/>
          <a:p>
            <a:pPr algn="l">
              <a:lnSpc>
                <a:spcPct val="92000"/>
              </a:lnSpc>
              <a:spcBef>
                <a:spcPts val="0"/>
              </a:spcBef>
              <a:spcAft>
                <a:spcPts val="0"/>
              </a:spcAft>
            </a:pPr>
            <a:r>
              <a:rPr lang="en-US" sz="960" b="1">
                <a:solidFill>
                  <a:srgbClr val="161623"/>
                </a:solidFill>
                <a:latin typeface="Arial"/>
              </a:rPr>
              <a:t>Mubadala</a:t>
            </a:r>
          </a:p>
        </p:txBody>
      </p:sp>
      <p:sp>
        <p:nvSpPr>
          <p:cNvPr id="92" name="TextBox 91"/>
          <p:cNvSpPr txBox="1"/>
          <p:nvPr/>
        </p:nvSpPr>
        <p:spPr>
          <a:xfrm>
            <a:off x="6213348" y="5055085"/>
            <a:ext cx="932688" cy="109547"/>
          </a:xfrm>
          <a:prstGeom prst="rect">
            <a:avLst/>
          </a:prstGeom>
          <a:noFill/>
        </p:spPr>
        <p:txBody>
          <a:bodyPr wrap="square" lIns="0" tIns="0" rIns="0" bIns="0" anchor="ctr">
            <a:spAutoFit/>
          </a:bodyPr>
          <a:lstStyle/>
          <a:p>
            <a:pPr algn="l">
              <a:lnSpc>
                <a:spcPct val="92000"/>
              </a:lnSpc>
              <a:spcBef>
                <a:spcPts val="0"/>
              </a:spcBef>
              <a:spcAft>
                <a:spcPts val="0"/>
              </a:spcAft>
            </a:pPr>
            <a:r>
              <a:rPr lang="en-US" sz="720" b="0">
                <a:solidFill>
                  <a:srgbClr val="62544F"/>
                </a:solidFill>
                <a:latin typeface="Arial"/>
              </a:rPr>
              <a:t>Sovereign wealth</a:t>
            </a:r>
          </a:p>
        </p:txBody>
      </p:sp>
      <p:sp>
        <p:nvSpPr>
          <p:cNvPr id="93" name="TextBox 92"/>
          <p:cNvSpPr txBox="1"/>
          <p:nvPr/>
        </p:nvSpPr>
        <p:spPr>
          <a:xfrm>
            <a:off x="7173468" y="4832927"/>
            <a:ext cx="612648" cy="106516"/>
          </a:xfrm>
          <a:prstGeom prst="rect">
            <a:avLst/>
          </a:prstGeom>
          <a:noFill/>
        </p:spPr>
        <p:txBody>
          <a:bodyPr wrap="square" lIns="0" tIns="0" rIns="0" bIns="0" anchor="ctr">
            <a:spAutoFit/>
          </a:bodyPr>
          <a:lstStyle/>
          <a:p>
            <a:pPr algn="l">
              <a:lnSpc>
                <a:spcPct val="92000"/>
              </a:lnSpc>
              <a:spcBef>
                <a:spcPts val="0"/>
              </a:spcBef>
              <a:spcAft>
                <a:spcPts val="0"/>
              </a:spcAft>
            </a:pPr>
            <a:r>
              <a:rPr lang="en-US" sz="700" b="1">
                <a:solidFill>
                  <a:srgbClr val="5B3A63"/>
                </a:solidFill>
                <a:latin typeface="Arial"/>
              </a:rPr>
              <a:t>ADJACENT</a:t>
            </a:r>
          </a:p>
        </p:txBody>
      </p:sp>
      <p:sp>
        <p:nvSpPr>
          <p:cNvPr id="94" name="TextBox 93"/>
          <p:cNvSpPr txBox="1"/>
          <p:nvPr/>
        </p:nvSpPr>
        <p:spPr>
          <a:xfrm>
            <a:off x="7173468" y="4998989"/>
            <a:ext cx="2446020" cy="226881"/>
          </a:xfrm>
          <a:prstGeom prst="rect">
            <a:avLst/>
          </a:prstGeom>
          <a:noFill/>
        </p:spPr>
        <p:txBody>
          <a:bodyPr wrap="square" lIns="0" tIns="0" rIns="0" bIns="0" anchor="ctr">
            <a:spAutoFit/>
          </a:bodyPr>
          <a:lstStyle/>
          <a:p>
            <a:pPr algn="l">
              <a:lnSpc>
                <a:spcPct val="88000"/>
              </a:lnSpc>
              <a:spcBef>
                <a:spcPts val="0"/>
              </a:spcBef>
              <a:spcAft>
                <a:spcPts val="0"/>
              </a:spcAft>
            </a:pPr>
            <a:r>
              <a:rPr lang="en-US" sz="819" b="1">
                <a:solidFill>
                  <a:srgbClr val="161623"/>
                </a:solidFill>
                <a:latin typeface="Arial"/>
              </a:rPr>
              <a:t>Investment intelligence + portfolio-wide AI</a:t>
            </a:r>
          </a:p>
          <a:p>
            <a:pPr algn="l">
              <a:lnSpc>
                <a:spcPct val="88000"/>
              </a:lnSpc>
              <a:spcBef>
                <a:spcPts val="0"/>
              </a:spcBef>
              <a:spcAft>
                <a:spcPts val="0"/>
              </a:spcAft>
            </a:pPr>
            <a:r>
              <a:rPr lang="en-US" sz="740" b="0">
                <a:solidFill>
                  <a:srgbClr val="62544F"/>
                </a:solidFill>
                <a:latin typeface="Arial"/>
              </a:rPr>
              <a:t>Convene MGX/G42 → 1 workflow + 2 deployments</a:t>
            </a:r>
          </a:p>
        </p:txBody>
      </p:sp>
      <p:sp>
        <p:nvSpPr>
          <p:cNvPr id="95" name="Rectangle 94"/>
          <p:cNvSpPr/>
          <p:nvPr/>
        </p:nvSpPr>
        <p:spPr>
          <a:xfrm>
            <a:off x="10323576" y="4821912"/>
            <a:ext cx="484632" cy="422489"/>
          </a:xfrm>
          <a:prstGeom prst="rect">
            <a:avLst/>
          </a:prstGeom>
          <a:solidFill>
            <a:srgbClr val="FFE8D6"/>
          </a:solidFill>
          <a:ln>
            <a:noFill/>
          </a:ln>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lnSpc>
                <a:spcPct val="92000"/>
              </a:lnSpc>
              <a:spcBef>
                <a:spcPts val="0"/>
              </a:spcBef>
              <a:spcAft>
                <a:spcPts val="0"/>
              </a:spcAft>
            </a:pPr>
            <a:r>
              <a:rPr lang="en-US" sz="680" b="1">
                <a:solidFill>
                  <a:srgbClr val="161623"/>
                </a:solidFill>
                <a:latin typeface="Arial"/>
              </a:rPr>
              <a:t>NT
MED</a:t>
            </a:r>
          </a:p>
        </p:txBody>
      </p:sp>
      <p:sp>
        <p:nvSpPr>
          <p:cNvPr id="96" name="Rectangle 95"/>
          <p:cNvSpPr/>
          <p:nvPr/>
        </p:nvSpPr>
        <p:spPr>
          <a:xfrm>
            <a:off x="10835640" y="4821912"/>
            <a:ext cx="521207" cy="422489"/>
          </a:xfrm>
          <a:prstGeom prst="rect">
            <a:avLst/>
          </a:prstGeom>
          <a:solidFill>
            <a:srgbClr val="5B3A63"/>
          </a:solidFill>
          <a:ln>
            <a:noFill/>
          </a:ln>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lnSpc>
                <a:spcPct val="92000"/>
              </a:lnSpc>
              <a:spcBef>
                <a:spcPts val="0"/>
              </a:spcBef>
              <a:spcAft>
                <a:spcPts val="0"/>
              </a:spcAft>
            </a:pPr>
            <a:r>
              <a:rPr lang="en-US" sz="680" b="1">
                <a:solidFill>
                  <a:srgbClr val="FFFFFF"/>
                </a:solidFill>
                <a:latin typeface="Arial"/>
              </a:rPr>
              <a:t>LT
EXTREME</a:t>
            </a:r>
          </a:p>
        </p:txBody>
      </p:sp>
      <p:sp>
        <p:nvSpPr>
          <p:cNvPr id="97" name="Rectangle 96"/>
          <p:cNvSpPr/>
          <p:nvPr/>
        </p:nvSpPr>
        <p:spPr>
          <a:xfrm>
            <a:off x="6213348" y="5316453"/>
            <a:ext cx="5143500" cy="7860"/>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6213348" y="5373622"/>
            <a:ext cx="932688" cy="146063"/>
          </a:xfrm>
          <a:prstGeom prst="rect">
            <a:avLst/>
          </a:prstGeom>
          <a:noFill/>
        </p:spPr>
        <p:txBody>
          <a:bodyPr wrap="square" lIns="0" tIns="0" rIns="0" bIns="0" anchor="ctr">
            <a:spAutoFit/>
          </a:bodyPr>
          <a:lstStyle/>
          <a:p>
            <a:pPr algn="l">
              <a:lnSpc>
                <a:spcPct val="92000"/>
              </a:lnSpc>
              <a:spcBef>
                <a:spcPts val="0"/>
              </a:spcBef>
              <a:spcAft>
                <a:spcPts val="0"/>
              </a:spcAft>
            </a:pPr>
            <a:r>
              <a:rPr lang="en-US" sz="960" b="1">
                <a:solidFill>
                  <a:srgbClr val="161623"/>
                </a:solidFill>
                <a:latin typeface="Arial"/>
              </a:rPr>
              <a:t>Partners Group</a:t>
            </a:r>
          </a:p>
        </p:txBody>
      </p:sp>
      <p:sp>
        <p:nvSpPr>
          <p:cNvPr id="99" name="TextBox 98"/>
          <p:cNvSpPr txBox="1"/>
          <p:nvPr/>
        </p:nvSpPr>
        <p:spPr>
          <a:xfrm>
            <a:off x="6213348" y="5569276"/>
            <a:ext cx="932688" cy="109547"/>
          </a:xfrm>
          <a:prstGeom prst="rect">
            <a:avLst/>
          </a:prstGeom>
          <a:noFill/>
        </p:spPr>
        <p:txBody>
          <a:bodyPr wrap="square" lIns="0" tIns="0" rIns="0" bIns="0" anchor="ctr">
            <a:spAutoFit/>
          </a:bodyPr>
          <a:lstStyle/>
          <a:p>
            <a:pPr algn="l">
              <a:lnSpc>
                <a:spcPct val="92000"/>
              </a:lnSpc>
              <a:spcBef>
                <a:spcPts val="0"/>
              </a:spcBef>
              <a:spcAft>
                <a:spcPts val="0"/>
              </a:spcAft>
            </a:pPr>
            <a:r>
              <a:rPr lang="en-US" sz="720" b="0">
                <a:solidFill>
                  <a:srgbClr val="62544F"/>
                </a:solidFill>
                <a:latin typeface="Arial"/>
              </a:rPr>
              <a:t>Private markets</a:t>
            </a:r>
          </a:p>
        </p:txBody>
      </p:sp>
      <p:sp>
        <p:nvSpPr>
          <p:cNvPr id="100" name="TextBox 99"/>
          <p:cNvSpPr txBox="1"/>
          <p:nvPr/>
        </p:nvSpPr>
        <p:spPr>
          <a:xfrm>
            <a:off x="7173468" y="5347119"/>
            <a:ext cx="612648" cy="106516"/>
          </a:xfrm>
          <a:prstGeom prst="rect">
            <a:avLst/>
          </a:prstGeom>
          <a:noFill/>
        </p:spPr>
        <p:txBody>
          <a:bodyPr wrap="square" lIns="0" tIns="0" rIns="0" bIns="0" anchor="ctr">
            <a:spAutoFit/>
          </a:bodyPr>
          <a:lstStyle/>
          <a:p>
            <a:pPr algn="l">
              <a:lnSpc>
                <a:spcPct val="92000"/>
              </a:lnSpc>
              <a:spcBef>
                <a:spcPts val="0"/>
              </a:spcBef>
              <a:spcAft>
                <a:spcPts val="0"/>
              </a:spcAft>
            </a:pPr>
            <a:r>
              <a:rPr lang="en-US" sz="700" b="1">
                <a:solidFill>
                  <a:srgbClr val="62544F"/>
                </a:solidFill>
                <a:latin typeface="Arial"/>
              </a:rPr>
              <a:t>NEW</a:t>
            </a:r>
          </a:p>
        </p:txBody>
      </p:sp>
      <p:sp>
        <p:nvSpPr>
          <p:cNvPr id="101" name="TextBox 100"/>
          <p:cNvSpPr txBox="1"/>
          <p:nvPr/>
        </p:nvSpPr>
        <p:spPr>
          <a:xfrm>
            <a:off x="7173468" y="5513180"/>
            <a:ext cx="2446020" cy="226881"/>
          </a:xfrm>
          <a:prstGeom prst="rect">
            <a:avLst/>
          </a:prstGeom>
          <a:noFill/>
        </p:spPr>
        <p:txBody>
          <a:bodyPr wrap="square" lIns="0" tIns="0" rIns="0" bIns="0" anchor="ctr">
            <a:spAutoFit/>
          </a:bodyPr>
          <a:lstStyle/>
          <a:p>
            <a:pPr algn="l">
              <a:lnSpc>
                <a:spcPct val="88000"/>
              </a:lnSpc>
              <a:spcBef>
                <a:spcPts val="0"/>
              </a:spcBef>
              <a:spcAft>
                <a:spcPts val="0"/>
              </a:spcAft>
            </a:pPr>
            <a:r>
              <a:rPr lang="en-US" sz="819" b="1">
                <a:solidFill>
                  <a:srgbClr val="161623"/>
                </a:solidFill>
                <a:latin typeface="Arial"/>
              </a:rPr>
              <a:t>Diligence → IC memo → portfolio monitoring</a:t>
            </a:r>
          </a:p>
          <a:p>
            <a:pPr algn="l">
              <a:lnSpc>
                <a:spcPct val="88000"/>
              </a:lnSpc>
              <a:spcBef>
                <a:spcPts val="0"/>
              </a:spcBef>
              <a:spcAft>
                <a:spcPts val="0"/>
              </a:spcAft>
            </a:pPr>
            <a:r>
              <a:rPr lang="en-US" sz="740" b="0">
                <a:solidFill>
                  <a:srgbClr val="62544F"/>
                </a:solidFill>
                <a:latin typeface="Arial"/>
              </a:rPr>
              <a:t>Replay one historical transaction end-to-end</a:t>
            </a:r>
          </a:p>
        </p:txBody>
      </p:sp>
      <p:sp>
        <p:nvSpPr>
          <p:cNvPr id="102" name="Rectangle 101"/>
          <p:cNvSpPr/>
          <p:nvPr/>
        </p:nvSpPr>
        <p:spPr>
          <a:xfrm>
            <a:off x="10323576" y="5336103"/>
            <a:ext cx="484632" cy="422489"/>
          </a:xfrm>
          <a:prstGeom prst="rect">
            <a:avLst/>
          </a:prstGeom>
          <a:solidFill>
            <a:srgbClr val="FDF3ED"/>
          </a:solidFill>
          <a:ln>
            <a:noFill/>
          </a:ln>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lnSpc>
                <a:spcPct val="92000"/>
              </a:lnSpc>
              <a:spcBef>
                <a:spcPts val="0"/>
              </a:spcBef>
              <a:spcAft>
                <a:spcPts val="0"/>
              </a:spcAft>
            </a:pPr>
            <a:r>
              <a:rPr lang="en-US" sz="680" b="1">
                <a:solidFill>
                  <a:srgbClr val="62544F"/>
                </a:solidFill>
                <a:latin typeface="Arial"/>
              </a:rPr>
              <a:t>NT
MED–
LOW</a:t>
            </a:r>
          </a:p>
        </p:txBody>
      </p:sp>
      <p:sp>
        <p:nvSpPr>
          <p:cNvPr id="103" name="Rectangle 102"/>
          <p:cNvSpPr/>
          <p:nvPr/>
        </p:nvSpPr>
        <p:spPr>
          <a:xfrm>
            <a:off x="10835640" y="5336103"/>
            <a:ext cx="521207" cy="422489"/>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lnSpc>
                <a:spcPct val="92000"/>
              </a:lnSpc>
              <a:spcBef>
                <a:spcPts val="0"/>
              </a:spcBef>
              <a:spcAft>
                <a:spcPts val="0"/>
              </a:spcAft>
            </a:pPr>
            <a:r>
              <a:rPr lang="en-US" sz="680" b="1">
                <a:solidFill>
                  <a:srgbClr val="FFFFFF"/>
                </a:solidFill>
                <a:latin typeface="Arial"/>
              </a:rPr>
              <a:t>LT
VERY
HIGH</a:t>
            </a:r>
          </a:p>
        </p:txBody>
      </p:sp>
      <p:sp>
        <p:nvSpPr>
          <p:cNvPr id="104" name="Rectangle 103"/>
          <p:cNvSpPr/>
          <p:nvPr/>
        </p:nvSpPr>
        <p:spPr>
          <a:xfrm>
            <a:off x="841248" y="5978024"/>
            <a:ext cx="10515600" cy="294760"/>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92000"/>
              </a:lnSpc>
              <a:spcBef>
                <a:spcPts val="0"/>
              </a:spcBef>
              <a:spcAft>
                <a:spcPts val="0"/>
              </a:spcAft>
            </a:pPr>
            <a:r>
              <a:rPr lang="en-US" sz="930" b="1">
                <a:solidFill>
                  <a:srgbClr val="FA500E"/>
                </a:solidFill>
                <a:latin typeface="Arial"/>
              </a:rPr>
              <a:t>EXECUTIVE PRIORITY   BNP = EXPAND NOW   ·   QUANTEXA = EMBED   ·   VISA + LSEG = DISTRIBUTE   ·   EQT + MUBADALA + PARTNERS GROUP = MULTIPLY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F2"/>
        </a:solidFill>
        <a:effectLst/>
      </p:bgPr>
    </p:bg>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08F3A4B2-DB18-476A-8FBE-24802E27F30E}"/>
              </a:ext>
            </a:extLst>
          </p:cNvPr>
          <p:cNvSpPr>
            <a:spLocks noGrp="1"/>
          </p:cNvSpPr>
          <p:nvPr/>
        </p:nvSpPr>
        <p:spPr>
          <a:xfrm>
            <a:off x="609600" y="266700"/>
            <a:ext cx="76200" cy="742950"/>
          </a:xfrm>
          <a:prstGeom prst="rect">
            <a:avLst/>
          </a:prstGeom>
          <a:solidFill>
            <a:srgbClr val="FA500E"/>
          </a:solidFill>
          <a:ln w="0">
            <a:no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 name="Rectangle 1">
            <a:extLst>
              <a:ext uri="{FF2B5EF4-FFF2-40B4-BE49-F238E27FC236}">
                <a16:creationId xmlns:a16="http://schemas.microsoft.com/office/drawing/2014/main" id="{3D05BFA6-0069-4292-A50C-4CA1E6D42381}"/>
              </a:ext>
            </a:extLst>
          </p:cNvPr>
          <p:cNvSpPr>
            <a:spLocks noGrp="1"/>
          </p:cNvSpPr>
          <p:nvPr/>
        </p:nvSpPr>
        <p:spPr>
          <a:xfrm>
            <a:off x="841248" y="256032"/>
            <a:ext cx="4206240" cy="173736"/>
          </a:xfrm>
          <a:prstGeom prst="rect">
            <a:avLst/>
          </a:prstGeom>
          <a:noFill/>
          <a:ln w="0">
            <a:noFill/>
            <a:prstDash val="solid"/>
          </a:ln>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sz="975" b="1">
                <a:solidFill>
                  <a:srgbClr val="3767E8"/>
                </a:solidFill>
                <a:latin typeface="Arial"/>
                <a:ea typeface="Arial"/>
                <a:cs typeface="Arial"/>
              </a:defRPr>
            </a:pPr>
            <a:r>
              <a:rPr kumimoji="0" lang="en-US" sz="1100" b="1" i="0" u="none" strike="noStrike" kern="1200" cap="none" spc="0" normalizeH="0" baseline="0" noProof="0">
                <a:ln>
                  <a:noFill/>
                </a:ln>
                <a:solidFill>
                  <a:srgbClr val="FA500E"/>
                </a:solidFill>
                <a:effectLst/>
                <a:uLnTx/>
                <a:uFillTx/>
                <a:latin typeface="Arial"/>
                <a:ea typeface="Arial"/>
                <a:cs typeface="Arial"/>
              </a:rPr>
              <a:t>MESSAGE LOCALIZATION</a:t>
            </a:r>
          </a:p>
        </p:txBody>
      </p:sp>
      <p:sp>
        <p:nvSpPr>
          <p:cNvPr id="3" name="Rectangle 2">
            <a:extLst>
              <a:ext uri="{FF2B5EF4-FFF2-40B4-BE49-F238E27FC236}">
                <a16:creationId xmlns:a16="http://schemas.microsoft.com/office/drawing/2014/main" id="{9DAF40FF-FB6A-444E-918F-31A93364BCC2}"/>
              </a:ext>
            </a:extLst>
          </p:cNvPr>
          <p:cNvSpPr>
            <a:spLocks noGrp="1"/>
          </p:cNvSpPr>
          <p:nvPr/>
        </p:nvSpPr>
        <p:spPr>
          <a:xfrm>
            <a:off x="841248" y="457200"/>
            <a:ext cx="10515600" cy="822960"/>
          </a:xfrm>
          <a:prstGeom prst="rect">
            <a:avLst/>
          </a:prstGeom>
          <a:noFill/>
          <a:ln w="0">
            <a:noFill/>
            <a:prstDash val="solid"/>
          </a:ln>
        </p:spPr>
        <p:txBody>
          <a:bodyPr wrap="square" lIns="0" tIns="0" rIns="0" bIns="0" anchor="t">
            <a:noAutofit/>
          </a:bodyPr>
          <a:lstStyle/>
          <a:p>
            <a:pPr marL="0" marR="0" lvl="0" indent="0" algn="l" defTabSz="914400" eaLnBrk="1" fontAlgn="auto" latinLnBrk="0" hangingPunct="1">
              <a:lnSpc>
                <a:spcPct val="95000"/>
              </a:lnSpc>
              <a:spcBef>
                <a:spcPts val="0"/>
              </a:spcBef>
              <a:spcAft>
                <a:spcPts val="0"/>
              </a:spcAft>
              <a:buClrTx/>
              <a:buSzTx/>
              <a:buFontTx/>
              <a:buNone/>
              <a:tabLst/>
              <a:defRPr sz="3150" b="1">
                <a:solidFill>
                  <a:srgbClr val="1F1F1F"/>
                </a:solidFill>
                <a:latin typeface="Arial"/>
                <a:ea typeface="Arial"/>
                <a:cs typeface="Arial"/>
              </a:defRPr>
            </a:pPr>
            <a:r>
              <a:rPr kumimoji="0" lang="en-US" sz="3600" b="1" i="0" u="none" strike="noStrike" kern="1200" cap="none" spc="0" normalizeH="0" baseline="0" noProof="0">
                <a:ln>
                  <a:noFill/>
                </a:ln>
                <a:solidFill>
                  <a:srgbClr val="161623"/>
                </a:solidFill>
                <a:effectLst/>
                <a:uLnTx/>
                <a:uFillTx/>
                <a:latin typeface="Tiny5" panose="02000000000000000000" pitchFamily="2" charset="0"/>
                <a:ea typeface="Arial"/>
                <a:cs typeface="Tiny5" panose="02000000000000000000" pitchFamily="2" charset="0"/>
              </a:rPr>
              <a:t>LOCALIZE MESSAGE; KEEP THE THESIS</a:t>
            </a:r>
          </a:p>
        </p:txBody>
      </p:sp>
      <p:sp>
        <p:nvSpPr>
          <p:cNvPr id="4" name="Rectangle 3">
            <a:extLst>
              <a:ext uri="{FF2B5EF4-FFF2-40B4-BE49-F238E27FC236}">
                <a16:creationId xmlns:a16="http://schemas.microsoft.com/office/drawing/2014/main" id="{A2CD83DB-7847-4648-8D2E-5A1FCE465F5B}"/>
              </a:ext>
            </a:extLst>
          </p:cNvPr>
          <p:cNvSpPr>
            <a:spLocks noGrp="1"/>
          </p:cNvSpPr>
          <p:nvPr/>
        </p:nvSpPr>
        <p:spPr>
          <a:xfrm>
            <a:off x="612648" y="6556248"/>
            <a:ext cx="10972800" cy="9144"/>
          </a:xfrm>
          <a:prstGeom prst="rect">
            <a:avLst/>
          </a:prstGeom>
          <a:solidFill>
            <a:srgbClr val="E8CBBE"/>
          </a:solidFill>
          <a:ln w="0">
            <a:no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5" name="Rectangle 4">
            <a:extLst>
              <a:ext uri="{FF2B5EF4-FFF2-40B4-BE49-F238E27FC236}">
                <a16:creationId xmlns:a16="http://schemas.microsoft.com/office/drawing/2014/main" id="{77A01934-1B9A-42B1-B095-FB94CC4CC8A6}"/>
              </a:ext>
            </a:extLst>
          </p:cNvPr>
          <p:cNvSpPr>
            <a:spLocks noGrp="1"/>
          </p:cNvSpPr>
          <p:nvPr/>
        </p:nvSpPr>
        <p:spPr>
          <a:xfrm>
            <a:off x="612648" y="6620256"/>
            <a:ext cx="4005072" cy="128016"/>
          </a:xfrm>
          <a:prstGeom prst="rect">
            <a:avLst/>
          </a:prstGeom>
          <a:noFill/>
          <a:ln w="0">
            <a:noFill/>
            <a:prstDash val="solid"/>
          </a:ln>
        </p:spPr>
        <p:txBody>
          <a:bodyPr wrap="square" lIns="0" tIns="0" rIns="0" bIns="0" anchor="ctr">
            <a:noAutofit/>
          </a:bodyPr>
          <a:lstStyle/>
          <a:p>
            <a:pPr algn="l">
              <a:lnSpc>
                <a:spcPct val="105000"/>
              </a:lnSpc>
              <a:spcBef>
                <a:spcPts val="0"/>
              </a:spcBef>
              <a:spcAft>
                <a:spcPts val="0"/>
              </a:spcAft>
              <a:buNone/>
              <a:defRPr sz="750" b="0">
                <a:solidFill>
                  <a:srgbClr val="5A554B"/>
                </a:solidFill>
                <a:latin typeface="Arial"/>
                <a:ea typeface="Arial"/>
                <a:cs typeface="Arial"/>
              </a:defRPr>
            </a:pPr>
            <a:r>
              <a:rPr lang="en-US" sz="900" b="0">
                <a:solidFill>
                  <a:srgbClr val="62544F"/>
                </a:solidFill>
                <a:latin typeface="Arial"/>
                <a:ea typeface="Arial"/>
                <a:cs typeface="Arial"/>
              </a:rPr>
              <a:t>SHIV  ·  PMM CANDIDATE  ·  18 AUG 2026</a:t>
            </a:r>
          </a:p>
        </p:txBody>
      </p:sp>
      <p:sp>
        <p:nvSpPr>
          <p:cNvPr id="6" name="Rectangle 5">
            <a:extLst>
              <a:ext uri="{FF2B5EF4-FFF2-40B4-BE49-F238E27FC236}">
                <a16:creationId xmlns:a16="http://schemas.microsoft.com/office/drawing/2014/main" id="{798B2FC1-0373-4E96-9B4D-6EF934675BDD}"/>
              </a:ext>
            </a:extLst>
          </p:cNvPr>
          <p:cNvSpPr>
            <a:spLocks noGrp="1"/>
          </p:cNvSpPr>
          <p:nvPr/>
        </p:nvSpPr>
        <p:spPr>
          <a:xfrm>
            <a:off x="11237976" y="6620256"/>
            <a:ext cx="347472" cy="128016"/>
          </a:xfrm>
          <a:prstGeom prst="rect">
            <a:avLst/>
          </a:prstGeom>
          <a:noFill/>
          <a:ln w="0">
            <a:noFill/>
            <a:prstDash val="solid"/>
          </a:ln>
        </p:spPr>
        <p:txBody>
          <a:bodyPr wrap="none" lIns="0" tIns="0" rIns="0" bIns="0" anchor="ctr">
            <a:noAutofit/>
          </a:bodyPr>
          <a:lstStyle/>
          <a:p>
            <a:pPr algn="r">
              <a:lnSpc>
                <a:spcPct val="105000"/>
              </a:lnSpc>
              <a:spcBef>
                <a:spcPts val="0"/>
              </a:spcBef>
              <a:spcAft>
                <a:spcPts val="0"/>
              </a:spcAft>
              <a:buNone/>
              <a:defRPr sz="750" b="1">
                <a:solidFill>
                  <a:srgbClr val="5A554B"/>
                </a:solidFill>
                <a:latin typeface="Arial"/>
                <a:ea typeface="Arial"/>
                <a:cs typeface="Arial"/>
              </a:defRPr>
            </a:pPr>
            <a:r>
              <a:rPr lang="en-US" sz="900" b="0">
                <a:solidFill>
                  <a:srgbClr val="62544F"/>
                </a:solidFill>
                <a:latin typeface="Silkscreen"/>
              </a:rPr>
              <a:t>7</a:t>
            </a:r>
          </a:p>
        </p:txBody>
      </p:sp>
      <p:sp>
        <p:nvSpPr>
          <p:cNvPr id="7" name="Rectangle 6">
            <a:extLst>
              <a:ext uri="{FF2B5EF4-FFF2-40B4-BE49-F238E27FC236}">
                <a16:creationId xmlns:a16="http://schemas.microsoft.com/office/drawing/2014/main" id="{976E151F-7105-4396-9631-FC913E456258}"/>
              </a:ext>
            </a:extLst>
          </p:cNvPr>
          <p:cNvSpPr>
            <a:spLocks noGrp="1"/>
          </p:cNvSpPr>
          <p:nvPr/>
        </p:nvSpPr>
        <p:spPr>
          <a:xfrm>
            <a:off x="841248" y="1389888"/>
            <a:ext cx="10515600" cy="277655"/>
          </a:xfrm>
          <a:prstGeom prst="rect">
            <a:avLst/>
          </a:prstGeom>
          <a:noFill/>
          <a:ln w="0">
            <a:noFill/>
            <a:prstDash val="solid"/>
          </a:ln>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sz="1575" b="0">
                <a:solidFill>
                  <a:srgbClr val="5A554B"/>
                </a:solidFill>
                <a:latin typeface="Arial"/>
                <a:ea typeface="Arial"/>
                <a:cs typeface="Arial"/>
              </a:defRPr>
            </a:pPr>
            <a:r>
              <a:rPr kumimoji="0" lang="en-US" sz="1450" b="0" i="0" u="none" strike="noStrike" kern="1200" cap="none" spc="0" normalizeH="0" baseline="0" noProof="0">
                <a:ln>
                  <a:noFill/>
                </a:ln>
                <a:solidFill>
                  <a:srgbClr val="62544F"/>
                </a:solidFill>
                <a:effectLst/>
                <a:uLnTx/>
                <a:uFillTx/>
                <a:latin typeface="Arial"/>
                <a:ea typeface="Arial"/>
                <a:cs typeface="Arial"/>
              </a:rPr>
              <a:t>Market and workflow change the lead message and proof posture—not the controlled-AI thesis.</a:t>
            </a:r>
          </a:p>
        </p:txBody>
      </p:sp>
      <p:pic>
        <p:nvPicPr>
          <p:cNvPr id="53" name="Mistral company monogram — slide 9" descr="Mistral AI company monogram"/>
          <p:cNvPicPr>
            <a:picLocks noChangeAspect="1"/>
          </p:cNvPicPr>
          <p:nvPr/>
        </p:nvPicPr>
        <p:blipFill>
          <a:blip r:embed="rId3"/>
          <a:stretch>
            <a:fillRect/>
          </a:stretch>
        </p:blipFill>
        <p:spPr>
          <a:xfrm>
            <a:off x="11658600" y="182880"/>
            <a:ext cx="347472" cy="347472"/>
          </a:xfrm>
          <a:prstGeom prst="rect">
            <a:avLst/>
          </a:prstGeom>
          <a:ln/>
        </p:spPr>
      </p:pic>
      <p:sp>
        <p:nvSpPr>
          <p:cNvPr id="300" name="Row num 0"/>
          <p:cNvSpPr>
            <a:spLocks noGrp="1"/>
          </p:cNvSpPr>
          <p:nvPr/>
        </p:nvSpPr>
        <p:spPr>
          <a:xfrm>
            <a:off x="838230" y="1715414"/>
            <a:ext cx="457200" cy="248932"/>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210" b="0" i="0" u="none" strike="noStrike" kern="1200" cap="none" spc="0" normalizeH="0" baseline="0" noProof="0">
                <a:ln>
                  <a:noFill/>
                </a:ln>
                <a:solidFill>
                  <a:srgbClr val="FA500E"/>
                </a:solidFill>
                <a:effectLst/>
                <a:uLnTx/>
                <a:uFillTx/>
                <a:latin typeface="Silkscreen"/>
                <a:ea typeface="Silkscreen"/>
                <a:cs typeface="Silkscreen"/>
              </a:rPr>
              <a:t>01</a:t>
            </a:r>
          </a:p>
        </p:txBody>
      </p:sp>
      <p:sp>
        <p:nvSpPr>
          <p:cNvPr id="301" name="Row lab 0"/>
          <p:cNvSpPr>
            <a:spLocks noGrp="1"/>
          </p:cNvSpPr>
          <p:nvPr/>
        </p:nvSpPr>
        <p:spPr>
          <a:xfrm>
            <a:off x="1368582" y="1715414"/>
            <a:ext cx="5486400" cy="248932"/>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1" i="0" u="none" strike="noStrike" kern="1200" cap="none" spc="120" normalizeH="0" baseline="0" noProof="0">
                <a:ln>
                  <a:noFill/>
                </a:ln>
                <a:solidFill>
                  <a:srgbClr val="161623"/>
                </a:solidFill>
                <a:effectLst/>
                <a:uLnTx/>
                <a:uFillTx/>
                <a:latin typeface="Arial"/>
                <a:ea typeface="Arial"/>
                <a:cs typeface="Arial"/>
              </a:rPr>
              <a:t>WHICH MARKET?</a:t>
            </a:r>
          </a:p>
        </p:txBody>
      </p:sp>
      <p:sp>
        <p:nvSpPr>
          <p:cNvPr id="302" name="Row rule 0"/>
          <p:cNvSpPr>
            <a:spLocks noGrp="1"/>
          </p:cNvSpPr>
          <p:nvPr/>
        </p:nvSpPr>
        <p:spPr>
          <a:xfrm>
            <a:off x="841248" y="2021792"/>
            <a:ext cx="10515600" cy="21064"/>
          </a:xfrm>
          <a:prstGeom prst="rect">
            <a:avLst/>
          </a:prstGeom>
          <a:solidFill>
            <a:srgbClr val="161623"/>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03" name="Card 00"/>
          <p:cNvSpPr>
            <a:spLocks noGrp="1"/>
          </p:cNvSpPr>
          <p:nvPr/>
        </p:nvSpPr>
        <p:spPr>
          <a:xfrm>
            <a:off x="838230" y="2155832"/>
            <a:ext cx="1971446" cy="1819118"/>
          </a:xfrm>
          <a:prstGeom prst="rect">
            <a:avLst/>
          </a:prstGeom>
          <a:solidFill>
            <a:srgbClr val="FFE8D6"/>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04" name="Strip 00"/>
          <p:cNvSpPr>
            <a:spLocks noGrp="1"/>
          </p:cNvSpPr>
          <p:nvPr/>
        </p:nvSpPr>
        <p:spPr>
          <a:xfrm>
            <a:off x="838230" y="2155832"/>
            <a:ext cx="1971446" cy="344675"/>
          </a:xfrm>
          <a:prstGeom prst="rect">
            <a:avLst/>
          </a:prstGeom>
          <a:solidFill>
            <a:srgbClr val="FA500E"/>
          </a:solidFill>
          <a:ln w="0">
            <a:noFill/>
          </a:ln>
        </p:spPr>
        <p:txBody>
          <a:bodyPr wrap="square" lIns="18288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1" i="0" u="none" strike="noStrike" kern="1200" cap="none" spc="100" normalizeH="0" baseline="0" noProof="0">
                <a:ln>
                  <a:noFill/>
                </a:ln>
                <a:solidFill>
                  <a:srgbClr val="FFF8F2"/>
                </a:solidFill>
                <a:effectLst/>
                <a:uLnTx/>
                <a:uFillTx/>
                <a:latin typeface="Arial"/>
                <a:ea typeface="Arial"/>
                <a:cs typeface="Arial"/>
              </a:rPr>
              <a:t>EU / EEA</a:t>
            </a:r>
          </a:p>
        </p:txBody>
      </p:sp>
      <p:sp>
        <p:nvSpPr>
          <p:cNvPr id="305" name="Msg 00"/>
          <p:cNvSpPr>
            <a:spLocks noGrp="1"/>
          </p:cNvSpPr>
          <p:nvPr/>
        </p:nvSpPr>
        <p:spPr>
          <a:xfrm>
            <a:off x="1002822" y="2634547"/>
            <a:ext cx="1642262" cy="651053"/>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1" i="0" u="none" strike="noStrike" kern="1200" cap="none" spc="0" normalizeH="0" baseline="0" noProof="0">
                <a:ln>
                  <a:noFill/>
                </a:ln>
                <a:solidFill>
                  <a:srgbClr val="161623"/>
                </a:solidFill>
                <a:effectLst/>
                <a:uLnTx/>
                <a:uFillTx/>
                <a:latin typeface="Arial"/>
                <a:ea typeface="Arial"/>
                <a:cs typeface="Arial"/>
              </a:rPr>
              <a:t>Control + strategic autonomy</a:t>
            </a:r>
          </a:p>
        </p:txBody>
      </p:sp>
      <p:sp>
        <p:nvSpPr>
          <p:cNvPr id="306" name="Div 00"/>
          <p:cNvSpPr>
            <a:spLocks noGrp="1"/>
          </p:cNvSpPr>
          <p:nvPr/>
        </p:nvSpPr>
        <p:spPr>
          <a:xfrm>
            <a:off x="1002822" y="3343046"/>
            <a:ext cx="1642262" cy="15318"/>
          </a:xfrm>
          <a:prstGeom prst="rect">
            <a:avLst/>
          </a:prstGeom>
          <a:solidFill>
            <a:srgbClr val="E8CBB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07" name="Note 00"/>
          <p:cNvSpPr>
            <a:spLocks noGrp="1"/>
          </p:cNvSpPr>
          <p:nvPr/>
        </p:nvSpPr>
        <p:spPr>
          <a:xfrm>
            <a:off x="1002822" y="3457938"/>
            <a:ext cx="1642262" cy="44041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62544F"/>
                </a:solidFill>
                <a:effectLst/>
                <a:uLnTx/>
                <a:uFillTx/>
                <a:latin typeface="Arial"/>
                <a:ea typeface="Arial"/>
                <a:cs typeface="Arial"/>
              </a:rPr>
              <a:t>Do not imply DORA mandates self-hosting.</a:t>
            </a:r>
          </a:p>
        </p:txBody>
      </p:sp>
      <p:sp>
        <p:nvSpPr>
          <p:cNvPr id="308" name="Card 01"/>
          <p:cNvSpPr>
            <a:spLocks noGrp="1"/>
          </p:cNvSpPr>
          <p:nvPr/>
        </p:nvSpPr>
        <p:spPr>
          <a:xfrm>
            <a:off x="2974269" y="2155832"/>
            <a:ext cx="1971446" cy="1819118"/>
          </a:xfrm>
          <a:prstGeom prst="rect">
            <a:avLst/>
          </a:prstGeom>
          <a:solidFill>
            <a:srgbClr val="FFE8D6"/>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09" name="Strip 01"/>
          <p:cNvSpPr>
            <a:spLocks noGrp="1"/>
          </p:cNvSpPr>
          <p:nvPr/>
        </p:nvSpPr>
        <p:spPr>
          <a:xfrm>
            <a:off x="2974269" y="2155832"/>
            <a:ext cx="1971446" cy="344675"/>
          </a:xfrm>
          <a:prstGeom prst="rect">
            <a:avLst/>
          </a:prstGeom>
          <a:solidFill>
            <a:srgbClr val="FA500E"/>
          </a:solidFill>
          <a:ln w="0">
            <a:noFill/>
          </a:ln>
        </p:spPr>
        <p:txBody>
          <a:bodyPr wrap="square" lIns="18288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1" i="0" u="none" strike="noStrike" kern="1200" cap="none" spc="100" normalizeH="0" baseline="0" noProof="0">
                <a:ln>
                  <a:noFill/>
                </a:ln>
                <a:solidFill>
                  <a:srgbClr val="FFF8F2"/>
                </a:solidFill>
                <a:effectLst/>
                <a:uLnTx/>
                <a:uFillTx/>
                <a:latin typeface="Arial"/>
                <a:ea typeface="Arial"/>
                <a:cs typeface="Arial"/>
              </a:rPr>
              <a:t>UK</a:t>
            </a:r>
          </a:p>
        </p:txBody>
      </p:sp>
      <p:sp>
        <p:nvSpPr>
          <p:cNvPr id="310" name="Msg 01"/>
          <p:cNvSpPr>
            <a:spLocks noGrp="1"/>
          </p:cNvSpPr>
          <p:nvPr/>
        </p:nvSpPr>
        <p:spPr>
          <a:xfrm>
            <a:off x="3138861" y="2634547"/>
            <a:ext cx="1642262" cy="651053"/>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1" i="0" u="none" strike="noStrike" kern="1200" cap="none" spc="0" normalizeH="0" baseline="0" noProof="0">
                <a:ln>
                  <a:noFill/>
                </a:ln>
                <a:solidFill>
                  <a:srgbClr val="161623"/>
                </a:solidFill>
                <a:effectLst/>
                <a:uLnTx/>
                <a:uFillTx/>
                <a:latin typeface="Arial"/>
                <a:ea typeface="Arial"/>
                <a:cs typeface="Arial"/>
              </a:rPr>
              <a:t>Financial intelligence + accountability</a:t>
            </a:r>
          </a:p>
        </p:txBody>
      </p:sp>
      <p:sp>
        <p:nvSpPr>
          <p:cNvPr id="311" name="Div 01"/>
          <p:cNvSpPr>
            <a:spLocks noGrp="1"/>
          </p:cNvSpPr>
          <p:nvPr/>
        </p:nvSpPr>
        <p:spPr>
          <a:xfrm>
            <a:off x="3138861" y="3343046"/>
            <a:ext cx="1642262" cy="15318"/>
          </a:xfrm>
          <a:prstGeom prst="rect">
            <a:avLst/>
          </a:prstGeom>
          <a:solidFill>
            <a:srgbClr val="E8CBB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12" name="Note 01"/>
          <p:cNvSpPr>
            <a:spLocks noGrp="1"/>
          </p:cNvSpPr>
          <p:nvPr/>
        </p:nvSpPr>
        <p:spPr>
          <a:xfrm>
            <a:off x="3138861" y="3457938"/>
            <a:ext cx="1642262" cy="44041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62544F"/>
                </a:solidFill>
                <a:effectLst/>
                <a:uLnTx/>
                <a:uFillTx/>
                <a:latin typeface="Arial"/>
                <a:ea typeface="Arial"/>
                <a:cs typeface="Arial"/>
              </a:rPr>
              <a:t>Lead with HSBC proof.</a:t>
            </a:r>
          </a:p>
        </p:txBody>
      </p:sp>
      <p:sp>
        <p:nvSpPr>
          <p:cNvPr id="313" name="Card 02"/>
          <p:cNvSpPr>
            <a:spLocks noGrp="1"/>
          </p:cNvSpPr>
          <p:nvPr/>
        </p:nvSpPr>
        <p:spPr>
          <a:xfrm>
            <a:off x="5110307" y="2155832"/>
            <a:ext cx="1971446" cy="1819118"/>
          </a:xfrm>
          <a:prstGeom prst="rect">
            <a:avLst/>
          </a:prstGeom>
          <a:solidFill>
            <a:srgbClr val="FFE8D6"/>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14" name="Strip 02"/>
          <p:cNvSpPr>
            <a:spLocks noGrp="1"/>
          </p:cNvSpPr>
          <p:nvPr/>
        </p:nvSpPr>
        <p:spPr>
          <a:xfrm>
            <a:off x="5110307" y="2155832"/>
            <a:ext cx="1971446" cy="344675"/>
          </a:xfrm>
          <a:prstGeom prst="rect">
            <a:avLst/>
          </a:prstGeom>
          <a:solidFill>
            <a:srgbClr val="FA500E"/>
          </a:solidFill>
          <a:ln w="0">
            <a:noFill/>
          </a:ln>
        </p:spPr>
        <p:txBody>
          <a:bodyPr wrap="square" lIns="18288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1" i="0" u="none" strike="noStrike" kern="1200" cap="none" spc="100" normalizeH="0" baseline="0" noProof="0">
                <a:ln>
                  <a:noFill/>
                </a:ln>
                <a:solidFill>
                  <a:srgbClr val="FFF8F2"/>
                </a:solidFill>
                <a:effectLst/>
                <a:uLnTx/>
                <a:uFillTx/>
                <a:latin typeface="Arial"/>
                <a:ea typeface="Arial"/>
                <a:cs typeface="Arial"/>
              </a:rPr>
              <a:t>NORTH AMERICA</a:t>
            </a:r>
          </a:p>
        </p:txBody>
      </p:sp>
      <p:sp>
        <p:nvSpPr>
          <p:cNvPr id="315" name="Msg 02"/>
          <p:cNvSpPr>
            <a:spLocks noGrp="1"/>
          </p:cNvSpPr>
          <p:nvPr/>
        </p:nvSpPr>
        <p:spPr>
          <a:xfrm>
            <a:off x="5274899" y="2634547"/>
            <a:ext cx="1642262" cy="651053"/>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1" i="0" u="none" strike="noStrike" kern="1200" cap="none" spc="0" normalizeH="0" baseline="0" noProof="0">
                <a:ln>
                  <a:noFill/>
                </a:ln>
                <a:solidFill>
                  <a:srgbClr val="161623"/>
                </a:solidFill>
                <a:effectLst/>
                <a:uLnTx/>
                <a:uFillTx/>
                <a:latin typeface="Arial"/>
                <a:ea typeface="Arial"/>
                <a:cs typeface="Arial"/>
              </a:rPr>
              <a:t>Documents + coexistence</a:t>
            </a:r>
          </a:p>
        </p:txBody>
      </p:sp>
      <p:sp>
        <p:nvSpPr>
          <p:cNvPr id="316" name="Div 02"/>
          <p:cNvSpPr>
            <a:spLocks noGrp="1"/>
          </p:cNvSpPr>
          <p:nvPr/>
        </p:nvSpPr>
        <p:spPr>
          <a:xfrm>
            <a:off x="5274899" y="3343046"/>
            <a:ext cx="1642262" cy="15318"/>
          </a:xfrm>
          <a:prstGeom prst="rect">
            <a:avLst/>
          </a:prstGeom>
          <a:solidFill>
            <a:srgbClr val="E8CBB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17" name="Note 02"/>
          <p:cNvSpPr>
            <a:spLocks noGrp="1"/>
          </p:cNvSpPr>
          <p:nvPr/>
        </p:nvSpPr>
        <p:spPr>
          <a:xfrm>
            <a:off x="5274899" y="3457938"/>
            <a:ext cx="1642262" cy="44041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62544F"/>
                </a:solidFill>
                <a:effectLst/>
                <a:uLnTx/>
                <a:uFillTx/>
                <a:latin typeface="Arial"/>
                <a:ea typeface="Arial"/>
                <a:cs typeface="Arial"/>
              </a:rPr>
              <a:t>Avoid importing EU regulatory language.</a:t>
            </a:r>
          </a:p>
        </p:txBody>
      </p:sp>
      <p:sp>
        <p:nvSpPr>
          <p:cNvPr id="318" name="Card 03"/>
          <p:cNvSpPr>
            <a:spLocks noGrp="1"/>
          </p:cNvSpPr>
          <p:nvPr/>
        </p:nvSpPr>
        <p:spPr>
          <a:xfrm>
            <a:off x="7246346" y="2155832"/>
            <a:ext cx="1971446" cy="1819118"/>
          </a:xfrm>
          <a:prstGeom prst="rect">
            <a:avLst/>
          </a:prstGeom>
          <a:solidFill>
            <a:srgbClr val="FFE8D6"/>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19" name="Strip 03"/>
          <p:cNvSpPr>
            <a:spLocks noGrp="1"/>
          </p:cNvSpPr>
          <p:nvPr/>
        </p:nvSpPr>
        <p:spPr>
          <a:xfrm>
            <a:off x="7246346" y="2155832"/>
            <a:ext cx="1971446" cy="344675"/>
          </a:xfrm>
          <a:prstGeom prst="rect">
            <a:avLst/>
          </a:prstGeom>
          <a:solidFill>
            <a:srgbClr val="FA500E"/>
          </a:solidFill>
          <a:ln w="0">
            <a:noFill/>
          </a:ln>
        </p:spPr>
        <p:txBody>
          <a:bodyPr wrap="square" lIns="18288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1" i="0" u="none" strike="noStrike" kern="1200" cap="none" spc="100" normalizeH="0" baseline="0" noProof="0">
                <a:ln>
                  <a:noFill/>
                </a:ln>
                <a:solidFill>
                  <a:srgbClr val="FFF8F2"/>
                </a:solidFill>
                <a:effectLst/>
                <a:uLnTx/>
                <a:uFillTx/>
                <a:latin typeface="Arial"/>
                <a:ea typeface="Arial"/>
                <a:cs typeface="Arial"/>
              </a:rPr>
              <a:t>APAC</a:t>
            </a:r>
          </a:p>
        </p:txBody>
      </p:sp>
      <p:sp>
        <p:nvSpPr>
          <p:cNvPr id="320" name="Msg 03"/>
          <p:cNvSpPr>
            <a:spLocks noGrp="1"/>
          </p:cNvSpPr>
          <p:nvPr/>
        </p:nvSpPr>
        <p:spPr>
          <a:xfrm>
            <a:off x="7410938" y="2634547"/>
            <a:ext cx="1642262" cy="651053"/>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1" i="0" u="none" strike="noStrike" kern="1200" cap="none" spc="0" normalizeH="0" baseline="0" noProof="0">
                <a:ln>
                  <a:noFill/>
                </a:ln>
                <a:solidFill>
                  <a:srgbClr val="161623"/>
                </a:solidFill>
                <a:effectLst/>
                <a:uLnTx/>
                <a:uFillTx/>
                <a:latin typeface="Arial"/>
                <a:ea typeface="Arial"/>
                <a:cs typeface="Arial"/>
              </a:rPr>
              <a:t>Multilingual + deployment choice</a:t>
            </a:r>
          </a:p>
        </p:txBody>
      </p:sp>
      <p:sp>
        <p:nvSpPr>
          <p:cNvPr id="321" name="Div 03"/>
          <p:cNvSpPr>
            <a:spLocks noGrp="1"/>
          </p:cNvSpPr>
          <p:nvPr/>
        </p:nvSpPr>
        <p:spPr>
          <a:xfrm>
            <a:off x="7410938" y="3343046"/>
            <a:ext cx="1642262" cy="15318"/>
          </a:xfrm>
          <a:prstGeom prst="rect">
            <a:avLst/>
          </a:prstGeom>
          <a:solidFill>
            <a:srgbClr val="E8CBB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22" name="Note 03"/>
          <p:cNvSpPr>
            <a:spLocks noGrp="1"/>
          </p:cNvSpPr>
          <p:nvPr/>
        </p:nvSpPr>
        <p:spPr>
          <a:xfrm>
            <a:off x="7410938" y="3457938"/>
            <a:ext cx="1642262" cy="44041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62544F"/>
                </a:solidFill>
                <a:effectLst/>
                <a:uLnTx/>
                <a:uFillTx/>
                <a:latin typeface="Arial"/>
                <a:ea typeface="Arial"/>
                <a:cs typeface="Arial"/>
              </a:rPr>
              <a:t>Target sophisticated multi-model banks.</a:t>
            </a:r>
          </a:p>
        </p:txBody>
      </p:sp>
      <p:sp>
        <p:nvSpPr>
          <p:cNvPr id="323" name="Card 04"/>
          <p:cNvSpPr>
            <a:spLocks noGrp="1"/>
          </p:cNvSpPr>
          <p:nvPr/>
        </p:nvSpPr>
        <p:spPr>
          <a:xfrm>
            <a:off x="9382384" y="2155832"/>
            <a:ext cx="1971446" cy="1819118"/>
          </a:xfrm>
          <a:prstGeom prst="rect">
            <a:avLst/>
          </a:prstGeom>
          <a:solidFill>
            <a:srgbClr val="FFE8D6"/>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24" name="Strip 04"/>
          <p:cNvSpPr>
            <a:spLocks noGrp="1"/>
          </p:cNvSpPr>
          <p:nvPr/>
        </p:nvSpPr>
        <p:spPr>
          <a:xfrm>
            <a:off x="9382384" y="2155832"/>
            <a:ext cx="1971446" cy="344675"/>
          </a:xfrm>
          <a:prstGeom prst="rect">
            <a:avLst/>
          </a:prstGeom>
          <a:solidFill>
            <a:srgbClr val="FA500E"/>
          </a:solidFill>
          <a:ln w="0">
            <a:noFill/>
          </a:ln>
        </p:spPr>
        <p:txBody>
          <a:bodyPr wrap="square" lIns="18288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1" i="0" u="none" strike="noStrike" kern="1200" cap="none" spc="100" normalizeH="0" baseline="0" noProof="0">
                <a:ln>
                  <a:noFill/>
                </a:ln>
                <a:solidFill>
                  <a:srgbClr val="FFF8F2"/>
                </a:solidFill>
                <a:effectLst/>
                <a:uLnTx/>
                <a:uFillTx/>
                <a:latin typeface="Arial"/>
                <a:ea typeface="Arial"/>
                <a:cs typeface="Arial"/>
              </a:rPr>
              <a:t>SWITZERLAND</a:t>
            </a:r>
          </a:p>
        </p:txBody>
      </p:sp>
      <p:sp>
        <p:nvSpPr>
          <p:cNvPr id="325" name="Msg 04"/>
          <p:cNvSpPr>
            <a:spLocks noGrp="1"/>
          </p:cNvSpPr>
          <p:nvPr/>
        </p:nvSpPr>
        <p:spPr>
          <a:xfrm>
            <a:off x="9546976" y="2634547"/>
            <a:ext cx="1642262" cy="651053"/>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1" i="0" u="none" strike="noStrike" kern="1200" cap="none" spc="0" normalizeH="0" baseline="0" noProof="0">
                <a:ln>
                  <a:noFill/>
                </a:ln>
                <a:solidFill>
                  <a:srgbClr val="161623"/>
                </a:solidFill>
                <a:effectLst/>
                <a:uLnTx/>
                <a:uFillTx/>
                <a:latin typeface="Arial"/>
                <a:ea typeface="Arial"/>
                <a:cs typeface="Arial"/>
              </a:rPr>
              <a:t>Confidentiality + control</a:t>
            </a:r>
          </a:p>
        </p:txBody>
      </p:sp>
      <p:sp>
        <p:nvSpPr>
          <p:cNvPr id="326" name="Div 04"/>
          <p:cNvSpPr>
            <a:spLocks noGrp="1"/>
          </p:cNvSpPr>
          <p:nvPr/>
        </p:nvSpPr>
        <p:spPr>
          <a:xfrm>
            <a:off x="9546976" y="3343046"/>
            <a:ext cx="1642262" cy="15318"/>
          </a:xfrm>
          <a:prstGeom prst="rect">
            <a:avLst/>
          </a:prstGeom>
          <a:solidFill>
            <a:srgbClr val="E8CBB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27" name="Note 04"/>
          <p:cNvSpPr>
            <a:spLocks noGrp="1"/>
          </p:cNvSpPr>
          <p:nvPr/>
        </p:nvSpPr>
        <p:spPr>
          <a:xfrm>
            <a:off x="9546976" y="3457938"/>
            <a:ext cx="1642262" cy="44041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62544F"/>
                </a:solidFill>
                <a:effectLst/>
                <a:uLnTx/>
                <a:uFillTx/>
                <a:latin typeface="Arial"/>
                <a:ea typeface="Arial"/>
                <a:cs typeface="Arial"/>
              </a:rPr>
              <a:t>Use insurance proof; validate wealth claims.</a:t>
            </a:r>
          </a:p>
        </p:txBody>
      </p:sp>
      <p:sp>
        <p:nvSpPr>
          <p:cNvPr id="328" name="Row num 1"/>
          <p:cNvSpPr>
            <a:spLocks noGrp="1"/>
          </p:cNvSpPr>
          <p:nvPr/>
        </p:nvSpPr>
        <p:spPr>
          <a:xfrm>
            <a:off x="838230" y="4089842"/>
            <a:ext cx="457200" cy="248932"/>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210" b="0" i="0" u="none" strike="noStrike" kern="1200" cap="none" spc="0" normalizeH="0" baseline="0" noProof="0">
                <a:ln>
                  <a:noFill/>
                </a:ln>
                <a:solidFill>
                  <a:srgbClr val="FA500E"/>
                </a:solidFill>
                <a:effectLst/>
                <a:uLnTx/>
                <a:uFillTx/>
                <a:latin typeface="Silkscreen"/>
                <a:ea typeface="Silkscreen"/>
                <a:cs typeface="Silkscreen"/>
              </a:rPr>
              <a:t>02</a:t>
            </a:r>
          </a:p>
        </p:txBody>
      </p:sp>
      <p:sp>
        <p:nvSpPr>
          <p:cNvPr id="329" name="Row lab 1"/>
          <p:cNvSpPr>
            <a:spLocks noGrp="1"/>
          </p:cNvSpPr>
          <p:nvPr/>
        </p:nvSpPr>
        <p:spPr>
          <a:xfrm>
            <a:off x="1368582" y="4089842"/>
            <a:ext cx="5486400" cy="248932"/>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1" i="0" u="none" strike="noStrike" kern="1200" cap="none" spc="120" normalizeH="0" baseline="0" noProof="0">
                <a:ln>
                  <a:noFill/>
                </a:ln>
                <a:solidFill>
                  <a:srgbClr val="161623"/>
                </a:solidFill>
                <a:effectLst/>
                <a:uLnTx/>
                <a:uFillTx/>
                <a:latin typeface="Arial"/>
                <a:ea typeface="Arial"/>
                <a:cs typeface="Arial"/>
              </a:rPr>
              <a:t>WHICH SUB-VERTICAL?</a:t>
            </a:r>
          </a:p>
        </p:txBody>
      </p:sp>
      <p:sp>
        <p:nvSpPr>
          <p:cNvPr id="330" name="Row rule 1"/>
          <p:cNvSpPr>
            <a:spLocks noGrp="1"/>
          </p:cNvSpPr>
          <p:nvPr/>
        </p:nvSpPr>
        <p:spPr>
          <a:xfrm>
            <a:off x="841248" y="4396220"/>
            <a:ext cx="10515600" cy="21064"/>
          </a:xfrm>
          <a:prstGeom prst="rect">
            <a:avLst/>
          </a:prstGeom>
          <a:solidFill>
            <a:srgbClr val="161623"/>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31" name="Card 10"/>
          <p:cNvSpPr>
            <a:spLocks noGrp="1"/>
          </p:cNvSpPr>
          <p:nvPr/>
        </p:nvSpPr>
        <p:spPr>
          <a:xfrm>
            <a:off x="838230" y="4530260"/>
            <a:ext cx="1971446" cy="1819118"/>
          </a:xfrm>
          <a:prstGeom prst="rect">
            <a:avLst/>
          </a:prstGeom>
          <a:solidFill>
            <a:srgbClr val="FFD7C2"/>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32" name="Strip 10"/>
          <p:cNvSpPr>
            <a:spLocks noGrp="1"/>
          </p:cNvSpPr>
          <p:nvPr/>
        </p:nvSpPr>
        <p:spPr>
          <a:xfrm>
            <a:off x="838230" y="4530260"/>
            <a:ext cx="1971446" cy="344675"/>
          </a:xfrm>
          <a:prstGeom prst="rect">
            <a:avLst/>
          </a:prstGeom>
          <a:solidFill>
            <a:srgbClr val="161623"/>
          </a:solidFill>
          <a:ln w="0">
            <a:noFill/>
          </a:ln>
        </p:spPr>
        <p:txBody>
          <a:bodyPr wrap="square" lIns="18288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1" i="0" u="none" strike="noStrike" kern="1200" cap="none" spc="100" normalizeH="0" baseline="0" noProof="0">
                <a:ln>
                  <a:noFill/>
                </a:ln>
                <a:solidFill>
                  <a:srgbClr val="FFF8F2"/>
                </a:solidFill>
                <a:effectLst/>
                <a:uLnTx/>
                <a:uFillTx/>
                <a:latin typeface="Arial"/>
                <a:ea typeface="Arial"/>
                <a:cs typeface="Arial"/>
              </a:rPr>
              <a:t>PRIVATE MARKETS</a:t>
            </a:r>
          </a:p>
        </p:txBody>
      </p:sp>
      <p:sp>
        <p:nvSpPr>
          <p:cNvPr id="333" name="Msg 10"/>
          <p:cNvSpPr>
            <a:spLocks noGrp="1"/>
          </p:cNvSpPr>
          <p:nvPr/>
        </p:nvSpPr>
        <p:spPr>
          <a:xfrm>
            <a:off x="1002822" y="5008975"/>
            <a:ext cx="1642262" cy="651053"/>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1" i="0" u="none" strike="noStrike" kern="1200" cap="none" spc="0" normalizeH="0" baseline="0" noProof="0">
                <a:ln>
                  <a:noFill/>
                </a:ln>
                <a:solidFill>
                  <a:srgbClr val="161623"/>
                </a:solidFill>
                <a:effectLst/>
                <a:uLnTx/>
                <a:uFillTx/>
                <a:latin typeface="Arial"/>
                <a:ea typeface="Arial"/>
                <a:cs typeface="Arial"/>
              </a:rPr>
              <a:t>Deal-document intelligence</a:t>
            </a:r>
          </a:p>
        </p:txBody>
      </p:sp>
      <p:sp>
        <p:nvSpPr>
          <p:cNvPr id="334" name="Div 10"/>
          <p:cNvSpPr>
            <a:spLocks noGrp="1"/>
          </p:cNvSpPr>
          <p:nvPr/>
        </p:nvSpPr>
        <p:spPr>
          <a:xfrm>
            <a:off x="1002822" y="5717474"/>
            <a:ext cx="1642262" cy="15318"/>
          </a:xfrm>
          <a:prstGeom prst="rect">
            <a:avLst/>
          </a:prstGeom>
          <a:solidFill>
            <a:srgbClr val="E8CBB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35" name="Note 10"/>
          <p:cNvSpPr>
            <a:spLocks noGrp="1"/>
          </p:cNvSpPr>
          <p:nvPr/>
        </p:nvSpPr>
        <p:spPr>
          <a:xfrm>
            <a:off x="1002822" y="5832365"/>
            <a:ext cx="1642262" cy="44041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62544F"/>
                </a:solidFill>
                <a:effectLst/>
                <a:uLnTx/>
                <a:uFillTx/>
                <a:latin typeface="Arial"/>
                <a:ea typeface="Arial"/>
                <a:cs typeface="Arial"/>
              </a:rPr>
              <a:t>Ardian · benchmark one deal set.</a:t>
            </a:r>
          </a:p>
        </p:txBody>
      </p:sp>
      <p:sp>
        <p:nvSpPr>
          <p:cNvPr id="336" name="Card 11"/>
          <p:cNvSpPr>
            <a:spLocks noGrp="1"/>
          </p:cNvSpPr>
          <p:nvPr/>
        </p:nvSpPr>
        <p:spPr>
          <a:xfrm>
            <a:off x="2974269" y="4530260"/>
            <a:ext cx="1971446" cy="1819118"/>
          </a:xfrm>
          <a:prstGeom prst="rect">
            <a:avLst/>
          </a:prstGeom>
          <a:solidFill>
            <a:srgbClr val="FFD7C2"/>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37" name="Strip 11"/>
          <p:cNvSpPr>
            <a:spLocks noGrp="1"/>
          </p:cNvSpPr>
          <p:nvPr/>
        </p:nvSpPr>
        <p:spPr>
          <a:xfrm>
            <a:off x="2974269" y="4530260"/>
            <a:ext cx="1971446" cy="344675"/>
          </a:xfrm>
          <a:prstGeom prst="rect">
            <a:avLst/>
          </a:prstGeom>
          <a:solidFill>
            <a:srgbClr val="161623"/>
          </a:solidFill>
          <a:ln w="0">
            <a:noFill/>
          </a:ln>
        </p:spPr>
        <p:txBody>
          <a:bodyPr wrap="square" lIns="18288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1" i="0" u="none" strike="noStrike" kern="1200" cap="none" spc="100" normalizeH="0" baseline="0" noProof="0">
                <a:ln>
                  <a:noFill/>
                </a:ln>
                <a:solidFill>
                  <a:srgbClr val="FFF8F2"/>
                </a:solidFill>
                <a:effectLst/>
                <a:uLnTx/>
                <a:uFillTx/>
                <a:latin typeface="Arial"/>
                <a:ea typeface="Arial"/>
                <a:cs typeface="Arial"/>
              </a:rPr>
              <a:t>COMMERCIAL BANKING</a:t>
            </a:r>
          </a:p>
        </p:txBody>
      </p:sp>
      <p:sp>
        <p:nvSpPr>
          <p:cNvPr id="338" name="Msg 11"/>
          <p:cNvSpPr>
            <a:spLocks noGrp="1"/>
          </p:cNvSpPr>
          <p:nvPr/>
        </p:nvSpPr>
        <p:spPr>
          <a:xfrm>
            <a:off x="3138861" y="5008975"/>
            <a:ext cx="1642262" cy="651053"/>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1" i="0" u="none" strike="noStrike" kern="1200" cap="none" spc="0" normalizeH="0" baseline="0" noProof="0">
                <a:ln>
                  <a:noFill/>
                </a:ln>
                <a:solidFill>
                  <a:srgbClr val="161623"/>
                </a:solidFill>
                <a:effectLst/>
                <a:uLnTx/>
                <a:uFillTx/>
                <a:latin typeface="Arial"/>
                <a:ea typeface="Arial"/>
                <a:cs typeface="Arial"/>
              </a:rPr>
              <a:t>Credit / lending workflows</a:t>
            </a:r>
          </a:p>
        </p:txBody>
      </p:sp>
      <p:sp>
        <p:nvSpPr>
          <p:cNvPr id="339" name="Div 11"/>
          <p:cNvSpPr>
            <a:spLocks noGrp="1"/>
          </p:cNvSpPr>
          <p:nvPr/>
        </p:nvSpPr>
        <p:spPr>
          <a:xfrm>
            <a:off x="3138861" y="5717474"/>
            <a:ext cx="1642262" cy="15318"/>
          </a:xfrm>
          <a:prstGeom prst="rect">
            <a:avLst/>
          </a:prstGeom>
          <a:solidFill>
            <a:srgbClr val="E8CBB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40" name="Note 11"/>
          <p:cNvSpPr>
            <a:spLocks noGrp="1"/>
          </p:cNvSpPr>
          <p:nvPr/>
        </p:nvSpPr>
        <p:spPr>
          <a:xfrm>
            <a:off x="3138861" y="5832365"/>
            <a:ext cx="1642262" cy="44041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62544F"/>
                </a:solidFill>
                <a:effectLst/>
                <a:uLnTx/>
                <a:uFillTx/>
                <a:latin typeface="Arial"/>
                <a:ea typeface="Arial"/>
                <a:cs typeface="Arial"/>
              </a:rPr>
              <a:t>HSBC + BNP + LBP · architecture evaluation.</a:t>
            </a:r>
          </a:p>
        </p:txBody>
      </p:sp>
      <p:sp>
        <p:nvSpPr>
          <p:cNvPr id="341" name="Card 12"/>
          <p:cNvSpPr>
            <a:spLocks noGrp="1"/>
          </p:cNvSpPr>
          <p:nvPr/>
        </p:nvSpPr>
        <p:spPr>
          <a:xfrm>
            <a:off x="5110307" y="4530260"/>
            <a:ext cx="1971446" cy="1819118"/>
          </a:xfrm>
          <a:prstGeom prst="rect">
            <a:avLst/>
          </a:prstGeom>
          <a:solidFill>
            <a:srgbClr val="FFD7C2"/>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42" name="Strip 12"/>
          <p:cNvSpPr>
            <a:spLocks noGrp="1"/>
          </p:cNvSpPr>
          <p:nvPr/>
        </p:nvSpPr>
        <p:spPr>
          <a:xfrm>
            <a:off x="5110307" y="4530260"/>
            <a:ext cx="1971446" cy="344675"/>
          </a:xfrm>
          <a:prstGeom prst="rect">
            <a:avLst/>
          </a:prstGeom>
          <a:solidFill>
            <a:srgbClr val="161623"/>
          </a:solidFill>
          <a:ln w="0">
            <a:noFill/>
          </a:ln>
        </p:spPr>
        <p:txBody>
          <a:bodyPr wrap="square" lIns="18288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1" i="0" u="none" strike="noStrike" kern="1200" cap="none" spc="100" normalizeH="0" baseline="0" noProof="0">
                <a:ln>
                  <a:noFill/>
                </a:ln>
                <a:solidFill>
                  <a:srgbClr val="FFF8F2"/>
                </a:solidFill>
                <a:effectLst/>
                <a:uLnTx/>
                <a:uFillTx/>
                <a:latin typeface="Arial"/>
                <a:ea typeface="Arial"/>
                <a:cs typeface="Arial"/>
              </a:rPr>
              <a:t>FINANCIAL CRIME</a:t>
            </a:r>
          </a:p>
        </p:txBody>
      </p:sp>
      <p:sp>
        <p:nvSpPr>
          <p:cNvPr id="343" name="Msg 12"/>
          <p:cNvSpPr>
            <a:spLocks noGrp="1"/>
          </p:cNvSpPr>
          <p:nvPr/>
        </p:nvSpPr>
        <p:spPr>
          <a:xfrm>
            <a:off x="5274899" y="5008975"/>
            <a:ext cx="1642262" cy="651053"/>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1" i="0" u="none" strike="noStrike" kern="1200" cap="none" spc="0" normalizeH="0" baseline="0" noProof="0">
                <a:ln>
                  <a:noFill/>
                </a:ln>
                <a:solidFill>
                  <a:srgbClr val="161623"/>
                </a:solidFill>
                <a:effectLst/>
                <a:uLnTx/>
                <a:uFillTx/>
                <a:latin typeface="Arial"/>
                <a:ea typeface="Arial"/>
                <a:cs typeface="Arial"/>
              </a:rPr>
              <a:t>KYC / AML investigation support</a:t>
            </a:r>
          </a:p>
        </p:txBody>
      </p:sp>
      <p:sp>
        <p:nvSpPr>
          <p:cNvPr id="344" name="Div 12"/>
          <p:cNvSpPr>
            <a:spLocks noGrp="1"/>
          </p:cNvSpPr>
          <p:nvPr/>
        </p:nvSpPr>
        <p:spPr>
          <a:xfrm>
            <a:off x="5274899" y="5717474"/>
            <a:ext cx="1642262" cy="15318"/>
          </a:xfrm>
          <a:prstGeom prst="rect">
            <a:avLst/>
          </a:prstGeom>
          <a:solidFill>
            <a:srgbClr val="E8CBB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45" name="Note 12"/>
          <p:cNvSpPr>
            <a:spLocks noGrp="1"/>
          </p:cNvSpPr>
          <p:nvPr/>
        </p:nvSpPr>
        <p:spPr>
          <a:xfrm>
            <a:off x="5274899" y="5832365"/>
            <a:ext cx="1642262" cy="44041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62544F"/>
                </a:solidFill>
                <a:effectLst/>
                <a:uLnTx/>
                <a:uFillTx/>
                <a:latin typeface="Arial"/>
                <a:ea typeface="Arial"/>
                <a:cs typeface="Arial"/>
              </a:rPr>
              <a:t>Historical cases + human-review evidence.</a:t>
            </a:r>
          </a:p>
        </p:txBody>
      </p:sp>
      <p:sp>
        <p:nvSpPr>
          <p:cNvPr id="346" name="Card 13"/>
          <p:cNvSpPr>
            <a:spLocks noGrp="1"/>
          </p:cNvSpPr>
          <p:nvPr/>
        </p:nvSpPr>
        <p:spPr>
          <a:xfrm>
            <a:off x="7246346" y="4530260"/>
            <a:ext cx="1971446" cy="1819118"/>
          </a:xfrm>
          <a:prstGeom prst="rect">
            <a:avLst/>
          </a:prstGeom>
          <a:solidFill>
            <a:srgbClr val="FFD7C2"/>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47" name="Strip 13"/>
          <p:cNvSpPr>
            <a:spLocks noGrp="1"/>
          </p:cNvSpPr>
          <p:nvPr/>
        </p:nvSpPr>
        <p:spPr>
          <a:xfrm>
            <a:off x="7246346" y="4530260"/>
            <a:ext cx="1971446" cy="344675"/>
          </a:xfrm>
          <a:prstGeom prst="rect">
            <a:avLst/>
          </a:prstGeom>
          <a:solidFill>
            <a:srgbClr val="161623"/>
          </a:solidFill>
          <a:ln w="0">
            <a:noFill/>
          </a:ln>
        </p:spPr>
        <p:txBody>
          <a:bodyPr wrap="square" lIns="18288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1" i="0" u="none" strike="noStrike" kern="1200" cap="none" spc="100" normalizeH="0" baseline="0" noProof="0">
                <a:ln>
                  <a:noFill/>
                </a:ln>
                <a:solidFill>
                  <a:srgbClr val="FFF8F2"/>
                </a:solidFill>
                <a:effectLst/>
                <a:uLnTx/>
                <a:uFillTx/>
                <a:latin typeface="Arial"/>
                <a:ea typeface="Arial"/>
                <a:cs typeface="Arial"/>
              </a:rPr>
              <a:t>WEALTH</a:t>
            </a:r>
          </a:p>
        </p:txBody>
      </p:sp>
      <p:sp>
        <p:nvSpPr>
          <p:cNvPr id="348" name="Msg 13"/>
          <p:cNvSpPr>
            <a:spLocks noGrp="1"/>
          </p:cNvSpPr>
          <p:nvPr/>
        </p:nvSpPr>
        <p:spPr>
          <a:xfrm>
            <a:off x="7410938" y="5008975"/>
            <a:ext cx="1642262" cy="651053"/>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1" i="0" u="none" strike="noStrike" kern="1200" cap="none" spc="0" normalizeH="0" baseline="0" noProof="0">
                <a:ln>
                  <a:noFill/>
                </a:ln>
                <a:solidFill>
                  <a:srgbClr val="161623"/>
                </a:solidFill>
                <a:effectLst/>
                <a:uLnTx/>
                <a:uFillTx/>
                <a:latin typeface="Arial"/>
                <a:ea typeface="Arial"/>
                <a:cs typeface="Arial"/>
              </a:rPr>
              <a:t>Advisor / research intelligence</a:t>
            </a:r>
          </a:p>
        </p:txBody>
      </p:sp>
      <p:sp>
        <p:nvSpPr>
          <p:cNvPr id="349" name="Div 13"/>
          <p:cNvSpPr>
            <a:spLocks noGrp="1"/>
          </p:cNvSpPr>
          <p:nvPr/>
        </p:nvSpPr>
        <p:spPr>
          <a:xfrm>
            <a:off x="7410938" y="5717474"/>
            <a:ext cx="1642262" cy="15318"/>
          </a:xfrm>
          <a:prstGeom prst="rect">
            <a:avLst/>
          </a:prstGeom>
          <a:solidFill>
            <a:srgbClr val="E8CBB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50" name="Note 13"/>
          <p:cNvSpPr>
            <a:spLocks noGrp="1"/>
          </p:cNvSpPr>
          <p:nvPr/>
        </p:nvSpPr>
        <p:spPr>
          <a:xfrm>
            <a:off x="7410938" y="5832365"/>
            <a:ext cx="1642262" cy="44041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62544F"/>
                </a:solidFill>
                <a:effectLst/>
                <a:uLnTx/>
                <a:uFillTx/>
                <a:latin typeface="Arial"/>
                <a:ea typeface="Arial"/>
                <a:cs typeface="Arial"/>
              </a:rPr>
              <a:t>Direct proof is weaker; validate carefully.</a:t>
            </a:r>
          </a:p>
        </p:txBody>
      </p:sp>
      <p:sp>
        <p:nvSpPr>
          <p:cNvPr id="351" name="Card 14"/>
          <p:cNvSpPr>
            <a:spLocks noGrp="1"/>
          </p:cNvSpPr>
          <p:nvPr/>
        </p:nvSpPr>
        <p:spPr>
          <a:xfrm>
            <a:off x="9382384" y="4530260"/>
            <a:ext cx="1971446" cy="1819118"/>
          </a:xfrm>
          <a:prstGeom prst="rect">
            <a:avLst/>
          </a:prstGeom>
          <a:solidFill>
            <a:srgbClr val="FFD7C2"/>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52" name="Strip 14"/>
          <p:cNvSpPr>
            <a:spLocks noGrp="1"/>
          </p:cNvSpPr>
          <p:nvPr/>
        </p:nvSpPr>
        <p:spPr>
          <a:xfrm>
            <a:off x="9382384" y="4530260"/>
            <a:ext cx="1971446" cy="344675"/>
          </a:xfrm>
          <a:prstGeom prst="rect">
            <a:avLst/>
          </a:prstGeom>
          <a:solidFill>
            <a:srgbClr val="161623"/>
          </a:solidFill>
          <a:ln w="0">
            <a:noFill/>
          </a:ln>
        </p:spPr>
        <p:txBody>
          <a:bodyPr wrap="square" lIns="18288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1" i="0" u="none" strike="noStrike" kern="1200" cap="none" spc="100" normalizeH="0" baseline="0" noProof="0">
                <a:ln>
                  <a:noFill/>
                </a:ln>
                <a:solidFill>
                  <a:srgbClr val="FFF8F2"/>
                </a:solidFill>
                <a:effectLst/>
                <a:uLnTx/>
                <a:uFillTx/>
                <a:latin typeface="Arial"/>
                <a:ea typeface="Arial"/>
                <a:cs typeface="Arial"/>
              </a:rPr>
              <a:t>INSURANCE</a:t>
            </a:r>
          </a:p>
        </p:txBody>
      </p:sp>
      <p:sp>
        <p:nvSpPr>
          <p:cNvPr id="353" name="Msg 14"/>
          <p:cNvSpPr>
            <a:spLocks noGrp="1"/>
          </p:cNvSpPr>
          <p:nvPr/>
        </p:nvSpPr>
        <p:spPr>
          <a:xfrm>
            <a:off x="9546976" y="5008975"/>
            <a:ext cx="1642262" cy="651053"/>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60" b="1" i="0" u="none" strike="noStrike" kern="1200" cap="none" spc="0" normalizeH="0" baseline="0" noProof="0">
                <a:ln>
                  <a:noFill/>
                </a:ln>
                <a:solidFill>
                  <a:srgbClr val="161623"/>
                </a:solidFill>
                <a:effectLst/>
                <a:uLnTx/>
                <a:uFillTx/>
                <a:latin typeface="Arial"/>
                <a:ea typeface="Arial"/>
                <a:cs typeface="Arial"/>
              </a:rPr>
              <a:t>Controlled documents / workflows</a:t>
            </a:r>
          </a:p>
        </p:txBody>
      </p:sp>
      <p:sp>
        <p:nvSpPr>
          <p:cNvPr id="354" name="Div 14"/>
          <p:cNvSpPr>
            <a:spLocks noGrp="1"/>
          </p:cNvSpPr>
          <p:nvPr/>
        </p:nvSpPr>
        <p:spPr>
          <a:xfrm>
            <a:off x="9546976" y="5717474"/>
            <a:ext cx="1642262" cy="15318"/>
          </a:xfrm>
          <a:prstGeom prst="rect">
            <a:avLst/>
          </a:prstGeom>
          <a:solidFill>
            <a:srgbClr val="E8CBB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355" name="Note 14"/>
          <p:cNvSpPr>
            <a:spLocks noGrp="1"/>
          </p:cNvSpPr>
          <p:nvPr/>
        </p:nvSpPr>
        <p:spPr>
          <a:xfrm>
            <a:off x="9546976" y="5832365"/>
            <a:ext cx="1642262" cy="44041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62544F"/>
                </a:solidFill>
                <a:effectLst/>
                <a:uLnTx/>
                <a:uFillTx/>
                <a:latin typeface="Arial"/>
                <a:ea typeface="Arial"/>
                <a:cs typeface="Arial"/>
              </a:rPr>
              <a:t>Groupe Mutuel + AXA; avoid workload overreach.</a:t>
            </a:r>
          </a:p>
        </p:txBody>
      </p:sp>
    </p:spTree>
    <p:extLst>
      <p:ext uri="{BB962C8B-B14F-4D97-AF65-F5344CB8AC3E}">
        <p14:creationId xmlns:p14="http://schemas.microsoft.com/office/powerpoint/2010/main" val="2253563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8F2"/>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2B7C36F4-5246-4138-8C6F-28B7B3CB67AC}"/>
              </a:ext>
            </a:extLst>
          </p:cNvPr>
          <p:cNvSpPr>
            <a:spLocks noGrp="1"/>
          </p:cNvSpPr>
          <p:nvPr/>
        </p:nvSpPr>
        <p:spPr>
          <a:xfrm>
            <a:off x="609600" y="266700"/>
            <a:ext cx="76200" cy="742950"/>
          </a:xfrm>
          <a:prstGeom prst="rect">
            <a:avLst/>
          </a:prstGeom>
          <a:solidFill>
            <a:srgbClr val="FA500E"/>
          </a:solidFill>
          <a:ln w="0">
            <a:no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 name="Rectangle 1">
            <a:extLst>
              <a:ext uri="{FF2B5EF4-FFF2-40B4-BE49-F238E27FC236}">
                <a16:creationId xmlns:a16="http://schemas.microsoft.com/office/drawing/2014/main" id="{383CFB10-E923-4413-AC28-FFBB132961C7}"/>
              </a:ext>
            </a:extLst>
          </p:cNvPr>
          <p:cNvSpPr>
            <a:spLocks noGrp="1"/>
          </p:cNvSpPr>
          <p:nvPr/>
        </p:nvSpPr>
        <p:spPr>
          <a:xfrm>
            <a:off x="841248" y="256032"/>
            <a:ext cx="4206240" cy="173736"/>
          </a:xfrm>
          <a:prstGeom prst="rect">
            <a:avLst/>
          </a:prstGeom>
          <a:noFill/>
          <a:ln w="0">
            <a:noFill/>
            <a:prstDash val="solid"/>
          </a:ln>
        </p:spPr>
        <p:txBody>
          <a:bodyPr wrap="square" lIns="0" tIns="0" rIns="0" bIns="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sz="975" b="1">
                <a:solidFill>
                  <a:srgbClr val="3767E8"/>
                </a:solidFill>
                <a:latin typeface="Arial"/>
                <a:ea typeface="Arial"/>
                <a:cs typeface="Arial"/>
              </a:defRPr>
            </a:pPr>
            <a:r>
              <a:rPr kumimoji="0" lang="en-US" sz="1100" b="1" i="0" u="none" strike="noStrike" kern="1200" cap="none" spc="0" normalizeH="0" baseline="0" noProof="0">
                <a:ln>
                  <a:noFill/>
                </a:ln>
                <a:solidFill>
                  <a:srgbClr val="FA500E"/>
                </a:solidFill>
                <a:effectLst/>
                <a:uLnTx/>
                <a:uFillTx/>
                <a:latin typeface="Arial"/>
                <a:ea typeface="Arial"/>
                <a:cs typeface="Arial"/>
              </a:rPr>
              <a:t>PIPELINE ACTIVATION</a:t>
            </a:r>
          </a:p>
        </p:txBody>
      </p:sp>
      <p:sp>
        <p:nvSpPr>
          <p:cNvPr id="3" name="Rectangle 2">
            <a:extLst>
              <a:ext uri="{FF2B5EF4-FFF2-40B4-BE49-F238E27FC236}">
                <a16:creationId xmlns:a16="http://schemas.microsoft.com/office/drawing/2014/main" id="{0F0CB475-601A-49EB-BFF2-39705DC53173}"/>
              </a:ext>
            </a:extLst>
          </p:cNvPr>
          <p:cNvSpPr>
            <a:spLocks noGrp="1"/>
          </p:cNvSpPr>
          <p:nvPr/>
        </p:nvSpPr>
        <p:spPr>
          <a:xfrm>
            <a:off x="841248" y="457200"/>
            <a:ext cx="10515600" cy="704850"/>
          </a:xfrm>
          <a:prstGeom prst="rect">
            <a:avLst/>
          </a:prstGeom>
          <a:noFill/>
          <a:ln w="0">
            <a:noFill/>
            <a:prstDash val="solid"/>
          </a:ln>
        </p:spPr>
        <p:txBody>
          <a:bodyPr wrap="square" lIns="0" tIns="0" rIns="0" bIns="0" anchor="t">
            <a:noAutofit/>
          </a:bodyPr>
          <a:lstStyle/>
          <a:p>
            <a:pPr marL="0" marR="0" lvl="0" indent="0" algn="l" defTabSz="914400" eaLnBrk="1" fontAlgn="auto" latinLnBrk="0" hangingPunct="1">
              <a:lnSpc>
                <a:spcPct val="92000"/>
              </a:lnSpc>
              <a:spcBef>
                <a:spcPts val="0"/>
              </a:spcBef>
              <a:spcAft>
                <a:spcPts val="0"/>
              </a:spcAft>
              <a:buClrTx/>
              <a:buSzTx/>
              <a:buFontTx/>
              <a:buNone/>
              <a:tabLst/>
              <a:defRPr sz="2700" b="1">
                <a:solidFill>
                  <a:srgbClr val="1F1F1F"/>
                </a:solidFill>
                <a:latin typeface="Arial"/>
                <a:ea typeface="Arial"/>
                <a:cs typeface="Arial"/>
              </a:defRPr>
            </a:pPr>
            <a:r>
              <a:rPr lang="en-US" sz="3600" b="1">
                <a:solidFill>
                  <a:srgbClr val="161623"/>
                </a:solidFill>
                <a:latin typeface="Tiny5"/>
              </a:rPr>
              <a:t>PIPELINE ACTIVATION SYSTEM</a:t>
            </a:r>
          </a:p>
        </p:txBody>
      </p:sp>
      <p:sp>
        <p:nvSpPr>
          <p:cNvPr id="4" name="Rectangle 3">
            <a:extLst>
              <a:ext uri="{FF2B5EF4-FFF2-40B4-BE49-F238E27FC236}">
                <a16:creationId xmlns:a16="http://schemas.microsoft.com/office/drawing/2014/main" id="{A8E98134-226F-4C33-B0B8-AD3FFFB6250D}"/>
              </a:ext>
            </a:extLst>
          </p:cNvPr>
          <p:cNvSpPr>
            <a:spLocks noGrp="1"/>
          </p:cNvSpPr>
          <p:nvPr/>
        </p:nvSpPr>
        <p:spPr>
          <a:xfrm>
            <a:off x="612648" y="6556248"/>
            <a:ext cx="10972800" cy="9144"/>
          </a:xfrm>
          <a:prstGeom prst="rect">
            <a:avLst/>
          </a:prstGeom>
          <a:solidFill>
            <a:srgbClr val="E8CBBE"/>
          </a:solidFill>
          <a:ln w="0">
            <a:no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5" name="Rectangle 4">
            <a:extLst>
              <a:ext uri="{FF2B5EF4-FFF2-40B4-BE49-F238E27FC236}">
                <a16:creationId xmlns:a16="http://schemas.microsoft.com/office/drawing/2014/main" id="{CDC16C2A-1EF7-4EEB-BA97-1E3597742DE4}"/>
              </a:ext>
            </a:extLst>
          </p:cNvPr>
          <p:cNvSpPr>
            <a:spLocks noGrp="1"/>
          </p:cNvSpPr>
          <p:nvPr/>
        </p:nvSpPr>
        <p:spPr>
          <a:xfrm>
            <a:off x="612648" y="6620256"/>
            <a:ext cx="4005072" cy="128016"/>
          </a:xfrm>
          <a:prstGeom prst="rect">
            <a:avLst/>
          </a:prstGeom>
          <a:noFill/>
          <a:ln w="0">
            <a:noFill/>
            <a:prstDash val="solid"/>
          </a:ln>
        </p:spPr>
        <p:txBody>
          <a:bodyPr wrap="square" lIns="0" tIns="0" rIns="0" bIns="0" anchor="ctr">
            <a:noAutofit/>
          </a:bodyPr>
          <a:lstStyle/>
          <a:p>
            <a:pPr algn="l">
              <a:lnSpc>
                <a:spcPct val="105000"/>
              </a:lnSpc>
              <a:spcBef>
                <a:spcPts val="0"/>
              </a:spcBef>
              <a:spcAft>
                <a:spcPts val="0"/>
              </a:spcAft>
              <a:buNone/>
              <a:defRPr sz="750" b="0">
                <a:solidFill>
                  <a:srgbClr val="5A554B"/>
                </a:solidFill>
                <a:latin typeface="Arial"/>
                <a:ea typeface="Arial"/>
                <a:cs typeface="Arial"/>
              </a:defRPr>
            </a:pPr>
            <a:r>
              <a:rPr lang="en-US" sz="900" b="0">
                <a:solidFill>
                  <a:srgbClr val="62544F"/>
                </a:solidFill>
                <a:latin typeface="Arial"/>
                <a:ea typeface="Arial"/>
                <a:cs typeface="Arial"/>
              </a:rPr>
              <a:t>SHIV  ·  PMM CANDIDATE  ·  18 AUG 2026</a:t>
            </a:r>
          </a:p>
        </p:txBody>
      </p:sp>
      <p:sp>
        <p:nvSpPr>
          <p:cNvPr id="6" name="Rectangle 5">
            <a:extLst>
              <a:ext uri="{FF2B5EF4-FFF2-40B4-BE49-F238E27FC236}">
                <a16:creationId xmlns:a16="http://schemas.microsoft.com/office/drawing/2014/main" id="{FB3913D8-225C-4409-8DAF-AF16BB1FD738}"/>
              </a:ext>
            </a:extLst>
          </p:cNvPr>
          <p:cNvSpPr>
            <a:spLocks noGrp="1"/>
          </p:cNvSpPr>
          <p:nvPr/>
        </p:nvSpPr>
        <p:spPr>
          <a:xfrm>
            <a:off x="11237976" y="6620256"/>
            <a:ext cx="347472" cy="128016"/>
          </a:xfrm>
          <a:prstGeom prst="rect">
            <a:avLst/>
          </a:prstGeom>
          <a:noFill/>
          <a:ln w="0">
            <a:noFill/>
            <a:prstDash val="solid"/>
          </a:ln>
        </p:spPr>
        <p:txBody>
          <a:bodyPr wrap="square" lIns="0" tIns="0" rIns="0" bIns="0" anchor="ctr">
            <a:noAutofit/>
          </a:bodyPr>
          <a:lstStyle/>
          <a:p>
            <a:pPr algn="r">
              <a:lnSpc>
                <a:spcPct val="92000"/>
              </a:lnSpc>
              <a:spcBef>
                <a:spcPts val="0"/>
              </a:spcBef>
              <a:spcAft>
                <a:spcPts val="0"/>
              </a:spcAft>
              <a:buNone/>
              <a:defRPr sz="750" b="1">
                <a:solidFill>
                  <a:srgbClr val="5A554B"/>
                </a:solidFill>
                <a:latin typeface="Arial"/>
                <a:ea typeface="Arial"/>
                <a:cs typeface="Arial"/>
              </a:defRPr>
            </a:pPr>
            <a:r>
              <a:rPr lang="en-US" sz="900" b="0">
                <a:solidFill>
                  <a:srgbClr val="62544F"/>
                </a:solidFill>
                <a:latin typeface="Silkscreen"/>
              </a:rPr>
              <a:t>8</a:t>
            </a:r>
          </a:p>
        </p:txBody>
      </p:sp>
      <p:sp>
        <p:nvSpPr>
          <p:cNvPr id="7" name="Rectangle 6">
            <a:extLst>
              <a:ext uri="{FF2B5EF4-FFF2-40B4-BE49-F238E27FC236}">
                <a16:creationId xmlns:a16="http://schemas.microsoft.com/office/drawing/2014/main" id="{75A343A1-0E85-4D81-8897-DDB24721D106}"/>
              </a:ext>
            </a:extLst>
          </p:cNvPr>
          <p:cNvSpPr>
            <a:spLocks noGrp="1"/>
          </p:cNvSpPr>
          <p:nvPr/>
        </p:nvSpPr>
        <p:spPr>
          <a:xfrm>
            <a:off x="841248" y="1219606"/>
            <a:ext cx="10515600" cy="302297"/>
          </a:xfrm>
          <a:prstGeom prst="rect">
            <a:avLst/>
          </a:prstGeom>
          <a:noFill/>
          <a:ln w="0">
            <a:noFill/>
            <a:prstDash val="solid"/>
          </a:ln>
        </p:spPr>
        <p:txBody>
          <a:bodyPr wrap="square" lIns="0" tIns="0" rIns="0" bIns="0" anchor="ctr">
            <a:noAutofit/>
          </a:bodyPr>
          <a:lstStyle/>
          <a:p>
            <a:pPr marL="0" marR="0" lvl="0" indent="0" algn="l" defTabSz="914400" eaLnBrk="1" fontAlgn="auto" latinLnBrk="0" hangingPunct="1">
              <a:lnSpc>
                <a:spcPct val="92000"/>
              </a:lnSpc>
              <a:spcBef>
                <a:spcPts val="0"/>
              </a:spcBef>
              <a:spcAft>
                <a:spcPts val="0"/>
              </a:spcAft>
              <a:buClrTx/>
              <a:buSzTx/>
              <a:buFontTx/>
              <a:buNone/>
              <a:tabLst/>
              <a:defRPr sz="1650" b="0">
                <a:solidFill>
                  <a:srgbClr val="5A554B"/>
                </a:solidFill>
                <a:latin typeface="Arial"/>
                <a:ea typeface="Arial"/>
                <a:cs typeface="Arial"/>
              </a:defRPr>
            </a:pPr>
            <a:r>
              <a:rPr lang="en-US" sz="1450" b="0">
                <a:solidFill>
                  <a:srgbClr val="62544F"/>
                </a:solidFill>
                <a:latin typeface="Arial"/>
              </a:rPr>
              <a:t>How customer interest becomes a qualified evaluation and commercial decision.</a:t>
            </a:r>
          </a:p>
        </p:txBody>
      </p:sp>
      <p:pic>
        <p:nvPicPr>
          <p:cNvPr id="39" name="Mistral company monogram — slide 7" descr="Mistral AI company monogram"/>
          <p:cNvPicPr>
            <a:picLocks noChangeAspect="1"/>
          </p:cNvPicPr>
          <p:nvPr/>
        </p:nvPicPr>
        <p:blipFill>
          <a:blip r:embed="rId3"/>
          <a:stretch>
            <a:fillRect/>
          </a:stretch>
        </p:blipFill>
        <p:spPr>
          <a:xfrm>
            <a:off x="11658600" y="182880"/>
            <a:ext cx="347472" cy="347472"/>
          </a:xfrm>
          <a:prstGeom prst="rect">
            <a:avLst/>
          </a:prstGeom>
          <a:ln/>
        </p:spPr>
      </p:pic>
      <p:sp>
        <p:nvSpPr>
          <p:cNvPr id="200" name="Stage rail"/>
          <p:cNvSpPr>
            <a:spLocks noGrp="1"/>
          </p:cNvSpPr>
          <p:nvPr/>
        </p:nvSpPr>
        <p:spPr>
          <a:xfrm>
            <a:off x="841248" y="1599636"/>
            <a:ext cx="10515600" cy="22802"/>
          </a:xfrm>
          <a:prstGeom prst="rect">
            <a:avLst/>
          </a:prstGeom>
          <a:solidFill>
            <a:srgbClr val="E8CBB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01" name="Card 0"/>
          <p:cNvSpPr>
            <a:spLocks noGrp="1"/>
          </p:cNvSpPr>
          <p:nvPr/>
        </p:nvSpPr>
        <p:spPr>
          <a:xfrm>
            <a:off x="838230" y="1765467"/>
            <a:ext cx="1956816" cy="1679041"/>
          </a:xfrm>
          <a:prstGeom prst="rect">
            <a:avLst/>
          </a:prstGeom>
          <a:solidFill>
            <a:srgbClr val="FFE8D6"/>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02" name="Card top 0"/>
          <p:cNvSpPr>
            <a:spLocks noGrp="1"/>
          </p:cNvSpPr>
          <p:nvPr/>
        </p:nvSpPr>
        <p:spPr>
          <a:xfrm>
            <a:off x="838230" y="1765467"/>
            <a:ext cx="1956816" cy="57004"/>
          </a:xfrm>
          <a:prstGeom prst="rect">
            <a:avLst/>
          </a:prstGeom>
          <a:solidFill>
            <a:srgbClr val="161623"/>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03" name="Num 0"/>
          <p:cNvSpPr>
            <a:spLocks noGrp="1"/>
          </p:cNvSpPr>
          <p:nvPr/>
        </p:nvSpPr>
        <p:spPr>
          <a:xfrm>
            <a:off x="1039398" y="1972756"/>
            <a:ext cx="822960" cy="310934"/>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570" b="0" i="0" u="none" strike="noStrike" kern="1200" cap="none" spc="0" normalizeH="0" baseline="0" noProof="0">
                <a:ln>
                  <a:noFill/>
                </a:ln>
                <a:solidFill>
                  <a:srgbClr val="FA500E"/>
                </a:solidFill>
                <a:effectLst/>
                <a:uLnTx/>
                <a:uFillTx/>
                <a:latin typeface="Silkscreen"/>
                <a:ea typeface="Silkscreen"/>
                <a:cs typeface="Silkscreen"/>
              </a:rPr>
              <a:t>01</a:t>
            </a:r>
            <a:endParaRPr kumimoji="0" lang="en-US" sz="1250" b="0" i="0" u="none" strike="noStrike" kern="1200" cap="none" spc="0" normalizeH="0" baseline="0" noProof="0">
              <a:ln>
                <a:noFill/>
              </a:ln>
              <a:solidFill>
                <a:srgbClr val="FA500E"/>
              </a:solidFill>
              <a:effectLst/>
              <a:uLnTx/>
              <a:uFillTx/>
              <a:latin typeface="Silkscreen"/>
              <a:ea typeface="Silkscreen"/>
              <a:cs typeface="Silkscreen"/>
            </a:endParaRPr>
          </a:p>
        </p:txBody>
      </p:sp>
      <p:sp>
        <p:nvSpPr>
          <p:cNvPr id="204" name="Stage name 0"/>
          <p:cNvSpPr>
            <a:spLocks noGrp="1"/>
          </p:cNvSpPr>
          <p:nvPr/>
        </p:nvSpPr>
        <p:spPr>
          <a:xfrm>
            <a:off x="1039398" y="2366606"/>
            <a:ext cx="1591056" cy="248747"/>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80" b="1" i="0" u="none" strike="noStrike" kern="1200" cap="none" spc="110" normalizeH="0" baseline="0" noProof="0">
                <a:ln>
                  <a:noFill/>
                </a:ln>
                <a:solidFill>
                  <a:srgbClr val="161623"/>
                </a:solidFill>
                <a:effectLst/>
                <a:uLnTx/>
                <a:uFillTx/>
                <a:latin typeface="Arial"/>
                <a:ea typeface="Arial"/>
                <a:cs typeface="Arial"/>
              </a:rPr>
              <a:t>ANCHOR ASSET</a:t>
            </a:r>
          </a:p>
        </p:txBody>
      </p:sp>
      <p:sp>
        <p:nvSpPr>
          <p:cNvPr id="205" name="Stage desc 0"/>
          <p:cNvSpPr>
            <a:spLocks noGrp="1"/>
          </p:cNvSpPr>
          <p:nvPr/>
        </p:nvSpPr>
        <p:spPr>
          <a:xfrm>
            <a:off x="1039398" y="2718997"/>
            <a:ext cx="1591056" cy="60113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80" b="0" i="0" u="none" strike="noStrike" kern="1200" cap="none" spc="0" normalizeH="0" baseline="0" noProof="0">
                <a:ln>
                  <a:noFill/>
                </a:ln>
                <a:solidFill>
                  <a:srgbClr val="62544F"/>
                </a:solidFill>
                <a:effectLst/>
                <a:uLnTx/>
                <a:uFillTx/>
                <a:latin typeface="Arial"/>
                <a:ea typeface="Arial"/>
                <a:cs typeface="Arial"/>
              </a:rPr>
              <a:t>Point of view,</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80" b="0" i="0" u="none" strike="noStrike" kern="1200" cap="none" spc="0" normalizeH="0" baseline="0" noProof="0">
                <a:ln>
                  <a:noFill/>
                </a:ln>
                <a:solidFill>
                  <a:srgbClr val="62544F"/>
                </a:solidFill>
                <a:effectLst/>
                <a:uLnTx/>
                <a:uFillTx/>
                <a:latin typeface="Arial"/>
                <a:ea typeface="Arial"/>
                <a:cs typeface="Arial"/>
              </a:rPr>
              <a:t>industry brief</a:t>
            </a:r>
          </a:p>
        </p:txBody>
      </p:sp>
      <p:sp>
        <p:nvSpPr>
          <p:cNvPr id="206" name="Chev 0"/>
          <p:cNvSpPr>
            <a:spLocks noGrp="1"/>
          </p:cNvSpPr>
          <p:nvPr/>
        </p:nvSpPr>
        <p:spPr>
          <a:xfrm>
            <a:off x="2827050" y="2527255"/>
            <a:ext cx="118872" cy="155467"/>
          </a:xfrm>
          <a:prstGeom prst="rightArrow">
            <a:avLst/>
          </a:prstGeom>
          <a:solidFill>
            <a:srgbClr val="FA500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07" name="Card 1"/>
          <p:cNvSpPr>
            <a:spLocks noGrp="1"/>
          </p:cNvSpPr>
          <p:nvPr/>
        </p:nvSpPr>
        <p:spPr>
          <a:xfrm>
            <a:off x="2977926" y="1765467"/>
            <a:ext cx="1956816" cy="1679041"/>
          </a:xfrm>
          <a:prstGeom prst="rect">
            <a:avLst/>
          </a:prstGeom>
          <a:solidFill>
            <a:srgbClr val="FFE8D6"/>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08" name="Card top 1"/>
          <p:cNvSpPr>
            <a:spLocks noGrp="1"/>
          </p:cNvSpPr>
          <p:nvPr/>
        </p:nvSpPr>
        <p:spPr>
          <a:xfrm>
            <a:off x="2977926" y="1765467"/>
            <a:ext cx="1956816" cy="57004"/>
          </a:xfrm>
          <a:prstGeom prst="rect">
            <a:avLst/>
          </a:prstGeom>
          <a:solidFill>
            <a:srgbClr val="161623"/>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09" name="Num 1"/>
          <p:cNvSpPr>
            <a:spLocks noGrp="1"/>
          </p:cNvSpPr>
          <p:nvPr/>
        </p:nvSpPr>
        <p:spPr>
          <a:xfrm>
            <a:off x="3179094" y="1972756"/>
            <a:ext cx="822960" cy="310934"/>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570" b="0" i="0" u="none" strike="noStrike" kern="1200" cap="none" spc="0" normalizeH="0" baseline="0" noProof="0">
                <a:ln>
                  <a:noFill/>
                </a:ln>
                <a:solidFill>
                  <a:srgbClr val="FA500E"/>
                </a:solidFill>
                <a:effectLst/>
                <a:uLnTx/>
                <a:uFillTx/>
                <a:latin typeface="Silkscreen"/>
                <a:ea typeface="Silkscreen"/>
                <a:cs typeface="Silkscreen"/>
              </a:rPr>
              <a:t>02</a:t>
            </a:r>
            <a:endParaRPr kumimoji="0" lang="en-US" sz="1250" b="0" i="0" u="none" strike="noStrike" kern="1200" cap="none" spc="0" normalizeH="0" baseline="0" noProof="0">
              <a:ln>
                <a:noFill/>
              </a:ln>
              <a:solidFill>
                <a:srgbClr val="FA500E"/>
              </a:solidFill>
              <a:effectLst/>
              <a:uLnTx/>
              <a:uFillTx/>
              <a:latin typeface="Silkscreen"/>
              <a:ea typeface="Silkscreen"/>
              <a:cs typeface="Silkscreen"/>
            </a:endParaRPr>
          </a:p>
        </p:txBody>
      </p:sp>
      <p:sp>
        <p:nvSpPr>
          <p:cNvPr id="210" name="Stage name 1"/>
          <p:cNvSpPr>
            <a:spLocks noGrp="1"/>
          </p:cNvSpPr>
          <p:nvPr/>
        </p:nvSpPr>
        <p:spPr>
          <a:xfrm>
            <a:off x="3179094" y="2366606"/>
            <a:ext cx="1591056" cy="248747"/>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80" b="1" i="0" u="none" strike="noStrike" kern="1200" cap="none" spc="110" normalizeH="0" baseline="0" noProof="0">
                <a:ln>
                  <a:noFill/>
                </a:ln>
                <a:solidFill>
                  <a:srgbClr val="161623"/>
                </a:solidFill>
                <a:effectLst/>
                <a:uLnTx/>
                <a:uFillTx/>
                <a:latin typeface="Arial"/>
                <a:ea typeface="Arial"/>
                <a:cs typeface="Arial"/>
              </a:rPr>
              <a:t>DERIVATIVES</a:t>
            </a:r>
          </a:p>
        </p:txBody>
      </p:sp>
      <p:sp>
        <p:nvSpPr>
          <p:cNvPr id="211" name="Stage desc 1"/>
          <p:cNvSpPr>
            <a:spLocks noGrp="1"/>
          </p:cNvSpPr>
          <p:nvPr/>
        </p:nvSpPr>
        <p:spPr>
          <a:xfrm>
            <a:off x="3179094" y="2718997"/>
            <a:ext cx="1591056" cy="60113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80" b="0" i="0" u="none" strike="noStrike" kern="1200" cap="none" spc="0" normalizeH="0" baseline="0" noProof="0">
                <a:ln>
                  <a:noFill/>
                </a:ln>
                <a:solidFill>
                  <a:srgbClr val="62544F"/>
                </a:solidFill>
                <a:effectLst/>
                <a:uLnTx/>
                <a:uFillTx/>
                <a:latin typeface="Arial"/>
                <a:ea typeface="Arial"/>
                <a:cs typeface="Arial"/>
              </a:rPr>
              <a:t>Blog, web page,</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80" b="0" i="0" u="none" strike="noStrike" kern="1200" cap="none" spc="0" normalizeH="0" baseline="0" noProof="0">
                <a:ln>
                  <a:noFill/>
                </a:ln>
                <a:solidFill>
                  <a:srgbClr val="62544F"/>
                </a:solidFill>
                <a:effectLst/>
                <a:uLnTx/>
                <a:uFillTx/>
                <a:latin typeface="Arial"/>
                <a:ea typeface="Arial"/>
                <a:cs typeface="Arial"/>
              </a:rPr>
              <a:t>pitch deck, one-pager</a:t>
            </a:r>
          </a:p>
        </p:txBody>
      </p:sp>
      <p:sp>
        <p:nvSpPr>
          <p:cNvPr id="212" name="Chev 1"/>
          <p:cNvSpPr>
            <a:spLocks noGrp="1"/>
          </p:cNvSpPr>
          <p:nvPr/>
        </p:nvSpPr>
        <p:spPr>
          <a:xfrm>
            <a:off x="4966746" y="2527255"/>
            <a:ext cx="118872" cy="155467"/>
          </a:xfrm>
          <a:prstGeom prst="rightArrow">
            <a:avLst/>
          </a:prstGeom>
          <a:solidFill>
            <a:srgbClr val="FA500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13" name="Card 2"/>
          <p:cNvSpPr>
            <a:spLocks noGrp="1"/>
          </p:cNvSpPr>
          <p:nvPr/>
        </p:nvSpPr>
        <p:spPr>
          <a:xfrm>
            <a:off x="5117622" y="1765467"/>
            <a:ext cx="1956816" cy="1679041"/>
          </a:xfrm>
          <a:prstGeom prst="rect">
            <a:avLst/>
          </a:prstGeom>
          <a:solidFill>
            <a:srgbClr val="FFE8D6"/>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14" name="Card top 2"/>
          <p:cNvSpPr>
            <a:spLocks noGrp="1"/>
          </p:cNvSpPr>
          <p:nvPr/>
        </p:nvSpPr>
        <p:spPr>
          <a:xfrm>
            <a:off x="5117622" y="1765467"/>
            <a:ext cx="1956816" cy="57004"/>
          </a:xfrm>
          <a:prstGeom prst="rect">
            <a:avLst/>
          </a:prstGeom>
          <a:solidFill>
            <a:srgbClr val="161623"/>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15" name="Num 2"/>
          <p:cNvSpPr>
            <a:spLocks noGrp="1"/>
          </p:cNvSpPr>
          <p:nvPr/>
        </p:nvSpPr>
        <p:spPr>
          <a:xfrm>
            <a:off x="5318790" y="1972756"/>
            <a:ext cx="822960" cy="310934"/>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570" b="0" i="0" u="none" strike="noStrike" kern="1200" cap="none" spc="0" normalizeH="0" baseline="0" noProof="0">
                <a:ln>
                  <a:noFill/>
                </a:ln>
                <a:solidFill>
                  <a:srgbClr val="FA500E"/>
                </a:solidFill>
                <a:effectLst/>
                <a:uLnTx/>
                <a:uFillTx/>
                <a:latin typeface="Silkscreen"/>
                <a:ea typeface="Silkscreen"/>
                <a:cs typeface="Silkscreen"/>
              </a:rPr>
              <a:t>03</a:t>
            </a:r>
            <a:endParaRPr kumimoji="0" lang="en-US" sz="1250" b="0" i="0" u="none" strike="noStrike" kern="1200" cap="none" spc="0" normalizeH="0" baseline="0" noProof="0">
              <a:ln>
                <a:noFill/>
              </a:ln>
              <a:solidFill>
                <a:srgbClr val="FA500E"/>
              </a:solidFill>
              <a:effectLst/>
              <a:uLnTx/>
              <a:uFillTx/>
              <a:latin typeface="Silkscreen"/>
              <a:ea typeface="Silkscreen"/>
              <a:cs typeface="Silkscreen"/>
            </a:endParaRPr>
          </a:p>
        </p:txBody>
      </p:sp>
      <p:sp>
        <p:nvSpPr>
          <p:cNvPr id="216" name="Stage name 2"/>
          <p:cNvSpPr>
            <a:spLocks noGrp="1"/>
          </p:cNvSpPr>
          <p:nvPr/>
        </p:nvSpPr>
        <p:spPr>
          <a:xfrm>
            <a:off x="5318790" y="2366606"/>
            <a:ext cx="1591056" cy="248747"/>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80" b="1" i="0" u="none" strike="noStrike" kern="1200" cap="none" spc="110" normalizeH="0" baseline="0" noProof="0">
                <a:ln>
                  <a:noFill/>
                </a:ln>
                <a:solidFill>
                  <a:srgbClr val="161623"/>
                </a:solidFill>
                <a:effectLst/>
                <a:uLnTx/>
                <a:uFillTx/>
                <a:latin typeface="Arial"/>
                <a:ea typeface="Arial"/>
                <a:cs typeface="Arial"/>
              </a:rPr>
              <a:t>ACTIVATION</a:t>
            </a:r>
          </a:p>
        </p:txBody>
      </p:sp>
      <p:sp>
        <p:nvSpPr>
          <p:cNvPr id="217" name="Stage desc 2"/>
          <p:cNvSpPr>
            <a:spLocks noGrp="1"/>
          </p:cNvSpPr>
          <p:nvPr/>
        </p:nvSpPr>
        <p:spPr>
          <a:xfrm>
            <a:off x="5318790" y="2718997"/>
            <a:ext cx="1591056" cy="60113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80" b="0" i="0" u="none" strike="noStrike" kern="1200" cap="none" spc="0" normalizeH="0" baseline="0" noProof="0">
                <a:ln>
                  <a:noFill/>
                </a:ln>
                <a:solidFill>
                  <a:srgbClr val="62544F"/>
                </a:solidFill>
                <a:effectLst/>
                <a:uLnTx/>
                <a:uFillTx/>
                <a:latin typeface="Arial"/>
                <a:ea typeface="Arial"/>
                <a:cs typeface="Arial"/>
              </a:rPr>
              <a:t>Events, webinars,</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80" b="0" i="0" u="none" strike="noStrike" kern="1200" cap="none" spc="0" normalizeH="0" baseline="0" noProof="0">
                <a:ln>
                  <a:noFill/>
                </a:ln>
                <a:solidFill>
                  <a:srgbClr val="62544F"/>
                </a:solidFill>
                <a:effectLst/>
                <a:uLnTx/>
                <a:uFillTx/>
                <a:latin typeface="Arial"/>
                <a:ea typeface="Arial"/>
                <a:cs typeface="Arial"/>
              </a:rPr>
              <a:t>paid, field outbound</a:t>
            </a:r>
          </a:p>
        </p:txBody>
      </p:sp>
      <p:sp>
        <p:nvSpPr>
          <p:cNvPr id="218" name="Chev 2"/>
          <p:cNvSpPr>
            <a:spLocks noGrp="1"/>
          </p:cNvSpPr>
          <p:nvPr/>
        </p:nvSpPr>
        <p:spPr>
          <a:xfrm>
            <a:off x="7106442" y="2527255"/>
            <a:ext cx="118872" cy="155467"/>
          </a:xfrm>
          <a:prstGeom prst="rightArrow">
            <a:avLst/>
          </a:prstGeom>
          <a:solidFill>
            <a:srgbClr val="FA500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19" name="Card 3"/>
          <p:cNvSpPr>
            <a:spLocks noGrp="1"/>
          </p:cNvSpPr>
          <p:nvPr/>
        </p:nvSpPr>
        <p:spPr>
          <a:xfrm>
            <a:off x="7257318" y="1765467"/>
            <a:ext cx="1956816" cy="1679041"/>
          </a:xfrm>
          <a:prstGeom prst="rect">
            <a:avLst/>
          </a:prstGeom>
          <a:solidFill>
            <a:srgbClr val="FFE8D6"/>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20" name="Card top 3"/>
          <p:cNvSpPr>
            <a:spLocks noGrp="1"/>
          </p:cNvSpPr>
          <p:nvPr/>
        </p:nvSpPr>
        <p:spPr>
          <a:xfrm>
            <a:off x="7257318" y="1765467"/>
            <a:ext cx="1956816" cy="57004"/>
          </a:xfrm>
          <a:prstGeom prst="rect">
            <a:avLst/>
          </a:prstGeom>
          <a:solidFill>
            <a:srgbClr val="161623"/>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21" name="Num 3"/>
          <p:cNvSpPr>
            <a:spLocks noGrp="1"/>
          </p:cNvSpPr>
          <p:nvPr/>
        </p:nvSpPr>
        <p:spPr>
          <a:xfrm>
            <a:off x="7458486" y="1972756"/>
            <a:ext cx="822960" cy="310934"/>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570" b="0" i="0" u="none" strike="noStrike" kern="1200" cap="none" spc="0" normalizeH="0" baseline="0" noProof="0">
                <a:ln>
                  <a:noFill/>
                </a:ln>
                <a:solidFill>
                  <a:srgbClr val="FA500E"/>
                </a:solidFill>
                <a:effectLst/>
                <a:uLnTx/>
                <a:uFillTx/>
                <a:latin typeface="Silkscreen"/>
                <a:ea typeface="Silkscreen"/>
                <a:cs typeface="Silkscreen"/>
              </a:rPr>
              <a:t>04</a:t>
            </a:r>
            <a:endParaRPr kumimoji="0" lang="en-US" sz="1250" b="0" i="0" u="none" strike="noStrike" kern="1200" cap="none" spc="0" normalizeH="0" baseline="0" noProof="0">
              <a:ln>
                <a:noFill/>
              </a:ln>
              <a:solidFill>
                <a:srgbClr val="FA500E"/>
              </a:solidFill>
              <a:effectLst/>
              <a:uLnTx/>
              <a:uFillTx/>
              <a:latin typeface="Silkscreen"/>
              <a:ea typeface="Silkscreen"/>
              <a:cs typeface="Silkscreen"/>
            </a:endParaRPr>
          </a:p>
        </p:txBody>
      </p:sp>
      <p:sp>
        <p:nvSpPr>
          <p:cNvPr id="222" name="Stage name 3"/>
          <p:cNvSpPr>
            <a:spLocks noGrp="1"/>
          </p:cNvSpPr>
          <p:nvPr/>
        </p:nvSpPr>
        <p:spPr>
          <a:xfrm>
            <a:off x="7458486" y="2366606"/>
            <a:ext cx="1591056" cy="248747"/>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80" b="1" i="0" u="none" strike="noStrike" kern="1200" cap="none" spc="110" normalizeH="0" baseline="0" noProof="0">
                <a:ln>
                  <a:noFill/>
                </a:ln>
                <a:solidFill>
                  <a:srgbClr val="161623"/>
                </a:solidFill>
                <a:effectLst/>
                <a:uLnTx/>
                <a:uFillTx/>
                <a:latin typeface="Arial"/>
                <a:ea typeface="Arial"/>
                <a:cs typeface="Arial"/>
              </a:rPr>
              <a:t>CONVERSION</a:t>
            </a:r>
          </a:p>
        </p:txBody>
      </p:sp>
      <p:sp>
        <p:nvSpPr>
          <p:cNvPr id="223" name="Stage desc 3"/>
          <p:cNvSpPr>
            <a:spLocks noGrp="1"/>
          </p:cNvSpPr>
          <p:nvPr/>
        </p:nvSpPr>
        <p:spPr>
          <a:xfrm>
            <a:off x="7458486" y="2718997"/>
            <a:ext cx="1591056" cy="60113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80" b="0" i="0" u="none" strike="noStrike" kern="1200" cap="none" spc="0" normalizeH="0" baseline="0" noProof="0">
                <a:ln>
                  <a:noFill/>
                </a:ln>
                <a:solidFill>
                  <a:srgbClr val="62544F"/>
                </a:solidFill>
                <a:effectLst/>
                <a:uLnTx/>
                <a:uFillTx/>
                <a:latin typeface="Arial"/>
                <a:ea typeface="Arial"/>
                <a:cs typeface="Arial"/>
              </a:rPr>
              <a:t>Evaluation or</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80" b="0" i="0" u="none" strike="noStrike" kern="1200" cap="none" spc="0" normalizeH="0" baseline="0" noProof="0">
                <a:ln>
                  <a:noFill/>
                </a:ln>
                <a:solidFill>
                  <a:srgbClr val="62544F"/>
                </a:solidFill>
                <a:effectLst/>
                <a:uLnTx/>
                <a:uFillTx/>
                <a:latin typeface="Arial"/>
                <a:ea typeface="Arial"/>
                <a:cs typeface="Arial"/>
              </a:rPr>
              <a:t>benchmark offer</a:t>
            </a:r>
          </a:p>
        </p:txBody>
      </p:sp>
      <p:sp>
        <p:nvSpPr>
          <p:cNvPr id="224" name="Chev 3"/>
          <p:cNvSpPr>
            <a:spLocks noGrp="1"/>
          </p:cNvSpPr>
          <p:nvPr/>
        </p:nvSpPr>
        <p:spPr>
          <a:xfrm>
            <a:off x="9246138" y="2527255"/>
            <a:ext cx="118872" cy="155467"/>
          </a:xfrm>
          <a:prstGeom prst="rightArrow">
            <a:avLst/>
          </a:prstGeom>
          <a:solidFill>
            <a:srgbClr val="FA500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25" name="Card 4"/>
          <p:cNvSpPr>
            <a:spLocks noGrp="1"/>
          </p:cNvSpPr>
          <p:nvPr/>
        </p:nvSpPr>
        <p:spPr>
          <a:xfrm>
            <a:off x="9397014" y="1765467"/>
            <a:ext cx="1956816" cy="1679041"/>
          </a:xfrm>
          <a:prstGeom prst="rect">
            <a:avLst/>
          </a:prstGeom>
          <a:solidFill>
            <a:srgbClr val="FA500E"/>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26" name="Card top 4"/>
          <p:cNvSpPr>
            <a:spLocks noGrp="1"/>
          </p:cNvSpPr>
          <p:nvPr/>
        </p:nvSpPr>
        <p:spPr>
          <a:xfrm>
            <a:off x="9397014" y="1765467"/>
            <a:ext cx="1956816" cy="57004"/>
          </a:xfrm>
          <a:prstGeom prst="rect">
            <a:avLst/>
          </a:prstGeom>
          <a:solidFill>
            <a:srgbClr val="161623"/>
          </a:solidFill>
          <a:ln w="0">
            <a:noFill/>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Calibri"/>
              <a:cs typeface="Calibri"/>
            </a:endParaRPr>
          </a:p>
        </p:txBody>
      </p:sp>
      <p:sp>
        <p:nvSpPr>
          <p:cNvPr id="227" name="Num 4"/>
          <p:cNvSpPr>
            <a:spLocks noGrp="1"/>
          </p:cNvSpPr>
          <p:nvPr/>
        </p:nvSpPr>
        <p:spPr>
          <a:xfrm>
            <a:off x="9598182" y="1972756"/>
            <a:ext cx="822960" cy="310934"/>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570" b="0" i="0" u="none" strike="noStrike" kern="1200" cap="none" spc="0" normalizeH="0" baseline="0" noProof="0">
                <a:ln>
                  <a:noFill/>
                </a:ln>
                <a:solidFill>
                  <a:srgbClr val="FFF8F2"/>
                </a:solidFill>
                <a:effectLst/>
                <a:uLnTx/>
                <a:uFillTx/>
                <a:latin typeface="Silkscreen"/>
                <a:ea typeface="Silkscreen"/>
                <a:cs typeface="Silkscreen"/>
              </a:rPr>
              <a:t>05</a:t>
            </a:r>
            <a:endParaRPr kumimoji="0" lang="en-US" sz="1250" b="0" i="0" u="none" strike="noStrike" kern="1200" cap="none" spc="0" normalizeH="0" baseline="0" noProof="0">
              <a:ln>
                <a:noFill/>
              </a:ln>
              <a:solidFill>
                <a:srgbClr val="FFF8F2"/>
              </a:solidFill>
              <a:effectLst/>
              <a:uLnTx/>
              <a:uFillTx/>
              <a:latin typeface="Silkscreen"/>
              <a:ea typeface="Silkscreen"/>
              <a:cs typeface="Silkscreen"/>
            </a:endParaRPr>
          </a:p>
        </p:txBody>
      </p:sp>
      <p:sp>
        <p:nvSpPr>
          <p:cNvPr id="228" name="Stage name 4"/>
          <p:cNvSpPr>
            <a:spLocks noGrp="1"/>
          </p:cNvSpPr>
          <p:nvPr/>
        </p:nvSpPr>
        <p:spPr>
          <a:xfrm>
            <a:off x="9598182" y="2366606"/>
            <a:ext cx="1591056" cy="248747"/>
          </a:xfrm>
          <a:prstGeom prst="rect">
            <a:avLst/>
          </a:prstGeom>
          <a:noFill/>
          <a:ln w="0">
            <a:noFill/>
          </a:ln>
        </p:spPr>
        <p:txBody>
          <a:bodyPr wrap="square" lIns="0" tIns="0" rIns="0" bIns="0" anchor="ctr">
            <a:normAutofit fontScale="92500"/>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80" b="1" i="0" u="none" strike="noStrike" kern="1200" cap="none" spc="110" normalizeH="0" baseline="0" noProof="0">
                <a:ln>
                  <a:noFill/>
                </a:ln>
                <a:solidFill>
                  <a:srgbClr val="FFF8F2"/>
                </a:solidFill>
                <a:effectLst/>
                <a:uLnTx/>
                <a:uFillTx/>
                <a:latin typeface="Arial"/>
                <a:ea typeface="Arial"/>
                <a:cs typeface="Arial"/>
              </a:rPr>
              <a:t>FOLLOW-THROUGH</a:t>
            </a:r>
          </a:p>
        </p:txBody>
      </p:sp>
      <p:sp>
        <p:nvSpPr>
          <p:cNvPr id="229" name="Stage desc 4"/>
          <p:cNvSpPr>
            <a:spLocks noGrp="1"/>
          </p:cNvSpPr>
          <p:nvPr/>
        </p:nvSpPr>
        <p:spPr>
          <a:xfrm>
            <a:off x="9598182" y="2718997"/>
            <a:ext cx="1591056" cy="601138"/>
          </a:xfrm>
          <a:prstGeom prst="rect">
            <a:avLst/>
          </a:prstGeom>
          <a:noFill/>
          <a:ln w="0">
            <a:noFill/>
          </a:ln>
        </p:spPr>
        <p:txBody>
          <a:bodyPr wrap="square" lIns="0" tIns="0" rIns="0" bIns="0"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80" b="0" i="0" u="none" strike="noStrike" kern="1200" cap="none" spc="0" normalizeH="0" baseline="0" noProof="0">
                <a:ln>
                  <a:noFill/>
                </a:ln>
                <a:solidFill>
                  <a:srgbClr val="FFE8D6"/>
                </a:solidFill>
                <a:effectLst/>
                <a:uLnTx/>
                <a:uFillTx/>
                <a:latin typeface="Arial"/>
                <a:ea typeface="Arial"/>
                <a:cs typeface="Arial"/>
              </a:rPr>
              <a:t>Sales handoff,</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80" b="0" i="0" u="none" strike="noStrike" kern="1200" cap="none" spc="0" normalizeH="0" baseline="0" noProof="0">
                <a:ln>
                  <a:noFill/>
                </a:ln>
                <a:solidFill>
                  <a:srgbClr val="FFE8D6"/>
                </a:solidFill>
                <a:effectLst/>
                <a:uLnTx/>
                <a:uFillTx/>
                <a:latin typeface="Arial"/>
                <a:ea typeface="Arial"/>
                <a:cs typeface="Arial"/>
              </a:rPr>
              <a:t>nurture, re-score</a:t>
            </a:r>
          </a:p>
        </p:txBody>
      </p:sp>
      <p:sp>
        <p:nvSpPr>
          <p:cNvPr id="230" name="Rectangle 229"/>
          <p:cNvSpPr>
            <a:spLocks/>
          </p:cNvSpPr>
          <p:nvPr/>
        </p:nvSpPr>
        <p:spPr>
          <a:xfrm>
            <a:off x="841248" y="3226855"/>
            <a:ext cx="10515600" cy="352391"/>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92000"/>
              </a:lnSpc>
              <a:spcBef>
                <a:spcPts val="0"/>
              </a:spcBef>
              <a:spcAft>
                <a:spcPts val="0"/>
              </a:spcAft>
            </a:pPr>
            <a:r>
              <a:rPr lang="en-US" sz="1030" b="1">
                <a:solidFill>
                  <a:srgbClr val="FFFFFF"/>
                </a:solidFill>
                <a:latin typeface="Arial"/>
              </a:rPr>
              <a:t>ENTRY GATE   Named workflow + owners + approved data + baseline + commercial next decision</a:t>
            </a:r>
          </a:p>
        </p:txBody>
      </p:sp>
      <p:sp>
        <p:nvSpPr>
          <p:cNvPr id="231" name="TextBox 230"/>
          <p:cNvSpPr txBox="1">
            <a:spLocks/>
          </p:cNvSpPr>
          <p:nvPr/>
        </p:nvSpPr>
        <p:spPr>
          <a:xfrm>
            <a:off x="841248" y="3725847"/>
            <a:ext cx="3291840" cy="165270"/>
          </a:xfrm>
          <a:prstGeom prst="rect">
            <a:avLst/>
          </a:prstGeom>
          <a:noFill/>
        </p:spPr>
        <p:txBody>
          <a:bodyPr wrap="square" lIns="0" tIns="0" rIns="0" bIns="0" anchor="ctr">
            <a:spAutoFit/>
          </a:bodyPr>
          <a:lstStyle/>
          <a:p>
            <a:pPr algn="l">
              <a:lnSpc>
                <a:spcPct val="92000"/>
              </a:lnSpc>
              <a:spcBef>
                <a:spcPts val="0"/>
              </a:spcBef>
              <a:spcAft>
                <a:spcPts val="0"/>
              </a:spcAft>
            </a:pPr>
            <a:r>
              <a:rPr lang="en-US" sz="1030" b="1">
                <a:solidFill>
                  <a:srgbClr val="FA500E"/>
                </a:solidFill>
                <a:latin typeface="Arial"/>
              </a:rPr>
              <a:t>PURSUIT ROUTE · CHOOSE ONE</a:t>
            </a:r>
          </a:p>
        </p:txBody>
      </p:sp>
      <p:sp>
        <p:nvSpPr>
          <p:cNvPr id="232" name="Rectangle 231"/>
          <p:cNvSpPr>
            <a:spLocks/>
          </p:cNvSpPr>
          <p:nvPr/>
        </p:nvSpPr>
        <p:spPr>
          <a:xfrm>
            <a:off x="841248" y="3983460"/>
            <a:ext cx="2071115" cy="570045"/>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lnSpc>
                <a:spcPct val="90000"/>
              </a:lnSpc>
              <a:spcBef>
                <a:spcPts val="0"/>
              </a:spcBef>
              <a:spcAft>
                <a:spcPts val="0"/>
              </a:spcAft>
            </a:pPr>
            <a:r>
              <a:rPr lang="en-US" sz="1010" b="1">
                <a:solidFill>
                  <a:srgbClr val="FFFFFF"/>
                </a:solidFill>
                <a:latin typeface="Arial"/>
              </a:rPr>
              <a:t>DIRECT</a:t>
            </a:r>
          </a:p>
          <a:p>
            <a:pPr algn="l">
              <a:lnSpc>
                <a:spcPct val="90000"/>
              </a:lnSpc>
              <a:spcBef>
                <a:spcPts val="0"/>
              </a:spcBef>
              <a:spcAft>
                <a:spcPts val="0"/>
              </a:spcAft>
            </a:pPr>
            <a:r>
              <a:rPr lang="en-US" sz="819" b="0">
                <a:solidFill>
                  <a:srgbClr val="FFE8D6"/>
                </a:solidFill>
                <a:latin typeface="Arial"/>
              </a:rPr>
              <a:t>Lead where control or customization differentiates.</a:t>
            </a:r>
          </a:p>
        </p:txBody>
      </p:sp>
      <p:sp>
        <p:nvSpPr>
          <p:cNvPr id="233" name="Rectangle 232"/>
          <p:cNvSpPr>
            <a:spLocks/>
          </p:cNvSpPr>
          <p:nvPr/>
        </p:nvSpPr>
        <p:spPr>
          <a:xfrm>
            <a:off x="2944368" y="3983460"/>
            <a:ext cx="2071115" cy="570045"/>
          </a:xfrm>
          <a:prstGeom prst="rect">
            <a:avLst/>
          </a:prstGeom>
          <a:solidFill>
            <a:srgbClr val="FFE8D6"/>
          </a:solidFill>
          <a:ln>
            <a:noFill/>
          </a:ln>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lnSpc>
                <a:spcPct val="90000"/>
              </a:lnSpc>
              <a:spcBef>
                <a:spcPts val="0"/>
              </a:spcBef>
              <a:spcAft>
                <a:spcPts val="0"/>
              </a:spcAft>
            </a:pPr>
            <a:r>
              <a:rPr lang="en-US" sz="1010" b="1">
                <a:solidFill>
                  <a:srgbClr val="161623"/>
                </a:solidFill>
                <a:latin typeface="Arial"/>
              </a:rPr>
              <a:t>WEDGE</a:t>
            </a:r>
          </a:p>
          <a:p>
            <a:pPr algn="l">
              <a:lnSpc>
                <a:spcPct val="90000"/>
              </a:lnSpc>
              <a:spcBef>
                <a:spcPts val="0"/>
              </a:spcBef>
              <a:spcAft>
                <a:spcPts val="0"/>
              </a:spcAft>
            </a:pPr>
            <a:r>
              <a:rPr lang="en-US" sz="819" b="0">
                <a:solidFill>
                  <a:srgbClr val="62544F"/>
                </a:solidFill>
                <a:latin typeface="Arial"/>
              </a:rPr>
              <a:t>Own one high-value workflow.</a:t>
            </a:r>
          </a:p>
        </p:txBody>
      </p:sp>
      <p:sp>
        <p:nvSpPr>
          <p:cNvPr id="234" name="Rectangle 233"/>
          <p:cNvSpPr>
            <a:spLocks/>
          </p:cNvSpPr>
          <p:nvPr/>
        </p:nvSpPr>
        <p:spPr>
          <a:xfrm>
            <a:off x="5047488" y="3983460"/>
            <a:ext cx="2071115" cy="570045"/>
          </a:xfrm>
          <a:prstGeom prst="rect">
            <a:avLst/>
          </a:prstGeom>
          <a:solidFill>
            <a:srgbClr val="FFF1E7"/>
          </a:solidFill>
          <a:ln>
            <a:noFill/>
          </a:ln>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lnSpc>
                <a:spcPct val="90000"/>
              </a:lnSpc>
              <a:spcBef>
                <a:spcPts val="0"/>
              </a:spcBef>
              <a:spcAft>
                <a:spcPts val="0"/>
              </a:spcAft>
            </a:pPr>
            <a:r>
              <a:rPr lang="en-US" sz="1010" b="1">
                <a:solidFill>
                  <a:srgbClr val="161623"/>
                </a:solidFill>
                <a:latin typeface="Arial"/>
              </a:rPr>
              <a:t>COEXIST</a:t>
            </a:r>
          </a:p>
          <a:p>
            <a:pPr algn="l">
              <a:lnSpc>
                <a:spcPct val="90000"/>
              </a:lnSpc>
              <a:spcBef>
                <a:spcPts val="0"/>
              </a:spcBef>
              <a:spcAft>
                <a:spcPts val="0"/>
              </a:spcAft>
            </a:pPr>
            <a:r>
              <a:rPr lang="en-US" sz="819" b="0">
                <a:solidFill>
                  <a:srgbClr val="62544F"/>
                </a:solidFill>
                <a:latin typeface="Arial"/>
              </a:rPr>
              <a:t>Operate inside the approved stack.</a:t>
            </a:r>
          </a:p>
        </p:txBody>
      </p:sp>
      <p:sp>
        <p:nvSpPr>
          <p:cNvPr id="235" name="Rectangle 234"/>
          <p:cNvSpPr>
            <a:spLocks/>
          </p:cNvSpPr>
          <p:nvPr/>
        </p:nvSpPr>
        <p:spPr>
          <a:xfrm>
            <a:off x="7150607" y="3983460"/>
            <a:ext cx="2071115" cy="570045"/>
          </a:xfrm>
          <a:prstGeom prst="rect">
            <a:avLst/>
          </a:prstGeom>
          <a:solidFill>
            <a:srgbClr val="FFE8D6"/>
          </a:solidFill>
          <a:ln>
            <a:noFill/>
          </a:ln>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lnSpc>
                <a:spcPct val="90000"/>
              </a:lnSpc>
              <a:spcBef>
                <a:spcPts val="0"/>
              </a:spcBef>
              <a:spcAft>
                <a:spcPts val="0"/>
              </a:spcAft>
            </a:pPr>
            <a:r>
              <a:rPr lang="en-US" sz="1010" b="1">
                <a:solidFill>
                  <a:srgbClr val="161623"/>
                </a:solidFill>
                <a:latin typeface="Arial"/>
              </a:rPr>
              <a:t>PARTNER</a:t>
            </a:r>
          </a:p>
          <a:p>
            <a:pPr algn="l">
              <a:lnSpc>
                <a:spcPct val="90000"/>
              </a:lnSpc>
              <a:spcBef>
                <a:spcPts val="0"/>
              </a:spcBef>
              <a:spcAft>
                <a:spcPts val="0"/>
              </a:spcAft>
            </a:pPr>
            <a:r>
              <a:rPr lang="en-US" sz="819" b="0">
                <a:solidFill>
                  <a:srgbClr val="62544F"/>
                </a:solidFill>
                <a:latin typeface="Arial"/>
              </a:rPr>
              <a:t>Route selection + execution to slide 10.</a:t>
            </a:r>
          </a:p>
        </p:txBody>
      </p:sp>
      <p:sp>
        <p:nvSpPr>
          <p:cNvPr id="236" name="Rectangle 235"/>
          <p:cNvSpPr>
            <a:spLocks/>
          </p:cNvSpPr>
          <p:nvPr/>
        </p:nvSpPr>
        <p:spPr>
          <a:xfrm>
            <a:off x="9253728" y="3983460"/>
            <a:ext cx="2071115" cy="570045"/>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lnSpc>
                <a:spcPct val="90000"/>
              </a:lnSpc>
              <a:spcBef>
                <a:spcPts val="0"/>
              </a:spcBef>
              <a:spcAft>
                <a:spcPts val="0"/>
              </a:spcAft>
            </a:pPr>
            <a:r>
              <a:rPr lang="en-US" sz="1010" b="1">
                <a:solidFill>
                  <a:srgbClr val="FFFFFF"/>
                </a:solidFill>
                <a:latin typeface="Arial"/>
              </a:rPr>
              <a:t>AVOID</a:t>
            </a:r>
          </a:p>
          <a:p>
            <a:pPr algn="l">
              <a:lnSpc>
                <a:spcPct val="90000"/>
              </a:lnSpc>
              <a:spcBef>
                <a:spcPts val="0"/>
              </a:spcBef>
              <a:spcAft>
                <a:spcPts val="0"/>
              </a:spcAft>
            </a:pPr>
            <a:r>
              <a:rPr lang="en-US" sz="819" b="0">
                <a:solidFill>
                  <a:srgbClr val="FFE8D6"/>
                </a:solidFill>
                <a:latin typeface="Arial"/>
              </a:rPr>
              <a:t>Stop without differentiated value or next decision.</a:t>
            </a:r>
          </a:p>
        </p:txBody>
      </p:sp>
      <p:sp>
        <p:nvSpPr>
          <p:cNvPr id="237" name="Rectangle 236"/>
          <p:cNvSpPr>
            <a:spLocks/>
          </p:cNvSpPr>
          <p:nvPr/>
        </p:nvSpPr>
        <p:spPr>
          <a:xfrm>
            <a:off x="841248" y="4745736"/>
            <a:ext cx="10515600" cy="27432"/>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 name="TextBox 237"/>
          <p:cNvSpPr txBox="1">
            <a:spLocks/>
          </p:cNvSpPr>
          <p:nvPr/>
        </p:nvSpPr>
        <p:spPr>
          <a:xfrm>
            <a:off x="841248" y="4837176"/>
            <a:ext cx="3108960" cy="182880"/>
          </a:xfrm>
          <a:prstGeom prst="rect">
            <a:avLst/>
          </a:prstGeom>
          <a:noFill/>
        </p:spPr>
        <p:txBody>
          <a:bodyPr wrap="square" lIns="0" tIns="0" rIns="0" bIns="0" anchor="ctr">
            <a:spAutoFit/>
          </a:bodyPr>
          <a:lstStyle/>
          <a:p>
            <a:pPr algn="l"/>
            <a:r>
              <a:rPr lang="en-US" sz="1150" b="1">
                <a:solidFill>
                  <a:srgbClr val="FA500E"/>
                </a:solidFill>
                <a:latin typeface="Arial"/>
              </a:rPr>
              <a:t>FIELD LEARNING LOOP</a:t>
            </a:r>
          </a:p>
        </p:txBody>
      </p:sp>
      <p:sp>
        <p:nvSpPr>
          <p:cNvPr id="239" name="TextBox 238"/>
          <p:cNvSpPr txBox="1">
            <a:spLocks/>
          </p:cNvSpPr>
          <p:nvPr/>
        </p:nvSpPr>
        <p:spPr>
          <a:xfrm>
            <a:off x="7498079" y="4837176"/>
            <a:ext cx="3858768" cy="135422"/>
          </a:xfrm>
          <a:prstGeom prst="rect">
            <a:avLst/>
          </a:prstGeom>
          <a:noFill/>
        </p:spPr>
        <p:txBody>
          <a:bodyPr wrap="square" lIns="0" tIns="0" rIns="0" bIns="0" anchor="ctr">
            <a:spAutoFit/>
          </a:bodyPr>
          <a:lstStyle/>
          <a:p>
            <a:pPr algn="r"/>
            <a:r>
              <a:rPr lang="en-US" sz="880" b="1">
                <a:solidFill>
                  <a:srgbClr val="62544F"/>
                </a:solidFill>
                <a:latin typeface="Arial"/>
              </a:rPr>
              <a:t>ILLUSTRATIVE EXAMPLES · NOT ROADMAP COMMITMENTS</a:t>
            </a:r>
          </a:p>
        </p:txBody>
      </p:sp>
      <p:sp>
        <p:nvSpPr>
          <p:cNvPr id="240" name="TextBox 239"/>
          <p:cNvSpPr txBox="1">
            <a:spLocks/>
          </p:cNvSpPr>
          <p:nvPr/>
        </p:nvSpPr>
        <p:spPr>
          <a:xfrm>
            <a:off x="841248" y="5122342"/>
            <a:ext cx="10515600" cy="133755"/>
          </a:xfrm>
          <a:prstGeom prst="rect">
            <a:avLst/>
          </a:prstGeom>
          <a:noFill/>
        </p:spPr>
        <p:txBody>
          <a:bodyPr wrap="square" lIns="0" tIns="0" rIns="0" bIns="0" anchor="ctr">
            <a:spAutoFit/>
          </a:bodyPr>
          <a:lstStyle/>
          <a:p>
            <a:pPr algn="ctr"/>
            <a:r>
              <a:rPr lang="en-US" sz="869" b="1">
                <a:solidFill>
                  <a:srgbClr val="161623"/>
                </a:solidFill>
                <a:latin typeface="Arial"/>
              </a:rPr>
              <a:t>CUSTOMER EVAL  →  RECURRING NEED / BLOCKER  →  PMM PATTERN  →  PRODUCT + FDE RESPONSE  →  UPDATE SOLUTION / MESSAGE / PROOF  →  REPEAT ACROSS ACCOUNTS</a:t>
            </a:r>
          </a:p>
        </p:txBody>
      </p:sp>
      <p:sp>
        <p:nvSpPr>
          <p:cNvPr id="241" name="TextBox 240"/>
          <p:cNvSpPr txBox="1">
            <a:spLocks/>
          </p:cNvSpPr>
          <p:nvPr/>
        </p:nvSpPr>
        <p:spPr>
          <a:xfrm>
            <a:off x="841248" y="5422392"/>
            <a:ext cx="3154680" cy="146304"/>
          </a:xfrm>
          <a:prstGeom prst="rect">
            <a:avLst/>
          </a:prstGeom>
          <a:noFill/>
        </p:spPr>
        <p:txBody>
          <a:bodyPr wrap="square" lIns="0" tIns="0" rIns="0" bIns="0" anchor="ctr">
            <a:spAutoFit/>
          </a:bodyPr>
          <a:lstStyle/>
          <a:p>
            <a:pPr algn="l"/>
            <a:r>
              <a:rPr lang="en-US" sz="969" b="1">
                <a:solidFill>
                  <a:srgbClr val="FA500E"/>
                </a:solidFill>
                <a:latin typeface="Arial"/>
              </a:rPr>
              <a:t>CONTROL GAP</a:t>
            </a:r>
          </a:p>
        </p:txBody>
      </p:sp>
      <p:sp>
        <p:nvSpPr>
          <p:cNvPr id="242" name="TextBox 241"/>
          <p:cNvSpPr txBox="1">
            <a:spLocks/>
          </p:cNvSpPr>
          <p:nvPr/>
        </p:nvSpPr>
        <p:spPr>
          <a:xfrm>
            <a:off x="841248" y="5603843"/>
            <a:ext cx="3154680" cy="295466"/>
          </a:xfrm>
          <a:prstGeom prst="rect">
            <a:avLst/>
          </a:prstGeom>
          <a:noFill/>
        </p:spPr>
        <p:txBody>
          <a:bodyPr wrap="square" lIns="0" tIns="0" rIns="0" bIns="0" anchor="ctr">
            <a:spAutoFit/>
          </a:bodyPr>
          <a:lstStyle/>
          <a:p>
            <a:pPr algn="l"/>
            <a:r>
              <a:rPr lang="en-US" sz="960" b="0">
                <a:solidFill>
                  <a:srgbClr val="62544F"/>
                </a:solidFill>
                <a:latin typeface="Arial"/>
              </a:rPr>
              <a:t>Human-approval evidence repeats → feed requirement to Product / Workflows.</a:t>
            </a:r>
          </a:p>
        </p:txBody>
      </p:sp>
      <p:sp>
        <p:nvSpPr>
          <p:cNvPr id="243" name="TextBox 242"/>
          <p:cNvSpPr txBox="1">
            <a:spLocks/>
          </p:cNvSpPr>
          <p:nvPr/>
        </p:nvSpPr>
        <p:spPr>
          <a:xfrm>
            <a:off x="4425696" y="5422392"/>
            <a:ext cx="3154680" cy="149143"/>
          </a:xfrm>
          <a:prstGeom prst="rect">
            <a:avLst/>
          </a:prstGeom>
          <a:noFill/>
        </p:spPr>
        <p:txBody>
          <a:bodyPr wrap="square" lIns="0" tIns="0" rIns="0" bIns="0" anchor="ctr">
            <a:spAutoFit/>
          </a:bodyPr>
          <a:lstStyle/>
          <a:p>
            <a:pPr algn="l"/>
            <a:r>
              <a:rPr lang="en-US" sz="969" b="1">
                <a:solidFill>
                  <a:srgbClr val="FA500E"/>
                </a:solidFill>
                <a:latin typeface="Arial"/>
              </a:rPr>
              <a:t>DOCUMENT GAP</a:t>
            </a:r>
          </a:p>
        </p:txBody>
      </p:sp>
      <p:sp>
        <p:nvSpPr>
          <p:cNvPr id="244" name="TextBox 243"/>
          <p:cNvSpPr txBox="1">
            <a:spLocks/>
          </p:cNvSpPr>
          <p:nvPr/>
        </p:nvSpPr>
        <p:spPr>
          <a:xfrm>
            <a:off x="4425696" y="5603843"/>
            <a:ext cx="3154680" cy="295466"/>
          </a:xfrm>
          <a:prstGeom prst="rect">
            <a:avLst/>
          </a:prstGeom>
          <a:noFill/>
        </p:spPr>
        <p:txBody>
          <a:bodyPr wrap="square" lIns="0" tIns="0" rIns="0" bIns="0" anchor="ctr">
            <a:spAutoFit/>
          </a:bodyPr>
          <a:lstStyle/>
          <a:p>
            <a:pPr algn="l"/>
            <a:r>
              <a:rPr lang="en-US" sz="960" b="0">
                <a:solidFill>
                  <a:srgbClr val="62544F"/>
                </a:solidFill>
                <a:latin typeface="Arial"/>
              </a:rPr>
              <a:t>Weakness repeats on one document class → improve product or evaluation method.</a:t>
            </a:r>
          </a:p>
        </p:txBody>
      </p:sp>
      <p:sp>
        <p:nvSpPr>
          <p:cNvPr id="245" name="TextBox 244"/>
          <p:cNvSpPr txBox="1">
            <a:spLocks/>
          </p:cNvSpPr>
          <p:nvPr/>
        </p:nvSpPr>
        <p:spPr>
          <a:xfrm>
            <a:off x="8001000" y="5422392"/>
            <a:ext cx="3154680" cy="149143"/>
          </a:xfrm>
          <a:prstGeom prst="rect">
            <a:avLst/>
          </a:prstGeom>
          <a:noFill/>
        </p:spPr>
        <p:txBody>
          <a:bodyPr wrap="square" lIns="0" tIns="0" rIns="0" bIns="0" anchor="ctr">
            <a:spAutoFit/>
          </a:bodyPr>
          <a:lstStyle/>
          <a:p>
            <a:pPr algn="l"/>
            <a:r>
              <a:rPr lang="en-US" sz="969" b="1">
                <a:solidFill>
                  <a:srgbClr val="FA500E"/>
                </a:solidFill>
                <a:latin typeface="Arial"/>
              </a:rPr>
              <a:t>GTM SIGNAL</a:t>
            </a:r>
          </a:p>
        </p:txBody>
      </p:sp>
      <p:sp>
        <p:nvSpPr>
          <p:cNvPr id="246" name="TextBox 245"/>
          <p:cNvSpPr txBox="1">
            <a:spLocks/>
          </p:cNvSpPr>
          <p:nvPr/>
        </p:nvSpPr>
        <p:spPr>
          <a:xfrm>
            <a:off x="8001000" y="5603843"/>
            <a:ext cx="3154680" cy="295466"/>
          </a:xfrm>
          <a:prstGeom prst="rect">
            <a:avLst/>
          </a:prstGeom>
          <a:noFill/>
        </p:spPr>
        <p:txBody>
          <a:bodyPr wrap="square" lIns="0" tIns="0" rIns="0" bIns="0" anchor="ctr">
            <a:spAutoFit/>
          </a:bodyPr>
          <a:lstStyle/>
          <a:p>
            <a:pPr algn="l"/>
            <a:r>
              <a:rPr lang="en-US" sz="960" b="0">
                <a:solidFill>
                  <a:srgbClr val="62544F"/>
                </a:solidFill>
                <a:latin typeface="Arial"/>
              </a:rPr>
              <a:t>Coexistence wins → position one differentiated workload, not replacement.</a:t>
            </a:r>
          </a:p>
        </p:txBody>
      </p:sp>
      <p:sp>
        <p:nvSpPr>
          <p:cNvPr id="247" name="Rectangle 246"/>
          <p:cNvSpPr>
            <a:spLocks/>
          </p:cNvSpPr>
          <p:nvPr/>
        </p:nvSpPr>
        <p:spPr>
          <a:xfrm>
            <a:off x="841248" y="5998464"/>
            <a:ext cx="10515600" cy="292608"/>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lstStyle/>
          <a:p>
            <a:pPr algn="ctr"/>
            <a:r>
              <a:rPr lang="en-US" sz="969" b="1">
                <a:solidFill>
                  <a:srgbClr val="FA500E"/>
                </a:solidFill>
                <a:latin typeface="Arial"/>
              </a:rPr>
              <a:t>LEARN  </a:t>
            </a:r>
            <a:r>
              <a:rPr lang="en-US" sz="969" b="1">
                <a:solidFill>
                  <a:srgbClr val="FFF8F2"/>
                </a:solidFill>
                <a:latin typeface="Arial"/>
              </a:rPr>
              <a:t>PMM converts customer feedback into repeatable Product + GTM decisions.  Every evaluation creates a customer decision + field learning.</a:t>
            </a:r>
          </a:p>
        </p:txBody>
      </p:sp>
    </p:spTree>
    <p:extLst>
      <p:ext uri="{BB962C8B-B14F-4D97-AF65-F5344CB8AC3E}">
        <p14:creationId xmlns:p14="http://schemas.microsoft.com/office/powerpoint/2010/main" val="698294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8F2"/>
        </a:solidFill>
        <a:effectLst/>
      </p:bgPr>
    </p:bg>
    <p:spTree>
      <p:nvGrpSpPr>
        <p:cNvPr id="1" name=""/>
        <p:cNvGrpSpPr/>
        <p:nvPr/>
      </p:nvGrpSpPr>
      <p:grpSpPr>
        <a:xfrm>
          <a:off x="0" y="0"/>
          <a:ext cx="0" cy="0"/>
          <a:chOff x="0" y="0"/>
          <a:chExt cx="0" cy="0"/>
        </a:xfrm>
      </p:grpSpPr>
      <p:sp>
        <p:nvSpPr>
          <p:cNvPr id="2" name="Rectangle 1"/>
          <p:cNvSpPr/>
          <p:nvPr/>
        </p:nvSpPr>
        <p:spPr>
          <a:xfrm>
            <a:off x="612648" y="265176"/>
            <a:ext cx="73152" cy="740664"/>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41248" y="256032"/>
            <a:ext cx="4206240" cy="173736"/>
          </a:xfrm>
          <a:prstGeom prst="rect">
            <a:avLst/>
          </a:prstGeom>
          <a:noFill/>
        </p:spPr>
        <p:txBody>
          <a:bodyPr wrap="square" lIns="0" tIns="0" rIns="0" bIns="0" anchor="ctr">
            <a:spAutoFit/>
          </a:bodyPr>
          <a:lstStyle/>
          <a:p>
            <a:pPr algn="l"/>
            <a:r>
              <a:rPr lang="en-US" sz="1100" b="1">
                <a:solidFill>
                  <a:srgbClr val="FA500E"/>
                </a:solidFill>
                <a:latin typeface="Arial"/>
              </a:rPr>
              <a:t>PARTNER MARKETING</a:t>
            </a:r>
          </a:p>
        </p:txBody>
      </p:sp>
      <p:sp>
        <p:nvSpPr>
          <p:cNvPr id="4" name="TextBox 3"/>
          <p:cNvSpPr txBox="1"/>
          <p:nvPr/>
        </p:nvSpPr>
        <p:spPr>
          <a:xfrm>
            <a:off x="841248" y="457200"/>
            <a:ext cx="10515600" cy="311496"/>
          </a:xfrm>
          <a:prstGeom prst="rect">
            <a:avLst/>
          </a:prstGeom>
          <a:noFill/>
        </p:spPr>
        <p:txBody>
          <a:bodyPr wrap="none" lIns="0" tIns="0" rIns="0" bIns="0" anchor="t">
            <a:spAutoFit/>
          </a:bodyPr>
          <a:lstStyle/>
          <a:p>
            <a:pPr algn="l">
              <a:lnSpc>
                <a:spcPct val="92000"/>
              </a:lnSpc>
              <a:spcBef>
                <a:spcPts val="0"/>
              </a:spcBef>
              <a:spcAft>
                <a:spcPts val="0"/>
              </a:spcAft>
            </a:pPr>
            <a:r>
              <a:rPr lang="en-US" sz="2200" b="1" dirty="0">
                <a:solidFill>
                  <a:srgbClr val="161623"/>
                </a:solidFill>
                <a:latin typeface="Tiny5"/>
              </a:rPr>
              <a:t>USE PARTNERS ONLY WHEN THEY ACCELERATE A NAMED OPPORTUNITY</a:t>
            </a:r>
            <a:endParaRPr lang="en-US" sz="3600" b="1" dirty="0">
              <a:solidFill>
                <a:srgbClr val="161623"/>
              </a:solidFill>
              <a:latin typeface="Tiny5"/>
            </a:endParaRPr>
          </a:p>
        </p:txBody>
      </p:sp>
      <p:sp>
        <p:nvSpPr>
          <p:cNvPr id="5" name="TextBox 4"/>
          <p:cNvSpPr txBox="1"/>
          <p:nvPr/>
        </p:nvSpPr>
        <p:spPr>
          <a:xfrm>
            <a:off x="841248" y="1014984"/>
            <a:ext cx="10515600" cy="152927"/>
          </a:xfrm>
          <a:prstGeom prst="rect">
            <a:avLst/>
          </a:prstGeom>
          <a:noFill/>
        </p:spPr>
        <p:txBody>
          <a:bodyPr wrap="square" lIns="0" tIns="0" rIns="0" bIns="0" anchor="ctr">
            <a:spAutoFit/>
          </a:bodyPr>
          <a:lstStyle/>
          <a:p>
            <a:pPr algn="l">
              <a:lnSpc>
                <a:spcPct val="92000"/>
              </a:lnSpc>
              <a:spcBef>
                <a:spcPts val="0"/>
              </a:spcBef>
              <a:spcAft>
                <a:spcPts val="0"/>
              </a:spcAft>
            </a:pPr>
            <a:r>
              <a:rPr lang="en-US" sz="1080" b="0">
                <a:solidFill>
                  <a:srgbClr val="62544F"/>
                </a:solidFill>
                <a:latin typeface="Arial"/>
              </a:rPr>
              <a:t>Partner operating system: choose the blocker, activate the right route, prove one joint solution, then scale revenue.</a:t>
            </a:r>
          </a:p>
        </p:txBody>
      </p:sp>
      <p:pic>
        <p:nvPicPr>
          <p:cNvPr id="6" name="Picture 5" descr="image.png"/>
          <p:cNvPicPr>
            <a:picLocks noChangeAspect="1"/>
          </p:cNvPicPr>
          <p:nvPr/>
        </p:nvPicPr>
        <p:blipFill>
          <a:blip r:embed="rId3"/>
          <a:stretch>
            <a:fillRect/>
          </a:stretch>
        </p:blipFill>
        <p:spPr>
          <a:xfrm>
            <a:off x="11658600" y="182880"/>
            <a:ext cx="347472" cy="347472"/>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1682672000"/>
              </p:ext>
            </p:extLst>
          </p:nvPr>
        </p:nvGraphicFramePr>
        <p:xfrm>
          <a:off x="841248" y="1974637"/>
          <a:ext cx="7479791" cy="2780970"/>
        </p:xfrm>
        <a:graphic>
          <a:graphicData uri="http://schemas.openxmlformats.org/drawingml/2006/table">
            <a:tbl>
              <a:tblPr firstRow="1" bandRow="1">
                <a:tableStyleId>{5C22544A-7EE6-4342-B048-85BDC9FD1C3A}</a:tableStyleId>
              </a:tblPr>
              <a:tblGrid>
                <a:gridCol w="347472">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874519">
                  <a:extLst>
                    <a:ext uri="{9D8B030D-6E8A-4147-A177-3AD203B41FA5}">
                      <a16:colId xmlns:a16="http://schemas.microsoft.com/office/drawing/2014/main" val="20004"/>
                    </a:ext>
                  </a:extLst>
                </a:gridCol>
              </a:tblGrid>
              <a:tr h="335890">
                <a:tc>
                  <a:txBody>
                    <a:bodyPr/>
                    <a:lstStyle/>
                    <a:p>
                      <a:pPr algn="ctr">
                        <a:spcBef>
                          <a:spcPts val="0"/>
                        </a:spcBef>
                        <a:spcAft>
                          <a:spcPts val="0"/>
                        </a:spcAft>
                      </a:pPr>
                      <a:r>
                        <a:rPr lang="en-US" sz="840" b="1">
                          <a:solidFill>
                            <a:srgbClr val="FFFFFF"/>
                          </a:solidFill>
                          <a:latin typeface="Arial"/>
                        </a:rPr>
                        <a:t>#</a:t>
                      </a:r>
                    </a:p>
                  </a:txBody>
                  <a:tcPr marL="32004" marR="32004" marT="12700" marB="12700" anchor="ctr">
                    <a:solidFill>
                      <a:srgbClr val="161623"/>
                    </a:solidFill>
                  </a:tcPr>
                </a:tc>
                <a:tc>
                  <a:txBody>
                    <a:bodyPr/>
                    <a:lstStyle/>
                    <a:p>
                      <a:pPr algn="ctr">
                        <a:spcBef>
                          <a:spcPts val="0"/>
                        </a:spcBef>
                        <a:spcAft>
                          <a:spcPts val="0"/>
                        </a:spcAft>
                      </a:pPr>
                      <a:r>
                        <a:rPr lang="en-US" sz="840" b="1">
                          <a:solidFill>
                            <a:srgbClr val="FFFFFF"/>
                          </a:solidFill>
                          <a:latin typeface="Arial"/>
                        </a:rPr>
                        <a:t>TARGET</a:t>
                      </a:r>
                    </a:p>
                  </a:txBody>
                  <a:tcPr marL="32004" marR="32004" marT="12700" marB="12700" anchor="ctr">
                    <a:solidFill>
                      <a:srgbClr val="161623"/>
                    </a:solidFill>
                  </a:tcPr>
                </a:tc>
                <a:tc>
                  <a:txBody>
                    <a:bodyPr/>
                    <a:lstStyle/>
                    <a:p>
                      <a:pPr algn="ctr">
                        <a:spcBef>
                          <a:spcPts val="0"/>
                        </a:spcBef>
                        <a:spcAft>
                          <a:spcPts val="0"/>
                        </a:spcAft>
                      </a:pPr>
                      <a:r>
                        <a:rPr lang="en-US" sz="840" b="1">
                          <a:solidFill>
                            <a:srgbClr val="FFFFFF"/>
                          </a:solidFill>
                          <a:latin typeface="Arial"/>
                        </a:rPr>
                        <a:t>BLOCKER REMOVED</a:t>
                      </a:r>
                    </a:p>
                  </a:txBody>
                  <a:tcPr marL="32004" marR="32004" marT="12700" marB="12700" anchor="ctr">
                    <a:solidFill>
                      <a:srgbClr val="161623"/>
                    </a:solidFill>
                  </a:tcPr>
                </a:tc>
                <a:tc>
                  <a:txBody>
                    <a:bodyPr/>
                    <a:lstStyle/>
                    <a:p>
                      <a:pPr algn="ctr">
                        <a:spcBef>
                          <a:spcPts val="0"/>
                        </a:spcBef>
                        <a:spcAft>
                          <a:spcPts val="0"/>
                        </a:spcAft>
                      </a:pPr>
                      <a:r>
                        <a:rPr lang="en-US" sz="840" b="1">
                          <a:solidFill>
                            <a:srgbClr val="FFFFFF"/>
                          </a:solidFill>
                          <a:latin typeface="Arial"/>
                        </a:rPr>
                        <a:t>FIRST PROOF</a:t>
                      </a:r>
                    </a:p>
                  </a:txBody>
                  <a:tcPr marL="32004" marR="32004" marT="12700" marB="12700" anchor="ctr">
                    <a:solidFill>
                      <a:srgbClr val="161623"/>
                    </a:solidFill>
                  </a:tcPr>
                </a:tc>
                <a:tc>
                  <a:txBody>
                    <a:bodyPr/>
                    <a:lstStyle/>
                    <a:p>
                      <a:pPr algn="ctr">
                        <a:spcBef>
                          <a:spcPts val="0"/>
                        </a:spcBef>
                        <a:spcAft>
                          <a:spcPts val="0"/>
                        </a:spcAft>
                      </a:pPr>
                      <a:r>
                        <a:rPr lang="en-US" sz="840" b="1">
                          <a:solidFill>
                            <a:srgbClr val="FFFFFF"/>
                          </a:solidFill>
                          <a:latin typeface="Arial"/>
                        </a:rPr>
                        <a:t>MOTION</a:t>
                      </a:r>
                    </a:p>
                  </a:txBody>
                  <a:tcPr marL="32004" marR="32004" marT="12700" marB="12700" anchor="ctr">
                    <a:solidFill>
                      <a:srgbClr val="161623"/>
                    </a:solidFill>
                  </a:tcPr>
                </a:tc>
                <a:extLst>
                  <a:ext uri="{0D108BD9-81ED-4DB2-BD59-A6C34878D82A}">
                    <a16:rowId xmlns:a16="http://schemas.microsoft.com/office/drawing/2014/main" val="10000"/>
                  </a:ext>
                </a:extLst>
              </a:tr>
              <a:tr h="489016">
                <a:tc>
                  <a:txBody>
                    <a:bodyPr/>
                    <a:lstStyle/>
                    <a:p>
                      <a:pPr algn="ctr">
                        <a:lnSpc>
                          <a:spcPct val="90000"/>
                        </a:lnSpc>
                        <a:spcBef>
                          <a:spcPts val="0"/>
                        </a:spcBef>
                        <a:spcAft>
                          <a:spcPts val="0"/>
                        </a:spcAft>
                      </a:pPr>
                      <a:r>
                        <a:rPr lang="en-US" sz="819" b="1">
                          <a:solidFill>
                            <a:srgbClr val="FA500E"/>
                          </a:solidFill>
                          <a:latin typeface="Arial"/>
                        </a:rPr>
                        <a:t>01</a:t>
                      </a:r>
                    </a:p>
                  </a:txBody>
                  <a:tcPr marL="36576" marR="36576" marT="12700" marB="12700" anchor="ctr">
                    <a:solidFill>
                      <a:srgbClr val="FFF8F2"/>
                    </a:solidFill>
                  </a:tcPr>
                </a:tc>
                <a:tc>
                  <a:txBody>
                    <a:bodyPr/>
                    <a:lstStyle/>
                    <a:p>
                      <a:pPr algn="l">
                        <a:lnSpc>
                          <a:spcPct val="90000"/>
                        </a:lnSpc>
                        <a:spcBef>
                          <a:spcPts val="0"/>
                        </a:spcBef>
                        <a:spcAft>
                          <a:spcPts val="0"/>
                        </a:spcAft>
                      </a:pPr>
                      <a:r>
                        <a:rPr lang="en-US" sz="860" b="1">
                          <a:solidFill>
                            <a:srgbClr val="FA500E"/>
                          </a:solidFill>
                          <a:latin typeface="Arial"/>
                        </a:rPr>
                        <a:t>QUANTEXA</a:t>
                      </a:r>
                    </a:p>
                  </a:txBody>
                  <a:tcPr marL="36576" marR="36576" marT="12700" marB="12700" anchor="ctr">
                    <a:solidFill>
                      <a:srgbClr val="FFF8F2"/>
                    </a:solidFill>
                  </a:tcPr>
                </a:tc>
                <a:tc>
                  <a:txBody>
                    <a:bodyPr/>
                    <a:lstStyle/>
                    <a:p>
                      <a:pPr algn="l">
                        <a:lnSpc>
                          <a:spcPct val="90000"/>
                        </a:lnSpc>
                        <a:spcBef>
                          <a:spcPts val="0"/>
                        </a:spcBef>
                        <a:spcAft>
                          <a:spcPts val="0"/>
                        </a:spcAft>
                      </a:pPr>
                      <a:r>
                        <a:rPr lang="en-US" sz="819" b="0">
                          <a:solidFill>
                            <a:srgbClr val="161623"/>
                          </a:solidFill>
                          <a:latin typeface="Arial"/>
                        </a:rPr>
                        <a:t>Financial-crime workflow integration</a:t>
                      </a:r>
                    </a:p>
                  </a:txBody>
                  <a:tcPr marL="36576" marR="36576" marT="12700" marB="12700" anchor="ctr">
                    <a:solidFill>
                      <a:srgbClr val="FFF8F2"/>
                    </a:solidFill>
                  </a:tcPr>
                </a:tc>
                <a:tc>
                  <a:txBody>
                    <a:bodyPr/>
                    <a:lstStyle/>
                    <a:p>
                      <a:pPr algn="l">
                        <a:lnSpc>
                          <a:spcPct val="90000"/>
                        </a:lnSpc>
                        <a:spcBef>
                          <a:spcPts val="0"/>
                        </a:spcBef>
                        <a:spcAft>
                          <a:spcPts val="0"/>
                        </a:spcAft>
                      </a:pPr>
                      <a:r>
                        <a:rPr lang="en-US" sz="819" b="0">
                          <a:solidFill>
                            <a:srgbClr val="161623"/>
                          </a:solidFill>
                          <a:latin typeface="Arial"/>
                        </a:rPr>
                        <a:t>One agent at a mutual bank</a:t>
                      </a:r>
                    </a:p>
                  </a:txBody>
                  <a:tcPr marL="36576" marR="36576" marT="12700" marB="12700" anchor="ctr">
                    <a:solidFill>
                      <a:srgbClr val="FFF8F2"/>
                    </a:solidFill>
                  </a:tcPr>
                </a:tc>
                <a:tc>
                  <a:txBody>
                    <a:bodyPr/>
                    <a:lstStyle/>
                    <a:p>
                      <a:pPr algn="l">
                        <a:lnSpc>
                          <a:spcPct val="90000"/>
                        </a:lnSpc>
                        <a:spcBef>
                          <a:spcPts val="0"/>
                        </a:spcBef>
                        <a:spcAft>
                          <a:spcPts val="0"/>
                        </a:spcAft>
                      </a:pPr>
                      <a:r>
                        <a:rPr lang="en-US" sz="819" b="0">
                          <a:solidFill>
                            <a:srgbClr val="161623"/>
                          </a:solidFill>
                          <a:latin typeface="Arial"/>
                        </a:rPr>
                        <a:t>ACCOUNT MAP → PILOT</a:t>
                      </a:r>
                    </a:p>
                  </a:txBody>
                  <a:tcPr marL="36576" marR="36576" marT="12700" marB="12700" anchor="ctr">
                    <a:solidFill>
                      <a:srgbClr val="FFF8F2"/>
                    </a:solidFill>
                  </a:tcPr>
                </a:tc>
                <a:extLst>
                  <a:ext uri="{0D108BD9-81ED-4DB2-BD59-A6C34878D82A}">
                    <a16:rowId xmlns:a16="http://schemas.microsoft.com/office/drawing/2014/main" val="10001"/>
                  </a:ext>
                </a:extLst>
              </a:tr>
              <a:tr h="489016">
                <a:tc>
                  <a:txBody>
                    <a:bodyPr/>
                    <a:lstStyle/>
                    <a:p>
                      <a:pPr algn="ctr">
                        <a:lnSpc>
                          <a:spcPct val="90000"/>
                        </a:lnSpc>
                        <a:spcBef>
                          <a:spcPts val="0"/>
                        </a:spcBef>
                        <a:spcAft>
                          <a:spcPts val="0"/>
                        </a:spcAft>
                      </a:pPr>
                      <a:r>
                        <a:rPr lang="en-US" sz="819" b="1">
                          <a:solidFill>
                            <a:srgbClr val="FA500E"/>
                          </a:solidFill>
                          <a:latin typeface="Arial"/>
                        </a:rPr>
                        <a:t>02</a:t>
                      </a:r>
                    </a:p>
                  </a:txBody>
                  <a:tcPr marL="36576" marR="36576" marT="12700" marB="12700" anchor="ctr">
                    <a:solidFill>
                      <a:srgbClr val="FFF1E7"/>
                    </a:solidFill>
                  </a:tcPr>
                </a:tc>
                <a:tc>
                  <a:txBody>
                    <a:bodyPr/>
                    <a:lstStyle/>
                    <a:p>
                      <a:pPr algn="l">
                        <a:lnSpc>
                          <a:spcPct val="90000"/>
                        </a:lnSpc>
                        <a:spcBef>
                          <a:spcPts val="0"/>
                        </a:spcBef>
                        <a:spcAft>
                          <a:spcPts val="0"/>
                        </a:spcAft>
                      </a:pPr>
                      <a:r>
                        <a:rPr lang="en-US" sz="860" b="1">
                          <a:solidFill>
                            <a:srgbClr val="FA500E"/>
                          </a:solidFill>
                          <a:latin typeface="Arial"/>
                        </a:rPr>
                        <a:t>LSEG RISK INTELLIGENCE</a:t>
                      </a:r>
                    </a:p>
                  </a:txBody>
                  <a:tcPr marL="36576" marR="36576" marT="12700" marB="12700" anchor="ctr">
                    <a:solidFill>
                      <a:srgbClr val="FFF1E7"/>
                    </a:solidFill>
                  </a:tcPr>
                </a:tc>
                <a:tc>
                  <a:txBody>
                    <a:bodyPr/>
                    <a:lstStyle/>
                    <a:p>
                      <a:pPr algn="l">
                        <a:lnSpc>
                          <a:spcPct val="90000"/>
                        </a:lnSpc>
                        <a:spcBef>
                          <a:spcPts val="0"/>
                        </a:spcBef>
                        <a:spcAft>
                          <a:spcPts val="0"/>
                        </a:spcAft>
                      </a:pPr>
                      <a:r>
                        <a:rPr lang="en-US" sz="819" b="0">
                          <a:solidFill>
                            <a:srgbClr val="161623"/>
                          </a:solidFill>
                          <a:latin typeface="Arial"/>
                        </a:rPr>
                        <a:t>Trusted data for investigations</a:t>
                      </a:r>
                    </a:p>
                  </a:txBody>
                  <a:tcPr marL="36576" marR="36576" marT="12700" marB="12700" anchor="ctr">
                    <a:solidFill>
                      <a:srgbClr val="FFF1E7"/>
                    </a:solidFill>
                  </a:tcPr>
                </a:tc>
                <a:tc>
                  <a:txBody>
                    <a:bodyPr/>
                    <a:lstStyle/>
                    <a:p>
                      <a:pPr algn="l">
                        <a:lnSpc>
                          <a:spcPct val="90000"/>
                        </a:lnSpc>
                        <a:spcBef>
                          <a:spcPts val="0"/>
                        </a:spcBef>
                        <a:spcAft>
                          <a:spcPts val="0"/>
                        </a:spcAft>
                      </a:pPr>
                      <a:r>
                        <a:rPr lang="en-US" sz="819" b="0">
                          <a:solidFill>
                            <a:srgbClr val="161623"/>
                          </a:solidFill>
                          <a:latin typeface="Arial"/>
                        </a:rPr>
                        <a:t>One case summary with World-Check</a:t>
                      </a:r>
                    </a:p>
                  </a:txBody>
                  <a:tcPr marL="36576" marR="36576" marT="12700" marB="12700" anchor="ctr">
                    <a:solidFill>
                      <a:srgbClr val="FFF1E7"/>
                    </a:solidFill>
                  </a:tcPr>
                </a:tc>
                <a:tc>
                  <a:txBody>
                    <a:bodyPr/>
                    <a:lstStyle/>
                    <a:p>
                      <a:pPr algn="l">
                        <a:lnSpc>
                          <a:spcPct val="90000"/>
                        </a:lnSpc>
                        <a:spcBef>
                          <a:spcPts val="0"/>
                        </a:spcBef>
                        <a:spcAft>
                          <a:spcPts val="0"/>
                        </a:spcAft>
                      </a:pPr>
                      <a:r>
                        <a:rPr lang="en-US" sz="819" b="0">
                          <a:solidFill>
                            <a:srgbClr val="161623"/>
                          </a:solidFill>
                          <a:latin typeface="Arial"/>
                        </a:rPr>
                        <a:t>PACKAGE → PILOT</a:t>
                      </a:r>
                    </a:p>
                  </a:txBody>
                  <a:tcPr marL="36576" marR="36576" marT="12700" marB="12700" anchor="ctr">
                    <a:solidFill>
                      <a:srgbClr val="FFF1E7"/>
                    </a:solidFill>
                  </a:tcPr>
                </a:tc>
                <a:extLst>
                  <a:ext uri="{0D108BD9-81ED-4DB2-BD59-A6C34878D82A}">
                    <a16:rowId xmlns:a16="http://schemas.microsoft.com/office/drawing/2014/main" val="10002"/>
                  </a:ext>
                </a:extLst>
              </a:tr>
              <a:tr h="489016">
                <a:tc>
                  <a:txBody>
                    <a:bodyPr/>
                    <a:lstStyle/>
                    <a:p>
                      <a:pPr algn="ctr">
                        <a:lnSpc>
                          <a:spcPct val="90000"/>
                        </a:lnSpc>
                        <a:spcBef>
                          <a:spcPts val="0"/>
                        </a:spcBef>
                        <a:spcAft>
                          <a:spcPts val="0"/>
                        </a:spcAft>
                      </a:pPr>
                      <a:r>
                        <a:rPr lang="en-US" sz="819" b="1">
                          <a:solidFill>
                            <a:srgbClr val="FA500E"/>
                          </a:solidFill>
                          <a:latin typeface="Arial"/>
                        </a:rPr>
                        <a:t>03</a:t>
                      </a:r>
                    </a:p>
                  </a:txBody>
                  <a:tcPr marL="36576" marR="36576" marT="12700" marB="12700" anchor="ctr">
                    <a:solidFill>
                      <a:srgbClr val="FFF8F2"/>
                    </a:solidFill>
                  </a:tcPr>
                </a:tc>
                <a:tc>
                  <a:txBody>
                    <a:bodyPr/>
                    <a:lstStyle/>
                    <a:p>
                      <a:pPr algn="l">
                        <a:lnSpc>
                          <a:spcPct val="90000"/>
                        </a:lnSpc>
                        <a:spcBef>
                          <a:spcPts val="0"/>
                        </a:spcBef>
                        <a:spcAft>
                          <a:spcPts val="0"/>
                        </a:spcAft>
                      </a:pPr>
                      <a:r>
                        <a:rPr lang="en-US" sz="860" b="1">
                          <a:solidFill>
                            <a:srgbClr val="FA500E"/>
                          </a:solidFill>
                          <a:latin typeface="Arial"/>
                        </a:rPr>
                        <a:t>COMPLYADVANTAGE</a:t>
                      </a:r>
                    </a:p>
                  </a:txBody>
                  <a:tcPr marL="36576" marR="36576" marT="12700" marB="12700" anchor="ctr">
                    <a:solidFill>
                      <a:srgbClr val="FFF8F2"/>
                    </a:solidFill>
                  </a:tcPr>
                </a:tc>
                <a:tc>
                  <a:txBody>
                    <a:bodyPr/>
                    <a:lstStyle/>
                    <a:p>
                      <a:pPr algn="l">
                        <a:lnSpc>
                          <a:spcPct val="90000"/>
                        </a:lnSpc>
                        <a:spcBef>
                          <a:spcPts val="0"/>
                        </a:spcBef>
                        <a:spcAft>
                          <a:spcPts val="0"/>
                        </a:spcAft>
                      </a:pPr>
                      <a:r>
                        <a:rPr lang="en-US" sz="819" b="0">
                          <a:solidFill>
                            <a:srgbClr val="161623"/>
                          </a:solidFill>
                          <a:latin typeface="Arial"/>
                        </a:rPr>
                        <a:t>AML workflow integration</a:t>
                      </a:r>
                    </a:p>
                  </a:txBody>
                  <a:tcPr marL="36576" marR="36576" marT="12700" marB="12700" anchor="ctr">
                    <a:solidFill>
                      <a:srgbClr val="FFF8F2"/>
                    </a:solidFill>
                  </a:tcPr>
                </a:tc>
                <a:tc>
                  <a:txBody>
                    <a:bodyPr/>
                    <a:lstStyle/>
                    <a:p>
                      <a:pPr algn="l">
                        <a:lnSpc>
                          <a:spcPct val="90000"/>
                        </a:lnSpc>
                        <a:spcBef>
                          <a:spcPts val="0"/>
                        </a:spcBef>
                        <a:spcAft>
                          <a:spcPts val="0"/>
                        </a:spcAft>
                      </a:pPr>
                      <a:r>
                        <a:rPr lang="en-US" sz="819" b="0">
                          <a:solidFill>
                            <a:srgbClr val="161623"/>
                          </a:solidFill>
                          <a:latin typeface="Arial"/>
                        </a:rPr>
                        <a:t>Connect one measurable AML workflow</a:t>
                      </a:r>
                    </a:p>
                  </a:txBody>
                  <a:tcPr marL="36576" marR="36576" marT="12700" marB="12700" anchor="ctr">
                    <a:solidFill>
                      <a:srgbClr val="FFF8F2"/>
                    </a:solidFill>
                  </a:tcPr>
                </a:tc>
                <a:tc>
                  <a:txBody>
                    <a:bodyPr/>
                    <a:lstStyle/>
                    <a:p>
                      <a:pPr algn="l">
                        <a:lnSpc>
                          <a:spcPct val="90000"/>
                        </a:lnSpc>
                        <a:spcBef>
                          <a:spcPts val="0"/>
                        </a:spcBef>
                        <a:spcAft>
                          <a:spcPts val="0"/>
                        </a:spcAft>
                      </a:pPr>
                      <a:r>
                        <a:rPr lang="en-US" sz="819" b="0">
                          <a:solidFill>
                            <a:srgbClr val="161623"/>
                          </a:solidFill>
                          <a:latin typeface="Arial"/>
                        </a:rPr>
                        <a:t>CO-SELL → PACKAGE</a:t>
                      </a:r>
                    </a:p>
                  </a:txBody>
                  <a:tcPr marL="36576" marR="36576" marT="12700" marB="12700" anchor="ctr">
                    <a:solidFill>
                      <a:srgbClr val="FFF8F2"/>
                    </a:solidFill>
                  </a:tcPr>
                </a:tc>
                <a:extLst>
                  <a:ext uri="{0D108BD9-81ED-4DB2-BD59-A6C34878D82A}">
                    <a16:rowId xmlns:a16="http://schemas.microsoft.com/office/drawing/2014/main" val="10003"/>
                  </a:ext>
                </a:extLst>
              </a:tr>
              <a:tr h="489016">
                <a:tc>
                  <a:txBody>
                    <a:bodyPr/>
                    <a:lstStyle/>
                    <a:p>
                      <a:pPr algn="ctr">
                        <a:lnSpc>
                          <a:spcPct val="90000"/>
                        </a:lnSpc>
                        <a:spcBef>
                          <a:spcPts val="0"/>
                        </a:spcBef>
                        <a:spcAft>
                          <a:spcPts val="0"/>
                        </a:spcAft>
                      </a:pPr>
                      <a:r>
                        <a:rPr lang="en-US" sz="819" b="1">
                          <a:solidFill>
                            <a:srgbClr val="FA500E"/>
                          </a:solidFill>
                          <a:latin typeface="Arial"/>
                        </a:rPr>
                        <a:t>04</a:t>
                      </a:r>
                    </a:p>
                  </a:txBody>
                  <a:tcPr marL="36576" marR="36576" marT="12700" marB="12700" anchor="ctr">
                    <a:solidFill>
                      <a:srgbClr val="FFF1E7"/>
                    </a:solidFill>
                  </a:tcPr>
                </a:tc>
                <a:tc>
                  <a:txBody>
                    <a:bodyPr/>
                    <a:lstStyle/>
                    <a:p>
                      <a:pPr algn="l">
                        <a:lnSpc>
                          <a:spcPct val="90000"/>
                        </a:lnSpc>
                        <a:spcBef>
                          <a:spcPts val="0"/>
                        </a:spcBef>
                        <a:spcAft>
                          <a:spcPts val="0"/>
                        </a:spcAft>
                      </a:pPr>
                      <a:r>
                        <a:rPr lang="en-US" sz="860" b="1">
                          <a:solidFill>
                            <a:srgbClr val="FA500E"/>
                          </a:solidFill>
                          <a:latin typeface="Arial"/>
                        </a:rPr>
                        <a:t>TEMENOS</a:t>
                      </a:r>
                    </a:p>
                  </a:txBody>
                  <a:tcPr marL="36576" marR="36576" marT="12700" marB="12700" anchor="ctr">
                    <a:solidFill>
                      <a:srgbClr val="FFF1E7"/>
                    </a:solidFill>
                  </a:tcPr>
                </a:tc>
                <a:tc>
                  <a:txBody>
                    <a:bodyPr/>
                    <a:lstStyle/>
                    <a:p>
                      <a:pPr algn="l">
                        <a:lnSpc>
                          <a:spcPct val="90000"/>
                        </a:lnSpc>
                        <a:spcBef>
                          <a:spcPts val="0"/>
                        </a:spcBef>
                        <a:spcAft>
                          <a:spcPts val="0"/>
                        </a:spcAft>
                      </a:pPr>
                      <a:r>
                        <a:rPr lang="en-US" sz="819" b="0">
                          <a:solidFill>
                            <a:srgbClr val="161623"/>
                          </a:solidFill>
                          <a:latin typeface="Arial"/>
                        </a:rPr>
                        <a:t>Lending / onboarding integration</a:t>
                      </a:r>
                    </a:p>
                  </a:txBody>
                  <a:tcPr marL="36576" marR="36576" marT="12700" marB="12700" anchor="ctr">
                    <a:solidFill>
                      <a:srgbClr val="FFF1E7"/>
                    </a:solidFill>
                  </a:tcPr>
                </a:tc>
                <a:tc>
                  <a:txBody>
                    <a:bodyPr/>
                    <a:lstStyle/>
                    <a:p>
                      <a:pPr algn="l">
                        <a:lnSpc>
                          <a:spcPct val="90000"/>
                        </a:lnSpc>
                        <a:spcBef>
                          <a:spcPts val="0"/>
                        </a:spcBef>
                        <a:spcAft>
                          <a:spcPts val="0"/>
                        </a:spcAft>
                      </a:pPr>
                      <a:r>
                        <a:rPr lang="en-US" sz="819" b="0">
                          <a:solidFill>
                            <a:srgbClr val="161623"/>
                          </a:solidFill>
                          <a:latin typeface="Arial"/>
                        </a:rPr>
                        <a:t>Prototype one workflow in sandbox</a:t>
                      </a:r>
                    </a:p>
                  </a:txBody>
                  <a:tcPr marL="36576" marR="36576" marT="12700" marB="12700" anchor="ctr">
                    <a:solidFill>
                      <a:srgbClr val="FFF1E7"/>
                    </a:solidFill>
                  </a:tcPr>
                </a:tc>
                <a:tc>
                  <a:txBody>
                    <a:bodyPr/>
                    <a:lstStyle/>
                    <a:p>
                      <a:pPr algn="l">
                        <a:lnSpc>
                          <a:spcPct val="90000"/>
                        </a:lnSpc>
                        <a:spcBef>
                          <a:spcPts val="0"/>
                        </a:spcBef>
                        <a:spcAft>
                          <a:spcPts val="0"/>
                        </a:spcAft>
                      </a:pPr>
                      <a:r>
                        <a:rPr lang="en-US" sz="819" b="0">
                          <a:solidFill>
                            <a:srgbClr val="161623"/>
                          </a:solidFill>
                          <a:latin typeface="Arial"/>
                        </a:rPr>
                        <a:t>PILOT → PACKAGE</a:t>
                      </a:r>
                    </a:p>
                  </a:txBody>
                  <a:tcPr marL="36576" marR="36576" marT="12700" marB="12700" anchor="ctr">
                    <a:solidFill>
                      <a:srgbClr val="FFF1E7"/>
                    </a:solidFill>
                  </a:tcPr>
                </a:tc>
                <a:extLst>
                  <a:ext uri="{0D108BD9-81ED-4DB2-BD59-A6C34878D82A}">
                    <a16:rowId xmlns:a16="http://schemas.microsoft.com/office/drawing/2014/main" val="10004"/>
                  </a:ext>
                </a:extLst>
              </a:tr>
              <a:tr h="489016">
                <a:tc>
                  <a:txBody>
                    <a:bodyPr/>
                    <a:lstStyle/>
                    <a:p>
                      <a:pPr algn="ctr">
                        <a:lnSpc>
                          <a:spcPct val="90000"/>
                        </a:lnSpc>
                        <a:spcBef>
                          <a:spcPts val="0"/>
                        </a:spcBef>
                        <a:spcAft>
                          <a:spcPts val="0"/>
                        </a:spcAft>
                      </a:pPr>
                      <a:r>
                        <a:rPr lang="en-US" sz="819" b="1">
                          <a:solidFill>
                            <a:srgbClr val="FA500E"/>
                          </a:solidFill>
                          <a:latin typeface="Arial"/>
                        </a:rPr>
                        <a:t>05</a:t>
                      </a:r>
                    </a:p>
                  </a:txBody>
                  <a:tcPr marL="36576" marR="36576" marT="12700" marB="12700" anchor="ctr">
                    <a:solidFill>
                      <a:srgbClr val="FFF8F2"/>
                    </a:solidFill>
                  </a:tcPr>
                </a:tc>
                <a:tc>
                  <a:txBody>
                    <a:bodyPr/>
                    <a:lstStyle/>
                    <a:p>
                      <a:pPr algn="l">
                        <a:lnSpc>
                          <a:spcPct val="90000"/>
                        </a:lnSpc>
                        <a:spcBef>
                          <a:spcPts val="0"/>
                        </a:spcBef>
                        <a:spcAft>
                          <a:spcPts val="0"/>
                        </a:spcAft>
                      </a:pPr>
                      <a:r>
                        <a:rPr lang="en-US" sz="860" b="1">
                          <a:solidFill>
                            <a:srgbClr val="FA500E"/>
                          </a:solidFill>
                          <a:latin typeface="Arial"/>
                        </a:rPr>
                        <a:t>FENERGO</a:t>
                      </a:r>
                    </a:p>
                  </a:txBody>
                  <a:tcPr marL="36576" marR="36576" marT="12700" marB="12700" anchor="ctr">
                    <a:solidFill>
                      <a:srgbClr val="FFF8F2"/>
                    </a:solidFill>
                  </a:tcPr>
                </a:tc>
                <a:tc>
                  <a:txBody>
                    <a:bodyPr/>
                    <a:lstStyle/>
                    <a:p>
                      <a:pPr algn="l">
                        <a:lnSpc>
                          <a:spcPct val="90000"/>
                        </a:lnSpc>
                        <a:spcBef>
                          <a:spcPts val="0"/>
                        </a:spcBef>
                        <a:spcAft>
                          <a:spcPts val="0"/>
                        </a:spcAft>
                      </a:pPr>
                      <a:r>
                        <a:rPr lang="en-US" sz="819" b="0">
                          <a:solidFill>
                            <a:srgbClr val="161623"/>
                          </a:solidFill>
                          <a:latin typeface="Arial"/>
                        </a:rPr>
                        <a:t>Controlled KYC document intelligence</a:t>
                      </a:r>
                    </a:p>
                  </a:txBody>
                  <a:tcPr marL="36576" marR="36576" marT="12700" marB="12700" anchor="ctr">
                    <a:solidFill>
                      <a:srgbClr val="FFF8F2"/>
                    </a:solidFill>
                  </a:tcPr>
                </a:tc>
                <a:tc>
                  <a:txBody>
                    <a:bodyPr/>
                    <a:lstStyle/>
                    <a:p>
                      <a:pPr algn="l">
                        <a:lnSpc>
                          <a:spcPct val="90000"/>
                        </a:lnSpc>
                        <a:spcBef>
                          <a:spcPts val="0"/>
                        </a:spcBef>
                        <a:spcAft>
                          <a:spcPts val="0"/>
                        </a:spcAft>
                      </a:pPr>
                      <a:r>
                        <a:rPr lang="en-US" sz="819" b="0">
                          <a:solidFill>
                            <a:srgbClr val="161623"/>
                          </a:solidFill>
                          <a:latin typeface="Arial"/>
                        </a:rPr>
                        <a:t>Connect one KYC workflow</a:t>
                      </a:r>
                    </a:p>
                  </a:txBody>
                  <a:tcPr marL="36576" marR="36576" marT="12700" marB="12700" anchor="ctr">
                    <a:solidFill>
                      <a:srgbClr val="FFF8F2"/>
                    </a:solidFill>
                  </a:tcPr>
                </a:tc>
                <a:tc>
                  <a:txBody>
                    <a:bodyPr/>
                    <a:lstStyle/>
                    <a:p>
                      <a:pPr algn="l">
                        <a:lnSpc>
                          <a:spcPct val="90000"/>
                        </a:lnSpc>
                        <a:spcBef>
                          <a:spcPts val="0"/>
                        </a:spcBef>
                        <a:spcAft>
                          <a:spcPts val="0"/>
                        </a:spcAft>
                      </a:pPr>
                      <a:r>
                        <a:rPr lang="en-US" sz="819" b="0">
                          <a:solidFill>
                            <a:srgbClr val="161623"/>
                          </a:solidFill>
                          <a:latin typeface="Arial"/>
                        </a:rPr>
                        <a:t>ENABLE → PACKAGE</a:t>
                      </a:r>
                    </a:p>
                  </a:txBody>
                  <a:tcPr marL="36576" marR="36576" marT="12700" marB="12700" anchor="ctr">
                    <a:solidFill>
                      <a:srgbClr val="FFF8F2"/>
                    </a:solidFill>
                  </a:tcPr>
                </a:tc>
                <a:extLst>
                  <a:ext uri="{0D108BD9-81ED-4DB2-BD59-A6C34878D82A}">
                    <a16:rowId xmlns:a16="http://schemas.microsoft.com/office/drawing/2014/main" val="10005"/>
                  </a:ext>
                </a:extLst>
              </a:tr>
            </a:tbl>
          </a:graphicData>
        </a:graphic>
      </p:graphicFrame>
      <p:sp>
        <p:nvSpPr>
          <p:cNvPr id="10" name="Rectangle 9"/>
          <p:cNvSpPr/>
          <p:nvPr/>
        </p:nvSpPr>
        <p:spPr>
          <a:xfrm>
            <a:off x="612648" y="6556248"/>
            <a:ext cx="10972800" cy="9144"/>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2648" y="6620256"/>
            <a:ext cx="4005072" cy="128016"/>
          </a:xfrm>
          <a:prstGeom prst="rect">
            <a:avLst/>
          </a:prstGeom>
          <a:noFill/>
        </p:spPr>
        <p:txBody>
          <a:bodyPr wrap="square" lIns="0" tIns="0" rIns="0" bIns="0" anchor="ctr">
            <a:spAutoFit/>
          </a:bodyPr>
          <a:lstStyle/>
          <a:p>
            <a:pPr algn="l"/>
            <a:r>
              <a:rPr sz="900" b="0">
                <a:solidFill>
                  <a:srgbClr val="62544F"/>
                </a:solidFill>
                <a:latin typeface="Arial"/>
              </a:rPr>
              <a:t>SHIV  ·  PMM CANDIDATE  ·  18 AUG 2026</a:t>
            </a:r>
          </a:p>
        </p:txBody>
      </p:sp>
      <p:sp>
        <p:nvSpPr>
          <p:cNvPr id="12" name="TextBox 11"/>
          <p:cNvSpPr txBox="1"/>
          <p:nvPr/>
        </p:nvSpPr>
        <p:spPr>
          <a:xfrm>
            <a:off x="11237976" y="6620256"/>
            <a:ext cx="347472" cy="128016"/>
          </a:xfrm>
          <a:prstGeom prst="rect">
            <a:avLst/>
          </a:prstGeom>
          <a:noFill/>
        </p:spPr>
        <p:txBody>
          <a:bodyPr wrap="square" lIns="0" tIns="0" rIns="0" bIns="0" anchor="ctr">
            <a:spAutoFit/>
          </a:bodyPr>
          <a:lstStyle/>
          <a:p>
            <a:pPr algn="r">
              <a:lnSpc>
                <a:spcPct val="92000"/>
              </a:lnSpc>
              <a:spcBef>
                <a:spcPts val="0"/>
              </a:spcBef>
              <a:spcAft>
                <a:spcPts val="0"/>
              </a:spcAft>
            </a:pPr>
            <a:r>
              <a:rPr lang="en-US" sz="900" b="0">
                <a:solidFill>
                  <a:srgbClr val="62544F"/>
                </a:solidFill>
                <a:latin typeface="Silkscreen"/>
              </a:rPr>
              <a:t>9</a:t>
            </a:r>
          </a:p>
        </p:txBody>
      </p:sp>
      <p:sp>
        <p:nvSpPr>
          <p:cNvPr id="13" name="Rectangle 12"/>
          <p:cNvSpPr/>
          <p:nvPr/>
        </p:nvSpPr>
        <p:spPr>
          <a:xfrm>
            <a:off x="841248" y="1243584"/>
            <a:ext cx="10515600" cy="335890"/>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wrap="square" lIns="27432" tIns="0" rIns="27432" bIns="0" rtlCol="0" anchor="ctr"/>
          <a:lstStyle/>
          <a:p>
            <a:pPr algn="ctr">
              <a:lnSpc>
                <a:spcPct val="92000"/>
              </a:lnSpc>
              <a:spcBef>
                <a:spcPts val="0"/>
              </a:spcBef>
              <a:spcAft>
                <a:spcPts val="0"/>
              </a:spcAft>
            </a:pPr>
            <a:r>
              <a:rPr lang="en-US" sz="1000" b="1">
                <a:solidFill>
                  <a:srgbClr val="FFFFFF"/>
                </a:solidFill>
                <a:latin typeface="Arial"/>
              </a:rPr>
              <a:t>DECISION RULE   What blocks the customer — and which partner removes it?    No blocker removed = no partner involvement.</a:t>
            </a:r>
          </a:p>
        </p:txBody>
      </p:sp>
      <p:sp>
        <p:nvSpPr>
          <p:cNvPr id="14" name="TextBox 13"/>
          <p:cNvSpPr txBox="1"/>
          <p:nvPr/>
        </p:nvSpPr>
        <p:spPr>
          <a:xfrm>
            <a:off x="841248" y="1700247"/>
            <a:ext cx="5029200" cy="157531"/>
          </a:xfrm>
          <a:prstGeom prst="rect">
            <a:avLst/>
          </a:prstGeom>
          <a:noFill/>
        </p:spPr>
        <p:txBody>
          <a:bodyPr wrap="square" lIns="0" tIns="0" rIns="0" bIns="0" anchor="ctr">
            <a:spAutoFit/>
          </a:bodyPr>
          <a:lstStyle/>
          <a:p>
            <a:pPr algn="l">
              <a:lnSpc>
                <a:spcPct val="92000"/>
              </a:lnSpc>
              <a:spcBef>
                <a:spcPts val="0"/>
              </a:spcBef>
              <a:spcAft>
                <a:spcPts val="0"/>
              </a:spcAft>
            </a:pPr>
            <a:r>
              <a:rPr lang="en-US" sz="1030" b="1">
                <a:solidFill>
                  <a:srgbClr val="FA500E"/>
                </a:solidFill>
                <a:latin typeface="Arial"/>
              </a:rPr>
              <a:t>NEW FSI PARTNERS — BUILD</a:t>
            </a:r>
          </a:p>
        </p:txBody>
      </p:sp>
      <p:sp>
        <p:nvSpPr>
          <p:cNvPr id="15" name="TextBox 14"/>
          <p:cNvSpPr txBox="1">
            <a:spLocks/>
          </p:cNvSpPr>
          <p:nvPr/>
        </p:nvSpPr>
        <p:spPr>
          <a:xfrm>
            <a:off x="8503920" y="1722987"/>
            <a:ext cx="2852928" cy="157531"/>
          </a:xfrm>
          <a:prstGeom prst="rect">
            <a:avLst/>
          </a:prstGeom>
          <a:noFill/>
        </p:spPr>
        <p:txBody>
          <a:bodyPr wrap="square" lIns="0" tIns="0" rIns="0" bIns="0" anchor="ctr">
            <a:spAutoFit/>
          </a:bodyPr>
          <a:lstStyle/>
          <a:p>
            <a:pPr algn="l">
              <a:lnSpc>
                <a:spcPct val="92000"/>
              </a:lnSpc>
              <a:spcBef>
                <a:spcPts val="0"/>
              </a:spcBef>
              <a:spcAft>
                <a:spcPts val="0"/>
              </a:spcAft>
            </a:pPr>
            <a:r>
              <a:rPr lang="en-US" sz="1030" b="1">
                <a:solidFill>
                  <a:srgbClr val="FA500E"/>
                </a:solidFill>
                <a:latin typeface="Arial"/>
              </a:rPr>
              <a:t>EXISTING PARTNERS — ACTIVATE</a:t>
            </a:r>
          </a:p>
        </p:txBody>
      </p:sp>
      <p:sp>
        <p:nvSpPr>
          <p:cNvPr id="16" name="TextBox 15"/>
          <p:cNvSpPr txBox="1"/>
          <p:nvPr/>
        </p:nvSpPr>
        <p:spPr>
          <a:xfrm>
            <a:off x="8503920" y="1966983"/>
            <a:ext cx="822960" cy="131554"/>
          </a:xfrm>
          <a:prstGeom prst="rect">
            <a:avLst/>
          </a:prstGeom>
          <a:noFill/>
        </p:spPr>
        <p:txBody>
          <a:bodyPr wrap="square" lIns="0" tIns="0" rIns="0" bIns="0" anchor="ctr">
            <a:spAutoFit/>
          </a:bodyPr>
          <a:lstStyle/>
          <a:p>
            <a:pPr algn="l">
              <a:lnSpc>
                <a:spcPct val="92000"/>
              </a:lnSpc>
              <a:spcBef>
                <a:spcPts val="0"/>
              </a:spcBef>
              <a:spcAft>
                <a:spcPts val="0"/>
              </a:spcAft>
            </a:pPr>
            <a:r>
              <a:rPr lang="en-US" sz="860" b="1">
                <a:solidFill>
                  <a:srgbClr val="FA500E"/>
                </a:solidFill>
                <a:latin typeface="Arial"/>
              </a:rPr>
              <a:t>MICROSOFT</a:t>
            </a:r>
          </a:p>
        </p:txBody>
      </p:sp>
      <p:sp>
        <p:nvSpPr>
          <p:cNvPr id="17" name="TextBox 16"/>
          <p:cNvSpPr txBox="1"/>
          <p:nvPr/>
        </p:nvSpPr>
        <p:spPr>
          <a:xfrm>
            <a:off x="9372600" y="1959328"/>
            <a:ext cx="1984248" cy="257010"/>
          </a:xfrm>
          <a:prstGeom prst="rect">
            <a:avLst/>
          </a:prstGeom>
          <a:noFill/>
        </p:spPr>
        <p:txBody>
          <a:bodyPr wrap="square" lIns="0" tIns="0" rIns="0" bIns="0" anchor="ctr">
            <a:spAutoFit/>
          </a:bodyPr>
          <a:lstStyle/>
          <a:p>
            <a:pPr algn="l">
              <a:lnSpc>
                <a:spcPct val="92000"/>
              </a:lnSpc>
              <a:spcBef>
                <a:spcPts val="0"/>
              </a:spcBef>
              <a:spcAft>
                <a:spcPts val="0"/>
              </a:spcAft>
            </a:pPr>
            <a:r>
              <a:rPr lang="en-US" sz="840" b="1">
                <a:solidFill>
                  <a:srgbClr val="161623"/>
                </a:solidFill>
                <a:latin typeface="Arial"/>
              </a:rPr>
              <a:t>Deployment, procurement + funded evaluations</a:t>
            </a:r>
          </a:p>
        </p:txBody>
      </p:sp>
      <p:sp>
        <p:nvSpPr>
          <p:cNvPr id="18" name="Rectangle 17"/>
          <p:cNvSpPr>
            <a:spLocks/>
          </p:cNvSpPr>
          <p:nvPr/>
        </p:nvSpPr>
        <p:spPr>
          <a:xfrm>
            <a:off x="8503920" y="2369802"/>
            <a:ext cx="2852928" cy="9879"/>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p:cNvSpPr txBox="1"/>
          <p:nvPr/>
        </p:nvSpPr>
        <p:spPr>
          <a:xfrm>
            <a:off x="8503920" y="2421422"/>
            <a:ext cx="822960" cy="131554"/>
          </a:xfrm>
          <a:prstGeom prst="rect">
            <a:avLst/>
          </a:prstGeom>
          <a:noFill/>
        </p:spPr>
        <p:txBody>
          <a:bodyPr wrap="square" lIns="0" tIns="0" rIns="0" bIns="0" anchor="ctr">
            <a:spAutoFit/>
          </a:bodyPr>
          <a:lstStyle/>
          <a:p>
            <a:pPr algn="l">
              <a:lnSpc>
                <a:spcPct val="92000"/>
              </a:lnSpc>
              <a:spcBef>
                <a:spcPts val="0"/>
              </a:spcBef>
              <a:spcAft>
                <a:spcPts val="0"/>
              </a:spcAft>
            </a:pPr>
            <a:r>
              <a:rPr lang="en-US" sz="860" b="1">
                <a:solidFill>
                  <a:srgbClr val="FA500E"/>
                </a:solidFill>
                <a:latin typeface="Arial"/>
              </a:rPr>
              <a:t>TCS</a:t>
            </a:r>
          </a:p>
        </p:txBody>
      </p:sp>
      <p:sp>
        <p:nvSpPr>
          <p:cNvPr id="20" name="TextBox 19"/>
          <p:cNvSpPr txBox="1">
            <a:spLocks/>
          </p:cNvSpPr>
          <p:nvPr/>
        </p:nvSpPr>
        <p:spPr>
          <a:xfrm>
            <a:off x="9372600" y="2478395"/>
            <a:ext cx="1984248" cy="257010"/>
          </a:xfrm>
          <a:prstGeom prst="rect">
            <a:avLst/>
          </a:prstGeom>
          <a:noFill/>
        </p:spPr>
        <p:txBody>
          <a:bodyPr wrap="square" lIns="0" tIns="0" rIns="0" bIns="0" anchor="ctr">
            <a:spAutoFit/>
          </a:bodyPr>
          <a:lstStyle/>
          <a:p>
            <a:pPr algn="l">
              <a:lnSpc>
                <a:spcPct val="92000"/>
              </a:lnSpc>
              <a:spcBef>
                <a:spcPts val="0"/>
              </a:spcBef>
              <a:spcAft>
                <a:spcPts val="0"/>
              </a:spcAft>
            </a:pPr>
            <a:r>
              <a:rPr lang="en-US" sz="840" b="1">
                <a:solidFill>
                  <a:srgbClr val="161623"/>
                </a:solidFill>
                <a:latin typeface="Arial"/>
              </a:rPr>
              <a:t>BFSI packaging + scaled implementation</a:t>
            </a:r>
          </a:p>
        </p:txBody>
      </p:sp>
      <p:sp>
        <p:nvSpPr>
          <p:cNvPr id="21" name="Rectangle 20"/>
          <p:cNvSpPr>
            <a:spLocks/>
          </p:cNvSpPr>
          <p:nvPr/>
        </p:nvSpPr>
        <p:spPr>
          <a:xfrm>
            <a:off x="8503920" y="2824240"/>
            <a:ext cx="2852928" cy="9879"/>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TextBox 21"/>
          <p:cNvSpPr txBox="1"/>
          <p:nvPr/>
        </p:nvSpPr>
        <p:spPr>
          <a:xfrm>
            <a:off x="8503920" y="2875860"/>
            <a:ext cx="822960" cy="131554"/>
          </a:xfrm>
          <a:prstGeom prst="rect">
            <a:avLst/>
          </a:prstGeom>
          <a:noFill/>
        </p:spPr>
        <p:txBody>
          <a:bodyPr wrap="square" lIns="0" tIns="0" rIns="0" bIns="0" anchor="ctr">
            <a:spAutoFit/>
          </a:bodyPr>
          <a:lstStyle/>
          <a:p>
            <a:pPr algn="l">
              <a:lnSpc>
                <a:spcPct val="92000"/>
              </a:lnSpc>
              <a:spcBef>
                <a:spcPts val="0"/>
              </a:spcBef>
              <a:spcAft>
                <a:spcPts val="0"/>
              </a:spcAft>
            </a:pPr>
            <a:r>
              <a:rPr lang="en-US" sz="860" b="1">
                <a:solidFill>
                  <a:srgbClr val="FA500E"/>
                </a:solidFill>
                <a:latin typeface="Arial"/>
              </a:rPr>
              <a:t>ACCENTURE</a:t>
            </a:r>
          </a:p>
        </p:txBody>
      </p:sp>
      <p:sp>
        <p:nvSpPr>
          <p:cNvPr id="23" name="TextBox 22"/>
          <p:cNvSpPr txBox="1"/>
          <p:nvPr/>
        </p:nvSpPr>
        <p:spPr>
          <a:xfrm>
            <a:off x="9372600" y="2811607"/>
            <a:ext cx="1984248" cy="257010"/>
          </a:xfrm>
          <a:prstGeom prst="rect">
            <a:avLst/>
          </a:prstGeom>
          <a:noFill/>
        </p:spPr>
        <p:txBody>
          <a:bodyPr wrap="square" lIns="0" tIns="0" rIns="0" bIns="0" anchor="ctr">
            <a:spAutoFit/>
          </a:bodyPr>
          <a:lstStyle/>
          <a:p>
            <a:pPr algn="l">
              <a:lnSpc>
                <a:spcPct val="92000"/>
              </a:lnSpc>
              <a:spcBef>
                <a:spcPts val="0"/>
              </a:spcBef>
              <a:spcAft>
                <a:spcPts val="0"/>
              </a:spcAft>
            </a:pPr>
            <a:r>
              <a:rPr lang="en-US" sz="840" b="1">
                <a:solidFill>
                  <a:srgbClr val="161623"/>
                </a:solidFill>
                <a:latin typeface="Arial"/>
              </a:rPr>
              <a:t>Large transformation + enterprise rollout</a:t>
            </a:r>
          </a:p>
        </p:txBody>
      </p:sp>
      <p:sp>
        <p:nvSpPr>
          <p:cNvPr id="24" name="Rectangle 23"/>
          <p:cNvSpPr>
            <a:spLocks/>
          </p:cNvSpPr>
          <p:nvPr/>
        </p:nvSpPr>
        <p:spPr>
          <a:xfrm>
            <a:off x="8503920" y="3278679"/>
            <a:ext cx="2852928" cy="9879"/>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TextBox 24"/>
          <p:cNvSpPr txBox="1">
            <a:spLocks/>
          </p:cNvSpPr>
          <p:nvPr/>
        </p:nvSpPr>
        <p:spPr>
          <a:xfrm>
            <a:off x="8503920" y="3356149"/>
            <a:ext cx="822960" cy="131554"/>
          </a:xfrm>
          <a:prstGeom prst="rect">
            <a:avLst/>
          </a:prstGeom>
          <a:noFill/>
        </p:spPr>
        <p:txBody>
          <a:bodyPr wrap="square" lIns="0" tIns="0" rIns="0" bIns="0" anchor="ctr">
            <a:spAutoFit/>
          </a:bodyPr>
          <a:lstStyle/>
          <a:p>
            <a:pPr algn="l">
              <a:lnSpc>
                <a:spcPct val="92000"/>
              </a:lnSpc>
              <a:spcBef>
                <a:spcPts val="0"/>
              </a:spcBef>
              <a:spcAft>
                <a:spcPts val="0"/>
              </a:spcAft>
            </a:pPr>
            <a:r>
              <a:rPr lang="en-US" sz="860" b="1">
                <a:solidFill>
                  <a:srgbClr val="FA500E"/>
                </a:solidFill>
                <a:latin typeface="Arial"/>
              </a:rPr>
              <a:t>CAPGEMINI</a:t>
            </a:r>
          </a:p>
        </p:txBody>
      </p:sp>
      <p:sp>
        <p:nvSpPr>
          <p:cNvPr id="26" name="TextBox 25"/>
          <p:cNvSpPr txBox="1"/>
          <p:nvPr/>
        </p:nvSpPr>
        <p:spPr>
          <a:xfrm>
            <a:off x="9372600" y="3322645"/>
            <a:ext cx="1984248" cy="257010"/>
          </a:xfrm>
          <a:prstGeom prst="rect">
            <a:avLst/>
          </a:prstGeom>
          <a:noFill/>
        </p:spPr>
        <p:txBody>
          <a:bodyPr wrap="square" lIns="0" tIns="0" rIns="0" bIns="0" anchor="ctr">
            <a:spAutoFit/>
          </a:bodyPr>
          <a:lstStyle/>
          <a:p>
            <a:pPr algn="l">
              <a:lnSpc>
                <a:spcPct val="92000"/>
              </a:lnSpc>
              <a:spcBef>
                <a:spcPts val="0"/>
              </a:spcBef>
              <a:spcAft>
                <a:spcPts val="0"/>
              </a:spcAft>
            </a:pPr>
            <a:r>
              <a:rPr lang="en-US" sz="840" b="1">
                <a:solidFill>
                  <a:srgbClr val="161623"/>
                </a:solidFill>
                <a:latin typeface="Arial"/>
              </a:rPr>
              <a:t>Regulated implementation + European accounts</a:t>
            </a:r>
          </a:p>
        </p:txBody>
      </p:sp>
      <p:sp>
        <p:nvSpPr>
          <p:cNvPr id="27" name="Rectangle 26"/>
          <p:cNvSpPr>
            <a:spLocks/>
          </p:cNvSpPr>
          <p:nvPr/>
        </p:nvSpPr>
        <p:spPr>
          <a:xfrm>
            <a:off x="8503920" y="3733118"/>
            <a:ext cx="2852928" cy="9879"/>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TextBox 27"/>
          <p:cNvSpPr txBox="1"/>
          <p:nvPr/>
        </p:nvSpPr>
        <p:spPr>
          <a:xfrm>
            <a:off x="8503920" y="3784738"/>
            <a:ext cx="822960" cy="131554"/>
          </a:xfrm>
          <a:prstGeom prst="rect">
            <a:avLst/>
          </a:prstGeom>
          <a:noFill/>
        </p:spPr>
        <p:txBody>
          <a:bodyPr wrap="square" lIns="0" tIns="0" rIns="0" bIns="0" anchor="ctr">
            <a:spAutoFit/>
          </a:bodyPr>
          <a:lstStyle/>
          <a:p>
            <a:pPr algn="l">
              <a:lnSpc>
                <a:spcPct val="92000"/>
              </a:lnSpc>
              <a:spcBef>
                <a:spcPts val="0"/>
              </a:spcBef>
              <a:spcAft>
                <a:spcPts val="0"/>
              </a:spcAft>
            </a:pPr>
            <a:r>
              <a:rPr lang="en-US" sz="860" b="1">
                <a:solidFill>
                  <a:srgbClr val="FA500E"/>
                </a:solidFill>
                <a:latin typeface="Arial"/>
              </a:rPr>
              <a:t>NTT DATA</a:t>
            </a:r>
          </a:p>
        </p:txBody>
      </p:sp>
      <p:sp>
        <p:nvSpPr>
          <p:cNvPr id="29" name="TextBox 28"/>
          <p:cNvSpPr txBox="1"/>
          <p:nvPr/>
        </p:nvSpPr>
        <p:spPr>
          <a:xfrm>
            <a:off x="9372600" y="3784738"/>
            <a:ext cx="1984248" cy="128505"/>
          </a:xfrm>
          <a:prstGeom prst="rect">
            <a:avLst/>
          </a:prstGeom>
          <a:noFill/>
        </p:spPr>
        <p:txBody>
          <a:bodyPr wrap="square" lIns="0" tIns="0" rIns="0" bIns="0" anchor="ctr">
            <a:spAutoFit/>
          </a:bodyPr>
          <a:lstStyle/>
          <a:p>
            <a:pPr algn="l">
              <a:lnSpc>
                <a:spcPct val="92000"/>
              </a:lnSpc>
              <a:spcBef>
                <a:spcPts val="0"/>
              </a:spcBef>
              <a:spcAft>
                <a:spcPts val="0"/>
              </a:spcAft>
            </a:pPr>
            <a:r>
              <a:rPr lang="en-US" sz="840" b="1">
                <a:solidFill>
                  <a:srgbClr val="161623"/>
                </a:solidFill>
                <a:latin typeface="Arial"/>
              </a:rPr>
              <a:t>Regulated / sovereign FSI deployment</a:t>
            </a:r>
          </a:p>
        </p:txBody>
      </p:sp>
      <p:sp>
        <p:nvSpPr>
          <p:cNvPr id="30" name="Rectangle 29"/>
          <p:cNvSpPr/>
          <p:nvPr/>
        </p:nvSpPr>
        <p:spPr>
          <a:xfrm>
            <a:off x="8503920" y="4187557"/>
            <a:ext cx="2852928" cy="9879"/>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503920" y="4239177"/>
            <a:ext cx="822960" cy="131554"/>
          </a:xfrm>
          <a:prstGeom prst="rect">
            <a:avLst/>
          </a:prstGeom>
          <a:noFill/>
        </p:spPr>
        <p:txBody>
          <a:bodyPr wrap="square" lIns="0" tIns="0" rIns="0" bIns="0" anchor="ctr">
            <a:spAutoFit/>
          </a:bodyPr>
          <a:lstStyle/>
          <a:p>
            <a:pPr algn="l">
              <a:lnSpc>
                <a:spcPct val="92000"/>
              </a:lnSpc>
              <a:spcBef>
                <a:spcPts val="0"/>
              </a:spcBef>
              <a:spcAft>
                <a:spcPts val="0"/>
              </a:spcAft>
            </a:pPr>
            <a:r>
              <a:rPr lang="en-US" sz="860" b="1">
                <a:solidFill>
                  <a:srgbClr val="FA500E"/>
                </a:solidFill>
                <a:latin typeface="Arial"/>
              </a:rPr>
              <a:t>ARTEFACT</a:t>
            </a:r>
          </a:p>
        </p:txBody>
      </p:sp>
      <p:sp>
        <p:nvSpPr>
          <p:cNvPr id="32" name="TextBox 31"/>
          <p:cNvSpPr txBox="1"/>
          <p:nvPr/>
        </p:nvSpPr>
        <p:spPr>
          <a:xfrm>
            <a:off x="9372600" y="4239177"/>
            <a:ext cx="1984248" cy="128505"/>
          </a:xfrm>
          <a:prstGeom prst="rect">
            <a:avLst/>
          </a:prstGeom>
          <a:noFill/>
        </p:spPr>
        <p:txBody>
          <a:bodyPr wrap="square" lIns="0" tIns="0" rIns="0" bIns="0" anchor="ctr">
            <a:spAutoFit/>
          </a:bodyPr>
          <a:lstStyle/>
          <a:p>
            <a:pPr algn="l">
              <a:lnSpc>
                <a:spcPct val="92000"/>
              </a:lnSpc>
              <a:spcBef>
                <a:spcPts val="0"/>
              </a:spcBef>
              <a:spcAft>
                <a:spcPts val="0"/>
              </a:spcAft>
            </a:pPr>
            <a:r>
              <a:rPr lang="en-US" sz="840" b="1">
                <a:solidFill>
                  <a:srgbClr val="161623"/>
                </a:solidFill>
                <a:latin typeface="Arial"/>
              </a:rPr>
              <a:t>Private-market document intelligence</a:t>
            </a:r>
          </a:p>
        </p:txBody>
      </p:sp>
      <p:sp>
        <p:nvSpPr>
          <p:cNvPr id="33" name="Rectangle 32"/>
          <p:cNvSpPr>
            <a:spLocks/>
          </p:cNvSpPr>
          <p:nvPr/>
        </p:nvSpPr>
        <p:spPr>
          <a:xfrm>
            <a:off x="841248" y="4997644"/>
            <a:ext cx="10515600" cy="24698"/>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TextBox 33"/>
          <p:cNvSpPr txBox="1"/>
          <p:nvPr/>
        </p:nvSpPr>
        <p:spPr>
          <a:xfrm>
            <a:off x="841248" y="5078901"/>
            <a:ext cx="2926080" cy="168269"/>
          </a:xfrm>
          <a:prstGeom prst="rect">
            <a:avLst/>
          </a:prstGeom>
          <a:noFill/>
        </p:spPr>
        <p:txBody>
          <a:bodyPr wrap="square" lIns="0" tIns="0" rIns="0" bIns="0" anchor="ctr">
            <a:spAutoFit/>
          </a:bodyPr>
          <a:lstStyle/>
          <a:p>
            <a:pPr algn="l">
              <a:lnSpc>
                <a:spcPct val="92000"/>
              </a:lnSpc>
              <a:spcBef>
                <a:spcPts val="0"/>
              </a:spcBef>
              <a:spcAft>
                <a:spcPts val="0"/>
              </a:spcAft>
            </a:pPr>
            <a:r>
              <a:rPr lang="en-US" sz="1100" b="1">
                <a:solidFill>
                  <a:srgbClr val="FA500E"/>
                </a:solidFill>
                <a:latin typeface="Arial"/>
              </a:rPr>
              <a:t>PARTNER REVENUE MOTION</a:t>
            </a:r>
          </a:p>
        </p:txBody>
      </p:sp>
      <p:sp>
        <p:nvSpPr>
          <p:cNvPr id="35" name="Rectangle 34"/>
          <p:cNvSpPr/>
          <p:nvPr/>
        </p:nvSpPr>
        <p:spPr>
          <a:xfrm>
            <a:off x="841248" y="5382929"/>
            <a:ext cx="1716024" cy="276615"/>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92000"/>
              </a:lnSpc>
              <a:spcBef>
                <a:spcPts val="0"/>
              </a:spcBef>
              <a:spcAft>
                <a:spcPts val="0"/>
              </a:spcAft>
            </a:pPr>
            <a:r>
              <a:rPr lang="en-US" sz="930" b="1">
                <a:solidFill>
                  <a:srgbClr val="FFFFFF"/>
                </a:solidFill>
                <a:latin typeface="Arial"/>
              </a:rPr>
              <a:t>ACCOUNT MAP</a:t>
            </a:r>
          </a:p>
        </p:txBody>
      </p:sp>
      <p:sp>
        <p:nvSpPr>
          <p:cNvPr id="36" name="TextBox 35"/>
          <p:cNvSpPr txBox="1"/>
          <p:nvPr/>
        </p:nvSpPr>
        <p:spPr>
          <a:xfrm>
            <a:off x="841248" y="5692202"/>
            <a:ext cx="1716024" cy="122339"/>
          </a:xfrm>
          <a:prstGeom prst="rect">
            <a:avLst/>
          </a:prstGeom>
          <a:noFill/>
        </p:spPr>
        <p:txBody>
          <a:bodyPr wrap="square" lIns="0" tIns="0" rIns="0" bIns="0" anchor="ctr">
            <a:spAutoFit/>
          </a:bodyPr>
          <a:lstStyle/>
          <a:p>
            <a:pPr algn="ctr">
              <a:lnSpc>
                <a:spcPct val="92000"/>
              </a:lnSpc>
              <a:spcBef>
                <a:spcPts val="0"/>
              </a:spcBef>
              <a:spcAft>
                <a:spcPts val="0"/>
              </a:spcAft>
            </a:pPr>
            <a:r>
              <a:rPr lang="en-US" sz="800" b="0">
                <a:solidFill>
                  <a:srgbClr val="62544F"/>
                </a:solidFill>
                <a:latin typeface="Arial"/>
              </a:rPr>
              <a:t>Overlap</a:t>
            </a:r>
          </a:p>
        </p:txBody>
      </p:sp>
      <p:sp>
        <p:nvSpPr>
          <p:cNvPr id="37" name="Rectangle 36"/>
          <p:cNvSpPr>
            <a:spLocks/>
          </p:cNvSpPr>
          <p:nvPr/>
        </p:nvSpPr>
        <p:spPr>
          <a:xfrm>
            <a:off x="2593848" y="5382929"/>
            <a:ext cx="1716024" cy="276615"/>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92000"/>
              </a:lnSpc>
              <a:spcBef>
                <a:spcPts val="0"/>
              </a:spcBef>
              <a:spcAft>
                <a:spcPts val="0"/>
              </a:spcAft>
            </a:pPr>
            <a:r>
              <a:rPr lang="en-US" sz="930" b="1">
                <a:solidFill>
                  <a:srgbClr val="FFFFFF"/>
                </a:solidFill>
                <a:latin typeface="Arial"/>
              </a:rPr>
              <a:t>PACKAGE</a:t>
            </a:r>
          </a:p>
        </p:txBody>
      </p:sp>
      <p:sp>
        <p:nvSpPr>
          <p:cNvPr id="38" name="TextBox 37"/>
          <p:cNvSpPr txBox="1"/>
          <p:nvPr/>
        </p:nvSpPr>
        <p:spPr>
          <a:xfrm>
            <a:off x="2593848" y="5692202"/>
            <a:ext cx="1716024" cy="122339"/>
          </a:xfrm>
          <a:prstGeom prst="rect">
            <a:avLst/>
          </a:prstGeom>
          <a:noFill/>
        </p:spPr>
        <p:txBody>
          <a:bodyPr wrap="square" lIns="0" tIns="0" rIns="0" bIns="0" anchor="ctr">
            <a:spAutoFit/>
          </a:bodyPr>
          <a:lstStyle/>
          <a:p>
            <a:pPr algn="ctr">
              <a:lnSpc>
                <a:spcPct val="92000"/>
              </a:lnSpc>
              <a:spcBef>
                <a:spcPts val="0"/>
              </a:spcBef>
              <a:spcAft>
                <a:spcPts val="0"/>
              </a:spcAft>
            </a:pPr>
            <a:r>
              <a:rPr lang="en-US" sz="800" b="0">
                <a:solidFill>
                  <a:srgbClr val="62544F"/>
                </a:solidFill>
                <a:latin typeface="Arial"/>
              </a:rPr>
              <a:t>Joint offer</a:t>
            </a:r>
          </a:p>
        </p:txBody>
      </p:sp>
      <p:sp>
        <p:nvSpPr>
          <p:cNvPr id="39" name="Rectangle 38"/>
          <p:cNvSpPr/>
          <p:nvPr/>
        </p:nvSpPr>
        <p:spPr>
          <a:xfrm>
            <a:off x="4346448" y="5382929"/>
            <a:ext cx="1716024" cy="276615"/>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92000"/>
              </a:lnSpc>
              <a:spcBef>
                <a:spcPts val="0"/>
              </a:spcBef>
              <a:spcAft>
                <a:spcPts val="0"/>
              </a:spcAft>
            </a:pPr>
            <a:r>
              <a:rPr lang="en-US" sz="930" b="1">
                <a:solidFill>
                  <a:srgbClr val="FFFFFF"/>
                </a:solidFill>
                <a:latin typeface="Arial"/>
              </a:rPr>
              <a:t>PILOT</a:t>
            </a:r>
          </a:p>
        </p:txBody>
      </p:sp>
      <p:sp>
        <p:nvSpPr>
          <p:cNvPr id="40" name="TextBox 39"/>
          <p:cNvSpPr txBox="1"/>
          <p:nvPr/>
        </p:nvSpPr>
        <p:spPr>
          <a:xfrm>
            <a:off x="4346448" y="5692202"/>
            <a:ext cx="1716024" cy="122339"/>
          </a:xfrm>
          <a:prstGeom prst="rect">
            <a:avLst/>
          </a:prstGeom>
          <a:noFill/>
        </p:spPr>
        <p:txBody>
          <a:bodyPr wrap="square" lIns="0" tIns="0" rIns="0" bIns="0" anchor="ctr">
            <a:spAutoFit/>
          </a:bodyPr>
          <a:lstStyle/>
          <a:p>
            <a:pPr algn="ctr">
              <a:lnSpc>
                <a:spcPct val="92000"/>
              </a:lnSpc>
              <a:spcBef>
                <a:spcPts val="0"/>
              </a:spcBef>
              <a:spcAft>
                <a:spcPts val="0"/>
              </a:spcAft>
            </a:pPr>
            <a:r>
              <a:rPr lang="en-US" sz="800" b="0">
                <a:solidFill>
                  <a:srgbClr val="62544F"/>
                </a:solidFill>
                <a:latin typeface="Arial"/>
              </a:rPr>
              <a:t>One proof</a:t>
            </a:r>
          </a:p>
        </p:txBody>
      </p:sp>
      <p:sp>
        <p:nvSpPr>
          <p:cNvPr id="41" name="Rectangle 40"/>
          <p:cNvSpPr>
            <a:spLocks/>
          </p:cNvSpPr>
          <p:nvPr/>
        </p:nvSpPr>
        <p:spPr>
          <a:xfrm>
            <a:off x="6099048" y="5382929"/>
            <a:ext cx="1716024" cy="276615"/>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92000"/>
              </a:lnSpc>
              <a:spcBef>
                <a:spcPts val="0"/>
              </a:spcBef>
              <a:spcAft>
                <a:spcPts val="0"/>
              </a:spcAft>
            </a:pPr>
            <a:r>
              <a:rPr lang="en-US" sz="930" b="1">
                <a:solidFill>
                  <a:srgbClr val="FFFFFF"/>
                </a:solidFill>
                <a:latin typeface="Arial"/>
              </a:rPr>
              <a:t>CO-SELL</a:t>
            </a:r>
          </a:p>
        </p:txBody>
      </p:sp>
      <p:sp>
        <p:nvSpPr>
          <p:cNvPr id="42" name="TextBox 41"/>
          <p:cNvSpPr txBox="1"/>
          <p:nvPr/>
        </p:nvSpPr>
        <p:spPr>
          <a:xfrm>
            <a:off x="6099048" y="5692202"/>
            <a:ext cx="1716024" cy="122339"/>
          </a:xfrm>
          <a:prstGeom prst="rect">
            <a:avLst/>
          </a:prstGeom>
          <a:noFill/>
        </p:spPr>
        <p:txBody>
          <a:bodyPr wrap="square" lIns="0" tIns="0" rIns="0" bIns="0" anchor="ctr">
            <a:spAutoFit/>
          </a:bodyPr>
          <a:lstStyle/>
          <a:p>
            <a:pPr algn="ctr">
              <a:lnSpc>
                <a:spcPct val="92000"/>
              </a:lnSpc>
              <a:spcBef>
                <a:spcPts val="0"/>
              </a:spcBef>
              <a:spcAft>
                <a:spcPts val="0"/>
              </a:spcAft>
            </a:pPr>
            <a:r>
              <a:rPr lang="en-US" sz="800" b="0">
                <a:solidFill>
                  <a:srgbClr val="62544F"/>
                </a:solidFill>
                <a:latin typeface="Arial"/>
              </a:rPr>
              <a:t>Shared accounts</a:t>
            </a:r>
          </a:p>
        </p:txBody>
      </p:sp>
      <p:sp>
        <p:nvSpPr>
          <p:cNvPr id="43" name="Rectangle 42"/>
          <p:cNvSpPr/>
          <p:nvPr/>
        </p:nvSpPr>
        <p:spPr>
          <a:xfrm>
            <a:off x="7851648" y="5382929"/>
            <a:ext cx="1716024" cy="276615"/>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92000"/>
              </a:lnSpc>
              <a:spcBef>
                <a:spcPts val="0"/>
              </a:spcBef>
              <a:spcAft>
                <a:spcPts val="0"/>
              </a:spcAft>
            </a:pPr>
            <a:r>
              <a:rPr lang="en-US" sz="930" b="1">
                <a:solidFill>
                  <a:srgbClr val="FFFFFF"/>
                </a:solidFill>
                <a:latin typeface="Arial"/>
              </a:rPr>
              <a:t>ENABLE</a:t>
            </a:r>
          </a:p>
        </p:txBody>
      </p:sp>
      <p:sp>
        <p:nvSpPr>
          <p:cNvPr id="44" name="TextBox 43"/>
          <p:cNvSpPr txBox="1"/>
          <p:nvPr/>
        </p:nvSpPr>
        <p:spPr>
          <a:xfrm>
            <a:off x="7851648" y="5692202"/>
            <a:ext cx="1716024" cy="122339"/>
          </a:xfrm>
          <a:prstGeom prst="rect">
            <a:avLst/>
          </a:prstGeom>
          <a:noFill/>
        </p:spPr>
        <p:txBody>
          <a:bodyPr wrap="square" lIns="0" tIns="0" rIns="0" bIns="0" anchor="ctr">
            <a:spAutoFit/>
          </a:bodyPr>
          <a:lstStyle/>
          <a:p>
            <a:pPr algn="ctr">
              <a:lnSpc>
                <a:spcPct val="92000"/>
              </a:lnSpc>
              <a:spcBef>
                <a:spcPts val="0"/>
              </a:spcBef>
              <a:spcAft>
                <a:spcPts val="0"/>
              </a:spcAft>
            </a:pPr>
            <a:r>
              <a:rPr lang="en-US" sz="800" b="0">
                <a:solidFill>
                  <a:srgbClr val="62544F"/>
                </a:solidFill>
                <a:latin typeface="Arial"/>
              </a:rPr>
              <a:t>Partner field</a:t>
            </a:r>
          </a:p>
        </p:txBody>
      </p:sp>
      <p:sp>
        <p:nvSpPr>
          <p:cNvPr id="45" name="Rectangle 44"/>
          <p:cNvSpPr>
            <a:spLocks/>
          </p:cNvSpPr>
          <p:nvPr/>
        </p:nvSpPr>
        <p:spPr>
          <a:xfrm>
            <a:off x="9604248" y="5382929"/>
            <a:ext cx="1716024" cy="276615"/>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92000"/>
              </a:lnSpc>
              <a:spcBef>
                <a:spcPts val="0"/>
              </a:spcBef>
              <a:spcAft>
                <a:spcPts val="0"/>
              </a:spcAft>
            </a:pPr>
            <a:r>
              <a:rPr lang="en-US" sz="930" b="1">
                <a:solidFill>
                  <a:srgbClr val="FFFFFF"/>
                </a:solidFill>
                <a:latin typeface="Arial"/>
              </a:rPr>
              <a:t>REPEAT</a:t>
            </a:r>
          </a:p>
        </p:txBody>
      </p:sp>
      <p:sp>
        <p:nvSpPr>
          <p:cNvPr id="46" name="TextBox 45"/>
          <p:cNvSpPr txBox="1"/>
          <p:nvPr/>
        </p:nvSpPr>
        <p:spPr>
          <a:xfrm>
            <a:off x="9604248" y="5692202"/>
            <a:ext cx="1716024" cy="122339"/>
          </a:xfrm>
          <a:prstGeom prst="rect">
            <a:avLst/>
          </a:prstGeom>
          <a:noFill/>
        </p:spPr>
        <p:txBody>
          <a:bodyPr wrap="square" lIns="0" tIns="0" rIns="0" bIns="0" anchor="ctr">
            <a:spAutoFit/>
          </a:bodyPr>
          <a:lstStyle/>
          <a:p>
            <a:pPr algn="ctr">
              <a:lnSpc>
                <a:spcPct val="92000"/>
              </a:lnSpc>
              <a:spcBef>
                <a:spcPts val="0"/>
              </a:spcBef>
              <a:spcAft>
                <a:spcPts val="0"/>
              </a:spcAft>
            </a:pPr>
            <a:r>
              <a:rPr lang="en-US" sz="800" b="0">
                <a:solidFill>
                  <a:srgbClr val="62544F"/>
                </a:solidFill>
                <a:latin typeface="Arial"/>
              </a:rPr>
              <a:t>Scale revenue</a:t>
            </a:r>
          </a:p>
        </p:txBody>
      </p:sp>
      <p:sp>
        <p:nvSpPr>
          <p:cNvPr id="47" name="Rectangle 46"/>
          <p:cNvSpPr/>
          <p:nvPr/>
        </p:nvSpPr>
        <p:spPr>
          <a:xfrm>
            <a:off x="841248" y="6005313"/>
            <a:ext cx="10515600" cy="276615"/>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ctr"/>
          <a:lstStyle/>
          <a:p>
            <a:pPr algn="ctr">
              <a:lnSpc>
                <a:spcPct val="92000"/>
              </a:lnSpc>
              <a:spcBef>
                <a:spcPts val="0"/>
              </a:spcBef>
              <a:spcAft>
                <a:spcPts val="0"/>
              </a:spcAft>
            </a:pPr>
            <a:r>
              <a:rPr lang="en-US" sz="919" b="1">
                <a:solidFill>
                  <a:srgbClr val="FFFFFF"/>
                </a:solidFill>
                <a:latin typeface="Arial"/>
              </a:rPr>
              <a:t>PMM   choose motion → package proof → enable both fields      |      MEASURE   partner-influenced pipeline → evaluations → progression → revenue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8F2"/>
        </a:solidFill>
        <a:effectLst/>
      </p:bgPr>
    </p:bg>
    <p:spTree>
      <p:nvGrpSpPr>
        <p:cNvPr id="1" name=""/>
        <p:cNvGrpSpPr/>
        <p:nvPr/>
      </p:nvGrpSpPr>
      <p:grpSpPr>
        <a:xfrm>
          <a:off x="0" y="0"/>
          <a:ext cx="0" cy="0"/>
          <a:chOff x="0" y="0"/>
          <a:chExt cx="0" cy="0"/>
        </a:xfrm>
      </p:grpSpPr>
      <p:sp>
        <p:nvSpPr>
          <p:cNvPr id="2" name="Rectangle 1"/>
          <p:cNvSpPr/>
          <p:nvPr/>
        </p:nvSpPr>
        <p:spPr>
          <a:xfrm>
            <a:off x="612648" y="265176"/>
            <a:ext cx="73152" cy="740664"/>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endParaRPr>
          </a:p>
        </p:txBody>
      </p:sp>
      <p:sp>
        <p:nvSpPr>
          <p:cNvPr id="3" name="TextBox 2"/>
          <p:cNvSpPr txBox="1"/>
          <p:nvPr/>
        </p:nvSpPr>
        <p:spPr>
          <a:xfrm>
            <a:off x="841248" y="256032"/>
            <a:ext cx="4206240" cy="173736"/>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A500E"/>
                </a:solidFill>
                <a:effectLst/>
                <a:uLnTx/>
                <a:uFillTx/>
                <a:latin typeface="Arial"/>
                <a:ea typeface="Calibri"/>
                <a:cs typeface="Calibri"/>
              </a:rPr>
              <a:t>FSI FIELD READINESS GATE</a:t>
            </a:r>
            <a:endParaRPr kumimoji="0" sz="975" b="1" i="0" u="none" strike="noStrike" kern="1200" cap="none" spc="0" normalizeH="0" baseline="0" noProof="0" dirty="0">
              <a:ln>
                <a:noFill/>
              </a:ln>
              <a:solidFill>
                <a:srgbClr val="FA500E"/>
              </a:solidFill>
              <a:effectLst/>
              <a:uLnTx/>
              <a:uFillTx/>
              <a:latin typeface="Arial"/>
              <a:ea typeface="Calibri"/>
              <a:cs typeface="Calibri"/>
            </a:endParaRPr>
          </a:p>
        </p:txBody>
      </p:sp>
      <p:sp>
        <p:nvSpPr>
          <p:cNvPr id="4" name="TextBox 3"/>
          <p:cNvSpPr txBox="1"/>
          <p:nvPr/>
        </p:nvSpPr>
        <p:spPr>
          <a:xfrm>
            <a:off x="841248" y="457200"/>
            <a:ext cx="10515600" cy="530352"/>
          </a:xfrm>
          <a:prstGeom prst="rect">
            <a:avLst/>
          </a:prstGeom>
          <a:noFill/>
        </p:spPr>
        <p:txBody>
          <a:bodyPr wrap="square" lIns="0" tIns="0" rIns="0" bIns="0" anchor="t">
            <a:spAutoFit/>
          </a:bodyPr>
          <a:lstStyle/>
          <a:p>
            <a:pPr marL="0" marR="0" lvl="0" indent="0" algn="l" defTabSz="914400" eaLnBrk="1" fontAlgn="auto" latinLnBrk="0" hangingPunct="1">
              <a:lnSpc>
                <a:spcPct val="95000"/>
              </a:lnSpc>
              <a:spcBef>
                <a:spcPts val="0"/>
              </a:spcBef>
              <a:spcAft>
                <a:spcPts val="0"/>
              </a:spcAft>
              <a:buClrTx/>
              <a:buSzTx/>
              <a:buFontTx/>
              <a:buNone/>
              <a:tabLst/>
              <a:defRPr/>
            </a:pPr>
            <a:r>
              <a:rPr kumimoji="0" lang="en-US" sz="3600" b="1" i="0" u="none" strike="noStrike" kern="1200" cap="none" spc="0" normalizeH="0" baseline="0" noProof="0">
                <a:ln>
                  <a:noFill/>
                </a:ln>
                <a:solidFill>
                  <a:srgbClr val="161623"/>
                </a:solidFill>
                <a:effectLst/>
                <a:uLnTx/>
                <a:uFillTx/>
                <a:latin typeface="Tiny5"/>
                <a:ea typeface="Calibri"/>
                <a:cs typeface="Calibri"/>
              </a:rPr>
              <a:t>SIX GATES TO PRODUCTION READINESS</a:t>
            </a:r>
          </a:p>
        </p:txBody>
      </p:sp>
      <p:pic>
        <p:nvPicPr>
          <p:cNvPr id="6" name="Mistral company monogram — merged enablement slide" descr="image.png"/>
          <p:cNvPicPr>
            <a:picLocks noChangeAspect="1"/>
          </p:cNvPicPr>
          <p:nvPr/>
        </p:nvPicPr>
        <p:blipFill>
          <a:blip r:embed="rId3"/>
          <a:stretch>
            <a:fillRect/>
          </a:stretch>
        </p:blipFill>
        <p:spPr>
          <a:xfrm>
            <a:off x="11658600" y="182880"/>
            <a:ext cx="347472" cy="347472"/>
          </a:xfrm>
          <a:prstGeom prst="rect">
            <a:avLst/>
          </a:prstGeom>
        </p:spPr>
      </p:pic>
      <p:sp>
        <p:nvSpPr>
          <p:cNvPr id="91" name="Rectangle 90"/>
          <p:cNvSpPr/>
          <p:nvPr/>
        </p:nvSpPr>
        <p:spPr>
          <a:xfrm>
            <a:off x="612648" y="6556248"/>
            <a:ext cx="10972800" cy="9144"/>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endParaRPr>
          </a:p>
        </p:txBody>
      </p:sp>
      <p:sp>
        <p:nvSpPr>
          <p:cNvPr id="92" name="TextBox 91"/>
          <p:cNvSpPr txBox="1"/>
          <p:nvPr/>
        </p:nvSpPr>
        <p:spPr>
          <a:xfrm>
            <a:off x="612648" y="6620256"/>
            <a:ext cx="4005072" cy="128016"/>
          </a:xfrm>
          <a:prstGeom prst="rect">
            <a:avLst/>
          </a:prstGeom>
          <a:noFill/>
        </p:spPr>
        <p:txBody>
          <a:bodyPr wrap="square" lIns="0" tIns="0" rIns="0" bIns="0" anchor="ctr">
            <a:noAutofit/>
          </a:bodyPr>
          <a:lstStyle/>
          <a:p>
            <a:pPr marL="0" marR="0" lvl="0" indent="0" algn="l" defTabSz="914400" eaLnBrk="1" fontAlgn="auto" latinLnBrk="0" hangingPunct="1">
              <a:lnSpc>
                <a:spcPct val="105000"/>
              </a:lnSpc>
              <a:spcBef>
                <a:spcPts val="0"/>
              </a:spcBef>
              <a:spcAft>
                <a:spcPts val="0"/>
              </a:spcAft>
              <a:buClrTx/>
              <a:buSzTx/>
              <a:buFontTx/>
              <a:buNone/>
              <a:tabLst/>
              <a:defRPr sz="750" b="0">
                <a:solidFill>
                  <a:srgbClr val="5A554B"/>
                </a:solidFill>
                <a:latin typeface="Arial"/>
                <a:ea typeface="Arial"/>
                <a:cs typeface="Arial"/>
              </a:defRPr>
            </a:pPr>
            <a:r>
              <a:rPr kumimoji="0" lang="en-US" sz="900" b="0" i="0" u="none" strike="noStrike" kern="1200" cap="none" spc="0" normalizeH="0" baseline="0" noProof="0">
                <a:ln>
                  <a:noFill/>
                </a:ln>
                <a:solidFill>
                  <a:srgbClr val="62544F"/>
                </a:solidFill>
                <a:effectLst/>
                <a:uLnTx/>
                <a:uFillTx/>
                <a:latin typeface="Arial"/>
                <a:ea typeface="Arial"/>
                <a:cs typeface="Arial"/>
              </a:rPr>
              <a:t>SHIV  ·  PMM CANDIDATE  ·  18 AUG 2026</a:t>
            </a:r>
          </a:p>
        </p:txBody>
      </p:sp>
      <p:sp>
        <p:nvSpPr>
          <p:cNvPr id="93" name="TextBox 92"/>
          <p:cNvSpPr txBox="1"/>
          <p:nvPr/>
        </p:nvSpPr>
        <p:spPr>
          <a:xfrm>
            <a:off x="11237976" y="6620256"/>
            <a:ext cx="347472" cy="128016"/>
          </a:xfrm>
          <a:prstGeom prst="rect">
            <a:avLst/>
          </a:prstGeom>
          <a:noFill/>
        </p:spPr>
        <p:txBody>
          <a:bodyPr wrap="square" lIns="0" tIns="0" rIns="0" bIns="0" anchor="ctr">
            <a:noAutofit/>
          </a:bodyPr>
          <a:lstStyle/>
          <a:p>
            <a:pPr algn="r">
              <a:lnSpc>
                <a:spcPct val="92000"/>
              </a:lnSpc>
              <a:spcBef>
                <a:spcPts val="0"/>
              </a:spcBef>
              <a:spcAft>
                <a:spcPts val="0"/>
              </a:spcAft>
            </a:pPr>
            <a:r>
              <a:rPr lang="en-US" sz="900" b="0">
                <a:solidFill>
                  <a:srgbClr val="62544F"/>
                </a:solidFill>
                <a:latin typeface="Silkscreen"/>
              </a:rPr>
              <a:t>10</a:t>
            </a:r>
          </a:p>
        </p:txBody>
      </p:sp>
      <p:sp>
        <p:nvSpPr>
          <p:cNvPr id="94" name="TextBox 93"/>
          <p:cNvSpPr txBox="1"/>
          <p:nvPr/>
        </p:nvSpPr>
        <p:spPr>
          <a:xfrm>
            <a:off x="841248" y="1069848"/>
            <a:ext cx="10515600" cy="228600"/>
          </a:xfrm>
          <a:prstGeom prst="rect">
            <a:avLst/>
          </a:prstGeom>
          <a:noFill/>
        </p:spPr>
        <p:txBody>
          <a:bodyPr wrap="square" lIns="0" tIns="0" rIns="0" bIns="0" anchor="ctr">
            <a:spAutoFit/>
          </a:bodyPr>
          <a:lstStyle/>
          <a:p>
            <a:pPr algn="l"/>
            <a:r>
              <a:rPr lang="en-US" sz="1450" b="0">
                <a:solidFill>
                  <a:srgbClr val="62544F"/>
                </a:solidFill>
                <a:latin typeface="Arial"/>
              </a:rPr>
              <a:t>Approval opens the evaluation; production follows only after quality, operating value and a buying decision are proven.</a:t>
            </a:r>
          </a:p>
        </p:txBody>
      </p:sp>
      <p:sp>
        <p:nvSpPr>
          <p:cNvPr id="95" name="TextBox 94"/>
          <p:cNvSpPr txBox="1"/>
          <p:nvPr/>
        </p:nvSpPr>
        <p:spPr>
          <a:xfrm>
            <a:off x="841248" y="1426464"/>
            <a:ext cx="3108960" cy="169277"/>
          </a:xfrm>
          <a:prstGeom prst="rect">
            <a:avLst/>
          </a:prstGeom>
          <a:noFill/>
        </p:spPr>
        <p:txBody>
          <a:bodyPr wrap="square" lIns="0" tIns="0" rIns="0" bIns="0" anchor="ctr">
            <a:spAutoFit/>
          </a:bodyPr>
          <a:lstStyle/>
          <a:p>
            <a:pPr algn="l"/>
            <a:r>
              <a:rPr lang="en-US" sz="1100" b="1">
                <a:solidFill>
                  <a:srgbClr val="FA500E"/>
                </a:solidFill>
                <a:latin typeface="Arial"/>
              </a:rPr>
              <a:t>01  PERMISSION TO OPERATE</a:t>
            </a:r>
          </a:p>
        </p:txBody>
      </p:sp>
      <p:sp>
        <p:nvSpPr>
          <p:cNvPr id="96" name="TextBox 95"/>
          <p:cNvSpPr txBox="1">
            <a:spLocks/>
          </p:cNvSpPr>
          <p:nvPr/>
        </p:nvSpPr>
        <p:spPr>
          <a:xfrm>
            <a:off x="6537960" y="1426464"/>
            <a:ext cx="4818888" cy="182880"/>
          </a:xfrm>
          <a:prstGeom prst="rect">
            <a:avLst/>
          </a:prstGeom>
          <a:noFill/>
        </p:spPr>
        <p:txBody>
          <a:bodyPr wrap="square" lIns="0" tIns="0" rIns="0" bIns="0" anchor="ctr">
            <a:spAutoFit/>
          </a:bodyPr>
          <a:lstStyle/>
          <a:p>
            <a:pPr algn="r"/>
            <a:r>
              <a:rPr lang="en-US" sz="1000" b="1">
                <a:solidFill>
                  <a:srgbClr val="62544F"/>
                </a:solidFill>
                <a:latin typeface="Arial"/>
              </a:rPr>
              <a:t>ARCHITECTURE + GOVERNANCE + HUMAN CONTROL</a:t>
            </a:r>
          </a:p>
        </p:txBody>
      </p:sp>
      <p:sp>
        <p:nvSpPr>
          <p:cNvPr id="97" name="Rectangle 96"/>
          <p:cNvSpPr/>
          <p:nvPr/>
        </p:nvSpPr>
        <p:spPr>
          <a:xfrm>
            <a:off x="841248" y="1682496"/>
            <a:ext cx="10515600" cy="22860"/>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 name="TextBox 97"/>
          <p:cNvSpPr txBox="1">
            <a:spLocks/>
          </p:cNvSpPr>
          <p:nvPr/>
        </p:nvSpPr>
        <p:spPr>
          <a:xfrm>
            <a:off x="841248" y="3657600"/>
            <a:ext cx="3108960" cy="182880"/>
          </a:xfrm>
          <a:prstGeom prst="rect">
            <a:avLst/>
          </a:prstGeom>
          <a:noFill/>
        </p:spPr>
        <p:txBody>
          <a:bodyPr wrap="square" lIns="0" tIns="0" rIns="0" bIns="0" anchor="ctr">
            <a:spAutoFit/>
          </a:bodyPr>
          <a:lstStyle/>
          <a:p>
            <a:pPr algn="l"/>
            <a:r>
              <a:rPr lang="en-US" sz="1100" b="1">
                <a:solidFill>
                  <a:srgbClr val="FA500E"/>
                </a:solidFill>
                <a:latin typeface="Arial"/>
              </a:rPr>
              <a:t>02  PROOF TO PRODUCE</a:t>
            </a:r>
          </a:p>
        </p:txBody>
      </p:sp>
      <p:sp>
        <p:nvSpPr>
          <p:cNvPr id="99" name="TextBox 98"/>
          <p:cNvSpPr txBox="1">
            <a:spLocks/>
          </p:cNvSpPr>
          <p:nvPr/>
        </p:nvSpPr>
        <p:spPr>
          <a:xfrm>
            <a:off x="6583680" y="3657600"/>
            <a:ext cx="4773168" cy="182880"/>
          </a:xfrm>
          <a:prstGeom prst="rect">
            <a:avLst/>
          </a:prstGeom>
          <a:noFill/>
        </p:spPr>
        <p:txBody>
          <a:bodyPr wrap="square" lIns="0" tIns="0" rIns="0" bIns="0" anchor="ctr">
            <a:spAutoFit/>
          </a:bodyPr>
          <a:lstStyle/>
          <a:p>
            <a:pPr algn="r"/>
            <a:r>
              <a:rPr lang="en-US" sz="1000" b="1">
                <a:solidFill>
                  <a:srgbClr val="62544F"/>
                </a:solidFill>
                <a:latin typeface="Arial"/>
              </a:rPr>
              <a:t>QUALITY + CLASSIFICATION + DELIVERY OWNERSHIP</a:t>
            </a:r>
          </a:p>
        </p:txBody>
      </p:sp>
      <p:sp>
        <p:nvSpPr>
          <p:cNvPr id="100" name="Rectangle 99"/>
          <p:cNvSpPr/>
          <p:nvPr/>
        </p:nvSpPr>
        <p:spPr>
          <a:xfrm>
            <a:off x="841248" y="3913632"/>
            <a:ext cx="10515600" cy="22860"/>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 name="Rectangle 100"/>
          <p:cNvSpPr/>
          <p:nvPr/>
        </p:nvSpPr>
        <p:spPr>
          <a:xfrm>
            <a:off x="4261104" y="1810512"/>
            <a:ext cx="10972" cy="1572768"/>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2" name="Rectangle 101"/>
          <p:cNvSpPr/>
          <p:nvPr/>
        </p:nvSpPr>
        <p:spPr>
          <a:xfrm>
            <a:off x="4261104" y="4041648"/>
            <a:ext cx="10972" cy="1572768"/>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3" name="Rectangle 102"/>
          <p:cNvSpPr/>
          <p:nvPr/>
        </p:nvSpPr>
        <p:spPr>
          <a:xfrm>
            <a:off x="7836408" y="1810512"/>
            <a:ext cx="10972" cy="1572768"/>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 name="Rectangle 103"/>
          <p:cNvSpPr/>
          <p:nvPr/>
        </p:nvSpPr>
        <p:spPr>
          <a:xfrm>
            <a:off x="7836408" y="4041648"/>
            <a:ext cx="10972" cy="1572768"/>
          </a:xfrm>
          <a:prstGeom prst="rect">
            <a:avLst/>
          </a:prstGeom>
          <a:solidFill>
            <a:srgbClr val="E8C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 name="TextBox 104"/>
          <p:cNvSpPr txBox="1"/>
          <p:nvPr/>
        </p:nvSpPr>
        <p:spPr>
          <a:xfrm>
            <a:off x="841248" y="1794007"/>
            <a:ext cx="502920" cy="261610"/>
          </a:xfrm>
          <a:prstGeom prst="rect">
            <a:avLst/>
          </a:prstGeom>
          <a:noFill/>
        </p:spPr>
        <p:txBody>
          <a:bodyPr wrap="square" lIns="0" tIns="0" rIns="0" bIns="0" anchor="ctr">
            <a:spAutoFit/>
          </a:bodyPr>
          <a:lstStyle/>
          <a:p>
            <a:pPr algn="l"/>
            <a:r>
              <a:rPr lang="en-US" sz="1700" b="0">
                <a:solidFill>
                  <a:srgbClr val="FA500E"/>
                </a:solidFill>
                <a:latin typeface="Silkscreen"/>
              </a:rPr>
              <a:t>01</a:t>
            </a:r>
          </a:p>
        </p:txBody>
      </p:sp>
      <p:sp>
        <p:nvSpPr>
          <p:cNvPr id="106" name="TextBox 105"/>
          <p:cNvSpPr txBox="1"/>
          <p:nvPr/>
        </p:nvSpPr>
        <p:spPr>
          <a:xfrm>
            <a:off x="1344168" y="1810512"/>
            <a:ext cx="2670048" cy="265176"/>
          </a:xfrm>
          <a:prstGeom prst="rect">
            <a:avLst/>
          </a:prstGeom>
          <a:noFill/>
        </p:spPr>
        <p:txBody>
          <a:bodyPr wrap="square" lIns="0" tIns="0" rIns="0" bIns="0" anchor="ctr">
            <a:spAutoFit/>
          </a:bodyPr>
          <a:lstStyle/>
          <a:p>
            <a:pPr algn="l"/>
            <a:r>
              <a:rPr sz="1500" b="1">
                <a:solidFill>
                  <a:srgbClr val="161623"/>
                </a:solidFill>
                <a:latin typeface="Arial"/>
              </a:rPr>
              <a:t>DEPLOYMENT / RESIDENCY</a:t>
            </a:r>
          </a:p>
        </p:txBody>
      </p:sp>
      <p:sp>
        <p:nvSpPr>
          <p:cNvPr id="107" name="TextBox 106"/>
          <p:cNvSpPr txBox="1"/>
          <p:nvPr/>
        </p:nvSpPr>
        <p:spPr>
          <a:xfrm>
            <a:off x="841248" y="2176272"/>
            <a:ext cx="3154680" cy="347472"/>
          </a:xfrm>
          <a:prstGeom prst="rect">
            <a:avLst/>
          </a:prstGeom>
          <a:noFill/>
        </p:spPr>
        <p:txBody>
          <a:bodyPr wrap="square" lIns="0" tIns="0" rIns="0" bIns="0" anchor="ctr">
            <a:spAutoFit/>
          </a:bodyPr>
          <a:lstStyle/>
          <a:p>
            <a:r>
              <a:rPr sz="900" b="1">
                <a:solidFill>
                  <a:srgbClr val="FA500E"/>
                </a:solidFill>
                <a:latin typeface="Arial"/>
              </a:rPr>
              <a:t>OWNER / BLOCKER  </a:t>
            </a:r>
            <a:r>
              <a:rPr sz="960" b="0">
                <a:solidFill>
                  <a:srgbClr val="62544F"/>
                </a:solidFill>
                <a:latin typeface="Arial"/>
              </a:rPr>
              <a:t>CIO · CISO · Architecture · Third-Party Risk</a:t>
            </a:r>
          </a:p>
        </p:txBody>
      </p:sp>
      <p:sp>
        <p:nvSpPr>
          <p:cNvPr id="108" name="TextBox 107"/>
          <p:cNvSpPr txBox="1"/>
          <p:nvPr/>
        </p:nvSpPr>
        <p:spPr>
          <a:xfrm>
            <a:off x="841248" y="2606040"/>
            <a:ext cx="3154680" cy="274320"/>
          </a:xfrm>
          <a:prstGeom prst="rect">
            <a:avLst/>
          </a:prstGeom>
          <a:noFill/>
        </p:spPr>
        <p:txBody>
          <a:bodyPr wrap="square" lIns="0" tIns="0" rIns="0" bIns="0" anchor="ctr">
            <a:spAutoFit/>
          </a:bodyPr>
          <a:lstStyle/>
          <a:p>
            <a:r>
              <a:rPr sz="900" b="1">
                <a:solidFill>
                  <a:srgbClr val="FA500E"/>
                </a:solidFill>
                <a:latin typeface="Arial"/>
              </a:rPr>
              <a:t>EXECUTIVE PROOF  </a:t>
            </a:r>
            <a:r>
              <a:rPr sz="1050" b="1">
                <a:solidFill>
                  <a:srgbClr val="161623"/>
                </a:solidFill>
                <a:latin typeface="Arial"/>
              </a:rPr>
              <a:t>Approved target architecture</a:t>
            </a:r>
          </a:p>
        </p:txBody>
      </p:sp>
      <p:sp>
        <p:nvSpPr>
          <p:cNvPr id="109" name="Rectangle 108"/>
          <p:cNvSpPr/>
          <p:nvPr/>
        </p:nvSpPr>
        <p:spPr>
          <a:xfrm>
            <a:off x="841248" y="2980944"/>
            <a:ext cx="3154680" cy="18288"/>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841248" y="3063240"/>
            <a:ext cx="3154680" cy="109728"/>
          </a:xfrm>
          <a:prstGeom prst="rect">
            <a:avLst/>
          </a:prstGeom>
          <a:noFill/>
        </p:spPr>
        <p:txBody>
          <a:bodyPr wrap="square" lIns="0" tIns="0" rIns="0" bIns="0" anchor="ctr">
            <a:spAutoFit/>
          </a:bodyPr>
          <a:lstStyle/>
          <a:p>
            <a:pPr algn="l"/>
            <a:r>
              <a:rPr sz="900" b="1">
                <a:solidFill>
                  <a:srgbClr val="FA500E"/>
                </a:solidFill>
                <a:latin typeface="Arial"/>
              </a:rPr>
              <a:t>DECISION SIGNAL</a:t>
            </a:r>
          </a:p>
        </p:txBody>
      </p:sp>
      <p:sp>
        <p:nvSpPr>
          <p:cNvPr id="111" name="TextBox 110"/>
          <p:cNvSpPr txBox="1"/>
          <p:nvPr/>
        </p:nvSpPr>
        <p:spPr>
          <a:xfrm>
            <a:off x="841248" y="3218688"/>
            <a:ext cx="3154680" cy="274320"/>
          </a:xfrm>
          <a:prstGeom prst="rect">
            <a:avLst/>
          </a:prstGeom>
          <a:noFill/>
        </p:spPr>
        <p:txBody>
          <a:bodyPr wrap="square" lIns="0" tIns="0" rIns="0" bIns="0" anchor="ctr">
            <a:spAutoFit/>
          </a:bodyPr>
          <a:lstStyle/>
          <a:p>
            <a:pPr algn="l"/>
            <a:r>
              <a:rPr sz="1080" b="1">
                <a:solidFill>
                  <a:srgbClr val="161623"/>
                </a:solidFill>
                <a:latin typeface="Arial"/>
              </a:rPr>
              <a:t>Architecture and residency path approved</a:t>
            </a:r>
          </a:p>
        </p:txBody>
      </p:sp>
      <p:sp>
        <p:nvSpPr>
          <p:cNvPr id="112" name="TextBox 111"/>
          <p:cNvSpPr txBox="1"/>
          <p:nvPr/>
        </p:nvSpPr>
        <p:spPr>
          <a:xfrm>
            <a:off x="4425696" y="1810512"/>
            <a:ext cx="502920" cy="228600"/>
          </a:xfrm>
          <a:prstGeom prst="rect">
            <a:avLst/>
          </a:prstGeom>
          <a:noFill/>
        </p:spPr>
        <p:txBody>
          <a:bodyPr wrap="square" lIns="0" tIns="0" rIns="0" bIns="0" anchor="ctr">
            <a:spAutoFit/>
          </a:bodyPr>
          <a:lstStyle/>
          <a:p>
            <a:pPr algn="l"/>
            <a:r>
              <a:rPr sz="1700" b="0">
                <a:solidFill>
                  <a:srgbClr val="FA500E"/>
                </a:solidFill>
                <a:latin typeface="Silkscreen"/>
              </a:rPr>
              <a:t>02</a:t>
            </a:r>
          </a:p>
        </p:txBody>
      </p:sp>
      <p:sp>
        <p:nvSpPr>
          <p:cNvPr id="113" name="TextBox 112"/>
          <p:cNvSpPr txBox="1"/>
          <p:nvPr/>
        </p:nvSpPr>
        <p:spPr>
          <a:xfrm>
            <a:off x="4928616" y="1810512"/>
            <a:ext cx="2670048" cy="265176"/>
          </a:xfrm>
          <a:prstGeom prst="rect">
            <a:avLst/>
          </a:prstGeom>
          <a:noFill/>
        </p:spPr>
        <p:txBody>
          <a:bodyPr wrap="square" lIns="0" tIns="0" rIns="0" bIns="0" anchor="ctr">
            <a:spAutoFit/>
          </a:bodyPr>
          <a:lstStyle/>
          <a:p>
            <a:pPr algn="l"/>
            <a:r>
              <a:rPr sz="1500" b="1">
                <a:solidFill>
                  <a:srgbClr val="161623"/>
                </a:solidFill>
                <a:latin typeface="Arial"/>
              </a:rPr>
              <a:t>GOVERNANCE / AUDIT</a:t>
            </a:r>
          </a:p>
        </p:txBody>
      </p:sp>
      <p:sp>
        <p:nvSpPr>
          <p:cNvPr id="114" name="TextBox 113"/>
          <p:cNvSpPr txBox="1"/>
          <p:nvPr/>
        </p:nvSpPr>
        <p:spPr>
          <a:xfrm>
            <a:off x="4425696" y="2176272"/>
            <a:ext cx="3154680" cy="347472"/>
          </a:xfrm>
          <a:prstGeom prst="rect">
            <a:avLst/>
          </a:prstGeom>
          <a:noFill/>
        </p:spPr>
        <p:txBody>
          <a:bodyPr wrap="square" lIns="0" tIns="0" rIns="0" bIns="0" anchor="ctr">
            <a:spAutoFit/>
          </a:bodyPr>
          <a:lstStyle/>
          <a:p>
            <a:r>
              <a:rPr sz="900" b="1">
                <a:solidFill>
                  <a:srgbClr val="FA500E"/>
                </a:solidFill>
                <a:latin typeface="Arial"/>
              </a:rPr>
              <a:t>OWNER / BLOCKER  </a:t>
            </a:r>
            <a:r>
              <a:rPr sz="960" b="0">
                <a:solidFill>
                  <a:srgbClr val="62544F"/>
                </a:solidFill>
                <a:latin typeface="Arial"/>
              </a:rPr>
              <a:t>Model Risk · Risk · Audit · Legal</a:t>
            </a:r>
          </a:p>
        </p:txBody>
      </p:sp>
      <p:sp>
        <p:nvSpPr>
          <p:cNvPr id="115" name="TextBox 114"/>
          <p:cNvSpPr txBox="1"/>
          <p:nvPr/>
        </p:nvSpPr>
        <p:spPr>
          <a:xfrm>
            <a:off x="4425696" y="2606040"/>
            <a:ext cx="3154680" cy="274320"/>
          </a:xfrm>
          <a:prstGeom prst="rect">
            <a:avLst/>
          </a:prstGeom>
          <a:noFill/>
        </p:spPr>
        <p:txBody>
          <a:bodyPr wrap="square" lIns="0" tIns="0" rIns="0" bIns="0" anchor="ctr">
            <a:spAutoFit/>
          </a:bodyPr>
          <a:lstStyle/>
          <a:p>
            <a:r>
              <a:rPr sz="900" b="1">
                <a:solidFill>
                  <a:srgbClr val="FA500E"/>
                </a:solidFill>
                <a:latin typeface="Arial"/>
              </a:rPr>
              <a:t>EXECUTIVE PROOF  </a:t>
            </a:r>
            <a:r>
              <a:rPr sz="1050" b="1">
                <a:solidFill>
                  <a:srgbClr val="161623"/>
                </a:solidFill>
                <a:latin typeface="Arial"/>
              </a:rPr>
              <a:t>Traceable governance evidence</a:t>
            </a:r>
          </a:p>
        </p:txBody>
      </p:sp>
      <p:sp>
        <p:nvSpPr>
          <p:cNvPr id="116" name="Rectangle 115"/>
          <p:cNvSpPr/>
          <p:nvPr/>
        </p:nvSpPr>
        <p:spPr>
          <a:xfrm>
            <a:off x="4425696" y="2980944"/>
            <a:ext cx="3154680" cy="18288"/>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4425696" y="3063240"/>
            <a:ext cx="3154680" cy="109728"/>
          </a:xfrm>
          <a:prstGeom prst="rect">
            <a:avLst/>
          </a:prstGeom>
          <a:noFill/>
        </p:spPr>
        <p:txBody>
          <a:bodyPr wrap="square" lIns="0" tIns="0" rIns="0" bIns="0" anchor="ctr">
            <a:spAutoFit/>
          </a:bodyPr>
          <a:lstStyle/>
          <a:p>
            <a:pPr algn="l"/>
            <a:r>
              <a:rPr sz="900" b="1">
                <a:solidFill>
                  <a:srgbClr val="FA500E"/>
                </a:solidFill>
                <a:latin typeface="Arial"/>
              </a:rPr>
              <a:t>DECISION SIGNAL</a:t>
            </a:r>
          </a:p>
        </p:txBody>
      </p:sp>
      <p:sp>
        <p:nvSpPr>
          <p:cNvPr id="118" name="TextBox 117"/>
          <p:cNvSpPr txBox="1"/>
          <p:nvPr/>
        </p:nvSpPr>
        <p:spPr>
          <a:xfrm>
            <a:off x="4425696" y="3218688"/>
            <a:ext cx="3154680" cy="274320"/>
          </a:xfrm>
          <a:prstGeom prst="rect">
            <a:avLst/>
          </a:prstGeom>
          <a:noFill/>
        </p:spPr>
        <p:txBody>
          <a:bodyPr wrap="square" lIns="0" tIns="0" rIns="0" bIns="0" anchor="ctr">
            <a:spAutoFit/>
          </a:bodyPr>
          <a:lstStyle/>
          <a:p>
            <a:pPr algn="l"/>
            <a:r>
              <a:rPr sz="1080" b="1">
                <a:solidFill>
                  <a:srgbClr val="161623"/>
                </a:solidFill>
                <a:latin typeface="Arial"/>
              </a:rPr>
              <a:t>Evidence pack accepted</a:t>
            </a:r>
          </a:p>
        </p:txBody>
      </p:sp>
      <p:sp>
        <p:nvSpPr>
          <p:cNvPr id="119" name="TextBox 118"/>
          <p:cNvSpPr txBox="1"/>
          <p:nvPr/>
        </p:nvSpPr>
        <p:spPr>
          <a:xfrm>
            <a:off x="8001000" y="1810512"/>
            <a:ext cx="502920" cy="228600"/>
          </a:xfrm>
          <a:prstGeom prst="rect">
            <a:avLst/>
          </a:prstGeom>
          <a:noFill/>
        </p:spPr>
        <p:txBody>
          <a:bodyPr wrap="square" lIns="0" tIns="0" rIns="0" bIns="0" anchor="ctr">
            <a:spAutoFit/>
          </a:bodyPr>
          <a:lstStyle/>
          <a:p>
            <a:pPr algn="l"/>
            <a:r>
              <a:rPr sz="1700" b="0">
                <a:solidFill>
                  <a:srgbClr val="FA500E"/>
                </a:solidFill>
                <a:latin typeface="Silkscreen"/>
              </a:rPr>
              <a:t>03</a:t>
            </a:r>
          </a:p>
        </p:txBody>
      </p:sp>
      <p:sp>
        <p:nvSpPr>
          <p:cNvPr id="120" name="TextBox 119"/>
          <p:cNvSpPr txBox="1"/>
          <p:nvPr/>
        </p:nvSpPr>
        <p:spPr>
          <a:xfrm>
            <a:off x="8503920" y="1810512"/>
            <a:ext cx="2670048" cy="265176"/>
          </a:xfrm>
          <a:prstGeom prst="rect">
            <a:avLst/>
          </a:prstGeom>
          <a:noFill/>
        </p:spPr>
        <p:txBody>
          <a:bodyPr wrap="square" lIns="0" tIns="0" rIns="0" bIns="0" anchor="ctr">
            <a:spAutoFit/>
          </a:bodyPr>
          <a:lstStyle/>
          <a:p>
            <a:pPr algn="l"/>
            <a:r>
              <a:rPr sz="1500" b="1">
                <a:solidFill>
                  <a:srgbClr val="161623"/>
                </a:solidFill>
                <a:latin typeface="Arial"/>
              </a:rPr>
              <a:t>REGULATED WORKFLOW</a:t>
            </a:r>
          </a:p>
        </p:txBody>
      </p:sp>
      <p:sp>
        <p:nvSpPr>
          <p:cNvPr id="121" name="TextBox 120"/>
          <p:cNvSpPr txBox="1"/>
          <p:nvPr/>
        </p:nvSpPr>
        <p:spPr>
          <a:xfrm>
            <a:off x="8001000" y="2176272"/>
            <a:ext cx="3154680" cy="347472"/>
          </a:xfrm>
          <a:prstGeom prst="rect">
            <a:avLst/>
          </a:prstGeom>
          <a:noFill/>
        </p:spPr>
        <p:txBody>
          <a:bodyPr wrap="square" lIns="0" tIns="0" rIns="0" bIns="0" anchor="ctr">
            <a:spAutoFit/>
          </a:bodyPr>
          <a:lstStyle/>
          <a:p>
            <a:r>
              <a:rPr sz="900" b="1">
                <a:solidFill>
                  <a:srgbClr val="FA500E"/>
                </a:solidFill>
                <a:latin typeface="Arial"/>
              </a:rPr>
              <a:t>OWNER / BLOCKER  </a:t>
            </a:r>
            <a:r>
              <a:rPr sz="960" b="0">
                <a:solidFill>
                  <a:srgbClr val="62544F"/>
                </a:solidFill>
                <a:latin typeface="Arial"/>
              </a:rPr>
              <a:t>Compliance · Ops · Financial Crime · Credit/Claims</a:t>
            </a:r>
          </a:p>
        </p:txBody>
      </p:sp>
      <p:sp>
        <p:nvSpPr>
          <p:cNvPr id="122" name="TextBox 121"/>
          <p:cNvSpPr txBox="1"/>
          <p:nvPr/>
        </p:nvSpPr>
        <p:spPr>
          <a:xfrm>
            <a:off x="8001000" y="2606040"/>
            <a:ext cx="3154680" cy="274320"/>
          </a:xfrm>
          <a:prstGeom prst="rect">
            <a:avLst/>
          </a:prstGeom>
          <a:noFill/>
        </p:spPr>
        <p:txBody>
          <a:bodyPr wrap="square" lIns="0" tIns="0" rIns="0" bIns="0" anchor="ctr">
            <a:spAutoFit/>
          </a:bodyPr>
          <a:lstStyle/>
          <a:p>
            <a:r>
              <a:rPr sz="900" b="1">
                <a:solidFill>
                  <a:srgbClr val="FA500E"/>
                </a:solidFill>
                <a:latin typeface="Arial"/>
              </a:rPr>
              <a:t>EXECUTIVE PROOF  </a:t>
            </a:r>
            <a:r>
              <a:rPr sz="1050" b="1">
                <a:solidFill>
                  <a:srgbClr val="161623"/>
                </a:solidFill>
                <a:latin typeface="Arial"/>
              </a:rPr>
              <a:t>Human-in-loop workflow proof</a:t>
            </a:r>
          </a:p>
        </p:txBody>
      </p:sp>
      <p:sp>
        <p:nvSpPr>
          <p:cNvPr id="123" name="Rectangle 122"/>
          <p:cNvSpPr/>
          <p:nvPr/>
        </p:nvSpPr>
        <p:spPr>
          <a:xfrm>
            <a:off x="8001000" y="2980944"/>
            <a:ext cx="3154680" cy="18288"/>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8001000" y="3063240"/>
            <a:ext cx="3154680" cy="109728"/>
          </a:xfrm>
          <a:prstGeom prst="rect">
            <a:avLst/>
          </a:prstGeom>
          <a:noFill/>
        </p:spPr>
        <p:txBody>
          <a:bodyPr wrap="square" lIns="0" tIns="0" rIns="0" bIns="0" anchor="ctr">
            <a:spAutoFit/>
          </a:bodyPr>
          <a:lstStyle/>
          <a:p>
            <a:pPr algn="l"/>
            <a:r>
              <a:rPr sz="900" b="1">
                <a:solidFill>
                  <a:srgbClr val="FA500E"/>
                </a:solidFill>
                <a:latin typeface="Arial"/>
              </a:rPr>
              <a:t>DECISION SIGNAL</a:t>
            </a:r>
          </a:p>
        </p:txBody>
      </p:sp>
      <p:sp>
        <p:nvSpPr>
          <p:cNvPr id="125" name="TextBox 124"/>
          <p:cNvSpPr txBox="1"/>
          <p:nvPr/>
        </p:nvSpPr>
        <p:spPr>
          <a:xfrm>
            <a:off x="8001000" y="3218688"/>
            <a:ext cx="3154680" cy="274320"/>
          </a:xfrm>
          <a:prstGeom prst="rect">
            <a:avLst/>
          </a:prstGeom>
          <a:noFill/>
        </p:spPr>
        <p:txBody>
          <a:bodyPr wrap="square" lIns="0" tIns="0" rIns="0" bIns="0" anchor="ctr">
            <a:spAutoFit/>
          </a:bodyPr>
          <a:lstStyle/>
          <a:p>
            <a:pPr algn="l"/>
            <a:r>
              <a:rPr sz="1080" b="1">
                <a:solidFill>
                  <a:srgbClr val="161623"/>
                </a:solidFill>
                <a:latin typeface="Arial"/>
              </a:rPr>
              <a:t>Pilot approved with auditable history</a:t>
            </a:r>
          </a:p>
        </p:txBody>
      </p:sp>
      <p:sp>
        <p:nvSpPr>
          <p:cNvPr id="126" name="TextBox 125"/>
          <p:cNvSpPr txBox="1"/>
          <p:nvPr/>
        </p:nvSpPr>
        <p:spPr>
          <a:xfrm>
            <a:off x="841248" y="4041648"/>
            <a:ext cx="502920" cy="228600"/>
          </a:xfrm>
          <a:prstGeom prst="rect">
            <a:avLst/>
          </a:prstGeom>
          <a:noFill/>
        </p:spPr>
        <p:txBody>
          <a:bodyPr wrap="square" lIns="0" tIns="0" rIns="0" bIns="0" anchor="ctr">
            <a:spAutoFit/>
          </a:bodyPr>
          <a:lstStyle/>
          <a:p>
            <a:pPr algn="l"/>
            <a:r>
              <a:rPr sz="1700" b="0">
                <a:solidFill>
                  <a:srgbClr val="FA500E"/>
                </a:solidFill>
                <a:latin typeface="Silkscreen"/>
              </a:rPr>
              <a:t>04</a:t>
            </a:r>
          </a:p>
        </p:txBody>
      </p:sp>
      <p:sp>
        <p:nvSpPr>
          <p:cNvPr id="127" name="TextBox 126"/>
          <p:cNvSpPr txBox="1"/>
          <p:nvPr/>
        </p:nvSpPr>
        <p:spPr>
          <a:xfrm>
            <a:off x="1344168" y="4041648"/>
            <a:ext cx="2670048" cy="265176"/>
          </a:xfrm>
          <a:prstGeom prst="rect">
            <a:avLst/>
          </a:prstGeom>
          <a:noFill/>
        </p:spPr>
        <p:txBody>
          <a:bodyPr wrap="square" lIns="0" tIns="0" rIns="0" bIns="0" anchor="ctr">
            <a:spAutoFit/>
          </a:bodyPr>
          <a:lstStyle/>
          <a:p>
            <a:pPr algn="l"/>
            <a:r>
              <a:rPr sz="1500" b="1">
                <a:solidFill>
                  <a:srgbClr val="161623"/>
                </a:solidFill>
                <a:latin typeface="Arial"/>
              </a:rPr>
              <a:t>DOCUMENT INTELLIGENCE</a:t>
            </a:r>
          </a:p>
        </p:txBody>
      </p:sp>
      <p:sp>
        <p:nvSpPr>
          <p:cNvPr id="128" name="TextBox 127"/>
          <p:cNvSpPr txBox="1"/>
          <p:nvPr/>
        </p:nvSpPr>
        <p:spPr>
          <a:xfrm>
            <a:off x="841248" y="4407408"/>
            <a:ext cx="3154680" cy="347472"/>
          </a:xfrm>
          <a:prstGeom prst="rect">
            <a:avLst/>
          </a:prstGeom>
          <a:noFill/>
        </p:spPr>
        <p:txBody>
          <a:bodyPr wrap="square" lIns="0" tIns="0" rIns="0" bIns="0" anchor="ctr">
            <a:spAutoFit/>
          </a:bodyPr>
          <a:lstStyle/>
          <a:p>
            <a:r>
              <a:rPr sz="900" b="1">
                <a:solidFill>
                  <a:srgbClr val="FA500E"/>
                </a:solidFill>
                <a:latin typeface="Arial"/>
              </a:rPr>
              <a:t>OWNER / BLOCKER  </a:t>
            </a:r>
            <a:r>
              <a:rPr sz="960" b="0">
                <a:solidFill>
                  <a:srgbClr val="62544F"/>
                </a:solidFill>
                <a:latin typeface="Arial"/>
              </a:rPr>
              <a:t>Credit · Underwriting · Investment · Risk Ops</a:t>
            </a:r>
          </a:p>
        </p:txBody>
      </p:sp>
      <p:sp>
        <p:nvSpPr>
          <p:cNvPr id="129" name="TextBox 128"/>
          <p:cNvSpPr txBox="1"/>
          <p:nvPr/>
        </p:nvSpPr>
        <p:spPr>
          <a:xfrm>
            <a:off x="841248" y="4837176"/>
            <a:ext cx="3154680" cy="274320"/>
          </a:xfrm>
          <a:prstGeom prst="rect">
            <a:avLst/>
          </a:prstGeom>
          <a:noFill/>
        </p:spPr>
        <p:txBody>
          <a:bodyPr wrap="square" lIns="0" tIns="0" rIns="0" bIns="0" anchor="ctr">
            <a:spAutoFit/>
          </a:bodyPr>
          <a:lstStyle/>
          <a:p>
            <a:r>
              <a:rPr sz="900" b="1">
                <a:solidFill>
                  <a:srgbClr val="FA500E"/>
                </a:solidFill>
                <a:latin typeface="Arial"/>
              </a:rPr>
              <a:t>EXECUTIVE PROOF  </a:t>
            </a:r>
            <a:r>
              <a:rPr sz="1050" b="1">
                <a:solidFill>
                  <a:srgbClr val="161623"/>
                </a:solidFill>
                <a:latin typeface="Arial"/>
              </a:rPr>
              <a:t>Benchmark on institution documents</a:t>
            </a:r>
          </a:p>
        </p:txBody>
      </p:sp>
      <p:sp>
        <p:nvSpPr>
          <p:cNvPr id="130" name="Rectangle 129"/>
          <p:cNvSpPr/>
          <p:nvPr/>
        </p:nvSpPr>
        <p:spPr>
          <a:xfrm>
            <a:off x="841248" y="5212080"/>
            <a:ext cx="3154680" cy="18288"/>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841248" y="5294376"/>
            <a:ext cx="3154680" cy="109728"/>
          </a:xfrm>
          <a:prstGeom prst="rect">
            <a:avLst/>
          </a:prstGeom>
          <a:noFill/>
        </p:spPr>
        <p:txBody>
          <a:bodyPr wrap="square" lIns="0" tIns="0" rIns="0" bIns="0" anchor="ctr">
            <a:spAutoFit/>
          </a:bodyPr>
          <a:lstStyle/>
          <a:p>
            <a:pPr algn="l"/>
            <a:r>
              <a:rPr sz="900" b="1">
                <a:solidFill>
                  <a:srgbClr val="FA500E"/>
                </a:solidFill>
                <a:latin typeface="Arial"/>
              </a:rPr>
              <a:t>DECISION SIGNAL</a:t>
            </a:r>
          </a:p>
        </p:txBody>
      </p:sp>
      <p:sp>
        <p:nvSpPr>
          <p:cNvPr id="132" name="TextBox 131"/>
          <p:cNvSpPr txBox="1"/>
          <p:nvPr/>
        </p:nvSpPr>
        <p:spPr>
          <a:xfrm>
            <a:off x="841248" y="5449824"/>
            <a:ext cx="3154680" cy="274320"/>
          </a:xfrm>
          <a:prstGeom prst="rect">
            <a:avLst/>
          </a:prstGeom>
          <a:noFill/>
        </p:spPr>
        <p:txBody>
          <a:bodyPr wrap="square" lIns="0" tIns="0" rIns="0" bIns="0" anchor="ctr">
            <a:spAutoFit/>
          </a:bodyPr>
          <a:lstStyle/>
          <a:p>
            <a:pPr algn="l"/>
            <a:r>
              <a:rPr sz="1080" b="1">
                <a:solidFill>
                  <a:srgbClr val="161623"/>
                </a:solidFill>
                <a:latin typeface="Arial"/>
              </a:rPr>
              <a:t>Quality and traceability thresholds passed</a:t>
            </a:r>
          </a:p>
        </p:txBody>
      </p:sp>
      <p:sp>
        <p:nvSpPr>
          <p:cNvPr id="133" name="TextBox 132"/>
          <p:cNvSpPr txBox="1"/>
          <p:nvPr/>
        </p:nvSpPr>
        <p:spPr>
          <a:xfrm>
            <a:off x="4425696" y="4041648"/>
            <a:ext cx="502920" cy="228600"/>
          </a:xfrm>
          <a:prstGeom prst="rect">
            <a:avLst/>
          </a:prstGeom>
          <a:noFill/>
        </p:spPr>
        <p:txBody>
          <a:bodyPr wrap="square" lIns="0" tIns="0" rIns="0" bIns="0" anchor="ctr">
            <a:spAutoFit/>
          </a:bodyPr>
          <a:lstStyle/>
          <a:p>
            <a:pPr algn="l"/>
            <a:r>
              <a:rPr sz="1700" b="0">
                <a:solidFill>
                  <a:srgbClr val="FA500E"/>
                </a:solidFill>
                <a:latin typeface="Silkscreen"/>
              </a:rPr>
              <a:t>05</a:t>
            </a:r>
          </a:p>
        </p:txBody>
      </p:sp>
      <p:sp>
        <p:nvSpPr>
          <p:cNvPr id="134" name="TextBox 133"/>
          <p:cNvSpPr txBox="1"/>
          <p:nvPr/>
        </p:nvSpPr>
        <p:spPr>
          <a:xfrm>
            <a:off x="4928616" y="4041648"/>
            <a:ext cx="2670048" cy="265176"/>
          </a:xfrm>
          <a:prstGeom prst="rect">
            <a:avLst/>
          </a:prstGeom>
          <a:noFill/>
        </p:spPr>
        <p:txBody>
          <a:bodyPr wrap="square" lIns="0" tIns="0" rIns="0" bIns="0" anchor="ctr">
            <a:spAutoFit/>
          </a:bodyPr>
          <a:lstStyle/>
          <a:p>
            <a:pPr algn="l"/>
            <a:r>
              <a:rPr sz="1500" b="1">
                <a:solidFill>
                  <a:srgbClr val="161623"/>
                </a:solidFill>
                <a:latin typeface="Arial"/>
              </a:rPr>
              <a:t>USE-CASE CLASSIFICATION</a:t>
            </a:r>
          </a:p>
        </p:txBody>
      </p:sp>
      <p:sp>
        <p:nvSpPr>
          <p:cNvPr id="135" name="TextBox 134"/>
          <p:cNvSpPr txBox="1"/>
          <p:nvPr/>
        </p:nvSpPr>
        <p:spPr>
          <a:xfrm>
            <a:off x="4425696" y="4407408"/>
            <a:ext cx="3154680" cy="347472"/>
          </a:xfrm>
          <a:prstGeom prst="rect">
            <a:avLst/>
          </a:prstGeom>
          <a:noFill/>
        </p:spPr>
        <p:txBody>
          <a:bodyPr wrap="square" lIns="0" tIns="0" rIns="0" bIns="0" anchor="ctr">
            <a:spAutoFit/>
          </a:bodyPr>
          <a:lstStyle/>
          <a:p>
            <a:r>
              <a:rPr sz="900" b="1">
                <a:solidFill>
                  <a:srgbClr val="FA500E"/>
                </a:solidFill>
                <a:latin typeface="Arial"/>
              </a:rPr>
              <a:t>OWNER / BLOCKER  </a:t>
            </a:r>
            <a:r>
              <a:rPr sz="960" b="0">
                <a:solidFill>
                  <a:srgbClr val="62544F"/>
                </a:solidFill>
                <a:latin typeface="Arial"/>
              </a:rPr>
              <a:t>Legal · Compliance · Model Risk</a:t>
            </a:r>
          </a:p>
        </p:txBody>
      </p:sp>
      <p:sp>
        <p:nvSpPr>
          <p:cNvPr id="136" name="TextBox 135"/>
          <p:cNvSpPr txBox="1"/>
          <p:nvPr/>
        </p:nvSpPr>
        <p:spPr>
          <a:xfrm>
            <a:off x="4425696" y="4837176"/>
            <a:ext cx="3154680" cy="274320"/>
          </a:xfrm>
          <a:prstGeom prst="rect">
            <a:avLst/>
          </a:prstGeom>
          <a:noFill/>
        </p:spPr>
        <p:txBody>
          <a:bodyPr wrap="square" lIns="0" tIns="0" rIns="0" bIns="0" anchor="ctr">
            <a:spAutoFit/>
          </a:bodyPr>
          <a:lstStyle/>
          <a:p>
            <a:r>
              <a:rPr sz="900" b="1">
                <a:solidFill>
                  <a:srgbClr val="FA500E"/>
                </a:solidFill>
                <a:latin typeface="Arial"/>
              </a:rPr>
              <a:t>EXECUTIVE PROOF  </a:t>
            </a:r>
            <a:r>
              <a:rPr sz="1050" b="1">
                <a:solidFill>
                  <a:srgbClr val="161623"/>
                </a:solidFill>
                <a:latin typeface="Arial"/>
              </a:rPr>
              <a:t>Defined controls and human approval</a:t>
            </a:r>
          </a:p>
        </p:txBody>
      </p:sp>
      <p:sp>
        <p:nvSpPr>
          <p:cNvPr id="137" name="Rectangle 136"/>
          <p:cNvSpPr/>
          <p:nvPr/>
        </p:nvSpPr>
        <p:spPr>
          <a:xfrm>
            <a:off x="4425696" y="5212080"/>
            <a:ext cx="3154680" cy="18288"/>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4425696" y="5294376"/>
            <a:ext cx="3154680" cy="109728"/>
          </a:xfrm>
          <a:prstGeom prst="rect">
            <a:avLst/>
          </a:prstGeom>
          <a:noFill/>
        </p:spPr>
        <p:txBody>
          <a:bodyPr wrap="square" lIns="0" tIns="0" rIns="0" bIns="0" anchor="ctr">
            <a:spAutoFit/>
          </a:bodyPr>
          <a:lstStyle/>
          <a:p>
            <a:pPr algn="l"/>
            <a:r>
              <a:rPr sz="900" b="1">
                <a:solidFill>
                  <a:srgbClr val="FA500E"/>
                </a:solidFill>
                <a:latin typeface="Arial"/>
              </a:rPr>
              <a:t>DECISION SIGNAL</a:t>
            </a:r>
          </a:p>
        </p:txBody>
      </p:sp>
      <p:sp>
        <p:nvSpPr>
          <p:cNvPr id="139" name="TextBox 138"/>
          <p:cNvSpPr txBox="1"/>
          <p:nvPr/>
        </p:nvSpPr>
        <p:spPr>
          <a:xfrm>
            <a:off x="4425696" y="5449824"/>
            <a:ext cx="3154680" cy="274320"/>
          </a:xfrm>
          <a:prstGeom prst="rect">
            <a:avLst/>
          </a:prstGeom>
          <a:noFill/>
        </p:spPr>
        <p:txBody>
          <a:bodyPr wrap="square" lIns="0" tIns="0" rIns="0" bIns="0" anchor="ctr">
            <a:spAutoFit/>
          </a:bodyPr>
          <a:lstStyle/>
          <a:p>
            <a:pPr algn="l"/>
            <a:r>
              <a:rPr sz="1080" b="1">
                <a:solidFill>
                  <a:srgbClr val="161623"/>
                </a:solidFill>
                <a:latin typeface="Arial"/>
              </a:rPr>
              <a:t>Use case classified; constraints agreed</a:t>
            </a:r>
          </a:p>
        </p:txBody>
      </p:sp>
      <p:sp>
        <p:nvSpPr>
          <p:cNvPr id="140" name="TextBox 139"/>
          <p:cNvSpPr txBox="1"/>
          <p:nvPr/>
        </p:nvSpPr>
        <p:spPr>
          <a:xfrm>
            <a:off x="8001000" y="4041648"/>
            <a:ext cx="502920" cy="228600"/>
          </a:xfrm>
          <a:prstGeom prst="rect">
            <a:avLst/>
          </a:prstGeom>
          <a:noFill/>
        </p:spPr>
        <p:txBody>
          <a:bodyPr wrap="square" lIns="0" tIns="0" rIns="0" bIns="0" anchor="ctr">
            <a:spAutoFit/>
          </a:bodyPr>
          <a:lstStyle/>
          <a:p>
            <a:pPr algn="l"/>
            <a:r>
              <a:rPr sz="1700" b="0">
                <a:solidFill>
                  <a:srgbClr val="FA500E"/>
                </a:solidFill>
                <a:latin typeface="Silkscreen"/>
              </a:rPr>
              <a:t>06</a:t>
            </a:r>
          </a:p>
        </p:txBody>
      </p:sp>
      <p:sp>
        <p:nvSpPr>
          <p:cNvPr id="141" name="TextBox 140"/>
          <p:cNvSpPr txBox="1"/>
          <p:nvPr/>
        </p:nvSpPr>
        <p:spPr>
          <a:xfrm>
            <a:off x="8503920" y="4041648"/>
            <a:ext cx="2670048" cy="265176"/>
          </a:xfrm>
          <a:prstGeom prst="rect">
            <a:avLst/>
          </a:prstGeom>
          <a:noFill/>
        </p:spPr>
        <p:txBody>
          <a:bodyPr wrap="square" lIns="0" tIns="0" rIns="0" bIns="0" anchor="ctr">
            <a:spAutoFit/>
          </a:bodyPr>
          <a:lstStyle/>
          <a:p>
            <a:pPr algn="l"/>
            <a:r>
              <a:rPr sz="1500" b="1">
                <a:solidFill>
                  <a:srgbClr val="161623"/>
                </a:solidFill>
                <a:latin typeface="Arial"/>
              </a:rPr>
              <a:t>DELIVERY OWNERSHIP</a:t>
            </a:r>
          </a:p>
        </p:txBody>
      </p:sp>
      <p:sp>
        <p:nvSpPr>
          <p:cNvPr id="142" name="TextBox 141"/>
          <p:cNvSpPr txBox="1"/>
          <p:nvPr/>
        </p:nvSpPr>
        <p:spPr>
          <a:xfrm>
            <a:off x="8001000" y="4407408"/>
            <a:ext cx="3154680" cy="347472"/>
          </a:xfrm>
          <a:prstGeom prst="rect">
            <a:avLst/>
          </a:prstGeom>
          <a:noFill/>
        </p:spPr>
        <p:txBody>
          <a:bodyPr wrap="square" lIns="0" tIns="0" rIns="0" bIns="0" anchor="ctr">
            <a:spAutoFit/>
          </a:bodyPr>
          <a:lstStyle/>
          <a:p>
            <a:r>
              <a:rPr sz="900" b="1">
                <a:solidFill>
                  <a:srgbClr val="FA500E"/>
                </a:solidFill>
                <a:latin typeface="Arial"/>
              </a:rPr>
              <a:t>OWNER / BLOCKER  </a:t>
            </a:r>
            <a:r>
              <a:rPr sz="960" b="0">
                <a:solidFill>
                  <a:srgbClr val="62544F"/>
                </a:solidFill>
                <a:latin typeface="Arial"/>
              </a:rPr>
              <a:t>Sponsor · Procurement · FDE/Applied AI · SI</a:t>
            </a:r>
          </a:p>
        </p:txBody>
      </p:sp>
      <p:sp>
        <p:nvSpPr>
          <p:cNvPr id="143" name="TextBox 142"/>
          <p:cNvSpPr txBox="1"/>
          <p:nvPr/>
        </p:nvSpPr>
        <p:spPr>
          <a:xfrm>
            <a:off x="8001000" y="4837176"/>
            <a:ext cx="3154680" cy="274320"/>
          </a:xfrm>
          <a:prstGeom prst="rect">
            <a:avLst/>
          </a:prstGeom>
          <a:noFill/>
        </p:spPr>
        <p:txBody>
          <a:bodyPr wrap="square" lIns="0" tIns="0" rIns="0" bIns="0" anchor="ctr">
            <a:spAutoFit/>
          </a:bodyPr>
          <a:lstStyle/>
          <a:p>
            <a:r>
              <a:rPr sz="900" b="1">
                <a:solidFill>
                  <a:srgbClr val="FA500E"/>
                </a:solidFill>
                <a:latin typeface="Arial"/>
              </a:rPr>
              <a:t>EXECUTIVE PROOF  </a:t>
            </a:r>
            <a:r>
              <a:rPr sz="1050" b="1">
                <a:solidFill>
                  <a:srgbClr val="161623"/>
                </a:solidFill>
                <a:latin typeface="Arial"/>
              </a:rPr>
              <a:t>Named direct or partner delivery path</a:t>
            </a:r>
          </a:p>
        </p:txBody>
      </p:sp>
      <p:sp>
        <p:nvSpPr>
          <p:cNvPr id="144" name="Rectangle 143"/>
          <p:cNvSpPr/>
          <p:nvPr/>
        </p:nvSpPr>
        <p:spPr>
          <a:xfrm>
            <a:off x="8001000" y="5212080"/>
            <a:ext cx="3154680" cy="18288"/>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p:cNvSpPr txBox="1"/>
          <p:nvPr/>
        </p:nvSpPr>
        <p:spPr>
          <a:xfrm>
            <a:off x="8001000" y="5294376"/>
            <a:ext cx="3154680" cy="109728"/>
          </a:xfrm>
          <a:prstGeom prst="rect">
            <a:avLst/>
          </a:prstGeom>
          <a:noFill/>
        </p:spPr>
        <p:txBody>
          <a:bodyPr wrap="square" lIns="0" tIns="0" rIns="0" bIns="0" anchor="ctr">
            <a:spAutoFit/>
          </a:bodyPr>
          <a:lstStyle/>
          <a:p>
            <a:pPr algn="l"/>
            <a:r>
              <a:rPr sz="900" b="1">
                <a:solidFill>
                  <a:srgbClr val="FA500E"/>
                </a:solidFill>
                <a:latin typeface="Arial"/>
              </a:rPr>
              <a:t>DECISION SIGNAL</a:t>
            </a:r>
          </a:p>
        </p:txBody>
      </p:sp>
      <p:sp>
        <p:nvSpPr>
          <p:cNvPr id="146" name="TextBox 145"/>
          <p:cNvSpPr txBox="1"/>
          <p:nvPr/>
        </p:nvSpPr>
        <p:spPr>
          <a:xfrm>
            <a:off x="8001000" y="5449824"/>
            <a:ext cx="3154680" cy="274320"/>
          </a:xfrm>
          <a:prstGeom prst="rect">
            <a:avLst/>
          </a:prstGeom>
          <a:noFill/>
        </p:spPr>
        <p:txBody>
          <a:bodyPr wrap="square" lIns="0" tIns="0" rIns="0" bIns="0" anchor="ctr">
            <a:spAutoFit/>
          </a:bodyPr>
          <a:lstStyle/>
          <a:p>
            <a:pPr algn="l"/>
            <a:r>
              <a:rPr sz="1080" b="1">
                <a:solidFill>
                  <a:srgbClr val="161623"/>
                </a:solidFill>
                <a:latin typeface="Arial"/>
              </a:rPr>
              <a:t>Owner, scope, metrics, budget and next decision agreed</a:t>
            </a:r>
          </a:p>
        </p:txBody>
      </p:sp>
      <p:sp>
        <p:nvSpPr>
          <p:cNvPr id="147" name="Rectangle 146"/>
          <p:cNvSpPr/>
          <p:nvPr/>
        </p:nvSpPr>
        <p:spPr>
          <a:xfrm>
            <a:off x="841248" y="5925312"/>
            <a:ext cx="10515600" cy="393192"/>
          </a:xfrm>
          <a:prstGeom prst="rect">
            <a:avLst/>
          </a:prstGeom>
          <a:solidFill>
            <a:srgbClr val="161623"/>
          </a:solidFill>
          <a:ln>
            <a:noFill/>
          </a:ln>
        </p:spPr>
        <p:style>
          <a:lnRef idx="1">
            <a:schemeClr val="accent1"/>
          </a:lnRef>
          <a:fillRef idx="3">
            <a:schemeClr val="accent1"/>
          </a:fillRef>
          <a:effectRef idx="2">
            <a:schemeClr val="accent1"/>
          </a:effectRef>
          <a:fontRef idx="minor">
            <a:schemeClr val="lt1"/>
          </a:fontRef>
        </p:style>
        <p:txBody>
          <a:bodyPr wrap="square" lIns="146304" tIns="0" rIns="146304" bIns="0" rtlCol="0" anchor="ctr"/>
          <a:lstStyle/>
          <a:p>
            <a:pPr algn="ctr"/>
            <a:r>
              <a:rPr sz="1160" b="1">
                <a:solidFill>
                  <a:srgbClr val="FA500E"/>
                </a:solidFill>
                <a:latin typeface="Arial"/>
              </a:rPr>
              <a:t>EXECUTIVE ASK  </a:t>
            </a:r>
            <a:r>
              <a:rPr sz="1160" b="1">
                <a:solidFill>
                  <a:srgbClr val="FFF8F2"/>
                </a:solidFill>
                <a:latin typeface="Arial"/>
              </a:rPr>
              <a:t>Approve two P0 plays, four start-now accounts, named owners + the one-workflow evaluation motion.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61623"/>
        </a:solidFill>
        <a:effectLst/>
      </p:bgPr>
    </p:bg>
    <p:spTree>
      <p:nvGrpSpPr>
        <p:cNvPr id="1" name=""/>
        <p:cNvGrpSpPr/>
        <p:nvPr/>
      </p:nvGrpSpPr>
      <p:grpSpPr>
        <a:xfrm>
          <a:off x="0" y="0"/>
          <a:ext cx="0" cy="0"/>
          <a:chOff x="0" y="0"/>
          <a:chExt cx="0" cy="0"/>
        </a:xfrm>
      </p:grpSpPr>
      <p:sp>
        <p:nvSpPr>
          <p:cNvPr id="2" name="Rectangle 1"/>
          <p:cNvSpPr/>
          <p:nvPr/>
        </p:nvSpPr>
        <p:spPr>
          <a:xfrm>
            <a:off x="609904" y="267004"/>
            <a:ext cx="75895" cy="749808"/>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41248" y="265026"/>
            <a:ext cx="4206240" cy="155748"/>
          </a:xfrm>
          <a:prstGeom prst="rect">
            <a:avLst/>
          </a:prstGeom>
          <a:noFill/>
        </p:spPr>
        <p:txBody>
          <a:bodyPr wrap="square" lIns="0" tIns="0" rIns="0" bIns="0" anchor="ctr">
            <a:spAutoFit/>
          </a:bodyPr>
          <a:lstStyle/>
          <a:p>
            <a:pPr algn="l">
              <a:lnSpc>
                <a:spcPct val="92000"/>
              </a:lnSpc>
              <a:spcBef>
                <a:spcPts val="0"/>
              </a:spcBef>
              <a:spcAft>
                <a:spcPts val="0"/>
              </a:spcAft>
            </a:pPr>
            <a:r>
              <a:rPr lang="en-US" sz="1100" b="1">
                <a:solidFill>
                  <a:srgbClr val="FA500E"/>
                </a:solidFill>
                <a:latin typeface="Arial"/>
              </a:rPr>
              <a:t>EXECUTIVE CLOSE</a:t>
            </a:r>
          </a:p>
        </p:txBody>
      </p:sp>
      <p:sp>
        <p:nvSpPr>
          <p:cNvPr id="4" name="TextBox 3"/>
          <p:cNvSpPr txBox="1"/>
          <p:nvPr/>
        </p:nvSpPr>
        <p:spPr>
          <a:xfrm>
            <a:off x="841248" y="457200"/>
            <a:ext cx="10515600" cy="396391"/>
          </a:xfrm>
          <a:prstGeom prst="rect">
            <a:avLst/>
          </a:prstGeom>
          <a:noFill/>
        </p:spPr>
        <p:txBody>
          <a:bodyPr wrap="square" lIns="0" tIns="0" rIns="0" bIns="0" anchor="t">
            <a:spAutoFit/>
          </a:bodyPr>
          <a:lstStyle/>
          <a:p>
            <a:pPr algn="l">
              <a:lnSpc>
                <a:spcPct val="92000"/>
              </a:lnSpc>
              <a:spcBef>
                <a:spcPts val="0"/>
              </a:spcBef>
              <a:spcAft>
                <a:spcPts val="0"/>
              </a:spcAft>
            </a:pPr>
            <a:r>
              <a:rPr lang="en-US" sz="2800" b="1">
                <a:solidFill>
                  <a:srgbClr val="FFF8F2"/>
                </a:solidFill>
                <a:latin typeface="Tiny5"/>
              </a:rPr>
              <a:t>FOCUS PMM ON THE NEXT CUSTOMER DECISION</a:t>
            </a:r>
          </a:p>
        </p:txBody>
      </p:sp>
      <p:sp>
        <p:nvSpPr>
          <p:cNvPr id="5" name="TextBox 4"/>
          <p:cNvSpPr txBox="1"/>
          <p:nvPr/>
        </p:nvSpPr>
        <p:spPr>
          <a:xfrm>
            <a:off x="841248" y="994623"/>
            <a:ext cx="10515600" cy="205313"/>
          </a:xfrm>
          <a:prstGeom prst="rect">
            <a:avLst/>
          </a:prstGeom>
          <a:noFill/>
        </p:spPr>
        <p:txBody>
          <a:bodyPr wrap="square" lIns="0" tIns="0" rIns="0" bIns="0" anchor="ctr">
            <a:spAutoFit/>
          </a:bodyPr>
          <a:lstStyle/>
          <a:p>
            <a:pPr algn="l">
              <a:lnSpc>
                <a:spcPct val="92000"/>
              </a:lnSpc>
              <a:spcBef>
                <a:spcPts val="0"/>
              </a:spcBef>
              <a:spcAft>
                <a:spcPts val="0"/>
              </a:spcAft>
            </a:pPr>
            <a:r>
              <a:rPr lang="en-US" sz="1450" b="0">
                <a:solidFill>
                  <a:srgbClr val="D7CFCC"/>
                </a:solidFill>
                <a:latin typeface="Arial"/>
              </a:rPr>
              <a:t>Expand proven customers  →  unblock active opportunities  →  convert evaluations</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658600" y="182880"/>
            <a:ext cx="347472" cy="283813"/>
          </a:xfrm>
          <a:prstGeom prst="rect">
            <a:avLst/>
          </a:prstGeom>
        </p:spPr>
      </p:pic>
      <p:sp>
        <p:nvSpPr>
          <p:cNvPr id="59" name="Rectangle 58"/>
          <p:cNvSpPr/>
          <p:nvPr/>
        </p:nvSpPr>
        <p:spPr>
          <a:xfrm>
            <a:off x="612648" y="6556248"/>
            <a:ext cx="10972800" cy="9144"/>
          </a:xfrm>
          <a:prstGeom prst="rect">
            <a:avLst/>
          </a:prstGeom>
          <a:solidFill>
            <a:srgbClr val="4039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12648" y="6620256"/>
            <a:ext cx="4005072" cy="128016"/>
          </a:xfrm>
          <a:prstGeom prst="rect">
            <a:avLst/>
          </a:prstGeom>
          <a:noFill/>
        </p:spPr>
        <p:txBody>
          <a:bodyPr wrap="square" lIns="0" tIns="0" rIns="0" bIns="0" anchor="ctr">
            <a:spAutoFit/>
          </a:bodyPr>
          <a:lstStyle/>
          <a:p>
            <a:pPr algn="l">
              <a:lnSpc>
                <a:spcPct val="92000"/>
              </a:lnSpc>
              <a:spcBef>
                <a:spcPts val="0"/>
              </a:spcBef>
              <a:spcAft>
                <a:spcPts val="0"/>
              </a:spcAft>
            </a:pPr>
            <a:r>
              <a:rPr lang="en-US" sz="900" b="0">
                <a:solidFill>
                  <a:srgbClr val="D8D2DC"/>
                </a:solidFill>
                <a:latin typeface="Arial"/>
              </a:rPr>
              <a:t>SHIV  ·  PMM CANDIDATE  ·  18 AUG 2026</a:t>
            </a:r>
          </a:p>
        </p:txBody>
      </p:sp>
      <p:sp>
        <p:nvSpPr>
          <p:cNvPr id="61" name="TextBox 60"/>
          <p:cNvSpPr txBox="1"/>
          <p:nvPr/>
        </p:nvSpPr>
        <p:spPr>
          <a:xfrm>
            <a:off x="11237976" y="6620256"/>
            <a:ext cx="347472" cy="128016"/>
          </a:xfrm>
          <a:prstGeom prst="rect">
            <a:avLst/>
          </a:prstGeom>
          <a:noFill/>
        </p:spPr>
        <p:txBody>
          <a:bodyPr wrap="square" lIns="0" tIns="0" rIns="0" bIns="0" anchor="ctr">
            <a:spAutoFit/>
          </a:bodyPr>
          <a:lstStyle/>
          <a:p>
            <a:pPr algn="r">
              <a:lnSpc>
                <a:spcPct val="92000"/>
              </a:lnSpc>
              <a:spcBef>
                <a:spcPts val="0"/>
              </a:spcBef>
              <a:spcAft>
                <a:spcPts val="0"/>
              </a:spcAft>
            </a:pPr>
            <a:r>
              <a:rPr lang="en-US" sz="900" b="0">
                <a:solidFill>
                  <a:srgbClr val="D8D2DC"/>
                </a:solidFill>
                <a:latin typeface="Silkscreen"/>
              </a:rPr>
              <a:t>11</a:t>
            </a:r>
          </a:p>
        </p:txBody>
      </p:sp>
      <p:sp>
        <p:nvSpPr>
          <p:cNvPr id="62" name="Three moves label"/>
          <p:cNvSpPr txBox="1"/>
          <p:nvPr/>
        </p:nvSpPr>
        <p:spPr>
          <a:xfrm>
            <a:off x="841248" y="1389888"/>
            <a:ext cx="3840480" cy="164592"/>
          </a:xfrm>
          <a:prstGeom prst="rect">
            <a:avLst/>
          </a:prstGeom>
          <a:noFill/>
        </p:spPr>
        <p:txBody>
          <a:bodyPr wrap="square" lIns="0" tIns="0" rIns="0" bIns="0" anchor="ctr">
            <a:spAutoFit/>
          </a:bodyPr>
          <a:lstStyle/>
          <a:p>
            <a:pPr algn="l"/>
            <a:r>
              <a:rPr lang="en-US" sz="1060" b="1">
                <a:solidFill>
                  <a:srgbClr val="FA500E"/>
                </a:solidFill>
                <a:latin typeface="Arial"/>
              </a:rPr>
              <a:t>THREE COMMERCIAL MOVES</a:t>
            </a:r>
          </a:p>
        </p:txBody>
      </p:sp>
      <p:sp>
        <p:nvSpPr>
          <p:cNvPr id="63" name="Rectangle 62"/>
          <p:cNvSpPr/>
          <p:nvPr/>
        </p:nvSpPr>
        <p:spPr>
          <a:xfrm>
            <a:off x="841248" y="1645920"/>
            <a:ext cx="10515600" cy="16459"/>
          </a:xfrm>
          <a:prstGeom prst="rect">
            <a:avLst/>
          </a:prstGeom>
          <a:solidFill>
            <a:srgbClr val="8A8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EXPAND number"/>
          <p:cNvSpPr txBox="1">
            <a:spLocks/>
          </p:cNvSpPr>
          <p:nvPr/>
        </p:nvSpPr>
        <p:spPr>
          <a:xfrm>
            <a:off x="841248" y="1810512"/>
            <a:ext cx="384048" cy="182880"/>
          </a:xfrm>
          <a:prstGeom prst="rect">
            <a:avLst/>
          </a:prstGeom>
          <a:noFill/>
        </p:spPr>
        <p:txBody>
          <a:bodyPr wrap="square" lIns="0" tIns="0" rIns="0" bIns="0" anchor="ctr">
            <a:spAutoFit/>
          </a:bodyPr>
          <a:lstStyle/>
          <a:p>
            <a:pPr algn="l"/>
            <a:r>
              <a:rPr lang="en-US" sz="1200" b="0">
                <a:solidFill>
                  <a:srgbClr val="FA500E"/>
                </a:solidFill>
                <a:latin typeface="Silkscreen"/>
              </a:rPr>
              <a:t>01</a:t>
            </a:r>
          </a:p>
        </p:txBody>
      </p:sp>
      <p:sp>
        <p:nvSpPr>
          <p:cNvPr id="65" name="EXPAND heading"/>
          <p:cNvSpPr txBox="1">
            <a:spLocks/>
          </p:cNvSpPr>
          <p:nvPr/>
        </p:nvSpPr>
        <p:spPr>
          <a:xfrm>
            <a:off x="1344168" y="1746504"/>
            <a:ext cx="2606040" cy="310896"/>
          </a:xfrm>
          <a:prstGeom prst="rect">
            <a:avLst/>
          </a:prstGeom>
          <a:noFill/>
        </p:spPr>
        <p:txBody>
          <a:bodyPr wrap="square" lIns="0" tIns="0" rIns="0" bIns="0" anchor="ctr">
            <a:spAutoFit/>
          </a:bodyPr>
          <a:lstStyle/>
          <a:p>
            <a:pPr algn="l"/>
            <a:r>
              <a:rPr lang="en-US" sz="2300" b="0">
                <a:solidFill>
                  <a:srgbClr val="FFF8F2"/>
                </a:solidFill>
                <a:latin typeface="Tiny5"/>
              </a:rPr>
              <a:t>EXPAND</a:t>
            </a:r>
          </a:p>
        </p:txBody>
      </p:sp>
      <p:sp>
        <p:nvSpPr>
          <p:cNvPr id="66" name="Rectangle 65"/>
          <p:cNvSpPr>
            <a:spLocks/>
          </p:cNvSpPr>
          <p:nvPr/>
        </p:nvSpPr>
        <p:spPr>
          <a:xfrm>
            <a:off x="841248" y="2167128"/>
            <a:ext cx="3182112" cy="25603"/>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EXPAND point"/>
          <p:cNvSpPr txBox="1"/>
          <p:nvPr/>
        </p:nvSpPr>
        <p:spPr>
          <a:xfrm>
            <a:off x="841248" y="2393763"/>
            <a:ext cx="3182112" cy="406265"/>
          </a:xfrm>
          <a:prstGeom prst="rect">
            <a:avLst/>
          </a:prstGeom>
          <a:noFill/>
        </p:spPr>
        <p:txBody>
          <a:bodyPr wrap="square" lIns="0" tIns="0" rIns="0" bIns="0" anchor="ctr">
            <a:spAutoFit/>
          </a:bodyPr>
          <a:lstStyle/>
          <a:p>
            <a:pPr algn="l"/>
            <a:r>
              <a:rPr lang="en-US" sz="1320" b="1">
                <a:solidFill>
                  <a:srgbClr val="D7CFCC"/>
                </a:solidFill>
                <a:latin typeface="Arial"/>
              </a:rPr>
              <a:t>Find the next high-value workflow inside proven customers.</a:t>
            </a:r>
          </a:p>
        </p:txBody>
      </p:sp>
      <p:sp>
        <p:nvSpPr>
          <p:cNvPr id="68" name="EXPAND action label"/>
          <p:cNvSpPr txBox="1"/>
          <p:nvPr/>
        </p:nvSpPr>
        <p:spPr>
          <a:xfrm>
            <a:off x="841248" y="2991593"/>
            <a:ext cx="3182112" cy="161583"/>
          </a:xfrm>
          <a:prstGeom prst="rect">
            <a:avLst/>
          </a:prstGeom>
          <a:noFill/>
        </p:spPr>
        <p:txBody>
          <a:bodyPr wrap="square" lIns="0" tIns="0" rIns="0" bIns="0" anchor="ctr">
            <a:spAutoFit/>
          </a:bodyPr>
          <a:lstStyle/>
          <a:p>
            <a:pPr algn="l"/>
            <a:r>
              <a:rPr lang="en-US" sz="1050" b="1">
                <a:solidFill>
                  <a:srgbClr val="FA500E"/>
                </a:solidFill>
                <a:latin typeface="Arial"/>
              </a:rPr>
              <a:t>ACTION</a:t>
            </a:r>
          </a:p>
        </p:txBody>
      </p:sp>
      <p:sp>
        <p:nvSpPr>
          <p:cNvPr id="69" name="EXPAND action"/>
          <p:cNvSpPr txBox="1"/>
          <p:nvPr/>
        </p:nvSpPr>
        <p:spPr>
          <a:xfrm>
            <a:off x="841248" y="3220537"/>
            <a:ext cx="3182112" cy="563231"/>
          </a:xfrm>
          <a:prstGeom prst="rect">
            <a:avLst/>
          </a:prstGeom>
          <a:noFill/>
        </p:spPr>
        <p:txBody>
          <a:bodyPr wrap="square" lIns="0" tIns="0" rIns="0" bIns="0" anchor="ctr">
            <a:spAutoFit/>
          </a:bodyPr>
          <a:lstStyle/>
          <a:p>
            <a:pPr algn="l"/>
            <a:r>
              <a:rPr lang="en-US" sz="1220" b="1">
                <a:solidFill>
                  <a:srgbClr val="FFF8F2"/>
                </a:solidFill>
                <a:latin typeface="Arial"/>
              </a:rPr>
              <a:t>CURRENT PROOF → ADJACENT WORKFLOW → BUYER → COMMERCIAL OPPORTUNITY</a:t>
            </a:r>
          </a:p>
        </p:txBody>
      </p:sp>
      <p:sp>
        <p:nvSpPr>
          <p:cNvPr id="70" name="EXPAND gate label"/>
          <p:cNvSpPr txBox="1">
            <a:spLocks/>
          </p:cNvSpPr>
          <p:nvPr/>
        </p:nvSpPr>
        <p:spPr>
          <a:xfrm>
            <a:off x="841248" y="3950208"/>
            <a:ext cx="3182112" cy="146304"/>
          </a:xfrm>
          <a:prstGeom prst="rect">
            <a:avLst/>
          </a:prstGeom>
          <a:noFill/>
        </p:spPr>
        <p:txBody>
          <a:bodyPr wrap="square" lIns="0" tIns="0" rIns="0" bIns="0" anchor="ctr">
            <a:spAutoFit/>
          </a:bodyPr>
          <a:lstStyle/>
          <a:p>
            <a:pPr algn="l"/>
            <a:r>
              <a:rPr lang="en-US" sz="1050" b="1">
                <a:solidFill>
                  <a:srgbClr val="FA500E"/>
                </a:solidFill>
                <a:latin typeface="Arial"/>
              </a:rPr>
              <a:t>DECISION GATE</a:t>
            </a:r>
          </a:p>
        </p:txBody>
      </p:sp>
      <p:sp>
        <p:nvSpPr>
          <p:cNvPr id="71" name="EXPAND gate"/>
          <p:cNvSpPr txBox="1"/>
          <p:nvPr/>
        </p:nvSpPr>
        <p:spPr>
          <a:xfrm>
            <a:off x="841248" y="4209070"/>
            <a:ext cx="3182112" cy="360099"/>
          </a:xfrm>
          <a:prstGeom prst="rect">
            <a:avLst/>
          </a:prstGeom>
          <a:noFill/>
        </p:spPr>
        <p:txBody>
          <a:bodyPr wrap="square" lIns="0" tIns="0" rIns="0" bIns="0" anchor="ctr">
            <a:spAutoFit/>
          </a:bodyPr>
          <a:lstStyle/>
          <a:p>
            <a:pPr algn="l"/>
            <a:r>
              <a:rPr lang="en-US" sz="1170" b="1">
                <a:solidFill>
                  <a:srgbClr val="FFF8F2"/>
                </a:solidFill>
                <a:latin typeface="Arial"/>
              </a:rPr>
              <a:t>Is there measurable pain, an owner and a reason to act now?</a:t>
            </a:r>
          </a:p>
        </p:txBody>
      </p:sp>
      <p:sp>
        <p:nvSpPr>
          <p:cNvPr id="72" name="Rectangle 71"/>
          <p:cNvSpPr>
            <a:spLocks/>
          </p:cNvSpPr>
          <p:nvPr/>
        </p:nvSpPr>
        <p:spPr>
          <a:xfrm>
            <a:off x="841248" y="4709160"/>
            <a:ext cx="3182112" cy="20116"/>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UNBLOCK number"/>
          <p:cNvSpPr txBox="1"/>
          <p:nvPr/>
        </p:nvSpPr>
        <p:spPr>
          <a:xfrm>
            <a:off x="4425696" y="1810512"/>
            <a:ext cx="384048" cy="182880"/>
          </a:xfrm>
          <a:prstGeom prst="rect">
            <a:avLst/>
          </a:prstGeom>
          <a:noFill/>
        </p:spPr>
        <p:txBody>
          <a:bodyPr wrap="square" lIns="0" tIns="0" rIns="0" bIns="0" anchor="ctr">
            <a:spAutoFit/>
          </a:bodyPr>
          <a:lstStyle/>
          <a:p>
            <a:pPr algn="l"/>
            <a:r>
              <a:rPr lang="en-US" sz="1200" b="0">
                <a:solidFill>
                  <a:srgbClr val="FA500E"/>
                </a:solidFill>
                <a:latin typeface="Silkscreen"/>
              </a:rPr>
              <a:t>02</a:t>
            </a:r>
          </a:p>
        </p:txBody>
      </p:sp>
      <p:sp>
        <p:nvSpPr>
          <p:cNvPr id="74" name="UNBLOCK heading"/>
          <p:cNvSpPr txBox="1"/>
          <p:nvPr/>
        </p:nvSpPr>
        <p:spPr>
          <a:xfrm>
            <a:off x="4928616" y="1724981"/>
            <a:ext cx="2606040" cy="353943"/>
          </a:xfrm>
          <a:prstGeom prst="rect">
            <a:avLst/>
          </a:prstGeom>
          <a:noFill/>
        </p:spPr>
        <p:txBody>
          <a:bodyPr wrap="square" lIns="0" tIns="0" rIns="0" bIns="0" anchor="ctr">
            <a:spAutoFit/>
          </a:bodyPr>
          <a:lstStyle/>
          <a:p>
            <a:pPr algn="l"/>
            <a:r>
              <a:rPr lang="en-US" sz="2300" b="0">
                <a:solidFill>
                  <a:srgbClr val="FFF8F2"/>
                </a:solidFill>
                <a:latin typeface="Tiny5"/>
              </a:rPr>
              <a:t>UNBLOCK</a:t>
            </a:r>
          </a:p>
        </p:txBody>
      </p:sp>
      <p:sp>
        <p:nvSpPr>
          <p:cNvPr id="75" name="Rectangle 74"/>
          <p:cNvSpPr>
            <a:spLocks/>
          </p:cNvSpPr>
          <p:nvPr/>
        </p:nvSpPr>
        <p:spPr>
          <a:xfrm>
            <a:off x="4425696" y="2167128"/>
            <a:ext cx="3182112" cy="25603"/>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UNBLOCK point"/>
          <p:cNvSpPr txBox="1">
            <a:spLocks/>
          </p:cNvSpPr>
          <p:nvPr/>
        </p:nvSpPr>
        <p:spPr>
          <a:xfrm>
            <a:off x="4425696" y="2331720"/>
            <a:ext cx="3182112" cy="530352"/>
          </a:xfrm>
          <a:prstGeom prst="rect">
            <a:avLst/>
          </a:prstGeom>
          <a:noFill/>
        </p:spPr>
        <p:txBody>
          <a:bodyPr wrap="square" lIns="0" tIns="0" rIns="0" bIns="0" anchor="ctr">
            <a:spAutoFit/>
          </a:bodyPr>
          <a:lstStyle/>
          <a:p>
            <a:pPr algn="l"/>
            <a:r>
              <a:rPr lang="en-US" sz="1320" b="1">
                <a:solidFill>
                  <a:srgbClr val="D7CFCC"/>
                </a:solidFill>
                <a:latin typeface="Arial"/>
              </a:rPr>
              <a:t>Remove the issue preventing an active opportunity from advancing.</a:t>
            </a:r>
          </a:p>
        </p:txBody>
      </p:sp>
      <p:sp>
        <p:nvSpPr>
          <p:cNvPr id="77" name="UNBLOCK action label"/>
          <p:cNvSpPr txBox="1"/>
          <p:nvPr/>
        </p:nvSpPr>
        <p:spPr>
          <a:xfrm>
            <a:off x="4425696" y="2991593"/>
            <a:ext cx="3182112" cy="161583"/>
          </a:xfrm>
          <a:prstGeom prst="rect">
            <a:avLst/>
          </a:prstGeom>
          <a:noFill/>
        </p:spPr>
        <p:txBody>
          <a:bodyPr wrap="square" lIns="0" tIns="0" rIns="0" bIns="0" anchor="ctr">
            <a:spAutoFit/>
          </a:bodyPr>
          <a:lstStyle/>
          <a:p>
            <a:pPr algn="l"/>
            <a:r>
              <a:rPr lang="en-US" sz="1050" b="1">
                <a:solidFill>
                  <a:srgbClr val="FA500E"/>
                </a:solidFill>
                <a:latin typeface="Arial"/>
              </a:rPr>
              <a:t>ACTION</a:t>
            </a:r>
          </a:p>
        </p:txBody>
      </p:sp>
      <p:sp>
        <p:nvSpPr>
          <p:cNvPr id="78" name="UNBLOCK action"/>
          <p:cNvSpPr txBox="1"/>
          <p:nvPr/>
        </p:nvSpPr>
        <p:spPr>
          <a:xfrm>
            <a:off x="4425696" y="3220537"/>
            <a:ext cx="3182112" cy="563231"/>
          </a:xfrm>
          <a:prstGeom prst="rect">
            <a:avLst/>
          </a:prstGeom>
          <a:noFill/>
        </p:spPr>
        <p:txBody>
          <a:bodyPr wrap="square" lIns="0" tIns="0" rIns="0" bIns="0" anchor="ctr">
            <a:spAutoFit/>
          </a:bodyPr>
          <a:lstStyle/>
          <a:p>
            <a:pPr algn="l"/>
            <a:r>
              <a:rPr lang="en-US" sz="1220" b="1">
                <a:solidFill>
                  <a:srgbClr val="FFF8F2"/>
                </a:solidFill>
                <a:latin typeface="Arial"/>
              </a:rPr>
              <a:t>BLOCKER → STAKEHOLDER → EVIDENCE → OWNER → NEXT CUSTOMER DECISION</a:t>
            </a:r>
          </a:p>
        </p:txBody>
      </p:sp>
      <p:sp>
        <p:nvSpPr>
          <p:cNvPr id="79" name="UNBLOCK gate label"/>
          <p:cNvSpPr txBox="1"/>
          <p:nvPr/>
        </p:nvSpPr>
        <p:spPr>
          <a:xfrm>
            <a:off x="4425696" y="3942569"/>
            <a:ext cx="3182112" cy="161583"/>
          </a:xfrm>
          <a:prstGeom prst="rect">
            <a:avLst/>
          </a:prstGeom>
          <a:noFill/>
        </p:spPr>
        <p:txBody>
          <a:bodyPr wrap="square" lIns="0" tIns="0" rIns="0" bIns="0" anchor="ctr">
            <a:spAutoFit/>
          </a:bodyPr>
          <a:lstStyle/>
          <a:p>
            <a:pPr algn="l"/>
            <a:r>
              <a:rPr lang="en-US" sz="1050" b="1">
                <a:solidFill>
                  <a:srgbClr val="FA500E"/>
                </a:solidFill>
                <a:latin typeface="Arial"/>
              </a:rPr>
              <a:t>DECISION GATE</a:t>
            </a:r>
          </a:p>
        </p:txBody>
      </p:sp>
      <p:sp>
        <p:nvSpPr>
          <p:cNvPr id="80" name="UNBLOCK gate"/>
          <p:cNvSpPr txBox="1"/>
          <p:nvPr/>
        </p:nvSpPr>
        <p:spPr>
          <a:xfrm>
            <a:off x="4425696" y="4209070"/>
            <a:ext cx="3182112" cy="360099"/>
          </a:xfrm>
          <a:prstGeom prst="rect">
            <a:avLst/>
          </a:prstGeom>
          <a:noFill/>
        </p:spPr>
        <p:txBody>
          <a:bodyPr wrap="square" lIns="0" tIns="0" rIns="0" bIns="0" anchor="ctr">
            <a:spAutoFit/>
          </a:bodyPr>
          <a:lstStyle/>
          <a:p>
            <a:pPr algn="l"/>
            <a:r>
              <a:rPr lang="en-US" sz="1170" b="1">
                <a:solidFill>
                  <a:srgbClr val="FFF8F2"/>
                </a:solidFill>
                <a:latin typeface="Arial"/>
              </a:rPr>
              <a:t>What specifically prevents the customer from making the next decision?</a:t>
            </a:r>
          </a:p>
        </p:txBody>
      </p:sp>
      <p:sp>
        <p:nvSpPr>
          <p:cNvPr id="81" name="Rectangle 80"/>
          <p:cNvSpPr>
            <a:spLocks/>
          </p:cNvSpPr>
          <p:nvPr/>
        </p:nvSpPr>
        <p:spPr>
          <a:xfrm>
            <a:off x="4425696" y="4709160"/>
            <a:ext cx="3182112" cy="20116"/>
          </a:xfrm>
          <a:prstGeom prst="rect">
            <a:avLst/>
          </a:prstGeom>
          <a:solidFill>
            <a:srgbClr val="FFD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 name="CONVERT number"/>
          <p:cNvSpPr txBox="1">
            <a:spLocks/>
          </p:cNvSpPr>
          <p:nvPr/>
        </p:nvSpPr>
        <p:spPr>
          <a:xfrm>
            <a:off x="8001000" y="1810512"/>
            <a:ext cx="384048" cy="182880"/>
          </a:xfrm>
          <a:prstGeom prst="rect">
            <a:avLst/>
          </a:prstGeom>
          <a:noFill/>
        </p:spPr>
        <p:txBody>
          <a:bodyPr wrap="square" lIns="0" tIns="0" rIns="0" bIns="0" anchor="ctr">
            <a:spAutoFit/>
          </a:bodyPr>
          <a:lstStyle/>
          <a:p>
            <a:pPr algn="l"/>
            <a:r>
              <a:rPr lang="en-US" sz="1200" b="0">
                <a:solidFill>
                  <a:srgbClr val="FA500E"/>
                </a:solidFill>
                <a:latin typeface="Silkscreen"/>
              </a:rPr>
              <a:t>03</a:t>
            </a:r>
          </a:p>
        </p:txBody>
      </p:sp>
      <p:sp>
        <p:nvSpPr>
          <p:cNvPr id="83" name="CONVERT heading"/>
          <p:cNvSpPr txBox="1"/>
          <p:nvPr/>
        </p:nvSpPr>
        <p:spPr>
          <a:xfrm>
            <a:off x="8503920" y="1724981"/>
            <a:ext cx="2606040" cy="353943"/>
          </a:xfrm>
          <a:prstGeom prst="rect">
            <a:avLst/>
          </a:prstGeom>
          <a:noFill/>
        </p:spPr>
        <p:txBody>
          <a:bodyPr wrap="square" lIns="0" tIns="0" rIns="0" bIns="0" anchor="ctr">
            <a:spAutoFit/>
          </a:bodyPr>
          <a:lstStyle/>
          <a:p>
            <a:pPr algn="l"/>
            <a:r>
              <a:rPr lang="en-US" sz="2300" b="0">
                <a:solidFill>
                  <a:srgbClr val="FFF8F2"/>
                </a:solidFill>
                <a:latin typeface="Tiny5"/>
              </a:rPr>
              <a:t>CONVERT</a:t>
            </a:r>
          </a:p>
        </p:txBody>
      </p:sp>
      <p:sp>
        <p:nvSpPr>
          <p:cNvPr id="84" name="Rectangle 83"/>
          <p:cNvSpPr>
            <a:spLocks/>
          </p:cNvSpPr>
          <p:nvPr/>
        </p:nvSpPr>
        <p:spPr>
          <a:xfrm>
            <a:off x="8001000" y="2167128"/>
            <a:ext cx="3182112" cy="25603"/>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 name="CONVERT point"/>
          <p:cNvSpPr txBox="1"/>
          <p:nvPr/>
        </p:nvSpPr>
        <p:spPr>
          <a:xfrm>
            <a:off x="8001000" y="2292197"/>
            <a:ext cx="3182112" cy="609398"/>
          </a:xfrm>
          <a:prstGeom prst="rect">
            <a:avLst/>
          </a:prstGeom>
          <a:noFill/>
        </p:spPr>
        <p:txBody>
          <a:bodyPr wrap="square" lIns="0" tIns="0" rIns="0" bIns="0" anchor="ctr">
            <a:spAutoFit/>
          </a:bodyPr>
          <a:lstStyle/>
          <a:p>
            <a:pPr algn="l"/>
            <a:r>
              <a:rPr lang="en-US" sz="1320" b="1">
                <a:solidFill>
                  <a:srgbClr val="D7CFCC"/>
                </a:solidFill>
                <a:latin typeface="Arial"/>
              </a:rPr>
              <a:t>Design evaluations around the commercial decision that follows success.</a:t>
            </a:r>
          </a:p>
        </p:txBody>
      </p:sp>
      <p:sp>
        <p:nvSpPr>
          <p:cNvPr id="86" name="CONVERT action label"/>
          <p:cNvSpPr txBox="1"/>
          <p:nvPr/>
        </p:nvSpPr>
        <p:spPr>
          <a:xfrm>
            <a:off x="8001000" y="2991593"/>
            <a:ext cx="3182112" cy="161583"/>
          </a:xfrm>
          <a:prstGeom prst="rect">
            <a:avLst/>
          </a:prstGeom>
          <a:noFill/>
        </p:spPr>
        <p:txBody>
          <a:bodyPr wrap="square" lIns="0" tIns="0" rIns="0" bIns="0" anchor="ctr">
            <a:spAutoFit/>
          </a:bodyPr>
          <a:lstStyle/>
          <a:p>
            <a:pPr algn="l"/>
            <a:r>
              <a:rPr lang="en-US" sz="1050" b="1">
                <a:solidFill>
                  <a:srgbClr val="FA500E"/>
                </a:solidFill>
                <a:latin typeface="Arial"/>
              </a:rPr>
              <a:t>ACTION</a:t>
            </a:r>
          </a:p>
        </p:txBody>
      </p:sp>
      <p:sp>
        <p:nvSpPr>
          <p:cNvPr id="87" name="CONVERT action"/>
          <p:cNvSpPr txBox="1"/>
          <p:nvPr/>
        </p:nvSpPr>
        <p:spPr>
          <a:xfrm>
            <a:off x="8001000" y="3220537"/>
            <a:ext cx="3182112" cy="563231"/>
          </a:xfrm>
          <a:prstGeom prst="rect">
            <a:avLst/>
          </a:prstGeom>
          <a:noFill/>
        </p:spPr>
        <p:txBody>
          <a:bodyPr wrap="square" lIns="0" tIns="0" rIns="0" bIns="0" anchor="ctr">
            <a:spAutoFit/>
          </a:bodyPr>
          <a:lstStyle/>
          <a:p>
            <a:pPr algn="l"/>
            <a:r>
              <a:rPr lang="en-US" sz="1220" b="1">
                <a:solidFill>
                  <a:srgbClr val="FFF8F2"/>
                </a:solidFill>
                <a:latin typeface="Arial"/>
              </a:rPr>
              <a:t>WORKFLOW → BASELINE → SUCCESS CRITERIA → PRODUCTION PATH → NEXT DECISION</a:t>
            </a:r>
          </a:p>
        </p:txBody>
      </p:sp>
      <p:sp>
        <p:nvSpPr>
          <p:cNvPr id="88" name="CONVERT gate label"/>
          <p:cNvSpPr txBox="1">
            <a:spLocks/>
          </p:cNvSpPr>
          <p:nvPr/>
        </p:nvSpPr>
        <p:spPr>
          <a:xfrm>
            <a:off x="8001000" y="3950208"/>
            <a:ext cx="3182112" cy="146304"/>
          </a:xfrm>
          <a:prstGeom prst="rect">
            <a:avLst/>
          </a:prstGeom>
          <a:noFill/>
        </p:spPr>
        <p:txBody>
          <a:bodyPr wrap="square" lIns="0" tIns="0" rIns="0" bIns="0" anchor="ctr">
            <a:spAutoFit/>
          </a:bodyPr>
          <a:lstStyle/>
          <a:p>
            <a:pPr algn="l"/>
            <a:r>
              <a:rPr lang="en-US" sz="1050" b="1">
                <a:solidFill>
                  <a:srgbClr val="FA500E"/>
                </a:solidFill>
                <a:latin typeface="Arial"/>
              </a:rPr>
              <a:t>DECISION GATE</a:t>
            </a:r>
          </a:p>
        </p:txBody>
      </p:sp>
      <p:sp>
        <p:nvSpPr>
          <p:cNvPr id="89" name="CONVERT gate"/>
          <p:cNvSpPr txBox="1"/>
          <p:nvPr/>
        </p:nvSpPr>
        <p:spPr>
          <a:xfrm>
            <a:off x="8001000" y="4209070"/>
            <a:ext cx="3182112" cy="360099"/>
          </a:xfrm>
          <a:prstGeom prst="rect">
            <a:avLst/>
          </a:prstGeom>
          <a:noFill/>
        </p:spPr>
        <p:txBody>
          <a:bodyPr wrap="square" lIns="0" tIns="0" rIns="0" bIns="0" anchor="ctr">
            <a:spAutoFit/>
          </a:bodyPr>
          <a:lstStyle/>
          <a:p>
            <a:pPr algn="l"/>
            <a:r>
              <a:rPr lang="en-US" sz="1170" b="1">
                <a:solidFill>
                  <a:srgbClr val="FFF8F2"/>
                </a:solidFill>
                <a:latin typeface="Arial"/>
              </a:rPr>
              <a:t>What will the customer do if the evaluation passes?</a:t>
            </a:r>
          </a:p>
        </p:txBody>
      </p:sp>
      <p:sp>
        <p:nvSpPr>
          <p:cNvPr id="90" name="Rectangle 89"/>
          <p:cNvSpPr>
            <a:spLocks/>
          </p:cNvSpPr>
          <p:nvPr/>
        </p:nvSpPr>
        <p:spPr>
          <a:xfrm>
            <a:off x="8001000" y="4709160"/>
            <a:ext cx="3182112" cy="20116"/>
          </a:xfrm>
          <a:prstGeom prst="rect">
            <a:avLst/>
          </a:prstGeom>
          <a:solidFill>
            <a:srgbClr val="8A8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 name="Rectangle 90"/>
          <p:cNvSpPr>
            <a:spLocks/>
          </p:cNvSpPr>
          <p:nvPr/>
        </p:nvSpPr>
        <p:spPr>
          <a:xfrm>
            <a:off x="4261104" y="1810512"/>
            <a:ext cx="10972" cy="2916936"/>
          </a:xfrm>
          <a:prstGeom prst="rect">
            <a:avLst/>
          </a:prstGeom>
          <a:solidFill>
            <a:srgbClr val="8A8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 name="Rectangle 91"/>
          <p:cNvSpPr>
            <a:spLocks/>
          </p:cNvSpPr>
          <p:nvPr/>
        </p:nvSpPr>
        <p:spPr>
          <a:xfrm>
            <a:off x="7836408" y="1810512"/>
            <a:ext cx="10972" cy="2916936"/>
          </a:xfrm>
          <a:prstGeom prst="rect">
            <a:avLst/>
          </a:prstGeom>
          <a:solidFill>
            <a:srgbClr val="8A8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 name="Executive principle"/>
          <p:cNvSpPr txBox="1"/>
          <p:nvPr/>
        </p:nvSpPr>
        <p:spPr>
          <a:xfrm>
            <a:off x="841248" y="4883542"/>
            <a:ext cx="10515600" cy="181588"/>
          </a:xfrm>
          <a:prstGeom prst="rect">
            <a:avLst/>
          </a:prstGeom>
          <a:noFill/>
        </p:spPr>
        <p:txBody>
          <a:bodyPr wrap="square" lIns="0" tIns="0" rIns="0" bIns="0" anchor="ctr">
            <a:spAutoFit/>
          </a:bodyPr>
          <a:lstStyle/>
          <a:p>
            <a:pPr algn="ctr"/>
            <a:r>
              <a:rPr lang="en-US" sz="1180" b="1">
                <a:solidFill>
                  <a:srgbClr val="FA500E"/>
                </a:solidFill>
                <a:latin typeface="Arial"/>
              </a:rPr>
              <a:t>FOCUS PMM EFFORT ON CUSTOMER DECISIONS CLOSEST TO MEASURABLE COMMERCIAL IMPACT.</a:t>
            </a:r>
          </a:p>
        </p:txBody>
      </p:sp>
      <p:sp>
        <p:nvSpPr>
          <p:cNvPr id="94" name="Industries system label"/>
          <p:cNvSpPr txBox="1">
            <a:spLocks/>
          </p:cNvSpPr>
          <p:nvPr/>
        </p:nvSpPr>
        <p:spPr>
          <a:xfrm>
            <a:off x="841248" y="5193792"/>
            <a:ext cx="3154680" cy="155448"/>
          </a:xfrm>
          <a:prstGeom prst="rect">
            <a:avLst/>
          </a:prstGeom>
          <a:noFill/>
        </p:spPr>
        <p:txBody>
          <a:bodyPr wrap="square" lIns="0" tIns="0" rIns="0" bIns="0" anchor="ctr">
            <a:spAutoFit/>
          </a:bodyPr>
          <a:lstStyle/>
          <a:p>
            <a:pPr algn="l"/>
            <a:r>
              <a:rPr lang="en-US" sz="980" b="1">
                <a:solidFill>
                  <a:srgbClr val="FA500E"/>
                </a:solidFill>
                <a:latin typeface="Arial"/>
              </a:rPr>
              <a:t>REPEATABLE INDUSTRIES GTM SYSTEM · ILLUSTRATIVE</a:t>
            </a:r>
          </a:p>
        </p:txBody>
      </p:sp>
      <p:sp>
        <p:nvSpPr>
          <p:cNvPr id="95" name="Industries system flow"/>
          <p:cNvSpPr txBox="1"/>
          <p:nvPr/>
        </p:nvSpPr>
        <p:spPr>
          <a:xfrm>
            <a:off x="4114800" y="5152933"/>
            <a:ext cx="7242048" cy="255455"/>
          </a:xfrm>
          <a:prstGeom prst="rect">
            <a:avLst/>
          </a:prstGeom>
          <a:noFill/>
        </p:spPr>
        <p:txBody>
          <a:bodyPr wrap="square" lIns="0" tIns="0" rIns="0" bIns="0" anchor="ctr">
            <a:spAutoFit/>
          </a:bodyPr>
          <a:lstStyle/>
          <a:p>
            <a:pPr algn="ctr"/>
            <a:r>
              <a:rPr lang="en-US" sz="830" b="1">
                <a:solidFill>
                  <a:srgbClr val="D7CFCC"/>
                </a:solidFill>
                <a:latin typeface="Arial"/>
              </a:rPr>
              <a:t>INDUSTRY PAIN → PRIORITY WORKFLOW → SOLUTION PACKAGE → CUSTOMER PROOF → TARGET ACCOUNTS → EVALUATION → FIELD ENABLEMENT → PRODUCT FEEDBACK → REPEAT</a:t>
            </a:r>
          </a:p>
        </p:txBody>
      </p:sp>
      <p:sp>
        <p:nvSpPr>
          <p:cNvPr id="96" name="FINANCIAL SERVICES label"/>
          <p:cNvSpPr txBox="1"/>
          <p:nvPr/>
        </p:nvSpPr>
        <p:spPr>
          <a:xfrm>
            <a:off x="841248" y="5508546"/>
            <a:ext cx="3154680" cy="147733"/>
          </a:xfrm>
          <a:prstGeom prst="rect">
            <a:avLst/>
          </a:prstGeom>
          <a:noFill/>
        </p:spPr>
        <p:txBody>
          <a:bodyPr wrap="square" lIns="0" tIns="0" rIns="0" bIns="0" anchor="ctr">
            <a:spAutoFit/>
          </a:bodyPr>
          <a:lstStyle/>
          <a:p>
            <a:pPr algn="l"/>
            <a:r>
              <a:rPr lang="en-US" sz="960" b="1">
                <a:solidFill>
                  <a:srgbClr val="FA500E"/>
                </a:solidFill>
                <a:latin typeface="Arial"/>
              </a:rPr>
              <a:t>FINANCIAL SERVICES</a:t>
            </a:r>
          </a:p>
        </p:txBody>
      </p:sp>
      <p:sp>
        <p:nvSpPr>
          <p:cNvPr id="97" name="FINANCIAL SERVICES example"/>
          <p:cNvSpPr txBox="1"/>
          <p:nvPr/>
        </p:nvSpPr>
        <p:spPr>
          <a:xfrm>
            <a:off x="841248" y="5726571"/>
            <a:ext cx="3154680" cy="141449"/>
          </a:xfrm>
          <a:prstGeom prst="rect">
            <a:avLst/>
          </a:prstGeom>
          <a:noFill/>
        </p:spPr>
        <p:txBody>
          <a:bodyPr wrap="square" lIns="0" tIns="0" rIns="0" bIns="0" anchor="ctr">
            <a:spAutoFit/>
          </a:bodyPr>
          <a:lstStyle/>
          <a:p>
            <a:pPr algn="l"/>
            <a:r>
              <a:rPr lang="en-US" sz="919" b="0">
                <a:solidFill>
                  <a:srgbClr val="D7CFCC"/>
                </a:solidFill>
                <a:latin typeface="Arial"/>
              </a:rPr>
              <a:t>KYC / credit / financial-document workflows</a:t>
            </a:r>
          </a:p>
        </p:txBody>
      </p:sp>
      <p:sp>
        <p:nvSpPr>
          <p:cNvPr id="98" name="MANUFACTURING label"/>
          <p:cNvSpPr txBox="1"/>
          <p:nvPr/>
        </p:nvSpPr>
        <p:spPr>
          <a:xfrm>
            <a:off x="4425696" y="5508546"/>
            <a:ext cx="3154680" cy="147733"/>
          </a:xfrm>
          <a:prstGeom prst="rect">
            <a:avLst/>
          </a:prstGeom>
          <a:noFill/>
        </p:spPr>
        <p:txBody>
          <a:bodyPr wrap="square" lIns="0" tIns="0" rIns="0" bIns="0" anchor="ctr">
            <a:spAutoFit/>
          </a:bodyPr>
          <a:lstStyle/>
          <a:p>
            <a:pPr algn="l"/>
            <a:r>
              <a:rPr lang="en-US" sz="960" b="1">
                <a:solidFill>
                  <a:srgbClr val="FA500E"/>
                </a:solidFill>
                <a:latin typeface="Arial"/>
              </a:rPr>
              <a:t>MANUFACTURING</a:t>
            </a:r>
          </a:p>
        </p:txBody>
      </p:sp>
      <p:sp>
        <p:nvSpPr>
          <p:cNvPr id="99" name="MANUFACTURING example"/>
          <p:cNvSpPr txBox="1"/>
          <p:nvPr/>
        </p:nvSpPr>
        <p:spPr>
          <a:xfrm>
            <a:off x="4425696" y="5726571"/>
            <a:ext cx="3154680" cy="141449"/>
          </a:xfrm>
          <a:prstGeom prst="rect">
            <a:avLst/>
          </a:prstGeom>
          <a:noFill/>
        </p:spPr>
        <p:txBody>
          <a:bodyPr wrap="square" lIns="0" tIns="0" rIns="0" bIns="0" anchor="ctr">
            <a:spAutoFit/>
          </a:bodyPr>
          <a:lstStyle/>
          <a:p>
            <a:pPr algn="l"/>
            <a:r>
              <a:rPr lang="en-US" sz="919" b="0">
                <a:solidFill>
                  <a:srgbClr val="D7CFCC"/>
                </a:solidFill>
                <a:latin typeface="Arial"/>
              </a:rPr>
              <a:t>Engineering / maintenance / quality / technical documents</a:t>
            </a:r>
          </a:p>
        </p:txBody>
      </p:sp>
      <p:sp>
        <p:nvSpPr>
          <p:cNvPr id="100" name="PUBLIC SECTOR label"/>
          <p:cNvSpPr txBox="1">
            <a:spLocks/>
          </p:cNvSpPr>
          <p:nvPr/>
        </p:nvSpPr>
        <p:spPr>
          <a:xfrm>
            <a:off x="8001000" y="5513832"/>
            <a:ext cx="3154680" cy="137160"/>
          </a:xfrm>
          <a:prstGeom prst="rect">
            <a:avLst/>
          </a:prstGeom>
          <a:noFill/>
        </p:spPr>
        <p:txBody>
          <a:bodyPr wrap="square" lIns="0" tIns="0" rIns="0" bIns="0" anchor="ctr">
            <a:spAutoFit/>
          </a:bodyPr>
          <a:lstStyle/>
          <a:p>
            <a:pPr algn="l"/>
            <a:r>
              <a:rPr lang="en-US" sz="960" b="1">
                <a:solidFill>
                  <a:srgbClr val="FA500E"/>
                </a:solidFill>
                <a:latin typeface="Arial"/>
              </a:rPr>
              <a:t>PUBLIC SECTOR</a:t>
            </a:r>
          </a:p>
        </p:txBody>
      </p:sp>
      <p:sp>
        <p:nvSpPr>
          <p:cNvPr id="101" name="PUBLIC SECTOR example"/>
          <p:cNvSpPr txBox="1"/>
          <p:nvPr/>
        </p:nvSpPr>
        <p:spPr>
          <a:xfrm>
            <a:off x="8001000" y="5726571"/>
            <a:ext cx="3154680" cy="141449"/>
          </a:xfrm>
          <a:prstGeom prst="rect">
            <a:avLst/>
          </a:prstGeom>
          <a:noFill/>
        </p:spPr>
        <p:txBody>
          <a:bodyPr wrap="square" lIns="0" tIns="0" rIns="0" bIns="0" anchor="ctr">
            <a:spAutoFit/>
          </a:bodyPr>
          <a:lstStyle/>
          <a:p>
            <a:pPr algn="l"/>
            <a:r>
              <a:rPr lang="en-US" sz="919" b="0">
                <a:solidFill>
                  <a:srgbClr val="D7CFCC"/>
                </a:solidFill>
                <a:latin typeface="Arial"/>
              </a:rPr>
              <a:t>Policy / case management / document-heavy citizen services</a:t>
            </a:r>
          </a:p>
        </p:txBody>
      </p:sp>
      <p:sp>
        <p:nvSpPr>
          <p:cNvPr id="102" name="Package enable learn scale band"/>
          <p:cNvSpPr>
            <a:spLocks/>
          </p:cNvSpPr>
          <p:nvPr/>
        </p:nvSpPr>
        <p:spPr>
          <a:xfrm>
            <a:off x="841248" y="6007608"/>
            <a:ext cx="10515600" cy="274320"/>
          </a:xfrm>
          <a:prstGeom prst="rect">
            <a:avLst/>
          </a:prstGeom>
          <a:solidFill>
            <a:srgbClr val="FA500E"/>
          </a:solidFill>
          <a:ln>
            <a:noFill/>
          </a:ln>
        </p:spPr>
        <p:style>
          <a:lnRef idx="1">
            <a:schemeClr val="accent1"/>
          </a:lnRef>
          <a:fillRef idx="3">
            <a:schemeClr val="accent1"/>
          </a:fillRef>
          <a:effectRef idx="2">
            <a:schemeClr val="accent1"/>
          </a:effectRef>
          <a:fontRef idx="minor">
            <a:schemeClr val="lt1"/>
          </a:fontRef>
        </p:style>
        <p:txBody>
          <a:bodyPr wrap="square" lIns="109728" tIns="0" rIns="109728" bIns="0" rtlCol="0" anchor="ctr"/>
          <a:lstStyle/>
          <a:p>
            <a:pPr algn="ctr"/>
            <a:r>
              <a:rPr lang="en-US" sz="1150" b="1">
                <a:solidFill>
                  <a:srgbClr val="161623"/>
                </a:solidFill>
                <a:latin typeface="Arial"/>
              </a:rPr>
              <a:t>PACKAGE → ENABLE → LEARN → SCALE</a:t>
            </a:r>
            <a:r>
              <a:rPr lang="en-US" sz="1080" b="1">
                <a:solidFill>
                  <a:srgbClr val="161623"/>
                </a:solidFill>
                <a:latin typeface="Arial"/>
              </a:rPr>
              <a:t>   Turn one validated vertical motion into repeatable industry growth.</a:t>
            </a:r>
          </a:p>
        </p:txBody>
      </p:sp>
    </p:spTree>
  </p:cSld>
  <p:clrMapOvr>
    <a:masterClrMapping/>
  </p:clrMapOvr>
</p:sld>
</file>

<file path=ppt/theme/theme1.xml><?xml version="1.0" encoding="utf-8"?>
<a:theme xmlns:a="http://schemas.openxmlformats.org/drawingml/2006/main" name="Mistral FSI editorial">
  <a:themeElements>
    <a:clrScheme name="Mistral FSI editorial">
      <a:dk1>
        <a:srgbClr val="000000"/>
      </a:dk1>
      <a:lt1>
        <a:srgbClr val="FFFFFF"/>
      </a:lt1>
      <a:dk2>
        <a:srgbClr val="1F1F1F"/>
      </a:dk2>
      <a:lt2>
        <a:srgbClr val="FFFAEB"/>
      </a:lt2>
      <a:accent1>
        <a:srgbClr val="FA520F"/>
      </a:accent1>
      <a:accent2>
        <a:srgbClr val="3767E8"/>
      </a:accent2>
      <a:accent3>
        <a:srgbClr val="17A34A"/>
      </a:accent3>
      <a:accent4>
        <a:srgbClr val="FFD900"/>
      </a:accent4>
      <a:accent5>
        <a:srgbClr val="7B3FF2"/>
      </a:accent5>
      <a:accent6>
        <a:srgbClr val="E86B84"/>
      </a:accent6>
      <a:hlink>
        <a:srgbClr val="3767E8"/>
      </a:hlink>
      <a:folHlink>
        <a:srgbClr val="7B3FF2"/>
      </a:folHlink>
    </a:clrScheme>
    <a:fontScheme name="Office">
      <a:majorFont>
        <a:latin typeface="Calibri Light"/>
        <a:ea typeface="Calibri Light"/>
        <a:cs typeface="Calibri Light"/>
      </a:majorFont>
      <a:minorFont>
        <a:latin typeface="Calibri"/>
        <a:ea typeface="Calibri"/>
        <a:cs typeface="Calibri"/>
      </a:minorFont>
    </a:fontScheme>
    <a:fmtScheme name="Mistral FSI editorial">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662</TotalTime>
  <Words>6594</Words>
  <Application>Microsoft Office PowerPoint</Application>
  <PresentationFormat>Widescreen</PresentationFormat>
  <Paragraphs>737</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Aptos</vt:lpstr>
      <vt:lpstr>Tiny5</vt:lpstr>
      <vt:lpstr>Calibri</vt:lpstr>
      <vt:lpstr>Silkscreen</vt:lpstr>
      <vt:lpstr>Mistral FSI editorial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Mistral AI Financial Services GTM Strategy</dc:title>
  <dc:subject>Executive GTM deck synthesized from public source URLs and strategy materials</dc:subject>
  <dc:creator>OpenAI</dc:creator>
  <cp:lastModifiedBy>Shivam Singh</cp:lastModifiedBy>
  <cp:revision>246</cp:revision>
  <dcterms:created xsi:type="dcterms:W3CDTF">2026-08-17T19:50:48Z</dcterms:created>
  <dcterms:modified xsi:type="dcterms:W3CDTF">2026-08-18T07:51:53Z</dcterms:modified>
</cp:coreProperties>
</file>