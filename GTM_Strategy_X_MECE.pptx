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56" r:id="rId3"/>
    <p:sldId id="281" r:id="rId4"/>
    <p:sldId id="259" r:id="rId5"/>
    <p:sldId id="261" r:id="rId6"/>
    <p:sldId id="283" r:id="rId7"/>
    <p:sldId id="284" r:id="rId8"/>
    <p:sldId id="279" r:id="rId9"/>
    <p:sldId id="280" r:id="rId10"/>
    <p:sldId id="285" r:id="rId11"/>
    <p:sldId id="28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90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https://openai.com/index/new-tools-for-building-agents/
- https://docs.anthropic.com/en/docs/agents-and-tools/tool-use/tool-runner-sdk
- https://docs.cloud.google.com/vertex-ai/generative-ai/docs/agent-engine/evaluate
- https://azure.microsoft.com/en-us/products/ai-foundry
- https://aws.amazon.com/about-aws/whats-new/2026/05/bedrock-agentcore-launch-aws-govcloud-us/
- https://www.langchain.com/langsmith-platform
- https://docs.llamaindex.ai/en/v0.10.33/understanding/loading/llamahub/
- https://langchain-ai.github.io/langgraph/concepts/persistence/
- https://mistral.ai/news/ai-studio/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3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9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500" b="1">
                <a:solidFill>
                  <a:srgbClr val="FFFFFF"/>
                </a:solidFill>
                <a:latin typeface="Aptos Display"/>
              </a:rPr>
              <a:t>Launch &amp;
Commercialization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FFD447"/>
                </a:solidFill>
                <a:latin typeface="Aptos"/>
              </a:rPr>
              <a:t>The operating plan to make Mistral Studio orderable, deployable and ready to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D9D5CC"/>
                </a:solidFill>
                <a:latin typeface="Aptos"/>
              </a:rPr>
              <a:t>Commercial design, readiness gates and decision rights for launch.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D0C7B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01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0" name="Picture 1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03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>
            <a:spLocks/>
          </p:cNvSpPr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LAUNCH CHARTER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FFFFFF"/>
                </a:solidFill>
                <a:latin typeface="Aptos Display"/>
              </a:rPr>
              <a:t>Launch is complete when Studio can be bought, deployed and operated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AD9CA"/>
                </a:solidFill>
                <a:latin typeface="Aptos"/>
              </a:rPr>
              <a:t>No market narrative: this deck owns the commercial and operational launch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609344"/>
            <a:ext cx="3447288" cy="7315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828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01 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67712"/>
            <a:ext cx="3246120" cy="2423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Make three deployment offers orderable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Convert trial and POV activity into contracted production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Prove cross-functional readiness before 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27632"/>
            <a:ext cx="10972" cy="3584448"/>
          </a:xfrm>
          <a:prstGeom prst="rect">
            <a:avLst/>
          </a:prstGeom>
          <a:solidFill>
            <a:srgbClr val="6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59" y="1609344"/>
            <a:ext cx="3447288" cy="731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1828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D447"/>
                </a:solidFill>
                <a:latin typeface="Aptos"/>
              </a:rPr>
              <a:t>02  LAUNCH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267712"/>
            <a:ext cx="3246120" cy="2423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/>
              <a:t>Offers, pricing, contracts and upgrade paths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/>
              <a:t>Routes to market and stage-gated commercial motion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/>
              <a:t>Provisioning, billing, legal, support, marketplace and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1627632"/>
            <a:ext cx="10972" cy="3584448"/>
          </a:xfrm>
          <a:prstGeom prst="rect">
            <a:avLst/>
          </a:prstGeom>
          <a:solidFill>
            <a:srgbClr val="6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02752" y="1609344"/>
            <a:ext cx="3447288" cy="7315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2902"/>
                </a:solidFill>
                <a:latin typeface="Aptos"/>
              </a:rPr>
              <a:t>03  SUCCESS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267712"/>
            <a:ext cx="3246120" cy="2423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All nine launch gates approved with evidence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Funnel, economics and velocity metrics instrumented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First production deployments have owner, telemetry and support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956048"/>
            <a:ext cx="10808208" cy="77724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175504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D447"/>
                </a:solidFill>
                <a:latin typeface="Aptos"/>
              </a:rPr>
              <a:t>LAUNCH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5093208"/>
            <a:ext cx="84856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ptos"/>
              </a:rPr>
              <a:t>No offer goes live until the order → entitlement → billing → deployment → support path works end to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>
            <a:spLocks/>
          </p:cNvSpPr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COMMERCIALIZATION-CRITICAL CAPABILITIES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FFFFFF"/>
                </a:solidFill>
                <a:latin typeface="Aptos Display"/>
              </a:rPr>
              <a:t>Only the capabilities required to sell, deploy and support Studio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FAD9CA"/>
                </a:solidFill>
                <a:latin typeface="Aptos"/>
              </a:rPr>
              <a:t>Product-system detail stays in the PMM/product deck.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6928" y="1673352"/>
            <a:ext cx="1956816" cy="7315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1892807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66928" y="224028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FFFFFF"/>
                </a:solidFill>
                <a:latin typeface="Aptos Display"/>
              </a:rPr>
              <a:t>DEPLOYMENT MODES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6928" y="2962656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FAD9CA"/>
                </a:solidFill>
                <a:latin typeface="Aptos"/>
              </a:rPr>
              <a:t>Serverless • Dedicated • Self-hosted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66928" y="3767328"/>
            <a:ext cx="193852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FFFFFF"/>
                </a:solidFill>
                <a:latin typeface="Aptos"/>
              </a:rPr>
              <a:t>Maps each offer to a supported operating boundary.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2624328" y="1719072"/>
            <a:ext cx="10972" cy="3401568"/>
          </a:xfrm>
          <a:prstGeom prst="rect">
            <a:avLst/>
          </a:prstGeom>
          <a:solidFill>
            <a:srgbClr val="6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2834640" y="1673352"/>
            <a:ext cx="1956816" cy="7315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834640" y="1892807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2834640" y="224028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FFFFFF"/>
                </a:solidFill>
                <a:latin typeface="Aptos Display"/>
              </a:rPr>
              <a:t>PROVISION + METER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834640" y="2962656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FAD9CA"/>
                </a:solidFill>
                <a:latin typeface="Aptos"/>
              </a:rPr>
              <a:t>Entitlements • usage events • billing handoff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2834640" y="3767328"/>
            <a:ext cx="193852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FFFFFF"/>
                </a:solidFill>
                <a:latin typeface="Aptos"/>
              </a:rPr>
              <a:t>Turns a signed order into access and invoiceable consumption.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4892040" y="1719072"/>
            <a:ext cx="10972" cy="3401568"/>
          </a:xfrm>
          <a:prstGeom prst="rect">
            <a:avLst/>
          </a:prstGeom>
          <a:solidFill>
            <a:srgbClr val="6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102352" y="1673352"/>
            <a:ext cx="1956816" cy="731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5102352" y="1892807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102352" y="224028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FFFFFF"/>
                </a:solidFill>
                <a:latin typeface="Aptos Display"/>
              </a:rPr>
              <a:t>ENTERPRISE CONTROL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5102352" y="2962656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FAD9CA"/>
                </a:solidFill>
                <a:latin typeface="Aptos"/>
              </a:rPr>
              <a:t>Identity • security evidence • auditability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5102352" y="3767328"/>
            <a:ext cx="193852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FFFFFF"/>
                </a:solidFill>
                <a:latin typeface="Aptos"/>
              </a:rPr>
              <a:t>Clears procurement, legal and security gates.</a:t>
            </a:r>
          </a:p>
        </p:txBody>
      </p:sp>
      <p:sp>
        <p:nvSpPr>
          <p:cNvPr id="29" name="Rectangle 28"/>
          <p:cNvSpPr>
            <a:spLocks/>
          </p:cNvSpPr>
          <p:nvPr/>
        </p:nvSpPr>
        <p:spPr>
          <a:xfrm>
            <a:off x="7159752" y="1719072"/>
            <a:ext cx="10972" cy="3401568"/>
          </a:xfrm>
          <a:prstGeom prst="rect">
            <a:avLst/>
          </a:prstGeom>
          <a:solidFill>
            <a:srgbClr val="6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>
            <a:spLocks/>
          </p:cNvSpPr>
          <p:nvPr/>
        </p:nvSpPr>
        <p:spPr>
          <a:xfrm>
            <a:off x="7370063" y="1673352"/>
            <a:ext cx="1956816" cy="7315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7370063" y="1892807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3" y="224028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FFFFFF"/>
                </a:solidFill>
                <a:latin typeface="Aptos Display"/>
              </a:rPr>
              <a:t>OPERATE +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3" y="2962656"/>
            <a:ext cx="1938528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FAD9CA"/>
                </a:solidFill>
                <a:latin typeface="Aptos"/>
              </a:rPr>
              <a:t>Telemetry • incident routing • service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3" y="3767328"/>
            <a:ext cx="193852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FFFFFF"/>
                </a:solidFill>
                <a:latin typeface="Aptos"/>
              </a:rPr>
              <a:t>Makes production ownership and SLA response explicit.</a:t>
            </a:r>
          </a:p>
        </p:txBody>
      </p:sp>
      <p:sp>
        <p:nvSpPr>
          <p:cNvPr id="35" name="Rectangle 34"/>
          <p:cNvSpPr>
            <a:spLocks/>
          </p:cNvSpPr>
          <p:nvPr/>
        </p:nvSpPr>
        <p:spPr>
          <a:xfrm>
            <a:off x="9427463" y="1719072"/>
            <a:ext cx="10972" cy="3401568"/>
          </a:xfrm>
          <a:prstGeom prst="rect">
            <a:avLst/>
          </a:prstGeom>
          <a:solidFill>
            <a:srgbClr val="6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>
            <a:spLocks/>
          </p:cNvSpPr>
          <p:nvPr/>
        </p:nvSpPr>
        <p:spPr>
          <a:xfrm>
            <a:off x="9637776" y="1673352"/>
            <a:ext cx="1956816" cy="7315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9637776" y="1892807"/>
            <a:ext cx="3840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240280"/>
            <a:ext cx="19385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FFFFFF"/>
                </a:solidFill>
                <a:latin typeface="Aptos Display"/>
              </a:rPr>
              <a:t>UPGRADE WITHOUT REBUILD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9637776" y="2962656"/>
            <a:ext cx="19385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FAD9CA"/>
                </a:solidFill>
                <a:latin typeface="Aptos"/>
              </a:rPr>
              <a:t>Tier migration • commit expansion • workload continuity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9637776" y="3767328"/>
            <a:ext cx="193852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FFFFFF"/>
                </a:solidFill>
                <a:latin typeface="Aptos"/>
              </a:rPr>
              <a:t>Creates a commercial path from trial to scaled production.</a:t>
            </a:r>
          </a:p>
        </p:txBody>
      </p:sp>
      <p:sp>
        <p:nvSpPr>
          <p:cNvPr id="41" name="Rectangle 40"/>
          <p:cNvSpPr>
            <a:spLocks/>
          </p:cNvSpPr>
          <p:nvPr/>
        </p:nvSpPr>
        <p:spPr>
          <a:xfrm>
            <a:off x="566928" y="5157216"/>
            <a:ext cx="10927080" cy="42062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768096" y="5266944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FFFFF"/>
                </a:solidFill>
                <a:latin typeface="Aptos"/>
              </a:rPr>
              <a:t>COMMERCIAL HANDOFF  •  Every capability needs an offer owner, operating evidence and a customer-facing boundary.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>
            <a:spLocks/>
          </p:cNvSpPr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ROUTES TO MARKET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111111"/>
                </a:solidFill>
                <a:latin typeface="Aptos Display"/>
              </a:rPr>
              <a:t>Each route starts with a different buying constraint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Entry route determines offer, qualification path and commercial owner.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6928" y="1554480"/>
            <a:ext cx="2505456" cy="7315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1773936"/>
            <a:ext cx="25054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SELF-SERVE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66928" y="2240280"/>
            <a:ext cx="250545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Developers and small teams validating a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54096"/>
            <a:ext cx="2487168" cy="10972"/>
          </a:xfrm>
          <a:prstGeom prst="rect">
            <a:avLst/>
          </a:prstGeom>
          <a:solidFill>
            <a:srgbClr val="EF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66928" y="32461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ENTRY  Trial / free tier → Serverless PAYG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66928" y="4023360"/>
            <a:ext cx="248716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111111"/>
                </a:solidFill>
                <a:latin typeface="Aptos"/>
              </a:rPr>
              <a:t>HANDOFF  Usage, security or production threshold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66928" y="49560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OWNER  Growth / Product-led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3200400" y="1572768"/>
            <a:ext cx="10972" cy="3840480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3355848" y="1554480"/>
            <a:ext cx="2505456" cy="7315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3355848" y="1773936"/>
            <a:ext cx="25054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DIRECT ENTERPRISE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3355848" y="2240280"/>
            <a:ext cx="250545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Platform teams with governed or strategic workloads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3355848" y="3054096"/>
            <a:ext cx="2487168" cy="10972"/>
          </a:xfrm>
          <a:prstGeom prst="rect">
            <a:avLst/>
          </a:prstGeom>
          <a:solidFill>
            <a:srgbClr val="EF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3355848" y="32461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ENTRY  Qualified use case → POV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3355848" y="4023360"/>
            <a:ext cx="248716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111111"/>
                </a:solidFill>
                <a:latin typeface="Aptos"/>
              </a:rPr>
              <a:t>HANDOFF  Technical + economic success criteria met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3355848" y="49560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OWNER  Account Exec + SE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>
          <a:xfrm>
            <a:off x="5989320" y="1572768"/>
            <a:ext cx="10972" cy="3840480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>
            <a:spLocks/>
          </p:cNvSpPr>
          <p:nvPr/>
        </p:nvSpPr>
        <p:spPr>
          <a:xfrm>
            <a:off x="6144768" y="1554480"/>
            <a:ext cx="2505456" cy="731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6144768" y="1773936"/>
            <a:ext cx="25054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CLOUD MARKETPLACES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6144768" y="2240280"/>
            <a:ext cx="250545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Buyers using committed cloud spend or cloud procurement</a:t>
            </a:r>
          </a:p>
        </p:txBody>
      </p:sp>
      <p:sp>
        <p:nvSpPr>
          <p:cNvPr id="31" name="Rectangle 30"/>
          <p:cNvSpPr>
            <a:spLocks/>
          </p:cNvSpPr>
          <p:nvPr/>
        </p:nvSpPr>
        <p:spPr>
          <a:xfrm>
            <a:off x="6144768" y="3054096"/>
            <a:ext cx="2487168" cy="10972"/>
          </a:xfrm>
          <a:prstGeom prst="rect">
            <a:avLst/>
          </a:prstGeom>
          <a:solidFill>
            <a:srgbClr val="EF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144768" y="32461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ENTRY  Listing → private offer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6144768" y="4023360"/>
            <a:ext cx="248716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111111"/>
                </a:solidFill>
                <a:latin typeface="Aptos"/>
              </a:rPr>
              <a:t>HANDOFF  Marketplace terms and entitlement validated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9560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OWNER  Alliances + Sales</a:t>
            </a:r>
          </a:p>
        </p:txBody>
      </p:sp>
      <p:sp>
        <p:nvSpPr>
          <p:cNvPr id="35" name="Rectangle 34"/>
          <p:cNvSpPr>
            <a:spLocks/>
          </p:cNvSpPr>
          <p:nvPr/>
        </p:nvSpPr>
        <p:spPr>
          <a:xfrm>
            <a:off x="8778240" y="1572768"/>
            <a:ext cx="10972" cy="3840480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933687" y="1554480"/>
            <a:ext cx="2505456" cy="7315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33687" y="1773936"/>
            <a:ext cx="25054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PARTNERS / 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3687" y="2240280"/>
            <a:ext cx="250545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Transformation programs needing integration or change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33687" y="3054096"/>
            <a:ext cx="2487168" cy="10972"/>
          </a:xfrm>
          <a:prstGeom prst="rect">
            <a:avLst/>
          </a:prstGeom>
          <a:solidFill>
            <a:srgbClr val="EF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33687" y="32461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ENTRY  Joint discovery → assisted POV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7" y="4023360"/>
            <a:ext cx="248716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ptos"/>
              </a:rPr>
              <a:t>HANDOFF  Joint account plan and deployment SOW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3687" y="49560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OWNER  Partner Lead + 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6052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ROUTE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73352" y="5559552"/>
            <a:ext cx="9418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A customer can change route, but the offer owner and commercial gate must remain explicit.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09960" y="645566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COMMERCIAL MOTION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111111"/>
                </a:solidFill>
                <a:latin typeface="Aptos Display"/>
              </a:rPr>
              <a:t>Six stages convert interest into production expansion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042415"/>
            <a:ext cx="10424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Every transition requires evidence—not activity alone.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6928" y="1536192"/>
            <a:ext cx="1627632" cy="8229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181051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84831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Aptos Display"/>
              </a:rPr>
              <a:t>TRIAL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6928" y="2542032"/>
            <a:ext cx="16276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Activated 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202082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A500A"/>
                </a:solidFill>
                <a:latin typeface="Aptos"/>
              </a:rPr>
              <a:t>→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2432304" y="1536192"/>
            <a:ext cx="1627632" cy="8229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432304" y="181051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432304" y="2084831"/>
            <a:ext cx="162763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QUALIFY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2304" y="2542032"/>
            <a:ext cx="16276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Sponsor + budget path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4005072" y="2020824"/>
            <a:ext cx="274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i="0">
                <a:solidFill>
                  <a:srgbClr val="FA500A"/>
                </a:solidFill>
                <a:latin typeface="Apto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536192"/>
            <a:ext cx="1627632" cy="8229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4297680" y="181051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084831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Aptos Display"/>
              </a:rPr>
              <a:t>POV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542032"/>
            <a:ext cx="16276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Success criteria met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02082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A500A"/>
                </a:solidFill>
                <a:latin typeface="Aptos"/>
              </a:rPr>
              <a:t>→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>
          <a:xfrm>
            <a:off x="6163056" y="1536192"/>
            <a:ext cx="1627632" cy="8229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163056" y="181051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2084831"/>
            <a:ext cx="162763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542032"/>
            <a:ext cx="16276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Order + terms signed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4" y="2020824"/>
            <a:ext cx="274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i="0">
                <a:solidFill>
                  <a:srgbClr val="FA500A"/>
                </a:solidFill>
                <a:latin typeface="Aptos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8431" y="1536192"/>
            <a:ext cx="1627632" cy="8229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28431" y="181051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2084831"/>
            <a:ext cx="1627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Aptos Display"/>
              </a:rPr>
              <a:t>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2542032"/>
            <a:ext cx="16276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Production 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02082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A500A"/>
                </a:solidFill>
                <a:latin typeface="Aptos"/>
              </a:rPr>
              <a:t>→</a:t>
            </a:r>
          </a:p>
        </p:txBody>
      </p:sp>
      <p:sp>
        <p:nvSpPr>
          <p:cNvPr id="37" name="Rectangle 36"/>
          <p:cNvSpPr>
            <a:spLocks/>
          </p:cNvSpPr>
          <p:nvPr/>
        </p:nvSpPr>
        <p:spPr>
          <a:xfrm>
            <a:off x="9893807" y="1536192"/>
            <a:ext cx="1627632" cy="8229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893807" y="181051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7" y="2084831"/>
            <a:ext cx="162763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EXPAND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7" y="2542032"/>
            <a:ext cx="16276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Usage + value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364992"/>
            <a:ext cx="21945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COMMERCIAL GATES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368503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Trial → Qualify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21408" y="3685032"/>
            <a:ext cx="5559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Production use case • accountable owner • data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4041648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Qualify → POV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21408" y="4041648"/>
            <a:ext cx="5559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Technical sponsor • agreed KPI • security path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" y="4398264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POV → Contract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21408" y="4398264"/>
            <a:ext cx="5559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KPI met • architecture approved • priced scope</a:t>
            </a:r>
          </a:p>
        </p:txBody>
      </p:sp>
      <p:sp>
        <p:nvSpPr>
          <p:cNvPr id="48" name="TextBox 47"/>
          <p:cNvSpPr txBox="1">
            <a:spLocks/>
          </p:cNvSpPr>
          <p:nvPr/>
        </p:nvSpPr>
        <p:spPr>
          <a:xfrm>
            <a:off x="585216" y="4754880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Contract → Deploy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1408" y="4754880"/>
            <a:ext cx="5559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Signed order • entitlement • billing + support plan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5111496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Deploy → Expand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111496"/>
            <a:ext cx="55595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Production accepted • adoption signal • expansion case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0416" y="3447288"/>
            <a:ext cx="10972" cy="199339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83879" y="336499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FUNCTIONAL ENTRY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368503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Product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90888" y="3685032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ptos"/>
              </a:rPr>
              <a:t>Trial instrumentation + offer fit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4" y="413308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Sales + 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90888" y="413308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ptos"/>
              </a:rPr>
              <a:t>Qualification through 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3024" y="458114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Finance + Legal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90888" y="458114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ptos"/>
              </a:rPr>
              <a:t>Priced scope through signature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502920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CS + Support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90888" y="5029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ptos"/>
              </a:rPr>
              <a:t>Pre-close handoff through expansion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>
            <a:spLocks/>
          </p:cNvSpPr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PRICING + PACKAGING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111111"/>
                </a:solidFill>
                <a:latin typeface="Aptos Display"/>
              </a:rPr>
              <a:t>Three offers share one upgrade path, not one contract model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Proposed launch architecture; final prices and approval bands remain internal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527048"/>
          <a:ext cx="11045952" cy="431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COMMERCIAL LEVER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SERVERLESS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DEDICATED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SELF-HOSTED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Core SKU / offer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Workspace + metered usage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Reserved capacity + enterprise controls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Enterprise Suite license + support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Trial / free tier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Time- or credit-bound sandbox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Qualified pilot; creditable POV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Scoped evaluation / paid POV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Commitment model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PAYG; optional annual spend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12-month capacity or minimum spend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Annual subscription + support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Discount principles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Published volume bands only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Term + volume; approval by band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Term / strategic bundle; Finance approval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Marketplace mechanics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Public listing + cloud billing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Private offer against cloud commit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Private offer where transactable; else direct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Upgrade path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Move to Dedicated for SLO/control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Move to Self-hosted for sovereignty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Add capacity, support and workload rights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>
            <a:spLocks/>
          </p:cNvSpPr>
          <p:nvPr/>
        </p:nvSpPr>
        <p:spPr>
          <a:xfrm>
            <a:off x="566928" y="5925312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POLICY GUARDRAIL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2084831" y="5879592"/>
            <a:ext cx="9326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No off-menu discount without named approver, documented give/get and an auditable floor.</a:t>
            </a:r>
          </a:p>
        </p:txBody>
      </p:sp>
    </p:spTree>
    <p:extLst>
      <p:ext uri="{BB962C8B-B14F-4D97-AF65-F5344CB8AC3E}">
        <p14:creationId xmlns:p14="http://schemas.microsoft.com/office/powerpoint/2010/main" val="194759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>
            <a:spLocks/>
          </p:cNvSpPr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INTEGRATED LAUNCH-READINESS TIMELINE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111111"/>
                </a:solidFill>
                <a:latin typeface="Aptos Display"/>
              </a:rPr>
              <a:t>The critical path runs from offer approval to supported production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Marketing campaign detail is intentionally excluded.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6928" y="1536192"/>
            <a:ext cx="2487168" cy="8229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17739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T−8 → T−5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66928" y="211226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SCOPE + FREEZE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6928" y="2606040"/>
            <a:ext cx="2487168" cy="2395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Product: GA criteria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Engineering: reliability plan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Finance: SKU + meter design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Legal/Security: review plan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Support/CS: service model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Marketplace + Docs: scope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3182112" y="1600200"/>
            <a:ext cx="10972" cy="363931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3355848" y="1536192"/>
            <a:ext cx="2487168" cy="8229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3355848" y="17739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T−4 → T−2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355848" y="211226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BUILD + INTEGRATE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3355848" y="2606040"/>
            <a:ext cx="2487168" cy="2395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Product/Eng: release candidate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Billing: events + entitlement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Legal: terms / DPA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Security: evidence package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Support: runbooks + routing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Marketplace offer + quickstart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5971031" y="1600200"/>
            <a:ext cx="10972" cy="363931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>
            <a:spLocks/>
          </p:cNvSpPr>
          <p:nvPr/>
        </p:nvSpPr>
        <p:spPr>
          <a:xfrm>
            <a:off x="6144768" y="1536192"/>
            <a:ext cx="2487168" cy="8229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144768" y="17739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T−1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6144768" y="211226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PROVE + APPROVE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144768" y="2606040"/>
            <a:ext cx="2487168" cy="2395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GA sign-off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Order-to-cash test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Provisioning / access test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Security exceptions closed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Support incident drill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Marketplace + docs end-to-end QA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59952" y="1600200"/>
            <a:ext cx="10972" cy="363931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/>
          </p:cNvSpPr>
          <p:nvPr/>
        </p:nvSpPr>
        <p:spPr>
          <a:xfrm>
            <a:off x="8933687" y="1536192"/>
            <a:ext cx="2487168" cy="8229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933687" y="17739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LAUNCH → T+4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933687" y="2112264"/>
            <a:ext cx="248716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1" i="0">
                <a:solidFill>
                  <a:srgbClr val="111111"/>
                </a:solidFill>
                <a:latin typeface="Aptos Display"/>
              </a:rPr>
              <a:t>OPERATE + LEARN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933687" y="2606040"/>
            <a:ext cx="2487168" cy="2395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Production telemetry watch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Invoice reconciliation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Offer / private-offer monitoring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CS adoption + handoff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Support review cadence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Aptos"/>
              </a:defRPr>
            </a:pPr>
            <a:r>
              <a:rPr lang="en-US"/>
              <a:t>Docs fixes + gate follow-up</a:t>
            </a:r>
          </a:p>
        </p:txBody>
      </p:sp>
      <p:sp>
        <p:nvSpPr>
          <p:cNvPr id="31" name="Rectangle 30"/>
          <p:cNvSpPr>
            <a:spLocks/>
          </p:cNvSpPr>
          <p:nvPr/>
        </p:nvSpPr>
        <p:spPr>
          <a:xfrm>
            <a:off x="566928" y="5175504"/>
            <a:ext cx="10991088" cy="585216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768096" y="5376672"/>
            <a:ext cx="1389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CRITICAL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312664"/>
            <a:ext cx="90068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FFFFFF"/>
                </a:solidFill>
                <a:latin typeface="Aptos"/>
              </a:rPr>
              <a:t>SKU + terms  →  marketplace offer  →  order  →  entitlement + billing  →  deployment  → 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916168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DEPENDENCY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1" y="5870448"/>
            <a:ext cx="9235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A missed critical-path item blocks launch or removes that route/offer from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>
            <a:spLocks/>
          </p:cNvSpPr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COMMERCIAL + OPERATIONAL KPIS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>
                <a:solidFill>
                  <a:srgbClr val="111111"/>
                </a:solidFill>
                <a:latin typeface="Aptos Display"/>
              </a:rPr>
              <a:t>Measure conversion, economics, velocity and production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Awareness, content engagement and messaging adoption stay in the PMM scorecard.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566928" y="1554480"/>
            <a:ext cx="3182112" cy="7315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1792224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 Display"/>
              </a:rPr>
              <a:t>CONVERSION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66928" y="2221992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Trial → paid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6928" y="2532888"/>
            <a:ext cx="318211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Paid customers ÷ qualified trials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66928" y="3026664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Growth Ops • weekly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66928" y="3291840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POV → contract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66928" y="3602736"/>
            <a:ext cx="318211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Signed contracts ÷ completed POVs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66928" y="4096512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Sales Ops • weekly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13631" y="1572768"/>
            <a:ext cx="10972" cy="42336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4096512" y="1554480"/>
            <a:ext cx="3364992" cy="7315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4096512" y="1792224"/>
            <a:ext cx="3364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 Display"/>
              </a:rPr>
              <a:t>ECONOMICS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4096512" y="2121408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ACV / committed spend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4096512" y="2395728"/>
            <a:ext cx="336499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Booked annual value or committed consumption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4096512" y="2889504"/>
            <a:ext cx="3364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Finance • monthly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096512" y="3182112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Tier mix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4096512" y="3456432"/>
            <a:ext cx="336499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New customers / value by offer tier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4096512" y="3858768"/>
            <a:ext cx="3364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RevOps • monthly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4096512" y="4151376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Marketplace contribution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4096512" y="4425696"/>
            <a:ext cx="336499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Bookings transacted through marketplaces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4096512" y="4828032"/>
            <a:ext cx="3364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Alliances • monthly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4096512" y="5102352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Expansion revenue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4096512" y="5376672"/>
            <a:ext cx="336499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Incremental ARR / commitment after production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4096512" y="5751576"/>
            <a:ext cx="3364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CS Ops • monthly</a:t>
            </a:r>
          </a:p>
        </p:txBody>
      </p:sp>
      <p:sp>
        <p:nvSpPr>
          <p:cNvPr id="35" name="Rectangle 34"/>
          <p:cNvSpPr>
            <a:spLocks/>
          </p:cNvSpPr>
          <p:nvPr/>
        </p:nvSpPr>
        <p:spPr>
          <a:xfrm>
            <a:off x="7626096" y="1572768"/>
            <a:ext cx="10972" cy="42336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>
            <a:spLocks/>
          </p:cNvSpPr>
          <p:nvPr/>
        </p:nvSpPr>
        <p:spPr>
          <a:xfrm>
            <a:off x="7808975" y="1554480"/>
            <a:ext cx="3730752" cy="731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808975" y="1792224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ptos Display"/>
              </a:rPr>
              <a:t>VELOCITY +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8975" y="2221992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ptos"/>
              </a:rPr>
              <a:t>Time to 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8975" y="2532888"/>
            <a:ext cx="373075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rgbClr val="6F6A61"/>
                </a:solidFill>
                <a:latin typeface="Aptos"/>
              </a:rPr>
              <a:t>Qualified opportunity → signature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8975" y="3026664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Sales Ops • weekly</a:t>
            </a:r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7808975" y="3291840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Time to production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8975" y="3602736"/>
            <a:ext cx="373075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Signature → accepted production workload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8975" y="4096512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Delivery Ops • weekly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8975" y="4361688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ptos"/>
              </a:rPr>
              <a:t>Production workloads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08975" y="4672583"/>
            <a:ext cx="3730752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Active workloads meeting production definition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8975" y="5166359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Product Ops • weekly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9893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METRIC RULE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943600"/>
            <a:ext cx="9692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Each KPI needs a system of record, baseline, target, DRI and review cadence.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LAUNCH READINESS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111"/>
                </a:solidFill>
                <a:latin typeface="Aptos Display"/>
              </a:rPr>
              <a:t>Nine approvals control what can go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Statuses remain OPEN until the DRI provides the named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527048"/>
          <a:ext cx="11045951" cy="449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DRI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EVIDENCE REQUIRED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Product GA criteria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Product Lead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GA checklist + release sign-off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Pricing approved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Finance Lead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Price book + approval bands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Packaging approved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SKU / entitlement map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SLA + support approved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Support Lead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SLA, severity model + runbooks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Billing operational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Finance Ops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Order-to-cash test + invoice output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Legal terms approved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Legal Lead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Order form, terms + DPA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Marketplace offers live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Alliances Lead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Live listing + private-offer test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Docs / quickstart ready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Docs Lead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Published path + QA sign-off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8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Sales / CS operational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RevOps Lead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Process, handoff + escalation drill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5925312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GATE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5879592"/>
            <a:ext cx="9692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One failed critical-path gate blocks the affected offer or route; exceptions require executive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8" y="6446520"/>
            <a:ext cx="194572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73952"/>
            <a:ext cx="749807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Mistral Studio  •  Launch &amp; Commercialization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603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A500A"/>
                </a:solidFill>
                <a:latin typeface="Aptos"/>
              </a:rPr>
              <a:t>LAUNCH DECISION-RIGHTS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111"/>
                </a:solidFill>
                <a:latin typeface="Aptos Display"/>
              </a:rPr>
              <a:t>Six decisions, one DRI each, one escalation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6A61"/>
                </a:solidFill>
                <a:latin typeface="Aptos"/>
              </a:rPr>
              <a:t>Deadlines are relative to launch and should be replaced with calendar dates once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6848" y="283464"/>
            <a:ext cx="128016" cy="12801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56848" y="493776"/>
            <a:ext cx="128016" cy="128016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56848" y="704088"/>
            <a:ext cx="128016" cy="1280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527048"/>
          <a:ext cx="11457431" cy="4389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48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DRI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APPROVER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DUE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DEPENDENCY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ESCALATION</a:t>
                      </a:r>
                    </a:p>
                  </a:txBody>
                  <a:tcPr marL="73152" marR="73152">
                    <a:solidFill>
                      <a:srgbClr val="FA5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Budget + headcount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Finance BP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GM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T−6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Launch scope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GM → CFO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Revenue + pipeline targets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Sales Ops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CRO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T−5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Pricing + capacity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Sales VP → CRO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Launch tier + availability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Product Lead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CPO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T−6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IN REVIEW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GA criteria + capacity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Product VP → CPO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Pricing + packaging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CFO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T−5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SKU + cost floor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GM → CFO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SLAs + roadmap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Engineering Lead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CTO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T−4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Reliability + support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Eng VP → CTO</a:t>
                      </a:r>
                    </a:p>
                  </a:txBody>
                  <a:tcPr marL="73152" marR="73152">
                    <a:solidFill>
                      <a:srgbClr val="FF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External proof permissions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Legal Lead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GC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T−3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Consent + claim review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ptos"/>
                        </a:rPr>
                        <a:t>GC → Exec sponsor</a:t>
                      </a:r>
                    </a:p>
                  </a:txBody>
                  <a:tcPr marL="73152" marR="73152">
                    <a:solidFill>
                      <a:srgbClr val="F4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592531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500A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5879592"/>
            <a:ext cx="94000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ptos"/>
              </a:rPr>
              <a:t>The DRI proposes; the approver decides by the deadline; unresolved blockers follow the named escalation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2386</Words>
  <Application>Microsoft Office PowerPoint</Application>
  <PresentationFormat>Widescreen</PresentationFormat>
  <Paragraphs>364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Studio GTM Launch Plan</dc:title>
  <dc:subject>Outside-in GTM launch plan for Mistral Studio</dc:subject>
  <dc:creator>OpenAI</dc:creator>
  <cp:lastModifiedBy>Shivam Singh</cp:lastModifiedBy>
  <cp:revision>25</cp:revision>
  <dcterms:created xsi:type="dcterms:W3CDTF">2026-08-16T17:42:39Z</dcterms:created>
  <dcterms:modified xsi:type="dcterms:W3CDTF">2026-08-17T06:15:47Z</dcterms:modified>
</cp:coreProperties>
</file>