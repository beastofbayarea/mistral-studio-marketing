
<file path=[Content_Types].xml><?xml version="1.0" encoding="utf-8"?>
<Types xmlns="http://schemas.openxmlformats.org/package/2006/content-types">
  <Default Extension="odttf" ContentType="application/vnd.openxmlformats-officedocument.obfuscatedFont"/>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8"/>
  </p:notesMasterIdLst>
  <p:sldIdLst>
    <p:sldId id="259" r:id="rId2"/>
    <p:sldId id="284" r:id="rId3"/>
    <p:sldId id="289" r:id="rId4"/>
    <p:sldId id="279" r:id="rId5"/>
    <p:sldId id="288" r:id="rId6"/>
    <p:sldId id="285" r:id="rId7"/>
  </p:sldIdLst>
  <p:sldSz cx="12192000" cy="6858000"/>
  <p:notesSz cx="6858000" cy="9144000"/>
  <p:embeddedFontLst>
    <p:embeddedFont>
      <p:font typeface="Tiny5" panose="02000000000000000000" pitchFamily="2" charset="0"/>
      <p:regular r:id="rId9"/>
      <p:bold r:id="rId9"/>
    </p:embeddedFont>
  </p:embeddedFontLst>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6" autoAdjust="0"/>
    <p:restoredTop sz="76820" autoAdjust="0"/>
  </p:normalViewPr>
  <p:slideViewPr>
    <p:cSldViewPr snapToGrid="0" snapToObjects="1">
      <p:cViewPr varScale="1">
        <p:scale>
          <a:sx n="85" d="100"/>
          <a:sy n="85" d="100"/>
        </p:scale>
        <p:origin x="52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odttf"/></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Loop</c:v>
                </c:pt>
              </c:strCache>
            </c:strRef>
          </c:tx>
          <c:dPt>
            <c:idx val="0"/>
            <c:bubble3D val="0"/>
            <c:spPr>
              <a:solidFill>
                <a:srgbClr val="FA500E"/>
              </a:solidFill>
              <a:ln>
                <a:noFill/>
              </a:ln>
            </c:spPr>
            <c:extLst>
              <c:ext xmlns:c16="http://schemas.microsoft.com/office/drawing/2014/chart" uri="{C3380CC4-5D6E-409C-BE32-E72D297353CC}">
                <c16:uniqueId val="{00000001-E18F-428C-958F-7372E1A7E81D}"/>
              </c:ext>
            </c:extLst>
          </c:dPt>
          <c:dPt>
            <c:idx val="1"/>
            <c:bubble3D val="0"/>
            <c:spPr>
              <a:solidFill>
                <a:srgbClr val="E8CBBE"/>
              </a:solidFill>
              <a:ln>
                <a:noFill/>
              </a:ln>
            </c:spPr>
            <c:extLst>
              <c:ext xmlns:c16="http://schemas.microsoft.com/office/drawing/2014/chart" uri="{C3380CC4-5D6E-409C-BE32-E72D297353CC}">
                <c16:uniqueId val="{00000003-E18F-428C-958F-7372E1A7E81D}"/>
              </c:ext>
            </c:extLst>
          </c:dPt>
          <c:dPt>
            <c:idx val="2"/>
            <c:bubble3D val="0"/>
            <c:spPr>
              <a:solidFill>
                <a:srgbClr val="161623"/>
              </a:solidFill>
              <a:ln>
                <a:noFill/>
              </a:ln>
            </c:spPr>
            <c:extLst>
              <c:ext xmlns:c16="http://schemas.microsoft.com/office/drawing/2014/chart" uri="{C3380CC4-5D6E-409C-BE32-E72D297353CC}">
                <c16:uniqueId val="{00000005-E18F-428C-958F-7372E1A7E81D}"/>
              </c:ext>
            </c:extLst>
          </c:dPt>
          <c:dPt>
            <c:idx val="3"/>
            <c:bubble3D val="0"/>
            <c:spPr>
              <a:solidFill>
                <a:srgbClr val="A89D98"/>
              </a:solidFill>
              <a:ln>
                <a:noFill/>
              </a:ln>
            </c:spPr>
            <c:extLst>
              <c:ext xmlns:c16="http://schemas.microsoft.com/office/drawing/2014/chart" uri="{C3380CC4-5D6E-409C-BE32-E72D297353CC}">
                <c16:uniqueId val="{00000007-E18F-428C-958F-7372E1A7E81D}"/>
              </c:ext>
            </c:extLst>
          </c:dPt>
          <c:cat>
            <c:strRef>
              <c:f>Sheet1!$A$2:$A$5</c:f>
              <c:strCache>
                <c:ptCount val="4"/>
                <c:pt idx="0">
                  <c:v>Field signal</c:v>
                </c:pt>
                <c:pt idx="1">
                  <c:v>PMM pattern</c:v>
                </c:pt>
                <c:pt idx="2">
                  <c:v>Decision</c:v>
                </c:pt>
                <c:pt idx="3">
                  <c:v>Field update</c:v>
                </c:pt>
              </c:strCache>
            </c:strRef>
          </c:cat>
          <c:val>
            <c:numRef>
              <c:f>Sheet1!$B$2:$B$5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8-E18F-428C-958F-7372E1A7E81D}"/>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BNP Paribas</c:v>
                </c:pt>
              </c:strCache>
            </c:strRef>
          </c:tx>
          <c:spPr>
            <a:ln w="47625">
              <a:noFill/>
            </a:ln>
          </c:spPr>
          <c:marker>
            <c:symbol val="circle"/>
            <c:size val="9"/>
            <c:spPr>
              <a:solidFill>
                <a:srgbClr val="FA500E"/>
              </a:solidFill>
              <a:ln>
                <a:solidFill>
                  <a:srgbClr val="FFFFFF"/>
                </a:solidFill>
              </a:ln>
            </c:spPr>
          </c:marker>
          <c:xVal>
            <c:numRef>
              <c:f>Sheet1!$A$2:$A$2</c:f>
              <c:numCache>
                <c:formatCode>General</c:formatCode>
                <c:ptCount val="1"/>
                <c:pt idx="0">
                  <c:v>5</c:v>
                </c:pt>
              </c:numCache>
            </c:numRef>
          </c:xVal>
          <c:yVal>
            <c:numRef>
              <c:f>Sheet1!$B$2:$B$2</c:f>
              <c:numCache>
                <c:formatCode>General</c:formatCode>
                <c:ptCount val="1"/>
                <c:pt idx="0">
                  <c:v>5</c:v>
                </c:pt>
              </c:numCache>
            </c:numRef>
          </c:yVal>
          <c:smooth val="0"/>
          <c:extLst>
            <c:ext xmlns:c16="http://schemas.microsoft.com/office/drawing/2014/chart" uri="{C3380CC4-5D6E-409C-BE32-E72D297353CC}">
              <c16:uniqueId val="{00000000-6425-4AA4-BCC1-18B1A6A5C67D}"/>
            </c:ext>
          </c:extLst>
        </c:ser>
        <c:ser>
          <c:idx val="1"/>
          <c:order val="1"/>
          <c:tx>
            <c:strRef>
              <c:f>Sheet1!$B$4</c:f>
              <c:strCache>
                <c:ptCount val="1"/>
                <c:pt idx="0">
                  <c:v>Amundi</c:v>
                </c:pt>
              </c:strCache>
            </c:strRef>
          </c:tx>
          <c:spPr>
            <a:ln w="47625">
              <a:noFill/>
            </a:ln>
          </c:spPr>
          <c:marker>
            <c:symbol val="circle"/>
            <c:size val="9"/>
            <c:spPr>
              <a:solidFill>
                <a:srgbClr val="FA500E"/>
              </a:solidFill>
              <a:ln>
                <a:solidFill>
                  <a:srgbClr val="FFFFFF"/>
                </a:solidFill>
              </a:ln>
            </c:spPr>
          </c:marker>
          <c:xVal>
            <c:numRef>
              <c:f>Sheet1!$A$5:$A$5</c:f>
              <c:numCache>
                <c:formatCode>General</c:formatCode>
                <c:ptCount val="1"/>
                <c:pt idx="0">
                  <c:v>4</c:v>
                </c:pt>
              </c:numCache>
            </c:numRef>
          </c:xVal>
          <c:yVal>
            <c:numRef>
              <c:f>Sheet1!$B$5:$B$5</c:f>
              <c:numCache>
                <c:formatCode>General</c:formatCode>
                <c:ptCount val="1"/>
                <c:pt idx="0">
                  <c:v>3</c:v>
                </c:pt>
              </c:numCache>
            </c:numRef>
          </c:yVal>
          <c:smooth val="0"/>
          <c:extLst>
            <c:ext xmlns:c16="http://schemas.microsoft.com/office/drawing/2014/chart" uri="{C3380CC4-5D6E-409C-BE32-E72D297353CC}">
              <c16:uniqueId val="{00000001-6425-4AA4-BCC1-18B1A6A5C67D}"/>
            </c:ext>
          </c:extLst>
        </c:ser>
        <c:ser>
          <c:idx val="2"/>
          <c:order val="2"/>
          <c:tx>
            <c:strRef>
              <c:f>Sheet1!$B$7</c:f>
              <c:strCache>
                <c:ptCount val="1"/>
                <c:pt idx="0">
                  <c:v>Swiss Re</c:v>
                </c:pt>
              </c:strCache>
            </c:strRef>
          </c:tx>
          <c:spPr>
            <a:ln w="47625">
              <a:noFill/>
            </a:ln>
          </c:spPr>
          <c:marker>
            <c:symbol val="circle"/>
            <c:size val="9"/>
            <c:spPr>
              <a:solidFill>
                <a:srgbClr val="FA500E"/>
              </a:solidFill>
              <a:ln>
                <a:solidFill>
                  <a:srgbClr val="FFFFFF"/>
                </a:solidFill>
              </a:ln>
            </c:spPr>
          </c:marker>
          <c:xVal>
            <c:numRef>
              <c:f>Sheet1!$A$8:$A$8</c:f>
              <c:numCache>
                <c:formatCode>General</c:formatCode>
                <c:ptCount val="1"/>
                <c:pt idx="0">
                  <c:v>4</c:v>
                </c:pt>
              </c:numCache>
            </c:numRef>
          </c:xVal>
          <c:yVal>
            <c:numRef>
              <c:f>Sheet1!$B$8:$B$8</c:f>
              <c:numCache>
                <c:formatCode>General</c:formatCode>
                <c:ptCount val="1"/>
                <c:pt idx="0">
                  <c:v>3</c:v>
                </c:pt>
              </c:numCache>
            </c:numRef>
          </c:yVal>
          <c:smooth val="0"/>
          <c:extLst>
            <c:ext xmlns:c16="http://schemas.microsoft.com/office/drawing/2014/chart" uri="{C3380CC4-5D6E-409C-BE32-E72D297353CC}">
              <c16:uniqueId val="{00000002-6425-4AA4-BCC1-18B1A6A5C67D}"/>
            </c:ext>
          </c:extLst>
        </c:ser>
        <c:ser>
          <c:idx val="3"/>
          <c:order val="3"/>
          <c:tx>
            <c:strRef>
              <c:f>Sheet1!$B$10</c:f>
              <c:strCache>
                <c:ptCount val="1"/>
                <c:pt idx="0">
                  <c:v>Quantexa</c:v>
                </c:pt>
              </c:strCache>
            </c:strRef>
          </c:tx>
          <c:spPr>
            <a:ln w="47625">
              <a:noFill/>
            </a:ln>
          </c:spPr>
          <c:marker>
            <c:symbol val="circle"/>
            <c:size val="9"/>
            <c:spPr>
              <a:solidFill>
                <a:srgbClr val="161623"/>
              </a:solidFill>
              <a:ln>
                <a:solidFill>
                  <a:srgbClr val="FFFFFF"/>
                </a:solidFill>
              </a:ln>
            </c:spPr>
          </c:marker>
          <c:xVal>
            <c:numRef>
              <c:f>Sheet1!$A$11:$A$11</c:f>
              <c:numCache>
                <c:formatCode>General</c:formatCode>
                <c:ptCount val="1"/>
                <c:pt idx="0">
                  <c:v>6</c:v>
                </c:pt>
              </c:numCache>
            </c:numRef>
          </c:xVal>
          <c:yVal>
            <c:numRef>
              <c:f>Sheet1!$B$11:$B$11</c:f>
              <c:numCache>
                <c:formatCode>General</c:formatCode>
                <c:ptCount val="1"/>
                <c:pt idx="0">
                  <c:v>3</c:v>
                </c:pt>
              </c:numCache>
            </c:numRef>
          </c:yVal>
          <c:smooth val="0"/>
          <c:extLst>
            <c:ext xmlns:c16="http://schemas.microsoft.com/office/drawing/2014/chart" uri="{C3380CC4-5D6E-409C-BE32-E72D297353CC}">
              <c16:uniqueId val="{00000003-6425-4AA4-BCC1-18B1A6A5C67D}"/>
            </c:ext>
          </c:extLst>
        </c:ser>
        <c:ser>
          <c:idx val="4"/>
          <c:order val="4"/>
          <c:tx>
            <c:strRef>
              <c:f>Sheet1!$B$13</c:f>
              <c:strCache>
                <c:ptCount val="1"/>
                <c:pt idx="0">
                  <c:v>Visa</c:v>
                </c:pt>
              </c:strCache>
            </c:strRef>
          </c:tx>
          <c:spPr>
            <a:ln w="47625">
              <a:noFill/>
            </a:ln>
          </c:spPr>
          <c:marker>
            <c:symbol val="circle"/>
            <c:size val="9"/>
            <c:spPr>
              <a:solidFill>
                <a:srgbClr val="161623"/>
              </a:solidFill>
              <a:ln>
                <a:solidFill>
                  <a:srgbClr val="FFFFFF"/>
                </a:solidFill>
              </a:ln>
            </c:spPr>
          </c:marker>
          <c:xVal>
            <c:numRef>
              <c:f>Sheet1!$A$14:$A$14</c:f>
              <c:numCache>
                <c:formatCode>General</c:formatCode>
                <c:ptCount val="1"/>
                <c:pt idx="0">
                  <c:v>6</c:v>
                </c:pt>
              </c:numCache>
            </c:numRef>
          </c:xVal>
          <c:yVal>
            <c:numRef>
              <c:f>Sheet1!$B$14:$B$14</c:f>
              <c:numCache>
                <c:formatCode>General</c:formatCode>
                <c:ptCount val="1"/>
                <c:pt idx="0">
                  <c:v>4</c:v>
                </c:pt>
              </c:numCache>
            </c:numRef>
          </c:yVal>
          <c:smooth val="0"/>
          <c:extLst>
            <c:ext xmlns:c16="http://schemas.microsoft.com/office/drawing/2014/chart" uri="{C3380CC4-5D6E-409C-BE32-E72D297353CC}">
              <c16:uniqueId val="{00000004-6425-4AA4-BCC1-18B1A6A5C67D}"/>
            </c:ext>
          </c:extLst>
        </c:ser>
        <c:ser>
          <c:idx val="5"/>
          <c:order val="5"/>
          <c:tx>
            <c:strRef>
              <c:f>Sheet1!$B$16</c:f>
              <c:strCache>
                <c:ptCount val="1"/>
                <c:pt idx="0">
                  <c:v>LSEG</c:v>
                </c:pt>
              </c:strCache>
            </c:strRef>
          </c:tx>
          <c:spPr>
            <a:ln w="47625">
              <a:noFill/>
            </a:ln>
          </c:spPr>
          <c:marker>
            <c:symbol val="circle"/>
            <c:size val="9"/>
            <c:spPr>
              <a:solidFill>
                <a:srgbClr val="161623"/>
              </a:solidFill>
              <a:ln>
                <a:solidFill>
                  <a:srgbClr val="FFFFFF"/>
                </a:solidFill>
              </a:ln>
            </c:spPr>
          </c:marker>
          <c:xVal>
            <c:numRef>
              <c:f>Sheet1!$A$17:$A$17</c:f>
              <c:numCache>
                <c:formatCode>General</c:formatCode>
                <c:ptCount val="1"/>
                <c:pt idx="0">
                  <c:v>6</c:v>
                </c:pt>
              </c:numCache>
            </c:numRef>
          </c:xVal>
          <c:yVal>
            <c:numRef>
              <c:f>Sheet1!$B$17:$B$17</c:f>
              <c:numCache>
                <c:formatCode>General</c:formatCode>
                <c:ptCount val="1"/>
                <c:pt idx="0">
                  <c:v>3</c:v>
                </c:pt>
              </c:numCache>
            </c:numRef>
          </c:yVal>
          <c:smooth val="0"/>
          <c:extLst>
            <c:ext xmlns:c16="http://schemas.microsoft.com/office/drawing/2014/chart" uri="{C3380CC4-5D6E-409C-BE32-E72D297353CC}">
              <c16:uniqueId val="{00000005-6425-4AA4-BCC1-18B1A6A5C67D}"/>
            </c:ext>
          </c:extLst>
        </c:ser>
        <c:ser>
          <c:idx val="6"/>
          <c:order val="6"/>
          <c:tx>
            <c:strRef>
              <c:f>Sheet1!$B$19</c:f>
              <c:strCache>
                <c:ptCount val="1"/>
                <c:pt idx="0">
                  <c:v>SWIFT</c:v>
                </c:pt>
              </c:strCache>
            </c:strRef>
          </c:tx>
          <c:spPr>
            <a:ln w="47625">
              <a:noFill/>
            </a:ln>
          </c:spPr>
          <c:marker>
            <c:symbol val="circle"/>
            <c:size val="9"/>
            <c:spPr>
              <a:solidFill>
                <a:srgbClr val="161623"/>
              </a:solidFill>
              <a:ln>
                <a:solidFill>
                  <a:srgbClr val="FFFFFF"/>
                </a:solidFill>
              </a:ln>
            </c:spPr>
          </c:marker>
          <c:xVal>
            <c:numRef>
              <c:f>Sheet1!$A$20:$A$20</c:f>
              <c:numCache>
                <c:formatCode>General</c:formatCode>
                <c:ptCount val="1"/>
                <c:pt idx="0">
                  <c:v>6</c:v>
                </c:pt>
              </c:numCache>
            </c:numRef>
          </c:xVal>
          <c:yVal>
            <c:numRef>
              <c:f>Sheet1!$B$20:$B$20</c:f>
              <c:numCache>
                <c:formatCode>General</c:formatCode>
                <c:ptCount val="1"/>
                <c:pt idx="0">
                  <c:v>1</c:v>
                </c:pt>
              </c:numCache>
            </c:numRef>
          </c:yVal>
          <c:smooth val="0"/>
          <c:extLst>
            <c:ext xmlns:c16="http://schemas.microsoft.com/office/drawing/2014/chart" uri="{C3380CC4-5D6E-409C-BE32-E72D297353CC}">
              <c16:uniqueId val="{00000006-6425-4AA4-BCC1-18B1A6A5C67D}"/>
            </c:ext>
          </c:extLst>
        </c:ser>
        <c:ser>
          <c:idx val="7"/>
          <c:order val="7"/>
          <c:tx>
            <c:strRef>
              <c:f>Sheet1!$B$22</c:f>
              <c:strCache>
                <c:ptCount val="1"/>
                <c:pt idx="0">
                  <c:v>EQT</c:v>
                </c:pt>
              </c:strCache>
            </c:strRef>
          </c:tx>
          <c:spPr>
            <a:ln w="47625">
              <a:noFill/>
            </a:ln>
          </c:spPr>
          <c:marker>
            <c:symbol val="circle"/>
            <c:size val="9"/>
            <c:spPr>
              <a:solidFill>
                <a:srgbClr val="E8CBBE"/>
              </a:solidFill>
              <a:ln>
                <a:solidFill>
                  <a:srgbClr val="FFFFFF"/>
                </a:solidFill>
              </a:ln>
            </c:spPr>
          </c:marker>
          <c:xVal>
            <c:numRef>
              <c:f>Sheet1!$A$23:$A$23</c:f>
              <c:numCache>
                <c:formatCode>General</c:formatCode>
                <c:ptCount val="1"/>
                <c:pt idx="0">
                  <c:v>6</c:v>
                </c:pt>
              </c:numCache>
            </c:numRef>
          </c:xVal>
          <c:yVal>
            <c:numRef>
              <c:f>Sheet1!$B$23:$B$23</c:f>
              <c:numCache>
                <c:formatCode>General</c:formatCode>
                <c:ptCount val="1"/>
                <c:pt idx="0">
                  <c:v>3</c:v>
                </c:pt>
              </c:numCache>
            </c:numRef>
          </c:yVal>
          <c:smooth val="0"/>
          <c:extLst>
            <c:ext xmlns:c16="http://schemas.microsoft.com/office/drawing/2014/chart" uri="{C3380CC4-5D6E-409C-BE32-E72D297353CC}">
              <c16:uniqueId val="{00000007-6425-4AA4-BCC1-18B1A6A5C67D}"/>
            </c:ext>
          </c:extLst>
        </c:ser>
        <c:ser>
          <c:idx val="8"/>
          <c:order val="8"/>
          <c:tx>
            <c:strRef>
              <c:f>Sheet1!$B$25</c:f>
              <c:strCache>
                <c:ptCount val="1"/>
                <c:pt idx="0">
                  <c:v>Mubadala</c:v>
                </c:pt>
              </c:strCache>
            </c:strRef>
          </c:tx>
          <c:spPr>
            <a:ln w="47625">
              <a:noFill/>
            </a:ln>
          </c:spPr>
          <c:marker>
            <c:symbol val="circle"/>
            <c:size val="9"/>
            <c:spPr>
              <a:solidFill>
                <a:srgbClr val="E8CBBE"/>
              </a:solidFill>
              <a:ln>
                <a:solidFill>
                  <a:srgbClr val="FFFFFF"/>
                </a:solidFill>
              </a:ln>
            </c:spPr>
          </c:marker>
          <c:xVal>
            <c:numRef>
              <c:f>Sheet1!$A$26:$A$26</c:f>
              <c:numCache>
                <c:formatCode>General</c:formatCode>
                <c:ptCount val="1"/>
                <c:pt idx="0">
                  <c:v>6</c:v>
                </c:pt>
              </c:numCache>
            </c:numRef>
          </c:xVal>
          <c:yVal>
            <c:numRef>
              <c:f>Sheet1!$B$26:$B$26</c:f>
              <c:numCache>
                <c:formatCode>General</c:formatCode>
                <c:ptCount val="1"/>
                <c:pt idx="0">
                  <c:v>3</c:v>
                </c:pt>
              </c:numCache>
            </c:numRef>
          </c:yVal>
          <c:smooth val="0"/>
          <c:extLst>
            <c:ext xmlns:c16="http://schemas.microsoft.com/office/drawing/2014/chart" uri="{C3380CC4-5D6E-409C-BE32-E72D297353CC}">
              <c16:uniqueId val="{00000008-6425-4AA4-BCC1-18B1A6A5C67D}"/>
            </c:ext>
          </c:extLst>
        </c:ser>
        <c:ser>
          <c:idx val="9"/>
          <c:order val="9"/>
          <c:tx>
            <c:strRef>
              <c:f>Sheet1!$B$28</c:f>
              <c:strCache>
                <c:ptCount val="1"/>
                <c:pt idx="0">
                  <c:v>Partners Group</c:v>
                </c:pt>
              </c:strCache>
            </c:strRef>
          </c:tx>
          <c:spPr>
            <a:ln w="47625">
              <a:noFill/>
            </a:ln>
          </c:spPr>
          <c:marker>
            <c:symbol val="circle"/>
            <c:size val="9"/>
            <c:spPr>
              <a:solidFill>
                <a:srgbClr val="E8CBBE"/>
              </a:solidFill>
              <a:ln>
                <a:solidFill>
                  <a:srgbClr val="FFFFFF"/>
                </a:solidFill>
              </a:ln>
            </c:spPr>
          </c:marker>
          <c:xVal>
            <c:numRef>
              <c:f>Sheet1!$A$29:$A$29</c:f>
              <c:numCache>
                <c:formatCode>General</c:formatCode>
                <c:ptCount val="1"/>
                <c:pt idx="0">
                  <c:v>5</c:v>
                </c:pt>
              </c:numCache>
            </c:numRef>
          </c:xVal>
          <c:yVal>
            <c:numRef>
              <c:f>Sheet1!$B$29:$B$29</c:f>
              <c:numCache>
                <c:formatCode>General</c:formatCode>
                <c:ptCount val="1"/>
                <c:pt idx="0">
                  <c:v>2</c:v>
                </c:pt>
              </c:numCache>
            </c:numRef>
          </c:yVal>
          <c:smooth val="0"/>
          <c:extLst>
            <c:ext xmlns:c16="http://schemas.microsoft.com/office/drawing/2014/chart" uri="{C3380CC4-5D6E-409C-BE32-E72D297353CC}">
              <c16:uniqueId val="{00000009-6425-4AA4-BCC1-18B1A6A5C67D}"/>
            </c:ext>
          </c:extLst>
        </c:ser>
        <c:dLbls>
          <c:showLegendKey val="0"/>
          <c:showVal val="0"/>
          <c:showCatName val="0"/>
          <c:showSerName val="0"/>
          <c:showPercent val="0"/>
          <c:showBubbleSize val="0"/>
        </c:dLbls>
        <c:axId val="2128940872"/>
        <c:axId val="2129643912"/>
      </c:scatterChart>
      <c:valAx>
        <c:axId val="2128940872"/>
        <c:scaling>
          <c:orientation val="minMax"/>
          <c:max val="6.5"/>
          <c:min val="0"/>
        </c:scaling>
        <c:delete val="0"/>
        <c:axPos val="b"/>
        <c:majorGridlines/>
        <c:numFmt formatCode="General" sourceLinked="1"/>
        <c:majorTickMark val="out"/>
        <c:minorTickMark val="none"/>
        <c:tickLblPos val="nextTo"/>
        <c:spPr>
          <a:ln>
            <a:solidFill>
              <a:srgbClr val="E8CBBE"/>
            </a:solidFill>
          </a:ln>
        </c:spPr>
        <c:txPr>
          <a:bodyPr/>
          <a:lstStyle/>
          <a:p>
            <a:pPr>
              <a:defRPr sz="1000"/>
            </a:pPr>
            <a:endParaRPr lang="en-US"/>
          </a:p>
        </c:txPr>
        <c:crossAx val="2129643912"/>
        <c:crosses val="autoZero"/>
        <c:crossBetween val="midCat"/>
        <c:majorUnit val="1"/>
      </c:valAx>
      <c:valAx>
        <c:axId val="2129643912"/>
        <c:scaling>
          <c:orientation val="minMax"/>
          <c:max val="6.5"/>
          <c:min val="0"/>
        </c:scaling>
        <c:delete val="0"/>
        <c:axPos val="l"/>
        <c:majorGridlines/>
        <c:numFmt formatCode="General" sourceLinked="1"/>
        <c:majorTickMark val="out"/>
        <c:minorTickMark val="none"/>
        <c:tickLblPos val="nextTo"/>
        <c:spPr>
          <a:ln>
            <a:solidFill>
              <a:srgbClr val="E8CBBE"/>
            </a:solidFill>
          </a:ln>
        </c:spPr>
        <c:txPr>
          <a:bodyPr/>
          <a:lstStyle/>
          <a:p>
            <a:pPr>
              <a:defRPr sz="1000"/>
            </a:pPr>
            <a:endParaRPr lang="en-US"/>
          </a:p>
        </c:txPr>
        <c:crossAx val="2128940872"/>
        <c:crosses val="autoZero"/>
        <c:crossBetween val="midCat"/>
        <c:majorUnit val="1"/>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9748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FIVE-MINUTE TALK TRACK · 0:00–0:45</a:t>
            </a:r>
          </a:p>
          <a:p>
            <a:r>
              <a:rPr lang="en-US"/>
              <a:t>The entry point is financial services because the same four constraints recur: sensitive data, heavy governance, document-intensive work and multi-model environments. That gives us two repeatable plays. The first is controlled AI for regulated workflows such as KYC, AML, credit and policy. The second is financial intelligence and document automation. The commercial discipline is to package the buyer, workflow, proof and ROI once, then reuse that motion account by account.</a:t>
            </a: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FIVE-MINUTE TALK TRACK · 0:45–1:30</a:t>
            </a:r>
          </a:p>
          <a:p>
            <a:r>
              <a:rPr lang="en-US"/>
              <a:t>The go-to-market motion is service-led because these buyers need evidence, not a generic model pitch. We focus a small set of accounts, shape the executive case across control and value, and prove the solution through delivery. Only then do we expand. The compounding mechanism is simple: each delivered win should create a reusable architecture, an objection response and a reference that helps unlock the next workload or buyer.</a:t>
            </a:r>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FIVE-MINUTE TALK TRACK · 1:30–2:15</a:t>
            </a:r>
          </a:p>
          <a:p>
            <a:r>
              <a:rPr lang="en-US"/>
              <a:t>To make that repeatable, the field loop must operate as a decision system rather than a reporting process. We capture five signals: deal movement, persona friction, evaluation evidence, delivery constraints and expansion triggers. PMM turns recurring signals into patterns; product and services decide what to change; the field gets an updated play. Success is measured through faster decisions, influenced pipeline, expansion and production references—not asset output.</a:t>
            </a: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FIVE-MINUTE TALK TRACK · 2:15–3:05</a:t>
            </a:r>
          </a:p>
          <a:p>
            <a:r>
              <a:rPr lang="en-US"/>
              <a:t>The thesis stays constant across markets, but the lead proof changes. In Europe, lead with control and autonomy without claiming that DORA requires self-hosting. In the UK, use intelligence and accountability with HSBC proof. North America needs document value and coexistence; APAC needs multilingual capability and deployment choice; Switzerland needs confidentiality and control. Then tailor the evidence again by sub-vertical and by buyer: architecture for CIO, control for CISO and Risk, and ROI for the business owner.</a:t>
            </a:r>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FIVE-MINUTE TALK TRACK · 3:05–4:00</a:t>
            </a:r>
          </a:p>
          <a:p>
            <a:r>
              <a:rPr lang="en-US"/>
              <a:t>This portfolio view supports two commitments and two time-bound validations. BNP Paribas has the strongest combination of traction and upside, while Visa has the strongest network position; fund both now. For Quantexa, use a 90-day gate: one production-grade integration proof and one qualified joint deal before scaling the embed motion. For the EQT–Mubadala portfolio route, require two pilots across portfolio companies and one repeatable play within 90 days. Amundi, Swiss Re and LSEG follow the committed accounts; SWIFT remains on hold, and Partners Group follows only after the portfolio gate is cleared.</a:t>
            </a:r>
          </a:p>
          <a:p>
            <a:endParaRPr lang="en-US"/>
          </a:p>
          <a:p>
            <a:r>
              <a:rPr lang="en-US"/>
              <a:t>SOURCE LINKS</a:t>
            </a:r>
          </a:p>
          <a:p>
            <a:r>
              <a:rPr lang="en-US"/>
              <a:t>https://group.bnpparibas/en/press-release/bnp-paribas-and-mistral-ai-extend-their-partnership-to-support-the-next-phase-of-generative-ai-deployment-within-the-group | https://www.quantexa.com/platform/agent-gateway/ | https://eqtgroup.com/about/motherbrain | https://about.amundi.com/ | https://www.partnersgroup.com/ | https://www.mubadala.com/en/news/abu-dhabi-launches-comprehensive-global-investment-strategy-on-artificial-intelligence | https://www.swissre.com/risk-knowledge/advancing-societal-benefits-digitalisation.html | https://www.lseg.com/en/solutions/ai-finance-solutions | https://corporate.visa.com/en/sites/visa-perspectives/newsroom/product-drop-intelligent-commerce.html | https://www.swift.com/news-events/news/swift-led-experiments-reveal-blueprint-collaborative-fraud-defence-using-ai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pPr>
              <a:defRPr/>
            </a:pPr>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a:t>FIVE-MINUTE TALK TRACK · 4:00–5:00</a:t>
            </a:r>
          </a:p>
          <a:p>
            <a:r>
              <a:rPr lang="en-US"/>
              <a:t>Adjacent industries. The operating model travels beyond financial services only when we name the unit that repeats. In manufacturing the unit is the site: win a plant at Bosch, codify the rollout kit, replicate across the network; enablement is ICP, architecture, ROI and the rollout kit. In energy the unit is the workflow: prove one use case at RWE, stand up the intelligence layer, reuse it across functions; enablement is business case, proof and adjacency. In public sector the unit is the mission: Italy moves pilot to approved to agencies on one control core; enablement is compliance, evaluation and procurement. In defense and security the unit is the owned core: the customer owns platform, data and mission while we power the trusted system; enablement is ownership, evaluation and co-sell. The close: standardize trust once—governance, procurement, architecture, platform and data—and customize only the mission.</a:t>
            </a:r>
          </a:p>
        </p:txBody>
      </p:sp>
    </p:spTree>
    <p:extLst>
      <p:ext uri="{BB962C8B-B14F-4D97-AF65-F5344CB8AC3E}">
        <p14:creationId xmlns:p14="http://schemas.microsoft.com/office/powerpoint/2010/main" val="292464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7258D30-BBD4-48DE-8A60-A5B64215B50F}"/>
              </a:ext>
            </a:extLst>
          </p:cNvPr>
          <p:cNvSpPr>
            <a:spLocks noGrp="1"/>
          </p:cNvSpPr>
          <p:nvPr/>
        </p:nvSpPr>
        <p:spPr>
          <a:xfrm>
            <a:off x="609904" y="267004"/>
            <a:ext cx="75895" cy="742492"/>
          </a:xfrm>
          <a:prstGeom prst="rect">
            <a:avLst/>
          </a:prstGeom>
          <a:solidFill>
            <a:srgbClr val="FA500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960" b="0" i="0" u="none" strike="noStrike" kern="1200" cap="none" spc="0" normalizeH="0" baseline="0" noProof="0">
              <a:ln>
                <a:noFill/>
              </a:ln>
              <a:solidFill>
                <a:srgbClr val="000000"/>
              </a:solidFill>
              <a:effectLst/>
              <a:uLnTx/>
              <a:uFillTx/>
              <a:latin typeface="Calibri"/>
              <a:ea typeface="Calibri"/>
              <a:cs typeface="Calibri"/>
            </a:endParaRPr>
          </a:p>
        </p:txBody>
      </p:sp>
      <p:sp>
        <p:nvSpPr>
          <p:cNvPr id="2" name="Rectangle 1">
            <a:extLst>
              <a:ext uri="{FF2B5EF4-FFF2-40B4-BE49-F238E27FC236}">
                <a16:creationId xmlns:a16="http://schemas.microsoft.com/office/drawing/2014/main" id="{F04BD0F0-1328-4EEB-8499-FE38558FCE42}"/>
              </a:ext>
            </a:extLst>
          </p:cNvPr>
          <p:cNvSpPr>
            <a:spLocks noGrp="1"/>
          </p:cNvSpPr>
          <p:nvPr/>
        </p:nvSpPr>
        <p:spPr>
          <a:xfrm>
            <a:off x="841248" y="54864"/>
            <a:ext cx="7955279" cy="201168"/>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1200" b="1">
                <a:solidFill>
                  <a:srgbClr val="3767E8"/>
                </a:solidFill>
                <a:latin typeface="Arial"/>
                <a:ea typeface="Arial"/>
                <a:cs typeface="Arial"/>
              </a:defRPr>
            </a:pPr>
            <a:r>
              <a:rPr kumimoji="0" lang="en-US" sz="1200" b="1" i="0" u="none" strike="noStrike" kern="1200" cap="none" spc="0" normalizeH="0" baseline="0" noProof="0">
                <a:ln>
                  <a:noFill/>
                </a:ln>
                <a:solidFill>
                  <a:srgbClr val="FA500E"/>
                </a:solidFill>
                <a:effectLst/>
                <a:uLnTx/>
                <a:uFillTx/>
                <a:latin typeface="Arial"/>
                <a:ea typeface="Arial"/>
                <a:cs typeface="Arial"/>
              </a:rPr>
              <a:t>FSI ENTRY STRATEGY</a:t>
            </a:r>
          </a:p>
        </p:txBody>
      </p:sp>
      <p:sp>
        <p:nvSpPr>
          <p:cNvPr id="3" name="Rectangle 2">
            <a:extLst>
              <a:ext uri="{FF2B5EF4-FFF2-40B4-BE49-F238E27FC236}">
                <a16:creationId xmlns:a16="http://schemas.microsoft.com/office/drawing/2014/main" id="{1EE46972-DBB6-4158-87F9-A78B6AD297A8}"/>
              </a:ext>
            </a:extLst>
          </p:cNvPr>
          <p:cNvSpPr>
            <a:spLocks noGrp="1"/>
          </p:cNvSpPr>
          <p:nvPr/>
        </p:nvSpPr>
        <p:spPr>
          <a:xfrm>
            <a:off x="841248" y="274320"/>
            <a:ext cx="9900000" cy="502920"/>
          </a:xfrm>
          <a:prstGeom prst="rect">
            <a:avLst/>
          </a:prstGeom>
          <a:noFill/>
          <a:ln w="0">
            <a:noFill/>
            <a:prstDash val="solid"/>
          </a:ln>
        </p:spPr>
        <p:txBody>
          <a:bodyPr wrap="square"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3600" b="1">
                <a:solidFill>
                  <a:srgbClr val="1F1F1F"/>
                </a:solidFill>
                <a:latin typeface="Tiny5"/>
                <a:ea typeface="Tiny5"/>
                <a:cs typeface="Tiny5"/>
              </a:defRPr>
            </a:pPr>
            <a:r>
              <a:rPr kumimoji="0" lang="en-US" sz="2400" b="1" i="0" u="none" strike="noStrike" kern="1200" cap="none" spc="0" normalizeH="0" baseline="0" noProof="0">
                <a:ln>
                  <a:noFill/>
                </a:ln>
                <a:solidFill>
                  <a:srgbClr val="161623"/>
                </a:solidFill>
                <a:effectLst/>
                <a:uLnTx/>
                <a:uFillTx/>
                <a:latin typeface="Tiny5" panose="02000000000000000000" pitchFamily="2" charset="0"/>
                <a:ea typeface="Tiny5"/>
                <a:cs typeface="Tiny5" panose="02000000000000000000" pitchFamily="2" charset="0"/>
              </a:rPr>
              <a:t>WIN FSI FASTER WITH TWO REPEATABLE PLAYS</a:t>
            </a:r>
          </a:p>
        </p:txBody>
      </p:sp>
      <p:pic>
        <p:nvPicPr>
          <p:cNvPr id="34" name="Mistral company monogram — slide 4"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8900" name="FootRule"/>
          <p:cNvSpPr txBox="1"/>
          <p:nvPr/>
        </p:nvSpPr>
        <p:spPr>
          <a:xfrm>
            <a:off x="612648" y="6556248"/>
            <a:ext cx="10972800" cy="9144"/>
          </a:xfrm>
          <a:prstGeom prst="rect">
            <a:avLst/>
          </a:prstGeom>
          <a:solidFill>
            <a:srgbClr val="E8CBBE"/>
          </a:solidFill>
          <a:ln>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8901" name="FootTxt"/>
          <p:cNvSpPr txBox="1"/>
          <p:nvPr/>
        </p:nvSpPr>
        <p:spPr>
          <a:xfrm>
            <a:off x="612648" y="6620256"/>
            <a:ext cx="4005072" cy="149961"/>
          </a:xfrm>
          <a:prstGeom prst="rect">
            <a:avLst/>
          </a:prstGeom>
          <a:noFill/>
          <a:ln>
            <a:noFill/>
          </a:ln>
        </p:spPr>
        <p:txBody>
          <a:bodyPr wrap="square" lIns="0" tIns="0" rIns="0" bIns="0" anchor="ctr">
            <a:noAutofit/>
          </a:bodyPr>
          <a:lstStyle/>
          <a:p>
            <a:pPr algn="l"/>
            <a:r>
              <a:rPr lang="en-US" sz="1200" b="0" i="0">
                <a:solidFill>
                  <a:srgbClr val="5A554B"/>
                </a:solidFill>
                <a:latin typeface="Arial"/>
              </a:rPr>
              <a:t>SHIV  ·  PMM CANDIDATE  ·  18 AUG 2026</a:t>
            </a:r>
          </a:p>
        </p:txBody>
      </p:sp>
      <p:sp>
        <p:nvSpPr>
          <p:cNvPr id="8902" name="FootPg"/>
          <p:cNvSpPr txBox="1"/>
          <p:nvPr/>
        </p:nvSpPr>
        <p:spPr>
          <a:xfrm>
            <a:off x="11237976" y="6620256"/>
            <a:ext cx="347472" cy="149961"/>
          </a:xfrm>
          <a:prstGeom prst="rect">
            <a:avLst/>
          </a:prstGeom>
          <a:noFill/>
          <a:ln>
            <a:noFill/>
          </a:ln>
        </p:spPr>
        <p:txBody>
          <a:bodyPr wrap="square" lIns="0" tIns="0" rIns="0" bIns="0" anchor="ctr">
            <a:noAutofit/>
          </a:bodyPr>
          <a:lstStyle/>
          <a:p>
            <a:pPr algn="r"/>
            <a:r>
              <a:rPr lang="en-US" sz="1200" b="0" i="0">
                <a:solidFill>
                  <a:srgbClr val="5A554B"/>
                </a:solidFill>
                <a:latin typeface="Arial"/>
              </a:rPr>
              <a:t>1</a:t>
            </a:r>
          </a:p>
        </p:txBody>
      </p:sp>
      <p:sp>
        <p:nvSpPr>
          <p:cNvPr id="8903" name="TextBox 8902"/>
          <p:cNvSpPr txBox="1"/>
          <p:nvPr/>
        </p:nvSpPr>
        <p:spPr>
          <a:xfrm>
            <a:off x="841248" y="1078992"/>
            <a:ext cx="1051560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400" b="0">
                <a:solidFill>
                  <a:srgbClr val="62544F"/>
                </a:solidFill>
                <a:latin typeface="Arial"/>
              </a:rPr>
              <a:t>Package buyer, workflow, proof and ROI — then reuse.</a:t>
            </a:r>
          </a:p>
        </p:txBody>
      </p:sp>
      <p:sp>
        <p:nvSpPr>
          <p:cNvPr id="8904" name="TextBox 8903"/>
          <p:cNvSpPr txBox="1"/>
          <p:nvPr/>
        </p:nvSpPr>
        <p:spPr>
          <a:xfrm>
            <a:off x="841248" y="1481328"/>
            <a:ext cx="338328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400" b="1">
                <a:solidFill>
                  <a:srgbClr val="FA500E"/>
                </a:solidFill>
                <a:latin typeface="Arial"/>
              </a:rPr>
              <a:t>WHY FSI FIRST</a:t>
            </a:r>
          </a:p>
        </p:txBody>
      </p:sp>
      <p:sp>
        <p:nvSpPr>
          <p:cNvPr id="8905" name="Rectangle 8904"/>
          <p:cNvSpPr/>
          <p:nvPr/>
        </p:nvSpPr>
        <p:spPr>
          <a:xfrm>
            <a:off x="841248" y="1865376"/>
            <a:ext cx="3337560" cy="16459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06" name="TextBox 8905"/>
          <p:cNvSpPr txBox="1"/>
          <p:nvPr/>
        </p:nvSpPr>
        <p:spPr>
          <a:xfrm>
            <a:off x="841248" y="2084832"/>
            <a:ext cx="3584448" cy="21031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300" b="1">
                <a:solidFill>
                  <a:srgbClr val="161623"/>
                </a:solidFill>
                <a:latin typeface="Arial"/>
              </a:rPr>
              <a:t>01  SENSITIVE DATA</a:t>
            </a:r>
          </a:p>
        </p:txBody>
      </p:sp>
      <p:sp>
        <p:nvSpPr>
          <p:cNvPr id="8907" name="TextBox 8906"/>
          <p:cNvSpPr txBox="1"/>
          <p:nvPr/>
        </p:nvSpPr>
        <p:spPr>
          <a:xfrm>
            <a:off x="841248" y="2304288"/>
            <a:ext cx="4206240" cy="283464"/>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0">
                <a:solidFill>
                  <a:srgbClr val="62544F"/>
                </a:solidFill>
                <a:latin typeface="Arial"/>
              </a:rPr>
              <a:t>Sensitive customer and transaction data.</a:t>
            </a:r>
          </a:p>
        </p:txBody>
      </p:sp>
      <p:sp>
        <p:nvSpPr>
          <p:cNvPr id="8908" name="Rectangle 8907"/>
          <p:cNvSpPr/>
          <p:nvPr/>
        </p:nvSpPr>
        <p:spPr>
          <a:xfrm>
            <a:off x="841248" y="2660904"/>
            <a:ext cx="2971800" cy="16459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09" name="TextBox 8908"/>
          <p:cNvSpPr txBox="1"/>
          <p:nvPr/>
        </p:nvSpPr>
        <p:spPr>
          <a:xfrm>
            <a:off x="841248" y="2880360"/>
            <a:ext cx="3584448" cy="21031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300" b="1">
                <a:solidFill>
                  <a:srgbClr val="161623"/>
                </a:solidFill>
                <a:latin typeface="Arial"/>
              </a:rPr>
              <a:t>02  GOVERNANCE BURDEN</a:t>
            </a:r>
          </a:p>
        </p:txBody>
      </p:sp>
      <p:sp>
        <p:nvSpPr>
          <p:cNvPr id="8910" name="TextBox 8909"/>
          <p:cNvSpPr txBox="1"/>
          <p:nvPr/>
        </p:nvSpPr>
        <p:spPr>
          <a:xfrm>
            <a:off x="841248" y="3099816"/>
            <a:ext cx="4206240" cy="283464"/>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0">
                <a:solidFill>
                  <a:srgbClr val="62544F"/>
                </a:solidFill>
                <a:latin typeface="Arial"/>
              </a:rPr>
              <a:t>Risk, Compliance and Audit govern approval.</a:t>
            </a:r>
          </a:p>
        </p:txBody>
      </p:sp>
      <p:sp>
        <p:nvSpPr>
          <p:cNvPr id="8911" name="Rectangle 8910"/>
          <p:cNvSpPr/>
          <p:nvPr/>
        </p:nvSpPr>
        <p:spPr>
          <a:xfrm>
            <a:off x="841248" y="3456432"/>
            <a:ext cx="2606040" cy="164592"/>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2" name="TextBox 8911"/>
          <p:cNvSpPr txBox="1"/>
          <p:nvPr/>
        </p:nvSpPr>
        <p:spPr>
          <a:xfrm>
            <a:off x="841248" y="3675888"/>
            <a:ext cx="3584448" cy="21031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300" b="1">
                <a:solidFill>
                  <a:srgbClr val="161623"/>
                </a:solidFill>
                <a:latin typeface="Arial"/>
              </a:rPr>
              <a:t>03  DOCUMENT INTENSITY</a:t>
            </a:r>
          </a:p>
        </p:txBody>
      </p:sp>
      <p:sp>
        <p:nvSpPr>
          <p:cNvPr id="8913" name="TextBox 8912"/>
          <p:cNvSpPr txBox="1"/>
          <p:nvPr/>
        </p:nvSpPr>
        <p:spPr>
          <a:xfrm>
            <a:off x="841248" y="3895344"/>
            <a:ext cx="4206240" cy="283464"/>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0">
                <a:solidFill>
                  <a:srgbClr val="62544F"/>
                </a:solidFill>
                <a:latin typeface="Arial"/>
              </a:rPr>
              <a:t>Filings, credit files and policies stay document-heavy.</a:t>
            </a:r>
          </a:p>
        </p:txBody>
      </p:sp>
      <p:sp>
        <p:nvSpPr>
          <p:cNvPr id="8914" name="Rectangle 8913"/>
          <p:cNvSpPr/>
          <p:nvPr/>
        </p:nvSpPr>
        <p:spPr>
          <a:xfrm>
            <a:off x="841248" y="4251960"/>
            <a:ext cx="2240280" cy="164592"/>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5" name="TextBox 8914"/>
          <p:cNvSpPr txBox="1"/>
          <p:nvPr/>
        </p:nvSpPr>
        <p:spPr>
          <a:xfrm>
            <a:off x="841248" y="4471416"/>
            <a:ext cx="3584448" cy="21031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300" b="1">
                <a:solidFill>
                  <a:srgbClr val="161623"/>
                </a:solidFill>
                <a:latin typeface="Arial"/>
              </a:rPr>
              <a:t>04  MULTI-MODEL + GEOGRAPHY</a:t>
            </a:r>
          </a:p>
        </p:txBody>
      </p:sp>
      <p:sp>
        <p:nvSpPr>
          <p:cNvPr id="8916" name="TextBox 8915"/>
          <p:cNvSpPr txBox="1"/>
          <p:nvPr/>
        </p:nvSpPr>
        <p:spPr>
          <a:xfrm>
            <a:off x="841248" y="4690872"/>
            <a:ext cx="4206240" cy="283464"/>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0">
                <a:solidFill>
                  <a:srgbClr val="62544F"/>
                </a:solidFill>
                <a:latin typeface="Arial"/>
              </a:rPr>
              <a:t>Multi-model estates; rules vary by market.</a:t>
            </a:r>
          </a:p>
        </p:txBody>
      </p:sp>
      <p:sp>
        <p:nvSpPr>
          <p:cNvPr id="8917" name="TextBox 8916"/>
          <p:cNvSpPr txBox="1"/>
          <p:nvPr/>
        </p:nvSpPr>
        <p:spPr>
          <a:xfrm>
            <a:off x="5349240" y="1481328"/>
            <a:ext cx="6007608"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400" b="1">
                <a:solidFill>
                  <a:srgbClr val="FA500E"/>
                </a:solidFill>
                <a:latin typeface="Arial"/>
              </a:rPr>
              <a:t>TWO </a:t>
            </a:r>
            <a:r>
              <a:rPr lang="en-US" sz="1400" b="1">
                <a:solidFill>
                  <a:srgbClr val="FA500E"/>
                </a:solidFill>
                <a:latin typeface="Arial"/>
              </a:rPr>
              <a:t>PRIORITY</a:t>
            </a:r>
            <a:r>
              <a:rPr sz="1400" b="1">
                <a:solidFill>
                  <a:srgbClr val="FA500E"/>
                </a:solidFill>
                <a:latin typeface="Arial"/>
              </a:rPr>
              <a:t> PLAYS</a:t>
            </a:r>
          </a:p>
        </p:txBody>
      </p:sp>
      <p:sp>
        <p:nvSpPr>
          <p:cNvPr id="8918" name="Rectangle 8917"/>
          <p:cNvSpPr/>
          <p:nvPr/>
        </p:nvSpPr>
        <p:spPr>
          <a:xfrm>
            <a:off x="5349240" y="1874519"/>
            <a:ext cx="91440" cy="1444752"/>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9" name="TextBox 8918"/>
          <p:cNvSpPr txBox="1"/>
          <p:nvPr/>
        </p:nvSpPr>
        <p:spPr>
          <a:xfrm>
            <a:off x="5596128" y="1874519"/>
            <a:ext cx="5532120" cy="32004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800" b="1">
                <a:solidFill>
                  <a:srgbClr val="161623"/>
                </a:solidFill>
                <a:latin typeface="Arial"/>
              </a:rPr>
              <a:t>CONTROLLED AI FOR REGULATED WORKFLOWS</a:t>
            </a:r>
          </a:p>
        </p:txBody>
      </p:sp>
      <p:sp>
        <p:nvSpPr>
          <p:cNvPr id="8920" name="TextBox 8919"/>
          <p:cNvSpPr txBox="1"/>
          <p:nvPr/>
        </p:nvSpPr>
        <p:spPr>
          <a:xfrm>
            <a:off x="5596128" y="2359152"/>
            <a:ext cx="5394960" cy="274320"/>
          </a:xfrm>
          <a:prstGeom prst="rect">
            <a:avLst/>
          </a:prstGeom>
          <a:noFill/>
          <a:ln>
            <a:noFill/>
          </a:ln>
        </p:spPr>
        <p:txBody>
          <a:bodyPr wrap="square" lIns="0" tIns="0" rIns="0" bIns="0">
            <a:noAutofit/>
          </a:bodyPr>
          <a:lstStyle/>
          <a:p>
            <a:pPr>
              <a:lnSpc>
                <a:spcPct val="100000"/>
              </a:lnSpc>
              <a:spcBef>
                <a:spcPts val="0"/>
              </a:spcBef>
              <a:spcAft>
                <a:spcPts val="0"/>
              </a:spcAft>
            </a:pPr>
            <a:r>
              <a:rPr sz="1150" b="1">
                <a:solidFill>
                  <a:srgbClr val="FA500E"/>
                </a:solidFill>
                <a:latin typeface="Arial"/>
              </a:rPr>
              <a:t>BUYER  </a:t>
            </a:r>
            <a:r>
              <a:rPr sz="1150" b="0">
                <a:solidFill>
                  <a:srgbClr val="161623"/>
                </a:solidFill>
                <a:latin typeface="Arial"/>
              </a:rPr>
              <a:t>CRO / CCO / CISO / CIO</a:t>
            </a:r>
          </a:p>
        </p:txBody>
      </p:sp>
      <p:sp>
        <p:nvSpPr>
          <p:cNvPr id="8921" name="TextBox 8920"/>
          <p:cNvSpPr txBox="1"/>
          <p:nvPr/>
        </p:nvSpPr>
        <p:spPr>
          <a:xfrm>
            <a:off x="5596128" y="2688336"/>
            <a:ext cx="5394960" cy="274320"/>
          </a:xfrm>
          <a:prstGeom prst="rect">
            <a:avLst/>
          </a:prstGeom>
          <a:noFill/>
          <a:ln>
            <a:noFill/>
          </a:ln>
        </p:spPr>
        <p:txBody>
          <a:bodyPr wrap="square" lIns="0" tIns="0" rIns="0" bIns="0">
            <a:noAutofit/>
          </a:bodyPr>
          <a:lstStyle/>
          <a:p>
            <a:pPr>
              <a:lnSpc>
                <a:spcPct val="100000"/>
              </a:lnSpc>
              <a:spcBef>
                <a:spcPts val="0"/>
              </a:spcBef>
              <a:spcAft>
                <a:spcPts val="0"/>
              </a:spcAft>
            </a:pPr>
            <a:r>
              <a:rPr sz="1150" b="1">
                <a:solidFill>
                  <a:srgbClr val="FA500E"/>
                </a:solidFill>
                <a:latin typeface="Arial"/>
              </a:rPr>
              <a:t>WORKFLOW  </a:t>
            </a:r>
            <a:r>
              <a:rPr sz="1150" b="0">
                <a:solidFill>
                  <a:srgbClr val="161623"/>
                </a:solidFill>
                <a:latin typeface="Arial"/>
              </a:rPr>
              <a:t>KYC · AML · credit · policy</a:t>
            </a:r>
          </a:p>
        </p:txBody>
      </p:sp>
      <p:sp>
        <p:nvSpPr>
          <p:cNvPr id="8922" name="TextBox 8921"/>
          <p:cNvSpPr txBox="1"/>
          <p:nvPr/>
        </p:nvSpPr>
        <p:spPr>
          <a:xfrm>
            <a:off x="5596128" y="3017520"/>
            <a:ext cx="5394960" cy="384048"/>
          </a:xfrm>
          <a:prstGeom prst="rect">
            <a:avLst/>
          </a:prstGeom>
          <a:noFill/>
          <a:ln>
            <a:noFill/>
          </a:ln>
        </p:spPr>
        <p:txBody>
          <a:bodyPr wrap="square" lIns="0" tIns="0" rIns="0" bIns="0">
            <a:noAutofit/>
          </a:bodyPr>
          <a:lstStyle/>
          <a:p>
            <a:pPr>
              <a:lnSpc>
                <a:spcPct val="100000"/>
              </a:lnSpc>
              <a:spcBef>
                <a:spcPts val="0"/>
              </a:spcBef>
              <a:spcAft>
                <a:spcPts val="0"/>
              </a:spcAft>
            </a:pPr>
            <a:r>
              <a:rPr sz="1150" b="1">
                <a:solidFill>
                  <a:srgbClr val="FA500E"/>
                </a:solidFill>
                <a:latin typeface="Arial"/>
              </a:rPr>
              <a:t>WIN  </a:t>
            </a:r>
            <a:r>
              <a:rPr sz="1150" b="0">
                <a:solidFill>
                  <a:srgbClr val="161623"/>
                </a:solidFill>
                <a:latin typeface="Arial"/>
              </a:rPr>
              <a:t>Deployment control + approval evidence</a:t>
            </a:r>
          </a:p>
        </p:txBody>
      </p:sp>
      <p:sp>
        <p:nvSpPr>
          <p:cNvPr id="8923" name="Rectangle 8922"/>
          <p:cNvSpPr/>
          <p:nvPr/>
        </p:nvSpPr>
        <p:spPr>
          <a:xfrm>
            <a:off x="5349240" y="3749039"/>
            <a:ext cx="91440" cy="144475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4" name="TextBox 8923"/>
          <p:cNvSpPr txBox="1"/>
          <p:nvPr/>
        </p:nvSpPr>
        <p:spPr>
          <a:xfrm>
            <a:off x="5596128" y="3749039"/>
            <a:ext cx="5532120" cy="65836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800" b="1">
                <a:solidFill>
                  <a:srgbClr val="161623"/>
                </a:solidFill>
                <a:latin typeface="Arial"/>
              </a:rPr>
              <a:t>FINANCIAL INTELLIGENCE &amp; DOCUMENT AUTOMATION</a:t>
            </a:r>
          </a:p>
        </p:txBody>
      </p:sp>
      <p:sp>
        <p:nvSpPr>
          <p:cNvPr id="8925" name="TextBox 8924"/>
          <p:cNvSpPr txBox="1"/>
          <p:nvPr/>
        </p:nvSpPr>
        <p:spPr>
          <a:xfrm>
            <a:off x="5596128" y="4471416"/>
            <a:ext cx="5394960" cy="274320"/>
          </a:xfrm>
          <a:prstGeom prst="rect">
            <a:avLst/>
          </a:prstGeom>
          <a:noFill/>
          <a:ln>
            <a:noFill/>
          </a:ln>
        </p:spPr>
        <p:txBody>
          <a:bodyPr wrap="square" lIns="0" tIns="0" rIns="0" bIns="0">
            <a:noAutofit/>
          </a:bodyPr>
          <a:lstStyle/>
          <a:p>
            <a:pPr>
              <a:lnSpc>
                <a:spcPct val="100000"/>
              </a:lnSpc>
              <a:spcBef>
                <a:spcPts val="0"/>
              </a:spcBef>
              <a:spcAft>
                <a:spcPts val="0"/>
              </a:spcAft>
            </a:pPr>
            <a:r>
              <a:rPr sz="1150" b="1">
                <a:solidFill>
                  <a:srgbClr val="FA500E"/>
                </a:solidFill>
                <a:latin typeface="Arial"/>
              </a:rPr>
              <a:t>BUYER  </a:t>
            </a:r>
            <a:r>
              <a:rPr sz="1150" b="0">
                <a:solidFill>
                  <a:srgbClr val="161623"/>
                </a:solidFill>
                <a:latin typeface="Arial"/>
              </a:rPr>
              <a:t>CIO · Research · Credit · PE</a:t>
            </a:r>
          </a:p>
        </p:txBody>
      </p:sp>
      <p:sp>
        <p:nvSpPr>
          <p:cNvPr id="8926" name="TextBox 8925"/>
          <p:cNvSpPr txBox="1"/>
          <p:nvPr/>
        </p:nvSpPr>
        <p:spPr>
          <a:xfrm>
            <a:off x="5596128" y="4800599"/>
            <a:ext cx="5394960" cy="274320"/>
          </a:xfrm>
          <a:prstGeom prst="rect">
            <a:avLst/>
          </a:prstGeom>
          <a:noFill/>
          <a:ln>
            <a:noFill/>
          </a:ln>
        </p:spPr>
        <p:txBody>
          <a:bodyPr wrap="square" lIns="0" tIns="0" rIns="0" bIns="0">
            <a:noAutofit/>
          </a:bodyPr>
          <a:lstStyle/>
          <a:p>
            <a:pPr>
              <a:lnSpc>
                <a:spcPct val="100000"/>
              </a:lnSpc>
              <a:spcBef>
                <a:spcPts val="0"/>
              </a:spcBef>
              <a:spcAft>
                <a:spcPts val="0"/>
              </a:spcAft>
            </a:pPr>
            <a:r>
              <a:rPr sz="1150" b="1">
                <a:solidFill>
                  <a:srgbClr val="FA500E"/>
                </a:solidFill>
                <a:latin typeface="Arial"/>
              </a:rPr>
              <a:t>WORKFLOW  </a:t>
            </a:r>
            <a:r>
              <a:rPr sz="1150" b="0">
                <a:solidFill>
                  <a:srgbClr val="161623"/>
                </a:solidFill>
                <a:latin typeface="Arial"/>
              </a:rPr>
              <a:t>Extraction · diligence · filings</a:t>
            </a:r>
          </a:p>
        </p:txBody>
      </p:sp>
      <p:sp>
        <p:nvSpPr>
          <p:cNvPr id="8927" name="TextBox 8926"/>
          <p:cNvSpPr txBox="1"/>
          <p:nvPr/>
        </p:nvSpPr>
        <p:spPr>
          <a:xfrm>
            <a:off x="5596128" y="5129784"/>
            <a:ext cx="5394960" cy="384048"/>
          </a:xfrm>
          <a:prstGeom prst="rect">
            <a:avLst/>
          </a:prstGeom>
          <a:noFill/>
          <a:ln>
            <a:noFill/>
          </a:ln>
        </p:spPr>
        <p:txBody>
          <a:bodyPr wrap="square" lIns="0" tIns="0" rIns="0" bIns="0">
            <a:noAutofit/>
          </a:bodyPr>
          <a:lstStyle/>
          <a:p>
            <a:pPr>
              <a:lnSpc>
                <a:spcPct val="100000"/>
              </a:lnSpc>
              <a:spcBef>
                <a:spcPts val="0"/>
              </a:spcBef>
              <a:spcAft>
                <a:spcPts val="0"/>
              </a:spcAft>
            </a:pPr>
            <a:r>
              <a:rPr sz="1150" b="1">
                <a:solidFill>
                  <a:srgbClr val="FA500E"/>
                </a:solidFill>
                <a:latin typeface="Arial"/>
              </a:rPr>
              <a:t>WIN  </a:t>
            </a:r>
            <a:r>
              <a:rPr sz="1150" b="0">
                <a:solidFill>
                  <a:srgbClr val="161623"/>
                </a:solidFill>
                <a:latin typeface="Arial"/>
              </a:rPr>
              <a:t>Document intelligence + traceability</a:t>
            </a:r>
          </a:p>
        </p:txBody>
      </p:sp>
      <p:cxnSp>
        <p:nvCxnSpPr>
          <p:cNvPr id="8928" name="Connector 8927"/>
          <p:cNvCxnSpPr/>
          <p:nvPr/>
        </p:nvCxnSpPr>
        <p:spPr>
          <a:xfrm>
            <a:off x="841248" y="5779008"/>
            <a:ext cx="10515600" cy="0"/>
          </a:xfrm>
          <a:prstGeom prst="line">
            <a:avLst/>
          </a:prstGeom>
          <a:ln w="25400">
            <a:solidFill>
              <a:srgbClr val="E8CBBE"/>
            </a:solidFill>
          </a:ln>
        </p:spPr>
        <p:style>
          <a:lnRef idx="2">
            <a:schemeClr val="accent1"/>
          </a:lnRef>
          <a:fillRef idx="0">
            <a:schemeClr val="accent1"/>
          </a:fillRef>
          <a:effectRef idx="1">
            <a:schemeClr val="accent1"/>
          </a:effectRef>
          <a:fontRef idx="minor">
            <a:schemeClr val="tx1"/>
          </a:fontRef>
        </p:style>
      </p:cxnSp>
      <p:sp>
        <p:nvSpPr>
          <p:cNvPr id="8929" name="Oval 8928"/>
          <p:cNvSpPr/>
          <p:nvPr/>
        </p:nvSpPr>
        <p:spPr>
          <a:xfrm>
            <a:off x="841248" y="5705856"/>
            <a:ext cx="146304" cy="146304"/>
          </a:xfrm>
          <a:prstGeom prst="ellipse">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0" name="TextBox 8929"/>
          <p:cNvSpPr txBox="1"/>
          <p:nvPr/>
        </p:nvSpPr>
        <p:spPr>
          <a:xfrm>
            <a:off x="841248" y="5925312"/>
            <a:ext cx="1353312" cy="27432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050" b="1">
                <a:solidFill>
                  <a:srgbClr val="161623"/>
                </a:solidFill>
                <a:latin typeface="Arial"/>
              </a:rPr>
              <a:t>CUSTOMER PROBLEM</a:t>
            </a:r>
          </a:p>
        </p:txBody>
      </p:sp>
      <p:sp>
        <p:nvSpPr>
          <p:cNvPr id="8931" name="Oval 8930"/>
          <p:cNvSpPr/>
          <p:nvPr/>
        </p:nvSpPr>
        <p:spPr>
          <a:xfrm>
            <a:off x="2340864" y="5705856"/>
            <a:ext cx="146304" cy="146304"/>
          </a:xfrm>
          <a:prstGeom prst="ellipse">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2" name="TextBox 8931"/>
          <p:cNvSpPr txBox="1"/>
          <p:nvPr/>
        </p:nvSpPr>
        <p:spPr>
          <a:xfrm>
            <a:off x="2340864" y="5925312"/>
            <a:ext cx="1353312" cy="27432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050" b="1">
                <a:solidFill>
                  <a:srgbClr val="161623"/>
                </a:solidFill>
                <a:latin typeface="Arial"/>
              </a:rPr>
              <a:t>DIFFERENTIATION</a:t>
            </a:r>
          </a:p>
        </p:txBody>
      </p:sp>
      <p:sp>
        <p:nvSpPr>
          <p:cNvPr id="8933" name="Oval 8932"/>
          <p:cNvSpPr/>
          <p:nvPr/>
        </p:nvSpPr>
        <p:spPr>
          <a:xfrm>
            <a:off x="3840480" y="5705856"/>
            <a:ext cx="146304" cy="146304"/>
          </a:xfrm>
          <a:prstGeom prst="ellipse">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4" name="TextBox 8933"/>
          <p:cNvSpPr txBox="1"/>
          <p:nvPr/>
        </p:nvSpPr>
        <p:spPr>
          <a:xfrm>
            <a:off x="3840480" y="5925312"/>
            <a:ext cx="1353312" cy="27432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050" b="1">
                <a:solidFill>
                  <a:srgbClr val="161623"/>
                </a:solidFill>
                <a:latin typeface="Arial"/>
              </a:rPr>
              <a:t>DEMO</a:t>
            </a:r>
          </a:p>
        </p:txBody>
      </p:sp>
      <p:sp>
        <p:nvSpPr>
          <p:cNvPr id="8935" name="Oval 8934"/>
          <p:cNvSpPr/>
          <p:nvPr/>
        </p:nvSpPr>
        <p:spPr>
          <a:xfrm>
            <a:off x="5340096" y="5705856"/>
            <a:ext cx="146304" cy="146304"/>
          </a:xfrm>
          <a:prstGeom prst="ellipse">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6" name="TextBox 8935"/>
          <p:cNvSpPr txBox="1"/>
          <p:nvPr/>
        </p:nvSpPr>
        <p:spPr>
          <a:xfrm>
            <a:off x="5340096" y="5925312"/>
            <a:ext cx="1353312" cy="27432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050" b="1">
                <a:solidFill>
                  <a:srgbClr val="161623"/>
                </a:solidFill>
                <a:latin typeface="Arial"/>
              </a:rPr>
              <a:t>ROI MODEL</a:t>
            </a:r>
          </a:p>
        </p:txBody>
      </p:sp>
      <p:sp>
        <p:nvSpPr>
          <p:cNvPr id="8937" name="Oval 8936"/>
          <p:cNvSpPr/>
          <p:nvPr/>
        </p:nvSpPr>
        <p:spPr>
          <a:xfrm>
            <a:off x="6839712" y="5705856"/>
            <a:ext cx="146304" cy="146304"/>
          </a:xfrm>
          <a:prstGeom prst="ellipse">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8" name="TextBox 8937"/>
          <p:cNvSpPr txBox="1"/>
          <p:nvPr/>
        </p:nvSpPr>
        <p:spPr>
          <a:xfrm>
            <a:off x="6839712" y="5925312"/>
            <a:ext cx="1353312" cy="27432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050" b="1">
                <a:solidFill>
                  <a:srgbClr val="161623"/>
                </a:solidFill>
                <a:latin typeface="Arial"/>
              </a:rPr>
              <a:t>OBJECTIONS</a:t>
            </a:r>
          </a:p>
        </p:txBody>
      </p:sp>
      <p:sp>
        <p:nvSpPr>
          <p:cNvPr id="8939" name="Oval 8938"/>
          <p:cNvSpPr/>
          <p:nvPr/>
        </p:nvSpPr>
        <p:spPr>
          <a:xfrm>
            <a:off x="8339327" y="5705856"/>
            <a:ext cx="146304" cy="146304"/>
          </a:xfrm>
          <a:prstGeom prst="ellipse">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0" name="TextBox 8939"/>
          <p:cNvSpPr txBox="1"/>
          <p:nvPr/>
        </p:nvSpPr>
        <p:spPr>
          <a:xfrm>
            <a:off x="8339327" y="5925312"/>
            <a:ext cx="1353312" cy="27432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050" b="1">
                <a:solidFill>
                  <a:srgbClr val="161623"/>
                </a:solidFill>
                <a:latin typeface="Arial"/>
              </a:rPr>
              <a:t>EVALUATION</a:t>
            </a:r>
          </a:p>
        </p:txBody>
      </p:sp>
      <p:sp>
        <p:nvSpPr>
          <p:cNvPr id="8941" name="Oval 8940"/>
          <p:cNvSpPr/>
          <p:nvPr/>
        </p:nvSpPr>
        <p:spPr>
          <a:xfrm>
            <a:off x="9838944" y="5705856"/>
            <a:ext cx="146304" cy="146304"/>
          </a:xfrm>
          <a:prstGeom prst="ellipse">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2" name="TextBox 8941"/>
          <p:cNvSpPr txBox="1"/>
          <p:nvPr/>
        </p:nvSpPr>
        <p:spPr>
          <a:xfrm>
            <a:off x="9838944" y="5925312"/>
            <a:ext cx="1353312" cy="27432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050" b="1">
                <a:solidFill>
                  <a:srgbClr val="161623"/>
                </a:solidFill>
                <a:latin typeface="Arial"/>
              </a:rPr>
              <a:t>PROOF PACK</a:t>
            </a:r>
          </a:p>
        </p:txBody>
      </p:sp>
      <p:sp>
        <p:nvSpPr>
          <p:cNvPr id="960" name="Icon Accent"/>
          <p:cNvSpPr/>
          <p:nvPr/>
        </p:nvSpPr>
        <p:spPr>
          <a:xfrm>
            <a:off x="11100000" y="182880"/>
            <a:ext cx="347472" cy="347472"/>
          </a:xfrm>
          <a:custGeom>
            <a:avLst/>
            <a:gdLst/>
            <a:ahLst/>
            <a:cxnLst/>
            <a:rect l="0" t="0" r="r" b="b"/>
            <a:pathLst>
              <a:path w="100" h="100">
                <a:moveTo>
                  <a:pt x="10" y="40"/>
                </a:moveTo>
                <a:lnTo>
                  <a:pt x="50" y="14"/>
                </a:lnTo>
                <a:lnTo>
                  <a:pt x="90" y="40"/>
                </a:lnTo>
                <a:close/>
              </a:path>
              <a:path w="100" h="100">
                <a:moveTo>
                  <a:pt x="10" y="86"/>
                </a:moveTo>
                <a:lnTo>
                  <a:pt x="90" y="86"/>
                </a:lnTo>
              </a:path>
              <a:path w="100" h="100">
                <a:moveTo>
                  <a:pt x="24" y="48"/>
                </a:moveTo>
                <a:lnTo>
                  <a:pt x="24" y="78"/>
                </a:lnTo>
              </a:path>
              <a:path w="100" h="100">
                <a:moveTo>
                  <a:pt x="41" y="48"/>
                </a:moveTo>
                <a:lnTo>
                  <a:pt x="41" y="78"/>
                </a:lnTo>
              </a:path>
              <a:path w="100" h="100">
                <a:moveTo>
                  <a:pt x="59" y="48"/>
                </a:moveTo>
                <a:lnTo>
                  <a:pt x="59" y="78"/>
                </a:lnTo>
              </a:path>
              <a:path w="100" h="100">
                <a:moveTo>
                  <a:pt x="76" y="48"/>
                </a:moveTo>
                <a:lnTo>
                  <a:pt x="76" y="78"/>
                </a:lnTo>
              </a:path>
            </a:pathLst>
          </a:custGeom>
          <a:noFill/>
          <a:ln w="19050" cap="rnd">
            <a:solidFill>
              <a:srgbClr val="FA500E"/>
            </a:solidFill>
            <a:round/>
          </a:ln>
        </p:spPr>
        <p:txBody>
          <a:bodyPr/>
          <a:lstStyle/>
          <a:p>
            <a:endParaRPr/>
          </a:p>
        </p:txBody>
      </p:sp>
    </p:spTree>
    <p:extLst>
      <p:ext uri="{BB962C8B-B14F-4D97-AF65-F5344CB8AC3E}">
        <p14:creationId xmlns:p14="http://schemas.microsoft.com/office/powerpoint/2010/main" val="676782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pic>
        <p:nvPicPr>
          <p:cNvPr id="42" name="Mistral company monogram — slide 2"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43" name="Rectangle 42"/>
          <p:cNvSpPr>
            <a:spLocks/>
          </p:cNvSpPr>
          <p:nvPr/>
        </p:nvSpPr>
        <p:spPr>
          <a:xfrm>
            <a:off x="609904" y="267004"/>
            <a:ext cx="75895" cy="74249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960" b="0" i="0" u="none" strike="noStrike" kern="1200" cap="none" spc="0" normalizeH="0" baseline="0" noProof="0">
              <a:ln>
                <a:noFill/>
              </a:ln>
              <a:solidFill>
                <a:srgbClr val="FFFFFF"/>
              </a:solidFill>
              <a:effectLst/>
              <a:uLnTx/>
              <a:uFillTx/>
              <a:latin typeface="Calibri"/>
              <a:ea typeface="Calibri"/>
              <a:cs typeface="Calibri"/>
            </a:endParaRPr>
          </a:p>
        </p:txBody>
      </p:sp>
      <p:sp>
        <p:nvSpPr>
          <p:cNvPr id="9001" name="Eyebrow"/>
          <p:cNvSpPr txBox="1"/>
          <p:nvPr/>
        </p:nvSpPr>
        <p:spPr>
          <a:xfrm>
            <a:off x="841248" y="54864"/>
            <a:ext cx="7955279" cy="201168"/>
          </a:xfrm>
          <a:prstGeom prst="rect">
            <a:avLst/>
          </a:prstGeom>
          <a:noFill/>
          <a:ln>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120" normalizeH="0" baseline="0" noProof="0">
                <a:ln>
                  <a:noFill/>
                </a:ln>
                <a:solidFill>
                  <a:srgbClr val="FA500E"/>
                </a:solidFill>
                <a:effectLst/>
                <a:uLnTx/>
                <a:uFillTx/>
                <a:latin typeface="Arial"/>
                <a:ea typeface="Calibri"/>
                <a:cs typeface="Arial"/>
              </a:rPr>
              <a:t>COMMERCIAL MOTION</a:t>
            </a:r>
          </a:p>
        </p:txBody>
      </p:sp>
      <p:sp>
        <p:nvSpPr>
          <p:cNvPr id="9002" name="Title"/>
          <p:cNvSpPr txBox="1"/>
          <p:nvPr/>
        </p:nvSpPr>
        <p:spPr>
          <a:xfrm>
            <a:off x="841248" y="274320"/>
            <a:ext cx="9900000" cy="502920"/>
          </a:xfrm>
          <a:prstGeom prst="rect">
            <a:avLst/>
          </a:prstGeom>
          <a:noFill/>
          <a:ln>
            <a:noFill/>
          </a:ln>
        </p:spPr>
        <p:txBody>
          <a:bodyPr wrap="square"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1" i="0">
                <a:solidFill>
                  <a:srgbClr val="161623"/>
                </a:solidFill>
                <a:latin typeface="Tiny5"/>
              </a:rPr>
              <a:t>LAND WITH SERVICES. SCALE WITH EVIDENCE.</a:t>
            </a:r>
          </a:p>
        </p:txBody>
      </p:sp>
      <p:sp>
        <p:nvSpPr>
          <p:cNvPr id="8900" name="FootRule"/>
          <p:cNvSpPr txBox="1"/>
          <p:nvPr/>
        </p:nvSpPr>
        <p:spPr>
          <a:xfrm>
            <a:off x="612648" y="6556248"/>
            <a:ext cx="10972800" cy="9144"/>
          </a:xfrm>
          <a:prstGeom prst="rect">
            <a:avLst/>
          </a:prstGeom>
          <a:solidFill>
            <a:srgbClr val="E8CBBE"/>
          </a:solidFill>
          <a:ln>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8901" name="FootTxt"/>
          <p:cNvSpPr txBox="1"/>
          <p:nvPr/>
        </p:nvSpPr>
        <p:spPr>
          <a:xfrm>
            <a:off x="612648" y="6620256"/>
            <a:ext cx="4005072" cy="149961"/>
          </a:xfrm>
          <a:prstGeom prst="rect">
            <a:avLst/>
          </a:prstGeom>
          <a:noFill/>
          <a:ln>
            <a:noFill/>
          </a:ln>
        </p:spPr>
        <p:txBody>
          <a:bodyPr wrap="square" lIns="0" tIns="0" rIns="0" bIns="0" anchor="ctr">
            <a:noAutofit/>
          </a:bodyPr>
          <a:lstStyle/>
          <a:p>
            <a:pPr algn="l"/>
            <a:r>
              <a:rPr lang="en-US" sz="1200" b="0" i="0">
                <a:solidFill>
                  <a:srgbClr val="5A554B"/>
                </a:solidFill>
                <a:latin typeface="Arial"/>
              </a:rPr>
              <a:t>SHIV  ·  PMM CANDIDATE  ·  18 AUG 2026</a:t>
            </a:r>
          </a:p>
        </p:txBody>
      </p:sp>
      <p:sp>
        <p:nvSpPr>
          <p:cNvPr id="8902" name="FootPg"/>
          <p:cNvSpPr txBox="1"/>
          <p:nvPr/>
        </p:nvSpPr>
        <p:spPr>
          <a:xfrm>
            <a:off x="11237976" y="6620256"/>
            <a:ext cx="347472" cy="149961"/>
          </a:xfrm>
          <a:prstGeom prst="rect">
            <a:avLst/>
          </a:prstGeom>
          <a:noFill/>
          <a:ln>
            <a:noFill/>
          </a:ln>
        </p:spPr>
        <p:txBody>
          <a:bodyPr wrap="square" lIns="0" tIns="0" rIns="0" bIns="0" anchor="ctr">
            <a:noAutofit/>
          </a:bodyPr>
          <a:lstStyle/>
          <a:p>
            <a:pPr algn="r"/>
            <a:r>
              <a:rPr lang="en-US" sz="1200" b="0" i="0">
                <a:solidFill>
                  <a:srgbClr val="5A554B"/>
                </a:solidFill>
                <a:latin typeface="Arial"/>
              </a:rPr>
              <a:t>2</a:t>
            </a:r>
          </a:p>
        </p:txBody>
      </p:sp>
      <p:sp>
        <p:nvSpPr>
          <p:cNvPr id="9003" name="TextBox 9002"/>
          <p:cNvSpPr txBox="1"/>
          <p:nvPr/>
        </p:nvSpPr>
        <p:spPr>
          <a:xfrm>
            <a:off x="841248" y="1078992"/>
            <a:ext cx="338328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400" b="1">
                <a:solidFill>
                  <a:srgbClr val="FA500E"/>
                </a:solidFill>
                <a:latin typeface="Arial"/>
              </a:rPr>
              <a:t>A FOUR-STAGE MOTION</a:t>
            </a:r>
          </a:p>
        </p:txBody>
      </p:sp>
      <p:sp>
        <p:nvSpPr>
          <p:cNvPr id="9004" name="TextBox 9003"/>
          <p:cNvSpPr txBox="1"/>
          <p:nvPr/>
        </p:nvSpPr>
        <p:spPr>
          <a:xfrm>
            <a:off x="841248" y="1362456"/>
            <a:ext cx="3337560" cy="73152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2400" b="1">
                <a:solidFill>
                  <a:srgbClr val="161623"/>
                </a:solidFill>
                <a:latin typeface="Arial"/>
              </a:rPr>
              <a:t>Focus → shape → prove → </a:t>
            </a:r>
            <a:r>
              <a:rPr lang="en-US" sz="2400" b="1">
                <a:solidFill>
                  <a:srgbClr val="161623"/>
                </a:solidFill>
                <a:latin typeface="Arial"/>
              </a:rPr>
              <a:t>expand</a:t>
            </a:r>
            <a:endParaRPr sz="2400" b="1">
              <a:solidFill>
                <a:srgbClr val="161623"/>
              </a:solidFill>
              <a:latin typeface="Arial"/>
            </a:endParaRPr>
          </a:p>
        </p:txBody>
      </p:sp>
      <p:sp>
        <p:nvSpPr>
          <p:cNvPr id="9005" name="TextBox 9004"/>
          <p:cNvSpPr txBox="1"/>
          <p:nvPr/>
        </p:nvSpPr>
        <p:spPr>
          <a:xfrm>
            <a:off x="841248" y="2267712"/>
            <a:ext cx="320040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FA500E"/>
                </a:solidFill>
                <a:latin typeface="Arial"/>
              </a:rPr>
              <a:t>WHY IT COMPOUNDS</a:t>
            </a:r>
          </a:p>
        </p:txBody>
      </p:sp>
      <p:sp>
        <p:nvSpPr>
          <p:cNvPr id="9006" name="TextBox 9005"/>
          <p:cNvSpPr txBox="1"/>
          <p:nvPr/>
        </p:nvSpPr>
        <p:spPr>
          <a:xfrm>
            <a:off x="841248" y="2542032"/>
            <a:ext cx="3246120" cy="9144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800" b="1">
                <a:solidFill>
                  <a:srgbClr val="161623"/>
                </a:solidFill>
                <a:latin typeface="Arial"/>
              </a:rPr>
              <a:t>Each win becomes proof for the next account.</a:t>
            </a:r>
          </a:p>
        </p:txBody>
      </p:sp>
      <p:cxnSp>
        <p:nvCxnSpPr>
          <p:cNvPr id="9007" name="Connector 9006"/>
          <p:cNvCxnSpPr/>
          <p:nvPr/>
        </p:nvCxnSpPr>
        <p:spPr>
          <a:xfrm flipV="1">
            <a:off x="4315968" y="2011680"/>
            <a:ext cx="6702552" cy="3493008"/>
          </a:xfrm>
          <a:prstGeom prst="line">
            <a:avLst/>
          </a:prstGeom>
          <a:ln w="63500">
            <a:solidFill>
              <a:srgbClr val="E8CBBE"/>
            </a:solidFill>
          </a:ln>
        </p:spPr>
        <p:style>
          <a:lnRef idx="2">
            <a:schemeClr val="accent1"/>
          </a:lnRef>
          <a:fillRef idx="0">
            <a:schemeClr val="accent1"/>
          </a:fillRef>
          <a:effectRef idx="1">
            <a:schemeClr val="accent1"/>
          </a:effectRef>
          <a:fontRef idx="minor">
            <a:schemeClr val="tx1"/>
          </a:fontRef>
        </p:style>
      </p:cxnSp>
      <p:sp>
        <p:nvSpPr>
          <p:cNvPr id="9008" name="Oval 9007"/>
          <p:cNvSpPr>
            <a:spLocks/>
          </p:cNvSpPr>
          <p:nvPr/>
        </p:nvSpPr>
        <p:spPr>
          <a:xfrm>
            <a:off x="4334256" y="4974336"/>
            <a:ext cx="566928" cy="566928"/>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09" name="TextBox 9008"/>
          <p:cNvSpPr txBox="1"/>
          <p:nvPr/>
        </p:nvSpPr>
        <p:spPr>
          <a:xfrm>
            <a:off x="4334256" y="4974336"/>
            <a:ext cx="566928" cy="566928"/>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lang="en-US" sz="1500" b="1">
                <a:solidFill>
                  <a:srgbClr val="FFFFFF"/>
                </a:solidFill>
                <a:latin typeface="Arial"/>
              </a:rPr>
              <a:t>01</a:t>
            </a:r>
          </a:p>
        </p:txBody>
      </p:sp>
      <p:sp>
        <p:nvSpPr>
          <p:cNvPr id="9010" name="TextBox 9009"/>
          <p:cNvSpPr txBox="1"/>
          <p:nvPr/>
        </p:nvSpPr>
        <p:spPr>
          <a:xfrm>
            <a:off x="3959352" y="4251960"/>
            <a:ext cx="1325880" cy="54864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300" b="1">
                <a:solidFill>
                  <a:srgbClr val="161623"/>
                </a:solidFill>
                <a:latin typeface="Arial"/>
              </a:rPr>
              <a:t>FOCUS KEY ACCOUNTS</a:t>
            </a:r>
          </a:p>
        </p:txBody>
      </p:sp>
      <p:sp>
        <p:nvSpPr>
          <p:cNvPr id="9011" name="TextBox 9010"/>
          <p:cNvSpPr txBox="1"/>
          <p:nvPr/>
        </p:nvSpPr>
        <p:spPr>
          <a:xfrm>
            <a:off x="3813048" y="5623560"/>
            <a:ext cx="1609344" cy="658368"/>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Trigger · sponsor · workflow · baseline · next decision</a:t>
            </a:r>
          </a:p>
        </p:txBody>
      </p:sp>
      <p:sp>
        <p:nvSpPr>
          <p:cNvPr id="9012" name="Oval 9011"/>
          <p:cNvSpPr>
            <a:spLocks/>
          </p:cNvSpPr>
          <p:nvPr/>
        </p:nvSpPr>
        <p:spPr>
          <a:xfrm>
            <a:off x="6345936" y="3968496"/>
            <a:ext cx="566928" cy="566928"/>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13" name="TextBox 9012"/>
          <p:cNvSpPr txBox="1"/>
          <p:nvPr/>
        </p:nvSpPr>
        <p:spPr>
          <a:xfrm>
            <a:off x="6345936" y="3968496"/>
            <a:ext cx="566928" cy="566928"/>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lang="en-US" sz="1500" b="1">
                <a:solidFill>
                  <a:srgbClr val="FFFFFF"/>
                </a:solidFill>
                <a:latin typeface="Arial"/>
              </a:rPr>
              <a:t>02</a:t>
            </a:r>
          </a:p>
        </p:txBody>
      </p:sp>
      <p:sp>
        <p:nvSpPr>
          <p:cNvPr id="9014" name="TextBox 9013"/>
          <p:cNvSpPr txBox="1"/>
          <p:nvPr/>
        </p:nvSpPr>
        <p:spPr>
          <a:xfrm>
            <a:off x="5971032" y="3246120"/>
            <a:ext cx="1325880" cy="54864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300" b="1">
                <a:solidFill>
                  <a:srgbClr val="161623"/>
                </a:solidFill>
                <a:latin typeface="Arial"/>
              </a:rPr>
              <a:t>SHAPE THE EXECUTIVE CASE</a:t>
            </a:r>
          </a:p>
        </p:txBody>
      </p:sp>
      <p:sp>
        <p:nvSpPr>
          <p:cNvPr id="9015" name="TextBox 9014"/>
          <p:cNvSpPr txBox="1"/>
          <p:nvPr/>
        </p:nvSpPr>
        <p:spPr>
          <a:xfrm>
            <a:off x="5824728" y="4617720"/>
            <a:ext cx="1609344" cy="658368"/>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Control · value · risk evidence · operator fit</a:t>
            </a:r>
          </a:p>
        </p:txBody>
      </p:sp>
      <p:sp>
        <p:nvSpPr>
          <p:cNvPr id="9016" name="Oval 9015"/>
          <p:cNvSpPr>
            <a:spLocks/>
          </p:cNvSpPr>
          <p:nvPr/>
        </p:nvSpPr>
        <p:spPr>
          <a:xfrm>
            <a:off x="8357615" y="2962656"/>
            <a:ext cx="566928" cy="566928"/>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17" name="TextBox 9016"/>
          <p:cNvSpPr txBox="1"/>
          <p:nvPr/>
        </p:nvSpPr>
        <p:spPr>
          <a:xfrm>
            <a:off x="8357615" y="2962656"/>
            <a:ext cx="566928" cy="566928"/>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lang="en-US" sz="1500" b="1">
                <a:solidFill>
                  <a:srgbClr val="FFFFFF"/>
                </a:solidFill>
                <a:latin typeface="Arial"/>
              </a:rPr>
              <a:t>03</a:t>
            </a:r>
          </a:p>
        </p:txBody>
      </p:sp>
      <p:sp>
        <p:nvSpPr>
          <p:cNvPr id="9018" name="TextBox 9017"/>
          <p:cNvSpPr txBox="1"/>
          <p:nvPr/>
        </p:nvSpPr>
        <p:spPr>
          <a:xfrm>
            <a:off x="7982712" y="2240280"/>
            <a:ext cx="1325880" cy="54864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300" b="1">
                <a:solidFill>
                  <a:srgbClr val="161623"/>
                </a:solidFill>
                <a:latin typeface="Arial"/>
              </a:rPr>
              <a:t>PROVE WITH DELIVERY</a:t>
            </a:r>
          </a:p>
        </p:txBody>
      </p:sp>
      <p:sp>
        <p:nvSpPr>
          <p:cNvPr id="9019" name="TextBox 9018"/>
          <p:cNvSpPr txBox="1"/>
          <p:nvPr/>
        </p:nvSpPr>
        <p:spPr>
          <a:xfrm>
            <a:off x="7836407" y="3611879"/>
            <a:ext cx="1609344" cy="658368"/>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Problem · architecture · proof · objections · evaluation</a:t>
            </a:r>
          </a:p>
        </p:txBody>
      </p:sp>
      <p:sp>
        <p:nvSpPr>
          <p:cNvPr id="9020" name="Oval 9019"/>
          <p:cNvSpPr>
            <a:spLocks/>
          </p:cNvSpPr>
          <p:nvPr/>
        </p:nvSpPr>
        <p:spPr>
          <a:xfrm>
            <a:off x="10369296" y="1956816"/>
            <a:ext cx="566928" cy="566928"/>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21" name="TextBox 9020"/>
          <p:cNvSpPr txBox="1"/>
          <p:nvPr/>
        </p:nvSpPr>
        <p:spPr>
          <a:xfrm>
            <a:off x="10369296" y="1956816"/>
            <a:ext cx="566928" cy="566928"/>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lang="en-US" sz="1500" b="1">
                <a:solidFill>
                  <a:srgbClr val="FFFFFF"/>
                </a:solidFill>
                <a:latin typeface="Arial"/>
              </a:rPr>
              <a:t>04</a:t>
            </a:r>
          </a:p>
        </p:txBody>
      </p:sp>
      <p:sp>
        <p:nvSpPr>
          <p:cNvPr id="9022" name="TextBox 9021"/>
          <p:cNvSpPr txBox="1"/>
          <p:nvPr/>
        </p:nvSpPr>
        <p:spPr>
          <a:xfrm>
            <a:off x="9994392" y="1234440"/>
            <a:ext cx="1325880" cy="54864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300" b="1">
                <a:solidFill>
                  <a:srgbClr val="161623"/>
                </a:solidFill>
                <a:latin typeface="Arial"/>
              </a:rPr>
              <a:t>SCALE FROM EVIDENCE</a:t>
            </a:r>
          </a:p>
        </p:txBody>
      </p:sp>
      <p:sp>
        <p:nvSpPr>
          <p:cNvPr id="9023" name="TextBox 9022"/>
          <p:cNvSpPr txBox="1"/>
          <p:nvPr/>
        </p:nvSpPr>
        <p:spPr>
          <a:xfrm>
            <a:off x="9848088" y="2606040"/>
            <a:ext cx="1609344" cy="658368"/>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New workload · buyer · owner · commercial step</a:t>
            </a:r>
          </a:p>
        </p:txBody>
      </p:sp>
      <p:cxnSp>
        <p:nvCxnSpPr>
          <p:cNvPr id="9024" name="Connector 9023"/>
          <p:cNvCxnSpPr/>
          <p:nvPr/>
        </p:nvCxnSpPr>
        <p:spPr>
          <a:xfrm>
            <a:off x="4617720" y="6355080"/>
            <a:ext cx="6035040" cy="0"/>
          </a:xfrm>
          <a:prstGeom prst="line">
            <a:avLst/>
          </a:prstGeom>
          <a:ln w="30480">
            <a:solidFill>
              <a:srgbClr val="FA500E"/>
            </a:solidFill>
          </a:ln>
        </p:spPr>
        <p:style>
          <a:lnRef idx="2">
            <a:schemeClr val="accent1"/>
          </a:lnRef>
          <a:fillRef idx="0">
            <a:schemeClr val="accent1"/>
          </a:fillRef>
          <a:effectRef idx="1">
            <a:schemeClr val="accent1"/>
          </a:effectRef>
          <a:fontRef idx="minor">
            <a:schemeClr val="tx1"/>
          </a:fontRef>
        </p:style>
      </p:cxnSp>
      <p:sp>
        <p:nvSpPr>
          <p:cNvPr id="9025" name="TextBox 9024"/>
          <p:cNvSpPr txBox="1"/>
          <p:nvPr/>
        </p:nvSpPr>
        <p:spPr>
          <a:xfrm>
            <a:off x="6400800" y="6108192"/>
            <a:ext cx="2468880" cy="201168"/>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200" b="1">
                <a:solidFill>
                  <a:srgbClr val="FA500E"/>
                </a:solidFill>
                <a:latin typeface="Arial"/>
              </a:rPr>
              <a:t>WINS BECOME REFERENCES</a:t>
            </a:r>
          </a:p>
        </p:txBody>
      </p:sp>
      <p:sp>
        <p:nvSpPr>
          <p:cNvPr id="960" name="Icon Accent"/>
          <p:cNvSpPr/>
          <p:nvPr/>
        </p:nvSpPr>
        <p:spPr>
          <a:xfrm>
            <a:off x="11100000" y="182880"/>
            <a:ext cx="347472" cy="347472"/>
          </a:xfrm>
          <a:custGeom>
            <a:avLst/>
            <a:gdLst/>
            <a:ahLst/>
            <a:cxnLst/>
            <a:rect l="0" t="0" r="r" b="b"/>
            <a:pathLst>
              <a:path w="100" h="100">
                <a:moveTo>
                  <a:pt x="12" y="86"/>
                </a:moveTo>
                <a:lnTo>
                  <a:pt x="12" y="68"/>
                </a:lnTo>
                <a:lnTo>
                  <a:pt x="36" y="68"/>
                </a:lnTo>
                <a:lnTo>
                  <a:pt x="36" y="50"/>
                </a:lnTo>
                <a:lnTo>
                  <a:pt x="60" y="50"/>
                </a:lnTo>
                <a:lnTo>
                  <a:pt x="60" y="32"/>
                </a:lnTo>
                <a:lnTo>
                  <a:pt x="88" y="32"/>
                </a:lnTo>
                <a:lnTo>
                  <a:pt x="88" y="86"/>
                </a:lnTo>
                <a:close/>
              </a:path>
              <a:path w="100" h="100">
                <a:moveTo>
                  <a:pt x="70" y="14"/>
                </a:moveTo>
                <a:lnTo>
                  <a:pt x="88" y="14"/>
                </a:lnTo>
                <a:lnTo>
                  <a:pt x="88" y="32"/>
                </a:lnTo>
              </a:path>
            </a:pathLst>
          </a:custGeom>
          <a:noFill/>
          <a:ln w="19050" cap="rnd">
            <a:solidFill>
              <a:srgbClr val="FA500E"/>
            </a:solidFill>
            <a:round/>
          </a:ln>
        </p:spPr>
        <p:txBody>
          <a:bodyPr/>
          <a:lstStyle/>
          <a:p>
            <a:endParaRPr/>
          </a:p>
        </p:txBody>
      </p:sp>
    </p:spTree>
    <p:extLst>
      <p:ext uri="{BB962C8B-B14F-4D97-AF65-F5344CB8AC3E}">
        <p14:creationId xmlns:p14="http://schemas.microsoft.com/office/powerpoint/2010/main" val="3576942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pic>
        <p:nvPicPr>
          <p:cNvPr id="34" name="Mistral company monogram — slide 5"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35" name="Rectangle 34"/>
          <p:cNvSpPr>
            <a:spLocks/>
          </p:cNvSpPr>
          <p:nvPr/>
        </p:nvSpPr>
        <p:spPr>
          <a:xfrm>
            <a:off x="609904" y="267004"/>
            <a:ext cx="75895" cy="74249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960" b="0" i="0" u="none" strike="noStrike" kern="1200" cap="none" spc="0" normalizeH="0" baseline="0" noProof="0">
              <a:ln>
                <a:noFill/>
              </a:ln>
              <a:solidFill>
                <a:srgbClr val="FFFFFF"/>
              </a:solidFill>
              <a:effectLst/>
              <a:uLnTx/>
              <a:uFillTx/>
              <a:latin typeface="Calibri"/>
              <a:ea typeface="Calibri"/>
              <a:cs typeface="Calibri"/>
            </a:endParaRPr>
          </a:p>
        </p:txBody>
      </p:sp>
      <p:sp>
        <p:nvSpPr>
          <p:cNvPr id="36" name="TextBox 35"/>
          <p:cNvSpPr txBox="1"/>
          <p:nvPr/>
        </p:nvSpPr>
        <p:spPr>
          <a:xfrm>
            <a:off x="841248" y="54864"/>
            <a:ext cx="7955279" cy="201168"/>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E"/>
                </a:solidFill>
                <a:effectLst/>
                <a:uLnTx/>
                <a:uFillTx/>
                <a:latin typeface="Arial"/>
                <a:ea typeface="Arial"/>
                <a:cs typeface="Arial"/>
              </a:rPr>
              <a:t>OPERATING CADENCE</a:t>
            </a:r>
          </a:p>
        </p:txBody>
      </p:sp>
      <p:sp>
        <p:nvSpPr>
          <p:cNvPr id="37" name="TextBox 36"/>
          <p:cNvSpPr txBox="1"/>
          <p:nvPr/>
        </p:nvSpPr>
        <p:spPr>
          <a:xfrm>
            <a:off x="841248" y="274320"/>
            <a:ext cx="9900000" cy="502920"/>
          </a:xfrm>
          <a:prstGeom prst="rect">
            <a:avLst/>
          </a:prstGeom>
          <a:noFill/>
        </p:spPr>
        <p:txBody>
          <a:bodyPr wrap="square"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61623"/>
                </a:solidFill>
                <a:effectLst/>
                <a:uLnTx/>
                <a:uFillTx/>
                <a:latin typeface="Tiny5"/>
                <a:ea typeface="Tiny5"/>
                <a:cs typeface="Tiny5"/>
              </a:rPr>
              <a:t>TURN FIELD SIGNALS INTO REPEATABLE GROWTH</a:t>
            </a:r>
          </a:p>
        </p:txBody>
      </p:sp>
      <p:sp>
        <p:nvSpPr>
          <p:cNvPr id="8900" name="FootRule"/>
          <p:cNvSpPr txBox="1"/>
          <p:nvPr/>
        </p:nvSpPr>
        <p:spPr>
          <a:xfrm>
            <a:off x="612648" y="6556248"/>
            <a:ext cx="10972800" cy="9144"/>
          </a:xfrm>
          <a:prstGeom prst="rect">
            <a:avLst/>
          </a:prstGeom>
          <a:solidFill>
            <a:srgbClr val="E8CBBE"/>
          </a:solidFill>
          <a:ln>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8901" name="FootTxt"/>
          <p:cNvSpPr txBox="1"/>
          <p:nvPr/>
        </p:nvSpPr>
        <p:spPr>
          <a:xfrm>
            <a:off x="612648" y="6620256"/>
            <a:ext cx="4005072" cy="149961"/>
          </a:xfrm>
          <a:prstGeom prst="rect">
            <a:avLst/>
          </a:prstGeom>
          <a:noFill/>
          <a:ln>
            <a:noFill/>
          </a:ln>
        </p:spPr>
        <p:txBody>
          <a:bodyPr wrap="square" lIns="0" tIns="0" rIns="0" bIns="0" anchor="ctr">
            <a:noAutofit/>
          </a:bodyPr>
          <a:lstStyle/>
          <a:p>
            <a:pPr algn="l"/>
            <a:r>
              <a:rPr lang="en-US" sz="1200" b="0" i="0">
                <a:solidFill>
                  <a:srgbClr val="5A554B"/>
                </a:solidFill>
                <a:latin typeface="Arial"/>
              </a:rPr>
              <a:t>SHIV  ·  PMM CANDIDATE  ·  18 AUG 2026</a:t>
            </a:r>
          </a:p>
        </p:txBody>
      </p:sp>
      <p:sp>
        <p:nvSpPr>
          <p:cNvPr id="8902" name="FootPg"/>
          <p:cNvSpPr txBox="1"/>
          <p:nvPr/>
        </p:nvSpPr>
        <p:spPr>
          <a:xfrm>
            <a:off x="11237976" y="6620256"/>
            <a:ext cx="347472" cy="149961"/>
          </a:xfrm>
          <a:prstGeom prst="rect">
            <a:avLst/>
          </a:prstGeom>
          <a:noFill/>
          <a:ln>
            <a:noFill/>
          </a:ln>
        </p:spPr>
        <p:txBody>
          <a:bodyPr wrap="square" lIns="0" tIns="0" rIns="0" bIns="0" anchor="ctr">
            <a:noAutofit/>
          </a:bodyPr>
          <a:lstStyle/>
          <a:p>
            <a:pPr algn="r"/>
            <a:r>
              <a:rPr lang="en-US" sz="1200" b="0" i="0">
                <a:solidFill>
                  <a:srgbClr val="5A554B"/>
                </a:solidFill>
                <a:latin typeface="Arial"/>
              </a:rPr>
              <a:t>3</a:t>
            </a:r>
          </a:p>
        </p:txBody>
      </p:sp>
      <p:graphicFrame>
        <p:nvGraphicFramePr>
          <p:cNvPr id="8903" name="Chart 8902"/>
          <p:cNvGraphicFramePr>
            <a:graphicFrameLocks noGrp="1"/>
          </p:cNvGraphicFramePr>
          <p:nvPr/>
        </p:nvGraphicFramePr>
        <p:xfrm>
          <a:off x="841248" y="1234440"/>
          <a:ext cx="3886200" cy="3886200"/>
        </p:xfrm>
        <a:graphic>
          <a:graphicData uri="http://schemas.openxmlformats.org/drawingml/2006/chart">
            <c:chart xmlns:c="http://schemas.openxmlformats.org/drawingml/2006/chart" xmlns:r="http://schemas.openxmlformats.org/officeDocument/2006/relationships" r:id="rId4"/>
          </a:graphicData>
        </a:graphic>
      </p:graphicFrame>
      <p:sp>
        <p:nvSpPr>
          <p:cNvPr id="8904" name="TextBox 8903"/>
          <p:cNvSpPr txBox="1"/>
          <p:nvPr/>
        </p:nvSpPr>
        <p:spPr>
          <a:xfrm>
            <a:off x="1673352" y="2450592"/>
            <a:ext cx="2212848" cy="502920"/>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sz="1600" b="1">
                <a:solidFill>
                  <a:srgbClr val="62544F"/>
                </a:solidFill>
                <a:latin typeface="Arial"/>
              </a:rPr>
              <a:t>CLOSED</a:t>
            </a:r>
          </a:p>
        </p:txBody>
      </p:sp>
      <p:sp>
        <p:nvSpPr>
          <p:cNvPr id="8905" name="TextBox 8904"/>
          <p:cNvSpPr txBox="1"/>
          <p:nvPr/>
        </p:nvSpPr>
        <p:spPr>
          <a:xfrm>
            <a:off x="1536192" y="2834640"/>
            <a:ext cx="2487168" cy="658368"/>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sz="2600" b="1">
                <a:solidFill>
                  <a:srgbClr val="161623"/>
                </a:solidFill>
                <a:latin typeface="Arial"/>
              </a:rPr>
              <a:t>FIELD LOOP</a:t>
            </a:r>
          </a:p>
        </p:txBody>
      </p:sp>
      <p:sp>
        <p:nvSpPr>
          <p:cNvPr id="8906" name="TextBox 8905"/>
          <p:cNvSpPr txBox="1"/>
          <p:nvPr/>
        </p:nvSpPr>
        <p:spPr>
          <a:xfrm>
            <a:off x="1143000" y="1197864"/>
            <a:ext cx="237744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1">
                <a:solidFill>
                  <a:srgbClr val="FA500E"/>
                </a:solidFill>
                <a:latin typeface="Arial"/>
              </a:rPr>
              <a:t>01  FIELD SIGNAL</a:t>
            </a:r>
          </a:p>
        </p:txBody>
      </p:sp>
      <p:sp>
        <p:nvSpPr>
          <p:cNvPr id="8907" name="TextBox 8906"/>
          <p:cNvSpPr txBox="1"/>
          <p:nvPr/>
        </p:nvSpPr>
        <p:spPr>
          <a:xfrm>
            <a:off x="3319272" y="1197864"/>
            <a:ext cx="237744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1">
                <a:solidFill>
                  <a:srgbClr val="FA500E"/>
                </a:solidFill>
                <a:latin typeface="Arial"/>
              </a:rPr>
              <a:t>02  PMM PATTERN</a:t>
            </a:r>
          </a:p>
        </p:txBody>
      </p:sp>
      <p:sp>
        <p:nvSpPr>
          <p:cNvPr id="8908" name="TextBox 8907"/>
          <p:cNvSpPr txBox="1"/>
          <p:nvPr/>
        </p:nvSpPr>
        <p:spPr>
          <a:xfrm>
            <a:off x="2450592" y="4919472"/>
            <a:ext cx="237744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1">
                <a:solidFill>
                  <a:srgbClr val="FA500E"/>
                </a:solidFill>
                <a:latin typeface="Arial"/>
              </a:rPr>
              <a:t>03  PRODUCT / SERVICES DECISION</a:t>
            </a:r>
          </a:p>
        </p:txBody>
      </p:sp>
      <p:sp>
        <p:nvSpPr>
          <p:cNvPr id="8909" name="TextBox 8908"/>
          <p:cNvSpPr txBox="1"/>
          <p:nvPr/>
        </p:nvSpPr>
        <p:spPr>
          <a:xfrm>
            <a:off x="841248" y="4645152"/>
            <a:ext cx="237744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1">
                <a:solidFill>
                  <a:srgbClr val="FA500E"/>
                </a:solidFill>
                <a:latin typeface="Arial"/>
              </a:rPr>
              <a:t>04  FIELD UPDATE</a:t>
            </a:r>
          </a:p>
        </p:txBody>
      </p:sp>
      <p:sp>
        <p:nvSpPr>
          <p:cNvPr id="8910" name="TextBox 8909"/>
          <p:cNvSpPr txBox="1"/>
          <p:nvPr/>
        </p:nvSpPr>
        <p:spPr>
          <a:xfrm>
            <a:off x="5166360" y="1197864"/>
            <a:ext cx="3108960" cy="27432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400" b="1">
                <a:solidFill>
                  <a:srgbClr val="FA500E"/>
                </a:solidFill>
                <a:latin typeface="Arial"/>
              </a:rPr>
              <a:t>CAPTURE </a:t>
            </a:r>
            <a:r>
              <a:rPr sz="1400" b="1">
                <a:solidFill>
                  <a:srgbClr val="FA500E"/>
                </a:solidFill>
                <a:latin typeface="Arial"/>
              </a:rPr>
              <a:t>FIVE </a:t>
            </a:r>
            <a:r>
              <a:rPr lang="en-US" sz="1400" b="1">
                <a:solidFill>
                  <a:srgbClr val="FA500E"/>
                </a:solidFill>
                <a:latin typeface="Arial"/>
              </a:rPr>
              <a:t>DECISION </a:t>
            </a:r>
            <a:r>
              <a:rPr sz="1400" b="1">
                <a:solidFill>
                  <a:srgbClr val="FA500E"/>
                </a:solidFill>
                <a:latin typeface="Arial"/>
              </a:rPr>
              <a:t>SIGNALS</a:t>
            </a:r>
          </a:p>
        </p:txBody>
      </p:sp>
      <p:cxnSp>
        <p:nvCxnSpPr>
          <p:cNvPr id="8911" name="Connector 8910"/>
          <p:cNvCxnSpPr/>
          <p:nvPr/>
        </p:nvCxnSpPr>
        <p:spPr>
          <a:xfrm>
            <a:off x="5166360" y="1847088"/>
            <a:ext cx="521208" cy="0"/>
          </a:xfrm>
          <a:prstGeom prst="line">
            <a:avLst/>
          </a:prstGeom>
          <a:ln w="50800">
            <a:solidFill>
              <a:srgbClr val="FA500E"/>
            </a:solidFill>
          </a:ln>
        </p:spPr>
        <p:style>
          <a:lnRef idx="2">
            <a:schemeClr val="accent1"/>
          </a:lnRef>
          <a:fillRef idx="0">
            <a:schemeClr val="accent1"/>
          </a:fillRef>
          <a:effectRef idx="1">
            <a:schemeClr val="accent1"/>
          </a:effectRef>
          <a:fontRef idx="minor">
            <a:schemeClr val="tx1"/>
          </a:fontRef>
        </p:style>
      </p:cxnSp>
      <p:sp>
        <p:nvSpPr>
          <p:cNvPr id="8912" name="TextBox 8911"/>
          <p:cNvSpPr txBox="1"/>
          <p:nvPr/>
        </p:nvSpPr>
        <p:spPr>
          <a:xfrm>
            <a:off x="5870448" y="1682496"/>
            <a:ext cx="1828800" cy="23774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300" b="1">
                <a:solidFill>
                  <a:srgbClr val="161623"/>
                </a:solidFill>
                <a:latin typeface="Arial"/>
              </a:rPr>
              <a:t>01  Deal movement</a:t>
            </a:r>
          </a:p>
        </p:txBody>
      </p:sp>
      <p:sp>
        <p:nvSpPr>
          <p:cNvPr id="8913" name="TextBox 8912"/>
          <p:cNvSpPr txBox="1"/>
          <p:nvPr/>
        </p:nvSpPr>
        <p:spPr>
          <a:xfrm>
            <a:off x="7754112" y="1682496"/>
            <a:ext cx="3383280" cy="38404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0">
                <a:solidFill>
                  <a:srgbClr val="62544F"/>
                </a:solidFill>
                <a:latin typeface="Arial"/>
              </a:rPr>
              <a:t>stage · stall · decision · owner</a:t>
            </a:r>
          </a:p>
        </p:txBody>
      </p:sp>
      <p:cxnSp>
        <p:nvCxnSpPr>
          <p:cNvPr id="8914" name="Connector 8913"/>
          <p:cNvCxnSpPr/>
          <p:nvPr/>
        </p:nvCxnSpPr>
        <p:spPr>
          <a:xfrm>
            <a:off x="5166360" y="2606040"/>
            <a:ext cx="521208" cy="0"/>
          </a:xfrm>
          <a:prstGeom prst="line">
            <a:avLst/>
          </a:prstGeom>
          <a:ln w="50800">
            <a:solidFill>
              <a:srgbClr val="FA500E"/>
            </a:solidFill>
          </a:ln>
        </p:spPr>
        <p:style>
          <a:lnRef idx="2">
            <a:schemeClr val="accent1"/>
          </a:lnRef>
          <a:fillRef idx="0">
            <a:schemeClr val="accent1"/>
          </a:fillRef>
          <a:effectRef idx="1">
            <a:schemeClr val="accent1"/>
          </a:effectRef>
          <a:fontRef idx="minor">
            <a:schemeClr val="tx1"/>
          </a:fontRef>
        </p:style>
      </p:cxnSp>
      <p:sp>
        <p:nvSpPr>
          <p:cNvPr id="8915" name="TextBox 8914"/>
          <p:cNvSpPr txBox="1"/>
          <p:nvPr/>
        </p:nvSpPr>
        <p:spPr>
          <a:xfrm>
            <a:off x="5870448" y="2441448"/>
            <a:ext cx="1828800" cy="23774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300" b="1">
                <a:solidFill>
                  <a:srgbClr val="161623"/>
                </a:solidFill>
                <a:latin typeface="Arial"/>
              </a:rPr>
              <a:t>02  Persona friction</a:t>
            </a:r>
          </a:p>
        </p:txBody>
      </p:sp>
      <p:sp>
        <p:nvSpPr>
          <p:cNvPr id="8916" name="TextBox 8915"/>
          <p:cNvSpPr txBox="1"/>
          <p:nvPr/>
        </p:nvSpPr>
        <p:spPr>
          <a:xfrm>
            <a:off x="7754112" y="2441448"/>
            <a:ext cx="3383280" cy="38404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0">
                <a:solidFill>
                  <a:srgbClr val="62544F"/>
                </a:solidFill>
                <a:latin typeface="Arial"/>
              </a:rPr>
              <a:t>CIO · CISO · Risk · owner</a:t>
            </a:r>
          </a:p>
        </p:txBody>
      </p:sp>
      <p:cxnSp>
        <p:nvCxnSpPr>
          <p:cNvPr id="8917" name="Connector 8916"/>
          <p:cNvCxnSpPr/>
          <p:nvPr/>
        </p:nvCxnSpPr>
        <p:spPr>
          <a:xfrm>
            <a:off x="5166360" y="3364992"/>
            <a:ext cx="521208" cy="0"/>
          </a:xfrm>
          <a:prstGeom prst="line">
            <a:avLst/>
          </a:prstGeom>
          <a:ln w="50800">
            <a:solidFill>
              <a:srgbClr val="FA500E"/>
            </a:solidFill>
          </a:ln>
        </p:spPr>
        <p:style>
          <a:lnRef idx="2">
            <a:schemeClr val="accent1"/>
          </a:lnRef>
          <a:fillRef idx="0">
            <a:schemeClr val="accent1"/>
          </a:fillRef>
          <a:effectRef idx="1">
            <a:schemeClr val="accent1"/>
          </a:effectRef>
          <a:fontRef idx="minor">
            <a:schemeClr val="tx1"/>
          </a:fontRef>
        </p:style>
      </p:cxnSp>
      <p:sp>
        <p:nvSpPr>
          <p:cNvPr id="8918" name="TextBox 8917"/>
          <p:cNvSpPr txBox="1"/>
          <p:nvPr/>
        </p:nvSpPr>
        <p:spPr>
          <a:xfrm>
            <a:off x="5870448" y="3200400"/>
            <a:ext cx="1828800" cy="23774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300" b="1">
                <a:solidFill>
                  <a:srgbClr val="161623"/>
                </a:solidFill>
                <a:latin typeface="Arial"/>
              </a:rPr>
              <a:t>03  Evaluation evidence</a:t>
            </a:r>
          </a:p>
        </p:txBody>
      </p:sp>
      <p:sp>
        <p:nvSpPr>
          <p:cNvPr id="8919" name="TextBox 8918"/>
          <p:cNvSpPr txBox="1"/>
          <p:nvPr/>
        </p:nvSpPr>
        <p:spPr>
          <a:xfrm>
            <a:off x="7754112" y="3200400"/>
            <a:ext cx="3383280" cy="38404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0">
                <a:solidFill>
                  <a:srgbClr val="62544F"/>
                </a:solidFill>
                <a:latin typeface="Arial"/>
              </a:rPr>
              <a:t>baseline · threshold · failure · proof</a:t>
            </a:r>
          </a:p>
        </p:txBody>
      </p:sp>
      <p:cxnSp>
        <p:nvCxnSpPr>
          <p:cNvPr id="8920" name="Connector 8919"/>
          <p:cNvCxnSpPr/>
          <p:nvPr/>
        </p:nvCxnSpPr>
        <p:spPr>
          <a:xfrm>
            <a:off x="5166360" y="4123944"/>
            <a:ext cx="521208" cy="0"/>
          </a:xfrm>
          <a:prstGeom prst="line">
            <a:avLst/>
          </a:prstGeom>
          <a:ln w="50800">
            <a:solidFill>
              <a:srgbClr val="FA500E"/>
            </a:solidFill>
          </a:ln>
        </p:spPr>
        <p:style>
          <a:lnRef idx="2">
            <a:schemeClr val="accent1"/>
          </a:lnRef>
          <a:fillRef idx="0">
            <a:schemeClr val="accent1"/>
          </a:fillRef>
          <a:effectRef idx="1">
            <a:schemeClr val="accent1"/>
          </a:effectRef>
          <a:fontRef idx="minor">
            <a:schemeClr val="tx1"/>
          </a:fontRef>
        </p:style>
      </p:cxnSp>
      <p:sp>
        <p:nvSpPr>
          <p:cNvPr id="8921" name="TextBox 8920"/>
          <p:cNvSpPr txBox="1"/>
          <p:nvPr/>
        </p:nvSpPr>
        <p:spPr>
          <a:xfrm>
            <a:off x="5870448" y="3959352"/>
            <a:ext cx="1828800" cy="23774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300" b="1">
                <a:solidFill>
                  <a:srgbClr val="161623"/>
                </a:solidFill>
                <a:latin typeface="Arial"/>
              </a:rPr>
              <a:t>04  Delivery constraint</a:t>
            </a:r>
          </a:p>
        </p:txBody>
      </p:sp>
      <p:sp>
        <p:nvSpPr>
          <p:cNvPr id="8922" name="TextBox 8921"/>
          <p:cNvSpPr txBox="1"/>
          <p:nvPr/>
        </p:nvSpPr>
        <p:spPr>
          <a:xfrm>
            <a:off x="7754112" y="3959352"/>
            <a:ext cx="3383280" cy="38404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0">
                <a:solidFill>
                  <a:srgbClr val="62544F"/>
                </a:solidFill>
                <a:latin typeface="Arial"/>
              </a:rPr>
              <a:t>skills · capacity · architecture</a:t>
            </a:r>
          </a:p>
        </p:txBody>
      </p:sp>
      <p:cxnSp>
        <p:nvCxnSpPr>
          <p:cNvPr id="8923" name="Connector 8922"/>
          <p:cNvCxnSpPr/>
          <p:nvPr/>
        </p:nvCxnSpPr>
        <p:spPr>
          <a:xfrm>
            <a:off x="5166360" y="4882896"/>
            <a:ext cx="521208" cy="0"/>
          </a:xfrm>
          <a:prstGeom prst="line">
            <a:avLst/>
          </a:prstGeom>
          <a:ln w="50800">
            <a:solidFill>
              <a:srgbClr val="FA500E"/>
            </a:solidFill>
          </a:ln>
        </p:spPr>
        <p:style>
          <a:lnRef idx="2">
            <a:schemeClr val="accent1"/>
          </a:lnRef>
          <a:fillRef idx="0">
            <a:schemeClr val="accent1"/>
          </a:fillRef>
          <a:effectRef idx="1">
            <a:schemeClr val="accent1"/>
          </a:effectRef>
          <a:fontRef idx="minor">
            <a:schemeClr val="tx1"/>
          </a:fontRef>
        </p:style>
      </p:cxnSp>
      <p:sp>
        <p:nvSpPr>
          <p:cNvPr id="8924" name="TextBox 8923"/>
          <p:cNvSpPr txBox="1"/>
          <p:nvPr/>
        </p:nvSpPr>
        <p:spPr>
          <a:xfrm>
            <a:off x="5870448" y="4718304"/>
            <a:ext cx="1828800" cy="23774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300" b="1">
                <a:solidFill>
                  <a:srgbClr val="161623"/>
                </a:solidFill>
                <a:latin typeface="Arial"/>
              </a:rPr>
              <a:t>05  Expansion trigger</a:t>
            </a:r>
          </a:p>
        </p:txBody>
      </p:sp>
      <p:sp>
        <p:nvSpPr>
          <p:cNvPr id="8925" name="TextBox 8924"/>
          <p:cNvSpPr txBox="1"/>
          <p:nvPr/>
        </p:nvSpPr>
        <p:spPr>
          <a:xfrm>
            <a:off x="7754112" y="4718304"/>
            <a:ext cx="3383280" cy="38404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150" b="0">
                <a:solidFill>
                  <a:srgbClr val="62544F"/>
                </a:solidFill>
                <a:latin typeface="Arial"/>
              </a:rPr>
              <a:t>adoption · workload · buyer · budget</a:t>
            </a:r>
          </a:p>
        </p:txBody>
      </p:sp>
      <p:sp>
        <p:nvSpPr>
          <p:cNvPr id="8926" name="Rectangle 8925"/>
          <p:cNvSpPr/>
          <p:nvPr/>
        </p:nvSpPr>
        <p:spPr>
          <a:xfrm>
            <a:off x="841248" y="5632704"/>
            <a:ext cx="10515600" cy="36576"/>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7" name="TextBox 8926"/>
          <p:cNvSpPr txBox="1"/>
          <p:nvPr/>
        </p:nvSpPr>
        <p:spPr>
          <a:xfrm>
            <a:off x="841248" y="5687568"/>
            <a:ext cx="118872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FA500E"/>
                </a:solidFill>
                <a:latin typeface="Arial"/>
              </a:rPr>
              <a:t>MEASURE</a:t>
            </a:r>
          </a:p>
        </p:txBody>
      </p:sp>
      <p:sp>
        <p:nvSpPr>
          <p:cNvPr id="8928" name="TextBox 8927"/>
          <p:cNvSpPr txBox="1"/>
          <p:nvPr/>
        </p:nvSpPr>
        <p:spPr>
          <a:xfrm>
            <a:off x="1993392" y="5687568"/>
            <a:ext cx="210312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161623"/>
                </a:solidFill>
                <a:latin typeface="Arial"/>
              </a:rPr>
              <a:t>DEAL VELOCITY</a:t>
            </a:r>
          </a:p>
        </p:txBody>
      </p:sp>
      <p:sp>
        <p:nvSpPr>
          <p:cNvPr id="8929" name="TextBox 8928"/>
          <p:cNvSpPr txBox="1"/>
          <p:nvPr/>
        </p:nvSpPr>
        <p:spPr>
          <a:xfrm>
            <a:off x="1993392" y="5925312"/>
            <a:ext cx="2057400" cy="28346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050" b="0">
                <a:solidFill>
                  <a:srgbClr val="62544F"/>
                </a:solidFill>
                <a:latin typeface="Arial"/>
              </a:rPr>
              <a:t>Days to next decision</a:t>
            </a:r>
          </a:p>
        </p:txBody>
      </p:sp>
      <p:sp>
        <p:nvSpPr>
          <p:cNvPr id="8930" name="TextBox 8929"/>
          <p:cNvSpPr txBox="1"/>
          <p:nvPr/>
        </p:nvSpPr>
        <p:spPr>
          <a:xfrm>
            <a:off x="4334256" y="5687568"/>
            <a:ext cx="210312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161623"/>
                </a:solidFill>
                <a:latin typeface="Arial"/>
              </a:rPr>
              <a:t>PIPELINE INFLUENCED</a:t>
            </a:r>
          </a:p>
        </p:txBody>
      </p:sp>
      <p:sp>
        <p:nvSpPr>
          <p:cNvPr id="8931" name="TextBox 8930"/>
          <p:cNvSpPr txBox="1"/>
          <p:nvPr/>
        </p:nvSpPr>
        <p:spPr>
          <a:xfrm>
            <a:off x="4334256" y="5925312"/>
            <a:ext cx="2057400" cy="28346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050" b="0">
                <a:solidFill>
                  <a:srgbClr val="62544F"/>
                </a:solidFill>
                <a:latin typeface="Arial"/>
              </a:rPr>
              <a:t>PMM touch + </a:t>
            </a:r>
            <a:r>
              <a:rPr lang="en-US" sz="1050" b="0">
                <a:solidFill>
                  <a:srgbClr val="62544F"/>
                </a:solidFill>
                <a:latin typeface="Arial"/>
              </a:rPr>
              <a:t>stage </a:t>
            </a:r>
            <a:r>
              <a:rPr sz="1050" b="0">
                <a:solidFill>
                  <a:srgbClr val="62544F"/>
                </a:solidFill>
                <a:latin typeface="Arial"/>
              </a:rPr>
              <a:t>progression</a:t>
            </a:r>
          </a:p>
        </p:txBody>
      </p:sp>
      <p:sp>
        <p:nvSpPr>
          <p:cNvPr id="8932" name="TextBox 8931"/>
          <p:cNvSpPr txBox="1"/>
          <p:nvPr/>
        </p:nvSpPr>
        <p:spPr>
          <a:xfrm>
            <a:off x="6675120" y="5687568"/>
            <a:ext cx="210312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161623"/>
                </a:solidFill>
                <a:latin typeface="Arial"/>
              </a:rPr>
              <a:t>EXPANSION</a:t>
            </a:r>
          </a:p>
        </p:txBody>
      </p:sp>
      <p:sp>
        <p:nvSpPr>
          <p:cNvPr id="8933" name="TextBox 8932"/>
          <p:cNvSpPr txBox="1"/>
          <p:nvPr/>
        </p:nvSpPr>
        <p:spPr>
          <a:xfrm>
            <a:off x="6675120" y="5925312"/>
            <a:ext cx="2057400" cy="28346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050" b="0">
                <a:solidFill>
                  <a:srgbClr val="62544F"/>
                </a:solidFill>
                <a:latin typeface="Arial"/>
              </a:rPr>
              <a:t>Revenue </a:t>
            </a:r>
            <a:r>
              <a:rPr lang="en-US" sz="1050" b="0">
                <a:solidFill>
                  <a:srgbClr val="62544F"/>
                </a:solidFill>
                <a:latin typeface="Arial"/>
              </a:rPr>
              <a:t>· </a:t>
            </a:r>
            <a:r>
              <a:rPr sz="1050" b="0">
                <a:solidFill>
                  <a:srgbClr val="62544F"/>
                </a:solidFill>
                <a:latin typeface="Arial"/>
              </a:rPr>
              <a:t>workloads </a:t>
            </a:r>
            <a:r>
              <a:rPr lang="en-US" sz="1050" b="0">
                <a:solidFill>
                  <a:srgbClr val="62544F"/>
                </a:solidFill>
                <a:latin typeface="Arial"/>
              </a:rPr>
              <a:t>·</a:t>
            </a:r>
            <a:r>
              <a:rPr sz="1050" b="0">
                <a:solidFill>
                  <a:srgbClr val="62544F"/>
                </a:solidFill>
                <a:latin typeface="Arial"/>
              </a:rPr>
              <a:t> buyers</a:t>
            </a:r>
          </a:p>
        </p:txBody>
      </p:sp>
      <p:sp>
        <p:nvSpPr>
          <p:cNvPr id="8934" name="TextBox 8933"/>
          <p:cNvSpPr txBox="1"/>
          <p:nvPr/>
        </p:nvSpPr>
        <p:spPr>
          <a:xfrm>
            <a:off x="9015984" y="5687568"/>
            <a:ext cx="210312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161623"/>
                </a:solidFill>
                <a:latin typeface="Arial"/>
              </a:rPr>
              <a:t>NEW LOGOS</a:t>
            </a:r>
          </a:p>
        </p:txBody>
      </p:sp>
      <p:sp>
        <p:nvSpPr>
          <p:cNvPr id="8935" name="TextBox 8934"/>
          <p:cNvSpPr txBox="1"/>
          <p:nvPr/>
        </p:nvSpPr>
        <p:spPr>
          <a:xfrm>
            <a:off x="9015984" y="5925312"/>
            <a:ext cx="2057400" cy="283464"/>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050" b="0">
                <a:solidFill>
                  <a:srgbClr val="62544F"/>
                </a:solidFill>
                <a:latin typeface="Arial"/>
              </a:rPr>
              <a:t>Production + reference</a:t>
            </a:r>
          </a:p>
        </p:txBody>
      </p:sp>
      <p:sp>
        <p:nvSpPr>
          <p:cNvPr id="960" name="Icon Accent"/>
          <p:cNvSpPr/>
          <p:nvPr/>
        </p:nvSpPr>
        <p:spPr>
          <a:xfrm>
            <a:off x="11100000" y="182880"/>
            <a:ext cx="347472" cy="347472"/>
          </a:xfrm>
          <a:custGeom>
            <a:avLst/>
            <a:gdLst/>
            <a:ahLst/>
            <a:cxnLst/>
            <a:rect l="0" t="0" r="r" b="b"/>
            <a:pathLst>
              <a:path w="100" h="100">
                <a:moveTo>
                  <a:pt x="82" y="50"/>
                </a:moveTo>
                <a:arcTo wR="32" hR="32" stAng="0" swAng="16200000"/>
              </a:path>
              <a:path w="100" h="100">
                <a:moveTo>
                  <a:pt x="70" y="14"/>
                </a:moveTo>
                <a:lnTo>
                  <a:pt x="82" y="50"/>
                </a:lnTo>
                <a:lnTo>
                  <a:pt x="46" y="44"/>
                </a:lnTo>
                <a:close/>
              </a:path>
            </a:pathLst>
          </a:custGeom>
          <a:noFill/>
          <a:ln w="19050" cap="rnd">
            <a:solidFill>
              <a:srgbClr val="FA500E"/>
            </a:solidFill>
            <a:round/>
          </a:ln>
        </p:spPr>
        <p:txBody>
          <a:bodyPr/>
          <a:lstStyle/>
          <a:p>
            <a:endParaRPr/>
          </a:p>
        </p:txBody>
      </p:sp>
    </p:spTree>
    <p:extLst>
      <p:ext uri="{BB962C8B-B14F-4D97-AF65-F5344CB8AC3E}">
        <p14:creationId xmlns:p14="http://schemas.microsoft.com/office/powerpoint/2010/main" val="172811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08F3A4B2-DB18-476A-8FBE-24802E27F30E}"/>
              </a:ext>
            </a:extLst>
          </p:cNvPr>
          <p:cNvSpPr>
            <a:spLocks noGrp="1"/>
          </p:cNvSpPr>
          <p:nvPr/>
        </p:nvSpPr>
        <p:spPr>
          <a:xfrm>
            <a:off x="609904" y="267004"/>
            <a:ext cx="75895" cy="742492"/>
          </a:xfrm>
          <a:prstGeom prst="rect">
            <a:avLst/>
          </a:prstGeom>
          <a:solidFill>
            <a:srgbClr val="FA500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960" b="0" i="0" u="none" strike="noStrike" kern="1200" cap="none" spc="0" normalizeH="0" baseline="0" noProof="0">
              <a:ln>
                <a:noFill/>
              </a:ln>
              <a:solidFill>
                <a:srgbClr val="000000"/>
              </a:solidFill>
              <a:effectLst/>
              <a:uLnTx/>
              <a:uFillTx/>
              <a:latin typeface="Calibri"/>
              <a:ea typeface="Calibri"/>
              <a:cs typeface="Calibri"/>
            </a:endParaRPr>
          </a:p>
        </p:txBody>
      </p:sp>
      <p:sp>
        <p:nvSpPr>
          <p:cNvPr id="2" name="Rectangle 1">
            <a:extLst>
              <a:ext uri="{FF2B5EF4-FFF2-40B4-BE49-F238E27FC236}">
                <a16:creationId xmlns:a16="http://schemas.microsoft.com/office/drawing/2014/main" id="{3D05BFA6-0069-4292-A50C-4CA1E6D42381}"/>
              </a:ext>
            </a:extLst>
          </p:cNvPr>
          <p:cNvSpPr>
            <a:spLocks noGrp="1"/>
          </p:cNvSpPr>
          <p:nvPr/>
        </p:nvSpPr>
        <p:spPr>
          <a:xfrm>
            <a:off x="841248" y="54864"/>
            <a:ext cx="7955279" cy="201168"/>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1200" b="1">
                <a:solidFill>
                  <a:srgbClr val="3767E8"/>
                </a:solidFill>
                <a:latin typeface="Arial"/>
                <a:ea typeface="Arial"/>
                <a:cs typeface="Arial"/>
              </a:defRPr>
            </a:pPr>
            <a:r>
              <a:rPr kumimoji="0" lang="en-US" sz="1200" b="1" i="0" u="none" strike="noStrike" kern="1200" cap="none" spc="0" normalizeH="0" baseline="0" noProof="0">
                <a:ln>
                  <a:noFill/>
                </a:ln>
                <a:solidFill>
                  <a:srgbClr val="FA500E"/>
                </a:solidFill>
                <a:effectLst/>
                <a:uLnTx/>
                <a:uFillTx/>
                <a:latin typeface="Arial"/>
                <a:ea typeface="Arial"/>
                <a:cs typeface="Arial"/>
              </a:rPr>
              <a:t>MARKET + PERSONA LOCALIZATION</a:t>
            </a:r>
          </a:p>
        </p:txBody>
      </p:sp>
      <p:sp>
        <p:nvSpPr>
          <p:cNvPr id="3" name="Rectangle 2">
            <a:extLst>
              <a:ext uri="{FF2B5EF4-FFF2-40B4-BE49-F238E27FC236}">
                <a16:creationId xmlns:a16="http://schemas.microsoft.com/office/drawing/2014/main" id="{9DAF40FF-FB6A-444E-918F-31A93364BCC2}"/>
              </a:ext>
            </a:extLst>
          </p:cNvPr>
          <p:cNvSpPr>
            <a:spLocks noGrp="1"/>
          </p:cNvSpPr>
          <p:nvPr/>
        </p:nvSpPr>
        <p:spPr>
          <a:xfrm>
            <a:off x="841248" y="274320"/>
            <a:ext cx="9900000" cy="502920"/>
          </a:xfrm>
          <a:prstGeom prst="rect">
            <a:avLst/>
          </a:prstGeom>
          <a:noFill/>
          <a:ln w="0">
            <a:noFill/>
            <a:prstDash val="solid"/>
          </a:ln>
        </p:spPr>
        <p:txBody>
          <a:bodyPr wrap="square"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sz="3600" b="1">
                <a:solidFill>
                  <a:srgbClr val="1F1F1F"/>
                </a:solidFill>
                <a:latin typeface="Tiny5"/>
                <a:ea typeface="Tiny5"/>
                <a:cs typeface="Tiny5"/>
              </a:defRPr>
            </a:pPr>
            <a:r>
              <a:rPr kumimoji="0" lang="en-US" sz="2400" b="1" i="0" u="none" strike="noStrike" kern="1200" cap="none" spc="0" normalizeH="0" baseline="0" noProof="0">
                <a:ln>
                  <a:noFill/>
                </a:ln>
                <a:solidFill>
                  <a:srgbClr val="161623"/>
                </a:solidFill>
                <a:effectLst/>
                <a:uLnTx/>
                <a:uFillTx/>
                <a:latin typeface="Tiny5" panose="02000000000000000000" pitchFamily="2" charset="0"/>
                <a:ea typeface="Tiny5"/>
                <a:cs typeface="Tiny5" panose="02000000000000000000" pitchFamily="2" charset="0"/>
              </a:rPr>
              <a:t>KEEP THE THESIS. LOCALIZE THE PROOF.</a:t>
            </a:r>
          </a:p>
        </p:txBody>
      </p:sp>
      <p:pic>
        <p:nvPicPr>
          <p:cNvPr id="53" name="Mistral company monogram — slide 9"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8900" name="FootRule"/>
          <p:cNvSpPr txBox="1"/>
          <p:nvPr/>
        </p:nvSpPr>
        <p:spPr>
          <a:xfrm>
            <a:off x="612648" y="6556248"/>
            <a:ext cx="10972800" cy="9144"/>
          </a:xfrm>
          <a:prstGeom prst="rect">
            <a:avLst/>
          </a:prstGeom>
          <a:solidFill>
            <a:srgbClr val="E8CBBE"/>
          </a:solidFill>
          <a:ln>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8901" name="FootTxt"/>
          <p:cNvSpPr txBox="1"/>
          <p:nvPr/>
        </p:nvSpPr>
        <p:spPr>
          <a:xfrm>
            <a:off x="612648" y="6620256"/>
            <a:ext cx="4005072" cy="149961"/>
          </a:xfrm>
          <a:prstGeom prst="rect">
            <a:avLst/>
          </a:prstGeom>
          <a:noFill/>
          <a:ln>
            <a:noFill/>
          </a:ln>
        </p:spPr>
        <p:txBody>
          <a:bodyPr wrap="square" lIns="0" tIns="0" rIns="0" bIns="0" anchor="ctr">
            <a:noAutofit/>
          </a:bodyPr>
          <a:lstStyle/>
          <a:p>
            <a:pPr algn="l"/>
            <a:r>
              <a:rPr lang="en-US" sz="1200" b="0" i="0">
                <a:solidFill>
                  <a:srgbClr val="5A554B"/>
                </a:solidFill>
                <a:latin typeface="Arial"/>
              </a:rPr>
              <a:t>SHIV  ·  PMM CANDIDATE  ·  18 AUG 2026</a:t>
            </a:r>
          </a:p>
        </p:txBody>
      </p:sp>
      <p:sp>
        <p:nvSpPr>
          <p:cNvPr id="8902" name="FootPg"/>
          <p:cNvSpPr txBox="1"/>
          <p:nvPr/>
        </p:nvSpPr>
        <p:spPr>
          <a:xfrm>
            <a:off x="11237976" y="6620256"/>
            <a:ext cx="347472" cy="149961"/>
          </a:xfrm>
          <a:prstGeom prst="rect">
            <a:avLst/>
          </a:prstGeom>
          <a:noFill/>
          <a:ln>
            <a:noFill/>
          </a:ln>
        </p:spPr>
        <p:txBody>
          <a:bodyPr wrap="square" lIns="0" tIns="0" rIns="0" bIns="0" anchor="ctr">
            <a:noAutofit/>
          </a:bodyPr>
          <a:lstStyle/>
          <a:p>
            <a:pPr algn="r"/>
            <a:r>
              <a:rPr lang="en-US" sz="1200" b="0" i="0">
                <a:solidFill>
                  <a:srgbClr val="5A554B"/>
                </a:solidFill>
                <a:latin typeface="Arial"/>
              </a:rPr>
              <a:t>4</a:t>
            </a:r>
          </a:p>
        </p:txBody>
      </p:sp>
      <p:sp>
        <p:nvSpPr>
          <p:cNvPr id="8903" name="TextBox 8902"/>
          <p:cNvSpPr txBox="1"/>
          <p:nvPr/>
        </p:nvSpPr>
        <p:spPr>
          <a:xfrm>
            <a:off x="841248" y="1078992"/>
            <a:ext cx="1051560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400" b="0">
                <a:solidFill>
                  <a:srgbClr val="62544F"/>
                </a:solidFill>
                <a:latin typeface="Arial"/>
              </a:rPr>
              <a:t>Lead with the proof each buyer needs.</a:t>
            </a:r>
          </a:p>
        </p:txBody>
      </p:sp>
      <p:cxnSp>
        <p:nvCxnSpPr>
          <p:cNvPr id="8904" name="Connector 8903"/>
          <p:cNvCxnSpPr/>
          <p:nvPr/>
        </p:nvCxnSpPr>
        <p:spPr>
          <a:xfrm>
            <a:off x="841248" y="1554480"/>
            <a:ext cx="10515600" cy="0"/>
          </a:xfrm>
          <a:prstGeom prst="line">
            <a:avLst/>
          </a:prstGeom>
          <a:ln w="19050">
            <a:solidFill>
              <a:srgbClr val="E8CBBE"/>
            </a:solidFill>
          </a:ln>
        </p:spPr>
        <p:style>
          <a:lnRef idx="2">
            <a:schemeClr val="accent1"/>
          </a:lnRef>
          <a:fillRef idx="0">
            <a:schemeClr val="accent1"/>
          </a:fillRef>
          <a:effectRef idx="1">
            <a:schemeClr val="accent1"/>
          </a:effectRef>
          <a:fontRef idx="minor">
            <a:schemeClr val="tx1"/>
          </a:fontRef>
        </p:style>
      </p:cxnSp>
      <p:cxnSp>
        <p:nvCxnSpPr>
          <p:cNvPr id="8905" name="Connector 8904"/>
          <p:cNvCxnSpPr/>
          <p:nvPr/>
        </p:nvCxnSpPr>
        <p:spPr>
          <a:xfrm>
            <a:off x="841248" y="3246120"/>
            <a:ext cx="10515600" cy="0"/>
          </a:xfrm>
          <a:prstGeom prst="line">
            <a:avLst/>
          </a:prstGeom>
          <a:ln w="19050">
            <a:solidFill>
              <a:srgbClr val="E8CBBE"/>
            </a:solidFill>
          </a:ln>
        </p:spPr>
        <p:style>
          <a:lnRef idx="2">
            <a:schemeClr val="accent1"/>
          </a:lnRef>
          <a:fillRef idx="0">
            <a:schemeClr val="accent1"/>
          </a:fillRef>
          <a:effectRef idx="1">
            <a:schemeClr val="accent1"/>
          </a:effectRef>
          <a:fontRef idx="minor">
            <a:schemeClr val="tx1"/>
          </a:fontRef>
        </p:style>
      </p:cxnSp>
      <p:cxnSp>
        <p:nvCxnSpPr>
          <p:cNvPr id="8906" name="Connector 8905"/>
          <p:cNvCxnSpPr/>
          <p:nvPr/>
        </p:nvCxnSpPr>
        <p:spPr>
          <a:xfrm>
            <a:off x="841248" y="4645152"/>
            <a:ext cx="10515600" cy="0"/>
          </a:xfrm>
          <a:prstGeom prst="line">
            <a:avLst/>
          </a:prstGeom>
          <a:ln w="19050">
            <a:solidFill>
              <a:srgbClr val="E8CBBE"/>
            </a:solidFill>
          </a:ln>
        </p:spPr>
        <p:style>
          <a:lnRef idx="2">
            <a:schemeClr val="accent1"/>
          </a:lnRef>
          <a:fillRef idx="0">
            <a:schemeClr val="accent1"/>
          </a:fillRef>
          <a:effectRef idx="1">
            <a:schemeClr val="accent1"/>
          </a:effectRef>
          <a:fontRef idx="minor">
            <a:schemeClr val="tx1"/>
          </a:fontRef>
        </p:style>
      </p:cxnSp>
      <p:sp>
        <p:nvSpPr>
          <p:cNvPr id="8907" name="TextBox 8906"/>
          <p:cNvSpPr txBox="1"/>
          <p:nvPr/>
        </p:nvSpPr>
        <p:spPr>
          <a:xfrm>
            <a:off x="841248" y="1298448"/>
            <a:ext cx="3657600" cy="20116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FA500E"/>
                </a:solidFill>
                <a:latin typeface="Arial"/>
              </a:rPr>
              <a:t>01  MARKET — LEAD MESSAGE</a:t>
            </a:r>
          </a:p>
        </p:txBody>
      </p:sp>
      <p:sp>
        <p:nvSpPr>
          <p:cNvPr id="8908" name="Rectangle 8907"/>
          <p:cNvSpPr/>
          <p:nvPr/>
        </p:nvSpPr>
        <p:spPr>
          <a:xfrm>
            <a:off x="841248" y="1554480"/>
            <a:ext cx="1975104" cy="11887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09" name="TextBox 8908"/>
          <p:cNvSpPr txBox="1"/>
          <p:nvPr/>
        </p:nvSpPr>
        <p:spPr>
          <a:xfrm>
            <a:off x="841248" y="1755648"/>
            <a:ext cx="1975104" cy="21945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200" b="1">
                <a:solidFill>
                  <a:srgbClr val="161623"/>
                </a:solidFill>
                <a:latin typeface="Arial"/>
              </a:rPr>
              <a:t>EU / EEA</a:t>
            </a:r>
          </a:p>
        </p:txBody>
      </p:sp>
      <p:sp>
        <p:nvSpPr>
          <p:cNvPr id="8910" name="TextBox 8909"/>
          <p:cNvSpPr txBox="1"/>
          <p:nvPr/>
        </p:nvSpPr>
        <p:spPr>
          <a:xfrm>
            <a:off x="841248" y="2039112"/>
            <a:ext cx="1975104" cy="40233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300" b="1">
                <a:solidFill>
                  <a:srgbClr val="FA500E"/>
                </a:solidFill>
                <a:latin typeface="Arial"/>
              </a:rPr>
              <a:t>Control + autonomy</a:t>
            </a:r>
          </a:p>
        </p:txBody>
      </p:sp>
      <p:sp>
        <p:nvSpPr>
          <p:cNvPr id="8911" name="TextBox 8910"/>
          <p:cNvSpPr txBox="1"/>
          <p:nvPr/>
        </p:nvSpPr>
        <p:spPr>
          <a:xfrm>
            <a:off x="841248" y="2487168"/>
            <a:ext cx="1975104" cy="43891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DORA does not require self-hosting.</a:t>
            </a:r>
          </a:p>
        </p:txBody>
      </p:sp>
      <p:sp>
        <p:nvSpPr>
          <p:cNvPr id="8912" name="Rectangle 8911"/>
          <p:cNvSpPr/>
          <p:nvPr/>
        </p:nvSpPr>
        <p:spPr>
          <a:xfrm>
            <a:off x="2944368" y="1554480"/>
            <a:ext cx="1975104" cy="118872"/>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3" name="TextBox 8912"/>
          <p:cNvSpPr txBox="1"/>
          <p:nvPr/>
        </p:nvSpPr>
        <p:spPr>
          <a:xfrm>
            <a:off x="2944368" y="1755648"/>
            <a:ext cx="1975104" cy="21945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200" b="1">
                <a:solidFill>
                  <a:srgbClr val="161623"/>
                </a:solidFill>
                <a:latin typeface="Arial"/>
              </a:rPr>
              <a:t>UK</a:t>
            </a:r>
          </a:p>
        </p:txBody>
      </p:sp>
      <p:sp>
        <p:nvSpPr>
          <p:cNvPr id="8914" name="TextBox 8913"/>
          <p:cNvSpPr txBox="1"/>
          <p:nvPr/>
        </p:nvSpPr>
        <p:spPr>
          <a:xfrm>
            <a:off x="2944368" y="2039112"/>
            <a:ext cx="1975104" cy="40233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300" b="1">
                <a:solidFill>
                  <a:srgbClr val="FA500E"/>
                </a:solidFill>
                <a:latin typeface="Arial"/>
              </a:rPr>
              <a:t>Intelligence + accountability</a:t>
            </a:r>
          </a:p>
        </p:txBody>
      </p:sp>
      <p:sp>
        <p:nvSpPr>
          <p:cNvPr id="8915" name="TextBox 8914"/>
          <p:cNvSpPr txBox="1"/>
          <p:nvPr/>
        </p:nvSpPr>
        <p:spPr>
          <a:xfrm>
            <a:off x="2944368" y="2487168"/>
            <a:ext cx="1975104" cy="43891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Lead with HSBC proof.</a:t>
            </a:r>
          </a:p>
        </p:txBody>
      </p:sp>
      <p:sp>
        <p:nvSpPr>
          <p:cNvPr id="8916" name="Rectangle 8915"/>
          <p:cNvSpPr/>
          <p:nvPr/>
        </p:nvSpPr>
        <p:spPr>
          <a:xfrm>
            <a:off x="5047488" y="1554480"/>
            <a:ext cx="1975104" cy="118872"/>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7" name="TextBox 8916"/>
          <p:cNvSpPr txBox="1"/>
          <p:nvPr/>
        </p:nvSpPr>
        <p:spPr>
          <a:xfrm>
            <a:off x="5047488" y="1755648"/>
            <a:ext cx="1975104" cy="21945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200" b="1">
                <a:solidFill>
                  <a:srgbClr val="161623"/>
                </a:solidFill>
                <a:latin typeface="Arial"/>
              </a:rPr>
              <a:t>NORTH AMERICA</a:t>
            </a:r>
          </a:p>
        </p:txBody>
      </p:sp>
      <p:sp>
        <p:nvSpPr>
          <p:cNvPr id="8918" name="TextBox 8917"/>
          <p:cNvSpPr txBox="1"/>
          <p:nvPr/>
        </p:nvSpPr>
        <p:spPr>
          <a:xfrm>
            <a:off x="5047488" y="2039112"/>
            <a:ext cx="1975104" cy="40233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300" b="1">
                <a:solidFill>
                  <a:srgbClr val="FA500E"/>
                </a:solidFill>
                <a:latin typeface="Arial"/>
              </a:rPr>
              <a:t>Documents + coexistence</a:t>
            </a:r>
          </a:p>
        </p:txBody>
      </p:sp>
      <p:sp>
        <p:nvSpPr>
          <p:cNvPr id="8919" name="TextBox 8918"/>
          <p:cNvSpPr txBox="1"/>
          <p:nvPr/>
        </p:nvSpPr>
        <p:spPr>
          <a:xfrm>
            <a:off x="5047488" y="2487168"/>
            <a:ext cx="1975104" cy="43891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Keep EU regulation out of the pitch.</a:t>
            </a:r>
          </a:p>
        </p:txBody>
      </p:sp>
      <p:sp>
        <p:nvSpPr>
          <p:cNvPr id="8920" name="Rectangle 8919"/>
          <p:cNvSpPr/>
          <p:nvPr/>
        </p:nvSpPr>
        <p:spPr>
          <a:xfrm>
            <a:off x="7150607" y="1554480"/>
            <a:ext cx="1975104" cy="118872"/>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1" name="TextBox 8920"/>
          <p:cNvSpPr txBox="1"/>
          <p:nvPr/>
        </p:nvSpPr>
        <p:spPr>
          <a:xfrm>
            <a:off x="7150607" y="1755648"/>
            <a:ext cx="1975104" cy="21945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200" b="1">
                <a:solidFill>
                  <a:srgbClr val="161623"/>
                </a:solidFill>
                <a:latin typeface="Arial"/>
              </a:rPr>
              <a:t>APAC</a:t>
            </a:r>
          </a:p>
        </p:txBody>
      </p:sp>
      <p:sp>
        <p:nvSpPr>
          <p:cNvPr id="8922" name="TextBox 8921"/>
          <p:cNvSpPr txBox="1"/>
          <p:nvPr/>
        </p:nvSpPr>
        <p:spPr>
          <a:xfrm>
            <a:off x="7150607" y="2039112"/>
            <a:ext cx="1975104" cy="40233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300" b="1">
                <a:solidFill>
                  <a:srgbClr val="FA500E"/>
                </a:solidFill>
                <a:latin typeface="Arial"/>
              </a:rPr>
              <a:t>Multilingual + deployment choice</a:t>
            </a:r>
          </a:p>
        </p:txBody>
      </p:sp>
      <p:sp>
        <p:nvSpPr>
          <p:cNvPr id="8923" name="TextBox 8922"/>
          <p:cNvSpPr txBox="1"/>
          <p:nvPr/>
        </p:nvSpPr>
        <p:spPr>
          <a:xfrm>
            <a:off x="7150607" y="2487168"/>
            <a:ext cx="1975104" cy="43891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Target advanced multi-model banks.</a:t>
            </a:r>
          </a:p>
        </p:txBody>
      </p:sp>
      <p:sp>
        <p:nvSpPr>
          <p:cNvPr id="8924" name="Rectangle 8923"/>
          <p:cNvSpPr/>
          <p:nvPr/>
        </p:nvSpPr>
        <p:spPr>
          <a:xfrm>
            <a:off x="9253728" y="1554480"/>
            <a:ext cx="1975104" cy="11887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5" name="TextBox 8924"/>
          <p:cNvSpPr txBox="1"/>
          <p:nvPr/>
        </p:nvSpPr>
        <p:spPr>
          <a:xfrm>
            <a:off x="9253728" y="1755648"/>
            <a:ext cx="1975104" cy="21945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200" b="1">
                <a:solidFill>
                  <a:srgbClr val="161623"/>
                </a:solidFill>
                <a:latin typeface="Arial"/>
              </a:rPr>
              <a:t>SWITZERLAND</a:t>
            </a:r>
          </a:p>
        </p:txBody>
      </p:sp>
      <p:sp>
        <p:nvSpPr>
          <p:cNvPr id="8926" name="TextBox 8925"/>
          <p:cNvSpPr txBox="1"/>
          <p:nvPr/>
        </p:nvSpPr>
        <p:spPr>
          <a:xfrm>
            <a:off x="9253728" y="2039112"/>
            <a:ext cx="1975104" cy="40233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300" b="1">
                <a:solidFill>
                  <a:srgbClr val="FA500E"/>
                </a:solidFill>
                <a:latin typeface="Arial"/>
              </a:rPr>
              <a:t>Confidentiality + control</a:t>
            </a:r>
          </a:p>
        </p:txBody>
      </p:sp>
      <p:sp>
        <p:nvSpPr>
          <p:cNvPr id="8927" name="TextBox 8926"/>
          <p:cNvSpPr txBox="1"/>
          <p:nvPr/>
        </p:nvSpPr>
        <p:spPr>
          <a:xfrm>
            <a:off x="9253728" y="2487168"/>
            <a:ext cx="1975104" cy="43891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Use insurance proof; validate wealth.</a:t>
            </a:r>
          </a:p>
        </p:txBody>
      </p:sp>
      <p:sp>
        <p:nvSpPr>
          <p:cNvPr id="8928" name="TextBox 8927"/>
          <p:cNvSpPr txBox="1"/>
          <p:nvPr/>
        </p:nvSpPr>
        <p:spPr>
          <a:xfrm>
            <a:off x="841248" y="2999232"/>
            <a:ext cx="2743200" cy="20116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FA500E"/>
                </a:solidFill>
                <a:latin typeface="Arial"/>
              </a:rPr>
              <a:t>02  SUB-VERTICAL — PROOF</a:t>
            </a:r>
          </a:p>
        </p:txBody>
      </p:sp>
      <p:sp>
        <p:nvSpPr>
          <p:cNvPr id="8929" name="Oval 8928"/>
          <p:cNvSpPr/>
          <p:nvPr/>
        </p:nvSpPr>
        <p:spPr>
          <a:xfrm>
            <a:off x="1623060" y="3305556"/>
            <a:ext cx="411480" cy="411480"/>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0" name="TextBox 8929"/>
          <p:cNvSpPr txBox="1"/>
          <p:nvPr/>
        </p:nvSpPr>
        <p:spPr>
          <a:xfrm>
            <a:off x="1623060" y="3305556"/>
            <a:ext cx="411480" cy="411480"/>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sz="1100" b="1">
                <a:solidFill>
                  <a:srgbClr val="FFFFFF"/>
                </a:solidFill>
                <a:latin typeface="Arial"/>
              </a:rPr>
              <a:t>01</a:t>
            </a:r>
          </a:p>
        </p:txBody>
      </p:sp>
      <p:sp>
        <p:nvSpPr>
          <p:cNvPr id="8931" name="TextBox 8930"/>
          <p:cNvSpPr txBox="1"/>
          <p:nvPr/>
        </p:nvSpPr>
        <p:spPr>
          <a:xfrm>
            <a:off x="841248" y="3803904"/>
            <a:ext cx="1975104" cy="22860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1">
                <a:solidFill>
                  <a:srgbClr val="161623"/>
                </a:solidFill>
                <a:latin typeface="Arial"/>
              </a:rPr>
              <a:t>PRIVATE MARKETS</a:t>
            </a:r>
          </a:p>
        </p:txBody>
      </p:sp>
      <p:sp>
        <p:nvSpPr>
          <p:cNvPr id="8932" name="TextBox 8931"/>
          <p:cNvSpPr txBox="1"/>
          <p:nvPr/>
        </p:nvSpPr>
        <p:spPr>
          <a:xfrm>
            <a:off x="841248" y="4069080"/>
            <a:ext cx="1975104" cy="35661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Deal-document intelligence</a:t>
            </a:r>
          </a:p>
        </p:txBody>
      </p:sp>
      <p:sp>
        <p:nvSpPr>
          <p:cNvPr id="8933" name="Oval 8932"/>
          <p:cNvSpPr/>
          <p:nvPr/>
        </p:nvSpPr>
        <p:spPr>
          <a:xfrm>
            <a:off x="3726180" y="3305556"/>
            <a:ext cx="411480" cy="411480"/>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4" name="TextBox 8933"/>
          <p:cNvSpPr txBox="1"/>
          <p:nvPr/>
        </p:nvSpPr>
        <p:spPr>
          <a:xfrm>
            <a:off x="3726180" y="3305556"/>
            <a:ext cx="411480" cy="411480"/>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sz="1100" b="1">
                <a:solidFill>
                  <a:srgbClr val="FFFFFF"/>
                </a:solidFill>
                <a:latin typeface="Arial"/>
              </a:rPr>
              <a:t>02</a:t>
            </a:r>
          </a:p>
        </p:txBody>
      </p:sp>
      <p:sp>
        <p:nvSpPr>
          <p:cNvPr id="8935" name="TextBox 8934"/>
          <p:cNvSpPr txBox="1"/>
          <p:nvPr/>
        </p:nvSpPr>
        <p:spPr>
          <a:xfrm>
            <a:off x="2944368" y="3803904"/>
            <a:ext cx="1975104" cy="22860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1">
                <a:solidFill>
                  <a:srgbClr val="161623"/>
                </a:solidFill>
                <a:latin typeface="Arial"/>
              </a:rPr>
              <a:t>COMMERCIAL BANKING</a:t>
            </a:r>
          </a:p>
        </p:txBody>
      </p:sp>
      <p:sp>
        <p:nvSpPr>
          <p:cNvPr id="8936" name="TextBox 8935"/>
          <p:cNvSpPr txBox="1"/>
          <p:nvPr/>
        </p:nvSpPr>
        <p:spPr>
          <a:xfrm>
            <a:off x="2944368" y="4069080"/>
            <a:ext cx="1975104" cy="35661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Credit / lending workflows</a:t>
            </a:r>
          </a:p>
        </p:txBody>
      </p:sp>
      <p:sp>
        <p:nvSpPr>
          <p:cNvPr id="8937" name="Oval 8936"/>
          <p:cNvSpPr/>
          <p:nvPr/>
        </p:nvSpPr>
        <p:spPr>
          <a:xfrm>
            <a:off x="5829300" y="3305556"/>
            <a:ext cx="411480" cy="411480"/>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8" name="TextBox 8937"/>
          <p:cNvSpPr txBox="1"/>
          <p:nvPr/>
        </p:nvSpPr>
        <p:spPr>
          <a:xfrm>
            <a:off x="5829300" y="3305556"/>
            <a:ext cx="411480" cy="411480"/>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sz="1100" b="1">
                <a:solidFill>
                  <a:srgbClr val="FFFFFF"/>
                </a:solidFill>
                <a:latin typeface="Arial"/>
              </a:rPr>
              <a:t>03</a:t>
            </a:r>
          </a:p>
        </p:txBody>
      </p:sp>
      <p:sp>
        <p:nvSpPr>
          <p:cNvPr id="8939" name="TextBox 8938"/>
          <p:cNvSpPr txBox="1"/>
          <p:nvPr/>
        </p:nvSpPr>
        <p:spPr>
          <a:xfrm>
            <a:off x="5047488" y="3803904"/>
            <a:ext cx="1975104" cy="22860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1">
                <a:solidFill>
                  <a:srgbClr val="161623"/>
                </a:solidFill>
                <a:latin typeface="Arial"/>
              </a:rPr>
              <a:t>FINANCIAL CRIME</a:t>
            </a:r>
          </a:p>
        </p:txBody>
      </p:sp>
      <p:sp>
        <p:nvSpPr>
          <p:cNvPr id="8940" name="TextBox 8939"/>
          <p:cNvSpPr txBox="1"/>
          <p:nvPr/>
        </p:nvSpPr>
        <p:spPr>
          <a:xfrm>
            <a:off x="5047488" y="4069080"/>
            <a:ext cx="1975104" cy="35661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KYC / AML investigation</a:t>
            </a:r>
          </a:p>
        </p:txBody>
      </p:sp>
      <p:sp>
        <p:nvSpPr>
          <p:cNvPr id="8941" name="Oval 8940"/>
          <p:cNvSpPr/>
          <p:nvPr/>
        </p:nvSpPr>
        <p:spPr>
          <a:xfrm>
            <a:off x="7932419" y="3305556"/>
            <a:ext cx="411480" cy="411480"/>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2" name="TextBox 8941"/>
          <p:cNvSpPr txBox="1"/>
          <p:nvPr/>
        </p:nvSpPr>
        <p:spPr>
          <a:xfrm>
            <a:off x="7932419" y="3305556"/>
            <a:ext cx="411480" cy="411480"/>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sz="1100" b="1">
                <a:solidFill>
                  <a:srgbClr val="FFFFFF"/>
                </a:solidFill>
                <a:latin typeface="Arial"/>
              </a:rPr>
              <a:t>04</a:t>
            </a:r>
          </a:p>
        </p:txBody>
      </p:sp>
      <p:sp>
        <p:nvSpPr>
          <p:cNvPr id="8943" name="TextBox 8942"/>
          <p:cNvSpPr txBox="1"/>
          <p:nvPr/>
        </p:nvSpPr>
        <p:spPr>
          <a:xfrm>
            <a:off x="7150607" y="3803904"/>
            <a:ext cx="1975104" cy="22860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1">
                <a:solidFill>
                  <a:srgbClr val="161623"/>
                </a:solidFill>
                <a:latin typeface="Arial"/>
              </a:rPr>
              <a:t>WEALTH</a:t>
            </a:r>
          </a:p>
        </p:txBody>
      </p:sp>
      <p:sp>
        <p:nvSpPr>
          <p:cNvPr id="8944" name="TextBox 8943"/>
          <p:cNvSpPr txBox="1"/>
          <p:nvPr/>
        </p:nvSpPr>
        <p:spPr>
          <a:xfrm>
            <a:off x="7150607" y="4069080"/>
            <a:ext cx="1975104" cy="35661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Advisor / research intelligence</a:t>
            </a:r>
          </a:p>
        </p:txBody>
      </p:sp>
      <p:sp>
        <p:nvSpPr>
          <p:cNvPr id="8945" name="Oval 8944"/>
          <p:cNvSpPr/>
          <p:nvPr/>
        </p:nvSpPr>
        <p:spPr>
          <a:xfrm>
            <a:off x="10035540" y="3305556"/>
            <a:ext cx="411480" cy="411480"/>
          </a:xfrm>
          <a:prstGeom prst="ellipse">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6" name="TextBox 8945"/>
          <p:cNvSpPr txBox="1"/>
          <p:nvPr/>
        </p:nvSpPr>
        <p:spPr>
          <a:xfrm>
            <a:off x="10035540" y="3305556"/>
            <a:ext cx="411480" cy="411480"/>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sz="1100" b="1">
                <a:solidFill>
                  <a:srgbClr val="FFFFFF"/>
                </a:solidFill>
                <a:latin typeface="Arial"/>
              </a:rPr>
              <a:t>05</a:t>
            </a:r>
          </a:p>
        </p:txBody>
      </p:sp>
      <p:sp>
        <p:nvSpPr>
          <p:cNvPr id="8947" name="TextBox 8946"/>
          <p:cNvSpPr txBox="1"/>
          <p:nvPr/>
        </p:nvSpPr>
        <p:spPr>
          <a:xfrm>
            <a:off x="9253728" y="3803904"/>
            <a:ext cx="1975104" cy="228600"/>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1">
                <a:solidFill>
                  <a:srgbClr val="161623"/>
                </a:solidFill>
                <a:latin typeface="Arial"/>
              </a:rPr>
              <a:t>INSURANCE</a:t>
            </a:r>
          </a:p>
        </p:txBody>
      </p:sp>
      <p:sp>
        <p:nvSpPr>
          <p:cNvPr id="8948" name="TextBox 8947"/>
          <p:cNvSpPr txBox="1"/>
          <p:nvPr/>
        </p:nvSpPr>
        <p:spPr>
          <a:xfrm>
            <a:off x="9253728" y="4069080"/>
            <a:ext cx="1975104" cy="356616"/>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0">
                <a:solidFill>
                  <a:srgbClr val="62544F"/>
                </a:solidFill>
                <a:latin typeface="Arial"/>
              </a:rPr>
              <a:t>Controlled documents / workflows</a:t>
            </a:r>
          </a:p>
        </p:txBody>
      </p:sp>
      <p:sp>
        <p:nvSpPr>
          <p:cNvPr id="8949" name="TextBox 8948"/>
          <p:cNvSpPr txBox="1"/>
          <p:nvPr/>
        </p:nvSpPr>
        <p:spPr>
          <a:xfrm>
            <a:off x="841248" y="4425696"/>
            <a:ext cx="2743200" cy="201168"/>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1200" b="1">
                <a:solidFill>
                  <a:srgbClr val="FA500E"/>
                </a:solidFill>
                <a:latin typeface="Arial"/>
              </a:rPr>
              <a:t>03  BUYER — WHAT THEY TEST</a:t>
            </a:r>
          </a:p>
        </p:txBody>
      </p:sp>
      <p:sp>
        <p:nvSpPr>
          <p:cNvPr id="8950" name="Rectangle 8949"/>
          <p:cNvSpPr/>
          <p:nvPr/>
        </p:nvSpPr>
        <p:spPr>
          <a:xfrm>
            <a:off x="841248" y="4800600"/>
            <a:ext cx="3246120" cy="91440"/>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51" name="TextBox 8950"/>
          <p:cNvSpPr txBox="1"/>
          <p:nvPr/>
        </p:nvSpPr>
        <p:spPr>
          <a:xfrm>
            <a:off x="841248" y="5047488"/>
            <a:ext cx="3246120" cy="292608"/>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500" b="1">
                <a:solidFill>
                  <a:srgbClr val="161623"/>
                </a:solidFill>
                <a:latin typeface="Arial"/>
              </a:rPr>
              <a:t>CIO</a:t>
            </a:r>
          </a:p>
        </p:txBody>
      </p:sp>
      <p:sp>
        <p:nvSpPr>
          <p:cNvPr id="8952" name="TextBox 8951"/>
          <p:cNvSpPr txBox="1"/>
          <p:nvPr/>
        </p:nvSpPr>
        <p:spPr>
          <a:xfrm>
            <a:off x="1005840" y="5468112"/>
            <a:ext cx="2916936" cy="53035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200" b="0">
                <a:solidFill>
                  <a:srgbClr val="62544F"/>
                </a:solidFill>
                <a:latin typeface="Arial"/>
              </a:rPr>
              <a:t>Architecture · integration · fit</a:t>
            </a:r>
          </a:p>
        </p:txBody>
      </p:sp>
      <p:sp>
        <p:nvSpPr>
          <p:cNvPr id="8953" name="Rectangle 8952"/>
          <p:cNvSpPr/>
          <p:nvPr/>
        </p:nvSpPr>
        <p:spPr>
          <a:xfrm>
            <a:off x="4343400" y="4800600"/>
            <a:ext cx="3246120" cy="91440"/>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54" name="TextBox 8953"/>
          <p:cNvSpPr txBox="1"/>
          <p:nvPr/>
        </p:nvSpPr>
        <p:spPr>
          <a:xfrm>
            <a:off x="4343400" y="5047488"/>
            <a:ext cx="3246120" cy="292608"/>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500" b="1">
                <a:solidFill>
                  <a:srgbClr val="161623"/>
                </a:solidFill>
                <a:latin typeface="Arial"/>
              </a:rPr>
              <a:t>CISO / RISK</a:t>
            </a:r>
          </a:p>
        </p:txBody>
      </p:sp>
      <p:sp>
        <p:nvSpPr>
          <p:cNvPr id="8955" name="TextBox 8954"/>
          <p:cNvSpPr txBox="1"/>
          <p:nvPr/>
        </p:nvSpPr>
        <p:spPr>
          <a:xfrm>
            <a:off x="4507992" y="5468112"/>
            <a:ext cx="2916936" cy="53035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200" b="0">
                <a:solidFill>
                  <a:srgbClr val="62544F"/>
                </a:solidFill>
                <a:latin typeface="Arial"/>
              </a:rPr>
              <a:t>Security · control · evidence</a:t>
            </a:r>
          </a:p>
        </p:txBody>
      </p:sp>
      <p:sp>
        <p:nvSpPr>
          <p:cNvPr id="8956" name="Rectangle 8955"/>
          <p:cNvSpPr/>
          <p:nvPr/>
        </p:nvSpPr>
        <p:spPr>
          <a:xfrm>
            <a:off x="7845552" y="4800600"/>
            <a:ext cx="3246120" cy="91440"/>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57" name="TextBox 8956"/>
          <p:cNvSpPr txBox="1"/>
          <p:nvPr/>
        </p:nvSpPr>
        <p:spPr>
          <a:xfrm>
            <a:off x="7845552" y="5047488"/>
            <a:ext cx="3246120" cy="292608"/>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500" b="1">
                <a:solidFill>
                  <a:srgbClr val="161623"/>
                </a:solidFill>
                <a:latin typeface="Arial"/>
              </a:rPr>
              <a:t>BUSINESS OWNER</a:t>
            </a:r>
            <a:endParaRPr sz="1500" b="1">
              <a:solidFill>
                <a:srgbClr val="161623"/>
              </a:solidFill>
              <a:latin typeface="Arial"/>
            </a:endParaRPr>
          </a:p>
        </p:txBody>
      </p:sp>
      <p:sp>
        <p:nvSpPr>
          <p:cNvPr id="8958" name="TextBox 8957"/>
          <p:cNvSpPr txBox="1"/>
          <p:nvPr/>
        </p:nvSpPr>
        <p:spPr>
          <a:xfrm>
            <a:off x="8010144" y="5468112"/>
            <a:ext cx="2916936" cy="53035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sz="1200" b="0">
                <a:solidFill>
                  <a:srgbClr val="62544F"/>
                </a:solidFill>
                <a:latin typeface="Arial"/>
              </a:rPr>
              <a:t>ROI · workflow · business value</a:t>
            </a:r>
          </a:p>
        </p:txBody>
      </p:sp>
      <p:sp>
        <p:nvSpPr>
          <p:cNvPr id="960" name="Icon Accent"/>
          <p:cNvSpPr/>
          <p:nvPr/>
        </p:nvSpPr>
        <p:spPr>
          <a:xfrm>
            <a:off x="11100000" y="182880"/>
            <a:ext cx="347472" cy="347472"/>
          </a:xfrm>
          <a:custGeom>
            <a:avLst/>
            <a:gdLst/>
            <a:ahLst/>
            <a:cxnLst/>
            <a:rect l="0" t="0" r="r" b="b"/>
            <a:pathLst>
              <a:path w="100" h="100">
                <a:moveTo>
                  <a:pt x="50" y="12"/>
                </a:moveTo>
                <a:arcTo wR="38" hR="38" stAng="16200000" swAng="21600000"/>
              </a:path>
              <a:path w="100" h="100">
                <a:moveTo>
                  <a:pt x="50" y="12"/>
                </a:moveTo>
                <a:lnTo>
                  <a:pt x="50" y="88"/>
                </a:lnTo>
              </a:path>
              <a:path w="100" h="100">
                <a:moveTo>
                  <a:pt x="12" y="50"/>
                </a:moveTo>
                <a:lnTo>
                  <a:pt x="88" y="50"/>
                </a:lnTo>
              </a:path>
              <a:path w="100" h="100">
                <a:moveTo>
                  <a:pt x="50" y="12"/>
                </a:moveTo>
                <a:cubicBezTo>
                  <a:pt x="72" y="32"/>
                  <a:pt x="72" y="68"/>
                  <a:pt x="50" y="88"/>
                </a:cubicBezTo>
                <a:cubicBezTo>
                  <a:pt x="28" y="68"/>
                  <a:pt x="28" y="32"/>
                  <a:pt x="50" y="12"/>
                </a:cubicBezTo>
              </a:path>
            </a:pathLst>
          </a:custGeom>
          <a:noFill/>
          <a:ln w="19050" cap="rnd">
            <a:solidFill>
              <a:srgbClr val="FA500E"/>
            </a:solidFill>
            <a:round/>
          </a:ln>
        </p:spPr>
        <p:txBody>
          <a:bodyPr/>
          <a:lstStyle/>
          <a:p>
            <a:endParaRPr/>
          </a:p>
        </p:txBody>
      </p:sp>
    </p:spTree>
    <p:extLst>
      <p:ext uri="{BB962C8B-B14F-4D97-AF65-F5344CB8AC3E}">
        <p14:creationId xmlns:p14="http://schemas.microsoft.com/office/powerpoint/2010/main" val="2253563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2" name="Rectangle 1"/>
          <p:cNvSpPr/>
          <p:nvPr/>
        </p:nvSpPr>
        <p:spPr>
          <a:xfrm>
            <a:off x="609904" y="267004"/>
            <a:ext cx="75895" cy="74249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3" name="TextBox 2"/>
          <p:cNvSpPr txBox="1"/>
          <p:nvPr/>
        </p:nvSpPr>
        <p:spPr>
          <a:xfrm>
            <a:off x="841248" y="54864"/>
            <a:ext cx="7955279" cy="201168"/>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A500E"/>
                </a:solidFill>
                <a:effectLst/>
                <a:uLnTx/>
                <a:uFillTx/>
                <a:latin typeface="Arial"/>
                <a:ea typeface="Calibri"/>
                <a:cs typeface="Calibri"/>
              </a:rPr>
              <a:t>EXPANSION PRIORITIES</a:t>
            </a:r>
          </a:p>
        </p:txBody>
      </p:sp>
      <p:sp>
        <p:nvSpPr>
          <p:cNvPr id="4" name="TextBox 3"/>
          <p:cNvSpPr txBox="1"/>
          <p:nvPr/>
        </p:nvSpPr>
        <p:spPr>
          <a:xfrm>
            <a:off x="841248" y="274320"/>
            <a:ext cx="9900000" cy="502920"/>
          </a:xfrm>
          <a:prstGeom prst="rect">
            <a:avLst/>
          </a:prstGeom>
          <a:noFill/>
        </p:spPr>
        <p:txBody>
          <a:bodyPr wrap="square" lIns="0" tIns="0" rIns="0" bIns="0" anchor="t">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61623"/>
                </a:solidFill>
                <a:effectLst/>
                <a:uLnTx/>
                <a:uFillTx/>
                <a:latin typeface="Tiny5"/>
                <a:ea typeface="Calibri"/>
                <a:cs typeface="Calibri"/>
              </a:rPr>
              <a:t>COMMIT TO TWO. VALIDATE TWO.</a:t>
            </a:r>
          </a:p>
        </p:txBody>
      </p:sp>
      <p:pic>
        <p:nvPicPr>
          <p:cNvPr id="6" name="Picture 5" descr="image.png"/>
          <p:cNvPicPr>
            <a:picLocks noChangeAspect="1"/>
          </p:cNvPicPr>
          <p:nvPr/>
        </p:nvPicPr>
        <p:blipFill>
          <a:blip r:embed="rId3"/>
          <a:stretch>
            <a:fillRect/>
          </a:stretch>
        </p:blipFill>
        <p:spPr>
          <a:xfrm>
            <a:off x="11658600" y="182880"/>
            <a:ext cx="347472" cy="347472"/>
          </a:xfrm>
          <a:prstGeom prst="rect">
            <a:avLst/>
          </a:prstGeom>
        </p:spPr>
      </p:pic>
      <p:sp>
        <p:nvSpPr>
          <p:cNvPr id="8900" name="FootRule"/>
          <p:cNvSpPr txBox="1"/>
          <p:nvPr/>
        </p:nvSpPr>
        <p:spPr>
          <a:xfrm>
            <a:off x="612648" y="6556248"/>
            <a:ext cx="10972800" cy="9144"/>
          </a:xfrm>
          <a:prstGeom prst="rect">
            <a:avLst/>
          </a:prstGeom>
          <a:solidFill>
            <a:srgbClr val="E8CBBE"/>
          </a:solidFill>
          <a:ln>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8901" name="FootTxt"/>
          <p:cNvSpPr txBox="1"/>
          <p:nvPr/>
        </p:nvSpPr>
        <p:spPr>
          <a:xfrm>
            <a:off x="612648" y="6620256"/>
            <a:ext cx="4005072" cy="149961"/>
          </a:xfrm>
          <a:prstGeom prst="rect">
            <a:avLst/>
          </a:prstGeom>
          <a:noFill/>
          <a:ln>
            <a:noFill/>
          </a:ln>
        </p:spPr>
        <p:txBody>
          <a:bodyPr wrap="square" lIns="0" tIns="0" rIns="0" bIns="0" anchor="ctr">
            <a:noAutofit/>
          </a:bodyPr>
          <a:lstStyle/>
          <a:p>
            <a:pPr algn="l"/>
            <a:r>
              <a:rPr lang="en-US" sz="1200" b="0" i="0">
                <a:solidFill>
                  <a:srgbClr val="5A554B"/>
                </a:solidFill>
                <a:latin typeface="Arial"/>
              </a:rPr>
              <a:t>SHIV  ·  PMM CANDIDATE  ·  18 AUG 2026</a:t>
            </a:r>
          </a:p>
        </p:txBody>
      </p:sp>
      <p:sp>
        <p:nvSpPr>
          <p:cNvPr id="8902" name="FootPg"/>
          <p:cNvSpPr txBox="1"/>
          <p:nvPr/>
        </p:nvSpPr>
        <p:spPr>
          <a:xfrm>
            <a:off x="11237976" y="6620256"/>
            <a:ext cx="347472" cy="149961"/>
          </a:xfrm>
          <a:prstGeom prst="rect">
            <a:avLst/>
          </a:prstGeom>
          <a:noFill/>
          <a:ln>
            <a:noFill/>
          </a:ln>
        </p:spPr>
        <p:txBody>
          <a:bodyPr wrap="square" lIns="0" tIns="0" rIns="0" bIns="0" anchor="ctr">
            <a:noAutofit/>
          </a:bodyPr>
          <a:lstStyle/>
          <a:p>
            <a:pPr algn="r"/>
            <a:r>
              <a:rPr lang="en-US" sz="1200" b="0" i="0">
                <a:solidFill>
                  <a:srgbClr val="5A554B"/>
                </a:solidFill>
                <a:latin typeface="Arial"/>
              </a:rPr>
              <a:t>5</a:t>
            </a:r>
          </a:p>
        </p:txBody>
      </p:sp>
      <p:sp>
        <p:nvSpPr>
          <p:cNvPr id="8903" name="TextBox 8902"/>
          <p:cNvSpPr txBox="1"/>
          <p:nvPr/>
        </p:nvSpPr>
        <p:spPr>
          <a:xfrm>
            <a:off x="841248" y="1078992"/>
            <a:ext cx="10515600"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400" b="0">
                <a:solidFill>
                  <a:srgbClr val="62544F"/>
                </a:solidFill>
                <a:latin typeface="Arial"/>
              </a:rPr>
              <a:t>Back BNP Paribas and Visa; advance the rest only after proof.</a:t>
            </a:r>
          </a:p>
        </p:txBody>
      </p:sp>
      <p:graphicFrame>
        <p:nvGraphicFramePr>
          <p:cNvPr id="8904" name="Chart 8903" descr="Chart"/>
          <p:cNvGraphicFramePr>
            <a:graphicFrameLocks noGrp="1"/>
          </p:cNvGraphicFramePr>
          <p:nvPr>
            <p:extLst>
              <p:ext uri="{D42A27DB-BD31-4B8C-83A1-F6EECF244321}">
                <p14:modId xmlns:p14="http://schemas.microsoft.com/office/powerpoint/2010/main" val="2650857133"/>
              </p:ext>
            </p:extLst>
          </p:nvPr>
        </p:nvGraphicFramePr>
        <p:xfrm>
          <a:off x="2240280" y="1490472"/>
          <a:ext cx="4434840" cy="4434840"/>
        </p:xfrm>
        <a:graphic>
          <a:graphicData uri="http://schemas.openxmlformats.org/drawingml/2006/chart">
            <c:chart xmlns:c="http://schemas.openxmlformats.org/drawingml/2006/chart" xmlns:r="http://schemas.openxmlformats.org/officeDocument/2006/relationships" r:id="rId4"/>
          </a:graphicData>
        </a:graphic>
      </p:graphicFrame>
      <p:sp>
        <p:nvSpPr>
          <p:cNvPr id="8905" name="TextBox 8904"/>
          <p:cNvSpPr txBox="1"/>
          <p:nvPr/>
        </p:nvSpPr>
        <p:spPr>
          <a:xfrm>
            <a:off x="8028431" y="1417320"/>
            <a:ext cx="3328416" cy="256032"/>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400" b="1">
                <a:solidFill>
                  <a:srgbClr val="FA500E"/>
                </a:solidFill>
                <a:latin typeface="Arial"/>
              </a:rPr>
              <a:t>DECISION</a:t>
            </a:r>
          </a:p>
        </p:txBody>
      </p:sp>
      <p:sp>
        <p:nvSpPr>
          <p:cNvPr id="8906" name="Rectangle 8905"/>
          <p:cNvSpPr/>
          <p:nvPr/>
        </p:nvSpPr>
        <p:spPr>
          <a:xfrm>
            <a:off x="8028431" y="1819656"/>
            <a:ext cx="109728" cy="71323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07" name="TextBox 8906"/>
          <p:cNvSpPr txBox="1"/>
          <p:nvPr/>
        </p:nvSpPr>
        <p:spPr>
          <a:xfrm>
            <a:off x="8302752" y="1819656"/>
            <a:ext cx="283464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300" b="1">
                <a:solidFill>
                  <a:srgbClr val="161623"/>
                </a:solidFill>
                <a:latin typeface="Arial"/>
              </a:rPr>
              <a:t>COMMIT: EXPAND</a:t>
            </a:r>
            <a:endParaRPr sz="1300" b="1">
              <a:solidFill>
                <a:srgbClr val="161623"/>
              </a:solidFill>
              <a:latin typeface="Arial"/>
            </a:endParaRPr>
          </a:p>
        </p:txBody>
      </p:sp>
      <p:sp>
        <p:nvSpPr>
          <p:cNvPr id="8908" name="TextBox 8907"/>
          <p:cNvSpPr txBox="1"/>
          <p:nvPr/>
        </p:nvSpPr>
        <p:spPr>
          <a:xfrm>
            <a:off x="8302752" y="2075688"/>
            <a:ext cx="2834640" cy="201168"/>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1">
                <a:solidFill>
                  <a:srgbClr val="FA500E"/>
                </a:solidFill>
                <a:latin typeface="Arial"/>
              </a:rPr>
              <a:t>BNP Paribas</a:t>
            </a:r>
          </a:p>
        </p:txBody>
      </p:sp>
      <p:sp>
        <p:nvSpPr>
          <p:cNvPr id="8909" name="TextBox 8908"/>
          <p:cNvSpPr txBox="1"/>
          <p:nvPr/>
        </p:nvSpPr>
        <p:spPr>
          <a:xfrm>
            <a:off x="8302752" y="2295144"/>
            <a:ext cx="2834640" cy="32004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0">
                <a:solidFill>
                  <a:srgbClr val="62544F"/>
                </a:solidFill>
                <a:latin typeface="Arial"/>
              </a:rPr>
              <a:t>Sequence Amundi · Swiss Re</a:t>
            </a:r>
          </a:p>
        </p:txBody>
      </p:sp>
      <p:sp>
        <p:nvSpPr>
          <p:cNvPr id="8910" name="Rectangle 8909"/>
          <p:cNvSpPr/>
          <p:nvPr/>
        </p:nvSpPr>
        <p:spPr>
          <a:xfrm>
            <a:off x="8028431" y="2834640"/>
            <a:ext cx="109728" cy="713232"/>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1" name="TextBox 8910"/>
          <p:cNvSpPr txBox="1"/>
          <p:nvPr/>
        </p:nvSpPr>
        <p:spPr>
          <a:xfrm>
            <a:off x="8302752" y="2834640"/>
            <a:ext cx="283464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300" b="1">
                <a:solidFill>
                  <a:srgbClr val="161623"/>
                </a:solidFill>
                <a:latin typeface="Arial"/>
              </a:rPr>
              <a:t>VALIDATE: QUANTEXA</a:t>
            </a:r>
            <a:endParaRPr sz="1300" b="1">
              <a:solidFill>
                <a:srgbClr val="161623"/>
              </a:solidFill>
              <a:latin typeface="Arial"/>
            </a:endParaRPr>
          </a:p>
        </p:txBody>
      </p:sp>
      <p:sp>
        <p:nvSpPr>
          <p:cNvPr id="8912" name="TextBox 8911"/>
          <p:cNvSpPr txBox="1"/>
          <p:nvPr/>
        </p:nvSpPr>
        <p:spPr>
          <a:xfrm>
            <a:off x="8302752" y="3090672"/>
            <a:ext cx="2834640" cy="201168"/>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1">
                <a:solidFill>
                  <a:srgbClr val="161623"/>
                </a:solidFill>
                <a:latin typeface="Arial"/>
              </a:rPr>
              <a:t>Quantexa · 90 DAYS</a:t>
            </a:r>
          </a:p>
        </p:txBody>
      </p:sp>
      <p:sp>
        <p:nvSpPr>
          <p:cNvPr id="8913" name="TextBox 8912"/>
          <p:cNvSpPr txBox="1"/>
          <p:nvPr/>
        </p:nvSpPr>
        <p:spPr>
          <a:xfrm>
            <a:off x="8302752" y="3310128"/>
            <a:ext cx="2834640" cy="32004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0">
                <a:solidFill>
                  <a:srgbClr val="62544F"/>
                </a:solidFill>
                <a:latin typeface="Arial"/>
              </a:rPr>
              <a:t>1 production proof · 1 qualified deal</a:t>
            </a:r>
          </a:p>
        </p:txBody>
      </p:sp>
      <p:sp>
        <p:nvSpPr>
          <p:cNvPr id="8914" name="Rectangle 8913"/>
          <p:cNvSpPr/>
          <p:nvPr/>
        </p:nvSpPr>
        <p:spPr>
          <a:xfrm>
            <a:off x="8028431" y="3849624"/>
            <a:ext cx="109728" cy="713232"/>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5" name="TextBox 8914"/>
          <p:cNvSpPr txBox="1"/>
          <p:nvPr/>
        </p:nvSpPr>
        <p:spPr>
          <a:xfrm>
            <a:off x="8302752" y="3849624"/>
            <a:ext cx="283464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300" b="1">
                <a:solidFill>
                  <a:srgbClr val="161623"/>
                </a:solidFill>
                <a:latin typeface="Arial"/>
              </a:rPr>
              <a:t>COMMIT: NETWORK</a:t>
            </a:r>
            <a:endParaRPr sz="1300" b="1">
              <a:solidFill>
                <a:srgbClr val="161623"/>
              </a:solidFill>
              <a:latin typeface="Arial"/>
            </a:endParaRPr>
          </a:p>
        </p:txBody>
      </p:sp>
      <p:sp>
        <p:nvSpPr>
          <p:cNvPr id="8916" name="TextBox 8915"/>
          <p:cNvSpPr txBox="1"/>
          <p:nvPr/>
        </p:nvSpPr>
        <p:spPr>
          <a:xfrm>
            <a:off x="8302752" y="4105656"/>
            <a:ext cx="2834640" cy="201168"/>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1">
                <a:solidFill>
                  <a:srgbClr val="161623"/>
                </a:solidFill>
                <a:latin typeface="Arial"/>
              </a:rPr>
              <a:t>Visa first · LSEG next</a:t>
            </a:r>
          </a:p>
        </p:txBody>
      </p:sp>
      <p:sp>
        <p:nvSpPr>
          <p:cNvPr id="8917" name="TextBox 8916"/>
          <p:cNvSpPr txBox="1"/>
          <p:nvPr/>
        </p:nvSpPr>
        <p:spPr>
          <a:xfrm>
            <a:off x="8302752" y="4325112"/>
            <a:ext cx="2834640" cy="32004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0">
                <a:solidFill>
                  <a:srgbClr val="62544F"/>
                </a:solidFill>
                <a:latin typeface="Arial"/>
              </a:rPr>
              <a:t>Hold SWIFT</a:t>
            </a:r>
          </a:p>
        </p:txBody>
      </p:sp>
      <p:sp>
        <p:nvSpPr>
          <p:cNvPr id="8918" name="Rectangle 8917"/>
          <p:cNvSpPr/>
          <p:nvPr/>
        </p:nvSpPr>
        <p:spPr>
          <a:xfrm>
            <a:off x="8028431" y="4864608"/>
            <a:ext cx="109728" cy="713232"/>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9" name="TextBox 8918"/>
          <p:cNvSpPr txBox="1"/>
          <p:nvPr/>
        </p:nvSpPr>
        <p:spPr>
          <a:xfrm>
            <a:off x="8302752" y="4864608"/>
            <a:ext cx="2834640" cy="22860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300" b="1">
                <a:solidFill>
                  <a:srgbClr val="161623"/>
                </a:solidFill>
                <a:latin typeface="Arial"/>
              </a:rPr>
              <a:t>VALIDATE: PORTFOLIOS</a:t>
            </a:r>
            <a:endParaRPr sz="1300" b="1">
              <a:solidFill>
                <a:srgbClr val="161623"/>
              </a:solidFill>
              <a:latin typeface="Arial"/>
            </a:endParaRPr>
          </a:p>
        </p:txBody>
      </p:sp>
      <p:sp>
        <p:nvSpPr>
          <p:cNvPr id="8920" name="TextBox 8919"/>
          <p:cNvSpPr txBox="1"/>
          <p:nvPr/>
        </p:nvSpPr>
        <p:spPr>
          <a:xfrm>
            <a:off x="8302752" y="5120640"/>
            <a:ext cx="2834640" cy="201168"/>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1">
                <a:solidFill>
                  <a:srgbClr val="161623"/>
                </a:solidFill>
                <a:latin typeface="Arial"/>
              </a:rPr>
              <a:t>EQT · Mubadala · 90 DAYS</a:t>
            </a:r>
          </a:p>
        </p:txBody>
      </p:sp>
      <p:sp>
        <p:nvSpPr>
          <p:cNvPr id="8921" name="TextBox 8920"/>
          <p:cNvSpPr txBox="1"/>
          <p:nvPr/>
        </p:nvSpPr>
        <p:spPr>
          <a:xfrm>
            <a:off x="8302752" y="5340096"/>
            <a:ext cx="2834640" cy="320040"/>
          </a:xfrm>
          <a:prstGeom prst="rect">
            <a:avLst/>
          </a:prstGeom>
          <a:noFill/>
          <a:ln>
            <a:noFill/>
          </a:ln>
        </p:spPr>
        <p:txBody>
          <a:bodyPr wrap="square" lIns="0" tIns="0" rIns="0" bIns="0" anchor="t">
            <a:noAutofit/>
          </a:bodyPr>
          <a:lstStyle/>
          <a:p>
            <a:pPr algn="l">
              <a:lnSpc>
                <a:spcPct val="100000"/>
              </a:lnSpc>
              <a:spcBef>
                <a:spcPts val="0"/>
              </a:spcBef>
              <a:spcAft>
                <a:spcPts val="0"/>
              </a:spcAft>
            </a:pPr>
            <a:r>
              <a:rPr lang="en-US" sz="1150" b="0">
                <a:solidFill>
                  <a:srgbClr val="62544F"/>
                </a:solidFill>
                <a:latin typeface="Arial"/>
              </a:rPr>
              <a:t>2 pilots · 1 repeatable play</a:t>
            </a:r>
          </a:p>
        </p:txBody>
      </p:sp>
      <p:sp>
        <p:nvSpPr>
          <p:cNvPr id="8922" name="TextBox 8921"/>
          <p:cNvSpPr txBox="1"/>
          <p:nvPr/>
        </p:nvSpPr>
        <p:spPr>
          <a:xfrm>
            <a:off x="2240280" y="5961888"/>
            <a:ext cx="4434840" cy="210312"/>
          </a:xfrm>
          <a:prstGeom prst="rect">
            <a:avLst/>
          </a:prstGeom>
          <a:noFill/>
          <a:ln>
            <a:noFill/>
          </a:ln>
        </p:spPr>
        <p:txBody>
          <a:bodyPr wrap="square" lIns="0" tIns="0" rIns="0" bIns="0" anchor="t">
            <a:noAutofit/>
          </a:bodyPr>
          <a:lstStyle/>
          <a:p>
            <a:pPr algn="ctr">
              <a:lnSpc>
                <a:spcPct val="100000"/>
              </a:lnSpc>
              <a:spcBef>
                <a:spcPts val="0"/>
              </a:spcBef>
              <a:spcAft>
                <a:spcPts val="0"/>
              </a:spcAft>
            </a:pPr>
            <a:r>
              <a:rPr lang="en-US" sz="1150" b="1">
                <a:solidFill>
                  <a:srgbClr val="FA500E"/>
                </a:solidFill>
                <a:latin typeface="Arial"/>
              </a:rPr>
              <a:t>UPSIDE</a:t>
            </a:r>
            <a:r>
              <a:rPr sz="1150" b="1">
                <a:solidFill>
                  <a:srgbClr val="FA500E"/>
                </a:solidFill>
                <a:latin typeface="Arial"/>
              </a:rPr>
              <a:t>  →</a:t>
            </a:r>
          </a:p>
        </p:txBody>
      </p:sp>
      <p:sp>
        <p:nvSpPr>
          <p:cNvPr id="8923" name="TextBox 8922"/>
          <p:cNvSpPr txBox="1"/>
          <p:nvPr/>
        </p:nvSpPr>
        <p:spPr>
          <a:xfrm rot="16200000">
            <a:off x="1527048" y="2907792"/>
            <a:ext cx="1508760" cy="256032"/>
          </a:xfrm>
          <a:prstGeom prst="rect">
            <a:avLst/>
          </a:prstGeom>
          <a:noFill/>
          <a:ln>
            <a:noFill/>
          </a:ln>
        </p:spPr>
        <p:txBody>
          <a:bodyPr wrap="square" lIns="0" tIns="0" rIns="0" bIns="0" anchor="ctr">
            <a:noAutofit/>
          </a:bodyPr>
          <a:lstStyle/>
          <a:p>
            <a:pPr algn="ctr">
              <a:lnSpc>
                <a:spcPct val="100000"/>
              </a:lnSpc>
              <a:spcBef>
                <a:spcPts val="0"/>
              </a:spcBef>
              <a:spcAft>
                <a:spcPts val="0"/>
              </a:spcAft>
            </a:pPr>
            <a:r>
              <a:rPr lang="en-US" sz="1050" b="1">
                <a:solidFill>
                  <a:srgbClr val="FA500E"/>
                </a:solidFill>
                <a:latin typeface="Arial"/>
              </a:rPr>
              <a:t>TRACTION</a:t>
            </a:r>
            <a:endParaRPr sz="1050" b="1">
              <a:solidFill>
                <a:srgbClr val="FA500E"/>
              </a:solidFill>
              <a:latin typeface="Arial"/>
            </a:endParaRPr>
          </a:p>
        </p:txBody>
      </p:sp>
      <p:sp>
        <p:nvSpPr>
          <p:cNvPr id="8924" name="TextBox 8923"/>
          <p:cNvSpPr txBox="1"/>
          <p:nvPr/>
        </p:nvSpPr>
        <p:spPr>
          <a:xfrm>
            <a:off x="4731181" y="2432303"/>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BNP Paribas</a:t>
            </a:r>
          </a:p>
        </p:txBody>
      </p:sp>
      <p:sp>
        <p:nvSpPr>
          <p:cNvPr id="8925" name="TextBox 8924"/>
          <p:cNvSpPr txBox="1"/>
          <p:nvPr/>
        </p:nvSpPr>
        <p:spPr>
          <a:xfrm>
            <a:off x="4180106" y="3630167"/>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Amundi</a:t>
            </a:r>
          </a:p>
        </p:txBody>
      </p:sp>
      <p:sp>
        <p:nvSpPr>
          <p:cNvPr id="8926" name="TextBox 8925"/>
          <p:cNvSpPr txBox="1"/>
          <p:nvPr/>
        </p:nvSpPr>
        <p:spPr>
          <a:xfrm>
            <a:off x="4211119" y="3904487"/>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Swiss Re</a:t>
            </a:r>
          </a:p>
        </p:txBody>
      </p:sp>
      <p:sp>
        <p:nvSpPr>
          <p:cNvPr id="8927" name="TextBox 8926"/>
          <p:cNvSpPr txBox="1"/>
          <p:nvPr/>
        </p:nvSpPr>
        <p:spPr>
          <a:xfrm>
            <a:off x="5282256" y="3630167"/>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Quantexa</a:t>
            </a:r>
          </a:p>
        </p:txBody>
      </p:sp>
      <p:sp>
        <p:nvSpPr>
          <p:cNvPr id="8928" name="TextBox 8927"/>
          <p:cNvSpPr txBox="1"/>
          <p:nvPr/>
        </p:nvSpPr>
        <p:spPr>
          <a:xfrm>
            <a:off x="5424915" y="3017519"/>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Visa</a:t>
            </a:r>
          </a:p>
        </p:txBody>
      </p:sp>
      <p:sp>
        <p:nvSpPr>
          <p:cNvPr id="8929" name="TextBox 8928"/>
          <p:cNvSpPr txBox="1"/>
          <p:nvPr/>
        </p:nvSpPr>
        <p:spPr>
          <a:xfrm>
            <a:off x="5511751" y="3858767"/>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LSEG</a:t>
            </a:r>
          </a:p>
        </p:txBody>
      </p:sp>
      <p:sp>
        <p:nvSpPr>
          <p:cNvPr id="8930" name="TextBox 8929"/>
          <p:cNvSpPr txBox="1"/>
          <p:nvPr/>
        </p:nvSpPr>
        <p:spPr>
          <a:xfrm>
            <a:off x="5468333" y="5010912"/>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SWIFT</a:t>
            </a:r>
          </a:p>
        </p:txBody>
      </p:sp>
      <p:sp>
        <p:nvSpPr>
          <p:cNvPr id="8931" name="TextBox 8930"/>
          <p:cNvSpPr txBox="1"/>
          <p:nvPr/>
        </p:nvSpPr>
        <p:spPr>
          <a:xfrm>
            <a:off x="5983147" y="3566159"/>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EQT</a:t>
            </a:r>
          </a:p>
        </p:txBody>
      </p:sp>
      <p:sp>
        <p:nvSpPr>
          <p:cNvPr id="8932" name="TextBox 8931"/>
          <p:cNvSpPr txBox="1"/>
          <p:nvPr/>
        </p:nvSpPr>
        <p:spPr>
          <a:xfrm>
            <a:off x="5983147" y="3813047"/>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Mubadala</a:t>
            </a:r>
          </a:p>
        </p:txBody>
      </p:sp>
      <p:sp>
        <p:nvSpPr>
          <p:cNvPr id="8933" name="TextBox 8932"/>
          <p:cNvSpPr txBox="1"/>
          <p:nvPr/>
        </p:nvSpPr>
        <p:spPr>
          <a:xfrm>
            <a:off x="4514091" y="4379975"/>
            <a:ext cx="800100" cy="182880"/>
          </a:xfrm>
          <a:prstGeom prst="rect">
            <a:avLst/>
          </a:prstGeom>
          <a:noFill/>
          <a:ln>
            <a:noFill/>
          </a:ln>
        </p:spPr>
        <p:txBody>
          <a:bodyPr wrap="square" lIns="0" tIns="0" rIns="0" bIns="0" anchor="t">
            <a:noAutofit/>
          </a:bodyPr>
          <a:lstStyle/>
          <a:p>
            <a:pPr algn="l">
              <a:lnSpc>
                <a:spcPct val="100000"/>
              </a:lnSpc>
              <a:spcBef>
                <a:spcPts val="0"/>
              </a:spcBef>
              <a:spcAft>
                <a:spcPts val="0"/>
              </a:spcAft>
            </a:pPr>
            <a:r>
              <a:rPr sz="960" b="1">
                <a:solidFill>
                  <a:srgbClr val="161623"/>
                </a:solidFill>
                <a:latin typeface="Arial"/>
              </a:rPr>
              <a:t>Partners Group</a:t>
            </a:r>
          </a:p>
        </p:txBody>
      </p:sp>
      <p:sp>
        <p:nvSpPr>
          <p:cNvPr id="960" name="Icon Accent"/>
          <p:cNvSpPr/>
          <p:nvPr/>
        </p:nvSpPr>
        <p:spPr>
          <a:xfrm>
            <a:off x="11100000" y="182880"/>
            <a:ext cx="347472" cy="347472"/>
          </a:xfrm>
          <a:custGeom>
            <a:avLst/>
            <a:gdLst/>
            <a:ahLst/>
            <a:cxnLst/>
            <a:rect l="0" t="0" r="r" b="b"/>
            <a:pathLst>
              <a:path w="100" h="100">
                <a:moveTo>
                  <a:pt x="50" y="12"/>
                </a:moveTo>
                <a:arcTo wR="38" hR="38" stAng="16200000" swAng="21600000"/>
              </a:path>
              <a:path w="100" h="100">
                <a:moveTo>
                  <a:pt x="50" y="32"/>
                </a:moveTo>
                <a:arcTo wR="18" hR="18" stAng="16200000" swAng="21600000"/>
              </a:path>
              <a:path w="100" h="100">
                <a:moveTo>
                  <a:pt x="50" y="46"/>
                </a:moveTo>
                <a:lnTo>
                  <a:pt x="50" y="54"/>
                </a:lnTo>
              </a:path>
              <a:path w="100" h="100">
                <a:moveTo>
                  <a:pt x="46" y="50"/>
                </a:moveTo>
                <a:lnTo>
                  <a:pt x="54" y="50"/>
                </a:lnTo>
              </a:path>
            </a:pathLst>
          </a:custGeom>
          <a:noFill/>
          <a:ln w="19050" cap="rnd">
            <a:solidFill>
              <a:srgbClr val="FA500E"/>
            </a:solidFill>
            <a:round/>
          </a:ln>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2" name="Rectangle 1"/>
          <p:cNvSpPr/>
          <p:nvPr/>
        </p:nvSpPr>
        <p:spPr>
          <a:xfrm>
            <a:off x="609904" y="267004"/>
            <a:ext cx="75895" cy="74249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1658600" y="182880"/>
            <a:ext cx="347472" cy="347472"/>
          </a:xfrm>
          <a:prstGeom prst="rect">
            <a:avLst/>
          </a:prstGeom>
        </p:spPr>
      </p:pic>
      <p:sp>
        <p:nvSpPr>
          <p:cNvPr id="8" name="Rectangle 7"/>
          <p:cNvSpPr/>
          <p:nvPr/>
        </p:nvSpPr>
        <p:spPr>
          <a:xfrm>
            <a:off x="612648" y="6556248"/>
            <a:ext cx="10972800" cy="9144"/>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 y="6620256"/>
            <a:ext cx="4005072" cy="149961"/>
          </a:xfrm>
          <a:prstGeom prst="rect">
            <a:avLst/>
          </a:prstGeom>
          <a:noFill/>
        </p:spPr>
        <p:txBody>
          <a:bodyPr wrap="square" lIns="0" tIns="0" rIns="0" bIns="0" anchor="ctr">
            <a:spAutoFit/>
          </a:bodyPr>
          <a:lstStyle/>
          <a:p>
            <a:pPr algn="l"/>
            <a:r>
              <a:rPr lang="en-US" sz="1200" b="0" i="0">
                <a:solidFill>
                  <a:srgbClr val="5A554B"/>
                </a:solidFill>
                <a:latin typeface="Arial"/>
              </a:rPr>
              <a:t>SHIV  ·  PMM CANDIDATE  ·  18 AUG 2026</a:t>
            </a:r>
          </a:p>
        </p:txBody>
      </p:sp>
      <p:sp>
        <p:nvSpPr>
          <p:cNvPr id="10" name="TextBox 9"/>
          <p:cNvSpPr txBox="1"/>
          <p:nvPr/>
        </p:nvSpPr>
        <p:spPr>
          <a:xfrm>
            <a:off x="11237976" y="6602904"/>
            <a:ext cx="347472" cy="184666"/>
          </a:xfrm>
          <a:prstGeom prst="rect">
            <a:avLst/>
          </a:prstGeom>
          <a:noFill/>
        </p:spPr>
        <p:txBody>
          <a:bodyPr wrap="square" lIns="0" tIns="0" rIns="0" bIns="0" anchor="ctr">
            <a:spAutoFit/>
          </a:bodyPr>
          <a:lstStyle/>
          <a:p>
            <a:pPr algn="r"/>
            <a:r>
              <a:rPr lang="en-US" sz="1200" b="0" i="0">
                <a:solidFill>
                  <a:srgbClr val="5A554B"/>
                </a:solidFill>
                <a:latin typeface="Arial"/>
              </a:rPr>
              <a:t>6</a:t>
            </a:r>
          </a:p>
        </p:txBody>
      </p:sp>
      <p:sp>
        <p:nvSpPr>
          <p:cNvPr id="101" name="TextBox 101"/>
          <p:cNvSpPr txBox="1"/>
          <p:nvPr/>
        </p:nvSpPr>
        <p:spPr>
          <a:xfrm>
            <a:off x="841248" y="54864"/>
            <a:ext cx="7955279" cy="201168"/>
          </a:xfrm>
          <a:prstGeom prst="rect">
            <a:avLst/>
          </a:prstGeom>
          <a:noFill/>
        </p:spPr>
        <p:txBody>
          <a:bodyPr wrap="square" lIns="0" tIns="0" rIns="0" bIns="0" anchor="ctr">
            <a:noAutofit/>
          </a:bodyPr>
          <a:lstStyle/>
          <a:p>
            <a:pPr algn="l">
              <a:lnSpc>
                <a:spcPct val="100000"/>
              </a:lnSpc>
              <a:spcBef>
                <a:spcPts val="0"/>
              </a:spcBef>
            </a:pPr>
            <a:r>
              <a:rPr lang="en-US" sz="1200" b="1" i="0">
                <a:solidFill>
                  <a:srgbClr val="FA500E"/>
                </a:solidFill>
                <a:latin typeface="Arial"/>
              </a:rPr>
              <a:t>ADJACENT INDUSTRIES · SCALE BEYOND FSI</a:t>
            </a:r>
          </a:p>
        </p:txBody>
      </p:sp>
      <p:sp>
        <p:nvSpPr>
          <p:cNvPr id="102" name="TextBox 102"/>
          <p:cNvSpPr txBox="1"/>
          <p:nvPr/>
        </p:nvSpPr>
        <p:spPr>
          <a:xfrm>
            <a:off x="841248" y="274320"/>
            <a:ext cx="10469880" cy="502920"/>
          </a:xfrm>
          <a:prstGeom prst="rect">
            <a:avLst/>
          </a:prstGeom>
          <a:noFill/>
        </p:spPr>
        <p:txBody>
          <a:bodyPr wrap="square" lIns="0" tIns="0" rIns="0" bIns="0" anchor="t">
            <a:noAutofit/>
          </a:bodyPr>
          <a:lstStyle/>
          <a:p>
            <a:pPr algn="l">
              <a:lnSpc>
                <a:spcPct val="100000"/>
              </a:lnSpc>
              <a:spcBef>
                <a:spcPts val="0"/>
              </a:spcBef>
            </a:pPr>
            <a:r>
              <a:rPr lang="en-US" sz="2400" b="1" i="0">
                <a:solidFill>
                  <a:srgbClr val="161623"/>
                </a:solidFill>
                <a:latin typeface="Tiny5"/>
              </a:rPr>
              <a:t>ONE OPERATING MODEL. FOUR UNITS OF SCALE.</a:t>
            </a:r>
          </a:p>
        </p:txBody>
      </p:sp>
      <p:sp>
        <p:nvSpPr>
          <p:cNvPr id="103" name="TextBox 103"/>
          <p:cNvSpPr txBox="1"/>
          <p:nvPr/>
        </p:nvSpPr>
        <p:spPr>
          <a:xfrm>
            <a:off x="841248" y="800100"/>
            <a:ext cx="10469880" cy="240000"/>
          </a:xfrm>
          <a:prstGeom prst="rect">
            <a:avLst/>
          </a:prstGeom>
          <a:noFill/>
        </p:spPr>
        <p:txBody>
          <a:bodyPr wrap="square" lIns="0" tIns="0" rIns="0" bIns="0" anchor="t">
            <a:noAutofit/>
          </a:bodyPr>
          <a:lstStyle/>
          <a:p>
            <a:pPr algn="l">
              <a:lnSpc>
                <a:spcPct val="100000"/>
              </a:lnSpc>
              <a:spcBef>
                <a:spcPts val="0"/>
              </a:spcBef>
            </a:pPr>
            <a:r>
              <a:rPr lang="en-US" sz="1100" b="0" i="0">
                <a:solidFill>
                  <a:srgbClr val="5A554B"/>
                </a:solidFill>
                <a:latin typeface="Arial"/>
              </a:rPr>
              <a:t>Define what repeats before you build the play — site, workflow, mission or owned core.</a:t>
            </a:r>
          </a:p>
        </p:txBody>
      </p:sp>
      <p:sp>
        <p:nvSpPr>
          <p:cNvPr id="104" name="Rectangle 104"/>
          <p:cNvSpPr/>
          <p:nvPr/>
        </p:nvSpPr>
        <p:spPr>
          <a:xfrm>
            <a:off x="612648" y="1180000"/>
            <a:ext cx="2606040" cy="4180000"/>
          </a:xfrm>
          <a:prstGeom prst="rect">
            <a:avLst/>
          </a:prstGeom>
          <a:solidFill>
            <a:srgbClr val="FFFFFF"/>
          </a:solidFill>
          <a:ln>
            <a:noFill/>
          </a:ln>
        </p:spPr>
        <p:txBody>
          <a:bodyPr rtlCol="0" anchor="ctr"/>
          <a:lstStyle/>
          <a:p>
            <a:pPr algn="ctr"/>
            <a:endParaRPr/>
          </a:p>
        </p:txBody>
      </p:sp>
      <p:sp>
        <p:nvSpPr>
          <p:cNvPr id="105" name="Rectangle 105"/>
          <p:cNvSpPr/>
          <p:nvPr/>
        </p:nvSpPr>
        <p:spPr>
          <a:xfrm>
            <a:off x="612648" y="1180000"/>
            <a:ext cx="2606040" cy="45720"/>
          </a:xfrm>
          <a:prstGeom prst="rect">
            <a:avLst/>
          </a:prstGeom>
          <a:solidFill>
            <a:srgbClr val="FA500E"/>
          </a:solidFill>
          <a:ln>
            <a:noFill/>
          </a:ln>
        </p:spPr>
        <p:txBody>
          <a:bodyPr rtlCol="0" anchor="ctr"/>
          <a:lstStyle/>
          <a:p>
            <a:pPr algn="ctr"/>
            <a:endParaRPr/>
          </a:p>
        </p:txBody>
      </p:sp>
      <p:sp>
        <p:nvSpPr>
          <p:cNvPr id="106" name="TextBox 106"/>
          <p:cNvSpPr txBox="1"/>
          <p:nvPr/>
        </p:nvSpPr>
        <p:spPr>
          <a:xfrm>
            <a:off x="812648" y="1410000"/>
            <a:ext cx="2206040" cy="200000"/>
          </a:xfrm>
          <a:prstGeom prst="rect">
            <a:avLst/>
          </a:prstGeom>
          <a:noFill/>
        </p:spPr>
        <p:txBody>
          <a:bodyPr wrap="square" lIns="0" tIns="0" rIns="0" bIns="0" anchor="t">
            <a:noAutofit/>
          </a:bodyPr>
          <a:lstStyle/>
          <a:p>
            <a:pPr algn="l">
              <a:lnSpc>
                <a:spcPct val="100000"/>
              </a:lnSpc>
              <a:spcBef>
                <a:spcPts val="0"/>
              </a:spcBef>
            </a:pPr>
            <a:r>
              <a:rPr lang="en-US" sz="1000" b="1" i="0">
                <a:solidFill>
                  <a:srgbClr val="FA500E"/>
                </a:solidFill>
                <a:latin typeface="Arial"/>
              </a:rPr>
              <a:t>01</a:t>
            </a:r>
          </a:p>
        </p:txBody>
      </p:sp>
      <p:sp>
        <p:nvSpPr>
          <p:cNvPr id="107" name="TextBox 107"/>
          <p:cNvSpPr txBox="1"/>
          <p:nvPr/>
        </p:nvSpPr>
        <p:spPr>
          <a:xfrm>
            <a:off x="812648" y="1640000"/>
            <a:ext cx="2206040" cy="400000"/>
          </a:xfrm>
          <a:prstGeom prst="rect">
            <a:avLst/>
          </a:prstGeom>
          <a:noFill/>
        </p:spPr>
        <p:txBody>
          <a:bodyPr wrap="square" lIns="0" tIns="0" rIns="0" bIns="0" anchor="t">
            <a:noAutofit/>
          </a:bodyPr>
          <a:lstStyle/>
          <a:p>
            <a:pPr algn="l">
              <a:lnSpc>
                <a:spcPct val="100000"/>
              </a:lnSpc>
              <a:spcBef>
                <a:spcPts val="0"/>
              </a:spcBef>
            </a:pPr>
            <a:r>
              <a:rPr lang="en-US" sz="1400" b="1" i="0">
                <a:solidFill>
                  <a:srgbClr val="161623"/>
                </a:solidFill>
                <a:latin typeface="Tiny5"/>
              </a:rPr>
              <a:t>MANUFACTURING</a:t>
            </a:r>
          </a:p>
        </p:txBody>
      </p:sp>
      <p:sp>
        <p:nvSpPr>
          <p:cNvPr id="108" name="TextBox 108"/>
          <p:cNvSpPr txBox="1"/>
          <p:nvPr/>
        </p:nvSpPr>
        <p:spPr>
          <a:xfrm>
            <a:off x="812648" y="2070000"/>
            <a:ext cx="2206040" cy="20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TARGET · BOSCH</a:t>
            </a:r>
          </a:p>
        </p:txBody>
      </p:sp>
      <p:sp>
        <p:nvSpPr>
          <p:cNvPr id="109" name="Rectangle 109"/>
          <p:cNvSpPr/>
          <p:nvPr/>
        </p:nvSpPr>
        <p:spPr>
          <a:xfrm>
            <a:off x="812648" y="2340000"/>
            <a:ext cx="2206040" cy="9144"/>
          </a:xfrm>
          <a:prstGeom prst="rect">
            <a:avLst/>
          </a:prstGeom>
          <a:solidFill>
            <a:srgbClr val="E8CBBE"/>
          </a:solidFill>
          <a:ln>
            <a:noFill/>
          </a:ln>
        </p:spPr>
        <p:txBody>
          <a:bodyPr rtlCol="0" anchor="ctr"/>
          <a:lstStyle/>
          <a:p>
            <a:pPr algn="ctr"/>
            <a:endParaRPr/>
          </a:p>
        </p:txBody>
      </p:sp>
      <p:sp>
        <p:nvSpPr>
          <p:cNvPr id="110" name="TextBox 110"/>
          <p:cNvSpPr txBox="1"/>
          <p:nvPr/>
        </p:nvSpPr>
        <p:spPr>
          <a:xfrm>
            <a:off x="812648" y="2440000"/>
            <a:ext cx="2206040" cy="18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UNIT OF SCALE</a:t>
            </a:r>
          </a:p>
        </p:txBody>
      </p:sp>
      <p:sp>
        <p:nvSpPr>
          <p:cNvPr id="111" name="TextBox 111"/>
          <p:cNvSpPr txBox="1"/>
          <p:nvPr/>
        </p:nvSpPr>
        <p:spPr>
          <a:xfrm>
            <a:off x="812648" y="2640000"/>
            <a:ext cx="2206040" cy="340000"/>
          </a:xfrm>
          <a:prstGeom prst="rect">
            <a:avLst/>
          </a:prstGeom>
          <a:noFill/>
        </p:spPr>
        <p:txBody>
          <a:bodyPr wrap="square" lIns="0" tIns="0" rIns="0" bIns="0" anchor="t">
            <a:noAutofit/>
          </a:bodyPr>
          <a:lstStyle/>
          <a:p>
            <a:pPr algn="l">
              <a:lnSpc>
                <a:spcPct val="100000"/>
              </a:lnSpc>
              <a:spcBef>
                <a:spcPts val="0"/>
              </a:spcBef>
            </a:pPr>
            <a:r>
              <a:rPr lang="en-US" sz="1600" b="1" i="0">
                <a:solidFill>
                  <a:srgbClr val="161623"/>
                </a:solidFill>
                <a:latin typeface="Tiny5"/>
              </a:rPr>
              <a:t>SITE</a:t>
            </a:r>
          </a:p>
        </p:txBody>
      </p:sp>
      <p:sp>
        <p:nvSpPr>
          <p:cNvPr id="112" name="Rectangle 112"/>
          <p:cNvSpPr/>
          <p:nvPr/>
        </p:nvSpPr>
        <p:spPr>
          <a:xfrm>
            <a:off x="812648" y="3090000"/>
            <a:ext cx="2206040" cy="270000"/>
          </a:xfrm>
          <a:prstGeom prst="rect">
            <a:avLst/>
          </a:prstGeom>
          <a:solidFill>
            <a:srgbClr val="FFF8F2"/>
          </a:solidFill>
          <a:ln>
            <a:noFill/>
          </a:ln>
        </p:spPr>
        <p:txBody>
          <a:bodyPr rtlCol="0" anchor="ctr"/>
          <a:lstStyle/>
          <a:p>
            <a:pPr algn="ctr"/>
            <a:endParaRPr/>
          </a:p>
        </p:txBody>
      </p:sp>
      <p:sp>
        <p:nvSpPr>
          <p:cNvPr id="113" name="TextBox 113"/>
          <p:cNvSpPr txBox="1"/>
          <p:nvPr/>
        </p:nvSpPr>
        <p:spPr>
          <a:xfrm>
            <a:off x="902648" y="309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1  PLANT WIN</a:t>
            </a:r>
          </a:p>
        </p:txBody>
      </p:sp>
      <p:sp>
        <p:nvSpPr>
          <p:cNvPr id="114" name="Rectangle 114"/>
          <p:cNvSpPr/>
          <p:nvPr/>
        </p:nvSpPr>
        <p:spPr>
          <a:xfrm>
            <a:off x="812648" y="3420000"/>
            <a:ext cx="2206040" cy="270000"/>
          </a:xfrm>
          <a:prstGeom prst="rect">
            <a:avLst/>
          </a:prstGeom>
          <a:solidFill>
            <a:srgbClr val="FFF8F2"/>
          </a:solidFill>
          <a:ln>
            <a:noFill/>
          </a:ln>
        </p:spPr>
        <p:txBody>
          <a:bodyPr rtlCol="0" anchor="ctr"/>
          <a:lstStyle/>
          <a:p>
            <a:pPr algn="ctr"/>
            <a:endParaRPr/>
          </a:p>
        </p:txBody>
      </p:sp>
      <p:sp>
        <p:nvSpPr>
          <p:cNvPr id="115" name="TextBox 115"/>
          <p:cNvSpPr txBox="1"/>
          <p:nvPr/>
        </p:nvSpPr>
        <p:spPr>
          <a:xfrm>
            <a:off x="902648" y="342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2  ROLLOUT KIT</a:t>
            </a:r>
          </a:p>
        </p:txBody>
      </p:sp>
      <p:sp>
        <p:nvSpPr>
          <p:cNvPr id="116" name="Rectangle 116"/>
          <p:cNvSpPr/>
          <p:nvPr/>
        </p:nvSpPr>
        <p:spPr>
          <a:xfrm>
            <a:off x="812648" y="3750000"/>
            <a:ext cx="2206040" cy="270000"/>
          </a:xfrm>
          <a:prstGeom prst="rect">
            <a:avLst/>
          </a:prstGeom>
          <a:solidFill>
            <a:srgbClr val="FFF8F2"/>
          </a:solidFill>
          <a:ln>
            <a:noFill/>
          </a:ln>
        </p:spPr>
        <p:txBody>
          <a:bodyPr rtlCol="0" anchor="ctr"/>
          <a:lstStyle/>
          <a:p>
            <a:pPr algn="ctr"/>
            <a:endParaRPr/>
          </a:p>
        </p:txBody>
      </p:sp>
      <p:sp>
        <p:nvSpPr>
          <p:cNvPr id="117" name="TextBox 117"/>
          <p:cNvSpPr txBox="1"/>
          <p:nvPr/>
        </p:nvSpPr>
        <p:spPr>
          <a:xfrm>
            <a:off x="902648" y="375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3  NETWORK</a:t>
            </a:r>
          </a:p>
        </p:txBody>
      </p:sp>
      <p:sp>
        <p:nvSpPr>
          <p:cNvPr id="118" name="TextBox 118"/>
          <p:cNvSpPr txBox="1"/>
          <p:nvPr/>
        </p:nvSpPr>
        <p:spPr>
          <a:xfrm>
            <a:off x="812648" y="420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BUYER</a:t>
            </a:r>
          </a:p>
        </p:txBody>
      </p:sp>
      <p:sp>
        <p:nvSpPr>
          <p:cNvPr id="119" name="TextBox 119"/>
          <p:cNvSpPr txBox="1"/>
          <p:nvPr/>
        </p:nvSpPr>
        <p:spPr>
          <a:xfrm>
            <a:off x="812648" y="438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CDO / Transformation lead</a:t>
            </a:r>
          </a:p>
        </p:txBody>
      </p:sp>
      <p:sp>
        <p:nvSpPr>
          <p:cNvPr id="120" name="TextBox 120"/>
          <p:cNvSpPr txBox="1"/>
          <p:nvPr/>
        </p:nvSpPr>
        <p:spPr>
          <a:xfrm>
            <a:off x="812648" y="476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WORKFLOW</a:t>
            </a:r>
          </a:p>
        </p:txBody>
      </p:sp>
      <p:sp>
        <p:nvSpPr>
          <p:cNvPr id="121" name="TextBox 121"/>
          <p:cNvSpPr txBox="1"/>
          <p:nvPr/>
        </p:nvSpPr>
        <p:spPr>
          <a:xfrm>
            <a:off x="812648" y="494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Fault diagnosis / RCA</a:t>
            </a:r>
          </a:p>
        </p:txBody>
      </p:sp>
      <p:sp>
        <p:nvSpPr>
          <p:cNvPr id="122" name="TextBox 122"/>
          <p:cNvSpPr txBox="1"/>
          <p:nvPr/>
        </p:nvSpPr>
        <p:spPr>
          <a:xfrm>
            <a:off x="812648" y="532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ENABLEMENT</a:t>
            </a:r>
          </a:p>
        </p:txBody>
      </p:sp>
      <p:sp>
        <p:nvSpPr>
          <p:cNvPr id="123" name="TextBox 123"/>
          <p:cNvSpPr txBox="1"/>
          <p:nvPr/>
        </p:nvSpPr>
        <p:spPr>
          <a:xfrm>
            <a:off x="812648" y="550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ICP · architecture · ROI · rollout kit</a:t>
            </a:r>
          </a:p>
        </p:txBody>
      </p:sp>
      <p:sp>
        <p:nvSpPr>
          <p:cNvPr id="124" name="Rectangle 124"/>
          <p:cNvSpPr/>
          <p:nvPr/>
        </p:nvSpPr>
        <p:spPr>
          <a:xfrm>
            <a:off x="3401568" y="1180000"/>
            <a:ext cx="2606040" cy="4180000"/>
          </a:xfrm>
          <a:prstGeom prst="rect">
            <a:avLst/>
          </a:prstGeom>
          <a:solidFill>
            <a:srgbClr val="FFFFFF"/>
          </a:solidFill>
          <a:ln>
            <a:noFill/>
          </a:ln>
        </p:spPr>
        <p:txBody>
          <a:bodyPr rtlCol="0" anchor="ctr"/>
          <a:lstStyle/>
          <a:p>
            <a:pPr algn="ctr"/>
            <a:endParaRPr/>
          </a:p>
        </p:txBody>
      </p:sp>
      <p:sp>
        <p:nvSpPr>
          <p:cNvPr id="125" name="Rectangle 125"/>
          <p:cNvSpPr/>
          <p:nvPr/>
        </p:nvSpPr>
        <p:spPr>
          <a:xfrm>
            <a:off x="3401568" y="1180000"/>
            <a:ext cx="2606040" cy="45720"/>
          </a:xfrm>
          <a:prstGeom prst="rect">
            <a:avLst/>
          </a:prstGeom>
          <a:solidFill>
            <a:srgbClr val="FA500E"/>
          </a:solidFill>
          <a:ln>
            <a:noFill/>
          </a:ln>
        </p:spPr>
        <p:txBody>
          <a:bodyPr rtlCol="0" anchor="ctr"/>
          <a:lstStyle/>
          <a:p>
            <a:pPr algn="ctr"/>
            <a:endParaRPr/>
          </a:p>
        </p:txBody>
      </p:sp>
      <p:sp>
        <p:nvSpPr>
          <p:cNvPr id="126" name="TextBox 126"/>
          <p:cNvSpPr txBox="1"/>
          <p:nvPr/>
        </p:nvSpPr>
        <p:spPr>
          <a:xfrm>
            <a:off x="3601568" y="1410000"/>
            <a:ext cx="2206040" cy="200000"/>
          </a:xfrm>
          <a:prstGeom prst="rect">
            <a:avLst/>
          </a:prstGeom>
          <a:noFill/>
        </p:spPr>
        <p:txBody>
          <a:bodyPr wrap="square" lIns="0" tIns="0" rIns="0" bIns="0" anchor="t">
            <a:noAutofit/>
          </a:bodyPr>
          <a:lstStyle/>
          <a:p>
            <a:pPr algn="l">
              <a:lnSpc>
                <a:spcPct val="100000"/>
              </a:lnSpc>
              <a:spcBef>
                <a:spcPts val="0"/>
              </a:spcBef>
            </a:pPr>
            <a:r>
              <a:rPr lang="en-US" sz="1000" b="1" i="0">
                <a:solidFill>
                  <a:srgbClr val="FA500E"/>
                </a:solidFill>
                <a:latin typeface="Arial"/>
              </a:rPr>
              <a:t>02</a:t>
            </a:r>
          </a:p>
        </p:txBody>
      </p:sp>
      <p:sp>
        <p:nvSpPr>
          <p:cNvPr id="127" name="TextBox 127"/>
          <p:cNvSpPr txBox="1"/>
          <p:nvPr/>
        </p:nvSpPr>
        <p:spPr>
          <a:xfrm>
            <a:off x="3601568" y="1640000"/>
            <a:ext cx="2206040" cy="400000"/>
          </a:xfrm>
          <a:prstGeom prst="rect">
            <a:avLst/>
          </a:prstGeom>
          <a:noFill/>
        </p:spPr>
        <p:txBody>
          <a:bodyPr wrap="square" lIns="0" tIns="0" rIns="0" bIns="0" anchor="t">
            <a:noAutofit/>
          </a:bodyPr>
          <a:lstStyle/>
          <a:p>
            <a:pPr algn="l">
              <a:lnSpc>
                <a:spcPct val="100000"/>
              </a:lnSpc>
              <a:spcBef>
                <a:spcPts val="0"/>
              </a:spcBef>
            </a:pPr>
            <a:r>
              <a:rPr lang="en-US" sz="1400" b="1" i="0">
                <a:solidFill>
                  <a:srgbClr val="161623"/>
                </a:solidFill>
                <a:latin typeface="Tiny5"/>
              </a:rPr>
              <a:t>ENERGY</a:t>
            </a:r>
          </a:p>
        </p:txBody>
      </p:sp>
      <p:sp>
        <p:nvSpPr>
          <p:cNvPr id="128" name="TextBox 128"/>
          <p:cNvSpPr txBox="1"/>
          <p:nvPr/>
        </p:nvSpPr>
        <p:spPr>
          <a:xfrm>
            <a:off x="3601568" y="2070000"/>
            <a:ext cx="2206040" cy="20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TARGET · RWE</a:t>
            </a:r>
          </a:p>
        </p:txBody>
      </p:sp>
      <p:sp>
        <p:nvSpPr>
          <p:cNvPr id="129" name="Rectangle 129"/>
          <p:cNvSpPr/>
          <p:nvPr/>
        </p:nvSpPr>
        <p:spPr>
          <a:xfrm>
            <a:off x="3601568" y="2340000"/>
            <a:ext cx="2206040" cy="9144"/>
          </a:xfrm>
          <a:prstGeom prst="rect">
            <a:avLst/>
          </a:prstGeom>
          <a:solidFill>
            <a:srgbClr val="E8CBBE"/>
          </a:solidFill>
          <a:ln>
            <a:noFill/>
          </a:ln>
        </p:spPr>
        <p:txBody>
          <a:bodyPr rtlCol="0" anchor="ctr"/>
          <a:lstStyle/>
          <a:p>
            <a:pPr algn="ctr"/>
            <a:endParaRPr/>
          </a:p>
        </p:txBody>
      </p:sp>
      <p:sp>
        <p:nvSpPr>
          <p:cNvPr id="130" name="TextBox 130"/>
          <p:cNvSpPr txBox="1"/>
          <p:nvPr/>
        </p:nvSpPr>
        <p:spPr>
          <a:xfrm>
            <a:off x="3601568" y="2440000"/>
            <a:ext cx="2206040" cy="18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UNIT OF SCALE</a:t>
            </a:r>
          </a:p>
        </p:txBody>
      </p:sp>
      <p:sp>
        <p:nvSpPr>
          <p:cNvPr id="131" name="TextBox 131"/>
          <p:cNvSpPr txBox="1"/>
          <p:nvPr/>
        </p:nvSpPr>
        <p:spPr>
          <a:xfrm>
            <a:off x="3601568" y="2640000"/>
            <a:ext cx="2206040" cy="340000"/>
          </a:xfrm>
          <a:prstGeom prst="rect">
            <a:avLst/>
          </a:prstGeom>
          <a:noFill/>
        </p:spPr>
        <p:txBody>
          <a:bodyPr wrap="square" lIns="0" tIns="0" rIns="0" bIns="0" anchor="t">
            <a:noAutofit/>
          </a:bodyPr>
          <a:lstStyle/>
          <a:p>
            <a:pPr algn="l">
              <a:lnSpc>
                <a:spcPct val="100000"/>
              </a:lnSpc>
              <a:spcBef>
                <a:spcPts val="0"/>
              </a:spcBef>
            </a:pPr>
            <a:r>
              <a:rPr lang="en-US" sz="1600" b="1" i="0">
                <a:solidFill>
                  <a:srgbClr val="161623"/>
                </a:solidFill>
                <a:latin typeface="Tiny5"/>
              </a:rPr>
              <a:t>WORKFLOW</a:t>
            </a:r>
          </a:p>
        </p:txBody>
      </p:sp>
      <p:sp>
        <p:nvSpPr>
          <p:cNvPr id="132" name="Rectangle 132"/>
          <p:cNvSpPr/>
          <p:nvPr/>
        </p:nvSpPr>
        <p:spPr>
          <a:xfrm>
            <a:off x="3601568" y="3090000"/>
            <a:ext cx="2206040" cy="270000"/>
          </a:xfrm>
          <a:prstGeom prst="rect">
            <a:avLst/>
          </a:prstGeom>
          <a:solidFill>
            <a:srgbClr val="FFF8F2"/>
          </a:solidFill>
          <a:ln>
            <a:noFill/>
          </a:ln>
        </p:spPr>
        <p:txBody>
          <a:bodyPr rtlCol="0" anchor="ctr"/>
          <a:lstStyle/>
          <a:p>
            <a:pPr algn="ctr"/>
            <a:endParaRPr/>
          </a:p>
        </p:txBody>
      </p:sp>
      <p:sp>
        <p:nvSpPr>
          <p:cNvPr id="133" name="TextBox 133"/>
          <p:cNvSpPr txBox="1"/>
          <p:nvPr/>
        </p:nvSpPr>
        <p:spPr>
          <a:xfrm>
            <a:off x="3691568" y="309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1  PROVE ONE</a:t>
            </a:r>
          </a:p>
        </p:txBody>
      </p:sp>
      <p:sp>
        <p:nvSpPr>
          <p:cNvPr id="134" name="Rectangle 134"/>
          <p:cNvSpPr/>
          <p:nvPr/>
        </p:nvSpPr>
        <p:spPr>
          <a:xfrm>
            <a:off x="3601568" y="3420000"/>
            <a:ext cx="2206040" cy="270000"/>
          </a:xfrm>
          <a:prstGeom prst="rect">
            <a:avLst/>
          </a:prstGeom>
          <a:solidFill>
            <a:srgbClr val="FFF8F2"/>
          </a:solidFill>
          <a:ln>
            <a:noFill/>
          </a:ln>
        </p:spPr>
        <p:txBody>
          <a:bodyPr rtlCol="0" anchor="ctr"/>
          <a:lstStyle/>
          <a:p>
            <a:pPr algn="ctr"/>
            <a:endParaRPr/>
          </a:p>
        </p:txBody>
      </p:sp>
      <p:sp>
        <p:nvSpPr>
          <p:cNvPr id="135" name="TextBox 135"/>
          <p:cNvSpPr txBox="1"/>
          <p:nvPr/>
        </p:nvSpPr>
        <p:spPr>
          <a:xfrm>
            <a:off x="3691568" y="342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2  ENERGY LAYER</a:t>
            </a:r>
          </a:p>
        </p:txBody>
      </p:sp>
      <p:sp>
        <p:nvSpPr>
          <p:cNvPr id="136" name="Rectangle 136"/>
          <p:cNvSpPr/>
          <p:nvPr/>
        </p:nvSpPr>
        <p:spPr>
          <a:xfrm>
            <a:off x="3601568" y="3750000"/>
            <a:ext cx="2206040" cy="270000"/>
          </a:xfrm>
          <a:prstGeom prst="rect">
            <a:avLst/>
          </a:prstGeom>
          <a:solidFill>
            <a:srgbClr val="FFF8F2"/>
          </a:solidFill>
          <a:ln>
            <a:noFill/>
          </a:ln>
        </p:spPr>
        <p:txBody>
          <a:bodyPr rtlCol="0" anchor="ctr"/>
          <a:lstStyle/>
          <a:p>
            <a:pPr algn="ctr"/>
            <a:endParaRPr/>
          </a:p>
        </p:txBody>
      </p:sp>
      <p:sp>
        <p:nvSpPr>
          <p:cNvPr id="137" name="TextBox 137"/>
          <p:cNvSpPr txBox="1"/>
          <p:nvPr/>
        </p:nvSpPr>
        <p:spPr>
          <a:xfrm>
            <a:off x="3691568" y="375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3  REUSE MANY</a:t>
            </a:r>
          </a:p>
        </p:txBody>
      </p:sp>
      <p:sp>
        <p:nvSpPr>
          <p:cNvPr id="138" name="TextBox 138"/>
          <p:cNvSpPr txBox="1"/>
          <p:nvPr/>
        </p:nvSpPr>
        <p:spPr>
          <a:xfrm>
            <a:off x="3601568" y="420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BUYER</a:t>
            </a:r>
          </a:p>
        </p:txBody>
      </p:sp>
      <p:sp>
        <p:nvSpPr>
          <p:cNvPr id="139" name="TextBox 139"/>
          <p:cNvSpPr txBox="1"/>
          <p:nvPr/>
        </p:nvSpPr>
        <p:spPr>
          <a:xfrm>
            <a:off x="3601568" y="438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VP, AI transformation</a:t>
            </a:r>
          </a:p>
        </p:txBody>
      </p:sp>
      <p:sp>
        <p:nvSpPr>
          <p:cNvPr id="140" name="TextBox 140"/>
          <p:cNvSpPr txBox="1"/>
          <p:nvPr/>
        </p:nvSpPr>
        <p:spPr>
          <a:xfrm>
            <a:off x="3601568" y="476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WORKFLOW</a:t>
            </a:r>
          </a:p>
        </p:txBody>
      </p:sp>
      <p:sp>
        <p:nvSpPr>
          <p:cNvPr id="141" name="TextBox 141"/>
          <p:cNvSpPr txBox="1"/>
          <p:nvPr/>
        </p:nvSpPr>
        <p:spPr>
          <a:xfrm>
            <a:off x="3601568" y="494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Asset maintenance</a:t>
            </a:r>
          </a:p>
        </p:txBody>
      </p:sp>
      <p:sp>
        <p:nvSpPr>
          <p:cNvPr id="142" name="TextBox 142"/>
          <p:cNvSpPr txBox="1"/>
          <p:nvPr/>
        </p:nvSpPr>
        <p:spPr>
          <a:xfrm>
            <a:off x="3601568" y="532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ENABLEMENT</a:t>
            </a:r>
          </a:p>
        </p:txBody>
      </p:sp>
      <p:sp>
        <p:nvSpPr>
          <p:cNvPr id="143" name="TextBox 143"/>
          <p:cNvSpPr txBox="1"/>
          <p:nvPr/>
        </p:nvSpPr>
        <p:spPr>
          <a:xfrm>
            <a:off x="3601568" y="550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Business case · proof · adjacency</a:t>
            </a:r>
          </a:p>
        </p:txBody>
      </p:sp>
      <p:sp>
        <p:nvSpPr>
          <p:cNvPr id="144" name="Rectangle 144"/>
          <p:cNvSpPr/>
          <p:nvPr/>
        </p:nvSpPr>
        <p:spPr>
          <a:xfrm>
            <a:off x="6190488" y="1180000"/>
            <a:ext cx="2606040" cy="4180000"/>
          </a:xfrm>
          <a:prstGeom prst="rect">
            <a:avLst/>
          </a:prstGeom>
          <a:solidFill>
            <a:srgbClr val="FFFFFF"/>
          </a:solidFill>
          <a:ln>
            <a:noFill/>
          </a:ln>
        </p:spPr>
        <p:txBody>
          <a:bodyPr rtlCol="0" anchor="ctr"/>
          <a:lstStyle/>
          <a:p>
            <a:pPr algn="ctr"/>
            <a:endParaRPr/>
          </a:p>
        </p:txBody>
      </p:sp>
      <p:sp>
        <p:nvSpPr>
          <p:cNvPr id="145" name="Rectangle 145"/>
          <p:cNvSpPr/>
          <p:nvPr/>
        </p:nvSpPr>
        <p:spPr>
          <a:xfrm>
            <a:off x="6190488" y="1180000"/>
            <a:ext cx="2606040" cy="45720"/>
          </a:xfrm>
          <a:prstGeom prst="rect">
            <a:avLst/>
          </a:prstGeom>
          <a:solidFill>
            <a:srgbClr val="FA500E"/>
          </a:solidFill>
          <a:ln>
            <a:noFill/>
          </a:ln>
        </p:spPr>
        <p:txBody>
          <a:bodyPr rtlCol="0" anchor="ctr"/>
          <a:lstStyle/>
          <a:p>
            <a:pPr algn="ctr"/>
            <a:endParaRPr/>
          </a:p>
        </p:txBody>
      </p:sp>
      <p:sp>
        <p:nvSpPr>
          <p:cNvPr id="146" name="TextBox 146"/>
          <p:cNvSpPr txBox="1"/>
          <p:nvPr/>
        </p:nvSpPr>
        <p:spPr>
          <a:xfrm>
            <a:off x="6390488" y="1410000"/>
            <a:ext cx="2206040" cy="200000"/>
          </a:xfrm>
          <a:prstGeom prst="rect">
            <a:avLst/>
          </a:prstGeom>
          <a:noFill/>
        </p:spPr>
        <p:txBody>
          <a:bodyPr wrap="square" lIns="0" tIns="0" rIns="0" bIns="0" anchor="t">
            <a:noAutofit/>
          </a:bodyPr>
          <a:lstStyle/>
          <a:p>
            <a:pPr algn="l">
              <a:lnSpc>
                <a:spcPct val="100000"/>
              </a:lnSpc>
              <a:spcBef>
                <a:spcPts val="0"/>
              </a:spcBef>
            </a:pPr>
            <a:r>
              <a:rPr lang="en-US" sz="1000" b="1" i="0">
                <a:solidFill>
                  <a:srgbClr val="FA500E"/>
                </a:solidFill>
                <a:latin typeface="Arial"/>
              </a:rPr>
              <a:t>03</a:t>
            </a:r>
          </a:p>
        </p:txBody>
      </p:sp>
      <p:sp>
        <p:nvSpPr>
          <p:cNvPr id="147" name="TextBox 147"/>
          <p:cNvSpPr txBox="1"/>
          <p:nvPr/>
        </p:nvSpPr>
        <p:spPr>
          <a:xfrm>
            <a:off x="6390488" y="1640000"/>
            <a:ext cx="2206040" cy="400000"/>
          </a:xfrm>
          <a:prstGeom prst="rect">
            <a:avLst/>
          </a:prstGeom>
          <a:noFill/>
        </p:spPr>
        <p:txBody>
          <a:bodyPr wrap="square" lIns="0" tIns="0" rIns="0" bIns="0" anchor="t">
            <a:noAutofit/>
          </a:bodyPr>
          <a:lstStyle/>
          <a:p>
            <a:pPr algn="l">
              <a:lnSpc>
                <a:spcPct val="100000"/>
              </a:lnSpc>
              <a:spcBef>
                <a:spcPts val="0"/>
              </a:spcBef>
            </a:pPr>
            <a:r>
              <a:rPr lang="en-US" sz="1400" b="1" i="0">
                <a:solidFill>
                  <a:srgbClr val="161623"/>
                </a:solidFill>
                <a:latin typeface="Tiny5"/>
              </a:rPr>
              <a:t>PUBLIC SECTOR</a:t>
            </a:r>
          </a:p>
        </p:txBody>
      </p:sp>
      <p:sp>
        <p:nvSpPr>
          <p:cNvPr id="148" name="TextBox 148"/>
          <p:cNvSpPr txBox="1"/>
          <p:nvPr/>
        </p:nvSpPr>
        <p:spPr>
          <a:xfrm>
            <a:off x="6390488" y="2070000"/>
            <a:ext cx="2206040" cy="20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TARGET · ITALY</a:t>
            </a:r>
          </a:p>
        </p:txBody>
      </p:sp>
      <p:sp>
        <p:nvSpPr>
          <p:cNvPr id="149" name="Rectangle 149"/>
          <p:cNvSpPr/>
          <p:nvPr/>
        </p:nvSpPr>
        <p:spPr>
          <a:xfrm>
            <a:off x="6390488" y="2340000"/>
            <a:ext cx="2206040" cy="9144"/>
          </a:xfrm>
          <a:prstGeom prst="rect">
            <a:avLst/>
          </a:prstGeom>
          <a:solidFill>
            <a:srgbClr val="E8CBBE"/>
          </a:solidFill>
          <a:ln>
            <a:noFill/>
          </a:ln>
        </p:spPr>
        <p:txBody>
          <a:bodyPr rtlCol="0" anchor="ctr"/>
          <a:lstStyle/>
          <a:p>
            <a:pPr algn="ctr"/>
            <a:endParaRPr/>
          </a:p>
        </p:txBody>
      </p:sp>
      <p:sp>
        <p:nvSpPr>
          <p:cNvPr id="150" name="TextBox 150"/>
          <p:cNvSpPr txBox="1"/>
          <p:nvPr/>
        </p:nvSpPr>
        <p:spPr>
          <a:xfrm>
            <a:off x="6390488" y="2440000"/>
            <a:ext cx="2206040" cy="18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UNIT OF SCALE</a:t>
            </a:r>
          </a:p>
        </p:txBody>
      </p:sp>
      <p:sp>
        <p:nvSpPr>
          <p:cNvPr id="151" name="TextBox 151"/>
          <p:cNvSpPr txBox="1"/>
          <p:nvPr/>
        </p:nvSpPr>
        <p:spPr>
          <a:xfrm>
            <a:off x="6390488" y="2640000"/>
            <a:ext cx="2206040" cy="340000"/>
          </a:xfrm>
          <a:prstGeom prst="rect">
            <a:avLst/>
          </a:prstGeom>
          <a:noFill/>
        </p:spPr>
        <p:txBody>
          <a:bodyPr wrap="square" lIns="0" tIns="0" rIns="0" bIns="0" anchor="t">
            <a:noAutofit/>
          </a:bodyPr>
          <a:lstStyle/>
          <a:p>
            <a:pPr algn="l">
              <a:lnSpc>
                <a:spcPct val="100000"/>
              </a:lnSpc>
              <a:spcBef>
                <a:spcPts val="0"/>
              </a:spcBef>
            </a:pPr>
            <a:r>
              <a:rPr lang="en-US" sz="1600" b="1" i="0">
                <a:solidFill>
                  <a:srgbClr val="161623"/>
                </a:solidFill>
                <a:latin typeface="Tiny5"/>
              </a:rPr>
              <a:t>MISSION</a:t>
            </a:r>
          </a:p>
        </p:txBody>
      </p:sp>
      <p:sp>
        <p:nvSpPr>
          <p:cNvPr id="152" name="Rectangle 152"/>
          <p:cNvSpPr/>
          <p:nvPr/>
        </p:nvSpPr>
        <p:spPr>
          <a:xfrm>
            <a:off x="6390488" y="3090000"/>
            <a:ext cx="2206040" cy="270000"/>
          </a:xfrm>
          <a:prstGeom prst="rect">
            <a:avLst/>
          </a:prstGeom>
          <a:solidFill>
            <a:srgbClr val="FFF8F2"/>
          </a:solidFill>
          <a:ln>
            <a:noFill/>
          </a:ln>
        </p:spPr>
        <p:txBody>
          <a:bodyPr rtlCol="0" anchor="ctr"/>
          <a:lstStyle/>
          <a:p>
            <a:pPr algn="ctr"/>
            <a:endParaRPr/>
          </a:p>
        </p:txBody>
      </p:sp>
      <p:sp>
        <p:nvSpPr>
          <p:cNvPr id="153" name="TextBox 153"/>
          <p:cNvSpPr txBox="1"/>
          <p:nvPr/>
        </p:nvSpPr>
        <p:spPr>
          <a:xfrm>
            <a:off x="6480488" y="309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1  PILOT</a:t>
            </a:r>
          </a:p>
        </p:txBody>
      </p:sp>
      <p:sp>
        <p:nvSpPr>
          <p:cNvPr id="154" name="Rectangle 154"/>
          <p:cNvSpPr/>
          <p:nvPr/>
        </p:nvSpPr>
        <p:spPr>
          <a:xfrm>
            <a:off x="6390488" y="3420000"/>
            <a:ext cx="2206040" cy="270000"/>
          </a:xfrm>
          <a:prstGeom prst="rect">
            <a:avLst/>
          </a:prstGeom>
          <a:solidFill>
            <a:srgbClr val="FFF8F2"/>
          </a:solidFill>
          <a:ln>
            <a:noFill/>
          </a:ln>
        </p:spPr>
        <p:txBody>
          <a:bodyPr rtlCol="0" anchor="ctr"/>
          <a:lstStyle/>
          <a:p>
            <a:pPr algn="ctr"/>
            <a:endParaRPr/>
          </a:p>
        </p:txBody>
      </p:sp>
      <p:sp>
        <p:nvSpPr>
          <p:cNvPr id="155" name="TextBox 155"/>
          <p:cNvSpPr txBox="1"/>
          <p:nvPr/>
        </p:nvSpPr>
        <p:spPr>
          <a:xfrm>
            <a:off x="6480488" y="342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2  APPROVED</a:t>
            </a:r>
          </a:p>
        </p:txBody>
      </p:sp>
      <p:sp>
        <p:nvSpPr>
          <p:cNvPr id="156" name="Rectangle 156"/>
          <p:cNvSpPr/>
          <p:nvPr/>
        </p:nvSpPr>
        <p:spPr>
          <a:xfrm>
            <a:off x="6390488" y="3750000"/>
            <a:ext cx="2206040" cy="270000"/>
          </a:xfrm>
          <a:prstGeom prst="rect">
            <a:avLst/>
          </a:prstGeom>
          <a:solidFill>
            <a:srgbClr val="FFF8F2"/>
          </a:solidFill>
          <a:ln>
            <a:noFill/>
          </a:ln>
        </p:spPr>
        <p:txBody>
          <a:bodyPr rtlCol="0" anchor="ctr"/>
          <a:lstStyle/>
          <a:p>
            <a:pPr algn="ctr"/>
            <a:endParaRPr/>
          </a:p>
        </p:txBody>
      </p:sp>
      <p:sp>
        <p:nvSpPr>
          <p:cNvPr id="157" name="TextBox 157"/>
          <p:cNvSpPr txBox="1"/>
          <p:nvPr/>
        </p:nvSpPr>
        <p:spPr>
          <a:xfrm>
            <a:off x="6480488" y="375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3  AGENCIES</a:t>
            </a:r>
          </a:p>
        </p:txBody>
      </p:sp>
      <p:sp>
        <p:nvSpPr>
          <p:cNvPr id="158" name="TextBox 158"/>
          <p:cNvSpPr txBox="1"/>
          <p:nvPr/>
        </p:nvSpPr>
        <p:spPr>
          <a:xfrm>
            <a:off x="6390488" y="420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BUYER</a:t>
            </a:r>
          </a:p>
        </p:txBody>
      </p:sp>
      <p:sp>
        <p:nvSpPr>
          <p:cNvPr id="159" name="TextBox 159"/>
          <p:cNvSpPr txBox="1"/>
          <p:nvPr/>
        </p:nvSpPr>
        <p:spPr>
          <a:xfrm>
            <a:off x="6390488" y="438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National Digital / AI sponsor</a:t>
            </a:r>
          </a:p>
        </p:txBody>
      </p:sp>
      <p:sp>
        <p:nvSpPr>
          <p:cNvPr id="160" name="TextBox 160"/>
          <p:cNvSpPr txBox="1"/>
          <p:nvPr/>
        </p:nvSpPr>
        <p:spPr>
          <a:xfrm>
            <a:off x="6390488" y="476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WORKFLOW</a:t>
            </a:r>
          </a:p>
        </p:txBody>
      </p:sp>
      <p:sp>
        <p:nvSpPr>
          <p:cNvPr id="161" name="TextBox 161"/>
          <p:cNvSpPr txBox="1"/>
          <p:nvPr/>
        </p:nvSpPr>
        <p:spPr>
          <a:xfrm>
            <a:off x="6390488" y="494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Casework / regulation</a:t>
            </a:r>
          </a:p>
        </p:txBody>
      </p:sp>
      <p:sp>
        <p:nvSpPr>
          <p:cNvPr id="162" name="TextBox 162"/>
          <p:cNvSpPr txBox="1"/>
          <p:nvPr/>
        </p:nvSpPr>
        <p:spPr>
          <a:xfrm>
            <a:off x="6390488" y="532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ENABLEMENT</a:t>
            </a:r>
          </a:p>
        </p:txBody>
      </p:sp>
      <p:sp>
        <p:nvSpPr>
          <p:cNvPr id="163" name="TextBox 163"/>
          <p:cNvSpPr txBox="1"/>
          <p:nvPr/>
        </p:nvSpPr>
        <p:spPr>
          <a:xfrm>
            <a:off x="6390488" y="550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Compliance · evaluation · procurement</a:t>
            </a:r>
          </a:p>
        </p:txBody>
      </p:sp>
      <p:sp>
        <p:nvSpPr>
          <p:cNvPr id="164" name="Rectangle 164"/>
          <p:cNvSpPr/>
          <p:nvPr/>
        </p:nvSpPr>
        <p:spPr>
          <a:xfrm>
            <a:off x="8979408" y="1180000"/>
            <a:ext cx="2606040" cy="4180000"/>
          </a:xfrm>
          <a:prstGeom prst="rect">
            <a:avLst/>
          </a:prstGeom>
          <a:solidFill>
            <a:srgbClr val="FFFFFF"/>
          </a:solidFill>
          <a:ln>
            <a:noFill/>
          </a:ln>
        </p:spPr>
        <p:txBody>
          <a:bodyPr rtlCol="0" anchor="ctr"/>
          <a:lstStyle/>
          <a:p>
            <a:pPr algn="ctr"/>
            <a:endParaRPr/>
          </a:p>
        </p:txBody>
      </p:sp>
      <p:sp>
        <p:nvSpPr>
          <p:cNvPr id="165" name="Rectangle 165"/>
          <p:cNvSpPr/>
          <p:nvPr/>
        </p:nvSpPr>
        <p:spPr>
          <a:xfrm>
            <a:off x="8979408" y="1180000"/>
            <a:ext cx="2606040" cy="45720"/>
          </a:xfrm>
          <a:prstGeom prst="rect">
            <a:avLst/>
          </a:prstGeom>
          <a:solidFill>
            <a:srgbClr val="FA500E"/>
          </a:solidFill>
          <a:ln>
            <a:noFill/>
          </a:ln>
        </p:spPr>
        <p:txBody>
          <a:bodyPr rtlCol="0" anchor="ctr"/>
          <a:lstStyle/>
          <a:p>
            <a:pPr algn="ctr"/>
            <a:endParaRPr/>
          </a:p>
        </p:txBody>
      </p:sp>
      <p:sp>
        <p:nvSpPr>
          <p:cNvPr id="166" name="TextBox 166"/>
          <p:cNvSpPr txBox="1"/>
          <p:nvPr/>
        </p:nvSpPr>
        <p:spPr>
          <a:xfrm>
            <a:off x="9179408" y="1410000"/>
            <a:ext cx="2206040" cy="200000"/>
          </a:xfrm>
          <a:prstGeom prst="rect">
            <a:avLst/>
          </a:prstGeom>
          <a:noFill/>
        </p:spPr>
        <p:txBody>
          <a:bodyPr wrap="square" lIns="0" tIns="0" rIns="0" bIns="0" anchor="t">
            <a:noAutofit/>
          </a:bodyPr>
          <a:lstStyle/>
          <a:p>
            <a:pPr algn="l">
              <a:lnSpc>
                <a:spcPct val="100000"/>
              </a:lnSpc>
              <a:spcBef>
                <a:spcPts val="0"/>
              </a:spcBef>
            </a:pPr>
            <a:r>
              <a:rPr lang="en-US" sz="1000" b="1" i="0">
                <a:solidFill>
                  <a:srgbClr val="FA500E"/>
                </a:solidFill>
                <a:latin typeface="Arial"/>
              </a:rPr>
              <a:t>04</a:t>
            </a:r>
          </a:p>
        </p:txBody>
      </p:sp>
      <p:sp>
        <p:nvSpPr>
          <p:cNvPr id="167" name="TextBox 167"/>
          <p:cNvSpPr txBox="1"/>
          <p:nvPr/>
        </p:nvSpPr>
        <p:spPr>
          <a:xfrm>
            <a:off x="9179408" y="1640000"/>
            <a:ext cx="2206040" cy="400000"/>
          </a:xfrm>
          <a:prstGeom prst="rect">
            <a:avLst/>
          </a:prstGeom>
          <a:noFill/>
        </p:spPr>
        <p:txBody>
          <a:bodyPr wrap="square" lIns="0" tIns="0" rIns="0" bIns="0" anchor="t">
            <a:noAutofit/>
          </a:bodyPr>
          <a:lstStyle/>
          <a:p>
            <a:pPr algn="l">
              <a:lnSpc>
                <a:spcPct val="100000"/>
              </a:lnSpc>
              <a:spcBef>
                <a:spcPts val="0"/>
              </a:spcBef>
            </a:pPr>
            <a:r>
              <a:rPr lang="en-US" sz="1100" b="1" i="0">
                <a:solidFill>
                  <a:srgbClr val="161623"/>
                </a:solidFill>
                <a:latin typeface="Tiny5"/>
              </a:rPr>
              <a:t>DEFENSE &amp; SECURITY</a:t>
            </a:r>
          </a:p>
        </p:txBody>
      </p:sp>
      <p:sp>
        <p:nvSpPr>
          <p:cNvPr id="168" name="TextBox 168"/>
          <p:cNvSpPr txBox="1"/>
          <p:nvPr/>
        </p:nvSpPr>
        <p:spPr>
          <a:xfrm>
            <a:off x="9179408" y="2070000"/>
            <a:ext cx="2206040" cy="20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TARGET · CUSTOMER-OWNED</a:t>
            </a:r>
          </a:p>
        </p:txBody>
      </p:sp>
      <p:sp>
        <p:nvSpPr>
          <p:cNvPr id="169" name="Rectangle 169"/>
          <p:cNvSpPr/>
          <p:nvPr/>
        </p:nvSpPr>
        <p:spPr>
          <a:xfrm>
            <a:off x="9179408" y="2340000"/>
            <a:ext cx="2206040" cy="9144"/>
          </a:xfrm>
          <a:prstGeom prst="rect">
            <a:avLst/>
          </a:prstGeom>
          <a:solidFill>
            <a:srgbClr val="E8CBBE"/>
          </a:solidFill>
          <a:ln>
            <a:noFill/>
          </a:ln>
        </p:spPr>
        <p:txBody>
          <a:bodyPr rtlCol="0" anchor="ctr"/>
          <a:lstStyle/>
          <a:p>
            <a:pPr algn="ctr"/>
            <a:endParaRPr/>
          </a:p>
        </p:txBody>
      </p:sp>
      <p:sp>
        <p:nvSpPr>
          <p:cNvPr id="170" name="TextBox 170"/>
          <p:cNvSpPr txBox="1"/>
          <p:nvPr/>
        </p:nvSpPr>
        <p:spPr>
          <a:xfrm>
            <a:off x="9179408" y="2440000"/>
            <a:ext cx="2206040" cy="18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UNIT OF SCALE</a:t>
            </a:r>
          </a:p>
        </p:txBody>
      </p:sp>
      <p:sp>
        <p:nvSpPr>
          <p:cNvPr id="171" name="TextBox 171"/>
          <p:cNvSpPr txBox="1"/>
          <p:nvPr/>
        </p:nvSpPr>
        <p:spPr>
          <a:xfrm>
            <a:off x="9179408" y="2640000"/>
            <a:ext cx="2206040" cy="340000"/>
          </a:xfrm>
          <a:prstGeom prst="rect">
            <a:avLst/>
          </a:prstGeom>
          <a:noFill/>
        </p:spPr>
        <p:txBody>
          <a:bodyPr wrap="square" lIns="0" tIns="0" rIns="0" bIns="0" anchor="t">
            <a:noAutofit/>
          </a:bodyPr>
          <a:lstStyle/>
          <a:p>
            <a:pPr algn="l">
              <a:lnSpc>
                <a:spcPct val="100000"/>
              </a:lnSpc>
              <a:spcBef>
                <a:spcPts val="0"/>
              </a:spcBef>
            </a:pPr>
            <a:r>
              <a:rPr lang="en-US" sz="1600" b="1" i="0">
                <a:solidFill>
                  <a:srgbClr val="161623"/>
                </a:solidFill>
                <a:latin typeface="Tiny5"/>
              </a:rPr>
              <a:t>OWNED CORE</a:t>
            </a:r>
          </a:p>
        </p:txBody>
      </p:sp>
      <p:sp>
        <p:nvSpPr>
          <p:cNvPr id="172" name="Rectangle 172"/>
          <p:cNvSpPr/>
          <p:nvPr/>
        </p:nvSpPr>
        <p:spPr>
          <a:xfrm>
            <a:off x="9179408" y="3090000"/>
            <a:ext cx="2206040" cy="270000"/>
          </a:xfrm>
          <a:prstGeom prst="rect">
            <a:avLst/>
          </a:prstGeom>
          <a:solidFill>
            <a:srgbClr val="FFF8F2"/>
          </a:solidFill>
          <a:ln>
            <a:noFill/>
          </a:ln>
        </p:spPr>
        <p:txBody>
          <a:bodyPr rtlCol="0" anchor="ctr"/>
          <a:lstStyle/>
          <a:p>
            <a:pPr algn="ctr"/>
            <a:endParaRPr/>
          </a:p>
        </p:txBody>
      </p:sp>
      <p:sp>
        <p:nvSpPr>
          <p:cNvPr id="173" name="TextBox 173"/>
          <p:cNvSpPr txBox="1"/>
          <p:nvPr/>
        </p:nvSpPr>
        <p:spPr>
          <a:xfrm>
            <a:off x="9269408" y="309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1  PLATFORM + DATA</a:t>
            </a:r>
          </a:p>
        </p:txBody>
      </p:sp>
      <p:sp>
        <p:nvSpPr>
          <p:cNvPr id="174" name="Rectangle 174"/>
          <p:cNvSpPr/>
          <p:nvPr/>
        </p:nvSpPr>
        <p:spPr>
          <a:xfrm>
            <a:off x="9179408" y="3420000"/>
            <a:ext cx="2206040" cy="270000"/>
          </a:xfrm>
          <a:prstGeom prst="rect">
            <a:avLst/>
          </a:prstGeom>
          <a:solidFill>
            <a:srgbClr val="FFF8F2"/>
          </a:solidFill>
          <a:ln>
            <a:noFill/>
          </a:ln>
        </p:spPr>
        <p:txBody>
          <a:bodyPr rtlCol="0" anchor="ctr"/>
          <a:lstStyle/>
          <a:p>
            <a:pPr algn="ctr"/>
            <a:endParaRPr/>
          </a:p>
        </p:txBody>
      </p:sp>
      <p:sp>
        <p:nvSpPr>
          <p:cNvPr id="175" name="TextBox 175"/>
          <p:cNvSpPr txBox="1"/>
          <p:nvPr/>
        </p:nvSpPr>
        <p:spPr>
          <a:xfrm>
            <a:off x="9269408" y="342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2  JOINT SOLUTION</a:t>
            </a:r>
          </a:p>
        </p:txBody>
      </p:sp>
      <p:sp>
        <p:nvSpPr>
          <p:cNvPr id="176" name="Rectangle 176"/>
          <p:cNvSpPr/>
          <p:nvPr/>
        </p:nvSpPr>
        <p:spPr>
          <a:xfrm>
            <a:off x="9179408" y="3750000"/>
            <a:ext cx="2206040" cy="270000"/>
          </a:xfrm>
          <a:prstGeom prst="rect">
            <a:avLst/>
          </a:prstGeom>
          <a:solidFill>
            <a:srgbClr val="FFF8F2"/>
          </a:solidFill>
          <a:ln>
            <a:noFill/>
          </a:ln>
        </p:spPr>
        <p:txBody>
          <a:bodyPr rtlCol="0" anchor="ctr"/>
          <a:lstStyle/>
          <a:p>
            <a:pPr algn="ctr"/>
            <a:endParaRPr/>
          </a:p>
        </p:txBody>
      </p:sp>
      <p:sp>
        <p:nvSpPr>
          <p:cNvPr id="177" name="TextBox 177"/>
          <p:cNvSpPr txBox="1"/>
          <p:nvPr/>
        </p:nvSpPr>
        <p:spPr>
          <a:xfrm>
            <a:off x="9269408" y="3750000"/>
            <a:ext cx="2026040" cy="270000"/>
          </a:xfrm>
          <a:prstGeom prst="rect">
            <a:avLst/>
          </a:prstGeom>
          <a:noFill/>
        </p:spPr>
        <p:txBody>
          <a:bodyPr wrap="square" lIns="0" tIns="0" rIns="0" bIns="0" anchor="ctr">
            <a:noAutofit/>
          </a:bodyPr>
          <a:lstStyle/>
          <a:p>
            <a:pPr algn="l">
              <a:lnSpc>
                <a:spcPct val="100000"/>
              </a:lnSpc>
              <a:spcBef>
                <a:spcPts val="0"/>
              </a:spcBef>
            </a:pPr>
            <a:r>
              <a:rPr lang="en-US" sz="900" b="1" i="0">
                <a:solidFill>
                  <a:srgbClr val="161623"/>
                </a:solidFill>
                <a:latin typeface="Arial"/>
              </a:rPr>
              <a:t>3  MISSIONS</a:t>
            </a:r>
          </a:p>
        </p:txBody>
      </p:sp>
      <p:sp>
        <p:nvSpPr>
          <p:cNvPr id="178" name="TextBox 178"/>
          <p:cNvSpPr txBox="1"/>
          <p:nvPr/>
        </p:nvSpPr>
        <p:spPr>
          <a:xfrm>
            <a:off x="9179408" y="420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BUYER</a:t>
            </a:r>
          </a:p>
        </p:txBody>
      </p:sp>
      <p:sp>
        <p:nvSpPr>
          <p:cNvPr id="179" name="TextBox 179"/>
          <p:cNvSpPr txBox="1"/>
          <p:nvPr/>
        </p:nvSpPr>
        <p:spPr>
          <a:xfrm>
            <a:off x="9179408" y="438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Mission platform / Cyber lead</a:t>
            </a:r>
          </a:p>
        </p:txBody>
      </p:sp>
      <p:sp>
        <p:nvSpPr>
          <p:cNvPr id="180" name="TextBox 180"/>
          <p:cNvSpPr txBox="1"/>
          <p:nvPr/>
        </p:nvSpPr>
        <p:spPr>
          <a:xfrm>
            <a:off x="9179408" y="476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WORKFLOW</a:t>
            </a:r>
          </a:p>
        </p:txBody>
      </p:sp>
      <p:sp>
        <p:nvSpPr>
          <p:cNvPr id="181" name="TextBox 181"/>
          <p:cNvSpPr txBox="1"/>
          <p:nvPr/>
        </p:nvSpPr>
        <p:spPr>
          <a:xfrm>
            <a:off x="9179408" y="494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Mission decision support</a:t>
            </a:r>
          </a:p>
        </p:txBody>
      </p:sp>
      <p:sp>
        <p:nvSpPr>
          <p:cNvPr id="182" name="TextBox 182"/>
          <p:cNvSpPr txBox="1"/>
          <p:nvPr/>
        </p:nvSpPr>
        <p:spPr>
          <a:xfrm>
            <a:off x="9179408" y="5320000"/>
            <a:ext cx="2206040" cy="160000"/>
          </a:xfrm>
          <a:prstGeom prst="rect">
            <a:avLst/>
          </a:prstGeom>
          <a:noFill/>
        </p:spPr>
        <p:txBody>
          <a:bodyPr wrap="square" lIns="0" tIns="0" rIns="0" bIns="0" anchor="t">
            <a:noAutofit/>
          </a:bodyPr>
          <a:lstStyle/>
          <a:p>
            <a:pPr algn="l">
              <a:lnSpc>
                <a:spcPct val="100000"/>
              </a:lnSpc>
              <a:spcBef>
                <a:spcPts val="0"/>
              </a:spcBef>
            </a:pPr>
            <a:r>
              <a:rPr lang="en-US" sz="800" b="1" i="0">
                <a:solidFill>
                  <a:srgbClr val="FA500E"/>
                </a:solidFill>
                <a:latin typeface="Arial"/>
              </a:rPr>
              <a:t>ENABLEMENT</a:t>
            </a:r>
          </a:p>
        </p:txBody>
      </p:sp>
      <p:sp>
        <p:nvSpPr>
          <p:cNvPr id="183" name="TextBox 183"/>
          <p:cNvSpPr txBox="1"/>
          <p:nvPr/>
        </p:nvSpPr>
        <p:spPr>
          <a:xfrm>
            <a:off x="9179408" y="5500000"/>
            <a:ext cx="2206040" cy="340000"/>
          </a:xfrm>
          <a:prstGeom prst="rect">
            <a:avLst/>
          </a:prstGeom>
          <a:noFill/>
        </p:spPr>
        <p:txBody>
          <a:bodyPr wrap="square" lIns="0" tIns="0" rIns="0" bIns="0" anchor="t">
            <a:noAutofit/>
          </a:bodyPr>
          <a:lstStyle/>
          <a:p>
            <a:pPr algn="l">
              <a:lnSpc>
                <a:spcPct val="100000"/>
              </a:lnSpc>
              <a:spcBef>
                <a:spcPts val="0"/>
              </a:spcBef>
            </a:pPr>
            <a:r>
              <a:rPr lang="en-US" sz="900" b="0" i="0">
                <a:solidFill>
                  <a:srgbClr val="5A554B"/>
                </a:solidFill>
                <a:latin typeface="Arial"/>
              </a:rPr>
              <a:t>Ownership · evaluation · co-sell</a:t>
            </a:r>
          </a:p>
        </p:txBody>
      </p:sp>
      <p:sp>
        <p:nvSpPr>
          <p:cNvPr id="184" name="Rectangle 184"/>
          <p:cNvSpPr/>
          <p:nvPr/>
        </p:nvSpPr>
        <p:spPr>
          <a:xfrm>
            <a:off x="612648" y="5510000"/>
            <a:ext cx="10972800" cy="540000"/>
          </a:xfrm>
          <a:prstGeom prst="rect">
            <a:avLst/>
          </a:prstGeom>
          <a:solidFill>
            <a:srgbClr val="161623"/>
          </a:solidFill>
          <a:ln>
            <a:noFill/>
          </a:ln>
        </p:spPr>
        <p:txBody>
          <a:bodyPr rtlCol="0" anchor="ctr"/>
          <a:lstStyle/>
          <a:p>
            <a:pPr algn="ctr"/>
            <a:endParaRPr/>
          </a:p>
        </p:txBody>
      </p:sp>
      <p:sp>
        <p:nvSpPr>
          <p:cNvPr id="185" name="TextBox 185"/>
          <p:cNvSpPr txBox="1"/>
          <p:nvPr/>
        </p:nvSpPr>
        <p:spPr>
          <a:xfrm>
            <a:off x="862648" y="5510000"/>
            <a:ext cx="10472800" cy="540000"/>
          </a:xfrm>
          <a:prstGeom prst="rect">
            <a:avLst/>
          </a:prstGeom>
          <a:noFill/>
        </p:spPr>
        <p:txBody>
          <a:bodyPr wrap="square" lIns="0" tIns="0" rIns="0" bIns="0" anchor="ctr">
            <a:noAutofit/>
          </a:bodyPr>
          <a:lstStyle/>
          <a:p>
            <a:pPr algn="l">
              <a:lnSpc>
                <a:spcPct val="100000"/>
              </a:lnSpc>
              <a:spcBef>
                <a:spcPts val="0"/>
              </a:spcBef>
            </a:pPr>
            <a:r>
              <a:rPr lang="en-US" sz="1100" b="1" i="0">
                <a:solidFill>
                  <a:srgbClr val="FFFFFF"/>
                </a:solidFill>
                <a:latin typeface="Arial"/>
              </a:rPr>
              <a:t>STANDARDIZE TRUST ONCE — GOVERNANCE, PROCUREMENT, ARCHITECTURE, PLATFORM, DATA — THEN CUSTOMIZE ONLY THE MISSION.</a:t>
            </a:r>
          </a:p>
        </p:txBody>
      </p:sp>
      <p:sp>
        <p:nvSpPr>
          <p:cNvPr id="900" name="Icon 1"/>
          <p:cNvSpPr/>
          <p:nvPr/>
        </p:nvSpPr>
        <p:spPr>
          <a:xfrm>
            <a:off x="2607208" y="1400000"/>
            <a:ext cx="411480" cy="411480"/>
          </a:xfrm>
          <a:custGeom>
            <a:avLst/>
            <a:gdLst/>
            <a:ahLst/>
            <a:cxnLst/>
            <a:rect l="0" t="0" r="r" b="b"/>
            <a:pathLst>
              <a:path w="100" h="100">
                <a:moveTo>
                  <a:pt x="10" y="82"/>
                </a:moveTo>
                <a:lnTo>
                  <a:pt x="10" y="46"/>
                </a:lnTo>
                <a:lnTo>
                  <a:pt x="36" y="60"/>
                </a:lnTo>
                <a:lnTo>
                  <a:pt x="36" y="46"/>
                </a:lnTo>
                <a:lnTo>
                  <a:pt x="62" y="60"/>
                </a:lnTo>
                <a:lnTo>
                  <a:pt x="62" y="28"/>
                </a:lnTo>
                <a:lnTo>
                  <a:pt x="88" y="28"/>
                </a:lnTo>
                <a:lnTo>
                  <a:pt x="88" y="82"/>
                </a:lnTo>
                <a:close/>
              </a:path>
            </a:pathLst>
          </a:custGeom>
          <a:noFill/>
          <a:ln w="19050" cap="rnd">
            <a:solidFill>
              <a:srgbClr val="FA500E"/>
            </a:solidFill>
            <a:round/>
          </a:ln>
        </p:spPr>
        <p:txBody>
          <a:bodyPr/>
          <a:lstStyle/>
          <a:p>
            <a:endParaRPr/>
          </a:p>
        </p:txBody>
      </p:sp>
      <p:sp>
        <p:nvSpPr>
          <p:cNvPr id="901" name="Icon 2"/>
          <p:cNvSpPr/>
          <p:nvPr/>
        </p:nvSpPr>
        <p:spPr>
          <a:xfrm>
            <a:off x="5396128" y="1400000"/>
            <a:ext cx="411480" cy="411480"/>
          </a:xfrm>
          <a:custGeom>
            <a:avLst/>
            <a:gdLst/>
            <a:ahLst/>
            <a:cxnLst/>
            <a:rect l="0" t="0" r="r" b="b"/>
            <a:pathLst>
              <a:path w="100" h="100">
                <a:moveTo>
                  <a:pt x="50" y="88"/>
                </a:moveTo>
                <a:lnTo>
                  <a:pt x="50" y="46"/>
                </a:lnTo>
              </a:path>
              <a:path w="100" h="100">
                <a:moveTo>
                  <a:pt x="50" y="46"/>
                </a:moveTo>
                <a:lnTo>
                  <a:pt x="50" y="10"/>
                </a:lnTo>
              </a:path>
              <a:path w="100" h="100">
                <a:moveTo>
                  <a:pt x="50" y="46"/>
                </a:moveTo>
                <a:lnTo>
                  <a:pt x="82" y="64"/>
                </a:lnTo>
              </a:path>
              <a:path w="100" h="100">
                <a:moveTo>
                  <a:pt x="50" y="46"/>
                </a:moveTo>
                <a:lnTo>
                  <a:pt x="18" y="64"/>
                </a:lnTo>
              </a:path>
            </a:pathLst>
          </a:custGeom>
          <a:noFill/>
          <a:ln w="19050" cap="rnd">
            <a:solidFill>
              <a:srgbClr val="FA500E"/>
            </a:solidFill>
            <a:round/>
          </a:ln>
        </p:spPr>
        <p:txBody>
          <a:bodyPr/>
          <a:lstStyle/>
          <a:p>
            <a:endParaRPr/>
          </a:p>
        </p:txBody>
      </p:sp>
      <p:sp>
        <p:nvSpPr>
          <p:cNvPr id="902" name="Icon 3"/>
          <p:cNvSpPr/>
          <p:nvPr/>
        </p:nvSpPr>
        <p:spPr>
          <a:xfrm>
            <a:off x="8185048" y="1400000"/>
            <a:ext cx="411480" cy="411480"/>
          </a:xfrm>
          <a:custGeom>
            <a:avLst/>
            <a:gdLst/>
            <a:ahLst/>
            <a:cxnLst/>
            <a:rect l="0" t="0" r="r" b="b"/>
            <a:pathLst>
              <a:path w="100" h="100">
                <a:moveTo>
                  <a:pt x="10" y="40"/>
                </a:moveTo>
                <a:lnTo>
                  <a:pt x="50" y="14"/>
                </a:lnTo>
                <a:lnTo>
                  <a:pt x="90" y="40"/>
                </a:lnTo>
                <a:close/>
              </a:path>
              <a:path w="100" h="100">
                <a:moveTo>
                  <a:pt x="10" y="86"/>
                </a:moveTo>
                <a:lnTo>
                  <a:pt x="90" y="86"/>
                </a:lnTo>
              </a:path>
              <a:path w="100" h="100">
                <a:moveTo>
                  <a:pt x="24" y="48"/>
                </a:moveTo>
                <a:lnTo>
                  <a:pt x="24" y="78"/>
                </a:lnTo>
              </a:path>
              <a:path w="100" h="100">
                <a:moveTo>
                  <a:pt x="41" y="48"/>
                </a:moveTo>
                <a:lnTo>
                  <a:pt x="41" y="78"/>
                </a:lnTo>
              </a:path>
              <a:path w="100" h="100">
                <a:moveTo>
                  <a:pt x="59" y="48"/>
                </a:moveTo>
                <a:lnTo>
                  <a:pt x="59" y="78"/>
                </a:lnTo>
              </a:path>
              <a:path w="100" h="100">
                <a:moveTo>
                  <a:pt x="76" y="48"/>
                </a:moveTo>
                <a:lnTo>
                  <a:pt x="76" y="78"/>
                </a:lnTo>
              </a:path>
            </a:pathLst>
          </a:custGeom>
          <a:noFill/>
          <a:ln w="19050" cap="rnd">
            <a:solidFill>
              <a:srgbClr val="FA500E"/>
            </a:solidFill>
            <a:round/>
          </a:ln>
        </p:spPr>
        <p:txBody>
          <a:bodyPr/>
          <a:lstStyle/>
          <a:p>
            <a:endParaRPr/>
          </a:p>
        </p:txBody>
      </p:sp>
      <p:sp>
        <p:nvSpPr>
          <p:cNvPr id="903" name="Icon 4"/>
          <p:cNvSpPr/>
          <p:nvPr/>
        </p:nvSpPr>
        <p:spPr>
          <a:xfrm>
            <a:off x="10973968" y="1400000"/>
            <a:ext cx="411480" cy="411480"/>
          </a:xfrm>
          <a:custGeom>
            <a:avLst/>
            <a:gdLst/>
            <a:ahLst/>
            <a:cxnLst/>
            <a:rect l="0" t="0" r="r" b="b"/>
            <a:pathLst>
              <a:path w="100" h="100">
                <a:moveTo>
                  <a:pt x="50" y="10"/>
                </a:moveTo>
                <a:lnTo>
                  <a:pt x="84" y="24"/>
                </a:lnTo>
                <a:lnTo>
                  <a:pt x="84" y="52"/>
                </a:lnTo>
                <a:cubicBezTo>
                  <a:pt x="84" y="72"/>
                  <a:pt x="68" y="84"/>
                  <a:pt x="50" y="90"/>
                </a:cubicBezTo>
                <a:cubicBezTo>
                  <a:pt x="32" y="84"/>
                  <a:pt x="16" y="72"/>
                  <a:pt x="16" y="52"/>
                </a:cubicBezTo>
                <a:lnTo>
                  <a:pt x="16" y="24"/>
                </a:lnTo>
                <a:close/>
              </a:path>
            </a:pathLst>
          </a:custGeom>
          <a:noFill/>
          <a:ln w="19050" cap="rnd">
            <a:solidFill>
              <a:srgbClr val="FA500E"/>
            </a:solidFill>
            <a:round/>
          </a:ln>
        </p:spPr>
        <p:txBody>
          <a:bodyPr/>
          <a:lstStyle/>
          <a:p>
            <a:endParaRPr/>
          </a:p>
        </p:txBody>
      </p:sp>
    </p:spTree>
  </p:cSld>
  <p:clrMapOvr>
    <a:masterClrMapping/>
  </p:clrMapOvr>
</p:sld>
</file>

<file path=ppt/theme/theme1.xml><?xml version="1.0" encoding="utf-8"?>
<a:theme xmlns:a="http://schemas.openxmlformats.org/drawingml/2006/main" name="Mistral FSI editorial">
  <a:themeElements>
    <a:clrScheme name="Mistral FSI editorial">
      <a:dk1>
        <a:srgbClr val="000000"/>
      </a:dk1>
      <a:lt1>
        <a:srgbClr val="FFFFFF"/>
      </a:lt1>
      <a:dk2>
        <a:srgbClr val="1F1F1F"/>
      </a:dk2>
      <a:lt2>
        <a:srgbClr val="FFFAEB"/>
      </a:lt2>
      <a:accent1>
        <a:srgbClr val="FA520F"/>
      </a:accent1>
      <a:accent2>
        <a:srgbClr val="3767E8"/>
      </a:accent2>
      <a:accent3>
        <a:srgbClr val="17A34A"/>
      </a:accent3>
      <a:accent4>
        <a:srgbClr val="FFD900"/>
      </a:accent4>
      <a:accent5>
        <a:srgbClr val="7B3FF2"/>
      </a:accent5>
      <a:accent6>
        <a:srgbClr val="E86B84"/>
      </a:accent6>
      <a:hlink>
        <a:srgbClr val="3767E8"/>
      </a:hlink>
      <a:folHlink>
        <a:srgbClr val="7B3FF2"/>
      </a:folHlink>
    </a:clrScheme>
    <a:fontScheme name="Office">
      <a:majorFont>
        <a:latin typeface="Calibri Light"/>
        <a:ea typeface="Calibri Light"/>
        <a:cs typeface="Calibri Light"/>
      </a:majorFont>
      <a:minorFont>
        <a:latin typeface="Calibri"/>
        <a:ea typeface="Calibri"/>
        <a:cs typeface="Calibri"/>
      </a:minorFont>
    </a:fontScheme>
    <a:fmtScheme name="Mistral FSI editorial">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1065</TotalTime>
  <Words>1574</Words>
  <Application>Microsoft Office PowerPoint</Application>
  <PresentationFormat>Widescreen</PresentationFormat>
  <Paragraphs>232</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Arial</vt:lpstr>
      <vt:lpstr>Tiny5</vt:lpstr>
      <vt:lpstr>Aptos</vt:lpstr>
      <vt:lpstr>Mistral FSI editorial</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Mistral AI Financial Services GTM Strategy</dc:title>
  <dc:subject>Executive GTM deck synthesized from public source URLs and strategy materials</dc:subject>
  <dc:creator>OpenAI</dc:creator>
  <cp:lastModifiedBy>Shivam Singh</cp:lastModifiedBy>
  <cp:revision>312</cp:revision>
  <dcterms:created xsi:type="dcterms:W3CDTF">2026-08-17T19:50:48Z</dcterms:created>
  <dcterms:modified xsi:type="dcterms:W3CDTF">2026-08-18T22:53:23Z</dcterms:modified>
</cp:coreProperties>
</file>