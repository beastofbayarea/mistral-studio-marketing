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7796B-6E7C-4F10-9803-11935AD4BC1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7E2B38-EC44-4B44-8575-CA30B2FCC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016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Shivam Singh resume variants: AI PMM, AI Product, Growth Marketing, Partner GTM, AI TPM, Strategy. Acronyms defined inline: GTM = go-to-market; PMF = product-market fit; PLG = product-led growth. Slide is designed as an executive spoken answer, not a prep-note checklist.</a:t>
            </a:r>
          </a:p>
          <a:p>
            <a:r>
              <a:rPr lang="en-US"/>
              <a:t>Spoken answer: I turn complex AI platforms into adoption across strategy, product, growth and enterprise GTM. Mistral Studio is the logical next step: it unites fast builder self-service with trusted enterprise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AI PMM resume for research-led repositioning, metrics and Japanese localization. AI Product / AI TPM resumes for RAG, evaluations, human-in-the-loop controls and guardrails.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AI PMM, AI Product, Partner GTM, Strategy and Investments resumes. PMF = product-market fit. Evidence includes 70+ business units, 50K+ merchants, buy-intelligence/build-context thesis, external foundation model, PII protection, hybrid retrieval, knowledge graph, standalone chatbot discontinuation, adoption/outcomes.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AI PMM, AI Product and Growth Marketing resumes. Acronyms defined inline: PLG = product-led growth; NRR = net revenue retention; ASO = App Store Optimization; RICE = reach, impact, confidence, effort. Evidence includes activation +262%, NRR 102%→128%, churn 14%→6.5%, win-back 4%→22%, lifecycle telemetry, time-to-first-value, cohort analysis, propensity models and campaign channels.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Partner GTM, AI TPM and FinTech Product resumes. FHE = fully homomorphic encryption. Evidence includes regulated customer objections, compliance-as-a-feature messaging, product/engineering/legal/field alignment, FHE→confidential computing pivot, latency 14s→220ms, SOPs across 10+ customer engagements, time-to-compliance 9→3 months, zero breaches, AI ROI +61%, $5M rescue and $2M upsell.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1700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2264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>
            <a:spLocks/>
          </p:cNvSpPr>
          <p:nvPr/>
        </p:nvSpPr>
        <p:spPr>
          <a:xfrm>
            <a:off x="621792" y="201168"/>
            <a:ext cx="9326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SHIV | AUTHOR PROFILE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11137392" y="6400800"/>
            <a:ext cx="292608" cy="1536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758952"/>
            <a:ext cx="100584" cy="1325880"/>
          </a:xfrm>
          <a:prstGeom prst="rect">
            <a:avLst/>
          </a:prstGeom>
          <a:solidFill>
            <a:srgbClr val="FF4B00"/>
          </a:solidFill>
          <a:ln w="12700">
            <a:solidFill>
              <a:srgbClr val="FF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786384" y="722376"/>
            <a:ext cx="9966960" cy="538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Why I fit Mistral Studio PMM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804672" y="1719072"/>
            <a:ext cx="88696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Translate complex AI platforms into clear customer value.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804672" y="2395728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CAREER THREAD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1248" y="2953512"/>
            <a:ext cx="10268712" cy="0"/>
          </a:xfrm>
          <a:prstGeom prst="line">
            <a:avLst/>
          </a:prstGeom>
          <a:ln w="25400">
            <a:solidFill>
              <a:srgbClr val="FF4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60120" y="2761488"/>
            <a:ext cx="384048" cy="384048"/>
          </a:xfrm>
          <a:prstGeom prst="ellipse">
            <a:avLst/>
          </a:prstGeom>
          <a:solidFill>
            <a:srgbClr val="FF4B00"/>
          </a:solidFill>
          <a:ln w="12700">
            <a:solidFill>
              <a:srgbClr val="FF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960120" y="2825496"/>
            <a:ext cx="384048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01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960120" y="326440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STRATEGY → SYSTEMS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960120" y="3584448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Regulated systems and lifecycle growth</a:t>
            </a:r>
          </a:p>
        </p:txBody>
      </p:sp>
      <p:sp>
        <p:nvSpPr>
          <p:cNvPr id="25" name="Oval 24"/>
          <p:cNvSpPr/>
          <p:nvPr/>
        </p:nvSpPr>
        <p:spPr>
          <a:xfrm>
            <a:off x="4617720" y="2761488"/>
            <a:ext cx="384048" cy="384048"/>
          </a:xfrm>
          <a:prstGeom prst="ellipse">
            <a:avLst/>
          </a:prstGeom>
          <a:solidFill>
            <a:srgbClr val="FF4B00"/>
          </a:solidFill>
          <a:ln w="12700">
            <a:solidFill>
              <a:srgbClr val="FF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4617720" y="2825496"/>
            <a:ext cx="384048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02</a:t>
            </a:r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4617720" y="326440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GENAI PRODUCT–MARKET FIT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3584448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Positioning, launch readiness and localization at AWS</a:t>
            </a:r>
          </a:p>
        </p:txBody>
      </p:sp>
      <p:sp>
        <p:nvSpPr>
          <p:cNvPr id="29" name="Oval 28"/>
          <p:cNvSpPr/>
          <p:nvPr/>
        </p:nvSpPr>
        <p:spPr>
          <a:xfrm>
            <a:off x="8458200" y="2761488"/>
            <a:ext cx="384048" cy="384048"/>
          </a:xfrm>
          <a:prstGeom prst="ellipse">
            <a:avLst/>
          </a:prstGeom>
          <a:solidFill>
            <a:srgbClr val="FF4B00"/>
          </a:solidFill>
          <a:ln w="12700">
            <a:solidFill>
              <a:srgbClr val="FF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TextBox 29"/>
          <p:cNvSpPr txBox="1">
            <a:spLocks/>
          </p:cNvSpPr>
          <p:nvPr/>
        </p:nvSpPr>
        <p:spPr>
          <a:xfrm>
            <a:off x="8458200" y="2825496"/>
            <a:ext cx="384048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03</a:t>
            </a:r>
          </a:p>
        </p:txBody>
      </p:sp>
      <p:sp>
        <p:nvSpPr>
          <p:cNvPr id="31" name="TextBox 30"/>
          <p:cNvSpPr txBox="1">
            <a:spLocks/>
          </p:cNvSpPr>
          <p:nvPr/>
        </p:nvSpPr>
        <p:spPr>
          <a:xfrm>
            <a:off x="8458200" y="326440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COMMERCIALIZATION</a:t>
            </a:r>
          </a:p>
        </p:txBody>
      </p:sp>
      <p:sp>
        <p:nvSpPr>
          <p:cNvPr id="32" name="TextBox 31"/>
          <p:cNvSpPr txBox="1">
            <a:spLocks/>
          </p:cNvSpPr>
          <p:nvPr/>
        </p:nvSpPr>
        <p:spPr>
          <a:xfrm>
            <a:off x="8458200" y="3584448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From builder clarity to enterprise adoption at scale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4809744"/>
            <a:ext cx="12191695" cy="149047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TextBox 33"/>
          <p:cNvSpPr txBox="1">
            <a:spLocks/>
          </p:cNvSpPr>
          <p:nvPr/>
        </p:nvSpPr>
        <p:spPr>
          <a:xfrm>
            <a:off x="640080" y="5010912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C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PRODUCT GAP</a:t>
            </a:r>
          </a:p>
        </p:txBody>
      </p:sp>
      <p:sp>
        <p:nvSpPr>
          <p:cNvPr id="35" name="TextBox 34"/>
          <p:cNvSpPr txBox="1">
            <a:spLocks/>
          </p:cNvSpPr>
          <p:nvPr/>
        </p:nvSpPr>
        <p:spPr>
          <a:xfrm>
            <a:off x="640080" y="5376672"/>
            <a:ext cx="48920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Teams prototype quickly, but struggle to turn demos into governed workflows users adopt and enterprises trust.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852160" y="5047488"/>
            <a:ext cx="0" cy="941832"/>
          </a:xfrm>
          <a:prstGeom prst="line">
            <a:avLst/>
          </a:prstGeom>
          <a:ln w="12700">
            <a:solidFill>
              <a:srgbClr val="555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>
            <a:spLocks/>
          </p:cNvSpPr>
          <p:nvPr/>
        </p:nvSpPr>
        <p:spPr>
          <a:xfrm>
            <a:off x="6199632" y="5010912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C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WHY MISTRAL / STUDIO</a:t>
            </a:r>
          </a:p>
        </p:txBody>
      </p:sp>
      <p:sp>
        <p:nvSpPr>
          <p:cNvPr id="38" name="TextBox 37"/>
          <p:cNvSpPr txBox="1">
            <a:spLocks/>
          </p:cNvSpPr>
          <p:nvPr/>
        </p:nvSpPr>
        <p:spPr>
          <a:xfrm>
            <a:off x="6199632" y="5376672"/>
            <a:ext cx="5166360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Frontier open models on a production platform.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My contribution: make Studio easier to understand, evaluate and adopt.</a:t>
            </a:r>
          </a:p>
        </p:txBody>
      </p:sp>
      <p:pic>
        <p:nvPicPr>
          <p:cNvPr id="39" name="Official Mistral footer symbol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594592" y="6400800"/>
            <a:ext cx="228600" cy="163413"/>
          </a:xfrm>
          <a:prstGeom prst="rect">
            <a:avLst/>
          </a:prstGeom>
        </p:spPr>
      </p:pic>
      <p:pic>
        <p:nvPicPr>
          <p:cNvPr id="40" name="Official Mistral header symbo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228600" cy="1634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>
            <a:spLocks/>
          </p:cNvSpPr>
          <p:nvPr/>
        </p:nvSpPr>
        <p:spPr>
          <a:xfrm>
            <a:off x="621792" y="201168"/>
            <a:ext cx="9326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AWS GENAI SHOPPING ASSISTANT · PRODUCT-MARKET FIT &amp; USER TRUST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11137392" y="6400800"/>
            <a:ext cx="292608" cy="1536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13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502920" y="576072"/>
            <a:ext cx="11155680" cy="538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1. Positioning: from “chat” to decision support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207008"/>
            <a:ext cx="68580" cy="347472"/>
          </a:xfrm>
          <a:prstGeom prst="rect">
            <a:avLst/>
          </a:prstGeom>
          <a:solidFill>
            <a:srgbClr val="FF4B00"/>
          </a:solidFill>
          <a:ln w="12700">
            <a:solidFill>
              <a:srgbClr val="FF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658368" y="1225296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MY ROLE 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research-led positioning, trust proof and adoption measurement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1627632"/>
            <a:ext cx="11155680" cy="0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>
            <a:spLocks/>
          </p:cNvSpPr>
          <p:nvPr/>
        </p:nvSpPr>
        <p:spPr>
          <a:xfrm>
            <a:off x="502920" y="1730222"/>
            <a:ext cx="111556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C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TAKEAWAY 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Define the job users can trust, then prove the promise in the experience.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1078992" y="2258568"/>
            <a:ext cx="20116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BEFORE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658368" y="2587752"/>
            <a:ext cx="28346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“Chat with AI”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658368" y="3099816"/>
            <a:ext cx="26517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Broad and hard to trust at purchase.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438144" y="2212848"/>
            <a:ext cx="0" cy="1581912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776472" y="2221992"/>
            <a:ext cx="3246120" cy="15544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4443984" y="2459736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C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USER TRUST LOGIC</a:t>
            </a:r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4023360" y="2852928"/>
            <a:ext cx="2697480" cy="784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Retrieval quality + task evaluations + human review + guardrails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370064" y="2212848"/>
            <a:ext cx="0" cy="1581912"/>
          </a:xfrm>
          <a:prstGeom prst="line">
            <a:avLst/>
          </a:prstGeom>
          <a:ln w="25400">
            <a:solidFill>
              <a:srgbClr val="FF4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>
            <a:spLocks/>
          </p:cNvSpPr>
          <p:nvPr/>
        </p:nvSpPr>
        <p:spPr>
          <a:xfrm>
            <a:off x="8119872" y="225856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AFTER</a:t>
            </a:r>
          </a:p>
        </p:txBody>
      </p:sp>
      <p:sp>
        <p:nvSpPr>
          <p:cNvPr id="30" name="TextBox 29"/>
          <p:cNvSpPr txBox="1">
            <a:spLocks/>
          </p:cNvSpPr>
          <p:nvPr/>
        </p:nvSpPr>
        <p:spPr>
          <a:xfrm>
            <a:off x="7699248" y="2587752"/>
            <a:ext cx="39319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“Decide better, faster”</a:t>
            </a:r>
          </a:p>
        </p:txBody>
      </p:sp>
      <p:sp>
        <p:nvSpPr>
          <p:cNvPr id="31" name="TextBox 30"/>
          <p:cNvSpPr txBox="1">
            <a:spLocks/>
          </p:cNvSpPr>
          <p:nvPr/>
        </p:nvSpPr>
        <p:spPr>
          <a:xfrm>
            <a:off x="7699248" y="3099816"/>
            <a:ext cx="35661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Focused and actionable at the point of choice.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8368" y="4160520"/>
            <a:ext cx="10881360" cy="0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>
            <a:spLocks/>
          </p:cNvSpPr>
          <p:nvPr/>
        </p:nvSpPr>
        <p:spPr>
          <a:xfrm>
            <a:off x="658368" y="4462272"/>
            <a:ext cx="187451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25%</a:t>
            </a:r>
          </a:p>
        </p:txBody>
      </p:sp>
      <p:sp>
        <p:nvSpPr>
          <p:cNvPr id="34" name="TextBox 33"/>
          <p:cNvSpPr txBox="1">
            <a:spLocks/>
          </p:cNvSpPr>
          <p:nvPr/>
        </p:nvSpPr>
        <p:spPr>
          <a:xfrm>
            <a:off x="658368" y="5001768"/>
            <a:ext cx="187451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ADOPTION</a:t>
            </a:r>
          </a:p>
        </p:txBody>
      </p:sp>
      <p:sp>
        <p:nvSpPr>
          <p:cNvPr id="35" name="TextBox 34"/>
          <p:cNvSpPr txBox="1">
            <a:spLocks/>
          </p:cNvSpPr>
          <p:nvPr/>
        </p:nvSpPr>
        <p:spPr>
          <a:xfrm>
            <a:off x="658368" y="5330952"/>
            <a:ext cx="1828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eligible users engaged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615184" y="4498848"/>
            <a:ext cx="0" cy="1307592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>
            <a:spLocks/>
          </p:cNvSpPr>
          <p:nvPr/>
        </p:nvSpPr>
        <p:spPr>
          <a:xfrm>
            <a:off x="2816352" y="4462272"/>
            <a:ext cx="187451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55→70%</a:t>
            </a:r>
          </a:p>
        </p:txBody>
      </p:sp>
      <p:sp>
        <p:nvSpPr>
          <p:cNvPr id="38" name="TextBox 37"/>
          <p:cNvSpPr txBox="1">
            <a:spLocks/>
          </p:cNvSpPr>
          <p:nvPr/>
        </p:nvSpPr>
        <p:spPr>
          <a:xfrm>
            <a:off x="2816352" y="5001768"/>
            <a:ext cx="187451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FAVORABILITY</a:t>
            </a:r>
          </a:p>
        </p:txBody>
      </p:sp>
      <p:sp>
        <p:nvSpPr>
          <p:cNvPr id="39" name="TextBox 38"/>
          <p:cNvSpPr txBox="1">
            <a:spLocks/>
          </p:cNvSpPr>
          <p:nvPr/>
        </p:nvSpPr>
        <p:spPr>
          <a:xfrm>
            <a:off x="2816352" y="5330952"/>
            <a:ext cx="1828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among exposed users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809744" y="4498848"/>
            <a:ext cx="0" cy="1307592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>
            <a:spLocks/>
          </p:cNvSpPr>
          <p:nvPr/>
        </p:nvSpPr>
        <p:spPr>
          <a:xfrm>
            <a:off x="5010912" y="4462272"/>
            <a:ext cx="187451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+15%</a:t>
            </a:r>
          </a:p>
        </p:txBody>
      </p:sp>
      <p:sp>
        <p:nvSpPr>
          <p:cNvPr id="42" name="TextBox 41"/>
          <p:cNvSpPr txBox="1">
            <a:spLocks/>
          </p:cNvSpPr>
          <p:nvPr/>
        </p:nvSpPr>
        <p:spPr>
          <a:xfrm>
            <a:off x="5010912" y="5001768"/>
            <a:ext cx="187451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SESSION DEPTH</a:t>
            </a:r>
          </a:p>
        </p:txBody>
      </p:sp>
      <p:sp>
        <p:nvSpPr>
          <p:cNvPr id="43" name="TextBox 42"/>
          <p:cNvSpPr txBox="1">
            <a:spLocks/>
          </p:cNvSpPr>
          <p:nvPr/>
        </p:nvSpPr>
        <p:spPr>
          <a:xfrm>
            <a:off x="5010912" y="5330952"/>
            <a:ext cx="1828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deeper engagement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004304" y="4498848"/>
            <a:ext cx="0" cy="1307592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>
            <a:spLocks/>
          </p:cNvSpPr>
          <p:nvPr/>
        </p:nvSpPr>
        <p:spPr>
          <a:xfrm>
            <a:off x="7205472" y="4462272"/>
            <a:ext cx="187451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2.8%</a:t>
            </a:r>
          </a:p>
        </p:txBody>
      </p:sp>
      <p:sp>
        <p:nvSpPr>
          <p:cNvPr id="46" name="TextBox 45"/>
          <p:cNvSpPr txBox="1">
            <a:spLocks/>
          </p:cNvSpPr>
          <p:nvPr/>
        </p:nvSpPr>
        <p:spPr>
          <a:xfrm>
            <a:off x="7205472" y="5001768"/>
            <a:ext cx="187451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HALLUCINATION</a:t>
            </a:r>
          </a:p>
        </p:txBody>
      </p:sp>
      <p:sp>
        <p:nvSpPr>
          <p:cNvPr id="47" name="TextBox 46"/>
          <p:cNvSpPr txBox="1">
            <a:spLocks/>
          </p:cNvSpPr>
          <p:nvPr/>
        </p:nvSpPr>
        <p:spPr>
          <a:xfrm>
            <a:off x="7205472" y="5330952"/>
            <a:ext cx="1828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evaluated failure rate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198863" y="4498848"/>
            <a:ext cx="0" cy="1307592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>
            <a:spLocks/>
          </p:cNvSpPr>
          <p:nvPr/>
        </p:nvSpPr>
        <p:spPr>
          <a:xfrm>
            <a:off x="9400032" y="4462272"/>
            <a:ext cx="187451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JP</a:t>
            </a:r>
          </a:p>
        </p:txBody>
      </p:sp>
      <p:sp>
        <p:nvSpPr>
          <p:cNvPr id="50" name="TextBox 49"/>
          <p:cNvSpPr txBox="1">
            <a:spLocks/>
          </p:cNvSpPr>
          <p:nvPr/>
        </p:nvSpPr>
        <p:spPr>
          <a:xfrm>
            <a:off x="9400032" y="5001768"/>
            <a:ext cx="187451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LOCALIZATION</a:t>
            </a:r>
          </a:p>
        </p:txBody>
      </p:sp>
      <p:sp>
        <p:nvSpPr>
          <p:cNvPr id="51" name="TextBox 50"/>
          <p:cNvSpPr txBox="1">
            <a:spLocks/>
          </p:cNvSpPr>
          <p:nvPr/>
        </p:nvSpPr>
        <p:spPr>
          <a:xfrm>
            <a:off x="9400032" y="5330952"/>
            <a:ext cx="1828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tone, tokenization + UX</a:t>
            </a:r>
          </a:p>
        </p:txBody>
      </p:sp>
      <p:sp>
        <p:nvSpPr>
          <p:cNvPr id="90" name="Icon Before"/>
          <p:cNvSpPr/>
          <p:nvPr/>
        </p:nvSpPr>
        <p:spPr>
          <a:xfrm>
            <a:off x="658368" y="2203704"/>
            <a:ext cx="310896" cy="310896"/>
          </a:xfrm>
          <a:prstGeom prst="wedgeEllipseCallout">
            <a:avLst/>
          </a:prstGeom>
          <a:solidFill>
            <a:srgbClr val="FF4B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1" name="Icon Trust"/>
          <p:cNvSpPr/>
          <p:nvPr/>
        </p:nvSpPr>
        <p:spPr>
          <a:xfrm>
            <a:off x="4023360" y="2404872"/>
            <a:ext cx="310896" cy="310896"/>
          </a:xfrm>
          <a:prstGeom prst="flowChartDecision">
            <a:avLst/>
          </a:prstGeom>
          <a:solidFill>
            <a:srgbClr val="FF4B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2" name="Icon After"/>
          <p:cNvSpPr/>
          <p:nvPr/>
        </p:nvSpPr>
        <p:spPr>
          <a:xfrm>
            <a:off x="7699248" y="2231136"/>
            <a:ext cx="310896" cy="310896"/>
          </a:xfrm>
          <a:prstGeom prst="rightArrow">
            <a:avLst/>
          </a:prstGeom>
          <a:solidFill>
            <a:srgbClr val="FF4B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93" name="Official Mistral footer symbol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594592" y="6400800"/>
            <a:ext cx="228600" cy="163413"/>
          </a:xfrm>
          <a:prstGeom prst="rect">
            <a:avLst/>
          </a:prstGeom>
        </p:spPr>
      </p:pic>
      <p:pic>
        <p:nvPicPr>
          <p:cNvPr id="94" name="Official Mistral header symbo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228600" cy="1634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>
            <a:spLocks/>
          </p:cNvSpPr>
          <p:nvPr/>
        </p:nvSpPr>
        <p:spPr>
          <a:xfrm>
            <a:off x="621792" y="201168"/>
            <a:ext cx="9326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RAKUTEN MERCHANT GENAI PLATFORM · MARKET INTELLIGENCE &amp; MOAT STRATEGY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11137392" y="6400800"/>
            <a:ext cx="292608" cy="1536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14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502920" y="576072"/>
            <a:ext cx="11155680" cy="538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2. Market intelligence: context + workflow won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207008"/>
            <a:ext cx="68580" cy="347472"/>
          </a:xfrm>
          <a:prstGeom prst="rect">
            <a:avLst/>
          </a:prstGeom>
          <a:solidFill>
            <a:srgbClr val="FF4B00"/>
          </a:solidFill>
          <a:ln w="12700">
            <a:solidFill>
              <a:srgbClr val="FF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658368" y="1225296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MY ROLE 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market intelligence, moat strategy and platform investment choice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1627632"/>
            <a:ext cx="11155680" cy="0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>
            <a:spLocks/>
          </p:cNvSpPr>
          <p:nvPr/>
        </p:nvSpPr>
        <p:spPr>
          <a:xfrm>
            <a:off x="502920" y="1700784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C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TAKEAWAY 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moat was not the model—it was proprietary context + workflow depth + economics + distribution.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121408"/>
            <a:ext cx="2743200" cy="868680"/>
          </a:xfrm>
          <a:prstGeom prst="rect">
            <a:avLst/>
          </a:prstGeom>
          <a:solidFill>
            <a:srgbClr val="FF4B00"/>
          </a:solidFill>
          <a:ln w="12700">
            <a:solidFill>
              <a:srgbClr val="FF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676656" y="2258568"/>
            <a:ext cx="21488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DECISION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676656" y="245059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Buy the model. Build the workflow.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987552" y="3054096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PROBLEM</a:t>
            </a:r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566928" y="3364992"/>
            <a:ext cx="2496312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Easy to launch, but weakly differentiated as model capability became buyable.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93008" y="2212848"/>
            <a:ext cx="2468880" cy="1591056"/>
          </a:xfrm>
          <a:prstGeom prst="rect">
            <a:avLst/>
          </a:prstGeom>
          <a:solidFill>
            <a:srgbClr val="FBF7EF"/>
          </a:solidFill>
          <a:ln w="12700">
            <a:solidFill>
              <a:srgbClr val="E5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961888" y="2212848"/>
            <a:ext cx="2468880" cy="1591056"/>
          </a:xfrm>
          <a:prstGeom prst="rect">
            <a:avLst/>
          </a:prstGeom>
          <a:solidFill>
            <a:srgbClr val="FFF0BF"/>
          </a:solidFill>
          <a:ln w="12700">
            <a:solidFill>
              <a:srgbClr val="E5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493008" y="3803904"/>
            <a:ext cx="2468880" cy="1591056"/>
          </a:xfrm>
          <a:prstGeom prst="rect">
            <a:avLst/>
          </a:prstGeom>
          <a:solidFill>
            <a:srgbClr val="F0E8DA"/>
          </a:solidFill>
          <a:ln w="12700">
            <a:solidFill>
              <a:srgbClr val="E5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961888" y="3803904"/>
            <a:ext cx="2468880" cy="1591056"/>
          </a:xfrm>
          <a:prstGeom prst="rect">
            <a:avLst/>
          </a:prstGeom>
          <a:solidFill>
            <a:srgbClr val="FFE3B3"/>
          </a:solidFill>
          <a:ln w="25400">
            <a:solidFill>
              <a:srgbClr val="FF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TextBox 29"/>
          <p:cNvSpPr txBox="1">
            <a:spLocks/>
          </p:cNvSpPr>
          <p:nvPr/>
        </p:nvSpPr>
        <p:spPr>
          <a:xfrm>
            <a:off x="3712463" y="2432304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HIGH CONTEXT
LOW WORKFLOW</a:t>
            </a:r>
          </a:p>
        </p:txBody>
      </p:sp>
      <p:sp>
        <p:nvSpPr>
          <p:cNvPr id="31" name="TextBox 30"/>
          <p:cNvSpPr txBox="1">
            <a:spLocks/>
          </p:cNvSpPr>
          <p:nvPr/>
        </p:nvSpPr>
        <p:spPr>
          <a:xfrm>
            <a:off x="3712463" y="4032504"/>
            <a:ext cx="19659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LOW CONTEXT
LOW WORKFLOW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1344" y="2432304"/>
            <a:ext cx="19659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HIGH CONTEXT
LOW WORKFLOW</a:t>
            </a:r>
          </a:p>
        </p:txBody>
      </p:sp>
      <p:sp>
        <p:nvSpPr>
          <p:cNvPr id="33" name="TextBox 32"/>
          <p:cNvSpPr txBox="1">
            <a:spLocks/>
          </p:cNvSpPr>
          <p:nvPr/>
        </p:nvSpPr>
        <p:spPr>
          <a:xfrm>
            <a:off x="6217920" y="4032504"/>
            <a:ext cx="10515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CHOSEN</a:t>
            </a:r>
          </a:p>
        </p:txBody>
      </p:sp>
      <p:sp>
        <p:nvSpPr>
          <p:cNvPr id="34" name="TextBox 33"/>
          <p:cNvSpPr txBox="1">
            <a:spLocks/>
          </p:cNvSpPr>
          <p:nvPr/>
        </p:nvSpPr>
        <p:spPr>
          <a:xfrm>
            <a:off x="6217920" y="4315968"/>
            <a:ext cx="1874519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Merchant
workflows</a:t>
            </a:r>
          </a:p>
        </p:txBody>
      </p:sp>
      <p:sp>
        <p:nvSpPr>
          <p:cNvPr id="35" name="TextBox 34"/>
          <p:cNvSpPr txBox="1">
            <a:spLocks/>
          </p:cNvSpPr>
          <p:nvPr/>
        </p:nvSpPr>
        <p:spPr>
          <a:xfrm>
            <a:off x="6217920" y="4919472"/>
            <a:ext cx="187451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Recurring merchant tasks</a:t>
            </a:r>
          </a:p>
        </p:txBody>
      </p:sp>
      <p:sp>
        <p:nvSpPr>
          <p:cNvPr id="36" name="Oval 35"/>
          <p:cNvSpPr/>
          <p:nvPr/>
        </p:nvSpPr>
        <p:spPr>
          <a:xfrm>
            <a:off x="3877056" y="4892040"/>
            <a:ext cx="210312" cy="210312"/>
          </a:xfrm>
          <a:prstGeom prst="ellipse">
            <a:avLst/>
          </a:prstGeom>
          <a:solidFill>
            <a:srgbClr val="E72500"/>
          </a:solidFill>
          <a:ln w="12700">
            <a:solidFill>
              <a:srgbClr val="E72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TextBox 36"/>
          <p:cNvSpPr txBox="1">
            <a:spLocks/>
          </p:cNvSpPr>
          <p:nvPr/>
        </p:nvSpPr>
        <p:spPr>
          <a:xfrm>
            <a:off x="4206240" y="4700016"/>
            <a:ext cx="14630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E725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Standalone chatbot
visibly lost</a:t>
            </a:r>
          </a:p>
        </p:txBody>
      </p:sp>
      <p:sp>
        <p:nvSpPr>
          <p:cNvPr id="38" name="TextBox 37"/>
          <p:cNvSpPr txBox="1">
            <a:spLocks/>
          </p:cNvSpPr>
          <p:nvPr/>
        </p:nvSpPr>
        <p:spPr>
          <a:xfrm>
            <a:off x="3419856" y="2002536"/>
            <a:ext cx="2468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PROPRIETARY CONTEXT ↑</a:t>
            </a:r>
          </a:p>
        </p:txBody>
      </p:sp>
      <p:sp>
        <p:nvSpPr>
          <p:cNvPr id="39" name="TextBox 38"/>
          <p:cNvSpPr txBox="1">
            <a:spLocks/>
          </p:cNvSpPr>
          <p:nvPr/>
        </p:nvSpPr>
        <p:spPr>
          <a:xfrm>
            <a:off x="5358383" y="5468112"/>
            <a:ext cx="2651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WORKFLOW INTEGRATION →</a:t>
            </a:r>
          </a:p>
        </p:txBody>
      </p:sp>
      <p:sp>
        <p:nvSpPr>
          <p:cNvPr id="40" name="TextBox 39"/>
          <p:cNvSpPr txBox="1">
            <a:spLocks/>
          </p:cNvSpPr>
          <p:nvPr/>
        </p:nvSpPr>
        <p:spPr>
          <a:xfrm>
            <a:off x="9272016" y="2249424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COMMERCIAL PROOF</a:t>
            </a:r>
          </a:p>
        </p:txBody>
      </p:sp>
      <p:sp>
        <p:nvSpPr>
          <p:cNvPr id="41" name="TextBox 40"/>
          <p:cNvSpPr txBox="1">
            <a:spLocks/>
          </p:cNvSpPr>
          <p:nvPr/>
        </p:nvSpPr>
        <p:spPr>
          <a:xfrm>
            <a:off x="8851392" y="2670048"/>
            <a:ext cx="1225296" cy="4297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50K+</a:t>
            </a:r>
          </a:p>
        </p:txBody>
      </p:sp>
      <p:sp>
        <p:nvSpPr>
          <p:cNvPr id="42" name="TextBox 41"/>
          <p:cNvSpPr txBox="1">
            <a:spLocks/>
          </p:cNvSpPr>
          <p:nvPr/>
        </p:nvSpPr>
        <p:spPr>
          <a:xfrm>
            <a:off x="10104120" y="2697479"/>
            <a:ext cx="11887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MERCHANTS</a:t>
            </a:r>
          </a:p>
        </p:txBody>
      </p:sp>
      <p:sp>
        <p:nvSpPr>
          <p:cNvPr id="43" name="TextBox 42"/>
          <p:cNvSpPr txBox="1">
            <a:spLocks/>
          </p:cNvSpPr>
          <p:nvPr/>
        </p:nvSpPr>
        <p:spPr>
          <a:xfrm>
            <a:off x="10104120" y="2980943"/>
            <a:ext cx="11887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platform scale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851392" y="3273552"/>
            <a:ext cx="2487168" cy="0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>
            <a:spLocks/>
          </p:cNvSpPr>
          <p:nvPr/>
        </p:nvSpPr>
        <p:spPr>
          <a:xfrm>
            <a:off x="8851392" y="3383280"/>
            <a:ext cx="1225296" cy="4297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40%</a:t>
            </a:r>
          </a:p>
        </p:txBody>
      </p:sp>
      <p:sp>
        <p:nvSpPr>
          <p:cNvPr id="46" name="TextBox 45"/>
          <p:cNvSpPr txBox="1">
            <a:spLocks/>
          </p:cNvSpPr>
          <p:nvPr/>
        </p:nvSpPr>
        <p:spPr>
          <a:xfrm>
            <a:off x="10104120" y="3410712"/>
            <a:ext cx="11887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ADOPTION</a:t>
            </a:r>
          </a:p>
        </p:txBody>
      </p:sp>
      <p:sp>
        <p:nvSpPr>
          <p:cNvPr id="47" name="TextBox 46"/>
          <p:cNvSpPr txBox="1">
            <a:spLocks/>
          </p:cNvSpPr>
          <p:nvPr/>
        </p:nvSpPr>
        <p:spPr>
          <a:xfrm>
            <a:off x="10104120" y="3694176"/>
            <a:ext cx="11887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six months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851392" y="3986784"/>
            <a:ext cx="2487168" cy="0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>
            <a:spLocks/>
          </p:cNvSpPr>
          <p:nvPr/>
        </p:nvSpPr>
        <p:spPr>
          <a:xfrm>
            <a:off x="8851392" y="4096512"/>
            <a:ext cx="1225296" cy="4297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+15%</a:t>
            </a:r>
          </a:p>
        </p:txBody>
      </p:sp>
      <p:sp>
        <p:nvSpPr>
          <p:cNvPr id="50" name="TextBox 49"/>
          <p:cNvSpPr txBox="1">
            <a:spLocks/>
          </p:cNvSpPr>
          <p:nvPr/>
        </p:nvSpPr>
        <p:spPr>
          <a:xfrm>
            <a:off x="10104120" y="4123944"/>
            <a:ext cx="11887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MERCHANT CVR</a:t>
            </a:r>
          </a:p>
        </p:txBody>
      </p:sp>
      <p:sp>
        <p:nvSpPr>
          <p:cNvPr id="51" name="TextBox 50"/>
          <p:cNvSpPr txBox="1">
            <a:spLocks/>
          </p:cNvSpPr>
          <p:nvPr/>
        </p:nvSpPr>
        <p:spPr>
          <a:xfrm>
            <a:off x="10104120" y="4507992"/>
            <a:ext cx="11887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conversion lift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851392" y="4700016"/>
            <a:ext cx="2487168" cy="0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>
            <a:spLocks/>
          </p:cNvSpPr>
          <p:nvPr/>
        </p:nvSpPr>
        <p:spPr>
          <a:xfrm>
            <a:off x="8851392" y="4809744"/>
            <a:ext cx="1417320" cy="4297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45→12m</a:t>
            </a:r>
          </a:p>
        </p:txBody>
      </p:sp>
      <p:sp>
        <p:nvSpPr>
          <p:cNvPr id="54" name="TextBox 53"/>
          <p:cNvSpPr txBox="1">
            <a:spLocks/>
          </p:cNvSpPr>
          <p:nvPr/>
        </p:nvSpPr>
        <p:spPr>
          <a:xfrm>
            <a:off x="10314432" y="4837176"/>
            <a:ext cx="102412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LISTING TIME</a:t>
            </a:r>
          </a:p>
        </p:txBody>
      </p:sp>
      <p:sp>
        <p:nvSpPr>
          <p:cNvPr id="55" name="TextBox 54"/>
          <p:cNvSpPr txBox="1">
            <a:spLocks/>
          </p:cNvSpPr>
          <p:nvPr/>
        </p:nvSpPr>
        <p:spPr>
          <a:xfrm>
            <a:off x="10314432" y="5120640"/>
            <a:ext cx="102412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manual time reduced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6400800"/>
            <a:ext cx="10469880" cy="1536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Architecture: external model + PII protection + hybrid retrieval + unified knowledge graph.</a:t>
            </a:r>
          </a:p>
        </p:txBody>
      </p:sp>
      <p:sp>
        <p:nvSpPr>
          <p:cNvPr id="93" name="Icon Problem"/>
          <p:cNvSpPr/>
          <p:nvPr/>
        </p:nvSpPr>
        <p:spPr>
          <a:xfrm>
            <a:off x="566928" y="3035808"/>
            <a:ext cx="274320" cy="274320"/>
          </a:xfrm>
          <a:prstGeom prst="noSmoking">
            <a:avLst/>
          </a:prstGeom>
          <a:solidFill>
            <a:srgbClr val="FF4B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4" name="Icon Proof"/>
          <p:cNvSpPr/>
          <p:nvPr/>
        </p:nvSpPr>
        <p:spPr>
          <a:xfrm>
            <a:off x="8851392" y="2194560"/>
            <a:ext cx="310896" cy="310896"/>
          </a:xfrm>
          <a:prstGeom prst="upArrow">
            <a:avLst/>
          </a:prstGeom>
          <a:solidFill>
            <a:srgbClr val="FF4B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95" name="Official Mistral footer symbol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594592" y="6400800"/>
            <a:ext cx="228600" cy="163413"/>
          </a:xfrm>
          <a:prstGeom prst="rect">
            <a:avLst/>
          </a:prstGeom>
        </p:spPr>
      </p:pic>
      <p:pic>
        <p:nvPicPr>
          <p:cNvPr id="96" name="Official Mistral header symbo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228600" cy="1634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>
            <a:spLocks/>
          </p:cNvSpPr>
          <p:nvPr/>
        </p:nvSpPr>
        <p:spPr>
          <a:xfrm>
            <a:off x="621792" y="201168"/>
            <a:ext cx="9326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MICROSOFT DEVELOPER / BUSINESS AI PLATFORM · PLG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11137392" y="6400800"/>
            <a:ext cx="292608" cy="1536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15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502920" y="576072"/>
            <a:ext cx="11155680" cy="538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3. Self-service growth: product drives the funnel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207008"/>
            <a:ext cx="68580" cy="347472"/>
          </a:xfrm>
          <a:prstGeom prst="rect">
            <a:avLst/>
          </a:prstGeom>
          <a:solidFill>
            <a:srgbClr val="FF4B00"/>
          </a:solidFill>
          <a:ln w="12700">
            <a:solidFill>
              <a:srgbClr val="FF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658368" y="1225296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MY ROLE 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growth strategy, lifecycle design and measurement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1627632"/>
            <a:ext cx="11155680" cy="0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>
            <a:spLocks/>
          </p:cNvSpPr>
          <p:nvPr/>
        </p:nvSpPr>
        <p:spPr>
          <a:xfrm>
            <a:off x="502920" y="1677365"/>
            <a:ext cx="111556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C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TAKEAWAY 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 self-service, marketing continues in-product: onboarding, first value, retention and expansion must prove the promise.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0120" y="2788920"/>
            <a:ext cx="10149840" cy="0"/>
          </a:xfrm>
          <a:prstGeom prst="line">
            <a:avLst/>
          </a:prstGeom>
          <a:ln w="508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04088" y="2532888"/>
            <a:ext cx="512064" cy="512064"/>
          </a:xfrm>
          <a:prstGeom prst="ellipse">
            <a:avLst/>
          </a:prstGeom>
          <a:solidFill>
            <a:srgbClr val="FF4B00"/>
          </a:solidFill>
          <a:ln w="12700">
            <a:solidFill>
              <a:srgbClr val="FF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320040" y="2240280"/>
            <a:ext cx="12801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DISCOVER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91440" y="3246120"/>
            <a:ext cx="1737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LinkedIn, Google, PR,
organic and ASO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0120" y="3986784"/>
            <a:ext cx="0" cy="384048"/>
          </a:xfrm>
          <a:prstGeom prst="line">
            <a:avLst/>
          </a:prstGeom>
          <a:ln w="25400">
            <a:solidFill>
              <a:srgbClr val="E72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>
            <a:spLocks/>
          </p:cNvSpPr>
          <p:nvPr/>
        </p:nvSpPr>
        <p:spPr>
          <a:xfrm>
            <a:off x="45720" y="4507992"/>
            <a:ext cx="182880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E725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top-of-funnel demand</a:t>
            </a:r>
          </a:p>
        </p:txBody>
      </p:sp>
      <p:sp>
        <p:nvSpPr>
          <p:cNvPr id="27" name="Oval 26"/>
          <p:cNvSpPr/>
          <p:nvPr/>
        </p:nvSpPr>
        <p:spPr>
          <a:xfrm>
            <a:off x="3218687" y="2532888"/>
            <a:ext cx="512064" cy="512064"/>
          </a:xfrm>
          <a:prstGeom prst="ellipse">
            <a:avLst/>
          </a:prstGeom>
          <a:solidFill>
            <a:srgbClr val="FF4B00"/>
          </a:solidFill>
          <a:ln w="12700">
            <a:solidFill>
              <a:srgbClr val="FF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2834639" y="224028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EVALUATE</a:t>
            </a:r>
          </a:p>
        </p:txBody>
      </p:sp>
      <p:sp>
        <p:nvSpPr>
          <p:cNvPr id="29" name="TextBox 28"/>
          <p:cNvSpPr txBox="1">
            <a:spLocks/>
          </p:cNvSpPr>
          <p:nvPr/>
        </p:nvSpPr>
        <p:spPr>
          <a:xfrm>
            <a:off x="2606039" y="3246120"/>
            <a:ext cx="1737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First run: understand
the promise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474720" y="3986784"/>
            <a:ext cx="0" cy="384048"/>
          </a:xfrm>
          <a:prstGeom prst="line">
            <a:avLst/>
          </a:prstGeom>
          <a:ln w="25400">
            <a:solidFill>
              <a:srgbClr val="FF4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>
            <a:spLocks/>
          </p:cNvSpPr>
          <p:nvPr/>
        </p:nvSpPr>
        <p:spPr>
          <a:xfrm>
            <a:off x="2560320" y="4507992"/>
            <a:ext cx="18288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first-run clarity</a:t>
            </a:r>
          </a:p>
        </p:txBody>
      </p:sp>
      <p:sp>
        <p:nvSpPr>
          <p:cNvPr id="32" name="Oval 31"/>
          <p:cNvSpPr/>
          <p:nvPr/>
        </p:nvSpPr>
        <p:spPr>
          <a:xfrm>
            <a:off x="5733288" y="2532888"/>
            <a:ext cx="512064" cy="512064"/>
          </a:xfrm>
          <a:prstGeom prst="ellipse">
            <a:avLst/>
          </a:prstGeom>
          <a:solidFill>
            <a:srgbClr val="FF6A00"/>
          </a:solidFill>
          <a:ln w="12700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TextBox 32"/>
          <p:cNvSpPr txBox="1">
            <a:spLocks/>
          </p:cNvSpPr>
          <p:nvPr/>
        </p:nvSpPr>
        <p:spPr>
          <a:xfrm>
            <a:off x="5349240" y="2240280"/>
            <a:ext cx="12801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ACTIVATE</a:t>
            </a:r>
          </a:p>
        </p:txBody>
      </p:sp>
      <p:sp>
        <p:nvSpPr>
          <p:cNvPr id="34" name="TextBox 33"/>
          <p:cNvSpPr txBox="1">
            <a:spLocks/>
          </p:cNvSpPr>
          <p:nvPr/>
        </p:nvSpPr>
        <p:spPr>
          <a:xfrm>
            <a:off x="5120640" y="3246120"/>
            <a:ext cx="1737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Complete a
meaningful task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989320" y="3986784"/>
            <a:ext cx="0" cy="384048"/>
          </a:xfrm>
          <a:prstGeom prst="line">
            <a:avLst/>
          </a:prstGeom>
          <a:ln w="25400">
            <a:solidFill>
              <a:srgbClr val="FF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>
            <a:spLocks/>
          </p:cNvSpPr>
          <p:nvPr/>
        </p:nvSpPr>
        <p:spPr>
          <a:xfrm>
            <a:off x="5074920" y="4507992"/>
            <a:ext cx="18288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FF6A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activation +262%</a:t>
            </a:r>
          </a:p>
        </p:txBody>
      </p:sp>
      <p:sp>
        <p:nvSpPr>
          <p:cNvPr id="37" name="Oval 36"/>
          <p:cNvSpPr/>
          <p:nvPr/>
        </p:nvSpPr>
        <p:spPr>
          <a:xfrm>
            <a:off x="8019288" y="2532888"/>
            <a:ext cx="512064" cy="512064"/>
          </a:xfrm>
          <a:prstGeom prst="ellipse">
            <a:avLst/>
          </a:prstGeom>
          <a:solidFill>
            <a:srgbClr val="FF4B00"/>
          </a:solidFill>
          <a:ln w="12700">
            <a:solidFill>
              <a:srgbClr val="FF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TextBox 37"/>
          <p:cNvSpPr txBox="1">
            <a:spLocks/>
          </p:cNvSpPr>
          <p:nvPr/>
        </p:nvSpPr>
        <p:spPr>
          <a:xfrm>
            <a:off x="7635240" y="2240280"/>
            <a:ext cx="12801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RETAIN</a:t>
            </a:r>
          </a:p>
        </p:txBody>
      </p:sp>
      <p:sp>
        <p:nvSpPr>
          <p:cNvPr id="39" name="TextBox 38"/>
          <p:cNvSpPr txBox="1">
            <a:spLocks/>
          </p:cNvSpPr>
          <p:nvPr/>
        </p:nvSpPr>
        <p:spPr>
          <a:xfrm>
            <a:off x="7406640" y="3246120"/>
            <a:ext cx="173736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Cohort loops + lifecycle
interventions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275320" y="3986784"/>
            <a:ext cx="0" cy="384048"/>
          </a:xfrm>
          <a:prstGeom prst="line">
            <a:avLst/>
          </a:prstGeom>
          <a:ln w="25400">
            <a:solidFill>
              <a:srgbClr val="FFC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>
            <a:spLocks/>
          </p:cNvSpPr>
          <p:nvPr/>
        </p:nvSpPr>
        <p:spPr>
          <a:xfrm>
            <a:off x="7360920" y="4507992"/>
            <a:ext cx="18288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FFC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churn 14→6.5%</a:t>
            </a:r>
          </a:p>
        </p:txBody>
      </p:sp>
      <p:sp>
        <p:nvSpPr>
          <p:cNvPr id="42" name="Oval 41"/>
          <p:cNvSpPr/>
          <p:nvPr/>
        </p:nvSpPr>
        <p:spPr>
          <a:xfrm>
            <a:off x="10533888" y="2532888"/>
            <a:ext cx="512064" cy="512064"/>
          </a:xfrm>
          <a:prstGeom prst="ellipse">
            <a:avLst/>
          </a:prstGeom>
          <a:solidFill>
            <a:srgbClr val="FF4B00"/>
          </a:solidFill>
          <a:ln w="12700">
            <a:solidFill>
              <a:srgbClr val="FF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TextBox 42"/>
          <p:cNvSpPr txBox="1">
            <a:spLocks/>
          </p:cNvSpPr>
          <p:nvPr/>
        </p:nvSpPr>
        <p:spPr>
          <a:xfrm>
            <a:off x="10149840" y="2240280"/>
            <a:ext cx="12801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EXPAND</a:t>
            </a:r>
          </a:p>
        </p:txBody>
      </p:sp>
      <p:sp>
        <p:nvSpPr>
          <p:cNvPr id="44" name="TextBox 43"/>
          <p:cNvSpPr txBox="1">
            <a:spLocks/>
          </p:cNvSpPr>
          <p:nvPr/>
        </p:nvSpPr>
        <p:spPr>
          <a:xfrm>
            <a:off x="9921240" y="3246120"/>
            <a:ext cx="1737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Propensity models +
win-back paths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789920" y="3986784"/>
            <a:ext cx="0" cy="384048"/>
          </a:xfrm>
          <a:prstGeom prst="line">
            <a:avLst/>
          </a:prstGeom>
          <a:ln w="25400">
            <a:solidFill>
              <a:srgbClr val="FFB5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>
            <a:spLocks/>
          </p:cNvSpPr>
          <p:nvPr/>
        </p:nvSpPr>
        <p:spPr>
          <a:xfrm>
            <a:off x="9875520" y="4389120"/>
            <a:ext cx="1828800" cy="9326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FFB52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NRR 102→128%
win-back 4→22%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5468112"/>
            <a:ext cx="10972800" cy="56692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Box 47"/>
          <p:cNvSpPr txBox="1">
            <a:spLocks/>
          </p:cNvSpPr>
          <p:nvPr/>
        </p:nvSpPr>
        <p:spPr>
          <a:xfrm>
            <a:off x="868680" y="5611627"/>
            <a:ext cx="1042416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Demand creates the visit. Product experience earns activation, retention and expansion.</a:t>
            </a:r>
          </a:p>
        </p:txBody>
      </p:sp>
      <p:sp>
        <p:nvSpPr>
          <p:cNvPr id="49" name="TextBox 48"/>
          <p:cNvSpPr txBox="1">
            <a:spLocks/>
          </p:cNvSpPr>
          <p:nvPr/>
        </p:nvSpPr>
        <p:spPr>
          <a:xfrm>
            <a:off x="566928" y="6400800"/>
            <a:ext cx="10469880" cy="1536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NRR = net revenue retention; activation = meaningful first value; churn = users leaving; win-back = returning lost users.</a:t>
            </a:r>
          </a:p>
        </p:txBody>
      </p:sp>
      <p:sp>
        <p:nvSpPr>
          <p:cNvPr id="95" name="Stage Glyph 0"/>
          <p:cNvSpPr/>
          <p:nvPr/>
        </p:nvSpPr>
        <p:spPr>
          <a:xfrm>
            <a:off x="841248" y="2670048"/>
            <a:ext cx="237744" cy="237744"/>
          </a:xfrm>
          <a:prstGeom prst="sun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6" name="Stage Glyph 1"/>
          <p:cNvSpPr/>
          <p:nvPr/>
        </p:nvSpPr>
        <p:spPr>
          <a:xfrm>
            <a:off x="3355848" y="2670048"/>
            <a:ext cx="237744" cy="237744"/>
          </a:xfrm>
          <a:prstGeom prst="flowChartDecision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7" name="Stage Glyph 2"/>
          <p:cNvSpPr/>
          <p:nvPr/>
        </p:nvSpPr>
        <p:spPr>
          <a:xfrm>
            <a:off x="5870448" y="2670048"/>
            <a:ext cx="237744" cy="237744"/>
          </a:xfrm>
          <a:prstGeom prst="lightningBol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8" name="Stage Glyph 3"/>
          <p:cNvSpPr/>
          <p:nvPr/>
        </p:nvSpPr>
        <p:spPr>
          <a:xfrm>
            <a:off x="8156448" y="2670048"/>
            <a:ext cx="237744" cy="237744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9" name="Stage Glyph 4"/>
          <p:cNvSpPr/>
          <p:nvPr/>
        </p:nvSpPr>
        <p:spPr>
          <a:xfrm>
            <a:off x="10671048" y="2670048"/>
            <a:ext cx="237744" cy="237744"/>
          </a:xfrm>
          <a:prstGeom prst="up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00" name="Official Mistral footer symbol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594592" y="6400800"/>
            <a:ext cx="228600" cy="163413"/>
          </a:xfrm>
          <a:prstGeom prst="rect">
            <a:avLst/>
          </a:prstGeom>
        </p:spPr>
      </p:pic>
      <p:pic>
        <p:nvPicPr>
          <p:cNvPr id="101" name="Official Mistral header symbo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228600" cy="1634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>
            <a:spLocks/>
          </p:cNvSpPr>
          <p:nvPr/>
        </p:nvSpPr>
        <p:spPr>
          <a:xfrm>
            <a:off x="621792" y="201168"/>
            <a:ext cx="9326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MICROSOFT REGULATED CLOUD / AI PLATFORM · FIELD ENABLEMENT &amp; ENTERPRISE GTM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11137392" y="6400800"/>
            <a:ext cx="292608" cy="1536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16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502920" y="576072"/>
            <a:ext cx="11155680" cy="538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4. Field enablement: turn blockers into field plays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207008"/>
            <a:ext cx="68580" cy="347472"/>
          </a:xfrm>
          <a:prstGeom prst="rect">
            <a:avLst/>
          </a:prstGeom>
          <a:solidFill>
            <a:srgbClr val="FF4B00"/>
          </a:solidFill>
          <a:ln w="12700">
            <a:solidFill>
              <a:srgbClr val="FF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658368" y="1225296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MY ROLE 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cross-functional GTM for regulated financial-services deployments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1627632"/>
            <a:ext cx="11155680" cy="0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>
            <a:spLocks/>
          </p:cNvSpPr>
          <p:nvPr/>
        </p:nvSpPr>
        <p:spPr>
          <a:xfrm>
            <a:off x="502920" y="1677365"/>
            <a:ext cx="111556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C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TAKEAWAY 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When one objection blocks many deals, solve it with product and engineering, then give the field a repeatable response.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767328" y="2194559"/>
            <a:ext cx="0" cy="3886200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2194559"/>
            <a:ext cx="0" cy="3886200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>
            <a:spLocks/>
          </p:cNvSpPr>
          <p:nvPr/>
        </p:nvSpPr>
        <p:spPr>
          <a:xfrm>
            <a:off x="1225296" y="222199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01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1225296" y="244144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CUSTOMER BLOCKERS</a:t>
            </a:r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640080" y="3127248"/>
            <a:ext cx="2788920" cy="6309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Regulated financial-services buyers asked: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" y="3858768"/>
            <a:ext cx="91440" cy="91440"/>
          </a:xfrm>
          <a:prstGeom prst="rect">
            <a:avLst/>
          </a:prstGeom>
          <a:solidFill>
            <a:srgbClr val="FF4B00"/>
          </a:solidFill>
          <a:ln w="12700">
            <a:solidFill>
              <a:srgbClr val="FF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896112" y="3785616"/>
            <a:ext cx="2606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Where does data live?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" y="4425696"/>
            <a:ext cx="91440" cy="91440"/>
          </a:xfrm>
          <a:prstGeom prst="rect">
            <a:avLst/>
          </a:prstGeom>
          <a:solidFill>
            <a:srgbClr val="FF4B00"/>
          </a:solidFill>
          <a:ln w="12700">
            <a:solidFill>
              <a:srgbClr val="FF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TextBox 28"/>
          <p:cNvSpPr txBox="1">
            <a:spLocks/>
          </p:cNvSpPr>
          <p:nvPr/>
        </p:nvSpPr>
        <p:spPr>
          <a:xfrm>
            <a:off x="896112" y="4352544"/>
            <a:ext cx="2606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Who controls access?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" y="4992624"/>
            <a:ext cx="91440" cy="91440"/>
          </a:xfrm>
          <a:prstGeom prst="rect">
            <a:avLst/>
          </a:prstGeom>
          <a:solidFill>
            <a:srgbClr val="FF4B00"/>
          </a:solidFill>
          <a:ln w="12700">
            <a:solidFill>
              <a:srgbClr val="FF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TextBox 30"/>
          <p:cNvSpPr txBox="1">
            <a:spLocks/>
          </p:cNvSpPr>
          <p:nvPr/>
        </p:nvSpPr>
        <p:spPr>
          <a:xfrm>
            <a:off x="896112" y="4919472"/>
            <a:ext cx="2606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Can this satisfy local rules?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" y="5559552"/>
            <a:ext cx="91440" cy="91440"/>
          </a:xfrm>
          <a:prstGeom prst="rect">
            <a:avLst/>
          </a:prstGeom>
          <a:solidFill>
            <a:srgbClr val="FF4B00"/>
          </a:solidFill>
          <a:ln w="12700">
            <a:solidFill>
              <a:srgbClr val="FF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TextBox 32"/>
          <p:cNvSpPr txBox="1">
            <a:spLocks/>
          </p:cNvSpPr>
          <p:nvPr/>
        </p:nvSpPr>
        <p:spPr>
          <a:xfrm>
            <a:off x="896112" y="5486400"/>
            <a:ext cx="2606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Will latency work in production?</a:t>
            </a:r>
          </a:p>
        </p:txBody>
      </p:sp>
      <p:sp>
        <p:nvSpPr>
          <p:cNvPr id="34" name="TextBox 33"/>
          <p:cNvSpPr txBox="1">
            <a:spLocks/>
          </p:cNvSpPr>
          <p:nvPr/>
        </p:nvSpPr>
        <p:spPr>
          <a:xfrm>
            <a:off x="4700016" y="222199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02</a:t>
            </a:r>
          </a:p>
        </p:txBody>
      </p:sp>
      <p:sp>
        <p:nvSpPr>
          <p:cNvPr id="35" name="TextBox 34"/>
          <p:cNvSpPr txBox="1">
            <a:spLocks/>
          </p:cNvSpPr>
          <p:nvPr/>
        </p:nvSpPr>
        <p:spPr>
          <a:xfrm>
            <a:off x="4700016" y="244144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PRODUCTIZED ANSWER</a:t>
            </a:r>
          </a:p>
        </p:txBody>
      </p:sp>
      <p:sp>
        <p:nvSpPr>
          <p:cNvPr id="36" name="TextBox 35"/>
          <p:cNvSpPr txBox="1">
            <a:spLocks/>
          </p:cNvSpPr>
          <p:nvPr/>
        </p:nvSpPr>
        <p:spPr>
          <a:xfrm>
            <a:off x="4114800" y="3127248"/>
            <a:ext cx="3291840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Cross-functional playbook: deployment patterns, partner requirements, technical gates and SOPs aligned product, engineering, legal and field.</a:t>
            </a:r>
          </a:p>
        </p:txBody>
      </p:sp>
      <p:sp>
        <p:nvSpPr>
          <p:cNvPr id="37" name="TextBox 36"/>
          <p:cNvSpPr txBox="1">
            <a:spLocks/>
          </p:cNvSpPr>
          <p:nvPr/>
        </p:nvSpPr>
        <p:spPr>
          <a:xfrm>
            <a:off x="4114800" y="4151376"/>
            <a:ext cx="329184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Technical unlock: replaced FHE with confidential computing to run secure architecture at production latency.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114800" y="4956048"/>
            <a:ext cx="3337560" cy="0"/>
          </a:xfrm>
          <a:prstGeom prst="line">
            <a:avLst/>
          </a:prstGeom>
          <a:ln w="25400">
            <a:solidFill>
              <a:srgbClr val="FF4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>
            <a:spLocks/>
          </p:cNvSpPr>
          <p:nvPr/>
        </p:nvSpPr>
        <p:spPr>
          <a:xfrm>
            <a:off x="4114800" y="5157216"/>
            <a:ext cx="333756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14s → 220ms</a:t>
            </a:r>
          </a:p>
        </p:txBody>
      </p:sp>
      <p:sp>
        <p:nvSpPr>
          <p:cNvPr id="40" name="TextBox 39"/>
          <p:cNvSpPr txBox="1">
            <a:spLocks/>
          </p:cNvSpPr>
          <p:nvPr/>
        </p:nvSpPr>
        <p:spPr>
          <a:xfrm>
            <a:off x="4114800" y="5742432"/>
            <a:ext cx="33375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secure production latency</a:t>
            </a:r>
          </a:p>
        </p:txBody>
      </p:sp>
      <p:sp>
        <p:nvSpPr>
          <p:cNvPr id="41" name="TextBox 40"/>
          <p:cNvSpPr txBox="1">
            <a:spLocks/>
          </p:cNvSpPr>
          <p:nvPr/>
        </p:nvSpPr>
        <p:spPr>
          <a:xfrm>
            <a:off x="8759952" y="222199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03</a:t>
            </a:r>
          </a:p>
        </p:txBody>
      </p:sp>
      <p:sp>
        <p:nvSpPr>
          <p:cNvPr id="42" name="TextBox 41"/>
          <p:cNvSpPr txBox="1">
            <a:spLocks/>
          </p:cNvSpPr>
          <p:nvPr/>
        </p:nvSpPr>
        <p:spPr>
          <a:xfrm>
            <a:off x="8759952" y="244144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FIELD PROOF</a:t>
            </a:r>
          </a:p>
        </p:txBody>
      </p:sp>
      <p:sp>
        <p:nvSpPr>
          <p:cNvPr id="43" name="TextBox 42"/>
          <p:cNvSpPr txBox="1">
            <a:spLocks/>
          </p:cNvSpPr>
          <p:nvPr/>
        </p:nvSpPr>
        <p:spPr>
          <a:xfrm>
            <a:off x="8156448" y="3163824"/>
            <a:ext cx="162763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10+</a:t>
            </a:r>
          </a:p>
        </p:txBody>
      </p:sp>
      <p:sp>
        <p:nvSpPr>
          <p:cNvPr id="44" name="TextBox 43"/>
          <p:cNvSpPr txBox="1">
            <a:spLocks/>
          </p:cNvSpPr>
          <p:nvPr/>
        </p:nvSpPr>
        <p:spPr>
          <a:xfrm>
            <a:off x="8156448" y="3566160"/>
            <a:ext cx="157276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engagements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156448" y="3913632"/>
            <a:ext cx="1554480" cy="0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>
            <a:spLocks/>
          </p:cNvSpPr>
          <p:nvPr/>
        </p:nvSpPr>
        <p:spPr>
          <a:xfrm>
            <a:off x="9966960" y="3163824"/>
            <a:ext cx="162763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9→3 mo</a:t>
            </a:r>
          </a:p>
        </p:txBody>
      </p:sp>
      <p:sp>
        <p:nvSpPr>
          <p:cNvPr id="47" name="TextBox 46"/>
          <p:cNvSpPr txBox="1">
            <a:spLocks/>
          </p:cNvSpPr>
          <p:nvPr/>
        </p:nvSpPr>
        <p:spPr>
          <a:xfrm>
            <a:off x="9966960" y="3566160"/>
            <a:ext cx="157276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time-to-compliance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966960" y="3913632"/>
            <a:ext cx="1554480" cy="0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>
            <a:spLocks/>
          </p:cNvSpPr>
          <p:nvPr/>
        </p:nvSpPr>
        <p:spPr>
          <a:xfrm>
            <a:off x="8156448" y="4169664"/>
            <a:ext cx="162763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$5M</a:t>
            </a:r>
          </a:p>
        </p:txBody>
      </p:sp>
      <p:sp>
        <p:nvSpPr>
          <p:cNvPr id="50" name="TextBox 49"/>
          <p:cNvSpPr txBox="1">
            <a:spLocks/>
          </p:cNvSpPr>
          <p:nvPr/>
        </p:nvSpPr>
        <p:spPr>
          <a:xfrm>
            <a:off x="8156448" y="4572000"/>
            <a:ext cx="157276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account rescued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156448" y="4919472"/>
            <a:ext cx="1554480" cy="0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>
            <a:spLocks/>
          </p:cNvSpPr>
          <p:nvPr/>
        </p:nvSpPr>
        <p:spPr>
          <a:xfrm>
            <a:off x="9966960" y="4169664"/>
            <a:ext cx="162763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$2M</a:t>
            </a:r>
          </a:p>
        </p:txBody>
      </p:sp>
      <p:sp>
        <p:nvSpPr>
          <p:cNvPr id="53" name="TextBox 52"/>
          <p:cNvSpPr txBox="1">
            <a:spLocks/>
          </p:cNvSpPr>
          <p:nvPr/>
        </p:nvSpPr>
        <p:spPr>
          <a:xfrm>
            <a:off x="9966960" y="4572000"/>
            <a:ext cx="157276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expansion won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966960" y="4919472"/>
            <a:ext cx="1554480" cy="0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>
            <a:spLocks/>
          </p:cNvSpPr>
          <p:nvPr/>
        </p:nvSpPr>
        <p:spPr>
          <a:xfrm>
            <a:off x="8156448" y="5175504"/>
            <a:ext cx="162763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</a:t>
            </a:r>
          </a:p>
        </p:txBody>
      </p:sp>
      <p:sp>
        <p:nvSpPr>
          <p:cNvPr id="56" name="TextBox 55"/>
          <p:cNvSpPr txBox="1">
            <a:spLocks/>
          </p:cNvSpPr>
          <p:nvPr/>
        </p:nvSpPr>
        <p:spPr>
          <a:xfrm>
            <a:off x="8156448" y="5577840"/>
            <a:ext cx="157276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breaches</a:t>
            </a:r>
          </a:p>
        </p:txBody>
      </p:sp>
      <p:sp>
        <p:nvSpPr>
          <p:cNvPr id="57" name="TextBox 56"/>
          <p:cNvSpPr txBox="1">
            <a:spLocks/>
          </p:cNvSpPr>
          <p:nvPr/>
        </p:nvSpPr>
        <p:spPr>
          <a:xfrm>
            <a:off x="9966960" y="5175504"/>
            <a:ext cx="162763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+61%</a:t>
            </a:r>
          </a:p>
        </p:txBody>
      </p:sp>
      <p:sp>
        <p:nvSpPr>
          <p:cNvPr id="58" name="TextBox 57"/>
          <p:cNvSpPr txBox="1">
            <a:spLocks/>
          </p:cNvSpPr>
          <p:nvPr/>
        </p:nvSpPr>
        <p:spPr>
          <a:xfrm>
            <a:off x="9966960" y="5577840"/>
            <a:ext cx="157276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AI ROI</a:t>
            </a:r>
          </a:p>
        </p:txBody>
      </p:sp>
      <p:sp>
        <p:nvSpPr>
          <p:cNvPr id="59" name="TextBox 58"/>
          <p:cNvSpPr txBox="1">
            <a:spLocks/>
          </p:cNvSpPr>
          <p:nvPr/>
        </p:nvSpPr>
        <p:spPr>
          <a:xfrm>
            <a:off x="566928" y="6400800"/>
            <a:ext cx="10469880" cy="1536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Definitions: FHE = fully homomorphic encryption; AI ROI = benefit-to-cost improvement.</a:t>
            </a:r>
          </a:p>
        </p:txBody>
      </p:sp>
      <p:sp>
        <p:nvSpPr>
          <p:cNvPr id="80" name="Icon Blockers"/>
          <p:cNvSpPr/>
          <p:nvPr/>
        </p:nvSpPr>
        <p:spPr>
          <a:xfrm>
            <a:off x="621792" y="2212848"/>
            <a:ext cx="457200" cy="457200"/>
          </a:xfrm>
          <a:prstGeom prst="noSmoking">
            <a:avLst/>
          </a:prstGeom>
          <a:solidFill>
            <a:srgbClr val="FF4B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1" name="Icon Answer"/>
          <p:cNvSpPr/>
          <p:nvPr/>
        </p:nvSpPr>
        <p:spPr>
          <a:xfrm>
            <a:off x="4078224" y="2194559"/>
            <a:ext cx="493776" cy="493776"/>
          </a:xfrm>
          <a:prstGeom prst="gear6">
            <a:avLst/>
          </a:prstGeom>
          <a:solidFill>
            <a:srgbClr val="FF4B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" name="Icon Proof"/>
          <p:cNvSpPr/>
          <p:nvPr/>
        </p:nvSpPr>
        <p:spPr>
          <a:xfrm>
            <a:off x="8174736" y="2212848"/>
            <a:ext cx="457200" cy="457200"/>
          </a:xfrm>
          <a:prstGeom prst="upArrow">
            <a:avLst/>
          </a:prstGeom>
          <a:solidFill>
            <a:srgbClr val="FFC4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83" name="Official Mistral footer symbol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594592" y="6400800"/>
            <a:ext cx="228600" cy="163413"/>
          </a:xfrm>
          <a:prstGeom prst="rect">
            <a:avLst/>
          </a:prstGeom>
        </p:spPr>
      </p:pic>
      <p:pic>
        <p:nvPicPr>
          <p:cNvPr id="84" name="Official Mistral header symbo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228600" cy="1634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1037</Words>
  <Application>Microsoft Office PowerPoint</Application>
  <PresentationFormat>Widescreen</PresentationFormat>
  <Paragraphs>144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Aptos</vt:lpstr>
      <vt:lpstr>Arial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Shivam Singh</dc:creator>
  <cp:lastModifiedBy>Shivam Singh</cp:lastModifiedBy>
  <cp:revision>1</cp:revision>
  <dcterms:created xsi:type="dcterms:W3CDTF">2026-08-16T20:55:47Z</dcterms:created>
  <dcterms:modified xsi:type="dcterms:W3CDTF">2026-08-16T20:56:14Z</dcterms:modified>
</cp:coreProperties>
</file>