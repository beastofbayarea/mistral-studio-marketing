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59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https://mistral.ai/customers/asml/
- https://mistral.ai/customers/cisco/
- https://mistral.ai/customers/epo/
- https://mistral.ai/customers/cma-cgm/
- https://mistral.ai/customers/axa/
- https://mistral.ai/customers/airbus/
- https://mistral.ai/customers/stellantis/
- https://mistral.ai/customers/veolia/
- https://mistral.ai/customers/hsbc/
- https://mistral.ai/customers/sncf/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E74B5BA-E96D-D651-B64C-7F2A0D5C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Image-theme field D91B0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91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621792" y="1353312"/>
            <a:ext cx="73152" cy="2761488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932688" y="1353312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Mistral Studio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914400" y="1755648"/>
            <a:ext cx="7818120" cy="1444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b="1" i="0">
                <a:solidFill>
                  <a:srgbClr val="FFFFFF"/>
                </a:solidFill>
                <a:latin typeface="Arial"/>
              </a:rPr>
              <a:t>Prosumer Persona
Segmentation Framework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932688" y="349300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>
                <a:solidFill>
                  <a:srgbClr val="FFE2D2"/>
                </a:solidFill>
                <a:latin typeface="Arial"/>
              </a:rPr>
              <a:t>Customer model to qualify, activate and convert Studio builders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62288" y="1307592"/>
            <a:ext cx="2286000" cy="12070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0" b="1" i="0">
                <a:solidFill>
                  <a:srgbClr val="FFE2D2"/>
                </a:solidFill>
                <a:latin typeface="Arial"/>
              </a:rPr>
              <a:t>01</a:t>
            </a:r>
            <a:endParaRPr sz="11200" b="1" i="0">
              <a:solidFill>
                <a:srgbClr val="292929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53728" y="298094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QUALIFY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53728" y="3346704"/>
            <a:ext cx="420624" cy="36576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53728" y="376732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ACTIVATE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53728" y="4133087"/>
            <a:ext cx="420624" cy="36576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3728" y="455371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CONVERT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FE2D2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E2D2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7B34A4C9-F032-A156-4AEA-6C0006726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Image-theme field FFF4EC"/>
          <p:cNvSpPr/>
          <p:nvPr/>
        </p:nvSpPr>
        <p:spPr>
          <a:xfrm>
            <a:off x="0" y="1207008"/>
            <a:ext cx="12191695" cy="5650992"/>
          </a:xfrm>
          <a:prstGeom prst="rect">
            <a:avLst/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Image-theme field FF9B35"/>
          <p:cNvSpPr/>
          <p:nvPr/>
        </p:nvSpPr>
        <p:spPr>
          <a:xfrm>
            <a:off x="0" y="1179576"/>
            <a:ext cx="12191695" cy="45720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182880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PROSUMER SEGMENTS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429768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Score builders on six enterprise-pull signals, then assign segment and gate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B3A2C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53000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362456"/>
            <a:ext cx="13716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PRIORITY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240280" y="1362456"/>
            <a:ext cx="55321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PERSONA + WEDGE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8183879" y="1362456"/>
            <a:ext cx="32461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SCORE + REQUIRED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3677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773936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F53000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243584" y="186537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F53000"/>
                </a:solidFill>
                <a:latin typeface="Arial"/>
              </a:rPr>
              <a:t>LEAD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240280" y="1755648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Studio Champion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240280" y="2167128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AI/ML engineer or platform lead building a repeatable workflow. Signals: builder depth, team reuse, platform pull, control need, production path.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8183879" y="1755648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F53000"/>
                </a:solidFill>
                <a:latin typeface="Arial"/>
              </a:rPr>
              <a:t>5–6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Team pull + control or production intent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072384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3264408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FF6900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243584" y="3355848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FF6900"/>
                </a:solidFill>
                <a:latin typeface="Arial"/>
              </a:rPr>
              <a:t>EXPAND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2240280" y="3246120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Workflow Prosumer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240280" y="3657600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Technical operator automating a recurring, data-rich task. Signals: repeated business-critical work, repeat use with eval discipline.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8183879" y="3246120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FF6900"/>
                </a:solidFill>
                <a:latin typeface="Arial"/>
              </a:rPr>
              <a:t>3–4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Repeat use 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480560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58368" y="4681728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B91500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1243584" y="4773168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B91500"/>
                </a:solidFill>
                <a:latin typeface="Arial"/>
              </a:rPr>
              <a:t>SEED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2240280" y="4663440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Studio Explorer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2240280" y="5074920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Developer testing templates, models and first workflows. Signal: first successful Studio workflow, not yet repeated.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183879" y="4663440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B91500"/>
                </a:solidFill>
                <a:latin typeface="Arial"/>
              </a:rPr>
              <a:t>0–2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No repeat use yet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70448"/>
            <a:ext cx="10835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1 point each: role  •  use case  •  activation  •  proof  •  influence  •  scale</a:t>
            </a:r>
            <a:endParaRPr sz="1500" b="1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3" name="Header accent rule"/>
          <p:cNvSpPr/>
          <p:nvPr/>
        </p:nvSpPr>
        <p:spPr>
          <a:xfrm>
            <a:off x="310896" y="182880"/>
            <a:ext cx="50292" cy="896112"/>
          </a:xfrm>
          <a:prstGeom prst="rect">
            <a:avLst/>
          </a:prstGeom>
          <a:solidFill>
            <a:srgbClr val="FF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5D924568-8A25-685D-73F2-EC354912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Image-theme field FFF4EC"/>
          <p:cNvSpPr/>
          <p:nvPr/>
        </p:nvSpPr>
        <p:spPr>
          <a:xfrm>
            <a:off x="0" y="1207008"/>
            <a:ext cx="12191695" cy="5650992"/>
          </a:xfrm>
          <a:prstGeom prst="rect">
            <a:avLst/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Image-theme field FF9B35"/>
          <p:cNvSpPr/>
          <p:nvPr/>
        </p:nvSpPr>
        <p:spPr>
          <a:xfrm>
            <a:off x="0" y="1179576"/>
            <a:ext cx="12191695" cy="45720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182880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PROSUMER → ENTERPRISE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429768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 dirty="0">
                <a:solidFill>
                  <a:srgbClr val="FFFFFF"/>
                </a:solidFill>
                <a:latin typeface="Arial"/>
              </a:rPr>
              <a:t>Convert prosumer success into role-specific proof, and instrument the events that prove it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B3A2C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53000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362456"/>
            <a:ext cx="1965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ROLE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788920" y="1362456"/>
            <a:ext cx="27432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DECISION BLOCKER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806440" y="1362456"/>
            <a:ext cx="37033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REQUIRED PROOF + MEASURE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9738360" y="1362456"/>
            <a:ext cx="178308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HANDOFF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3677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175564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53000"/>
                </a:solidFill>
                <a:latin typeface="Arial"/>
              </a:rPr>
              <a:t>Prosumer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58368" y="2039112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AI / ML engineer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788920" y="1755648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First workflow is brittle or hard to evaluate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806440" y="1746504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Reusable workflow + eval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time to first successful workflow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9738360" y="1755648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Quickstart + eval kit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45973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58368" y="256946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F6900"/>
                </a:solidFill>
                <a:latin typeface="Arial"/>
              </a:rPr>
              <a:t>Platform champion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2852928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AI Platform Lead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788920" y="2569464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Teams duplicate tooling; governance diverges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806440" y="2560320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Shared registry + observability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return build, reuse, teammate invite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9738360" y="2569464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Architecture workshop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273552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58368" y="338328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B91500"/>
                </a:solidFill>
                <a:latin typeface="Arial"/>
              </a:rPr>
              <a:t>Economic buyer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658368" y="3666744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CTO / CIO / CDO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2788920" y="338328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Pilot value and control are unclear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374136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Production path + ROI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production use and workspace expansion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738360" y="3383280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Pilot 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87368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658368" y="41970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53000"/>
                </a:solidFill>
                <a:latin typeface="Arial"/>
              </a:rPr>
              <a:t>Security approver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480559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Security /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197096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Data, secrets, policy and audit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187952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Traceability + guardrails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eval, security and deployment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4197096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Security review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4360" y="4901184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01091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F6900"/>
                </a:solidFill>
                <a:latin typeface="Arial"/>
              </a:rPr>
              <a:t>Outcome owner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294376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Line-of-business leader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010912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Workflow impact is unproven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06440" y="5001768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Cycle time, quality or productivity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acquisition source × builder role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5010912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Use case + baseline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94360" y="5715000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One signal, one proof per handoff. Loop: fit → proof → scale.</a:t>
            </a:r>
            <a:endParaRPr sz="1500" b="1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47" name="Header accent rule"/>
          <p:cNvSpPr/>
          <p:nvPr/>
        </p:nvSpPr>
        <p:spPr>
          <a:xfrm>
            <a:off x="310896" y="182880"/>
            <a:ext cx="50292" cy="896112"/>
          </a:xfrm>
          <a:prstGeom prst="rect">
            <a:avLst/>
          </a:prstGeom>
          <a:solidFill>
            <a:srgbClr val="FF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784</Words>
  <Application>Microsoft Office PowerPoint</Application>
  <PresentationFormat>Widescreen</PresentationFormat>
  <Paragraphs>80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Enterprise and Prosumer Segmentation Persona Framework</dc:subject>
  <dc:creator>OpenAI</dc:creator>
  <cp:lastModifiedBy>Shivam Singh</cp:lastModifiedBy>
  <cp:revision>7</cp:revision>
  <dcterms:created xsi:type="dcterms:W3CDTF">2026-08-16T18:10:44Z</dcterms:created>
  <dcterms:modified xsi:type="dcterms:W3CDTF">2026-08-16T21:32:16Z</dcterms:modified>
</cp:coreProperties>
</file>