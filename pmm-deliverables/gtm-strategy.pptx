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69" r:id="rId5"/>
    <p:sldId id="279" r:id="rId6"/>
    <p:sldId id="28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3535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Studio product positioning
- https://mistral.ai/news/ai-studio/ - launch announcement and problem framing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https://mistral.ai/news/ai-studio/ - prototype-to-production gap, evals, feedback loops, governance, flexible deployment
- https://mistral.ai/products/studio/ - Studio build/deploy/govern and deployment options
- https://docs.mistral.ai/studio-api/overview - developer platform capabilities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https://mistral.ai/customers/ - customer story sectors
- https://mistral.ai/customers/axa/ - AXA financial services proof
- https://mistral.ai/customers/hsbc/ - HSBC financial services proof
- https://mistral.ai/customers/epo/ - EPO public sector document AI
- https://mistral.ai/customers/asml/ - ASML industrial AI
- https://mistral.ai/customers/airbus/ - Airbus security/sovereignty
- https://mistral.ai/customers/cma-cgm/ - CMA CGM logistics
- https://mistral.ai/customers/sncf/ - SNCF transportation
- https://mistral.ai/customers/cisco/ - Cisco sales proposal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Mistral Studio platform/deployment/control
- https://mistral.ai/news/ai-studio/ - Observability/Agent Runtime/AI Registry
- https://openai.com/index/new-tools-for-building-agents/ - OpenAI Responses API/agents tools
- https://docs.anthropic.com/en/docs/agents-and-tools/tool-use/tool-runner-sdk - Anthropic tool runner
- https://docs.cloud.google.com/vertex-ai/generative-ai/docs/agent-engine/evaluate - Google Vertex agent evaluation
- https://azure.microsoft.com/en-us/products/ai-foundry - Azure AI Foundry agent platform
- https://aws.amazon.com/about-aws/whats-new/2026/05/bedrock-agentcore-launch-aws-govcloud-us/ - Amazon Bedrock AgentCore
- https://www.langchain.com/langsmith-platform - LangSmith agent engineering platform
- https://langchain-ai.github.io/langgraph/concepts/persistence/ - LangGraph persistence/durability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https://mistral.ai/news/ai-studio/ - private beta status means launch tier/timing require internal validation
- https://mistral.ai/products/studio/ - public CTAs and product pillars
- https://docs.mistral.ai/studio-api/overview - docs/quickstart basis
- https://mistral.ai/customers/ - proof point source 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product CTAs/product areas
- https://docs.mistral.ai/studio-api/overview - activation components
- https://docs.mistral.ai/studio-api/workflows/getting-started/overview - workflow usage
- https://docs.mistral.ai/studio-api/workflows/observability - observability usage
- https://mistral.ai/news/ai-studio/ - launch status and assumptions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694944" y="6217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36F21"/>
                </a:solidFill>
                <a:latin typeface="Aptos"/>
              </a:rPr>
              <a:t>MISTRAL STUDIO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94944" y="1170432"/>
            <a:ext cx="70408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b="1" i="0">
                <a:solidFill>
                  <a:srgbClr val="FFFFFF"/>
                </a:solidFill>
                <a:latin typeface="Aptos Display"/>
              </a:rPr>
              <a:t>Product launch
GTM plan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713232" y="2871216"/>
            <a:ext cx="690372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b="1" i="0">
                <a:solidFill>
                  <a:srgbClr val="FFD447"/>
                </a:solidFill>
                <a:latin typeface="Aptos"/>
              </a:rPr>
              <a:t>The 12-week plan to launch Mistral Studio and prove it in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13632"/>
            <a:ext cx="6537960" cy="16459"/>
          </a:xfrm>
          <a:prstGeom prst="rect">
            <a:avLst/>
          </a:prstGeom>
          <a:solidFill>
            <a:srgbClr val="3D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713232" y="4160520"/>
            <a:ext cx="66294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>
                <a:solidFill>
                  <a:srgbClr val="EFE7DB"/>
                </a:solidFill>
                <a:latin typeface="Aptos"/>
              </a:rPr>
              <a:t>Sharpened outside-in reconstruction from public product evidence.
Internal validation items are isolated on the final slide.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47888" y="1051560"/>
            <a:ext cx="530352" cy="530352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61120" y="1051560"/>
            <a:ext cx="530352" cy="530352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674352" y="1051560"/>
            <a:ext cx="5303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387584" y="1051560"/>
            <a:ext cx="530352" cy="530352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247888" y="1764792"/>
            <a:ext cx="530352" cy="530352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961120" y="1764792"/>
            <a:ext cx="5303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674352" y="1764792"/>
            <a:ext cx="530352" cy="530352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387584" y="1764792"/>
            <a:ext cx="5303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13232" y="534924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0" i="0">
                <a:solidFill>
                  <a:srgbClr val="D0C7B8"/>
                </a:solidFill>
                <a:latin typeface="Aptos"/>
              </a:rPr>
              <a:t>2026-08-16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0C7B8"/>
                </a:solidFill>
                <a:latin typeface="Aptos"/>
              </a:rPr>
              <a:t>Outside-in launch plan  |  public evidence + internal validation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A. SITUATION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Own the gap between prototype and production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Name the enemy first, then show one credible path through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6002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THE LAUNCH PROMISE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40080" y="1920240"/>
            <a:ext cx="4983480" cy="1298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i="0">
                <a:solidFill>
                  <a:srgbClr val="111111"/>
                </a:solidFill>
                <a:latin typeface="Aptos Display"/>
              </a:rPr>
              <a:t>From promising prototypes
to governed production agents.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3401568"/>
            <a:ext cx="470916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>
                <a:solidFill>
                  <a:srgbClr val="6F6A61"/>
                </a:solidFill>
                <a:latin typeface="Aptos"/>
              </a:rPr>
              <a:t>Mistral Studio combines durable workflows, evaluation, observability, governance and deployment control in one production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73168"/>
            <a:ext cx="4709160" cy="6583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877824" y="4937760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Enterprise AI in production—not in pilot.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989320" y="1664208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F36F21"/>
                </a:solidFill>
                <a:latin typeface="Aptos Display"/>
              </a:rPr>
              <a:t>01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6656832" y="169164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ENEMY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6656832" y="1975104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>
                <a:solidFill>
                  <a:srgbClr val="111111"/>
                </a:solidFill>
                <a:latin typeface="Aptos"/>
              </a:rPr>
              <a:t>Prototype portfolios stall on reliability, observability and governance.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715768"/>
            <a:ext cx="512064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989320" y="2962656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E7F5C"/>
                </a:solidFill>
                <a:latin typeface="Aptos Display"/>
              </a:rPr>
              <a:t>02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656832" y="299008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1E7F5C"/>
                </a:solidFill>
                <a:latin typeface="Aptos"/>
              </a:rPr>
              <a:t>WEDGE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656832" y="3273552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>
                <a:solidFill>
                  <a:srgbClr val="111111"/>
                </a:solidFill>
                <a:latin typeface="Aptos"/>
              </a:rPr>
              <a:t>AI platform leaders in regulated, industrial and knowledge-heavy enterprises.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4014216"/>
            <a:ext cx="512064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989320" y="4261104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5B4BB7"/>
                </a:solidFill>
                <a:latin typeface="Aptos Display"/>
              </a:rPr>
              <a:t>03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656832" y="42885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5B4BB7"/>
                </a:solidFill>
                <a:latin typeface="Aptos"/>
              </a:rPr>
              <a:t>MOTION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656832" y="4572000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>
                <a:solidFill>
                  <a:srgbClr val="111111"/>
                </a:solidFill>
                <a:latin typeface="Aptos"/>
              </a:rPr>
              <a:t>Quickstarts for builders; readiness and architecture workshops for buyers.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5989320" y="552297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36F21"/>
                </a:solidFill>
                <a:latin typeface="Aptos"/>
              </a:rPr>
              <a:t>ONE PLATFORM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7424927" y="548640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>
                <a:solidFill>
                  <a:srgbClr val="111111"/>
                </a:solidFill>
                <a:latin typeface="Aptos"/>
              </a:rPr>
              <a:t>Durable workflows  •  evals + feedback  •  registry + lineage  •  governed deployment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566928" y="6492240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6F6A61"/>
                </a:solidFill>
                <a:latin typeface="Aptos"/>
              </a:rPr>
              <a:t>Outside-in launch plan  |  public evidence + internal validation required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6F6A6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B. AUDIENCE + PROOF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Win where control is a buying criterion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Prioritize environments where reliability, sovereignty and governance decide the purchase—each already has adjacent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554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PRIORITY ENVIRONMENTS + PROOF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91440" cy="603504"/>
          </a:xfrm>
          <a:prstGeom prst="rect">
            <a:avLst/>
          </a:prstGeom>
          <a:solidFill>
            <a:srgbClr val="345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932688" y="18745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Regulated + public services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932688" y="216712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EPO • 400k+ pages/day, days to minutes, &lt;1%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43200"/>
            <a:ext cx="91440" cy="603504"/>
          </a:xfrm>
          <a:prstGeom prst="rect">
            <a:avLst/>
          </a:prstGeom>
          <a:solidFill>
            <a:srgbClr val="1E7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932688" y="273405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Industrial + manufacturing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932688" y="3026664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ASML diagnostics • Veolia copilot for 218k employees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02736"/>
            <a:ext cx="91440" cy="6035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32688" y="3593592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Transport + logistics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32688" y="388620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CMA CGM • cargo release and shipping documents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62272"/>
            <a:ext cx="91440" cy="603504"/>
          </a:xfrm>
          <a:prstGeom prst="rect">
            <a:avLst/>
          </a:prstGeom>
          <a:solidFill>
            <a:srgbClr val="5B4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32688" y="4453128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Technology + software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32688" y="4745736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Cisco • renewal agent, up to 20% time reduction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806440" y="155448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1E7F5C"/>
                </a:solidFill>
                <a:latin typeface="Aptos"/>
              </a:rPr>
              <a:t>MINIMUM BUYING CHAIN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5806440" y="1901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1E7F5C"/>
                </a:solidFill>
                <a:latin typeface="Aptos"/>
              </a:rPr>
              <a:t>CHAMPION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7059168" y="1883664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AI platform lead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059168" y="2231136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Standardize development; needs registry, workspaces and observability.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816352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806440" y="303580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3454D1"/>
                </a:solidFill>
                <a:latin typeface="Aptos"/>
              </a:rPr>
              <a:t>BUYER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7059168" y="301752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CTO / VP Engineering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7059168" y="336499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Speed + architecture; needs a production demo, ROI and roadmap.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950208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5806440" y="416966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APPROVER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151376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Aptos"/>
              </a:rPr>
              <a:t>Security /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449884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F6A61"/>
                </a:solidFill>
                <a:latin typeface="Aptos"/>
              </a:rPr>
              <a:t>Privacy, risk and audit; needs guardrails, credentials and lineage.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669280"/>
            <a:ext cx="10561320" cy="5852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84301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447"/>
                </a:solidFill>
                <a:latin typeface="Aptos"/>
              </a:rPr>
              <a:t>ICP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4752" y="5788152"/>
            <a:ext cx="9418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Enterprise AI platform teams moving a pilot portfolio into governed production—where deployment control and data ownership shape the purchase, as Airbus's on-prem sovereignty shows.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6492240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6F6A61"/>
                </a:solidFill>
                <a:latin typeface="Aptos"/>
              </a:rPr>
              <a:t>Adjacent public proof  |  next: Studio-specific before/after production metrics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F6A6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C. STRATEGY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Win on control + model choice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Compete on production criteria—not slogans. Strong / Partial / Limited is directional until validated.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459237"/>
              </p:ext>
            </p:extLst>
          </p:nvPr>
        </p:nvGraphicFramePr>
        <p:xfrm>
          <a:off x="640080" y="1609344"/>
          <a:ext cx="109270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Alternative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Durable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runtime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Evals +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feedback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Registry +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lineage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Enterprise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connectors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Deploy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control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choice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Mistral Studio</a:t>
                      </a:r>
                    </a:p>
                  </a:txBody>
                  <a:tcPr marL="73152" marR="73152" anchor="ctr">
                    <a:solidFill>
                      <a:srgbClr val="FFD4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OpenAI / Anthropic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Limited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Limited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Limited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Google / Microsoft / AWS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LangGraph / LangSmith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DIY open source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Varies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Varies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Limited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Varies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833872"/>
            <a:ext cx="10927080" cy="42062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859536" y="5952744"/>
            <a:ext cx="157276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FD447"/>
                </a:solidFill>
                <a:latin typeface="Aptos"/>
              </a:rPr>
              <a:t>WINNING CONDITION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2587752" y="5916168"/>
            <a:ext cx="8549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Integrated production loop + deployment optionality + open-model posture.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66928" y="6492240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6F6A61"/>
                </a:solidFill>
                <a:latin typeface="Aptos"/>
              </a:rPr>
              <a:t>Directional category assessment from source deck  |  validate before external use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6F6A6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D. EXECUTION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A 12-week plan turns two entry points into proof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Builders enter through the quickstart, buyers through readiness; both converge on a POV. Owners are role-level placeholders.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8368" y="1682496"/>
            <a:ext cx="2423160" cy="91440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5836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T−8 → T−5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Strategy + proof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Finalize ICP, positioning, demo use cases and proof permissions.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5836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PMM • Product •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7" y="1682496"/>
            <a:ext cx="2423160" cy="91440"/>
          </a:xfrm>
          <a:prstGeom prst="rect">
            <a:avLst/>
          </a:prstGeom>
          <a:solidFill>
            <a:srgbClr val="345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44728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3454D1"/>
                </a:solidFill>
                <a:latin typeface="Aptos"/>
              </a:rPr>
              <a:t>T−4 → T−1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344728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Build + enable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344728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Ship builder quickstart, templates and trace demo; enterprise security kit and POV packs.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728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344728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PMM • Docs • DevRel • Field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682496"/>
            <a:ext cx="2423160" cy="91440"/>
          </a:xfrm>
          <a:prstGeom prst="rect">
            <a:avLst/>
          </a:prstGeom>
          <a:solidFill>
            <a:srgbClr val="1E7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623620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1E7F5C"/>
                </a:solidFill>
                <a:latin typeface="Aptos"/>
              </a:rPr>
              <a:t>LAUNCH WEEK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23620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Announce + activate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23620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Launch page/post, technical demo, readiness workshop, exec social and account outreach.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623620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PMM • Comms • DevRel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5128" y="1682496"/>
            <a:ext cx="2423160" cy="91440"/>
          </a:xfrm>
          <a:prstGeom prst="rect">
            <a:avLst/>
          </a:prstGeom>
          <a:solidFill>
            <a:srgbClr val="5B4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902512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5B4BB7"/>
                </a:solidFill>
                <a:latin typeface="Aptos"/>
              </a:rPr>
              <a:t>T+1 → T+8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902512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Convert + prove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902512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Run POVs against explicit success criteria, track activation and publish Studio proof.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512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02512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ptos"/>
              </a:rPr>
              <a:t>Sales • CS • Product • PMM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504688"/>
            <a:ext cx="10826496" cy="69494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5779008"/>
            <a:ext cx="157276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47"/>
                </a:solidFill>
                <a:latin typeface="Aptos"/>
              </a:rPr>
              <a:t>OPERATING RHYTHM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5614416"/>
            <a:ext cx="86868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Both paths converge on one POV • weekly war room • shared KPI dashboard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6492240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F6A61"/>
                </a:solidFill>
                <a:latin typeface="Aptos"/>
              </a:rPr>
              <a:t>Outside-in launch plan  |  public evidence + internal validation required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6F6A61"/>
                </a:solidFill>
                <a:latin typeface="Aptos"/>
              </a:rPr>
              <a:t>05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40080" y="27432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E. OPERATING LOOP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40080" y="658368"/>
            <a:ext cx="644652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900" b="1" i="0">
                <a:solidFill>
                  <a:srgbClr val="111111"/>
                </a:solidFill>
                <a:latin typeface="Aptos Display"/>
              </a:rPr>
              <a:t>Measure activation—
not just attention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58368" y="1746504"/>
            <a:ext cx="6355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Track movement from launch exposure to production proof.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76656" y="2267712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36F21"/>
                </a:solidFill>
                <a:latin typeface="Aptos"/>
              </a:rPr>
              <a:t>AWARENESS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2331720" y="224942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Target-account reach • page engagement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2697480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76656" y="2980944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3454D1"/>
                </a:solidFill>
                <a:latin typeface="Aptos"/>
              </a:rPr>
              <a:t>ACTIVATION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2331720" y="29626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Workspace/API key • time to first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3410711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76656" y="3694176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E7F5C"/>
                </a:solidFill>
                <a:latin typeface="Aptos"/>
              </a:rPr>
              <a:t>ADOPTION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331720" y="367588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Workflows • connectors • traces • evals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4123944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676656" y="440740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5B4BB7"/>
                </a:solidFill>
                <a:latin typeface="Aptos"/>
              </a:rPr>
              <a:t>PIPELINE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331720" y="43891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Workshops • POV starts • POV conversion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837176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76656" y="512064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36F21"/>
                </a:solidFill>
                <a:latin typeface="Aptos"/>
              </a:rPr>
              <a:t>EXPANSION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2331720" y="510235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Production workloads • active teams • references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550407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8046720" y="502920"/>
            <a:ext cx="33375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DECISIONS BEFORE SCALE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8046720" y="896112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100" b="1" i="0">
                <a:solidFill>
                  <a:srgbClr val="FFFFFF"/>
                </a:solidFill>
                <a:latin typeface="Aptos Display"/>
              </a:rPr>
              <a:t>Six items need
internal validation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8046720" y="21031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8622792" y="20756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Budget + named owners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8046720" y="2624327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02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8622792" y="259689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Revenue / pipeline targets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8046720" y="3145535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8622792" y="3118103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Launch tier + availability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8046720" y="366674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8622792" y="363931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Pricing + packaging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8046720" y="418795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8622792" y="416052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SLAs + roadmap commitments</a:t>
            </a: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8046720" y="470915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8622792" y="4681727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Customer proof permissions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8046720" y="5468112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36F21"/>
                </a:solidFill>
                <a:latin typeface="Aptos"/>
              </a:rPr>
              <a:t>NEXT STEP</a:t>
            </a:r>
          </a:p>
        </p:txBody>
      </p:sp>
      <p:sp>
        <p:nvSpPr>
          <p:cNvPr id="36" name="TextBox 35"/>
          <p:cNvSpPr txBox="1">
            <a:spLocks/>
          </p:cNvSpPr>
          <p:nvPr/>
        </p:nvSpPr>
        <p:spPr>
          <a:xfrm>
            <a:off x="8046720" y="5715000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EFE7DB"/>
                </a:solidFill>
                <a:latin typeface="Aptos"/>
              </a:rPr>
              <a:t>Validate with Product, Sales, Legal / Security and Comms.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19088"/>
            <a:ext cx="640080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28431" y="6419088"/>
            <a:ext cx="3291840" cy="10972"/>
          </a:xfrm>
          <a:prstGeom prst="rect">
            <a:avLst/>
          </a:prstGeom>
          <a:solidFill>
            <a:srgbClr val="3D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6492240"/>
            <a:ext cx="62179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F6A61"/>
                </a:solidFill>
                <a:latin typeface="Aptos"/>
              </a:rPr>
              <a:t>Outside-in launch plan  |  internal validation required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08208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06</a:t>
            </a:r>
            <a:endParaRPr sz="900" b="1" i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1392</Words>
  <Application>Microsoft Office PowerPoint</Application>
  <PresentationFormat>Widescreen</PresentationFormat>
  <Paragraphs>174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title>Mistral Studio - GTM Strategy Deliverable</dc:title>
  <dc:subject>Go-To-Market strategy and operational execution plan</dc:subject>
  <dc:creator>Mistral AI Product Marketing</dc:creator>
  <cp:lastModifiedBy>Shivam Singh</cp:lastModifiedBy>
  <cp:revision>7</cp:revision>
  <ns2:created xsi:type="dcterms:W3CDTF">2026-08-16T17:42:39Z</ns2:created>
  <ns2:modified xsi:type="dcterms:W3CDTF">2026-08-16T18:28:15Z</ns2:modified>
  <cp:keywords>mistral-studio, gtm-strategy, execution-plan</cp:keywords>
</cp:coreProperties>
</file>