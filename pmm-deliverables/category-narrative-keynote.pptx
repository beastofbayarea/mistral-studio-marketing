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66" r:id="rId3"/>
    <p:sldId id="273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7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5394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
- https://docs.mistral.ai/studio-api/workflows/building-workflows/workflows
- https://docs.mistral.ai/studio-api/workflows/getting-started/overview
- https://mistral.ai/news/ai-studio/
- https://docs.mistral.ai/studio-api/workflows/building-workflows/durable_agents
- https://docs.mistral.ai/studio-api/workflows/building-workflows/connectors
- https://docs.mistral.ai/studio-api/agents/agents-api
- https://docs.mistral.ai/studio-api/overview
- https://docs.mistral.ai/studio-api/workflows/observability
- https://docs.mistral.ai/studio-api/safety-moderation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
- https://docs.mistral.ai/studio-api/workflows/building-workflows/workflows
- https://docs.mistral.ai/studio-api/workflows/getting-started/overview
- https://mistral.ai/news/ai-studio/
- https://docs.mistral.ai/studio-api/workflows/building-workflows/durable_agents
- https://docs.mistral.ai/studio-api/workflows/building-workflows/connectors
- https://docs.mistral.ai/studio-api/agents/agents-api
- https://docs.mistral.ai/studio-api/overview
- https://docs.mistral.ai/studio-api/workflows/observability
- https://docs.mistral.ai/studio-api/safety-moderation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
- https://docs.mistral.ai/studio-api/workflows/building-workflows/workflows
- https://docs.mistral.ai/studio-api/workflows/getting-started/overview
- https://mistral.ai/news/ai-studio/
- https://docs.mistral.ai/studio-api/workflows/building-workflows/durable_agents
- https://docs.mistral.ai/studio-api/workflows/building-workflows/connectors
- https://docs.mistral.ai/studio-api/agents/agents-api
- https://docs.mistral.ai/studio-api/overview
- https://docs.mistral.ai/studio-api/workflows/observability
- https://docs.mistral.ai/studio-api/safety-moderation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38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3B0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>
            <a:spLocks/>
          </p:cNvSpPr>
          <p:nvPr/>
        </p:nvSpPr>
        <p:spPr>
          <a:xfrm>
            <a:off x="594360" y="411480"/>
            <a:ext cx="62636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F5A00"/>
                </a:solidFill>
                <a:latin typeface="Arial"/>
              </a:rPr>
              <a:t>MARKET SHIFT  •  MISTRAL STUDIO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94360" y="1078992"/>
            <a:ext cx="5115776" cy="1481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400" b="1" i="0" dirty="0">
                <a:solidFill>
                  <a:srgbClr val="FFFFFF"/>
                </a:solidFill>
                <a:latin typeface="Arial"/>
              </a:rPr>
              <a:t>From agent prototype to governed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4025500"/>
            <a:ext cx="960120" cy="36576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594360" y="6492240"/>
            <a:ext cx="62179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F3B29A"/>
                </a:solidFill>
                <a:latin typeface="Arial"/>
              </a:rPr>
              <a:t>MISTRAL STUDIO  •  NARRATIVE KEYNOTE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11045952" y="6455664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F5A00"/>
                </a:solidFill>
                <a:latin typeface="Arial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36592"/>
            <a:ext cx="4947488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i="0" dirty="0">
                <a:solidFill>
                  <a:srgbClr val="FFF2EA"/>
                </a:solidFill>
                <a:latin typeface="Arial"/>
              </a:rPr>
              <a:t>Models are abundant. Production confidence is scarce. Mistral Studio is the enterprise agent operating layer that carries agents from BUILD to RUN.</a:t>
            </a:r>
            <a:endParaRPr sz="2700" b="1" i="0" dirty="0">
              <a:solidFill>
                <a:srgbClr val="0E0E0E"/>
              </a:solidFill>
              <a:latin typeface="Arial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B5272D8-05EA-5060-ACBC-B8502A793D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372" r="25559"/>
          <a:stretch>
            <a:fillRect/>
          </a:stretch>
        </p:blipFill>
        <p:spPr>
          <a:xfrm>
            <a:off x="6194249" y="0"/>
            <a:ext cx="598251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B0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/>
          </p:cNvSpPr>
          <p:nvPr/>
        </p:nvSpPr>
        <p:spPr>
          <a:xfrm>
            <a:off x="594360" y="411480"/>
            <a:ext cx="62636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F5A00"/>
                </a:solidFill>
                <a:latin typeface="Arial"/>
              </a:rPr>
              <a:t>MISTRAL STUDIO  •  THE AGENT OPERATING LAYER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94360" y="868680"/>
            <a:ext cx="10698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i="0">
                <a:solidFill>
                  <a:srgbClr val="FFFFFF"/>
                </a:solidFill>
                <a:latin typeface="Arial"/>
              </a:rPr>
              <a:t>Trust comes from evaluation + 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00200"/>
            <a:ext cx="960120" cy="36576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594360" y="6492240"/>
            <a:ext cx="62179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F3B29A"/>
                </a:solidFill>
                <a:latin typeface="Arial"/>
              </a:rPr>
              <a:t>MISTRAL STUDIO  •  NARRATIVE KEYNOTE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11045952" y="6455664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F5A00"/>
                </a:solidFill>
                <a:latin typeface="Arial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9904" y="1965960"/>
            <a:ext cx="18288" cy="2880360"/>
          </a:xfrm>
          <a:prstGeom prst="rect">
            <a:avLst/>
          </a:prstGeom>
          <a:solidFill>
            <a:srgbClr val="7C2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965960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5A00"/>
                </a:solidFill>
                <a:latin typeface="Arial"/>
              </a:rPr>
              <a:t>EVALUATE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331720"/>
            <a:ext cx="470916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FFFFFF"/>
                </a:solidFill>
                <a:latin typeface="Arial"/>
              </a:rPr>
              <a:t>Does it perform?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108960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3B29A"/>
                </a:solidFill>
                <a:latin typeface="Arial"/>
              </a:rPr>
              <a:t>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1408" y="3099816"/>
            <a:ext cx="3520440" cy="2651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Works? Task-level evals</a:t>
            </a:r>
          </a:p>
        </p:txBody>
      </p:sp>
      <p:sp>
        <p:nvSpPr>
          <p:cNvPr id="13" name="Rectangle 12"/>
          <p:cNvSpPr>
            <a:spLocks/>
          </p:cNvSpPr>
          <p:nvPr/>
        </p:nvSpPr>
        <p:spPr>
          <a:xfrm>
            <a:off x="658368" y="3474720"/>
            <a:ext cx="4709160" cy="10972"/>
          </a:xfrm>
          <a:prstGeom prst="rect">
            <a:avLst/>
          </a:prstGeom>
          <a:solidFill>
            <a:srgbClr val="7C2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58368" y="3749039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3B29A"/>
                </a:solidFill>
                <a:latin typeface="Arial"/>
              </a:rPr>
              <a:t>REGRESSION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21408" y="3739896"/>
            <a:ext cx="3520440" cy="2651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Still works? Evals on every change</a:t>
            </a:r>
          </a:p>
        </p:txBody>
      </p:sp>
      <p:sp>
        <p:nvSpPr>
          <p:cNvPr id="16" name="Rectangle 15"/>
          <p:cNvSpPr>
            <a:spLocks/>
          </p:cNvSpPr>
          <p:nvPr/>
        </p:nvSpPr>
        <p:spPr>
          <a:xfrm>
            <a:off x="658368" y="4114800"/>
            <a:ext cx="4709160" cy="10972"/>
          </a:xfrm>
          <a:prstGeom prst="rect">
            <a:avLst/>
          </a:prstGeom>
          <a:solidFill>
            <a:srgbClr val="7C2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658368" y="4389120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3B29A"/>
                </a:solidFill>
                <a:latin typeface="Arial"/>
              </a:rPr>
              <a:t>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21408" y="4379976"/>
            <a:ext cx="3520440" cy="2651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Efficient? Latency, tokens, spend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754880"/>
            <a:ext cx="4709160" cy="10972"/>
          </a:xfrm>
          <a:prstGeom prst="rect">
            <a:avLst/>
          </a:prstGeom>
          <a:solidFill>
            <a:srgbClr val="7C2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28816" y="1965960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5A00"/>
                </a:solidFill>
                <a:latin typeface="Arial"/>
              </a:rPr>
              <a:t>GOVERN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331720"/>
            <a:ext cx="470916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FFFFFF"/>
                </a:solidFill>
                <a:latin typeface="Arial"/>
              </a:rPr>
              <a:t>Is it safe to run?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8816" y="3108960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F5A00"/>
                </a:solidFill>
                <a:latin typeface="Arial"/>
              </a:rPr>
              <a:t>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3099816"/>
            <a:ext cx="3200400" cy="2651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Who can use it? Roles, scopes</a:t>
            </a:r>
            <a:endParaRPr sz="1700" b="0" i="0">
              <a:solidFill>
                <a:srgbClr val="0E0E0E"/>
              </a:solidFill>
              <a:latin typeface="Arial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528816" y="3474720"/>
            <a:ext cx="4709160" cy="10972"/>
          </a:xfrm>
          <a:prstGeom prst="rect">
            <a:avLst/>
          </a:prstGeom>
          <a:solidFill>
            <a:srgbClr val="7C2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28816" y="3749039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F5A00"/>
                </a:solidFill>
                <a:latin typeface="Arial"/>
              </a:rPr>
              <a:t>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3739896"/>
            <a:ext cx="3200400" cy="2651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What happened? Full traces</a:t>
            </a:r>
            <a:endParaRPr sz="1700" b="0" i="0">
              <a:solidFill>
                <a:srgbClr val="0E0E0E"/>
              </a:solidFill>
              <a:latin typeface="Arial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528816" y="4114800"/>
            <a:ext cx="4709160" cy="10972"/>
          </a:xfrm>
          <a:prstGeom prst="rect">
            <a:avLst/>
          </a:prstGeom>
          <a:solidFill>
            <a:srgbClr val="7C2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28816" y="4389120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F5A00"/>
                </a:solidFill>
                <a:latin typeface="Arial"/>
              </a:rPr>
              <a:t>DEPLOYMENT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3296" y="4379976"/>
            <a:ext cx="3200400" cy="2651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Where can it run? Any host</a:t>
            </a:r>
            <a:endParaRPr sz="1700" b="0" i="0">
              <a:solidFill>
                <a:srgbClr val="0E0E0E"/>
              </a:solidFill>
              <a:latin typeface="Arial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528816" y="4754880"/>
            <a:ext cx="4709160" cy="10972"/>
          </a:xfrm>
          <a:prstGeom prst="rect">
            <a:avLst/>
          </a:prstGeom>
          <a:solidFill>
            <a:srgbClr val="7C2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" y="5230368"/>
            <a:ext cx="105613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5A00"/>
                </a:solidFill>
                <a:latin typeface="Arial"/>
              </a:rPr>
              <a:t>BUILD → EVALUATE → GOVERN → DEPLOY  •  RELIABLE, PORTABLE, CONTROLLED</a:t>
            </a:r>
            <a:endParaRPr lang="en-US" sz="1600" b="1" i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B0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/>
          </p:cNvSpPr>
          <p:nvPr/>
        </p:nvSpPr>
        <p:spPr>
          <a:xfrm>
            <a:off x="594360" y="411480"/>
            <a:ext cx="62636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F5A00"/>
                </a:solidFill>
                <a:latin typeface="Arial"/>
              </a:rPr>
              <a:t>ADOPTION PATH  •  CATEGORY POSITION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94360" y="868680"/>
            <a:ext cx="10698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i="0">
                <a:solidFill>
                  <a:srgbClr val="FFFFFF"/>
                </a:solidFill>
                <a:latin typeface="Arial"/>
              </a:rPr>
              <a:t>Prove one workflow. Scale the pattern.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00200"/>
            <a:ext cx="960120" cy="36576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594360" y="6492240"/>
            <a:ext cx="62179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F3B29A"/>
                </a:solidFill>
                <a:latin typeface="Arial"/>
              </a:rPr>
              <a:t>MISTRAL STUDIO  •  NARRATIVE KEYNOTE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11045952" y="6455664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F5A00"/>
                </a:solidFill>
                <a:latin typeface="Arial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6596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i="0">
                <a:solidFill>
                  <a:srgbClr val="FF5A00"/>
                </a:solidFill>
                <a:latin typeface="Arial"/>
              </a:rPr>
              <a:t>01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>
          <a:xfrm>
            <a:off x="658368" y="2578608"/>
            <a:ext cx="2670048" cy="27432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58368" y="2834640"/>
            <a:ext cx="267004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FFFFFF"/>
                </a:solidFill>
                <a:latin typeface="Arial"/>
              </a:rPr>
              <a:t>SELECT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658368" y="3310128"/>
            <a:ext cx="2670048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High value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Bounded risk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Clear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96596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i="0">
                <a:solidFill>
                  <a:srgbClr val="FF5A00"/>
                </a:solidFill>
                <a:latin typeface="Arial"/>
              </a:rPr>
              <a:t>02</a:t>
            </a:r>
          </a:p>
        </p:txBody>
      </p:sp>
      <p:sp>
        <p:nvSpPr>
          <p:cNvPr id="13" name="Rectangle 12"/>
          <p:cNvSpPr>
            <a:spLocks/>
          </p:cNvSpPr>
          <p:nvPr/>
        </p:nvSpPr>
        <p:spPr>
          <a:xfrm>
            <a:off x="4069080" y="2578608"/>
            <a:ext cx="2670048" cy="27432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4069080" y="2834640"/>
            <a:ext cx="267004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FFFFFF"/>
                </a:solidFill>
                <a:latin typeface="Arial"/>
              </a:rPr>
              <a:t>PROVE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4069080" y="3310128"/>
            <a:ext cx="2670048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Quality evals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Governance controls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Traces on every 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792" y="196596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i="0">
                <a:solidFill>
                  <a:srgbClr val="FF5A00"/>
                </a:solidFill>
                <a:latin typeface="Arial"/>
              </a:rPr>
              <a:t>03</a:t>
            </a:r>
          </a:p>
        </p:txBody>
      </p:sp>
      <p:sp>
        <p:nvSpPr>
          <p:cNvPr id="17" name="Rectangle 16"/>
          <p:cNvSpPr>
            <a:spLocks/>
          </p:cNvSpPr>
          <p:nvPr/>
        </p:nvSpPr>
        <p:spPr>
          <a:xfrm>
            <a:off x="7479792" y="2578608"/>
            <a:ext cx="2670048" cy="27432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7479792" y="2834640"/>
            <a:ext cx="267004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FFFFFF"/>
                </a:solidFill>
                <a:latin typeface="Arial"/>
              </a:rPr>
              <a:t>SCALE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7479792" y="3310128"/>
            <a:ext cx="2670048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Reusable standard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Broader portfolio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One operating layer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658368" y="5230368"/>
            <a:ext cx="105613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5A00"/>
                </a:solidFill>
                <a:latin typeface="Arial"/>
              </a:rPr>
              <a:t>WORKFLOW → STANDARD → PORTFOLIO  •  MISTRAL STUDIO OWNS THE AGENT OPERATING LAYER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651</Words>
  <Application>Microsoft Office PowerPoint</Application>
  <PresentationFormat>Widescreen</PresentationFormat>
  <Paragraphs>52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ns2="http://purl.org/dc/terms/" xmlns:xsi="http://www.w3.org/2001/XMLSchema-instance">
  <dc:title>Mistral Studio - Category Narrative Keynote</dc:title>
  <dc:subject>Category Narrative Keynote: From Agent Prototype to Governed Production</dc:subject>
  <dc:creator>Mistral AI Product Marketing</dc:creator>
  <cp:lastModifiedBy>Shivam Singh</cp:lastModifiedBy>
  <cp:revision>8</cp:revision>
  <ns2:created xsi:type="dcterms:W3CDTF">2026-08-16T18:10:44Z</ns2:created>
  <ns2:modified xsi:type="dcterms:W3CDTF">2026-08-16T21:31:58Z</ns2:modified>
  <cp:keywords>mistral-studio, category-narrative, keynote, governance</cp:keywords>
</cp:coreProperties>
</file>