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66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8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445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[Sources]</a:t>
            </a:r>
          </a:p>
          <a:p>
            <a:r>
              <a:rPr lang="fr-FR"/>
              <a:t>- https://mistral.ai/news/ai-studio/</a:t>
            </a:r>
          </a:p>
          <a:p>
            <a:r>
              <a:rPr lang="fr-FR"/>
              <a:t>- https://docs.mistral.ai/studio/workflows/getting-started/overview</a:t>
            </a:r>
          </a:p>
          <a:p>
            <a:r>
              <a:rPr lang="fr-FR"/>
              <a:t>- https://mistral.ai/products/studio/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[Sources]</a:t>
            </a:r>
          </a:p>
          <a:p>
            <a:r>
              <a:rPr lang="fr-FR"/>
              <a:t>- https://mistral.ai/products/studio/</a:t>
            </a:r>
          </a:p>
          <a:p>
            <a:r>
              <a:rPr lang="fr-FR"/>
              <a:t>- https://docs.mistral.ai/studio/agents/introduction</a:t>
            </a:r>
          </a:p>
          <a:p>
            <a:r>
              <a:rPr lang="fr-FR"/>
              <a:t>- https://docs.mistral.ai/studio/workflows/getting-started/overview</a:t>
            </a:r>
          </a:p>
          <a:p>
            <a:r>
              <a:rPr lang="fr-FR"/>
              <a:t>- https://docs.mistral.ai/studio/workflows/observability</a:t>
            </a:r>
          </a:p>
          <a:p>
            <a:r>
              <a:rPr lang="fr-FR"/>
              <a:t>- https://cmacgm-group.com — CMA CGM &amp; Mistral AI partnership (April 2025); deployed-use-case counts as of May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[Source]</a:t>
            </a:r>
          </a:p>
          <a:p>
            <a:r>
              <a:rPr lang="en-US"/>
              <a:t>- User-provided pilot structure, tightened for the Mistral Studio sales narrative.</a:t>
            </a:r>
          </a:p>
          <a:p>
            <a:r>
              <a:rPr lang="en-US"/>
              <a:t>- https://mistral.ai/contact/</a:t>
            </a:r>
          </a:p>
          <a:p>
            <a:r>
              <a:rPr lang="en-US"/>
              <a:t>- CMA CGM proof point: https://cmacgm-group.com — Mistral AI partnership (April 2025); deployed project and use-case counts company-reported as of May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A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>
            <a:spLocks/>
          </p:cNvSpPr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saic block 1"/>
          <p:cNvSpPr>
            <a:spLocks/>
          </p:cNvSpPr>
          <p:nvPr/>
        </p:nvSpPr>
        <p:spPr>
          <a:xfrm>
            <a:off x="8028431" y="50292"/>
            <a:ext cx="987552" cy="960120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saic block 2"/>
          <p:cNvSpPr/>
          <p:nvPr/>
        </p:nvSpPr>
        <p:spPr>
          <a:xfrm>
            <a:off x="9015984" y="50292"/>
            <a:ext cx="658368" cy="96012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Mosaic block 3"/>
          <p:cNvSpPr>
            <a:spLocks/>
          </p:cNvSpPr>
          <p:nvPr/>
        </p:nvSpPr>
        <p:spPr>
          <a:xfrm>
            <a:off x="9674352" y="50292"/>
            <a:ext cx="1124712" cy="96012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osaic block 4"/>
          <p:cNvSpPr>
            <a:spLocks/>
          </p:cNvSpPr>
          <p:nvPr/>
        </p:nvSpPr>
        <p:spPr>
          <a:xfrm>
            <a:off x="10799064" y="50292"/>
            <a:ext cx="603504" cy="96012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osaic block 5"/>
          <p:cNvSpPr>
            <a:spLocks/>
          </p:cNvSpPr>
          <p:nvPr/>
        </p:nvSpPr>
        <p:spPr>
          <a:xfrm>
            <a:off x="11402568" y="50292"/>
            <a:ext cx="789127" cy="96012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osaic block 6"/>
          <p:cNvSpPr>
            <a:spLocks/>
          </p:cNvSpPr>
          <p:nvPr/>
        </p:nvSpPr>
        <p:spPr>
          <a:xfrm>
            <a:off x="8028431" y="1010412"/>
            <a:ext cx="566928" cy="11155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osaic block 7"/>
          <p:cNvSpPr>
            <a:spLocks/>
          </p:cNvSpPr>
          <p:nvPr/>
        </p:nvSpPr>
        <p:spPr>
          <a:xfrm>
            <a:off x="8595360" y="1010412"/>
            <a:ext cx="1298448" cy="111556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osaic block 8"/>
          <p:cNvSpPr>
            <a:spLocks/>
          </p:cNvSpPr>
          <p:nvPr/>
        </p:nvSpPr>
        <p:spPr>
          <a:xfrm>
            <a:off x="9893808" y="1010412"/>
            <a:ext cx="694944" cy="11155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osaic block 9"/>
          <p:cNvSpPr>
            <a:spLocks/>
          </p:cNvSpPr>
          <p:nvPr/>
        </p:nvSpPr>
        <p:spPr>
          <a:xfrm>
            <a:off x="10588752" y="1010412"/>
            <a:ext cx="1078992" cy="11155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osaic block 10"/>
          <p:cNvSpPr>
            <a:spLocks/>
          </p:cNvSpPr>
          <p:nvPr/>
        </p:nvSpPr>
        <p:spPr>
          <a:xfrm>
            <a:off x="11667744" y="1010412"/>
            <a:ext cx="523951" cy="11155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osaic block 11"/>
          <p:cNvSpPr/>
          <p:nvPr/>
        </p:nvSpPr>
        <p:spPr>
          <a:xfrm>
            <a:off x="8028431" y="2125980"/>
            <a:ext cx="1234440" cy="1033271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Mosaic block 12"/>
          <p:cNvSpPr>
            <a:spLocks/>
          </p:cNvSpPr>
          <p:nvPr/>
        </p:nvSpPr>
        <p:spPr>
          <a:xfrm>
            <a:off x="9262872" y="2125980"/>
            <a:ext cx="621792" cy="1033271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saic block 13"/>
          <p:cNvSpPr>
            <a:spLocks/>
          </p:cNvSpPr>
          <p:nvPr/>
        </p:nvSpPr>
        <p:spPr>
          <a:xfrm>
            <a:off x="9884664" y="2125980"/>
            <a:ext cx="1435608" cy="1033271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saic block 14"/>
          <p:cNvSpPr>
            <a:spLocks/>
          </p:cNvSpPr>
          <p:nvPr/>
        </p:nvSpPr>
        <p:spPr>
          <a:xfrm>
            <a:off x="11320272" y="2125980"/>
            <a:ext cx="871423" cy="1033271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saic block 15"/>
          <p:cNvSpPr/>
          <p:nvPr/>
        </p:nvSpPr>
        <p:spPr>
          <a:xfrm>
            <a:off x="8028431" y="3159252"/>
            <a:ext cx="640080" cy="1188720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osaic block 16"/>
          <p:cNvSpPr>
            <a:spLocks/>
          </p:cNvSpPr>
          <p:nvPr/>
        </p:nvSpPr>
        <p:spPr>
          <a:xfrm>
            <a:off x="8668512" y="3159252"/>
            <a:ext cx="987552" cy="118872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osaic block 17"/>
          <p:cNvSpPr>
            <a:spLocks/>
          </p:cNvSpPr>
          <p:nvPr/>
        </p:nvSpPr>
        <p:spPr>
          <a:xfrm>
            <a:off x="9656064" y="3159252"/>
            <a:ext cx="749808" cy="118872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osaic block 18"/>
          <p:cNvSpPr>
            <a:spLocks/>
          </p:cNvSpPr>
          <p:nvPr/>
        </p:nvSpPr>
        <p:spPr>
          <a:xfrm>
            <a:off x="10405872" y="3159252"/>
            <a:ext cx="1280160" cy="1188720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osaic block 19"/>
          <p:cNvSpPr/>
          <p:nvPr/>
        </p:nvSpPr>
        <p:spPr>
          <a:xfrm>
            <a:off x="11686032" y="3159252"/>
            <a:ext cx="505663" cy="118872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Mosaic block 20"/>
          <p:cNvSpPr>
            <a:spLocks/>
          </p:cNvSpPr>
          <p:nvPr/>
        </p:nvSpPr>
        <p:spPr>
          <a:xfrm>
            <a:off x="8028431" y="4347972"/>
            <a:ext cx="1307592" cy="108813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osaic block 21"/>
          <p:cNvSpPr>
            <a:spLocks/>
          </p:cNvSpPr>
          <p:nvPr/>
        </p:nvSpPr>
        <p:spPr>
          <a:xfrm>
            <a:off x="9336024" y="4347972"/>
            <a:ext cx="630936" cy="1088136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osaic block 22"/>
          <p:cNvSpPr/>
          <p:nvPr/>
        </p:nvSpPr>
        <p:spPr>
          <a:xfrm>
            <a:off x="9966960" y="4347972"/>
            <a:ext cx="1024128" cy="1088136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osaic block 23"/>
          <p:cNvSpPr/>
          <p:nvPr/>
        </p:nvSpPr>
        <p:spPr>
          <a:xfrm>
            <a:off x="10991088" y="4347972"/>
            <a:ext cx="1200607" cy="1088136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Mosaic block 24"/>
          <p:cNvSpPr/>
          <p:nvPr/>
        </p:nvSpPr>
        <p:spPr>
          <a:xfrm>
            <a:off x="8028431" y="5436108"/>
            <a:ext cx="676656" cy="142189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osaic block 25"/>
          <p:cNvSpPr/>
          <p:nvPr/>
        </p:nvSpPr>
        <p:spPr>
          <a:xfrm>
            <a:off x="8705088" y="5436108"/>
            <a:ext cx="1261872" cy="1421892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Mosaic block 26"/>
          <p:cNvSpPr/>
          <p:nvPr/>
        </p:nvSpPr>
        <p:spPr>
          <a:xfrm>
            <a:off x="9966960" y="5436108"/>
            <a:ext cx="758952" cy="14218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Mosaic block 27"/>
          <p:cNvSpPr/>
          <p:nvPr/>
        </p:nvSpPr>
        <p:spPr>
          <a:xfrm>
            <a:off x="10725912" y="5436108"/>
            <a:ext cx="585216" cy="1421892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Mosaic block 28"/>
          <p:cNvSpPr/>
          <p:nvPr/>
        </p:nvSpPr>
        <p:spPr>
          <a:xfrm>
            <a:off x="11311128" y="5436108"/>
            <a:ext cx="880567" cy="142189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Eyebrow"/>
          <p:cNvSpPr txBox="1">
            <a:spLocks/>
          </p:cNvSpPr>
          <p:nvPr/>
        </p:nvSpPr>
        <p:spPr>
          <a:xfrm>
            <a:off x="621792" y="347472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1400" b="1">
                <a:solidFill>
                  <a:srgbClr val="FA500A"/>
                </a:solidFill>
                <a:latin typeface="Arial"/>
              </a:rPr>
              <a:t>MISTRAL STUDIO  •  AI PRODUCTION PLATFORM</a:t>
            </a:r>
          </a:p>
        </p:txBody>
      </p:sp>
      <p:sp>
        <p:nvSpPr>
          <p:cNvPr id="32" name="Opening title"/>
          <p:cNvSpPr txBox="1">
            <a:spLocks/>
          </p:cNvSpPr>
          <p:nvPr/>
        </p:nvSpPr>
        <p:spPr>
          <a:xfrm>
            <a:off x="621792" y="960120"/>
            <a:ext cx="690372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lang="en-US" sz="5200" b="1">
                <a:solidFill>
                  <a:srgbClr val="FFF8F3"/>
                </a:solidFill>
                <a:latin typeface="Arial"/>
              </a:rPr>
              <a:t>Put agentic AI
into </a:t>
            </a:r>
            <a:r>
              <a:rPr lang="en-US" sz="5200" b="1">
                <a:solidFill>
                  <a:srgbClr val="FA500A"/>
                </a:solidFill>
                <a:latin typeface="Arial"/>
              </a:rPr>
              <a:t>production</a:t>
            </a:r>
          </a:p>
        </p:txBody>
      </p:sp>
      <p:sp>
        <p:nvSpPr>
          <p:cNvPr id="33" name="Headline rule"/>
          <p:cNvSpPr/>
          <p:nvPr/>
        </p:nvSpPr>
        <p:spPr>
          <a:xfrm>
            <a:off x="621792" y="2724912"/>
            <a:ext cx="932688" cy="411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Statement one"/>
          <p:cNvSpPr txBox="1"/>
          <p:nvPr/>
        </p:nvSpPr>
        <p:spPr>
          <a:xfrm>
            <a:off x="621792" y="2999232"/>
            <a:ext cx="6355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8F3"/>
                </a:solidFill>
                <a:latin typeface="Arial"/>
              </a:rPr>
              <a:t>Model calls are easy.</a:t>
            </a:r>
          </a:p>
        </p:txBody>
      </p:sp>
      <p:sp>
        <p:nvSpPr>
          <p:cNvPr id="35" name="Statement two"/>
          <p:cNvSpPr txBox="1"/>
          <p:nvPr/>
        </p:nvSpPr>
        <p:spPr>
          <a:xfrm>
            <a:off x="621792" y="3401568"/>
            <a:ext cx="6720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A500A"/>
                </a:solidFill>
                <a:latin typeface="Arial"/>
              </a:rPr>
              <a:t>Operating them is not.</a:t>
            </a:r>
          </a:p>
        </p:txBody>
      </p:sp>
      <p:sp>
        <p:nvSpPr>
          <p:cNvPr id="36" name="Support copy"/>
          <p:cNvSpPr txBox="1"/>
          <p:nvPr/>
        </p:nvSpPr>
        <p:spPr>
          <a:xfrm>
            <a:off x="621792" y="4023360"/>
            <a:ext cx="66294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AD9CA"/>
                </a:solidFill>
                <a:latin typeface="Arial"/>
              </a:rPr>
              <a:t>Build, deploy and govern agents—with enterprise privacy, security and data ownership. Real workflows must survive failure, prove quality and control access.</a:t>
            </a:r>
          </a:p>
        </p:txBody>
      </p:sp>
      <p:sp>
        <p:nvSpPr>
          <p:cNvPr id="37" name="Primitive divider"/>
          <p:cNvSpPr/>
          <p:nvPr/>
        </p:nvSpPr>
        <p:spPr>
          <a:xfrm>
            <a:off x="621792" y="5010912"/>
            <a:ext cx="6675120" cy="1371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Primitive 01 number"/>
          <p:cNvSpPr txBox="1"/>
          <p:nvPr/>
        </p:nvSpPr>
        <p:spPr>
          <a:xfrm>
            <a:off x="621792" y="5193792"/>
            <a:ext cx="2926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01</a:t>
            </a:r>
          </a:p>
        </p:txBody>
      </p:sp>
      <p:sp>
        <p:nvSpPr>
          <p:cNvPr id="39" name="Primitive 01 title"/>
          <p:cNvSpPr txBox="1"/>
          <p:nvPr/>
        </p:nvSpPr>
        <p:spPr>
          <a:xfrm>
            <a:off x="969264" y="5157216"/>
            <a:ext cx="16276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DURABLE EXECUTION</a:t>
            </a:r>
          </a:p>
        </p:txBody>
      </p:sp>
      <p:sp>
        <p:nvSpPr>
          <p:cNvPr id="40" name="Primitive 01 detail"/>
          <p:cNvSpPr txBox="1"/>
          <p:nvPr/>
        </p:nvSpPr>
        <p:spPr>
          <a:xfrm>
            <a:off x="969264" y="5513832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3A58B"/>
                </a:solidFill>
                <a:latin typeface="Arial"/>
              </a:rPr>
              <a:t>persist state • retry • resume</a:t>
            </a:r>
          </a:p>
        </p:txBody>
      </p:sp>
      <p:sp>
        <p:nvSpPr>
          <p:cNvPr id="41" name="Primitive 02 number"/>
          <p:cNvSpPr txBox="1"/>
          <p:nvPr/>
        </p:nvSpPr>
        <p:spPr>
          <a:xfrm>
            <a:off x="2907792" y="5193792"/>
            <a:ext cx="2926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18728"/>
                </a:solidFill>
                <a:latin typeface="Arial"/>
              </a:rPr>
              <a:t>02</a:t>
            </a:r>
          </a:p>
        </p:txBody>
      </p:sp>
      <p:sp>
        <p:nvSpPr>
          <p:cNvPr id="42" name="Primitive 02 title"/>
          <p:cNvSpPr txBox="1"/>
          <p:nvPr/>
        </p:nvSpPr>
        <p:spPr>
          <a:xfrm>
            <a:off x="3255264" y="5157216"/>
            <a:ext cx="16276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EVALUATION</a:t>
            </a:r>
          </a:p>
        </p:txBody>
      </p:sp>
      <p:sp>
        <p:nvSpPr>
          <p:cNvPr id="43" name="Primitive 02 detail"/>
          <p:cNvSpPr txBox="1"/>
          <p:nvPr/>
        </p:nvSpPr>
        <p:spPr>
          <a:xfrm>
            <a:off x="3255264" y="5513832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3A58B"/>
                </a:solidFill>
                <a:latin typeface="Arial"/>
              </a:rPr>
              <a:t>experiments • judges • datasets</a:t>
            </a:r>
          </a:p>
        </p:txBody>
      </p:sp>
      <p:sp>
        <p:nvSpPr>
          <p:cNvPr id="44" name="Primitive 03 number"/>
          <p:cNvSpPr txBox="1"/>
          <p:nvPr/>
        </p:nvSpPr>
        <p:spPr>
          <a:xfrm>
            <a:off x="5102352" y="5193792"/>
            <a:ext cx="2926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03</a:t>
            </a:r>
          </a:p>
        </p:txBody>
      </p:sp>
      <p:sp>
        <p:nvSpPr>
          <p:cNvPr id="45" name="Primitive 03 title"/>
          <p:cNvSpPr txBox="1"/>
          <p:nvPr/>
        </p:nvSpPr>
        <p:spPr>
          <a:xfrm>
            <a:off x="5449824" y="5157216"/>
            <a:ext cx="16276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GOVERNANCE</a:t>
            </a:r>
          </a:p>
        </p:txBody>
      </p:sp>
      <p:sp>
        <p:nvSpPr>
          <p:cNvPr id="46" name="Primitive 03 detail"/>
          <p:cNvSpPr txBox="1"/>
          <p:nvPr/>
        </p:nvSpPr>
        <p:spPr>
          <a:xfrm>
            <a:off x="5449824" y="5513832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3A58B"/>
                </a:solidFill>
                <a:latin typeface="Arial"/>
              </a:rPr>
              <a:t>traces • guardrails • audit logs</a:t>
            </a:r>
          </a:p>
        </p:txBody>
      </p:sp>
      <p:sp>
        <p:nvSpPr>
          <p:cNvPr id="47" name="Deployment scope"/>
          <p:cNvSpPr txBox="1"/>
          <p:nvPr/>
        </p:nvSpPr>
        <p:spPr>
          <a:xfrm>
            <a:off x="621792" y="6080760"/>
            <a:ext cx="6720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ONE OPERATING LAYER  •  HYBRID  •  DEDICATED  •  SELF-HOSTED</a:t>
            </a:r>
          </a:p>
        </p:txBody>
      </p:sp>
      <p:sp>
        <p:nvSpPr>
          <p:cNvPr id="48" name="Footer"/>
          <p:cNvSpPr txBox="1"/>
          <p:nvPr/>
        </p:nvSpPr>
        <p:spPr>
          <a:xfrm>
            <a:off x="621792" y="656539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3A58B"/>
                </a:solidFill>
                <a:latin typeface="Arial"/>
              </a:rPr>
              <a:t>Mistral Studio  •  Sales deck</a:t>
            </a:r>
          </a:p>
        </p:txBody>
      </p:sp>
      <p:sp>
        <p:nvSpPr>
          <p:cNvPr id="49" name="Page number"/>
          <p:cNvSpPr txBox="1"/>
          <p:nvPr/>
        </p:nvSpPr>
        <p:spPr>
          <a:xfrm>
            <a:off x="7498079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A500A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>
            <a:spLocks/>
          </p:cNvSpPr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saic 1"/>
          <p:cNvSpPr>
            <a:spLocks/>
          </p:cNvSpPr>
          <p:nvPr/>
        </p:nvSpPr>
        <p:spPr>
          <a:xfrm>
            <a:off x="0" y="1664208"/>
            <a:ext cx="987552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saic 2"/>
          <p:cNvSpPr/>
          <p:nvPr/>
        </p:nvSpPr>
        <p:spPr>
          <a:xfrm>
            <a:off x="987552" y="1664208"/>
            <a:ext cx="713232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Mosaic 3"/>
          <p:cNvSpPr>
            <a:spLocks/>
          </p:cNvSpPr>
          <p:nvPr/>
        </p:nvSpPr>
        <p:spPr>
          <a:xfrm>
            <a:off x="1700784" y="1664208"/>
            <a:ext cx="1097280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osaic 4"/>
          <p:cNvSpPr>
            <a:spLocks/>
          </p:cNvSpPr>
          <p:nvPr/>
        </p:nvSpPr>
        <p:spPr>
          <a:xfrm>
            <a:off x="2798064" y="1664208"/>
            <a:ext cx="612648" cy="65836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osaic 5"/>
          <p:cNvSpPr/>
          <p:nvPr/>
        </p:nvSpPr>
        <p:spPr>
          <a:xfrm>
            <a:off x="3410712" y="1664208"/>
            <a:ext cx="1042415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osaic 6"/>
          <p:cNvSpPr/>
          <p:nvPr/>
        </p:nvSpPr>
        <p:spPr>
          <a:xfrm>
            <a:off x="4453128" y="1664208"/>
            <a:ext cx="576072" cy="65836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osaic 7"/>
          <p:cNvSpPr>
            <a:spLocks/>
          </p:cNvSpPr>
          <p:nvPr/>
        </p:nvSpPr>
        <p:spPr>
          <a:xfrm>
            <a:off x="5029200" y="1664208"/>
            <a:ext cx="1225296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osaic 8"/>
          <p:cNvSpPr>
            <a:spLocks/>
          </p:cNvSpPr>
          <p:nvPr/>
        </p:nvSpPr>
        <p:spPr>
          <a:xfrm>
            <a:off x="6254496" y="1664208"/>
            <a:ext cx="658368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osaic 9"/>
          <p:cNvSpPr>
            <a:spLocks/>
          </p:cNvSpPr>
          <p:nvPr/>
        </p:nvSpPr>
        <p:spPr>
          <a:xfrm>
            <a:off x="6912864" y="1664208"/>
            <a:ext cx="1078992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osaic 10"/>
          <p:cNvSpPr/>
          <p:nvPr/>
        </p:nvSpPr>
        <p:spPr>
          <a:xfrm>
            <a:off x="7991856" y="1664208"/>
            <a:ext cx="786384" cy="65836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osaic 11"/>
          <p:cNvSpPr>
            <a:spLocks/>
          </p:cNvSpPr>
          <p:nvPr/>
        </p:nvSpPr>
        <p:spPr>
          <a:xfrm>
            <a:off x="8778240" y="1664208"/>
            <a:ext cx="1225296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saic 12"/>
          <p:cNvSpPr>
            <a:spLocks/>
          </p:cNvSpPr>
          <p:nvPr/>
        </p:nvSpPr>
        <p:spPr>
          <a:xfrm>
            <a:off x="10003536" y="1664208"/>
            <a:ext cx="667512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saic 13"/>
          <p:cNvSpPr>
            <a:spLocks/>
          </p:cNvSpPr>
          <p:nvPr/>
        </p:nvSpPr>
        <p:spPr>
          <a:xfrm>
            <a:off x="10671048" y="1664208"/>
            <a:ext cx="1520647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saic 14"/>
          <p:cNvSpPr/>
          <p:nvPr/>
        </p:nvSpPr>
        <p:spPr>
          <a:xfrm>
            <a:off x="0" y="2322576"/>
            <a:ext cx="658368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saic 15"/>
          <p:cNvSpPr>
            <a:spLocks/>
          </p:cNvSpPr>
          <p:nvPr/>
        </p:nvSpPr>
        <p:spPr>
          <a:xfrm>
            <a:off x="658368" y="2322576"/>
            <a:ext cx="1307592" cy="38404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osaic 16"/>
          <p:cNvSpPr>
            <a:spLocks/>
          </p:cNvSpPr>
          <p:nvPr/>
        </p:nvSpPr>
        <p:spPr>
          <a:xfrm>
            <a:off x="1965960" y="2322576"/>
            <a:ext cx="694944" cy="38404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osaic 17"/>
          <p:cNvSpPr>
            <a:spLocks/>
          </p:cNvSpPr>
          <p:nvPr/>
        </p:nvSpPr>
        <p:spPr>
          <a:xfrm>
            <a:off x="2660904" y="2322576"/>
            <a:ext cx="1170432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osaic 18"/>
          <p:cNvSpPr/>
          <p:nvPr/>
        </p:nvSpPr>
        <p:spPr>
          <a:xfrm>
            <a:off x="3831336" y="2322576"/>
            <a:ext cx="612648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osaic 19"/>
          <p:cNvSpPr>
            <a:spLocks/>
          </p:cNvSpPr>
          <p:nvPr/>
        </p:nvSpPr>
        <p:spPr>
          <a:xfrm>
            <a:off x="4443984" y="2322576"/>
            <a:ext cx="1417320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osaic 20"/>
          <p:cNvSpPr>
            <a:spLocks/>
          </p:cNvSpPr>
          <p:nvPr/>
        </p:nvSpPr>
        <p:spPr>
          <a:xfrm>
            <a:off x="5861304" y="2322576"/>
            <a:ext cx="640080" cy="38404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osaic 21"/>
          <p:cNvSpPr>
            <a:spLocks/>
          </p:cNvSpPr>
          <p:nvPr/>
        </p:nvSpPr>
        <p:spPr>
          <a:xfrm>
            <a:off x="6501384" y="2322576"/>
            <a:ext cx="1143000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osaic 22"/>
          <p:cNvSpPr/>
          <p:nvPr/>
        </p:nvSpPr>
        <p:spPr>
          <a:xfrm>
            <a:off x="7644383" y="2322576"/>
            <a:ext cx="749808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osaic 23"/>
          <p:cNvSpPr>
            <a:spLocks/>
          </p:cNvSpPr>
          <p:nvPr/>
        </p:nvSpPr>
        <p:spPr>
          <a:xfrm>
            <a:off x="8394192" y="2322576"/>
            <a:ext cx="1307592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osaic 24"/>
          <p:cNvSpPr>
            <a:spLocks/>
          </p:cNvSpPr>
          <p:nvPr/>
        </p:nvSpPr>
        <p:spPr>
          <a:xfrm>
            <a:off x="9701784" y="2322576"/>
            <a:ext cx="585216" cy="38404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osaic 25"/>
          <p:cNvSpPr>
            <a:spLocks/>
          </p:cNvSpPr>
          <p:nvPr/>
        </p:nvSpPr>
        <p:spPr>
          <a:xfrm>
            <a:off x="10287000" y="2322576"/>
            <a:ext cx="1088136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osaic 26"/>
          <p:cNvSpPr/>
          <p:nvPr/>
        </p:nvSpPr>
        <p:spPr>
          <a:xfrm>
            <a:off x="11375136" y="2322576"/>
            <a:ext cx="816559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Eyebrow"/>
          <p:cNvSpPr txBox="1"/>
          <p:nvPr/>
        </p:nvSpPr>
        <p:spPr>
          <a:xfrm>
            <a:off x="621792" y="320040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A500A"/>
                </a:solidFill>
                <a:latin typeface="Arial"/>
              </a:rPr>
              <a:t>HOW STUDIO WORKS  •  WHY STUDIO</a:t>
            </a:r>
          </a:p>
        </p:txBody>
      </p:sp>
      <p:sp>
        <p:nvSpPr>
          <p:cNvPr id="30" name="Title"/>
          <p:cNvSpPr txBox="1"/>
          <p:nvPr/>
        </p:nvSpPr>
        <p:spPr>
          <a:xfrm>
            <a:off x="621792" y="804672"/>
            <a:ext cx="1078992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900" b="1">
                <a:solidFill>
                  <a:srgbClr val="FFF8F3"/>
                </a:solidFill>
                <a:latin typeface="Arial"/>
              </a:rPr>
              <a:t>One platform closes
the production loop</a:t>
            </a:r>
          </a:p>
        </p:txBody>
      </p:sp>
      <p:sp>
        <p:nvSpPr>
          <p:cNvPr id="31" name="BUILD marker"/>
          <p:cNvSpPr/>
          <p:nvPr/>
        </p:nvSpPr>
        <p:spPr>
          <a:xfrm>
            <a:off x="438912" y="1901952"/>
            <a:ext cx="438912" cy="43891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UILD number"/>
          <p:cNvSpPr txBox="1"/>
          <p:nvPr/>
        </p:nvSpPr>
        <p:spPr>
          <a:xfrm>
            <a:off x="438912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01</a:t>
            </a:r>
          </a:p>
        </p:txBody>
      </p:sp>
      <p:sp>
        <p:nvSpPr>
          <p:cNvPr id="33" name="BUILD title"/>
          <p:cNvSpPr txBox="1"/>
          <p:nvPr/>
        </p:nvSpPr>
        <p:spPr>
          <a:xfrm>
            <a:off x="438912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22902"/>
                </a:solidFill>
                <a:latin typeface="Arial"/>
              </a:rPr>
              <a:t>BUILD</a:t>
            </a:r>
          </a:p>
        </p:txBody>
      </p:sp>
      <p:sp>
        <p:nvSpPr>
          <p:cNvPr id="34" name="BUILD detail"/>
          <p:cNvSpPr txBox="1"/>
          <p:nvPr/>
        </p:nvSpPr>
        <p:spPr>
          <a:xfrm>
            <a:off x="438912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Agents +
connectors</a:t>
            </a:r>
          </a:p>
        </p:txBody>
      </p:sp>
      <p:sp>
        <p:nvSpPr>
          <p:cNvPr id="35" name="ORCHESTRATE marker"/>
          <p:cNvSpPr>
            <a:spLocks/>
          </p:cNvSpPr>
          <p:nvPr/>
        </p:nvSpPr>
        <p:spPr>
          <a:xfrm>
            <a:off x="2761488" y="1901952"/>
            <a:ext cx="438912" cy="43891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RCHESTRATE number"/>
          <p:cNvSpPr txBox="1"/>
          <p:nvPr/>
        </p:nvSpPr>
        <p:spPr>
          <a:xfrm>
            <a:off x="2761488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02</a:t>
            </a:r>
          </a:p>
        </p:txBody>
      </p:sp>
      <p:sp>
        <p:nvSpPr>
          <p:cNvPr id="37" name="ORCHESTRATE title"/>
          <p:cNvSpPr txBox="1">
            <a:spLocks/>
          </p:cNvSpPr>
          <p:nvPr/>
        </p:nvSpPr>
        <p:spPr>
          <a:xfrm>
            <a:off x="2761488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A500A"/>
                </a:solidFill>
                <a:latin typeface="Arial"/>
              </a:rPr>
              <a:t>ORCHESTRATE</a:t>
            </a:r>
          </a:p>
        </p:txBody>
      </p:sp>
      <p:sp>
        <p:nvSpPr>
          <p:cNvPr id="38" name="ORCHESTRATE detail"/>
          <p:cNvSpPr txBox="1"/>
          <p:nvPr/>
        </p:nvSpPr>
        <p:spPr>
          <a:xfrm>
            <a:off x="2761488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FAD9CA"/>
                </a:solidFill>
                <a:latin typeface="Arial"/>
              </a:rPr>
              <a:t>Durable
workflows</a:t>
            </a:r>
          </a:p>
        </p:txBody>
      </p:sp>
      <p:sp>
        <p:nvSpPr>
          <p:cNvPr id="39" name="EVALUATE marker"/>
          <p:cNvSpPr>
            <a:spLocks/>
          </p:cNvSpPr>
          <p:nvPr/>
        </p:nvSpPr>
        <p:spPr>
          <a:xfrm>
            <a:off x="5148072" y="1901952"/>
            <a:ext cx="438912" cy="43891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EVALUATE number"/>
          <p:cNvSpPr txBox="1">
            <a:spLocks/>
          </p:cNvSpPr>
          <p:nvPr/>
        </p:nvSpPr>
        <p:spPr>
          <a:xfrm>
            <a:off x="5148072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03</a:t>
            </a:r>
          </a:p>
        </p:txBody>
      </p:sp>
      <p:sp>
        <p:nvSpPr>
          <p:cNvPr id="41" name="EVALUATE title"/>
          <p:cNvSpPr txBox="1">
            <a:spLocks/>
          </p:cNvSpPr>
          <p:nvPr/>
        </p:nvSpPr>
        <p:spPr>
          <a:xfrm>
            <a:off x="5148072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18728"/>
                </a:solidFill>
                <a:latin typeface="Arial"/>
              </a:rPr>
              <a:t>EVALUATE</a:t>
            </a:r>
          </a:p>
        </p:txBody>
      </p:sp>
      <p:sp>
        <p:nvSpPr>
          <p:cNvPr id="42" name="EVALUATE detail"/>
          <p:cNvSpPr txBox="1">
            <a:spLocks/>
          </p:cNvSpPr>
          <p:nvPr/>
        </p:nvSpPr>
        <p:spPr>
          <a:xfrm>
            <a:off x="5148072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FAD9CA"/>
                </a:solidFill>
                <a:latin typeface="Arial"/>
              </a:rPr>
              <a:t>Experiments +
judges</a:t>
            </a:r>
          </a:p>
        </p:txBody>
      </p:sp>
      <p:sp>
        <p:nvSpPr>
          <p:cNvPr id="43" name="DEPLOY marker"/>
          <p:cNvSpPr/>
          <p:nvPr/>
        </p:nvSpPr>
        <p:spPr>
          <a:xfrm>
            <a:off x="7479792" y="1901952"/>
            <a:ext cx="438912" cy="43891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EPLOY number"/>
          <p:cNvSpPr txBox="1">
            <a:spLocks/>
          </p:cNvSpPr>
          <p:nvPr/>
        </p:nvSpPr>
        <p:spPr>
          <a:xfrm>
            <a:off x="7479792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04</a:t>
            </a:r>
          </a:p>
        </p:txBody>
      </p:sp>
      <p:sp>
        <p:nvSpPr>
          <p:cNvPr id="45" name="DEPLOY title"/>
          <p:cNvSpPr txBox="1">
            <a:spLocks/>
          </p:cNvSpPr>
          <p:nvPr/>
        </p:nvSpPr>
        <p:spPr>
          <a:xfrm>
            <a:off x="7479792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F7043"/>
                </a:solidFill>
                <a:latin typeface="Arial"/>
              </a:rPr>
              <a:t>DEPLOY</a:t>
            </a:r>
          </a:p>
        </p:txBody>
      </p:sp>
      <p:sp>
        <p:nvSpPr>
          <p:cNvPr id="46" name="DEPLOY detail"/>
          <p:cNvSpPr txBox="1">
            <a:spLocks/>
          </p:cNvSpPr>
          <p:nvPr/>
        </p:nvSpPr>
        <p:spPr>
          <a:xfrm>
            <a:off x="7479792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FAD9CA"/>
                </a:solidFill>
                <a:latin typeface="Arial"/>
              </a:rPr>
              <a:t>Hybrid • dedicated
Self-hosted</a:t>
            </a:r>
          </a:p>
        </p:txBody>
      </p:sp>
      <p:sp>
        <p:nvSpPr>
          <p:cNvPr id="47" name="GOVERN marker"/>
          <p:cNvSpPr/>
          <p:nvPr/>
        </p:nvSpPr>
        <p:spPr>
          <a:xfrm>
            <a:off x="9829800" y="1901952"/>
            <a:ext cx="438912" cy="43891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GOVERN number"/>
          <p:cNvSpPr txBox="1">
            <a:spLocks/>
          </p:cNvSpPr>
          <p:nvPr/>
        </p:nvSpPr>
        <p:spPr>
          <a:xfrm>
            <a:off x="9829800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05</a:t>
            </a:r>
          </a:p>
        </p:txBody>
      </p:sp>
      <p:sp>
        <p:nvSpPr>
          <p:cNvPr id="49" name="GOVERN title"/>
          <p:cNvSpPr txBox="1"/>
          <p:nvPr/>
        </p:nvSpPr>
        <p:spPr>
          <a:xfrm>
            <a:off x="9829800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2902"/>
                </a:solidFill>
                <a:latin typeface="Arial"/>
              </a:rPr>
              <a:t>GOVERN</a:t>
            </a:r>
          </a:p>
        </p:txBody>
      </p:sp>
      <p:sp>
        <p:nvSpPr>
          <p:cNvPr id="50" name="GOVERN detail"/>
          <p:cNvSpPr txBox="1"/>
          <p:nvPr/>
        </p:nvSpPr>
        <p:spPr>
          <a:xfrm>
            <a:off x="9829800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Traces • guardrails
• registry</a:t>
            </a:r>
          </a:p>
        </p:txBody>
      </p:sp>
      <p:sp>
        <p:nvSpPr>
          <p:cNvPr id="51" name="Section divider"/>
          <p:cNvSpPr/>
          <p:nvPr/>
        </p:nvSpPr>
        <p:spPr>
          <a:xfrm>
            <a:off x="621792" y="4023360"/>
            <a:ext cx="10945368" cy="1371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ONNECT  •  BUILD ONCE"/>
          <p:cNvSpPr txBox="1"/>
          <p:nvPr/>
        </p:nvSpPr>
        <p:spPr>
          <a:xfrm>
            <a:off x="621792" y="42976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CONNECT  •  BUILD ONCE</a:t>
            </a:r>
          </a:p>
        </p:txBody>
      </p:sp>
      <p:sp>
        <p:nvSpPr>
          <p:cNvPr id="53" name="CONNECT  •  BUILD ONCE body"/>
          <p:cNvSpPr txBox="1"/>
          <p:nvPr/>
        </p:nvSpPr>
        <p:spPr>
          <a:xfrm>
            <a:off x="621792" y="4709160"/>
            <a:ext cx="3154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8F3"/>
                </a:solidFill>
                <a:latin typeface="Arial"/>
              </a:rPr>
              <a:t>Built-in + custom enterprise
connectors; one codebase</a:t>
            </a:r>
          </a:p>
        </p:txBody>
      </p:sp>
      <p:sp>
        <p:nvSpPr>
          <p:cNvPr id="54" name="RECOVER  •  DURABLE WORKFLOWS"/>
          <p:cNvSpPr txBox="1"/>
          <p:nvPr/>
        </p:nvSpPr>
        <p:spPr>
          <a:xfrm>
            <a:off x="4096512" y="42976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18728"/>
                </a:solidFill>
                <a:latin typeface="Arial"/>
              </a:rPr>
              <a:t>RECOVER  •  DURABLE WORKFLOWS</a:t>
            </a:r>
          </a:p>
        </p:txBody>
      </p:sp>
      <p:sp>
        <p:nvSpPr>
          <p:cNvPr id="55" name="RECOVER  •  DURABLE WORKFLOWS body"/>
          <p:cNvSpPr txBox="1"/>
          <p:nvPr/>
        </p:nvSpPr>
        <p:spPr>
          <a:xfrm>
            <a:off x="4096512" y="4709160"/>
            <a:ext cx="3154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8F3"/>
                </a:solidFill>
                <a:latin typeface="Arial"/>
              </a:rPr>
              <a:t>State + retries + automatic
resume across restarts</a:t>
            </a:r>
          </a:p>
        </p:txBody>
      </p:sp>
      <p:sp>
        <p:nvSpPr>
          <p:cNvPr id="56" name="CONTROL  •  GOVERNED SCALE"/>
          <p:cNvSpPr txBox="1"/>
          <p:nvPr/>
        </p:nvSpPr>
        <p:spPr>
          <a:xfrm>
            <a:off x="7699248" y="42976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CONTROL  •  GOVERNED SCALE</a:t>
            </a:r>
          </a:p>
        </p:txBody>
      </p:sp>
      <p:sp>
        <p:nvSpPr>
          <p:cNvPr id="57" name="CONTROL  •  GOVERNED SCALE body"/>
          <p:cNvSpPr txBox="1"/>
          <p:nvPr/>
        </p:nvSpPr>
        <p:spPr>
          <a:xfrm>
            <a:off x="7699248" y="4709160"/>
            <a:ext cx="3154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8F3"/>
                </a:solidFill>
                <a:latin typeface="Arial"/>
              </a:rPr>
              <a:t>RBAC + SSO + workspaces +
traces + audit logs</a:t>
            </a:r>
          </a:p>
        </p:txBody>
      </p:sp>
      <p:sp>
        <p:nvSpPr>
          <p:cNvPr id="58" name="Pillar divider"/>
          <p:cNvSpPr/>
          <p:nvPr/>
        </p:nvSpPr>
        <p:spPr>
          <a:xfrm>
            <a:off x="3822191" y="4279392"/>
            <a:ext cx="16459" cy="122529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illar divider"/>
          <p:cNvSpPr/>
          <p:nvPr/>
        </p:nvSpPr>
        <p:spPr>
          <a:xfrm>
            <a:off x="7424927" y="4279392"/>
            <a:ext cx="16459" cy="122529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Best fit field"/>
          <p:cNvSpPr/>
          <p:nvPr/>
        </p:nvSpPr>
        <p:spPr>
          <a:xfrm>
            <a:off x="621792" y="5669280"/>
            <a:ext cx="10945368" cy="6126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Best fit"/>
          <p:cNvSpPr txBox="1"/>
          <p:nvPr/>
        </p:nvSpPr>
        <p:spPr>
          <a:xfrm>
            <a:off x="868680" y="5797296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0306"/>
                </a:solidFill>
                <a:latin typeface="Arial"/>
              </a:rPr>
              <a:t>BEST FIT  →  Hybrid • dedicated • self-hosted  •  one codebase  •  measurable quality  •  controlled production</a:t>
            </a:r>
          </a:p>
        </p:txBody>
      </p:sp>
      <p:sp>
        <p:nvSpPr>
          <p:cNvPr id="62" name="Proof"/>
          <p:cNvSpPr txBox="1"/>
          <p:nvPr/>
        </p:nvSpPr>
        <p:spPr>
          <a:xfrm>
            <a:off x="621792" y="5468112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A58B"/>
                </a:solidFill>
                <a:latin typeface="Arial"/>
              </a:rPr>
              <a:t>PROOF  •  CMA CGM: 200+ AI use cases identified and 55+ projects deployed on a Mistral-built stack (€100M, five-year partnership)</a:t>
            </a:r>
          </a:p>
        </p:txBody>
      </p:sp>
      <p:sp>
        <p:nvSpPr>
          <p:cNvPr id="63" name="Footer"/>
          <p:cNvSpPr txBox="1"/>
          <p:nvPr/>
        </p:nvSpPr>
        <p:spPr>
          <a:xfrm>
            <a:off x="621792" y="6647688"/>
            <a:ext cx="2926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3A58B"/>
                </a:solidFill>
                <a:latin typeface="Arial"/>
              </a:rPr>
              <a:t>Mistral Studio  •  Sales deck</a:t>
            </a:r>
          </a:p>
        </p:txBody>
      </p:sp>
      <p:sp>
        <p:nvSpPr>
          <p:cNvPr id="64" name="Page number"/>
          <p:cNvSpPr txBox="1"/>
          <p:nvPr/>
        </p:nvSpPr>
        <p:spPr>
          <a:xfrm>
            <a:off x="11137392" y="658368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A500A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A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>
            <a:spLocks/>
          </p:cNvSpPr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saic 1"/>
          <p:cNvSpPr>
            <a:spLocks/>
          </p:cNvSpPr>
          <p:nvPr/>
        </p:nvSpPr>
        <p:spPr>
          <a:xfrm>
            <a:off x="8065008" y="50292"/>
            <a:ext cx="1024128" cy="777240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saic 2"/>
          <p:cNvSpPr/>
          <p:nvPr/>
        </p:nvSpPr>
        <p:spPr>
          <a:xfrm>
            <a:off x="9089136" y="50292"/>
            <a:ext cx="694944" cy="77724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Mosaic 3"/>
          <p:cNvSpPr>
            <a:spLocks/>
          </p:cNvSpPr>
          <p:nvPr/>
        </p:nvSpPr>
        <p:spPr>
          <a:xfrm>
            <a:off x="9784080" y="50292"/>
            <a:ext cx="1005840" cy="77724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osaic 4"/>
          <p:cNvSpPr>
            <a:spLocks/>
          </p:cNvSpPr>
          <p:nvPr/>
        </p:nvSpPr>
        <p:spPr>
          <a:xfrm>
            <a:off x="10789920" y="50292"/>
            <a:ext cx="585216" cy="77724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osaic 5"/>
          <p:cNvSpPr/>
          <p:nvPr/>
        </p:nvSpPr>
        <p:spPr>
          <a:xfrm>
            <a:off x="11375136" y="50292"/>
            <a:ext cx="816559" cy="77724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osaic 6"/>
          <p:cNvSpPr/>
          <p:nvPr/>
        </p:nvSpPr>
        <p:spPr>
          <a:xfrm>
            <a:off x="8065008" y="827532"/>
            <a:ext cx="566928" cy="95097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osaic 7"/>
          <p:cNvSpPr>
            <a:spLocks/>
          </p:cNvSpPr>
          <p:nvPr/>
        </p:nvSpPr>
        <p:spPr>
          <a:xfrm>
            <a:off x="8631936" y="827532"/>
            <a:ext cx="1188720" cy="950976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osaic 8"/>
          <p:cNvSpPr>
            <a:spLocks/>
          </p:cNvSpPr>
          <p:nvPr/>
        </p:nvSpPr>
        <p:spPr>
          <a:xfrm>
            <a:off x="9820656" y="827532"/>
            <a:ext cx="749808" cy="950976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osaic 9"/>
          <p:cNvSpPr/>
          <p:nvPr/>
        </p:nvSpPr>
        <p:spPr>
          <a:xfrm>
            <a:off x="10570464" y="827532"/>
            <a:ext cx="1115568" cy="950976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Mosaic 10"/>
          <p:cNvSpPr>
            <a:spLocks/>
          </p:cNvSpPr>
          <p:nvPr/>
        </p:nvSpPr>
        <p:spPr>
          <a:xfrm>
            <a:off x="11686032" y="827532"/>
            <a:ext cx="505663" cy="95097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osaic 11"/>
          <p:cNvSpPr>
            <a:spLocks/>
          </p:cNvSpPr>
          <p:nvPr/>
        </p:nvSpPr>
        <p:spPr>
          <a:xfrm>
            <a:off x="8065008" y="1778508"/>
            <a:ext cx="1170432" cy="96926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saic 12"/>
          <p:cNvSpPr/>
          <p:nvPr/>
        </p:nvSpPr>
        <p:spPr>
          <a:xfrm>
            <a:off x="9235440" y="1778508"/>
            <a:ext cx="658368" cy="96926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osaic 13"/>
          <p:cNvSpPr>
            <a:spLocks/>
          </p:cNvSpPr>
          <p:nvPr/>
        </p:nvSpPr>
        <p:spPr>
          <a:xfrm>
            <a:off x="9893808" y="1778508"/>
            <a:ext cx="1380744" cy="969264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saic 14"/>
          <p:cNvSpPr>
            <a:spLocks/>
          </p:cNvSpPr>
          <p:nvPr/>
        </p:nvSpPr>
        <p:spPr>
          <a:xfrm>
            <a:off x="11274552" y="1778508"/>
            <a:ext cx="917143" cy="96926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saic 15"/>
          <p:cNvSpPr/>
          <p:nvPr/>
        </p:nvSpPr>
        <p:spPr>
          <a:xfrm>
            <a:off x="8065008" y="2747772"/>
            <a:ext cx="640080" cy="1170432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osaic 16"/>
          <p:cNvSpPr>
            <a:spLocks/>
          </p:cNvSpPr>
          <p:nvPr/>
        </p:nvSpPr>
        <p:spPr>
          <a:xfrm>
            <a:off x="8705088" y="2747772"/>
            <a:ext cx="960120" cy="117043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osaic 17"/>
          <p:cNvSpPr>
            <a:spLocks/>
          </p:cNvSpPr>
          <p:nvPr/>
        </p:nvSpPr>
        <p:spPr>
          <a:xfrm>
            <a:off x="9665208" y="2747772"/>
            <a:ext cx="768096" cy="117043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osaic 18"/>
          <p:cNvSpPr/>
          <p:nvPr/>
        </p:nvSpPr>
        <p:spPr>
          <a:xfrm>
            <a:off x="10433304" y="2747772"/>
            <a:ext cx="1243584" cy="1170432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Mosaic 19"/>
          <p:cNvSpPr>
            <a:spLocks/>
          </p:cNvSpPr>
          <p:nvPr/>
        </p:nvSpPr>
        <p:spPr>
          <a:xfrm>
            <a:off x="11676888" y="2747772"/>
            <a:ext cx="514807" cy="117043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osaic 20"/>
          <p:cNvSpPr>
            <a:spLocks/>
          </p:cNvSpPr>
          <p:nvPr/>
        </p:nvSpPr>
        <p:spPr>
          <a:xfrm>
            <a:off x="8065008" y="3918204"/>
            <a:ext cx="1307592" cy="10789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osaic 21"/>
          <p:cNvSpPr/>
          <p:nvPr/>
        </p:nvSpPr>
        <p:spPr>
          <a:xfrm>
            <a:off x="9372600" y="3918204"/>
            <a:ext cx="612648" cy="1078992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Mosaic 22"/>
          <p:cNvSpPr>
            <a:spLocks/>
          </p:cNvSpPr>
          <p:nvPr/>
        </p:nvSpPr>
        <p:spPr>
          <a:xfrm>
            <a:off x="9985248" y="3918204"/>
            <a:ext cx="1024128" cy="107899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osaic 23"/>
          <p:cNvSpPr>
            <a:spLocks/>
          </p:cNvSpPr>
          <p:nvPr/>
        </p:nvSpPr>
        <p:spPr>
          <a:xfrm>
            <a:off x="11009376" y="3918204"/>
            <a:ext cx="1182319" cy="107899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osaic 24"/>
          <p:cNvSpPr>
            <a:spLocks/>
          </p:cNvSpPr>
          <p:nvPr/>
        </p:nvSpPr>
        <p:spPr>
          <a:xfrm>
            <a:off x="8065008" y="4997196"/>
            <a:ext cx="685800" cy="186080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osaic 25"/>
          <p:cNvSpPr>
            <a:spLocks/>
          </p:cNvSpPr>
          <p:nvPr/>
        </p:nvSpPr>
        <p:spPr>
          <a:xfrm>
            <a:off x="8750808" y="4997196"/>
            <a:ext cx="1207008" cy="1860804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osaic 26"/>
          <p:cNvSpPr>
            <a:spLocks/>
          </p:cNvSpPr>
          <p:nvPr/>
        </p:nvSpPr>
        <p:spPr>
          <a:xfrm>
            <a:off x="9957816" y="4997196"/>
            <a:ext cx="768096" cy="186080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Mosaic 27"/>
          <p:cNvSpPr/>
          <p:nvPr/>
        </p:nvSpPr>
        <p:spPr>
          <a:xfrm>
            <a:off x="10725912" y="4997196"/>
            <a:ext cx="603504" cy="1860804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Mosaic 28"/>
          <p:cNvSpPr/>
          <p:nvPr/>
        </p:nvSpPr>
        <p:spPr>
          <a:xfrm>
            <a:off x="11329416" y="4997196"/>
            <a:ext cx="862279" cy="186080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utcome field"/>
          <p:cNvSpPr/>
          <p:nvPr/>
        </p:nvSpPr>
        <p:spPr>
          <a:xfrm>
            <a:off x="8302752" y="896112"/>
            <a:ext cx="3456432" cy="361188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losing field"/>
          <p:cNvSpPr/>
          <p:nvPr/>
        </p:nvSpPr>
        <p:spPr>
          <a:xfrm>
            <a:off x="8302752" y="5248656"/>
            <a:ext cx="3456432" cy="80467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Eyebrow"/>
          <p:cNvSpPr txBox="1">
            <a:spLocks/>
          </p:cNvSpPr>
          <p:nvPr/>
        </p:nvSpPr>
        <p:spPr>
          <a:xfrm>
            <a:off x="621792" y="320040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A500A"/>
                </a:solidFill>
                <a:latin typeface="Arial"/>
              </a:rPr>
              <a:t>NEXT STEP  •  FOUR-WEEK PILOT</a:t>
            </a:r>
          </a:p>
        </p:txBody>
      </p:sp>
      <p:sp>
        <p:nvSpPr>
          <p:cNvPr id="34" name="Closing title"/>
          <p:cNvSpPr txBox="1">
            <a:spLocks/>
          </p:cNvSpPr>
          <p:nvPr/>
        </p:nvSpPr>
        <p:spPr>
          <a:xfrm>
            <a:off x="621792" y="795528"/>
            <a:ext cx="696772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600" b="1">
                <a:solidFill>
                  <a:srgbClr val="FFF8F3"/>
                </a:solidFill>
                <a:latin typeface="Arial"/>
              </a:rPr>
              <a:t>Prove one workflow.
In four weeks.</a:t>
            </a:r>
          </a:p>
        </p:txBody>
      </p:sp>
      <p:sp>
        <p:nvSpPr>
          <p:cNvPr id="35" name="Title rule"/>
          <p:cNvSpPr/>
          <p:nvPr/>
        </p:nvSpPr>
        <p:spPr>
          <a:xfrm>
            <a:off x="621792" y="2221992"/>
            <a:ext cx="896112" cy="411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Path heading"/>
          <p:cNvSpPr txBox="1">
            <a:spLocks/>
          </p:cNvSpPr>
          <p:nvPr/>
        </p:nvSpPr>
        <p:spPr>
          <a:xfrm>
            <a:off x="621792" y="2496312"/>
            <a:ext cx="69037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A500A"/>
                </a:solidFill>
                <a:latin typeface="Arial"/>
              </a:rPr>
              <a:t>FROM WORKSHOP TO GO / NO-GO</a:t>
            </a:r>
          </a:p>
        </p:txBody>
      </p:sp>
      <p:sp>
        <p:nvSpPr>
          <p:cNvPr id="37" name="WORKSHOP number"/>
          <p:cNvSpPr txBox="1">
            <a:spLocks/>
          </p:cNvSpPr>
          <p:nvPr/>
        </p:nvSpPr>
        <p:spPr>
          <a:xfrm>
            <a:off x="621792" y="295351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22902"/>
                </a:solidFill>
                <a:latin typeface="Arial"/>
              </a:rPr>
              <a:t>01</a:t>
            </a:r>
          </a:p>
        </p:txBody>
      </p:sp>
      <p:sp>
        <p:nvSpPr>
          <p:cNvPr id="38" name="WORKSHOP label"/>
          <p:cNvSpPr txBox="1"/>
          <p:nvPr/>
        </p:nvSpPr>
        <p:spPr>
          <a:xfrm>
            <a:off x="1078992" y="295351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WORKSHOP</a:t>
            </a:r>
          </a:p>
        </p:txBody>
      </p:sp>
      <p:sp>
        <p:nvSpPr>
          <p:cNvPr id="39" name="WORKSHOP description"/>
          <p:cNvSpPr txBox="1"/>
          <p:nvPr/>
        </p:nvSpPr>
        <p:spPr>
          <a:xfrm>
            <a:off x="2395728" y="295351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Choose workflow  •  Set baseline</a:t>
            </a:r>
          </a:p>
        </p:txBody>
      </p:sp>
      <p:sp>
        <p:nvSpPr>
          <p:cNvPr id="40" name="Path line 1"/>
          <p:cNvSpPr/>
          <p:nvPr/>
        </p:nvSpPr>
        <p:spPr>
          <a:xfrm>
            <a:off x="768096" y="3236976"/>
            <a:ext cx="22860" cy="192024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EEK 1 number"/>
          <p:cNvSpPr txBox="1"/>
          <p:nvPr/>
        </p:nvSpPr>
        <p:spPr>
          <a:xfrm>
            <a:off x="621792" y="347472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02</a:t>
            </a:r>
          </a:p>
        </p:txBody>
      </p:sp>
      <p:sp>
        <p:nvSpPr>
          <p:cNvPr id="42" name="WEEK 1 label"/>
          <p:cNvSpPr txBox="1"/>
          <p:nvPr/>
        </p:nvSpPr>
        <p:spPr>
          <a:xfrm>
            <a:off x="1078992" y="3474720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WEEK 1</a:t>
            </a:r>
          </a:p>
        </p:txBody>
      </p:sp>
      <p:sp>
        <p:nvSpPr>
          <p:cNvPr id="43" name="WEEK 1 description"/>
          <p:cNvSpPr txBox="1"/>
          <p:nvPr/>
        </p:nvSpPr>
        <p:spPr>
          <a:xfrm>
            <a:off x="2395728" y="34747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Connect data  •  Define controls</a:t>
            </a:r>
          </a:p>
        </p:txBody>
      </p:sp>
      <p:sp>
        <p:nvSpPr>
          <p:cNvPr id="44" name="Path line 2"/>
          <p:cNvSpPr/>
          <p:nvPr/>
        </p:nvSpPr>
        <p:spPr>
          <a:xfrm>
            <a:off x="768096" y="3758183"/>
            <a:ext cx="22860" cy="192024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WEEK 2 number"/>
          <p:cNvSpPr txBox="1"/>
          <p:nvPr/>
        </p:nvSpPr>
        <p:spPr>
          <a:xfrm>
            <a:off x="621792" y="399592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18728"/>
                </a:solidFill>
                <a:latin typeface="Arial"/>
              </a:rPr>
              <a:t>03</a:t>
            </a:r>
          </a:p>
        </p:txBody>
      </p:sp>
      <p:sp>
        <p:nvSpPr>
          <p:cNvPr id="46" name="WEEK 2 label"/>
          <p:cNvSpPr txBox="1"/>
          <p:nvPr/>
        </p:nvSpPr>
        <p:spPr>
          <a:xfrm>
            <a:off x="1078992" y="39959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WEEK 2</a:t>
            </a:r>
          </a:p>
        </p:txBody>
      </p:sp>
      <p:sp>
        <p:nvSpPr>
          <p:cNvPr id="47" name="WEEK 2 description"/>
          <p:cNvSpPr txBox="1"/>
          <p:nvPr/>
        </p:nvSpPr>
        <p:spPr>
          <a:xfrm>
            <a:off x="2395728" y="39959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Build workflow  •  Trace failures</a:t>
            </a:r>
          </a:p>
        </p:txBody>
      </p:sp>
      <p:sp>
        <p:nvSpPr>
          <p:cNvPr id="48" name="Path line 3"/>
          <p:cNvSpPr/>
          <p:nvPr/>
        </p:nvSpPr>
        <p:spPr>
          <a:xfrm>
            <a:off x="768096" y="4279392"/>
            <a:ext cx="22860" cy="192024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WEEK 3 number"/>
          <p:cNvSpPr txBox="1"/>
          <p:nvPr/>
        </p:nvSpPr>
        <p:spPr>
          <a:xfrm>
            <a:off x="621792" y="451713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04</a:t>
            </a:r>
          </a:p>
        </p:txBody>
      </p:sp>
      <p:sp>
        <p:nvSpPr>
          <p:cNvPr id="50" name="WEEK 3 label"/>
          <p:cNvSpPr txBox="1"/>
          <p:nvPr/>
        </p:nvSpPr>
        <p:spPr>
          <a:xfrm>
            <a:off x="1078992" y="4517136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WEEK 3</a:t>
            </a:r>
          </a:p>
        </p:txBody>
      </p:sp>
      <p:sp>
        <p:nvSpPr>
          <p:cNvPr id="51" name="WEEK 3 description"/>
          <p:cNvSpPr txBox="1"/>
          <p:nvPr/>
        </p:nvSpPr>
        <p:spPr>
          <a:xfrm>
            <a:off x="2395728" y="451713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Run evals  •  Review security</a:t>
            </a:r>
          </a:p>
        </p:txBody>
      </p:sp>
      <p:sp>
        <p:nvSpPr>
          <p:cNvPr id="52" name="Path line 4"/>
          <p:cNvSpPr/>
          <p:nvPr/>
        </p:nvSpPr>
        <p:spPr>
          <a:xfrm>
            <a:off x="768096" y="4800599"/>
            <a:ext cx="22860" cy="192024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WEEK 4 number"/>
          <p:cNvSpPr txBox="1"/>
          <p:nvPr/>
        </p:nvSpPr>
        <p:spPr>
          <a:xfrm>
            <a:off x="621792" y="5038344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2902"/>
                </a:solidFill>
                <a:latin typeface="Arial"/>
              </a:rPr>
              <a:t>05</a:t>
            </a:r>
          </a:p>
        </p:txBody>
      </p:sp>
      <p:sp>
        <p:nvSpPr>
          <p:cNvPr id="54" name="WEEK 4 label"/>
          <p:cNvSpPr txBox="1"/>
          <p:nvPr/>
        </p:nvSpPr>
        <p:spPr>
          <a:xfrm>
            <a:off x="1078992" y="503834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WEEK 4</a:t>
            </a:r>
          </a:p>
        </p:txBody>
      </p:sp>
      <p:sp>
        <p:nvSpPr>
          <p:cNvPr id="55" name="WEEK 4 description"/>
          <p:cNvSpPr txBox="1"/>
          <p:nvPr/>
        </p:nvSpPr>
        <p:spPr>
          <a:xfrm>
            <a:off x="2395728" y="503834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Compare results  •  Go / no-go</a:t>
            </a:r>
          </a:p>
        </p:txBody>
      </p:sp>
      <p:sp>
        <p:nvSpPr>
          <p:cNvPr id="56" name="Lower divider"/>
          <p:cNvSpPr/>
          <p:nvPr/>
        </p:nvSpPr>
        <p:spPr>
          <a:xfrm>
            <a:off x="621792" y="5641848"/>
            <a:ext cx="6903720" cy="1371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Bring heading"/>
          <p:cNvSpPr txBox="1"/>
          <p:nvPr/>
        </p:nvSpPr>
        <p:spPr>
          <a:xfrm>
            <a:off x="621792" y="5833872"/>
            <a:ext cx="7498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BRING</a:t>
            </a:r>
          </a:p>
        </p:txBody>
      </p:sp>
      <p:sp>
        <p:nvSpPr>
          <p:cNvPr id="58" name="Bring list"/>
          <p:cNvSpPr txBox="1"/>
          <p:nvPr/>
        </p:nvSpPr>
        <p:spPr>
          <a:xfrm>
            <a:off x="1444752" y="5815584"/>
            <a:ext cx="60533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Workflow owner  •  Platform lead  •  Security owner  •  Developer</a:t>
            </a:r>
          </a:p>
        </p:txBody>
      </p:sp>
      <p:sp>
        <p:nvSpPr>
          <p:cNvPr id="59" name="Proof"/>
          <p:cNvSpPr txBox="1"/>
          <p:nvPr/>
        </p:nvSpPr>
        <p:spPr>
          <a:xfrm>
            <a:off x="621792" y="6318504"/>
            <a:ext cx="6967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3A58B"/>
                </a:solidFill>
                <a:latin typeface="Arial"/>
              </a:rPr>
              <a:t>PROVEN AT SCALE  •  CMA CGM: 55+ deployed AI projects on a Mistral-built stack</a:t>
            </a:r>
          </a:p>
        </p:txBody>
      </p:sp>
      <p:sp>
        <p:nvSpPr>
          <p:cNvPr id="60" name="Footer"/>
          <p:cNvSpPr txBox="1"/>
          <p:nvPr/>
        </p:nvSpPr>
        <p:spPr>
          <a:xfrm>
            <a:off x="621792" y="6647688"/>
            <a:ext cx="2926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3A58B"/>
                </a:solidFill>
                <a:latin typeface="Arial"/>
              </a:rPr>
              <a:t>Mistral Studio  •  Sales deck</a:t>
            </a:r>
          </a:p>
        </p:txBody>
      </p:sp>
      <p:sp>
        <p:nvSpPr>
          <p:cNvPr id="61" name="Page number"/>
          <p:cNvSpPr txBox="1"/>
          <p:nvPr/>
        </p:nvSpPr>
        <p:spPr>
          <a:xfrm>
            <a:off x="7479792" y="658368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A500A"/>
                </a:solidFill>
                <a:latin typeface="Arial"/>
              </a:rPr>
              <a:t>03</a:t>
            </a:r>
          </a:p>
        </p:txBody>
      </p:sp>
      <p:sp>
        <p:nvSpPr>
          <p:cNvPr id="62" name="Exit heading"/>
          <p:cNvSpPr txBox="1"/>
          <p:nvPr/>
        </p:nvSpPr>
        <p:spPr>
          <a:xfrm>
            <a:off x="8558784" y="1005840"/>
            <a:ext cx="2999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0306"/>
                </a:solidFill>
                <a:latin typeface="Arial"/>
              </a:rPr>
              <a:t>EXIT WITH</a:t>
            </a:r>
          </a:p>
        </p:txBody>
      </p:sp>
      <p:sp>
        <p:nvSpPr>
          <p:cNvPr id="63" name="Outcome hero"/>
          <p:cNvSpPr txBox="1"/>
          <p:nvPr/>
        </p:nvSpPr>
        <p:spPr>
          <a:xfrm>
            <a:off x="8558784" y="1399032"/>
            <a:ext cx="2971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8F3"/>
                </a:solidFill>
                <a:latin typeface="Arial"/>
              </a:rPr>
              <a:t>GO / NO-GO
EVIDENCE</a:t>
            </a:r>
          </a:p>
        </p:txBody>
      </p:sp>
      <p:sp>
        <p:nvSpPr>
          <p:cNvPr id="64" name="Outcome rule"/>
          <p:cNvSpPr/>
          <p:nvPr/>
        </p:nvSpPr>
        <p:spPr>
          <a:xfrm>
            <a:off x="8558784" y="2587752"/>
            <a:ext cx="960120" cy="41148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utcome list"/>
          <p:cNvSpPr txBox="1"/>
          <p:nvPr/>
        </p:nvSpPr>
        <p:spPr>
          <a:xfrm>
            <a:off x="8558784" y="2889504"/>
            <a:ext cx="2871216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8F3"/>
                </a:solidFill>
                <a:latin typeface="Arial"/>
              </a:rPr>
              <a:t>Working workflow
Eval baseline
Deployment plan</a:t>
            </a:r>
          </a:p>
        </p:txBody>
      </p:sp>
      <p:sp>
        <p:nvSpPr>
          <p:cNvPr id="66" name="Closing line"/>
          <p:cNvSpPr txBox="1"/>
          <p:nvPr/>
        </p:nvSpPr>
        <p:spPr>
          <a:xfrm>
            <a:off x="8558784" y="5404104"/>
            <a:ext cx="287121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0306"/>
                </a:solidFill>
                <a:latin typeface="Arial"/>
              </a:rPr>
              <a:t>ONE WORKFLOW.
A DECISION TO SCALE.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523</Words>
  <Application>Microsoft Office PowerPoint</Application>
  <PresentationFormat>Widescreen</PresentationFormat>
  <Paragraphs>88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Core Studio Sales Deck</dc:subject>
  <dc:creator>OpenAI</dc:creator>
  <cp:lastModifiedBy>Shivam Singh</cp:lastModifiedBy>
  <cp:revision>11</cp:revision>
  <dcterms:created xsi:type="dcterms:W3CDTF">2026-08-16T18:10:44Z</dcterms:created>
  <dcterms:modified xsi:type="dcterms:W3CDTF">2026-08-16T21:39:06Z</dcterms:modified>
</cp:coreProperties>
</file>