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9" r:id="rId5"/>
    <p:sldId id="279" r:id="rId6"/>
    <p:sldId id="28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535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Studio product positioning
- https://mistral.ai/news/ai-studio/ - launch announcement and problem framing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prototype-to-production gap, evals, feedback loops, governance, flexible deployment
- https://mistral.ai/products/studio/ - Studio build/deploy/govern and deployment options
- https://docs.mistral.ai/studio-api/overview - developer platform capabilities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https://mistral.ai/customers/ - customer story sectors
- https://mistral.ai/customers/axa/ - AXA financial services proof
- https://mistral.ai/customers/hsbc/ - HSBC financial services proof
- https://mistral.ai/customers/epo/ - EPO public sector document AI
- https://mistral.ai/customers/asml/ - ASML industrial AI
- https://mistral.ai/customers/airbus/ - Airbus security/sovereignty
- https://mistral.ai/customers/cma-cgm/ - CMA CGM logistics
- https://mistral.ai/customers/sncf/ - SNCF transportation
- https://mistral.ai/customers/cisco/ - Cisco sales proposal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Mistral Studio platform/deployment/control
- https://mistral.ai/news/ai-studio/ - Observability/Agent Runtime/AI Registry
- https://openai.com/index/new-tools-for-building-agents/ - OpenAI Responses API/agents tools
- https://docs.anthropic.com/en/docs/agents-and-tools/tool-use/tool-runner-sdk - Anthropic tool runner
- https://docs.cloud.google.com/vertex-ai/generative-ai/docs/agent-engine/evaluate - Google Vertex agent evaluation
- https://azure.microsoft.com/en-us/products/ai-foundry - Azure AI Foundry agent platform
- https://aws.amazon.com/about-aws/whats-new/2026/05/bedrock-agentcore-launch-aws-govcloud-us/ - Amazon Bedrock AgentCore
- https://www.langchain.com/langsmith-platform - LangSmith agent engineering platform
- https://langchain-ai.github.io/langgraph/concepts/persistence/ - LangGraph persistence/durability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https://mistral.ai/news/ai-studio/ - private beta status means launch tier/timing require internal validation
- https://mistral.ai/products/studio/ - public CTAs and product pillars
- https://docs.mistral.ai/studio-api/overview - docs/quickstart basis
- https://mistral.ai/customers/ - proof point source 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 - product CTAs/product areas
- https://docs.mistral.ai/studio-api/overview - activation components
- https://docs.mistral.ai/studio-api/workflows/getting-started/overview - workflow usage
- https://docs.mistral.ai/studio-api/workflows/observability - observability usage
- https://mistral.ai/news/ai-studio/ - launch status and assumptions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694944" y="621792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36F21"/>
                </a:solidFill>
                <a:latin typeface="Aptos"/>
              </a:rPr>
              <a:t>MISTRAL STUDIO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94944" y="1170432"/>
            <a:ext cx="7040880" cy="1417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i="0">
                <a:solidFill>
                  <a:srgbClr val="FFFFFF"/>
                </a:solidFill>
                <a:latin typeface="Aptos Display"/>
              </a:rPr>
              <a:t>Product launch
GTM plan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713232" y="2871216"/>
            <a:ext cx="690372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300" b="1" i="0">
                <a:solidFill>
                  <a:srgbClr val="FFD447"/>
                </a:solidFill>
                <a:latin typeface="Aptos"/>
              </a:rPr>
              <a:t>The 12-week plan to launch Mistral Studio and prove it in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13632"/>
            <a:ext cx="6537960" cy="16459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713232" y="416052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EFE7DB"/>
                </a:solidFill>
                <a:latin typeface="Aptos"/>
              </a:rPr>
              <a:t>Sharpened outside-in reconstruction from public product evidence.
Internal validation items are isolated on the final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47888" y="1051560"/>
            <a:ext cx="530352" cy="530352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61120" y="1051560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674352" y="1051560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387584" y="1051560"/>
            <a:ext cx="530352" cy="530352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247888" y="1764792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961120" y="1764792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9674352" y="1764792"/>
            <a:ext cx="530352" cy="53035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387584" y="1764792"/>
            <a:ext cx="53035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13232" y="534924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 i="0">
                <a:solidFill>
                  <a:srgbClr val="D0C7B8"/>
                </a:solidFill>
                <a:latin typeface="Aptos"/>
              </a:rPr>
              <a:t>2026-08-16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0C7B8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A. SITUATION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Own the gap between prototype and production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Name the enemy first, then show one credible path through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6002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THE LAUNCH PROMISE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40080" y="1920240"/>
            <a:ext cx="4983480" cy="12984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i="0">
                <a:solidFill>
                  <a:srgbClr val="111111"/>
                </a:solidFill>
                <a:latin typeface="Aptos Display"/>
              </a:rPr>
              <a:t>From promising prototypes
to governed production agents.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3401568"/>
            <a:ext cx="4709160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0">
                <a:solidFill>
                  <a:srgbClr val="6F6A61"/>
                </a:solidFill>
                <a:latin typeface="Aptos"/>
              </a:rPr>
              <a:t>Mistral Studio combines durable workflows, evaluation, observability, governance and deployment control in one production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773168"/>
            <a:ext cx="4709160" cy="65836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877824" y="4937760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Enterprise AI in production—not in pilot.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989320" y="1664208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F36F21"/>
                </a:solidFill>
                <a:latin typeface="Aptos Display"/>
              </a:rPr>
              <a:t>01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656832" y="1691640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ENEMY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656832" y="1975104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Prototype portfolios stall on reliability, observability and governance.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715768"/>
            <a:ext cx="512064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989320" y="2962656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E7F5C"/>
                </a:solidFill>
                <a:latin typeface="Aptos Display"/>
              </a:rPr>
              <a:t>02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656832" y="299008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WEDGE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656832" y="3273552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AI platform leaders in regulated, industrial and knowledge-heavy enterprises.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014216"/>
            <a:ext cx="512064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989320" y="4261104"/>
            <a:ext cx="50292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5B4BB7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656832" y="428853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5B4BB7"/>
                </a:solidFill>
                <a:latin typeface="Aptos"/>
              </a:rPr>
              <a:t>MOTION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656832" y="4572000"/>
            <a:ext cx="4572000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0">
                <a:solidFill>
                  <a:srgbClr val="111111"/>
                </a:solidFill>
                <a:latin typeface="Aptos"/>
              </a:rPr>
              <a:t>Quickstarts for builders; readiness and architecture workshops for buyers.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5989320" y="5522976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36F21"/>
                </a:solidFill>
                <a:latin typeface="Aptos"/>
              </a:rPr>
              <a:t>ONE PLATFORM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7424927" y="5486400"/>
            <a:ext cx="3749039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 i="0">
                <a:solidFill>
                  <a:srgbClr val="111111"/>
                </a:solidFill>
                <a:latin typeface="Aptos"/>
              </a:rPr>
              <a:t>Durable workflows  •  evals + feedback  •  registry + lineage  •  governed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B. AUDIENCE + PROOF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Win where control is a buying criterion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Prioritize environments where reliability, sovereignty and governance decide the purchase—each already has adjacent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40080" y="155448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PRIORITY ENVIRONMENTS + 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883664"/>
            <a:ext cx="91440" cy="603504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932688" y="1874520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Regulated + public services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32688" y="2167128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EPO • 400k+ pages/day, days to minutes, &lt;1%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91440" cy="603504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932688" y="2734056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Industrial + manufacturing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32688" y="3026664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ASML diagnostics • Veolia copilot for 218k 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602736"/>
            <a:ext cx="91440" cy="6035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932688" y="3593592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Transport + logistics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932688" y="388620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CMA CGM • cargo release and shipping documents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62272"/>
            <a:ext cx="91440" cy="603504"/>
          </a:xfrm>
          <a:prstGeom prst="rect">
            <a:avLst/>
          </a:prstGeom>
          <a:solidFill>
            <a:srgbClr val="5B4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932688" y="4453128"/>
            <a:ext cx="41605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>
                <a:solidFill>
                  <a:srgbClr val="111111"/>
                </a:solidFill>
                <a:latin typeface="Aptos"/>
              </a:rPr>
              <a:t>Technology + software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32688" y="4745736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6A61"/>
                </a:solidFill>
                <a:latin typeface="Aptos"/>
              </a:rPr>
              <a:t>Cisco • renewal agent, up to 20% time reduction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806440" y="1554480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MINIMUM BUYING CHAIN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5806440" y="1901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CHAMPION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7059168" y="1883664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AI platform lead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59168" y="2231136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Standardize development; needs registry, workspaces and observability.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16352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5806440" y="3035808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3454D1"/>
                </a:solidFill>
                <a:latin typeface="Aptos"/>
              </a:rPr>
              <a:t>BUYER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7059168" y="3017520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i="0">
                <a:solidFill>
                  <a:srgbClr val="111111"/>
                </a:solidFill>
                <a:latin typeface="Aptos"/>
              </a:rPr>
              <a:t>CTO / VP Engineering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59168" y="336499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Speed + architecture; needs a production demo, ROI and roadmap.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950208"/>
            <a:ext cx="5303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5806440" y="4169664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APPROVER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151376"/>
            <a:ext cx="397763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Aptos"/>
              </a:rPr>
              <a:t>Security /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498848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F6A61"/>
                </a:solidFill>
                <a:latin typeface="Aptos"/>
              </a:rPr>
              <a:t>Privacy, risk and audit; needs guardrails, credentials and lineage.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669280"/>
            <a:ext cx="10561320" cy="585216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" y="584301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447"/>
                </a:solidFill>
                <a:latin typeface="Aptos"/>
              </a:rPr>
              <a:t>ICP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752" y="5788152"/>
            <a:ext cx="9418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Enterprise AI platform teams moving a pilot portfolio into governed production—where deployment control and data ownership shape the purchase, as Airbus's on-prem sovereignty shows.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Adjacent public proof  |  next: Studio-specific before/after production metrics</a:t>
            </a:r>
            <a:endParaRPr sz="800" b="0" i="0">
              <a:solidFill>
                <a:srgbClr val="6F6A61"/>
              </a:solidFill>
              <a:latin typeface="Apto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F6A61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C. STRATEGY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Win on control + model choice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Compete on production criteria—not slogans. Strong / Partial / Limited is directional until validated.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459237"/>
              </p:ext>
            </p:extLst>
          </p:nvPr>
        </p:nvGraphicFramePr>
        <p:xfrm>
          <a:off x="640080" y="1609344"/>
          <a:ext cx="1092708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Alternative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Durable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runtime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Evals +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feedback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Registry +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lineage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Enterprise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connectors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Deploy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choice</a:t>
                      </a:r>
                    </a:p>
                  </a:txBody>
                  <a:tcPr marL="73152" marR="73152"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Mistral Studio</a:t>
                      </a:r>
                    </a:p>
                  </a:txBody>
                  <a:tcPr marL="73152" marR="73152" anchor="ctr">
                    <a:solidFill>
                      <a:srgbClr val="FFD4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1E7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OpenAI / Anthropic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Google / Microsoft / AWS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LangGraph / LangSmith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Partial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7F2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11111"/>
                          </a:solidFill>
                          <a:latin typeface="Aptos"/>
                        </a:rPr>
                        <a:t>DIY open source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Limited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Varies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11111"/>
                          </a:solidFill>
                          <a:latin typeface="Aptos"/>
                        </a:rPr>
                        <a:t>Strong</a:t>
                      </a:r>
                    </a:p>
                  </a:txBody>
                  <a:tcPr marL="73152" marR="73152" anchor="ctr">
                    <a:solidFill>
                      <a:srgbClr val="FFF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5833872"/>
            <a:ext cx="10927080" cy="42062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859536" y="5952744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FD447"/>
                </a:solidFill>
                <a:latin typeface="Aptos"/>
              </a:rPr>
              <a:t>WINNING CONDITION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2587752" y="5916168"/>
            <a:ext cx="854964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Integrated production loop + deployment optionality + open-model posture.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 i="0">
                <a:solidFill>
                  <a:srgbClr val="6F6A61"/>
                </a:solidFill>
                <a:latin typeface="Aptos"/>
              </a:rPr>
              <a:t>Directional category assessment from source deck  |  validate before external use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66928" y="27432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D. EXECUTION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53035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500" b="1" i="0">
                <a:solidFill>
                  <a:srgbClr val="111111"/>
                </a:solidFill>
                <a:latin typeface="Aptos Display"/>
              </a:rPr>
              <a:t>A 12-week plan turns two entry points into proof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1051560"/>
            <a:ext cx="1069848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Builders enter through the quickstart, buyers through readiness; both converge on a POV. Owners are role-level placeholders.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04320" y="292608"/>
            <a:ext cx="146304" cy="146304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704320" y="502920"/>
            <a:ext cx="146304" cy="146304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04320" y="713232"/>
            <a:ext cx="146304" cy="1463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2423160" cy="91440"/>
          </a:xfrm>
          <a:prstGeom prst="rect">
            <a:avLst/>
          </a:prstGeom>
          <a:solidFill>
            <a:srgbClr val="F36F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T−8 → T−5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Strategy + proof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Finalize ICP, positioning, demo use cases and proof permissions.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Product •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7" y="1682496"/>
            <a:ext cx="2423160" cy="91440"/>
          </a:xfrm>
          <a:prstGeom prst="rect">
            <a:avLst/>
          </a:prstGeom>
          <a:solidFill>
            <a:srgbClr val="345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44728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3454D1"/>
                </a:solidFill>
                <a:latin typeface="Aptos"/>
              </a:rPr>
              <a:t>T−4 → T−1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44728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Build + enable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344728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Ship builder quickstart, templates and trace demo; enterprise security kit and POV packs.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4728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344728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Docs • DevRel • Field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7" y="1682496"/>
            <a:ext cx="2423160" cy="91440"/>
          </a:xfrm>
          <a:prstGeom prst="rect">
            <a:avLst/>
          </a:prstGeom>
          <a:solidFill>
            <a:srgbClr val="1E7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236207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1E7F5C"/>
                </a:solidFill>
                <a:latin typeface="Aptos"/>
              </a:rPr>
              <a:t>LAUNCH WEEK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236207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Announce + activate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236207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Launch page/post, technical demo, readiness workshop, exec social and account outreach.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6207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6236207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11111"/>
                </a:solidFill>
                <a:latin typeface="Aptos"/>
              </a:rPr>
              <a:t>PMM • Comms • DevRel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5128" y="1682496"/>
            <a:ext cx="2423160" cy="91440"/>
          </a:xfrm>
          <a:prstGeom prst="rect">
            <a:avLst/>
          </a:prstGeom>
          <a:solidFill>
            <a:srgbClr val="5B4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9025128" y="1956816"/>
            <a:ext cx="2423160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5B4BB7"/>
                </a:solidFill>
                <a:latin typeface="Aptos"/>
              </a:rPr>
              <a:t>T+1 → T+8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9025128" y="2359152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i="0">
                <a:solidFill>
                  <a:srgbClr val="111111"/>
                </a:solidFill>
                <a:latin typeface="Aptos Display"/>
              </a:rPr>
              <a:t>Convert + prove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9025128" y="3163824"/>
            <a:ext cx="2432304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Run POVs against explicit success criteria, track activation and publish Studio proof.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25128" y="4599432"/>
            <a:ext cx="242316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9025128" y="4828032"/>
            <a:ext cx="24231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ptos"/>
              </a:rPr>
              <a:t>Sales • CS • Product • PMM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504688"/>
            <a:ext cx="10826496" cy="69494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7824" y="5779008"/>
            <a:ext cx="1572768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D447"/>
                </a:solidFill>
                <a:latin typeface="Aptos"/>
              </a:rPr>
              <a:t>OPERATING RHYTHM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614416"/>
            <a:ext cx="86868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Both paths converge on one POV • weekly war room • shared KPI dashboard</a:t>
            </a:r>
            <a:endParaRPr sz="1600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66928" y="6419088"/>
            <a:ext cx="1101852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6492240"/>
            <a:ext cx="97840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F6A61"/>
                </a:solidFill>
                <a:latin typeface="Aptos"/>
              </a:rPr>
              <a:t>Outside-in launch plan  |  public evidence + internal validation required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6F6A61"/>
                </a:solidFill>
                <a:latin typeface="Aptos"/>
              </a:rPr>
              <a:t>05</a:t>
            </a:r>
            <a:endParaRPr sz="900" b="1" i="0">
              <a:solidFill>
                <a:srgbClr val="6F6A6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640080" y="27432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E. OPERATING LOOP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640080" y="658368"/>
            <a:ext cx="6446520" cy="10241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 i="0">
                <a:solidFill>
                  <a:srgbClr val="111111"/>
                </a:solidFill>
                <a:latin typeface="Aptos Display"/>
              </a:rPr>
              <a:t>Measure activation—
not just attention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658368" y="1746504"/>
            <a:ext cx="63550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6F6A61"/>
                </a:solidFill>
                <a:latin typeface="Aptos"/>
              </a:rPr>
              <a:t>Track movement from launch exposure to production proof.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76656" y="226771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6F21"/>
                </a:solidFill>
                <a:latin typeface="Aptos"/>
              </a:rPr>
              <a:t>AWARENESS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2331720" y="224942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Target-account reach • page engagement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2697480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76656" y="2980944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3454D1"/>
                </a:solidFill>
                <a:latin typeface="Aptos"/>
              </a:rPr>
              <a:t>ACTIVATION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331720" y="2962656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Workspace/API key • time to first 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3410711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76656" y="3694176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1E7F5C"/>
                </a:solidFill>
                <a:latin typeface="Aptos"/>
              </a:rPr>
              <a:t>ADOPTION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331720" y="367588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Workflows • connectors • traces • evals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4123944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76656" y="440740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5B4BB7"/>
                </a:solidFill>
                <a:latin typeface="Aptos"/>
              </a:rPr>
              <a:t>PIPELINE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331720" y="43891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111111"/>
                </a:solidFill>
                <a:latin typeface="Aptos"/>
              </a:rPr>
              <a:t>Workshops • POV starts • POV conversion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837176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76656" y="5120640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i="0">
                <a:solidFill>
                  <a:srgbClr val="F36F21"/>
                </a:solidFill>
                <a:latin typeface="Aptos"/>
              </a:rPr>
              <a:t>EXPANSION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2331720" y="510235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111111"/>
                </a:solidFill>
                <a:latin typeface="Aptos"/>
              </a:rPr>
              <a:t>Production workloads • active teams • references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550407"/>
            <a:ext cx="6364224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8046720" y="502920"/>
            <a:ext cx="33375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 i="0">
                <a:solidFill>
                  <a:srgbClr val="F36F21"/>
                </a:solidFill>
                <a:latin typeface="Aptos"/>
              </a:rPr>
              <a:t>DECISIONS BEFORE SCALE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8046720" y="896112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00" b="1" i="0">
                <a:solidFill>
                  <a:srgbClr val="FFFFFF"/>
                </a:solidFill>
                <a:latin typeface="Aptos Display"/>
              </a:rPr>
              <a:t>Six items need
internal validation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8046720" y="2103120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8622792" y="20756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Budget + named owners</a:t>
            </a:r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8046720" y="2624327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8622792" y="259689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Revenue / pipeline targets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8046720" y="3145535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8622792" y="3118103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Launch tier + availability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8046720" y="3666744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8622792" y="3639312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Pricing + packaging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8046720" y="4187952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8622792" y="416052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FFFFFF"/>
                </a:solidFill>
                <a:latin typeface="Aptos"/>
              </a:rPr>
              <a:t>SLAs + roadmap commitments</a:t>
            </a:r>
          </a:p>
        </p:txBody>
      </p:sp>
      <p:sp>
        <p:nvSpPr>
          <p:cNvPr id="33" name="TextBox 32"/>
          <p:cNvSpPr txBox="1">
            <a:spLocks/>
          </p:cNvSpPr>
          <p:nvPr/>
        </p:nvSpPr>
        <p:spPr>
          <a:xfrm>
            <a:off x="8046720" y="4709159"/>
            <a:ext cx="411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>
                <a:solidFill>
                  <a:srgbClr val="FFD447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8622792" y="4681727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FFFFFF"/>
                </a:solidFill>
                <a:latin typeface="Aptos"/>
              </a:rPr>
              <a:t>Customer proof permissions</a:t>
            </a: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8046720" y="5468112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i="0">
                <a:solidFill>
                  <a:srgbClr val="F36F21"/>
                </a:solidFill>
                <a:latin typeface="Aptos"/>
              </a:rPr>
              <a:t>NEXT STEP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8046720" y="5715000"/>
            <a:ext cx="32461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rgbClr val="EFE7DB"/>
                </a:solidFill>
                <a:latin typeface="Aptos"/>
              </a:rPr>
              <a:t>Validate with Product, Sales, Legal / Security and Comms.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19088"/>
            <a:ext cx="6400800" cy="10972"/>
          </a:xfrm>
          <a:prstGeom prst="rect">
            <a:avLst/>
          </a:prstGeom>
          <a:solidFill>
            <a:srgbClr val="D8CC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28431" y="6419088"/>
            <a:ext cx="3291840" cy="10972"/>
          </a:xfrm>
          <a:prstGeom prst="rect">
            <a:avLst/>
          </a:prstGeom>
          <a:solidFill>
            <a:srgbClr val="3D3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F6A61"/>
                </a:solidFill>
                <a:latin typeface="Aptos"/>
              </a:rPr>
              <a:t>Outside-in launch plan  |  internal validation required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08208" y="647395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 i="0">
                <a:solidFill>
                  <a:srgbClr val="FFFFFF"/>
                </a:solidFill>
                <a:latin typeface="Aptos"/>
              </a:rPr>
              <a:t>06</a:t>
            </a:r>
            <a:endParaRPr sz="900" b="1" i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1392</Words>
  <Application>Microsoft Office PowerPoint</Application>
  <PresentationFormat>Widescreen</PresentationFormat>
  <Paragraphs>174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Mistral Studio GTM Launch Plan</dc:title>
  <dc:subject>Outside-in GTM launch plan for Mistral Studio</dc:subject>
  <dc:creator>OpenAI</dc:creator>
  <cp:lastModifiedBy>Shivam Singh</cp:lastModifiedBy>
  <cp:revision>7</cp:revision>
  <dcterms:created xsi:type="dcterms:W3CDTF">2026-08-16T17:42:39Z</dcterms:created>
  <dcterms:modified xsi:type="dcterms:W3CDTF">2026-08-16T18:28:15Z</dcterms:modified>
</cp:coreProperties>
</file>