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7" r:id="rId2"/>
    <p:sldId id="258" r:id="rId3"/>
    <p:sldId id="274" r:id="rId4"/>
    <p:sldId id="272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78" y="3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score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FF4F0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7DAD-4A85-A0DE-3BD61CB741C1}"/>
              </c:ext>
            </c:extLst>
          </c:dPt>
          <c:dPt>
            <c:idx val="1"/>
            <c:invertIfNegative val="1"/>
            <c:bubble3D val="0"/>
            <c:spPr>
              <a:solidFill>
                <a:srgbClr val="F9310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3-7DAD-4A85-A0DE-3BD61CB741C1}"/>
              </c:ext>
            </c:extLst>
          </c:dPt>
          <c:dPt>
            <c:idx val="2"/>
            <c:invertIfNegative val="1"/>
            <c:bubble3D val="0"/>
            <c:spPr>
              <a:solidFill>
                <a:srgbClr val="F53B0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5-7DAD-4A85-A0DE-3BD61CB741C1}"/>
              </c:ext>
            </c:extLst>
          </c:dPt>
          <c:dPt>
            <c:idx val="3"/>
            <c:invertIfNegative val="1"/>
            <c:bubble3D val="0"/>
            <c:spPr>
              <a:solidFill>
                <a:srgbClr val="E0090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7-7DAD-4A85-A0DE-3BD61CB741C1}"/>
              </c:ext>
            </c:extLst>
          </c:dPt>
          <c:dPt>
            <c:idx val="4"/>
            <c:invertIfNegative val="1"/>
            <c:bubble3D val="0"/>
            <c:spPr>
              <a:solidFill>
                <a:srgbClr val="C9230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9-7DAD-4A85-A0DE-3BD61CB741C1}"/>
              </c:ext>
            </c:extLst>
          </c:dPt>
          <c:dPt>
            <c:idx val="5"/>
            <c:invertIfNegative val="1"/>
            <c:bubble3D val="0"/>
            <c:spPr>
              <a:solidFill>
                <a:srgbClr val="B91E05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B-7DAD-4A85-A0DE-3BD61CB741C1}"/>
              </c:ext>
            </c:extLst>
          </c:dPt>
          <c:dPt>
            <c:idx val="6"/>
            <c:invertIfNegative val="1"/>
            <c:bubble3D val="0"/>
            <c:spPr>
              <a:solidFill>
                <a:srgbClr val="9D1B0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D-7DAD-4A85-A0DE-3BD61CB741C1}"/>
              </c:ext>
            </c:extLst>
          </c:dPt>
          <c:dPt>
            <c:idx val="7"/>
            <c:invertIfNegative val="1"/>
            <c:bubble3D val="0"/>
            <c:spPr>
              <a:solidFill>
                <a:srgbClr val="7E1809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F-7DAD-4A85-A0DE-3BD61CB741C1}"/>
              </c:ext>
            </c:extLst>
          </c:dPt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C92304"/>
                    </a:solidFill>
                    <a:latin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Mistral Studio</c:v>
                </c:pt>
                <c:pt idx="1">
                  <c:v>Azure AI / Copilot</c:v>
                </c:pt>
                <c:pt idx="2">
                  <c:v>Amazon Bedrock</c:v>
                </c:pt>
                <c:pt idx="3">
                  <c:v>LangSmith / LangGraph</c:v>
                </c:pt>
                <c:pt idx="4">
                  <c:v>Google Vertex AI</c:v>
                </c:pt>
                <c:pt idx="5">
                  <c:v>OpenAI Agents</c:v>
                </c:pt>
                <c:pt idx="6">
                  <c:v>Internal enterprise</c:v>
                </c:pt>
                <c:pt idx="7">
                  <c:v>LlamaIndex / Cloud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4.5</c:v>
                </c:pt>
                <c:pt idx="1">
                  <c:v>4.4000000000000004</c:v>
                </c:pt>
                <c:pt idx="2">
                  <c:v>4.4000000000000004</c:v>
                </c:pt>
                <c:pt idx="3">
                  <c:v>4.3</c:v>
                </c:pt>
                <c:pt idx="4">
                  <c:v>4.0999999999999996</c:v>
                </c:pt>
                <c:pt idx="5">
                  <c:v>3.5</c:v>
                </c:pt>
                <c:pt idx="6">
                  <c:v>3.4</c:v>
                </c:pt>
                <c:pt idx="7">
                  <c:v>3.4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DAD-4A85-A0DE-3BD61CB741C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numFmt formatCode="General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1B0C07"/>
                </a:solidFill>
                <a:latin typeface="Arial"/>
              </a:defRPr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5"/>
          <c:min val="0"/>
        </c:scaling>
        <c:delete val="0"/>
        <c:axPos val="t"/>
        <c:majorGridlines>
          <c:spPr>
            <a:ln>
              <a:solidFill>
                <a:srgbClr val="D8D0C3"/>
              </a:solidFill>
            </a:ln>
          </c:spPr>
        </c:majorGridlines>
        <c:numFmt formatCode="General" sourceLinked="1"/>
        <c:majorTickMark val="none"/>
        <c:minorTickMark val="none"/>
        <c:tickLblPos val="none"/>
        <c:spPr>
          <a:ln>
            <a:noFill/>
          </a:ln>
        </c:spPr>
        <c:crossAx val="2068027336"/>
        <c:crosses val="autoZero"/>
        <c:crossBetween val="between"/>
        <c:majorUnit val="1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8201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https://mistral.ai/news/ai-studio/
- https://docs.mistral.ai/studio-api/overview
- https://mistral.ai/customers/
- https://openai.com/index/new-tools-for-building-agents/
- https://docs.mistral.ai/studio-api/workflows/getting-started/overview
- https://docs.mistral.ai/studio-api/workflows/building-workflows/connectors
- https://mistral.ai/customers/cisco/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https://openai.com/index/new-tools-for-building-agents/
- https://docs.anthropic.com/en/docs/agents-and-tools/tool-use/tool-runner-sdk
- https://docs.cloud.google.com/vertex-ai/generative-ai/docs/agent-engine/evaluate
- https://azure.microsoft.com/en-us/products/ai-foundry
- https://aws.amazon.com/about-aws/whats-new/2026/05/bedrock-agentcore-launch-aws-govcloud-us/
- https://www.langchain.com/langsmith-platform
- https://docs.llamaindex.ai/en/v0.10.33/understanding/loading/llamahub/
- https://langchain-ai.github.io/langgraph/concepts/persistence/
- https://mistral.ai/news/ai-studio/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https://openai.com/index/new-tools-for-building-agents/
- https://docs.anthropic.com/en/docs/agents-and-tools/tool-use/tool-runner-sdk
- https://docs.cloud.google.com/vertex-ai/generative-ai/docs/agent-engine/evaluate
- https://azure.microsoft.com/en-us/products/ai-foundry
- https://aws.amazon.com/about-aws/whats-new/2026/05/bedrock-agentcore-launch-aws-govcloud-us/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https://mistral.ai/products/studio/
- https://docs.mistral.ai/studio-api/workflows/building-workflows/workflows
- https://docs.mistral.ai/studio-api/workflows/getting-started/overview
- https://mistral.ai/news/ai-studio/
- https://docs.mistral.ai/studio-api/workflows/building-workflows/durable_agents
- https://docs.mistral.ai/studio-api/workflows/building-workflows/connectors
- https://docs.mistral.ai/studio-api/agents/agents-api
- https://docs.mistral.ai/studio-api/overview
- https://docs.mistral.ai/studio-api/workflows/observability
- https://docs.mistral.ai/studio-api/safety-moderation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4F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A0721D9-E1CB-BF8D-7711-2D7A2A63C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2" name="TextBox 1"/>
          <p:cNvSpPr txBox="1">
            <a:spLocks/>
          </p:cNvSpPr>
          <p:nvPr/>
        </p:nvSpPr>
        <p:spPr>
          <a:xfrm>
            <a:off x="1828800" y="307104"/>
            <a:ext cx="8531352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1B0C07"/>
                </a:solidFill>
                <a:latin typeface="Arial"/>
              </a:rPr>
              <a:t>COMPETITIVE LANDSCAPE &amp; DIFFERENTIATION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1371600" y="804672"/>
            <a:ext cx="9445752" cy="126187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4200" b="1">
                <a:solidFill>
                  <a:srgbClr val="FFFFFF"/>
                </a:solidFill>
                <a:latin typeface="Arial"/>
              </a:rPr>
              <a:t>The buyer is choosing an
operating model—not a model</a:t>
            </a:r>
          </a:p>
        </p:txBody>
      </p:sp>
      <p:sp>
        <p:nvSpPr>
          <p:cNvPr id="4" name="TextBox 3"/>
          <p:cNvSpPr txBox="1">
            <a:spLocks/>
          </p:cNvSpPr>
          <p:nvPr/>
        </p:nvSpPr>
        <p:spPr>
          <a:xfrm>
            <a:off x="2331720" y="4425696"/>
            <a:ext cx="7525512" cy="51206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600" b="0">
                <a:solidFill>
                  <a:srgbClr val="FFE9DE"/>
                </a:solidFill>
                <a:latin typeface="Arial"/>
              </a:rPr>
              <a:t>Model quality is table stakes. Buyers are deciding who controls deployment, data, and production.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382512"/>
            <a:ext cx="11183112" cy="9144"/>
          </a:xfrm>
          <a:prstGeom prst="rect">
            <a:avLst/>
          </a:prstGeom>
          <a:solidFill>
            <a:srgbClr val="C923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228832" y="6409944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FFFF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03836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1B0C07"/>
                </a:solidFill>
                <a:latin typeface="Arial"/>
              </a:rPr>
              <a:t>04  Competitive Landscape &amp; Differentiation Framework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16 CRITERIA · 7 STUDIO WEDGES · DIRECTIONAL SCORES 1–5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Scores converge; operating control breaks the tie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02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1140657"/>
            <a:ext cx="566928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PURCHASE CRITERIA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566928" y="14630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Technical / platform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3145536" y="1463040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Commercial / enterprise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66928" y="192024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Frontier model access</a:t>
            </a:r>
          </a:p>
        </p:txBody>
      </p:sp>
      <p:sp>
        <p:nvSpPr>
          <p:cNvPr id="13" name="TextBox 12"/>
          <p:cNvSpPr txBox="1">
            <a:spLocks/>
          </p:cNvSpPr>
          <p:nvPr/>
        </p:nvSpPr>
        <p:spPr>
          <a:xfrm>
            <a:off x="566928" y="238658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Durable agent runtime ▲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66928" y="2852928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Evals / judges ▲</a:t>
            </a:r>
          </a:p>
        </p:txBody>
      </p:sp>
      <p:sp>
        <p:nvSpPr>
          <p:cNvPr id="17" name="TextBox 16"/>
          <p:cNvSpPr txBox="1">
            <a:spLocks/>
          </p:cNvSpPr>
          <p:nvPr/>
        </p:nvSpPr>
        <p:spPr>
          <a:xfrm>
            <a:off x="566928" y="3319272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Registry / versioning ▲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66928" y="3785615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Guardrails / moderation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566928" y="4251960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Data residency / control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66928" y="4718304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Governance gates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5184648"/>
            <a:ext cx="2578608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Commercial maturity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5536" y="192024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Open / portable model posture ▲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45536" y="2386584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Workflow orchestration 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45536" y="285292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Tracing / observability ▲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145536" y="3319272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Enterprise connectors / identity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145536" y="3785615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Hybrid / self-host / on-prem ▲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45536" y="4251960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Developer UX / docs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45536" y="4718304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Cloud / ecosystem breadth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145536" y="5184648"/>
            <a:ext cx="3090672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Sovereignty positioning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3408" y="1140657"/>
            <a:ext cx="484632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DIRECTIONAL AVERAGE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93408" y="1444752"/>
            <a:ext cx="4663440" cy="39319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1B0C07"/>
                </a:solidFill>
                <a:latin typeface="Arial"/>
              </a:rPr>
              <a:t>Control breaks the capability tie</a:t>
            </a:r>
            <a:endParaRPr sz="2200" b="1">
              <a:solidFill>
                <a:srgbClr val="0E0E0E"/>
              </a:solidFill>
              <a:latin typeface="Arial"/>
            </a:endParaRPr>
          </a:p>
        </p:txBody>
      </p:sp>
      <p:graphicFrame>
        <p:nvGraphicFramePr>
          <p:cNvPr id="45" name="Chart 44" descr="Chart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929005"/>
              </p:ext>
            </p:extLst>
          </p:nvPr>
        </p:nvGraphicFramePr>
        <p:xfrm>
          <a:off x="6675120" y="1883664"/>
          <a:ext cx="4736592" cy="36393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7" name="TextBox 46"/>
          <p:cNvSpPr txBox="1"/>
          <p:nvPr/>
        </p:nvSpPr>
        <p:spPr>
          <a:xfrm>
            <a:off x="6693408" y="5716094"/>
            <a:ext cx="4754880" cy="43672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1B0C07"/>
                </a:solidFill>
                <a:latin typeface="Arial"/>
              </a:rPr>
              <a:t>Qualify three issues: deployment control, production governance, and architectural portability.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10 ALTERNATIVES · RANKED BY AVERAGE SCORE · N/R = NOT SCORED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Shortlists converge; production trade-offs decide the winner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03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07008"/>
            <a:ext cx="5504688" cy="475488"/>
          </a:xfrm>
          <a:prstGeom prst="rect">
            <a:avLst/>
          </a:prstGeom>
          <a:solidFill>
            <a:srgbClr val="1B0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713232" y="1335024"/>
            <a:ext cx="34747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BROAD PLATFORMS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5029200" y="133502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1344" y="1207008"/>
            <a:ext cx="5504688" cy="475488"/>
          </a:xfrm>
          <a:prstGeom prst="rect">
            <a:avLst/>
          </a:prstGeom>
          <a:solidFill>
            <a:srgbClr val="FF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6391656" y="133502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BUILDER / SPECIALIST ROUTES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10698480" y="1335024"/>
            <a:ext cx="68580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FFFF"/>
                </a:solidFill>
                <a:latin typeface="Arial"/>
              </a:rPr>
              <a:t>SCORE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704088" y="1883664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1 · Microsoft Azure AI Foundry / Copilot Studio</a:t>
            </a:r>
          </a:p>
        </p:txBody>
      </p:sp>
      <p:sp>
        <p:nvSpPr>
          <p:cNvPr id="15" name="TextBox 14"/>
          <p:cNvSpPr txBox="1">
            <a:spLocks/>
          </p:cNvSpPr>
          <p:nvPr/>
        </p:nvSpPr>
        <p:spPr>
          <a:xfrm>
            <a:off x="5212080" y="1877529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4.4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704088" y="2153686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M365 fit; test model choice, exit cost, and sovereign deployment.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704088" y="2734056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2 · Amazon Bedrock AgentCore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5212080" y="2727921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4.4</a:t>
            </a:r>
          </a:p>
        </p:txBody>
      </p:sp>
      <p:sp>
        <p:nvSpPr>
          <p:cNvPr id="20" name="TextBox 19"/>
          <p:cNvSpPr txBox="1">
            <a:spLocks/>
          </p:cNvSpPr>
          <p:nvPr/>
        </p:nvSpPr>
        <p:spPr>
          <a:xfrm>
            <a:off x="704088" y="3004078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AWS-native runtime; test workflow depth and hybrid deployment.</a:t>
            </a:r>
          </a:p>
        </p:txBody>
      </p:sp>
      <p:sp>
        <p:nvSpPr>
          <p:cNvPr id="22" name="TextBox 21"/>
          <p:cNvSpPr txBox="1">
            <a:spLocks/>
          </p:cNvSpPr>
          <p:nvPr/>
        </p:nvSpPr>
        <p:spPr>
          <a:xfrm>
            <a:off x="704088" y="3584448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it-IT" sz="1400" b="1">
                <a:solidFill>
                  <a:srgbClr val="1B0C07"/>
                </a:solidFill>
                <a:latin typeface="Arial"/>
              </a:rPr>
              <a:t>4 · Google Vertex AI / Gemini Enterprise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212080" y="3578313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4.1</a:t>
            </a:r>
          </a:p>
        </p:txBody>
      </p:sp>
      <p:sp>
        <p:nvSpPr>
          <p:cNvPr id="24" name="TextBox 23"/>
          <p:cNvSpPr txBox="1">
            <a:spLocks/>
          </p:cNvSpPr>
          <p:nvPr/>
        </p:nvSpPr>
        <p:spPr>
          <a:xfrm>
            <a:off x="704088" y="3854470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Workspace reach; test data residency and deployment beyond Google Cloud.</a:t>
            </a:r>
          </a:p>
        </p:txBody>
      </p:sp>
      <p:sp>
        <p:nvSpPr>
          <p:cNvPr id="26" name="TextBox 25"/>
          <p:cNvSpPr txBox="1">
            <a:spLocks/>
          </p:cNvSpPr>
          <p:nvPr/>
        </p:nvSpPr>
        <p:spPr>
          <a:xfrm>
            <a:off x="704088" y="4434840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5 · OpenAI Responses + Agents SDK</a:t>
            </a:r>
          </a:p>
        </p:txBody>
      </p:sp>
      <p:sp>
        <p:nvSpPr>
          <p:cNvPr id="27" name="TextBox 26"/>
          <p:cNvSpPr txBox="1">
            <a:spLocks/>
          </p:cNvSpPr>
          <p:nvPr/>
        </p:nvSpPr>
        <p:spPr>
          <a:xfrm>
            <a:off x="5212080" y="4428705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3.5</a:t>
            </a:r>
          </a:p>
        </p:txBody>
      </p:sp>
      <p:sp>
        <p:nvSpPr>
          <p:cNvPr id="28" name="TextBox 27"/>
          <p:cNvSpPr txBox="1">
            <a:spLocks/>
          </p:cNvSpPr>
          <p:nvPr/>
        </p:nvSpPr>
        <p:spPr>
          <a:xfrm>
            <a:off x="704088" y="4704861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model quality; test portability, self-hosting, and switching cost.</a:t>
            </a:r>
          </a:p>
        </p:txBody>
      </p:sp>
      <p:sp>
        <p:nvSpPr>
          <p:cNvPr id="30" name="TextBox 29"/>
          <p:cNvSpPr txBox="1">
            <a:spLocks/>
          </p:cNvSpPr>
          <p:nvPr/>
        </p:nvSpPr>
        <p:spPr>
          <a:xfrm>
            <a:off x="704088" y="5285232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Anthropic Claude Platform</a:t>
            </a:r>
          </a:p>
        </p:txBody>
      </p:sp>
      <p:sp>
        <p:nvSpPr>
          <p:cNvPr id="31" name="TextBox 30"/>
          <p:cNvSpPr txBox="1">
            <a:spLocks/>
          </p:cNvSpPr>
          <p:nvPr/>
        </p:nvSpPr>
        <p:spPr>
          <a:xfrm>
            <a:off x="5212080" y="5279097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32" name="TextBox 31"/>
          <p:cNvSpPr txBox="1">
            <a:spLocks/>
          </p:cNvSpPr>
          <p:nvPr/>
        </p:nvSpPr>
        <p:spPr>
          <a:xfrm>
            <a:off x="704088" y="5555254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MCP depth; test registry, versioning, and regulated deployment.</a:t>
            </a:r>
          </a:p>
        </p:txBody>
      </p:sp>
      <p:sp>
        <p:nvSpPr>
          <p:cNvPr id="34" name="TextBox 33"/>
          <p:cNvSpPr txBox="1">
            <a:spLocks/>
          </p:cNvSpPr>
          <p:nvPr/>
        </p:nvSpPr>
        <p:spPr>
          <a:xfrm>
            <a:off x="6382512" y="1883664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3 ·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LangSmith</a:t>
            </a:r>
            <a:r>
              <a:rPr lang="en-US" sz="1400" b="1">
                <a:solidFill>
                  <a:srgbClr val="1B0C07"/>
                </a:solidFill>
                <a:latin typeface="Arial"/>
              </a:rPr>
              <a:t> /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LangGraph</a:t>
            </a:r>
            <a:endParaRPr lang="en-US" sz="1400" b="1" dirty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35" name="TextBox 34"/>
          <p:cNvSpPr txBox="1">
            <a:spLocks/>
          </p:cNvSpPr>
          <p:nvPr/>
        </p:nvSpPr>
        <p:spPr>
          <a:xfrm>
            <a:off x="10890504" y="1877529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FF4F0F"/>
                </a:solidFill>
                <a:latin typeface="Arial"/>
              </a:rPr>
              <a:t>4.3</a:t>
            </a:r>
          </a:p>
        </p:txBody>
      </p:sp>
      <p:sp>
        <p:nvSpPr>
          <p:cNvPr id="36" name="TextBox 35"/>
          <p:cNvSpPr txBox="1">
            <a:spLocks/>
          </p:cNvSpPr>
          <p:nvPr/>
        </p:nvSpPr>
        <p:spPr>
          <a:xfrm>
            <a:off x="6382512" y="2264645"/>
            <a:ext cx="5056632" cy="207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flexibility; test who owns production operations.</a:t>
            </a:r>
          </a:p>
        </p:txBody>
      </p:sp>
      <p:sp>
        <p:nvSpPr>
          <p:cNvPr id="38" name="TextBox 37"/>
          <p:cNvSpPr txBox="1">
            <a:spLocks/>
          </p:cNvSpPr>
          <p:nvPr/>
        </p:nvSpPr>
        <p:spPr>
          <a:xfrm>
            <a:off x="6382512" y="2734056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6 · Internal enterprise AI platform</a:t>
            </a:r>
          </a:p>
        </p:txBody>
      </p:sp>
      <p:sp>
        <p:nvSpPr>
          <p:cNvPr id="39" name="TextBox 38"/>
          <p:cNvSpPr txBox="1">
            <a:spLocks/>
          </p:cNvSpPr>
          <p:nvPr/>
        </p:nvSpPr>
        <p:spPr>
          <a:xfrm>
            <a:off x="10890504" y="2727921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3.4</a:t>
            </a:r>
          </a:p>
        </p:txBody>
      </p:sp>
      <p:sp>
        <p:nvSpPr>
          <p:cNvPr id="40" name="TextBox 39"/>
          <p:cNvSpPr txBox="1">
            <a:spLocks/>
          </p:cNvSpPr>
          <p:nvPr/>
        </p:nvSpPr>
        <p:spPr>
          <a:xfrm>
            <a:off x="6382512" y="3004078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internal control; test build-versus-buy economics for the production layer.</a:t>
            </a:r>
          </a:p>
        </p:txBody>
      </p:sp>
      <p:sp>
        <p:nvSpPr>
          <p:cNvPr id="42" name="TextBox 41"/>
          <p:cNvSpPr txBox="1">
            <a:spLocks/>
          </p:cNvSpPr>
          <p:nvPr/>
        </p:nvSpPr>
        <p:spPr>
          <a:xfrm>
            <a:off x="6382512" y="3584448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7 ·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LlamaIndex</a:t>
            </a:r>
            <a:r>
              <a:rPr lang="en-US" sz="1400" b="1">
                <a:solidFill>
                  <a:srgbClr val="1B0C07"/>
                </a:solidFill>
                <a:latin typeface="Arial"/>
              </a:rPr>
              <a:t> / </a:t>
            </a:r>
            <a:r>
              <a:rPr lang="en-US" sz="1400" b="1" err="1">
                <a:solidFill>
                  <a:srgbClr val="1B0C07"/>
                </a:solidFill>
                <a:latin typeface="Arial"/>
              </a:rPr>
              <a:t>LlamaCloud</a:t>
            </a:r>
            <a:endParaRPr lang="en-US" sz="1400" b="1" dirty="0">
              <a:solidFill>
                <a:srgbClr val="0E0E0E"/>
              </a:solidFill>
              <a:latin typeface="Arial"/>
            </a:endParaRPr>
          </a:p>
        </p:txBody>
      </p:sp>
      <p:sp>
        <p:nvSpPr>
          <p:cNvPr id="43" name="TextBox 42"/>
          <p:cNvSpPr txBox="1">
            <a:spLocks/>
          </p:cNvSpPr>
          <p:nvPr/>
        </p:nvSpPr>
        <p:spPr>
          <a:xfrm>
            <a:off x="10890504" y="3578313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C92304"/>
                </a:solidFill>
                <a:latin typeface="Arial"/>
              </a:rPr>
              <a:t>3.4</a:t>
            </a:r>
          </a:p>
        </p:txBody>
      </p:sp>
      <p:sp>
        <p:nvSpPr>
          <p:cNvPr id="44" name="TextBox 43"/>
          <p:cNvSpPr txBox="1">
            <a:spLocks/>
          </p:cNvSpPr>
          <p:nvPr/>
        </p:nvSpPr>
        <p:spPr>
          <a:xfrm>
            <a:off x="6382512" y="3965429"/>
            <a:ext cx="5056632" cy="20730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RAG depth; test guardrails and governance.</a:t>
            </a:r>
          </a:p>
        </p:txBody>
      </p:sp>
      <p:sp>
        <p:nvSpPr>
          <p:cNvPr id="46" name="TextBox 45"/>
          <p:cNvSpPr txBox="1">
            <a:spLocks/>
          </p:cNvSpPr>
          <p:nvPr/>
        </p:nvSpPr>
        <p:spPr>
          <a:xfrm>
            <a:off x="6382512" y="4434840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DIY open-source stack</a:t>
            </a:r>
          </a:p>
        </p:txBody>
      </p:sp>
      <p:sp>
        <p:nvSpPr>
          <p:cNvPr id="47" name="TextBox 46"/>
          <p:cNvSpPr txBox="1">
            <a:spLocks/>
          </p:cNvSpPr>
          <p:nvPr/>
        </p:nvSpPr>
        <p:spPr>
          <a:xfrm>
            <a:off x="10890504" y="4428705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48" name="TextBox 47"/>
          <p:cNvSpPr txBox="1">
            <a:spLocks/>
          </p:cNvSpPr>
          <p:nvPr/>
        </p:nvSpPr>
        <p:spPr>
          <a:xfrm>
            <a:off x="6382512" y="4704861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maximum control; test the cost of building registry, guardrails, and governance.</a:t>
            </a:r>
          </a:p>
        </p:txBody>
      </p:sp>
      <p:sp>
        <p:nvSpPr>
          <p:cNvPr id="50" name="TextBox 49"/>
          <p:cNvSpPr txBox="1">
            <a:spLocks/>
          </p:cNvSpPr>
          <p:nvPr/>
        </p:nvSpPr>
        <p:spPr>
          <a:xfrm>
            <a:off x="6382512" y="5285232"/>
            <a:ext cx="4407408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— · Point observability / eval tools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890504" y="5279097"/>
            <a:ext cx="530352" cy="32316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100" b="1">
                <a:solidFill>
                  <a:srgbClr val="6B2B1C"/>
                </a:solidFill>
                <a:latin typeface="Arial"/>
              </a:rPr>
              <a:t>n/r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82512" y="5555254"/>
            <a:ext cx="505663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Acknowledge specialist depth; test the cost of stitching the lifecycle together.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4360" y="6071616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500" b="1">
                <a:solidFill>
                  <a:srgbClr val="1B0C07"/>
                </a:solidFill>
                <a:latin typeface="Arial"/>
              </a:rPr>
              <a:t>Win by exposing the production trade-off: ownership, governance, and portability.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2"/>
          <p:cNvSpPr txBox="1"/>
          <p:nvPr/>
        </p:nvSpPr>
        <p:spPr>
          <a:xfrm>
            <a:off x="87416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FF4F0F"/>
                </a:solidFill>
                <a:latin typeface="Arial"/>
              </a:rPr>
              <a:t>Leaders 4.1+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96560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C92304"/>
                </a:solidFill>
                <a:latin typeface="Arial"/>
              </a:rPr>
              <a:t>Mid 3.4–4.0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10570464" y="6501384"/>
            <a:ext cx="749808" cy="17373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1">
                <a:solidFill>
                  <a:srgbClr val="6B2B1C"/>
                </a:solidFill>
                <a:latin typeface="Arial"/>
              </a:rPr>
              <a:t>Not scored</a:t>
            </a:r>
          </a:p>
        </p:txBody>
      </p:sp>
    </p:spTree>
    <p:extLst>
      <p:ext uri="{BB962C8B-B14F-4D97-AF65-F5344CB8AC3E}">
        <p14:creationId xmlns:p14="http://schemas.microsoft.com/office/powerpoint/2010/main" val="18596264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3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/>
          </p:cNvSpPr>
          <p:nvPr/>
        </p:nvSpPr>
        <p:spPr>
          <a:xfrm>
            <a:off x="502920" y="215664"/>
            <a:ext cx="10881360" cy="1538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000" b="1">
                <a:solidFill>
                  <a:srgbClr val="FF4F0F"/>
                </a:solidFill>
                <a:latin typeface="Arial"/>
              </a:rPr>
              <a:t>TURN THE POSITIONING INTO FOUR FIELD MOVES</a:t>
            </a:r>
          </a:p>
        </p:txBody>
      </p:sp>
      <p:sp>
        <p:nvSpPr>
          <p:cNvPr id="3" name="TextBox 2"/>
          <p:cNvSpPr txBox="1">
            <a:spLocks/>
          </p:cNvSpPr>
          <p:nvPr/>
        </p:nvSpPr>
        <p:spPr>
          <a:xfrm>
            <a:off x="502920" y="461212"/>
            <a:ext cx="11109960" cy="43088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>
                <a:solidFill>
                  <a:srgbClr val="1B0C07"/>
                </a:solidFill>
                <a:latin typeface="Arial"/>
              </a:rPr>
              <a:t>Win by turning requirements into architecture proof</a:t>
            </a: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502920" y="6492240"/>
            <a:ext cx="8229600" cy="1231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800" b="0">
                <a:solidFill>
                  <a:srgbClr val="6B2B1C"/>
                </a:solidFill>
                <a:latin typeface="Arial"/>
              </a:rPr>
              <a:t>04  Competitive Landscape &amp; Differentiation Framework</a:t>
            </a:r>
          </a:p>
        </p:txBody>
      </p:sp>
      <p:sp>
        <p:nvSpPr>
          <p:cNvPr id="6" name="TextBox 5"/>
          <p:cNvSpPr txBox="1">
            <a:spLocks/>
          </p:cNvSpPr>
          <p:nvPr/>
        </p:nvSpPr>
        <p:spPr>
          <a:xfrm>
            <a:off x="11228832" y="6409944"/>
            <a:ext cx="457200" cy="13849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900" b="1">
                <a:solidFill>
                  <a:srgbClr val="FF4F0F"/>
                </a:solidFill>
                <a:latin typeface="Arial"/>
              </a:rPr>
              <a:t>04</a:t>
            </a:r>
          </a:p>
        </p:txBody>
      </p:sp>
      <p:sp>
        <p:nvSpPr>
          <p:cNvPr id="7" name="TextBox 6"/>
          <p:cNvSpPr txBox="1">
            <a:spLocks/>
          </p:cNvSpPr>
          <p:nvPr/>
        </p:nvSpPr>
        <p:spPr>
          <a:xfrm>
            <a:off x="566928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>
            <a:spLocks/>
          </p:cNvSpPr>
          <p:nvPr/>
        </p:nvSpPr>
        <p:spPr>
          <a:xfrm>
            <a:off x="960120" y="1268673"/>
            <a:ext cx="169164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1B0C07"/>
                </a:solidFill>
                <a:latin typeface="Arial"/>
              </a:rPr>
              <a:t>BUYER PRIORITY</a:t>
            </a:r>
          </a:p>
        </p:txBody>
      </p:sp>
      <p:sp>
        <p:nvSpPr>
          <p:cNvPr id="9" name="TextBox 8"/>
          <p:cNvSpPr txBox="1">
            <a:spLocks/>
          </p:cNvSpPr>
          <p:nvPr/>
        </p:nvSpPr>
        <p:spPr>
          <a:xfrm>
            <a:off x="2788920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>
            <a:spLocks/>
          </p:cNvSpPr>
          <p:nvPr/>
        </p:nvSpPr>
        <p:spPr>
          <a:xfrm>
            <a:off x="3182112" y="1268673"/>
            <a:ext cx="2148840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C92304"/>
                </a:solidFill>
                <a:latin typeface="Arial"/>
              </a:rPr>
              <a:t>PRODUCTION RISK</a:t>
            </a:r>
          </a:p>
        </p:txBody>
      </p:sp>
      <p:sp>
        <p:nvSpPr>
          <p:cNvPr id="11" name="TextBox 10"/>
          <p:cNvSpPr txBox="1">
            <a:spLocks/>
          </p:cNvSpPr>
          <p:nvPr/>
        </p:nvSpPr>
        <p:spPr>
          <a:xfrm>
            <a:off x="5596128" y="1152144"/>
            <a:ext cx="32004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>
            <a:spLocks/>
          </p:cNvSpPr>
          <p:nvPr/>
        </p:nvSpPr>
        <p:spPr>
          <a:xfrm>
            <a:off x="5989320" y="1268673"/>
            <a:ext cx="1810512" cy="169277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100" b="1">
                <a:solidFill>
                  <a:srgbClr val="FF4F0F"/>
                </a:solidFill>
                <a:latin typeface="Arial"/>
              </a:rPr>
              <a:t>STUDIO PROOF</a:t>
            </a:r>
          </a:p>
        </p:txBody>
      </p:sp>
      <p:sp>
        <p:nvSpPr>
          <p:cNvPr id="14" name="TextBox 13"/>
          <p:cNvSpPr txBox="1">
            <a:spLocks/>
          </p:cNvSpPr>
          <p:nvPr/>
        </p:nvSpPr>
        <p:spPr>
          <a:xfrm>
            <a:off x="685800" y="1920240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Scale pilots</a:t>
            </a:r>
          </a:p>
        </p:txBody>
      </p:sp>
      <p:sp>
        <p:nvSpPr>
          <p:cNvPr id="16" name="TextBox 15"/>
          <p:cNvSpPr txBox="1">
            <a:spLocks/>
          </p:cNvSpPr>
          <p:nvPr/>
        </p:nvSpPr>
        <p:spPr>
          <a:xfrm>
            <a:off x="2834640" y="1861078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Pilots stall without runtime, evals, and governance</a:t>
            </a:r>
          </a:p>
        </p:txBody>
      </p:sp>
      <p:sp>
        <p:nvSpPr>
          <p:cNvPr id="18" name="TextBox 17"/>
          <p:cNvSpPr txBox="1">
            <a:spLocks/>
          </p:cNvSpPr>
          <p:nvPr/>
        </p:nvSpPr>
        <p:spPr>
          <a:xfrm>
            <a:off x="5541264" y="1861078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One governed lifecycle from build to production</a:t>
            </a:r>
          </a:p>
        </p:txBody>
      </p:sp>
      <p:sp>
        <p:nvSpPr>
          <p:cNvPr id="19" name="TextBox 18"/>
          <p:cNvSpPr txBox="1">
            <a:spLocks/>
          </p:cNvSpPr>
          <p:nvPr/>
        </p:nvSpPr>
        <p:spPr>
          <a:xfrm>
            <a:off x="685800" y="2670048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Recover failures</a:t>
            </a:r>
          </a:p>
        </p:txBody>
      </p:sp>
      <p:sp>
        <p:nvSpPr>
          <p:cNvPr id="21" name="TextBox 20"/>
          <p:cNvSpPr txBox="1">
            <a:spLocks/>
          </p:cNvSpPr>
          <p:nvPr/>
        </p:nvSpPr>
        <p:spPr>
          <a:xfrm>
            <a:off x="2834640" y="2610886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Multi-step agents need state, retry, and resume</a:t>
            </a:r>
          </a:p>
        </p:txBody>
      </p:sp>
      <p:sp>
        <p:nvSpPr>
          <p:cNvPr id="23" name="TextBox 22"/>
          <p:cNvSpPr txBox="1">
            <a:spLocks/>
          </p:cNvSpPr>
          <p:nvPr/>
        </p:nvSpPr>
        <p:spPr>
          <a:xfrm>
            <a:off x="5541264" y="2610886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Durable workflows with observability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419856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Secure enterprise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834640" y="3360694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Identity and data access block production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41264" y="3360694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Connectors, workspaces, and deployment controls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169663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Prove quality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4110502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Behavior varies by prompt and model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41264" y="3999542"/>
            <a:ext cx="2176272" cy="65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Continuous evals, judges, and feedback loops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4919472"/>
            <a:ext cx="1947672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1B0C07"/>
                </a:solidFill>
                <a:latin typeface="Arial"/>
              </a:rPr>
              <a:t>Retain architecture control</a:t>
            </a:r>
            <a:endParaRPr sz="1400" b="1">
              <a:solidFill>
                <a:srgbClr val="0E0E0E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834640" y="4860310"/>
            <a:ext cx="2468880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0">
                <a:solidFill>
                  <a:srgbClr val="6B2B1C"/>
                </a:solidFill>
                <a:latin typeface="Arial"/>
              </a:rPr>
              <a:t>Regulated buyers need deployment and data choice</a:t>
            </a:r>
            <a:endParaRPr lang="en-US" sz="1400" b="0">
              <a:solidFill>
                <a:srgbClr val="5C5C5C"/>
              </a:solidFill>
              <a:latin typeface="Arial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541264" y="4860310"/>
            <a:ext cx="217627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4F0F"/>
                </a:solidFill>
                <a:latin typeface="Arial"/>
              </a:rPr>
              <a:t>Hybrid deployment and data ownership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01583" y="1207008"/>
            <a:ext cx="3584448" cy="5029200"/>
          </a:xfrm>
          <a:prstGeom prst="rect">
            <a:avLst/>
          </a:prstGeom>
          <a:solidFill>
            <a:srgbClr val="1B0C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94192" y="1434715"/>
            <a:ext cx="2971800" cy="18466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200" b="1">
                <a:solidFill>
                  <a:srgbClr val="FF4F0F"/>
                </a:solidFill>
                <a:latin typeface="Arial"/>
              </a:rPr>
              <a:t>FOUR FIELD MOVES</a:t>
            </a:r>
            <a:endParaRPr sz="1100" b="1">
              <a:solidFill>
                <a:srgbClr val="FF6B2A"/>
              </a:solidFill>
              <a:latin typeface="Arial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394192" y="1828800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23960" y="1915942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Lead with operating requirements.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94192" y="2578608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23960" y="2554790"/>
            <a:ext cx="2496312" cy="6511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Acknowledge the best-fit alternative; expose its production gap.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94192" y="3328416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23960" y="3415558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Prove one flagship workflow in an architecture session.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94192" y="4078224"/>
            <a:ext cx="320040" cy="31089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b="1">
                <a:solidFill>
                  <a:srgbClr val="FF4F0F"/>
                </a:solidFill>
                <a:latin typeface="Arial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23960" y="4165366"/>
            <a:ext cx="2496312" cy="4292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400" b="1">
                <a:solidFill>
                  <a:srgbClr val="FFFFFF"/>
                </a:solidFill>
                <a:latin typeface="Arial"/>
              </a:rPr>
              <a:t>Validate pricing and maturity before external use.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94192" y="4956048"/>
            <a:ext cx="2926080" cy="18288"/>
          </a:xfrm>
          <a:prstGeom prst="rect">
            <a:avLst/>
          </a:prstGeom>
          <a:solidFill>
            <a:srgbClr val="FF4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375904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4F0F"/>
                </a:solidFill>
                <a:latin typeface="Arial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39328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alternatives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345168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FFFF"/>
                </a:solidFill>
                <a:latin typeface="Arial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08592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criteria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314432" y="5238062"/>
            <a:ext cx="749808" cy="3693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1">
                <a:solidFill>
                  <a:srgbClr val="FF8A3D"/>
                </a:solidFill>
                <a:latin typeface="Arial"/>
              </a:rPr>
              <a:t>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277856" y="5641848"/>
            <a:ext cx="8229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wedges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6382512"/>
            <a:ext cx="11183111" cy="10972"/>
          </a:xfrm>
          <a:prstGeom prst="rect">
            <a:avLst/>
          </a:prstGeom>
          <a:solidFill>
            <a:srgbClr val="F4C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1081</Words>
  <Application>Microsoft Office PowerPoint</Application>
  <PresentationFormat>Widescreen</PresentationFormat>
  <Paragraphs>121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Competitive Landscape and Differentiation Framework</dc:subject>
  <dc:creator>OpenAI</dc:creator>
  <cp:lastModifiedBy>Shivam Singh</cp:lastModifiedBy>
  <cp:revision>16</cp:revision>
  <dcterms:created xsi:type="dcterms:W3CDTF">2026-08-16T18:10:44Z</dcterms:created>
  <dcterms:modified xsi:type="dcterms:W3CDTF">2026-08-16T21:32:08Z</dcterms:modified>
</cp:coreProperties>
</file>