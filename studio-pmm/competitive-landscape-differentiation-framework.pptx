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74" r:id="rId4"/>
    <p:sldId id="27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4F0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DAD-4A85-A0DE-3BD61CB741C1}"/>
              </c:ext>
            </c:extLst>
          </c:dPt>
          <c:dPt>
            <c:idx val="1"/>
            <c:invertIfNegative val="1"/>
            <c:bubble3D val="0"/>
            <c:spPr>
              <a:solidFill>
                <a:srgbClr val="F9310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DAD-4A85-A0DE-3BD61CB741C1}"/>
              </c:ext>
            </c:extLst>
          </c:dPt>
          <c:dPt>
            <c:idx val="2"/>
            <c:invertIfNegative val="1"/>
            <c:bubble3D val="0"/>
            <c:spPr>
              <a:solidFill>
                <a:srgbClr val="F53B0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DAD-4A85-A0DE-3BD61CB741C1}"/>
              </c:ext>
            </c:extLst>
          </c:dPt>
          <c:dPt>
            <c:idx val="3"/>
            <c:invertIfNegative val="1"/>
            <c:bubble3D val="0"/>
            <c:spPr>
              <a:solidFill>
                <a:srgbClr val="E0090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DAD-4A85-A0DE-3BD61CB741C1}"/>
              </c:ext>
            </c:extLst>
          </c:dPt>
          <c:dPt>
            <c:idx val="4"/>
            <c:invertIfNegative val="1"/>
            <c:bubble3D val="0"/>
            <c:spPr>
              <a:solidFill>
                <a:srgbClr val="C9230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7DAD-4A85-A0DE-3BD61CB741C1}"/>
              </c:ext>
            </c:extLst>
          </c:dPt>
          <c:dPt>
            <c:idx val="5"/>
            <c:invertIfNegative val="1"/>
            <c:bubble3D val="0"/>
            <c:spPr>
              <a:solidFill>
                <a:srgbClr val="B91E0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7DAD-4A85-A0DE-3BD61CB741C1}"/>
              </c:ext>
            </c:extLst>
          </c:dPt>
          <c:dPt>
            <c:idx val="6"/>
            <c:invertIfNegative val="1"/>
            <c:bubble3D val="0"/>
            <c:spPr>
              <a:solidFill>
                <a:srgbClr val="9D1B0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7DAD-4A85-A0DE-3BD61CB741C1}"/>
              </c:ext>
            </c:extLst>
          </c:dPt>
          <c:dPt>
            <c:idx val="7"/>
            <c:invertIfNegative val="1"/>
            <c:bubble3D val="0"/>
            <c:spPr>
              <a:solidFill>
                <a:srgbClr val="7E180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7DAD-4A85-A0DE-3BD61CB741C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C92304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Mistral Studio</c:v>
                </c:pt>
                <c:pt idx="1">
                  <c:v>Azure AI / Copilot</c:v>
                </c:pt>
                <c:pt idx="2">
                  <c:v>Amazon Bedrock</c:v>
                </c:pt>
                <c:pt idx="3">
                  <c:v>LangSmith / LangGraph</c:v>
                </c:pt>
                <c:pt idx="4">
                  <c:v>Google Vertex AI</c:v>
                </c:pt>
                <c:pt idx="5">
                  <c:v>OpenAI Agents</c:v>
                </c:pt>
                <c:pt idx="6">
                  <c:v>Internal enterprise</c:v>
                </c:pt>
                <c:pt idx="7">
                  <c:v>LlamaIndex / Cloud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4.5</c:v>
                </c:pt>
                <c:pt idx="1">
                  <c:v>4.4000000000000004</c:v>
                </c:pt>
                <c:pt idx="2">
                  <c:v>4.4000000000000004</c:v>
                </c:pt>
                <c:pt idx="3">
                  <c:v>4.3</c:v>
                </c:pt>
                <c:pt idx="4">
                  <c:v>4.0999999999999996</c:v>
                </c:pt>
                <c:pt idx="5">
                  <c:v>3.5</c:v>
                </c:pt>
                <c:pt idx="6">
                  <c:v>3.4</c:v>
                </c:pt>
                <c:pt idx="7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DAD-4A85-A0DE-3BD61CB741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1B0C07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"/>
          <c:min val="0"/>
        </c:scaling>
        <c:delete val="0"/>
        <c:axPos val="t"/>
        <c:majorGridlines>
          <c:spPr>
            <a:ln>
              <a:solidFill>
                <a:srgbClr val="D8D0C3"/>
              </a:solidFill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20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https://mistral.ai/news/ai-studio/
- https://docs.mistral.ai/studio-api/overview
- https://mistral.ai/customers/
- https://openai.com/index/new-tools-for-building-agents/
- https://docs.mistral.ai/studio-api/workflows/getting-started/overview
- https://docs.mistral.ai/studio-api/workflows/building-workflows/connectors
- https://mistral.ai/customers/cisco/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https://openai.com/index/new-tools-for-building-agents/
- https://docs.anthropic.com/en/docs/agents-and-tools/tool-use/tool-runner-sdk
- https://docs.cloud.google.com/vertex-ai/generative-ai/docs/agent-engine/evaluate
- https://azure.microsoft.com/en-us/products/ai-foundry
- https://aws.amazon.com/about-aws/whats-new/2026/05/bedrock-agentcore-launch-aws-govcloud-us/
- https://www.langchain.com/langsmith-platform
- https://docs.llamaindex.ai/en/v0.10.33/understanding/loading/llamahub/
- https://langchain-ai.github.io/langgraph/concepts/persistence/
- https://mistral.ai/news/ai-studio/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https://openai.com/index/new-tools-for-building-agents/
- https://docs.anthropic.com/en/docs/agents-and-tools/tool-use/tool-runner-sdk
- https://docs.cloud.google.com/vertex-ai/generative-ai/docs/agent-engine/evaluate
- https://azure.microsoft.com/en-us/products/ai-foundry
- https://aws.amazon.com/about-aws/whats-new/2026/05/bedrock-agentcore-launch-aws-govcloud-us/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4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9A0721D9-E1CB-BF8D-7711-2D7A2A63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Box 1"/>
          <p:cNvSpPr txBox="1">
            <a:spLocks/>
          </p:cNvSpPr>
          <p:nvPr/>
        </p:nvSpPr>
        <p:spPr>
          <a:xfrm>
            <a:off x="1828800" y="307104"/>
            <a:ext cx="853135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1B0C07"/>
                </a:solidFill>
                <a:latin typeface="Arial"/>
              </a:rPr>
              <a:t>COMPETITIVE LANDSCAPE &amp; DIFFERENTIATION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1371600" y="804672"/>
            <a:ext cx="9445752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200" b="1">
                <a:solidFill>
                  <a:srgbClr val="FFFFFF"/>
                </a:solidFill>
                <a:latin typeface="Arial"/>
              </a:rPr>
              <a:t>The buyer is choosing an
operating model—not a model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2331720" y="4425696"/>
            <a:ext cx="7525512" cy="5120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FFE9DE"/>
                </a:solidFill>
                <a:latin typeface="Arial"/>
              </a:rPr>
              <a:t>Model quality is table stakes. Buyers are deciding who controls deployment, data, and production.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2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28832" y="640994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03836"/>
            <a:ext cx="822960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1B0C07"/>
                </a:solidFill>
                <a:latin typeface="Arial"/>
              </a:rPr>
              <a:t>04  Competitive Landscape &amp; Differentiation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02920" y="215664"/>
            <a:ext cx="1088136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4F0F"/>
                </a:solidFill>
                <a:latin typeface="Arial"/>
              </a:rPr>
              <a:t>16 CRITERIA · 7 STUDIO WEDGES · DIRECTIONAL SCORES 1–5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02920" y="461212"/>
            <a:ext cx="1110996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1B0C07"/>
                </a:solidFill>
                <a:latin typeface="Arial"/>
              </a:rPr>
              <a:t>Scores converge; operating control breaks the tie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02920" y="6492240"/>
            <a:ext cx="822960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6B2B1C"/>
                </a:solidFill>
                <a:latin typeface="Arial"/>
              </a:rPr>
              <a:t>04  Competitive Landscape &amp; Differentiation Framework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11228832" y="6409944"/>
            <a:ext cx="4572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rgbClr val="FF4F0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1140657"/>
            <a:ext cx="566928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4F0F"/>
                </a:solidFill>
                <a:latin typeface="Arial"/>
              </a:rPr>
              <a:t>PURCHASE CRITERIA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46304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B0C07"/>
                </a:solidFill>
                <a:latin typeface="Arial"/>
              </a:rPr>
              <a:t>Technical / platform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3145536" y="146304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B0C07"/>
                </a:solidFill>
                <a:latin typeface="Arial"/>
              </a:rPr>
              <a:t>Commercial / enterprise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566928" y="192024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Frontier model access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238658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Durable agent runtime ▲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66928" y="2852928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Evals / judges ▲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66928" y="331927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Registry / versioning ▲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66928" y="3785615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Guardrails / moderation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66928" y="425196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Data residency / control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566928" y="471830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Governance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184648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Commercial maturity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192024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Open / portable model posture 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2386584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Workflow orchestration 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285292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Tracing / observability 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3319272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Enterprise connectors / identity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3785615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Hybrid / self-host / on-prem 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45536" y="425196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Developer UX /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5536" y="4718304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Cloud / ecosystem breadth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18464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Sovereignty positioning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1140657"/>
            <a:ext cx="484632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4F0F"/>
                </a:solidFill>
                <a:latin typeface="Arial"/>
              </a:rPr>
              <a:t>DIRECTIONAL AVERAGE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1444752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1B0C07"/>
                </a:solidFill>
                <a:latin typeface="Arial"/>
              </a:rPr>
              <a:t>Control breaks the capability tie</a:t>
            </a:r>
            <a:endParaRPr sz="2200" b="1">
              <a:solidFill>
                <a:srgbClr val="0E0E0E"/>
              </a:solidFill>
              <a:latin typeface="Arial"/>
            </a:endParaRPr>
          </a:p>
        </p:txBody>
      </p:sp>
      <p:graphicFrame>
        <p:nvGraphicFramePr>
          <p:cNvPr id="45" name="Chart 44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929005"/>
              </p:ext>
            </p:extLst>
          </p:nvPr>
        </p:nvGraphicFramePr>
        <p:xfrm>
          <a:off x="6675120" y="1883664"/>
          <a:ext cx="4736592" cy="3639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6693408" y="5716094"/>
            <a:ext cx="4754880" cy="4367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Qualify three issues: deployment control, production governance, and architectural portability.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382512"/>
            <a:ext cx="11183111" cy="10972"/>
          </a:xfrm>
          <a:prstGeom prst="rect">
            <a:avLst/>
          </a:prstGeom>
          <a:solidFill>
            <a:srgbClr val="F4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02920" y="215664"/>
            <a:ext cx="1088136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4F0F"/>
                </a:solidFill>
                <a:latin typeface="Arial"/>
              </a:rPr>
              <a:t>10 ALTERNATIVES · RANKED BY AVERAGE SCORE · N/R = NOT SCORED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02920" y="461212"/>
            <a:ext cx="1110996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1B0C07"/>
                </a:solidFill>
                <a:latin typeface="Arial"/>
              </a:rPr>
              <a:t>Shortlists converge; production trade-offs decide the winner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02920" y="6492240"/>
            <a:ext cx="822960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6B2B1C"/>
                </a:solidFill>
                <a:latin typeface="Arial"/>
              </a:rPr>
              <a:t>04  Competitive Landscape &amp; Differentiation Framework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11228832" y="6409944"/>
            <a:ext cx="4572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rgbClr val="FF4F0F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5504688" cy="475488"/>
          </a:xfrm>
          <a:prstGeom prst="rect">
            <a:avLst/>
          </a:prstGeom>
          <a:solidFill>
            <a:srgbClr val="1B0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13232" y="13350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BROAD PLATFORMS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0" y="133502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207008"/>
            <a:ext cx="5504688" cy="475488"/>
          </a:xfrm>
          <a:prstGeom prst="rect">
            <a:avLst/>
          </a:prstGeom>
          <a:solidFill>
            <a:srgbClr val="FF4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391656" y="133502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BUILDER / SPECIALIST ROUTES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698480" y="133502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04088" y="1883664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1 · Microsoft Azure AI Foundry / Copilot Studio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212080" y="1877529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FF4F0F"/>
                </a:solidFill>
                <a:latin typeface="Arial"/>
              </a:rPr>
              <a:t>4.4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04088" y="2153686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M365 fit; test model choice, exit cost, and sovereign deployment.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704088" y="2734056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2 · Amazon Bedrock AgentCore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212080" y="2727921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FF4F0F"/>
                </a:solidFill>
                <a:latin typeface="Arial"/>
              </a:rPr>
              <a:t>4.4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04088" y="3004078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AWS-native runtime; test workflow depth and hybrid deployment.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704088" y="3584448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1400" b="1">
                <a:solidFill>
                  <a:srgbClr val="1B0C07"/>
                </a:solidFill>
                <a:latin typeface="Arial"/>
              </a:rPr>
              <a:t>4 · Google Vertex AI / Gemini Enterprise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5212080" y="3578313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FF4F0F"/>
                </a:solidFill>
                <a:latin typeface="Arial"/>
              </a:rPr>
              <a:t>4.1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4088" y="3854470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Workspace reach; test data residency and deployment beyond Google Cloud.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704088" y="4434840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5 · OpenAI Responses + Agents SDK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5212080" y="4428705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92304"/>
                </a:solidFill>
                <a:latin typeface="Arial"/>
              </a:rPr>
              <a:t>3.5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4088" y="4704861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model quality; test portability, self-hosting, and switching cost.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704088" y="5285232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— · Anthropic Claude Platform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5212080" y="5279097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6B2B1C"/>
                </a:solidFill>
                <a:latin typeface="Arial"/>
              </a:rPr>
              <a:t>n/r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704088" y="5555254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MCP depth; test registry, versioning, and regulated deployment.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6382512" y="1883664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3 · </a:t>
            </a:r>
            <a:r>
              <a:rPr lang="en-US" sz="1400" b="1" err="1">
                <a:solidFill>
                  <a:srgbClr val="1B0C07"/>
                </a:solidFill>
                <a:latin typeface="Arial"/>
              </a:rPr>
              <a:t>LangSmith</a:t>
            </a:r>
            <a:r>
              <a:rPr lang="en-US" sz="1400" b="1">
                <a:solidFill>
                  <a:srgbClr val="1B0C07"/>
                </a:solidFill>
                <a:latin typeface="Arial"/>
              </a:rPr>
              <a:t> / </a:t>
            </a:r>
            <a:r>
              <a:rPr lang="en-US" sz="1400" b="1" err="1">
                <a:solidFill>
                  <a:srgbClr val="1B0C07"/>
                </a:solidFill>
                <a:latin typeface="Arial"/>
              </a:rPr>
              <a:t>LangGraph</a:t>
            </a:r>
            <a:endParaRPr lang="en-US" sz="1400" b="1" dirty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10890504" y="1877529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FF4F0F"/>
                </a:solidFill>
                <a:latin typeface="Arial"/>
              </a:rPr>
              <a:t>4.3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6382512" y="2264645"/>
            <a:ext cx="5056632" cy="2073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flexibility; test who owns production operations.</a:t>
            </a: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6382512" y="2734056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6 · Internal enterprise AI platform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10890504" y="2727921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92304"/>
                </a:solidFill>
                <a:latin typeface="Arial"/>
              </a:rPr>
              <a:t>3.4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6382512" y="3004078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internal control; test build-versus-buy economics for the production layer.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6382512" y="3584448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7 · </a:t>
            </a:r>
            <a:r>
              <a:rPr lang="en-US" sz="1400" b="1" err="1">
                <a:solidFill>
                  <a:srgbClr val="1B0C07"/>
                </a:solidFill>
                <a:latin typeface="Arial"/>
              </a:rPr>
              <a:t>LlamaIndex</a:t>
            </a:r>
            <a:r>
              <a:rPr lang="en-US" sz="1400" b="1">
                <a:solidFill>
                  <a:srgbClr val="1B0C07"/>
                </a:solidFill>
                <a:latin typeface="Arial"/>
              </a:rPr>
              <a:t> / </a:t>
            </a:r>
            <a:r>
              <a:rPr lang="en-US" sz="1400" b="1" err="1">
                <a:solidFill>
                  <a:srgbClr val="1B0C07"/>
                </a:solidFill>
                <a:latin typeface="Arial"/>
              </a:rPr>
              <a:t>LlamaCloud</a:t>
            </a:r>
            <a:endParaRPr lang="en-US" sz="1400" b="1" dirty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10890504" y="3578313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92304"/>
                </a:solidFill>
                <a:latin typeface="Arial"/>
              </a:rPr>
              <a:t>3.4</a:t>
            </a:r>
          </a:p>
        </p:txBody>
      </p:sp>
      <p:sp>
        <p:nvSpPr>
          <p:cNvPr id="44" name="TextBox 43"/>
          <p:cNvSpPr txBox="1">
            <a:spLocks/>
          </p:cNvSpPr>
          <p:nvPr/>
        </p:nvSpPr>
        <p:spPr>
          <a:xfrm>
            <a:off x="6382512" y="3965429"/>
            <a:ext cx="5056632" cy="2073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RAG depth; test guardrails and governance.</a:t>
            </a:r>
          </a:p>
        </p:txBody>
      </p:sp>
      <p:sp>
        <p:nvSpPr>
          <p:cNvPr id="46" name="TextBox 45"/>
          <p:cNvSpPr txBox="1">
            <a:spLocks/>
          </p:cNvSpPr>
          <p:nvPr/>
        </p:nvSpPr>
        <p:spPr>
          <a:xfrm>
            <a:off x="6382512" y="4434840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— · DIY open-source stack</a:t>
            </a:r>
          </a:p>
        </p:txBody>
      </p:sp>
      <p:sp>
        <p:nvSpPr>
          <p:cNvPr id="47" name="TextBox 46"/>
          <p:cNvSpPr txBox="1">
            <a:spLocks/>
          </p:cNvSpPr>
          <p:nvPr/>
        </p:nvSpPr>
        <p:spPr>
          <a:xfrm>
            <a:off x="10890504" y="4428705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6B2B1C"/>
                </a:solidFill>
                <a:latin typeface="Arial"/>
              </a:rPr>
              <a:t>n/r</a:t>
            </a:r>
          </a:p>
        </p:txBody>
      </p:sp>
      <p:sp>
        <p:nvSpPr>
          <p:cNvPr id="48" name="TextBox 47"/>
          <p:cNvSpPr txBox="1">
            <a:spLocks/>
          </p:cNvSpPr>
          <p:nvPr/>
        </p:nvSpPr>
        <p:spPr>
          <a:xfrm>
            <a:off x="6382512" y="4704861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maximum control; test the cost of building registry, guardrails, and governance.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6382512" y="5285232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— · Point observability / eval tools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90504" y="5279097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6B2B1C"/>
                </a:solidFill>
                <a:latin typeface="Arial"/>
              </a:rPr>
              <a:t>n/r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5555254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specialist depth; test the cost of stitching the lifecycle together.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07161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B0C07"/>
                </a:solidFill>
                <a:latin typeface="Arial"/>
              </a:rPr>
              <a:t>Win by exposing the production trade-off: ownership, governance, and portability.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382512"/>
            <a:ext cx="11183111" cy="10972"/>
          </a:xfrm>
          <a:prstGeom prst="rect">
            <a:avLst/>
          </a:prstGeom>
          <a:solidFill>
            <a:srgbClr val="F4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2"/>
          <p:cNvSpPr txBox="1"/>
          <p:nvPr/>
        </p:nvSpPr>
        <p:spPr>
          <a:xfrm>
            <a:off x="8741664" y="6501384"/>
            <a:ext cx="74980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solidFill>
                  <a:srgbClr val="FF4F0F"/>
                </a:solidFill>
                <a:latin typeface="Arial"/>
              </a:rPr>
              <a:t>Leaders 4.1+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656064" y="6501384"/>
            <a:ext cx="74980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solidFill>
                  <a:srgbClr val="C92304"/>
                </a:solidFill>
                <a:latin typeface="Arial"/>
              </a:rPr>
              <a:t>Mid 3.4–4.0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570464" y="6501384"/>
            <a:ext cx="74980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solidFill>
                  <a:srgbClr val="6B2B1C"/>
                </a:solidFill>
                <a:latin typeface="Arial"/>
              </a:rPr>
              <a:t>Not scored</a:t>
            </a:r>
          </a:p>
        </p:txBody>
      </p:sp>
    </p:spTree>
    <p:extLst>
      <p:ext uri="{BB962C8B-B14F-4D97-AF65-F5344CB8AC3E}">
        <p14:creationId xmlns:p14="http://schemas.microsoft.com/office/powerpoint/2010/main" val="185962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02920" y="215664"/>
            <a:ext cx="1088136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4F0F"/>
                </a:solidFill>
                <a:latin typeface="Arial"/>
              </a:rPr>
              <a:t>TURN THE POSITIONING INTO FOUR FIELD MOVES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02920" y="461212"/>
            <a:ext cx="1110996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1B0C07"/>
                </a:solidFill>
                <a:latin typeface="Arial"/>
              </a:rPr>
              <a:t>Win by turning requirements into architecture proof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02920" y="6492240"/>
            <a:ext cx="822960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6B2B1C"/>
                </a:solidFill>
                <a:latin typeface="Arial"/>
              </a:rPr>
              <a:t>04  Competitive Landscape &amp; Differentiation Framework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11228832" y="6409944"/>
            <a:ext cx="4572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rgbClr val="FF4F0F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1152144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4F0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960120" y="1268673"/>
            <a:ext cx="169164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1B0C07"/>
                </a:solidFill>
                <a:latin typeface="Arial"/>
              </a:rPr>
              <a:t>BUYER PRIORITY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2788920" y="1152144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4F0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3182112" y="1268673"/>
            <a:ext cx="214884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C92304"/>
                </a:solidFill>
                <a:latin typeface="Arial"/>
              </a:rPr>
              <a:t>PRODUCTION RISK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5596128" y="1152144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4F0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5989320" y="1268673"/>
            <a:ext cx="181051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4F0F"/>
                </a:solidFill>
                <a:latin typeface="Arial"/>
              </a:rPr>
              <a:t>STUDIO PROOF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85800" y="1920240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Scale pilots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834640" y="1861078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Pilots stall without runtime, evals, and governance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541264" y="1861078"/>
            <a:ext cx="217627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One governed lifecycle from build to production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85800" y="2670048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Recover failures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2834640" y="2610886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Multi-step agents need state, retry, and resume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5541264" y="2610886"/>
            <a:ext cx="217627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Durable workflows with 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419856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Secure enterprise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360694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Identity and data access block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3360694"/>
            <a:ext cx="217627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Connectors, workspaces, and deployment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9663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Prove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110502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Behavior varies by prompt and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1264" y="3999542"/>
            <a:ext cx="2176272" cy="65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Continuous evals, judges, and feedback loops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19472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Retain architecture control</a:t>
            </a:r>
            <a:endParaRPr sz="1400" b="1">
              <a:solidFill>
                <a:srgbClr val="0E0E0E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34640" y="4860310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Regulated buyers need deployment and data choice</a:t>
            </a:r>
            <a:endParaRPr lang="en-US" sz="1400" b="0">
              <a:solidFill>
                <a:srgbClr val="5C5C5C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541264" y="4860310"/>
            <a:ext cx="217627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Hybrid deployment and data ownership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3" y="1207008"/>
            <a:ext cx="3584448" cy="5029200"/>
          </a:xfrm>
          <a:prstGeom prst="rect">
            <a:avLst/>
          </a:prstGeom>
          <a:solidFill>
            <a:srgbClr val="1B0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94192" y="1434715"/>
            <a:ext cx="29718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FF4F0F"/>
                </a:solidFill>
                <a:latin typeface="Arial"/>
              </a:rPr>
              <a:t>FOUR FIELD MOVES</a:t>
            </a:r>
            <a:endParaRPr sz="1100" b="1">
              <a:solidFill>
                <a:srgbClr val="FF6B2A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94192" y="1828800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FF4F0F"/>
                </a:solidFill>
                <a:latin typeface="Arial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1915942"/>
            <a:ext cx="249631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Lead with operating requirements.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2578608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FF4F0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2554790"/>
            <a:ext cx="2496312" cy="65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Acknowledge the best-fit alternative; expose its production gap.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3328416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FF4F0F"/>
                </a:solidFill>
                <a:latin typeface="Arial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3415558"/>
            <a:ext cx="249631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Prove one flagship workflow in an architecture session.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4078224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FF4F0F"/>
                </a:solidFill>
                <a:latin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4165366"/>
            <a:ext cx="249631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Validate pricing and maturity before external use.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94192" y="4956048"/>
            <a:ext cx="2926080" cy="18288"/>
          </a:xfrm>
          <a:prstGeom prst="rect">
            <a:avLst/>
          </a:prstGeom>
          <a:solidFill>
            <a:srgbClr val="FF4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75904" y="5238062"/>
            <a:ext cx="74980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4F0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8" y="5641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alternatives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5238062"/>
            <a:ext cx="74980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8592" y="5641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criteria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4432" y="5238062"/>
            <a:ext cx="74980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8A3D"/>
                </a:solidFill>
                <a:latin typeface="Arial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5641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wedges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6382512"/>
            <a:ext cx="11183111" cy="10972"/>
          </a:xfrm>
          <a:prstGeom prst="rect">
            <a:avLst/>
          </a:prstGeom>
          <a:solidFill>
            <a:srgbClr val="F4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ns1="http://schemas.openxmlformats.org/officeDocument/2006/docPropsVTypes">
  <TotalTime>124</TotalTime>
  <Words>1081</Words>
  <Application>Microsoft Office PowerPoint</Application>
  <PresentationFormat>Widescreen</PresentationFormat>
  <Paragraphs>121</Paragraphs>
  <Slides>4</Slides>
  <Notes>4</Notes>
  <HiddenSlides>0</HiddenSlides>
  <MMClips>0</MMClips>
  <ScaleCrop>false</ScaleCrop>
  <HeadingPairs>
    <ns1:vector size="6" baseType="variant">
      <ns1:variant>
        <ns1:lpstr>Fonts Used</ns1:lpstr>
      </ns1:variant>
      <ns1:variant>
        <ns1:i4>1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4</ns1:i4>
      </ns1:variant>
    </ns1:vector>
  </HeadingPairs>
  <TitlesOfParts>
    <ns1:vector size="6" baseType="lpstr">
      <ns1:lpstr>Arial</ns1:lpstr>
      <ns1:lpstr>Office Theme</ns1:lpstr>
      <ns1:lpstr>PowerPoint Presentation</ns1:lpstr>
      <ns1:lpstr>PowerPoint Presentation</ns1:lpstr>
      <ns1:lpstr>PowerPoint Presentation</ns1:lpstr>
      <ns1:lpstr>PowerPoint Presentation</ns1:lpstr>
    </ns1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Mistral Studio - Competitive Landscape and Differentiation Framework</dc:title>
  <dc:subject>Competitive analysis and field differentiation</dc:subject>
  <dc:creator>Shiv, Prospective PMM, Mistral Studio</dc:creator>
  <cp:lastModifiedBy>Shivam Singh</cp:lastModifiedBy>
  <cp:revision>16</cp:revision>
  <dcterms:created xsi:type="dcterms:W3CDTF">2026-08-16T18:10:44Z</dcterms:created>
  <dcterms:modified xsi:type="dcterms:W3CDTF">2026-08-16T21:32:08Z</dcterms:modified>
  <cp:keywords>mistral-studio, competitive-analysis, differentiation, positioning</cp:keywords>
  <dc:description>Competitive decision framework for positioning Mistral Studio against alternative AI operating models.</dc:description>
</cp:coreProperties>
</file>