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44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https://mistral.ai/news/ai-studio/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https://mistral.ai/products/studio/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[Source]</a:t>
            </a:r>
          </a:p>
          <a:p>
            <a:r>
              <a:rPr lang="en-US"/>
              <a:t>- User-provided pilot structure, tightened for the Mistral Studio sales narrative.</a:t>
            </a:r>
          </a:p>
          <a:p>
            <a:r>
              <a:rPr lang="en-US"/>
              <a:t>- https://mistral.ai/contact/</a:t>
            </a:r>
          </a:p>
          <a:p>
            <a:r>
              <a:rPr lang="en-US"/>
              <a:t>- CMA CGM proof point: https://cmacgm-group.com — Mistral AI partnership (April 2025); deployed project and use-case counts company-reported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block 1"/>
          <p:cNvSpPr>
            <a:spLocks/>
          </p:cNvSpPr>
          <p:nvPr/>
        </p:nvSpPr>
        <p:spPr>
          <a:xfrm>
            <a:off x="8028431" y="50292"/>
            <a:ext cx="987552" cy="9601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block 2"/>
          <p:cNvSpPr/>
          <p:nvPr/>
        </p:nvSpPr>
        <p:spPr>
          <a:xfrm>
            <a:off x="9015984" y="50292"/>
            <a:ext cx="658368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block 3"/>
          <p:cNvSpPr>
            <a:spLocks/>
          </p:cNvSpPr>
          <p:nvPr/>
        </p:nvSpPr>
        <p:spPr>
          <a:xfrm>
            <a:off x="9674352" y="50292"/>
            <a:ext cx="1124712" cy="9601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block 4"/>
          <p:cNvSpPr>
            <a:spLocks/>
          </p:cNvSpPr>
          <p:nvPr/>
        </p:nvSpPr>
        <p:spPr>
          <a:xfrm>
            <a:off x="10799064" y="50292"/>
            <a:ext cx="603504" cy="9601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block 5"/>
          <p:cNvSpPr>
            <a:spLocks/>
          </p:cNvSpPr>
          <p:nvPr/>
        </p:nvSpPr>
        <p:spPr>
          <a:xfrm>
            <a:off x="11402568" y="50292"/>
            <a:ext cx="789127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osaic block 6"/>
          <p:cNvSpPr>
            <a:spLocks/>
          </p:cNvSpPr>
          <p:nvPr/>
        </p:nvSpPr>
        <p:spPr>
          <a:xfrm>
            <a:off x="8028431" y="1010412"/>
            <a:ext cx="566928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block 7"/>
          <p:cNvSpPr>
            <a:spLocks/>
          </p:cNvSpPr>
          <p:nvPr/>
        </p:nvSpPr>
        <p:spPr>
          <a:xfrm>
            <a:off x="8595360" y="1010412"/>
            <a:ext cx="1298448" cy="11155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block 8"/>
          <p:cNvSpPr>
            <a:spLocks/>
          </p:cNvSpPr>
          <p:nvPr/>
        </p:nvSpPr>
        <p:spPr>
          <a:xfrm>
            <a:off x="9893808" y="1010412"/>
            <a:ext cx="694944" cy="11155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block 9"/>
          <p:cNvSpPr>
            <a:spLocks/>
          </p:cNvSpPr>
          <p:nvPr/>
        </p:nvSpPr>
        <p:spPr>
          <a:xfrm>
            <a:off x="10588752" y="1010412"/>
            <a:ext cx="1078992" cy="11155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block 10"/>
          <p:cNvSpPr>
            <a:spLocks/>
          </p:cNvSpPr>
          <p:nvPr/>
        </p:nvSpPr>
        <p:spPr>
          <a:xfrm>
            <a:off x="11667744" y="1010412"/>
            <a:ext cx="523951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block 11"/>
          <p:cNvSpPr/>
          <p:nvPr/>
        </p:nvSpPr>
        <p:spPr>
          <a:xfrm>
            <a:off x="8028431" y="2125980"/>
            <a:ext cx="1234440" cy="1033271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osaic block 12"/>
          <p:cNvSpPr>
            <a:spLocks/>
          </p:cNvSpPr>
          <p:nvPr/>
        </p:nvSpPr>
        <p:spPr>
          <a:xfrm>
            <a:off x="9262872" y="2125980"/>
            <a:ext cx="621792" cy="1033271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block 13"/>
          <p:cNvSpPr>
            <a:spLocks/>
          </p:cNvSpPr>
          <p:nvPr/>
        </p:nvSpPr>
        <p:spPr>
          <a:xfrm>
            <a:off x="9884664" y="2125980"/>
            <a:ext cx="1435608" cy="1033271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block 14"/>
          <p:cNvSpPr>
            <a:spLocks/>
          </p:cNvSpPr>
          <p:nvPr/>
        </p:nvSpPr>
        <p:spPr>
          <a:xfrm>
            <a:off x="11320272" y="2125980"/>
            <a:ext cx="871423" cy="1033271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block 15"/>
          <p:cNvSpPr/>
          <p:nvPr/>
        </p:nvSpPr>
        <p:spPr>
          <a:xfrm>
            <a:off x="8028431" y="3159252"/>
            <a:ext cx="640080" cy="11887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block 16"/>
          <p:cNvSpPr>
            <a:spLocks/>
          </p:cNvSpPr>
          <p:nvPr/>
        </p:nvSpPr>
        <p:spPr>
          <a:xfrm>
            <a:off x="8668512" y="3159252"/>
            <a:ext cx="987552" cy="11887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block 17"/>
          <p:cNvSpPr>
            <a:spLocks/>
          </p:cNvSpPr>
          <p:nvPr/>
        </p:nvSpPr>
        <p:spPr>
          <a:xfrm>
            <a:off x="9656064" y="3159252"/>
            <a:ext cx="749808" cy="11887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block 18"/>
          <p:cNvSpPr>
            <a:spLocks/>
          </p:cNvSpPr>
          <p:nvPr/>
        </p:nvSpPr>
        <p:spPr>
          <a:xfrm>
            <a:off x="10405872" y="3159252"/>
            <a:ext cx="1280160" cy="1188720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block 19"/>
          <p:cNvSpPr/>
          <p:nvPr/>
        </p:nvSpPr>
        <p:spPr>
          <a:xfrm>
            <a:off x="11686032" y="3159252"/>
            <a:ext cx="505663" cy="11887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osaic block 20"/>
          <p:cNvSpPr>
            <a:spLocks/>
          </p:cNvSpPr>
          <p:nvPr/>
        </p:nvSpPr>
        <p:spPr>
          <a:xfrm>
            <a:off x="8028431" y="4347972"/>
            <a:ext cx="1307592" cy="108813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block 21"/>
          <p:cNvSpPr>
            <a:spLocks/>
          </p:cNvSpPr>
          <p:nvPr/>
        </p:nvSpPr>
        <p:spPr>
          <a:xfrm>
            <a:off x="9336024" y="4347972"/>
            <a:ext cx="630936" cy="108813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block 22"/>
          <p:cNvSpPr/>
          <p:nvPr/>
        </p:nvSpPr>
        <p:spPr>
          <a:xfrm>
            <a:off x="9966960" y="4347972"/>
            <a:ext cx="1024128" cy="1088136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block 23"/>
          <p:cNvSpPr/>
          <p:nvPr/>
        </p:nvSpPr>
        <p:spPr>
          <a:xfrm>
            <a:off x="10991088" y="4347972"/>
            <a:ext cx="1200607" cy="108813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osaic block 24"/>
          <p:cNvSpPr/>
          <p:nvPr/>
        </p:nvSpPr>
        <p:spPr>
          <a:xfrm>
            <a:off x="8028431" y="5436108"/>
            <a:ext cx="676656" cy="14218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osaic block 25"/>
          <p:cNvSpPr/>
          <p:nvPr/>
        </p:nvSpPr>
        <p:spPr>
          <a:xfrm>
            <a:off x="8705088" y="5436108"/>
            <a:ext cx="1261872" cy="142189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osaic block 26"/>
          <p:cNvSpPr/>
          <p:nvPr/>
        </p:nvSpPr>
        <p:spPr>
          <a:xfrm>
            <a:off x="9966960" y="5436108"/>
            <a:ext cx="758952" cy="14218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osaic block 27"/>
          <p:cNvSpPr/>
          <p:nvPr/>
        </p:nvSpPr>
        <p:spPr>
          <a:xfrm>
            <a:off x="10725912" y="5436108"/>
            <a:ext cx="585216" cy="14218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block 28"/>
          <p:cNvSpPr/>
          <p:nvPr/>
        </p:nvSpPr>
        <p:spPr>
          <a:xfrm>
            <a:off x="11311128" y="5436108"/>
            <a:ext cx="880567" cy="14218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yebrow"/>
          <p:cNvSpPr txBox="1">
            <a:spLocks/>
          </p:cNvSpPr>
          <p:nvPr/>
        </p:nvSpPr>
        <p:spPr>
          <a:xfrm>
            <a:off x="621792" y="347472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1400" b="1">
                <a:solidFill>
                  <a:srgbClr val="FA500A"/>
                </a:solidFill>
                <a:latin typeface="Arial"/>
              </a:rPr>
              <a:t>MISTRAL STUDIO  •  AI PRODUCTION PLATFORM</a:t>
            </a:r>
          </a:p>
        </p:txBody>
      </p:sp>
      <p:sp>
        <p:nvSpPr>
          <p:cNvPr id="32" name="Opening title"/>
          <p:cNvSpPr txBox="1">
            <a:spLocks/>
          </p:cNvSpPr>
          <p:nvPr/>
        </p:nvSpPr>
        <p:spPr>
          <a:xfrm>
            <a:off x="621792" y="960120"/>
            <a:ext cx="690372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lang="en-US" sz="5200" b="1">
                <a:solidFill>
                  <a:srgbClr val="FFF8F3"/>
                </a:solidFill>
                <a:latin typeface="Arial"/>
              </a:rPr>
              <a:t>Put agentic AI
into </a:t>
            </a:r>
            <a:r>
              <a:rPr lang="en-US" sz="5200" b="1">
                <a:solidFill>
                  <a:srgbClr val="FA500A"/>
                </a:solidFill>
                <a:latin typeface="Arial"/>
              </a:rPr>
              <a:t>production</a:t>
            </a:r>
          </a:p>
        </p:txBody>
      </p:sp>
      <p:sp>
        <p:nvSpPr>
          <p:cNvPr id="33" name="Headline rule"/>
          <p:cNvSpPr/>
          <p:nvPr/>
        </p:nvSpPr>
        <p:spPr>
          <a:xfrm>
            <a:off x="621792" y="2724912"/>
            <a:ext cx="932688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tatement one"/>
          <p:cNvSpPr txBox="1"/>
          <p:nvPr/>
        </p:nvSpPr>
        <p:spPr>
          <a:xfrm>
            <a:off x="621792" y="2999232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8F3"/>
                </a:solidFill>
                <a:latin typeface="Arial"/>
              </a:rPr>
              <a:t>Model calls are easy.</a:t>
            </a:r>
          </a:p>
        </p:txBody>
      </p:sp>
      <p:sp>
        <p:nvSpPr>
          <p:cNvPr id="35" name="Statement two"/>
          <p:cNvSpPr txBox="1"/>
          <p:nvPr/>
        </p:nvSpPr>
        <p:spPr>
          <a:xfrm>
            <a:off x="621792" y="3401568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A500A"/>
                </a:solidFill>
                <a:latin typeface="Arial"/>
              </a:rPr>
              <a:t>Operating them is not.</a:t>
            </a:r>
          </a:p>
        </p:txBody>
      </p:sp>
      <p:sp>
        <p:nvSpPr>
          <p:cNvPr id="36" name="Support copy"/>
          <p:cNvSpPr txBox="1"/>
          <p:nvPr/>
        </p:nvSpPr>
        <p:spPr>
          <a:xfrm>
            <a:off x="621792" y="402336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D9CA"/>
                </a:solidFill>
                <a:latin typeface="Arial"/>
              </a:rPr>
              <a:t>Build, deploy and govern agents—with enterprise privacy, security and data ownership. Real workflows must survive failure, prove quality and control access.</a:t>
            </a:r>
          </a:p>
        </p:txBody>
      </p:sp>
      <p:sp>
        <p:nvSpPr>
          <p:cNvPr id="37" name="Primitive divider"/>
          <p:cNvSpPr/>
          <p:nvPr/>
        </p:nvSpPr>
        <p:spPr>
          <a:xfrm>
            <a:off x="621792" y="5010912"/>
            <a:ext cx="66751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rimitive 01 number"/>
          <p:cNvSpPr txBox="1"/>
          <p:nvPr/>
        </p:nvSpPr>
        <p:spPr>
          <a:xfrm>
            <a:off x="621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01</a:t>
            </a:r>
          </a:p>
        </p:txBody>
      </p:sp>
      <p:sp>
        <p:nvSpPr>
          <p:cNvPr id="39" name="Primitive 01 title"/>
          <p:cNvSpPr txBox="1"/>
          <p:nvPr/>
        </p:nvSpPr>
        <p:spPr>
          <a:xfrm>
            <a:off x="969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DURABLE EXECUTION</a:t>
            </a:r>
          </a:p>
        </p:txBody>
      </p:sp>
      <p:sp>
        <p:nvSpPr>
          <p:cNvPr id="40" name="Primitive 01 detail"/>
          <p:cNvSpPr txBox="1"/>
          <p:nvPr/>
        </p:nvSpPr>
        <p:spPr>
          <a:xfrm>
            <a:off x="969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persist state • retry • resume</a:t>
            </a:r>
          </a:p>
        </p:txBody>
      </p:sp>
      <p:sp>
        <p:nvSpPr>
          <p:cNvPr id="41" name="Primitive 02 number"/>
          <p:cNvSpPr txBox="1"/>
          <p:nvPr/>
        </p:nvSpPr>
        <p:spPr>
          <a:xfrm>
            <a:off x="2907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02</a:t>
            </a:r>
          </a:p>
        </p:txBody>
      </p:sp>
      <p:sp>
        <p:nvSpPr>
          <p:cNvPr id="42" name="Primitive 02 title"/>
          <p:cNvSpPr txBox="1"/>
          <p:nvPr/>
        </p:nvSpPr>
        <p:spPr>
          <a:xfrm>
            <a:off x="3255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EVALUATION</a:t>
            </a:r>
          </a:p>
        </p:txBody>
      </p:sp>
      <p:sp>
        <p:nvSpPr>
          <p:cNvPr id="43" name="Primitive 02 detail"/>
          <p:cNvSpPr txBox="1"/>
          <p:nvPr/>
        </p:nvSpPr>
        <p:spPr>
          <a:xfrm>
            <a:off x="3255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experiments • judges • datasets</a:t>
            </a:r>
          </a:p>
        </p:txBody>
      </p:sp>
      <p:sp>
        <p:nvSpPr>
          <p:cNvPr id="44" name="Primitive 03 number"/>
          <p:cNvSpPr txBox="1"/>
          <p:nvPr/>
        </p:nvSpPr>
        <p:spPr>
          <a:xfrm>
            <a:off x="510235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03</a:t>
            </a:r>
          </a:p>
        </p:txBody>
      </p:sp>
      <p:sp>
        <p:nvSpPr>
          <p:cNvPr id="45" name="Primitive 03 title"/>
          <p:cNvSpPr txBox="1"/>
          <p:nvPr/>
        </p:nvSpPr>
        <p:spPr>
          <a:xfrm>
            <a:off x="544982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GOVERNANCE</a:t>
            </a:r>
          </a:p>
        </p:txBody>
      </p:sp>
      <p:sp>
        <p:nvSpPr>
          <p:cNvPr id="46" name="Primitive 03 detail"/>
          <p:cNvSpPr txBox="1"/>
          <p:nvPr/>
        </p:nvSpPr>
        <p:spPr>
          <a:xfrm>
            <a:off x="544982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traces • guardrails • audit logs</a:t>
            </a:r>
          </a:p>
        </p:txBody>
      </p:sp>
      <p:sp>
        <p:nvSpPr>
          <p:cNvPr id="47" name="Deployment scope"/>
          <p:cNvSpPr txBox="1"/>
          <p:nvPr/>
        </p:nvSpPr>
        <p:spPr>
          <a:xfrm>
            <a:off x="621792" y="6080760"/>
            <a:ext cx="6720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ONE OPERATING LAYER  •  HYBRID  •  DEDICATED  •  SELF-HOSTED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621792" y="656539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7498079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HOW STUDIO WORKS  •  WHY STUDIO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804672"/>
            <a:ext cx="107899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>
                <a:solidFill>
                  <a:srgbClr val="FFF8F3"/>
                </a:solidFill>
                <a:latin typeface="Arial"/>
              </a:rPr>
              <a:t>One platform closes
the production loop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22902"/>
                </a:solidFill>
                <a:latin typeface="Arial"/>
              </a:rPr>
              <a:t>BUILD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Agents +
connectors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A500A"/>
                </a:solidFill>
                <a:latin typeface="Arial"/>
              </a:rPr>
              <a:t>ORCHESTRATE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Durable
workflows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18728"/>
                </a:solidFill>
                <a:latin typeface="Arial"/>
              </a:rPr>
              <a:t>EVALUATE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Experiments +
judges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7043"/>
                </a:solidFill>
                <a:latin typeface="Arial"/>
              </a:rPr>
              <a:t>DEPLOY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Hybrid • dedicated
Self-hosted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2902"/>
                </a:solidFill>
                <a:latin typeface="Arial"/>
              </a:rPr>
              <a:t>GOVERN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Traces • guardrails
• registry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CONNECT  •  BUILD ONCE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Built-in + custom enterprise
connectors; one codebase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RECOVER  •  DURABLE WORKFLOWS</a:t>
            </a: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State + retries + automatic
resume across restarts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CONTROL  •  GOVERNED SCALE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RBAC + SSO + workspaces +
traces + audit logs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BEST FIT  →  Hybrid • dedicated • self-hosted  •  one codebase  •  measurable quality  •  controlled production</a:t>
            </a: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A58B"/>
                </a:solidFill>
                <a:latin typeface="Arial"/>
              </a:rPr>
              <a:t>PROOF  •  CMA CGM: 200+ AI use cases identified and 55+ projects deployed on a Mistral-built stack (€100M, five-year partnership)</a:t>
            </a:r>
          </a:p>
        </p:txBody>
      </p:sp>
      <p:sp>
        <p:nvSpPr>
          <p:cNvPr id="63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4" name="Page number"/>
          <p:cNvSpPr txBox="1"/>
          <p:nvPr/>
        </p:nvSpPr>
        <p:spPr>
          <a:xfrm>
            <a:off x="111373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8065008" y="50292"/>
            <a:ext cx="1024128" cy="77724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089136" y="50292"/>
            <a:ext cx="694944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9784080" y="50292"/>
            <a:ext cx="1005840" cy="7772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10789920" y="50292"/>
            <a:ext cx="585216" cy="7772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11375136" y="50292"/>
            <a:ext cx="816559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8065008" y="827532"/>
            <a:ext cx="566928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8631936" y="827532"/>
            <a:ext cx="1188720" cy="950976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9820656" y="827532"/>
            <a:ext cx="749808" cy="95097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/>
          <p:nvPr/>
        </p:nvSpPr>
        <p:spPr>
          <a:xfrm>
            <a:off x="10570464" y="827532"/>
            <a:ext cx="1115568" cy="95097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osaic 10"/>
          <p:cNvSpPr>
            <a:spLocks/>
          </p:cNvSpPr>
          <p:nvPr/>
        </p:nvSpPr>
        <p:spPr>
          <a:xfrm>
            <a:off x="11686032" y="827532"/>
            <a:ext cx="505663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065008" y="1778508"/>
            <a:ext cx="1170432" cy="96926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/>
          <p:nvPr/>
        </p:nvSpPr>
        <p:spPr>
          <a:xfrm>
            <a:off x="9235440" y="1778508"/>
            <a:ext cx="658368" cy="96926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9893808" y="1778508"/>
            <a:ext cx="1380744" cy="96926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>
            <a:spLocks/>
          </p:cNvSpPr>
          <p:nvPr/>
        </p:nvSpPr>
        <p:spPr>
          <a:xfrm>
            <a:off x="11274552" y="1778508"/>
            <a:ext cx="917143" cy="96926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/>
          <p:nvPr/>
        </p:nvSpPr>
        <p:spPr>
          <a:xfrm>
            <a:off x="8065008" y="2747772"/>
            <a:ext cx="640080" cy="117043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8705088" y="2747772"/>
            <a:ext cx="960120" cy="117043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9665208" y="2747772"/>
            <a:ext cx="768096" cy="117043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10433304" y="2747772"/>
            <a:ext cx="1243584" cy="117043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11676888" y="2747772"/>
            <a:ext cx="514807" cy="117043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8065008" y="3918204"/>
            <a:ext cx="1307592" cy="10789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/>
          <p:nvPr/>
        </p:nvSpPr>
        <p:spPr>
          <a:xfrm>
            <a:off x="9372600" y="3918204"/>
            <a:ext cx="612648" cy="10789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osaic 22"/>
          <p:cNvSpPr>
            <a:spLocks/>
          </p:cNvSpPr>
          <p:nvPr/>
        </p:nvSpPr>
        <p:spPr>
          <a:xfrm>
            <a:off x="9985248" y="3918204"/>
            <a:ext cx="1024128" cy="10789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11009376" y="3918204"/>
            <a:ext cx="1182319" cy="10789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8065008" y="4997196"/>
            <a:ext cx="685800" cy="18608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8750808" y="4997196"/>
            <a:ext cx="1207008" cy="1860804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>
            <a:spLocks/>
          </p:cNvSpPr>
          <p:nvPr/>
        </p:nvSpPr>
        <p:spPr>
          <a:xfrm>
            <a:off x="9957816" y="4997196"/>
            <a:ext cx="768096" cy="18608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osaic 27"/>
          <p:cNvSpPr/>
          <p:nvPr/>
        </p:nvSpPr>
        <p:spPr>
          <a:xfrm>
            <a:off x="10725912" y="4997196"/>
            <a:ext cx="603504" cy="186080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28"/>
          <p:cNvSpPr/>
          <p:nvPr/>
        </p:nvSpPr>
        <p:spPr>
          <a:xfrm>
            <a:off x="11329416" y="4997196"/>
            <a:ext cx="862279" cy="18608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utcome field"/>
          <p:cNvSpPr/>
          <p:nvPr/>
        </p:nvSpPr>
        <p:spPr>
          <a:xfrm>
            <a:off x="8302752" y="896112"/>
            <a:ext cx="3456432" cy="361188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losing field"/>
          <p:cNvSpPr/>
          <p:nvPr/>
        </p:nvSpPr>
        <p:spPr>
          <a:xfrm>
            <a:off x="8302752" y="5248656"/>
            <a:ext cx="3456432" cy="80467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yebrow"/>
          <p:cNvSpPr txBox="1">
            <a:spLocks/>
          </p:cNvSpPr>
          <p:nvPr/>
        </p:nvSpPr>
        <p:spPr>
          <a:xfrm>
            <a:off x="621792" y="32004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NEXT STEP  •  FOUR-WEEK PILOT</a:t>
            </a:r>
          </a:p>
        </p:txBody>
      </p:sp>
      <p:sp>
        <p:nvSpPr>
          <p:cNvPr id="34" name="Closing title"/>
          <p:cNvSpPr txBox="1">
            <a:spLocks/>
          </p:cNvSpPr>
          <p:nvPr/>
        </p:nvSpPr>
        <p:spPr>
          <a:xfrm>
            <a:off x="621792" y="795528"/>
            <a:ext cx="696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>
                <a:solidFill>
                  <a:srgbClr val="FFF8F3"/>
                </a:solidFill>
                <a:latin typeface="Arial"/>
              </a:rPr>
              <a:t>Prove one workflow.
In four weeks.</a:t>
            </a:r>
          </a:p>
        </p:txBody>
      </p:sp>
      <p:sp>
        <p:nvSpPr>
          <p:cNvPr id="35" name="Title rule"/>
          <p:cNvSpPr/>
          <p:nvPr/>
        </p:nvSpPr>
        <p:spPr>
          <a:xfrm>
            <a:off x="621792" y="2221992"/>
            <a:ext cx="896112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 heading"/>
          <p:cNvSpPr txBox="1">
            <a:spLocks/>
          </p:cNvSpPr>
          <p:nvPr/>
        </p:nvSpPr>
        <p:spPr>
          <a:xfrm>
            <a:off x="621792" y="2496312"/>
            <a:ext cx="69037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FROM WORKSHOP TO GO / NO-GO</a:t>
            </a:r>
          </a:p>
        </p:txBody>
      </p:sp>
      <p:sp>
        <p:nvSpPr>
          <p:cNvPr id="37" name="WORKSHOP number"/>
          <p:cNvSpPr txBox="1">
            <a:spLocks/>
          </p:cNvSpPr>
          <p:nvPr/>
        </p:nvSpPr>
        <p:spPr>
          <a:xfrm>
            <a:off x="621792" y="295351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22902"/>
                </a:solidFill>
                <a:latin typeface="Arial"/>
              </a:rPr>
              <a:t>01</a:t>
            </a:r>
          </a:p>
        </p:txBody>
      </p:sp>
      <p:sp>
        <p:nvSpPr>
          <p:cNvPr id="38" name="WORKSHOP label"/>
          <p:cNvSpPr txBox="1"/>
          <p:nvPr/>
        </p:nvSpPr>
        <p:spPr>
          <a:xfrm>
            <a:off x="1078992" y="295351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WORKSHOP</a:t>
            </a:r>
          </a:p>
        </p:txBody>
      </p:sp>
      <p:sp>
        <p:nvSpPr>
          <p:cNvPr id="39" name="WORKSHOP description"/>
          <p:cNvSpPr txBox="1"/>
          <p:nvPr/>
        </p:nvSpPr>
        <p:spPr>
          <a:xfrm>
            <a:off x="2395728" y="2953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Choose workflow  •  Set baseline</a:t>
            </a:r>
          </a:p>
        </p:txBody>
      </p:sp>
      <p:sp>
        <p:nvSpPr>
          <p:cNvPr id="40" name="Path line 1"/>
          <p:cNvSpPr/>
          <p:nvPr/>
        </p:nvSpPr>
        <p:spPr>
          <a:xfrm>
            <a:off x="768096" y="3236976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EEK 1 number"/>
          <p:cNvSpPr txBox="1"/>
          <p:nvPr/>
        </p:nvSpPr>
        <p:spPr>
          <a:xfrm>
            <a:off x="621792" y="347472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02</a:t>
            </a:r>
          </a:p>
        </p:txBody>
      </p:sp>
      <p:sp>
        <p:nvSpPr>
          <p:cNvPr id="42" name="WEEK 1 label"/>
          <p:cNvSpPr txBox="1"/>
          <p:nvPr/>
        </p:nvSpPr>
        <p:spPr>
          <a:xfrm>
            <a:off x="1078992" y="3474720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1</a:t>
            </a:r>
          </a:p>
        </p:txBody>
      </p:sp>
      <p:sp>
        <p:nvSpPr>
          <p:cNvPr id="43" name="WEEK 1 description"/>
          <p:cNvSpPr txBox="1"/>
          <p:nvPr/>
        </p:nvSpPr>
        <p:spPr>
          <a:xfrm>
            <a:off x="2395728" y="3474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Connect data  •  Define controls</a:t>
            </a:r>
          </a:p>
        </p:txBody>
      </p:sp>
      <p:sp>
        <p:nvSpPr>
          <p:cNvPr id="44" name="Path line 2"/>
          <p:cNvSpPr/>
          <p:nvPr/>
        </p:nvSpPr>
        <p:spPr>
          <a:xfrm>
            <a:off x="768096" y="3758183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EEK 2 number"/>
          <p:cNvSpPr txBox="1"/>
          <p:nvPr/>
        </p:nvSpPr>
        <p:spPr>
          <a:xfrm>
            <a:off x="621792" y="39959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03</a:t>
            </a:r>
          </a:p>
        </p:txBody>
      </p:sp>
      <p:sp>
        <p:nvSpPr>
          <p:cNvPr id="46" name="WEEK 2 label"/>
          <p:cNvSpPr txBox="1"/>
          <p:nvPr/>
        </p:nvSpPr>
        <p:spPr>
          <a:xfrm>
            <a:off x="1078992" y="39959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2</a:t>
            </a:r>
          </a:p>
        </p:txBody>
      </p:sp>
      <p:sp>
        <p:nvSpPr>
          <p:cNvPr id="47" name="WEEK 2 description"/>
          <p:cNvSpPr txBox="1"/>
          <p:nvPr/>
        </p:nvSpPr>
        <p:spPr>
          <a:xfrm>
            <a:off x="2395728" y="3995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Build workflow  •  Trace failures</a:t>
            </a:r>
          </a:p>
        </p:txBody>
      </p:sp>
      <p:sp>
        <p:nvSpPr>
          <p:cNvPr id="48" name="Path line 3"/>
          <p:cNvSpPr/>
          <p:nvPr/>
        </p:nvSpPr>
        <p:spPr>
          <a:xfrm>
            <a:off x="768096" y="4279392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EEK 3 number"/>
          <p:cNvSpPr txBox="1"/>
          <p:nvPr/>
        </p:nvSpPr>
        <p:spPr>
          <a:xfrm>
            <a:off x="621792" y="451713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04</a:t>
            </a:r>
          </a:p>
        </p:txBody>
      </p:sp>
      <p:sp>
        <p:nvSpPr>
          <p:cNvPr id="50" name="WEEK 3 label"/>
          <p:cNvSpPr txBox="1"/>
          <p:nvPr/>
        </p:nvSpPr>
        <p:spPr>
          <a:xfrm>
            <a:off x="1078992" y="4517136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3</a:t>
            </a:r>
          </a:p>
        </p:txBody>
      </p:sp>
      <p:sp>
        <p:nvSpPr>
          <p:cNvPr id="51" name="WEEK 3 description"/>
          <p:cNvSpPr txBox="1"/>
          <p:nvPr/>
        </p:nvSpPr>
        <p:spPr>
          <a:xfrm>
            <a:off x="2395728" y="45171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Run evals  •  Review security</a:t>
            </a:r>
          </a:p>
        </p:txBody>
      </p:sp>
      <p:sp>
        <p:nvSpPr>
          <p:cNvPr id="52" name="Path line 4"/>
          <p:cNvSpPr/>
          <p:nvPr/>
        </p:nvSpPr>
        <p:spPr>
          <a:xfrm>
            <a:off x="768096" y="4800599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EEK 4 number"/>
          <p:cNvSpPr txBox="1"/>
          <p:nvPr/>
        </p:nvSpPr>
        <p:spPr>
          <a:xfrm>
            <a:off x="621792" y="50383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2902"/>
                </a:solidFill>
                <a:latin typeface="Arial"/>
              </a:rPr>
              <a:t>05</a:t>
            </a:r>
          </a:p>
        </p:txBody>
      </p:sp>
      <p:sp>
        <p:nvSpPr>
          <p:cNvPr id="54" name="WEEK 4 label"/>
          <p:cNvSpPr txBox="1"/>
          <p:nvPr/>
        </p:nvSpPr>
        <p:spPr>
          <a:xfrm>
            <a:off x="1078992" y="50383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4</a:t>
            </a:r>
          </a:p>
        </p:txBody>
      </p:sp>
      <p:sp>
        <p:nvSpPr>
          <p:cNvPr id="55" name="WEEK 4 description"/>
          <p:cNvSpPr txBox="1"/>
          <p:nvPr/>
        </p:nvSpPr>
        <p:spPr>
          <a:xfrm>
            <a:off x="2395728" y="50383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Compare results  •  Go / no-go</a:t>
            </a:r>
          </a:p>
        </p:txBody>
      </p:sp>
      <p:sp>
        <p:nvSpPr>
          <p:cNvPr id="56" name="Lower divider"/>
          <p:cNvSpPr/>
          <p:nvPr/>
        </p:nvSpPr>
        <p:spPr>
          <a:xfrm>
            <a:off x="621792" y="5641848"/>
            <a:ext cx="69037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Bring heading"/>
          <p:cNvSpPr txBox="1"/>
          <p:nvPr/>
        </p:nvSpPr>
        <p:spPr>
          <a:xfrm>
            <a:off x="621792" y="5833872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BRING</a:t>
            </a:r>
          </a:p>
        </p:txBody>
      </p:sp>
      <p:sp>
        <p:nvSpPr>
          <p:cNvPr id="58" name="Bring list"/>
          <p:cNvSpPr txBox="1"/>
          <p:nvPr/>
        </p:nvSpPr>
        <p:spPr>
          <a:xfrm>
            <a:off x="1444752" y="5815584"/>
            <a:ext cx="6053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Workflow owner  •  Platform lead  •  Security owner  •  Developer</a:t>
            </a:r>
          </a:p>
        </p:txBody>
      </p:sp>
      <p:sp>
        <p:nvSpPr>
          <p:cNvPr id="59" name="Proof"/>
          <p:cNvSpPr txBox="1"/>
          <p:nvPr/>
        </p:nvSpPr>
        <p:spPr>
          <a:xfrm>
            <a:off x="621792" y="6318504"/>
            <a:ext cx="6967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3A58B"/>
                </a:solidFill>
                <a:latin typeface="Arial"/>
              </a:rPr>
              <a:t>PROVEN AT SCALE  •  CMA CGM: 55+ deployed AI projects on a Mistral-built stack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1" name="Page number"/>
          <p:cNvSpPr txBox="1"/>
          <p:nvPr/>
        </p:nvSpPr>
        <p:spPr>
          <a:xfrm>
            <a:off x="74797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03</a:t>
            </a:r>
          </a:p>
        </p:txBody>
      </p:sp>
      <p:sp>
        <p:nvSpPr>
          <p:cNvPr id="62" name="Exit heading"/>
          <p:cNvSpPr txBox="1"/>
          <p:nvPr/>
        </p:nvSpPr>
        <p:spPr>
          <a:xfrm>
            <a:off x="8558784" y="1005840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EXIT WITH</a:t>
            </a:r>
          </a:p>
        </p:txBody>
      </p:sp>
      <p:sp>
        <p:nvSpPr>
          <p:cNvPr id="63" name="Outcome hero"/>
          <p:cNvSpPr txBox="1"/>
          <p:nvPr/>
        </p:nvSpPr>
        <p:spPr>
          <a:xfrm>
            <a:off x="8558784" y="1399032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8F3"/>
                </a:solidFill>
                <a:latin typeface="Arial"/>
              </a:rPr>
              <a:t>GO / NO-GO
EVIDENCE</a:t>
            </a:r>
          </a:p>
        </p:txBody>
      </p:sp>
      <p:sp>
        <p:nvSpPr>
          <p:cNvPr id="64" name="Outcome rule"/>
          <p:cNvSpPr/>
          <p:nvPr/>
        </p:nvSpPr>
        <p:spPr>
          <a:xfrm>
            <a:off x="8558784" y="2587752"/>
            <a:ext cx="960120" cy="41148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utcome list"/>
          <p:cNvSpPr txBox="1"/>
          <p:nvPr/>
        </p:nvSpPr>
        <p:spPr>
          <a:xfrm>
            <a:off x="8558784" y="2889504"/>
            <a:ext cx="2871216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8F3"/>
                </a:solidFill>
                <a:latin typeface="Arial"/>
              </a:rPr>
              <a:t>Working workflow
Eval baseline
Deployment plan</a:t>
            </a:r>
          </a:p>
        </p:txBody>
      </p:sp>
      <p:sp>
        <p:nvSpPr>
          <p:cNvPr id="66" name="Closing line"/>
          <p:cNvSpPr txBox="1"/>
          <p:nvPr/>
        </p:nvSpPr>
        <p:spPr>
          <a:xfrm>
            <a:off x="8558784" y="5404104"/>
            <a:ext cx="287121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ONE WORKFLOW.
A DECISION TO SCALE.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523</Words>
  <Application>Microsoft Office PowerPoint</Application>
  <PresentationFormat>Widescreen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Core Sales Deck</dc:title>
  <dc:subject>Core Sales Deck for Enterprise and Field Enablement</dc:subject>
  <dc:creator>Shiv, Prospective PMM, Mistral Studio</dc:creator>
  <cp:lastModifiedBy>Shivam Singh</cp:lastModifiedBy>
  <cp:revision>11</cp:revision>
  <ns2:created xsi:type="dcterms:W3CDTF">2026-08-16T18:10:44Z</ns2:created>
  <ns2:modified xsi:type="dcterms:W3CDTF">2026-08-16T21:39:06Z</ns2:modified>
  <cp:keywords>mistral-studio, sales-deck, enterprise, enablement</cp:keywords>
</cp:coreProperties>
</file>