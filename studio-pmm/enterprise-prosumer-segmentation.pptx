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67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7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594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
- https://docs.mistral.ai/studio-api/workflows/building-workflows/workflows
- https://docs.mistral.ai/studio-api/workflows/getting-started/overview
- https://mistral.ai/news/ai-studio/
- https://docs.mistral.ai/studio-api/workflows/building-workflows/durable_agents
- https://docs.mistral.ai/studio-api/workflows/building-workflows/connectors
- https://docs.mistral.ai/studio-api/agents/agents-api
- https://docs.mistral.ai/studio-api/overview
- https://docs.mistral.ai/studio-api/workflows/observability
- https://docs.mistral.ai/studio-api/safety-moderation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https://mistral.ai/customers/asml/
- https://mistral.ai/customers/cisco/
- https://mistral.ai/customers/epo/
- https://mistral.ai/customers/cma-cgm/
- https://mistral.ai/customers/axa/
- https://mistral.ai/customers/airbus/
- https://mistral.ai/customers/stellantis/
- https://mistral.ai/customers/veolia/
- https://mistral.ai/customers/hsbc/
- https://mistral.ai/customers/sncf/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
- https://docs.mistral.ai/studio-api/workflows/building-workflows/workflows
- https://docs.mistral.ai/studio-api/workflows/getting-started/overview
- https://mistral.ai/news/ai-studio/
- https://docs.mistral.ai/studio-api/workflows/building-workflows/durable_agents
- https://docs.mistral.ai/studio-api/workflows/building-workflows/connectors
- https://docs.mistral.ai/studio-api/agents/agents-api
- https://docs.mistral.ai/studio-api/overview
- https://docs.mistral.ai/studio-api/workflows/observability
- https://docs.mistral.ai/studio-api/safety-moderation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AE74B5BA-E96D-D651-B64C-7F2A0D5C4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Image-theme field D91B0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91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621792" y="1353312"/>
            <a:ext cx="73152" cy="2761488"/>
          </a:xfrm>
          <a:prstGeom prst="rect">
            <a:avLst/>
          </a:prstGeom>
          <a:solidFill>
            <a:srgbClr val="FF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932688" y="1353312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FE2D2"/>
                </a:solidFill>
                <a:latin typeface="Arial"/>
              </a:rPr>
              <a:t>Mistral Studio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914400" y="1755648"/>
            <a:ext cx="7818120" cy="1444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600" b="1" i="0">
                <a:solidFill>
                  <a:srgbClr val="FFFFFF"/>
                </a:solidFill>
                <a:latin typeface="Arial"/>
              </a:rPr>
              <a:t>Prosumer Persona
Segmentation Framework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932688" y="3493008"/>
            <a:ext cx="713232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0">
                <a:solidFill>
                  <a:srgbClr val="FFE2D2"/>
                </a:solidFill>
                <a:latin typeface="Arial"/>
              </a:rPr>
              <a:t>Customer model to qualify, activate and convert Studio builders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62288" y="1307592"/>
            <a:ext cx="2286000" cy="12070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0" b="1" i="0">
                <a:solidFill>
                  <a:srgbClr val="FFE2D2"/>
                </a:solidFill>
                <a:latin typeface="Arial"/>
              </a:rPr>
              <a:t>01</a:t>
            </a:r>
            <a:endParaRPr sz="11200" b="1" i="0">
              <a:solidFill>
                <a:srgbClr val="292929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253728" y="2980944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 i="0">
                <a:solidFill>
                  <a:srgbClr val="FFFFFF"/>
                </a:solidFill>
                <a:latin typeface="Arial"/>
              </a:rPr>
              <a:t>QUALIFY</a:t>
            </a:r>
            <a:endParaRPr lang="en-US" sz="1600" b="1" i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253728" y="3346704"/>
            <a:ext cx="420624" cy="36576"/>
          </a:xfrm>
          <a:prstGeom prst="rect">
            <a:avLst/>
          </a:prstGeom>
          <a:solidFill>
            <a:srgbClr val="FF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53728" y="3767328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 i="0">
                <a:solidFill>
                  <a:srgbClr val="FFFFFF"/>
                </a:solidFill>
                <a:latin typeface="Arial"/>
              </a:rPr>
              <a:t>ACTIVATE</a:t>
            </a:r>
            <a:endParaRPr lang="en-US" sz="1600" b="1" i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53728" y="4133087"/>
            <a:ext cx="420624" cy="36576"/>
          </a:xfrm>
          <a:prstGeom prst="rect">
            <a:avLst/>
          </a:prstGeom>
          <a:solidFill>
            <a:srgbClr val="FF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53728" y="455371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 i="0">
                <a:solidFill>
                  <a:srgbClr val="FFFFFF"/>
                </a:solidFill>
                <a:latin typeface="Arial"/>
              </a:rPr>
              <a:t>CONVERT</a:t>
            </a:r>
            <a:endParaRPr lang="en-US" sz="1600" b="1" i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0352" y="6437376"/>
            <a:ext cx="402336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FFE2D2"/>
                </a:solidFill>
                <a:latin typeface="Arial"/>
              </a:rPr>
              <a:t>MISTRAL STUDIO  •  PROSUMER SEGMENTATION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E2D2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7B34A4C9-F032-A156-4AEA-6C0006726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9" name="Image-theme field FFF4EC"/>
          <p:cNvSpPr/>
          <p:nvPr/>
        </p:nvSpPr>
        <p:spPr>
          <a:xfrm>
            <a:off x="0" y="1207008"/>
            <a:ext cx="12191695" cy="5650992"/>
          </a:xfrm>
          <a:prstGeom prst="rect">
            <a:avLst/>
          </a:prstGeom>
          <a:solidFill>
            <a:srgbClr val="FF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Image-theme field FF9B35"/>
          <p:cNvSpPr/>
          <p:nvPr/>
        </p:nvSpPr>
        <p:spPr>
          <a:xfrm>
            <a:off x="0" y="1179576"/>
            <a:ext cx="12191695" cy="45720"/>
          </a:xfrm>
          <a:prstGeom prst="rect">
            <a:avLst/>
          </a:prstGeom>
          <a:solidFill>
            <a:srgbClr val="FF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>
            <a:spLocks/>
          </p:cNvSpPr>
          <p:nvPr/>
        </p:nvSpPr>
        <p:spPr>
          <a:xfrm>
            <a:off x="566928" y="182880"/>
            <a:ext cx="107899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FE2D2"/>
                </a:solidFill>
                <a:latin typeface="Arial"/>
              </a:rPr>
              <a:t>PROSUMER SEGMENTS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429768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FFFFFF"/>
                </a:solidFill>
                <a:latin typeface="Arial"/>
              </a:rPr>
              <a:t>Score builders on six enterprise-pull signals, then assign segment and gate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30352" y="6437376"/>
            <a:ext cx="402336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6B3A2C"/>
                </a:solidFill>
                <a:latin typeface="Arial"/>
              </a:rPr>
              <a:t>MISTRAL STUDIO  •  PROSUMER SEGMENTATION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11155680" y="640080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53000"/>
                </a:solidFill>
                <a:latin typeface="Arial"/>
              </a:rPr>
              <a:t>02</a:t>
            </a: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658368" y="1362456"/>
            <a:ext cx="137160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 i="0">
                <a:solidFill>
                  <a:srgbClr val="6B3A2C"/>
                </a:solidFill>
                <a:latin typeface="Arial"/>
              </a:rPr>
              <a:t>PRIORITY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2240280" y="1362456"/>
            <a:ext cx="553212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 i="0">
                <a:solidFill>
                  <a:srgbClr val="6B3A2C"/>
                </a:solidFill>
                <a:latin typeface="Arial"/>
              </a:rPr>
              <a:t>PERSONA + WEDGE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8183879" y="1362456"/>
            <a:ext cx="324612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 i="0">
                <a:solidFill>
                  <a:srgbClr val="6B3A2C"/>
                </a:solidFill>
                <a:latin typeface="Arial"/>
              </a:rPr>
              <a:t>SCORE + REQUIRED 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636776"/>
            <a:ext cx="11018520" cy="10972"/>
          </a:xfrm>
          <a:prstGeom prst="rect">
            <a:avLst/>
          </a:prstGeom>
          <a:solidFill>
            <a:srgbClr val="F1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773936"/>
            <a:ext cx="530352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b="1" i="0">
                <a:solidFill>
                  <a:srgbClr val="F53000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1243584" y="1865376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 i="0">
                <a:solidFill>
                  <a:srgbClr val="F53000"/>
                </a:solidFill>
                <a:latin typeface="Arial"/>
              </a:rPr>
              <a:t>LEAD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2240280" y="1755648"/>
            <a:ext cx="544068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26120D"/>
                </a:solidFill>
                <a:latin typeface="Arial"/>
              </a:rPr>
              <a:t>Studio Champion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2240280" y="2167128"/>
            <a:ext cx="541324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>
                <a:solidFill>
                  <a:srgbClr val="6B3A2C"/>
                </a:solidFill>
                <a:latin typeface="Arial"/>
              </a:rPr>
              <a:t>AI/ML engineer or platform lead building a repeatable workflow. Signals: builder depth, team reuse, platform pull, control need, production path.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8183879" y="1755648"/>
            <a:ext cx="3127248" cy="932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sz="1800" b="1">
                <a:solidFill>
                  <a:srgbClr val="F53000"/>
                </a:solidFill>
                <a:latin typeface="Arial"/>
              </a:rPr>
              <a:t>5–6 points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50" b="1">
                <a:solidFill>
                  <a:srgbClr val="26120D"/>
                </a:solidFill>
                <a:latin typeface="Arial"/>
              </a:rPr>
              <a:t>Team pull + control or production intent required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072384"/>
            <a:ext cx="11018520" cy="10972"/>
          </a:xfrm>
          <a:prstGeom prst="rect">
            <a:avLst/>
          </a:prstGeom>
          <a:solidFill>
            <a:srgbClr val="F1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658368" y="3264408"/>
            <a:ext cx="530352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b="1" i="0">
                <a:solidFill>
                  <a:srgbClr val="FF6900"/>
                </a:solidFill>
                <a:latin typeface="Arial"/>
              </a:rPr>
              <a:t>02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1243584" y="3355848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 i="0">
                <a:solidFill>
                  <a:srgbClr val="FF6900"/>
                </a:solidFill>
                <a:latin typeface="Arial"/>
              </a:rPr>
              <a:t>EXPAND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2240280" y="3246120"/>
            <a:ext cx="544068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26120D"/>
                </a:solidFill>
                <a:latin typeface="Arial"/>
              </a:rPr>
              <a:t>Workflow Prosumer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2240280" y="3657600"/>
            <a:ext cx="541324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>
                <a:solidFill>
                  <a:srgbClr val="6B3A2C"/>
                </a:solidFill>
                <a:latin typeface="Arial"/>
              </a:rPr>
              <a:t>Technical operator automating a recurring, data-rich task. Signals: repeated business-critical work, repeat use with eval discipline.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8183879" y="3246120"/>
            <a:ext cx="3127248" cy="932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sz="1800" b="1">
                <a:solidFill>
                  <a:srgbClr val="FF6900"/>
                </a:solidFill>
                <a:latin typeface="Arial"/>
              </a:rPr>
              <a:t>3–4 points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50" b="1">
                <a:solidFill>
                  <a:srgbClr val="26120D"/>
                </a:solidFill>
                <a:latin typeface="Arial"/>
              </a:rPr>
              <a:t>Repeat use required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480560"/>
            <a:ext cx="11018520" cy="10972"/>
          </a:xfrm>
          <a:prstGeom prst="rect">
            <a:avLst/>
          </a:prstGeom>
          <a:solidFill>
            <a:srgbClr val="F1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658368" y="4681728"/>
            <a:ext cx="530352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b="1" i="0">
                <a:solidFill>
                  <a:srgbClr val="B91500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1243584" y="4773168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 i="0">
                <a:solidFill>
                  <a:srgbClr val="B91500"/>
                </a:solidFill>
                <a:latin typeface="Arial"/>
              </a:rPr>
              <a:t>SEED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2240280" y="4663440"/>
            <a:ext cx="544068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26120D"/>
                </a:solidFill>
                <a:latin typeface="Arial"/>
              </a:rPr>
              <a:t>Studio Explorer</a:t>
            </a:r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2240280" y="5074920"/>
            <a:ext cx="541324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>
                <a:solidFill>
                  <a:srgbClr val="6B3A2C"/>
                </a:solidFill>
                <a:latin typeface="Arial"/>
              </a:rPr>
              <a:t>Developer testing templates, models and first workflows. Signal: first successful Studio workflow, not yet repeated.</a:t>
            </a:r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8183879" y="4663440"/>
            <a:ext cx="3127248" cy="932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sz="1800" b="1">
                <a:solidFill>
                  <a:srgbClr val="B91500"/>
                </a:solidFill>
                <a:latin typeface="Arial"/>
              </a:rPr>
              <a:t>0–2 points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50" b="1">
                <a:solidFill>
                  <a:srgbClr val="26120D"/>
                </a:solidFill>
                <a:latin typeface="Arial"/>
              </a:rPr>
              <a:t>No repeat use yet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870448"/>
            <a:ext cx="10835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1" i="0">
                <a:solidFill>
                  <a:srgbClr val="26120D"/>
                </a:solidFill>
                <a:latin typeface="Arial"/>
              </a:rPr>
              <a:t>1 point each: role  •  use case  •  activation  •  proof  •  influence  •  scale</a:t>
            </a:r>
            <a:endParaRPr sz="1500" b="1" i="0">
              <a:solidFill>
                <a:srgbClr val="0E0E0E"/>
              </a:solidFill>
              <a:latin typeface="Arial"/>
            </a:endParaRPr>
          </a:p>
        </p:txBody>
      </p:sp>
      <p:sp>
        <p:nvSpPr>
          <p:cNvPr id="33" name="Header accent rule"/>
          <p:cNvSpPr/>
          <p:nvPr/>
        </p:nvSpPr>
        <p:spPr>
          <a:xfrm>
            <a:off x="310896" y="182880"/>
            <a:ext cx="50292" cy="896112"/>
          </a:xfrm>
          <a:prstGeom prst="rect">
            <a:avLst/>
          </a:prstGeom>
          <a:solidFill>
            <a:srgbClr val="FFE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5D924568-8A25-685D-73F2-EC3549127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3" name="Image-theme field FFF4EC"/>
          <p:cNvSpPr/>
          <p:nvPr/>
        </p:nvSpPr>
        <p:spPr>
          <a:xfrm>
            <a:off x="0" y="1207008"/>
            <a:ext cx="12191695" cy="5650992"/>
          </a:xfrm>
          <a:prstGeom prst="rect">
            <a:avLst/>
          </a:prstGeom>
          <a:solidFill>
            <a:srgbClr val="FF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4" name="Image-theme field FF9B35"/>
          <p:cNvSpPr/>
          <p:nvPr/>
        </p:nvSpPr>
        <p:spPr>
          <a:xfrm>
            <a:off x="0" y="1179576"/>
            <a:ext cx="12191695" cy="45720"/>
          </a:xfrm>
          <a:prstGeom prst="rect">
            <a:avLst/>
          </a:prstGeom>
          <a:solidFill>
            <a:srgbClr val="FF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>
            <a:spLocks/>
          </p:cNvSpPr>
          <p:nvPr/>
        </p:nvSpPr>
        <p:spPr>
          <a:xfrm>
            <a:off x="566928" y="182880"/>
            <a:ext cx="107899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FE2D2"/>
                </a:solidFill>
                <a:latin typeface="Arial"/>
              </a:rPr>
              <a:t>PROSUMER → ENTERPRISE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429768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 dirty="0">
                <a:solidFill>
                  <a:srgbClr val="FFFFFF"/>
                </a:solidFill>
                <a:latin typeface="Arial"/>
              </a:rPr>
              <a:t>Convert prosumer success into role-specific proof, and instrument the events that prove it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30352" y="6437376"/>
            <a:ext cx="402336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6B3A2C"/>
                </a:solidFill>
                <a:latin typeface="Arial"/>
              </a:rPr>
              <a:t>MISTRAL STUDIO  •  PROSUMER SEGMENTATION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11155680" y="640080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53000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658368" y="1362456"/>
            <a:ext cx="196596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 i="0">
                <a:solidFill>
                  <a:srgbClr val="6B3A2C"/>
                </a:solidFill>
                <a:latin typeface="Arial"/>
              </a:rPr>
              <a:t>ROLE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2788920" y="1362456"/>
            <a:ext cx="274320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 i="0">
                <a:solidFill>
                  <a:srgbClr val="6B3A2C"/>
                </a:solidFill>
                <a:latin typeface="Arial"/>
              </a:rPr>
              <a:t>DECISION BLOCKER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5806440" y="1362456"/>
            <a:ext cx="370332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 i="0">
                <a:solidFill>
                  <a:srgbClr val="6B3A2C"/>
                </a:solidFill>
                <a:latin typeface="Arial"/>
              </a:rPr>
              <a:t>REQUIRED PROOF + MEASURE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9738360" y="1362456"/>
            <a:ext cx="178308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 i="0">
                <a:solidFill>
                  <a:srgbClr val="6B3A2C"/>
                </a:solidFill>
                <a:latin typeface="Arial"/>
              </a:rPr>
              <a:t>HANDOFF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636776"/>
            <a:ext cx="11018520" cy="10972"/>
          </a:xfrm>
          <a:prstGeom prst="rect">
            <a:avLst/>
          </a:prstGeom>
          <a:solidFill>
            <a:srgbClr val="F1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658368" y="1755648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b="1" i="0">
                <a:solidFill>
                  <a:srgbClr val="F53000"/>
                </a:solidFill>
                <a:latin typeface="Arial"/>
              </a:rPr>
              <a:t>Prosumer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658368" y="2039112"/>
            <a:ext cx="19659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b="0" i="0">
                <a:solidFill>
                  <a:srgbClr val="6B3A2C"/>
                </a:solidFill>
                <a:latin typeface="Arial"/>
              </a:rPr>
              <a:t>AI / ML engineer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2788920" y="1755648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>
                <a:solidFill>
                  <a:srgbClr val="26120D"/>
                </a:solidFill>
                <a:latin typeface="Arial"/>
              </a:rPr>
              <a:t>First workflow is brittle or hard to evaluate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806440" y="1746504"/>
            <a:ext cx="37033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1" i="0">
                <a:solidFill>
                  <a:srgbClr val="26120D"/>
                </a:solidFill>
                <a:latin typeface="Arial"/>
              </a:rPr>
              <a:t>Reusable workflow + eval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150" b="0" i="0">
                <a:solidFill>
                  <a:srgbClr val="6B3A2C"/>
                </a:solidFill>
                <a:latin typeface="Arial"/>
              </a:rPr>
              <a:t>Measure: time to first successful workflow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9738360" y="1755648"/>
            <a:ext cx="178308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26120D"/>
                </a:solidFill>
                <a:latin typeface="Arial"/>
              </a:rPr>
              <a:t>Quickstart + eval kit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459736"/>
            <a:ext cx="11018520" cy="10972"/>
          </a:xfrm>
          <a:prstGeom prst="rect">
            <a:avLst/>
          </a:prstGeom>
          <a:solidFill>
            <a:srgbClr val="F1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658368" y="2569464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b="1" i="0">
                <a:solidFill>
                  <a:srgbClr val="FF6900"/>
                </a:solidFill>
                <a:latin typeface="Arial"/>
              </a:rPr>
              <a:t>Platform champion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658368" y="2852928"/>
            <a:ext cx="19659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b="0" i="0">
                <a:solidFill>
                  <a:srgbClr val="6B3A2C"/>
                </a:solidFill>
                <a:latin typeface="Arial"/>
              </a:rPr>
              <a:t>AI Platform Lead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2788920" y="2569464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>
                <a:solidFill>
                  <a:srgbClr val="26120D"/>
                </a:solidFill>
                <a:latin typeface="Arial"/>
              </a:rPr>
              <a:t>Teams duplicate tooling; governance diverges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5806440" y="2560320"/>
            <a:ext cx="37033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1" i="0">
                <a:solidFill>
                  <a:srgbClr val="26120D"/>
                </a:solidFill>
                <a:latin typeface="Arial"/>
              </a:rPr>
              <a:t>Shared registry + observability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150" b="0" i="0">
                <a:solidFill>
                  <a:srgbClr val="6B3A2C"/>
                </a:solidFill>
                <a:latin typeface="Arial"/>
              </a:rPr>
              <a:t>Measure: return build, reuse, teammate invite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9738360" y="2569464"/>
            <a:ext cx="178308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26120D"/>
                </a:solidFill>
                <a:latin typeface="Arial"/>
              </a:rPr>
              <a:t>Architecture workshop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273552"/>
            <a:ext cx="11018520" cy="10972"/>
          </a:xfrm>
          <a:prstGeom prst="rect">
            <a:avLst/>
          </a:prstGeom>
          <a:solidFill>
            <a:srgbClr val="F1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658368" y="3383280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b="1" i="0">
                <a:solidFill>
                  <a:srgbClr val="B91500"/>
                </a:solidFill>
                <a:latin typeface="Arial"/>
              </a:rPr>
              <a:t>Economic buyer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658368" y="3666744"/>
            <a:ext cx="19659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b="0" i="0">
                <a:solidFill>
                  <a:srgbClr val="6B3A2C"/>
                </a:solidFill>
                <a:latin typeface="Arial"/>
              </a:rPr>
              <a:t>CTO / CIO / CDO</a:t>
            </a:r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2788920" y="3383280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>
                <a:solidFill>
                  <a:srgbClr val="26120D"/>
                </a:solidFill>
                <a:latin typeface="Arial"/>
              </a:rPr>
              <a:t>Pilot value and control are unclear</a:t>
            </a:r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5806440" y="3374136"/>
            <a:ext cx="37033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1" i="0">
                <a:solidFill>
                  <a:srgbClr val="26120D"/>
                </a:solidFill>
                <a:latin typeface="Arial"/>
              </a:rPr>
              <a:t>Production path + ROI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150" b="0" i="0">
                <a:solidFill>
                  <a:srgbClr val="6B3A2C"/>
                </a:solidFill>
                <a:latin typeface="Arial"/>
              </a:rPr>
              <a:t>Measure: production use and workspace expansion</a:t>
            </a: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9738360" y="3383280"/>
            <a:ext cx="178308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26120D"/>
                </a:solidFill>
                <a:latin typeface="Arial"/>
              </a:rPr>
              <a:t>Pilot decision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4087368"/>
            <a:ext cx="11018520" cy="10972"/>
          </a:xfrm>
          <a:prstGeom prst="rect">
            <a:avLst/>
          </a:prstGeom>
          <a:solidFill>
            <a:srgbClr val="F1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>
            <a:spLocks/>
          </p:cNvSpPr>
          <p:nvPr/>
        </p:nvSpPr>
        <p:spPr>
          <a:xfrm>
            <a:off x="658368" y="4197096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b="1" i="0">
                <a:solidFill>
                  <a:srgbClr val="F53000"/>
                </a:solidFill>
                <a:latin typeface="Arial"/>
              </a:rPr>
              <a:t>Security approver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480559"/>
            <a:ext cx="19659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b="0" i="0">
                <a:solidFill>
                  <a:srgbClr val="6B3A2C"/>
                </a:solidFill>
                <a:latin typeface="Arial"/>
              </a:rPr>
              <a:t>Security / Governance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4197096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>
                <a:solidFill>
                  <a:srgbClr val="26120D"/>
                </a:solidFill>
                <a:latin typeface="Arial"/>
              </a:rPr>
              <a:t>Data, secrets, policy and audit 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4187952"/>
            <a:ext cx="37033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1" i="0">
                <a:solidFill>
                  <a:srgbClr val="26120D"/>
                </a:solidFill>
                <a:latin typeface="Arial"/>
              </a:rPr>
              <a:t>Traceability + guardrails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150" b="0" i="0">
                <a:solidFill>
                  <a:srgbClr val="6B3A2C"/>
                </a:solidFill>
                <a:latin typeface="Arial"/>
              </a:rPr>
              <a:t>Measure: eval, security and deployment 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4197096"/>
            <a:ext cx="178308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26120D"/>
                </a:solidFill>
                <a:latin typeface="Arial"/>
              </a:rPr>
              <a:t>Security review</a:t>
            </a:r>
            <a:endParaRPr sz="1400" b="0" i="0">
              <a:solidFill>
                <a:srgbClr val="0E0E0E"/>
              </a:solidFill>
              <a:latin typeface="Arial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94360" y="4901184"/>
            <a:ext cx="11018520" cy="10972"/>
          </a:xfrm>
          <a:prstGeom prst="rect">
            <a:avLst/>
          </a:prstGeom>
          <a:solidFill>
            <a:srgbClr val="F1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" y="5010912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b="1" i="0">
                <a:solidFill>
                  <a:srgbClr val="FF6900"/>
                </a:solidFill>
                <a:latin typeface="Arial"/>
              </a:rPr>
              <a:t>Outcome owner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294376"/>
            <a:ext cx="19659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b="0" i="0">
                <a:solidFill>
                  <a:srgbClr val="6B3A2C"/>
                </a:solidFill>
                <a:latin typeface="Arial"/>
              </a:rPr>
              <a:t>Line-of-business leader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8920" y="5010912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>
                <a:solidFill>
                  <a:srgbClr val="26120D"/>
                </a:solidFill>
                <a:latin typeface="Arial"/>
              </a:rPr>
              <a:t>Workflow impact is unproven</a:t>
            </a:r>
            <a:endParaRPr sz="1400" b="0" i="0">
              <a:solidFill>
                <a:srgbClr val="0E0E0E"/>
              </a:solidFill>
              <a:latin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806440" y="5001768"/>
            <a:ext cx="37033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1" i="0">
                <a:solidFill>
                  <a:srgbClr val="26120D"/>
                </a:solidFill>
                <a:latin typeface="Arial"/>
              </a:rPr>
              <a:t>Cycle time, quality or productivity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150" b="0" i="0">
                <a:solidFill>
                  <a:srgbClr val="6B3A2C"/>
                </a:solidFill>
                <a:latin typeface="Arial"/>
              </a:rPr>
              <a:t>Measure: acquisition source × builder role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5010912"/>
            <a:ext cx="178308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26120D"/>
                </a:solidFill>
                <a:latin typeface="Arial"/>
              </a:rPr>
              <a:t>Use case + baseline</a:t>
            </a:r>
            <a:endParaRPr sz="1400" b="0" i="0">
              <a:solidFill>
                <a:srgbClr val="0E0E0E"/>
              </a:solidFill>
              <a:latin typeface="Arial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94360" y="5715000"/>
            <a:ext cx="11018520" cy="10972"/>
          </a:xfrm>
          <a:prstGeom prst="rect">
            <a:avLst/>
          </a:prstGeom>
          <a:solidFill>
            <a:srgbClr val="F1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8368" y="5879592"/>
            <a:ext cx="10835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1" i="0">
                <a:solidFill>
                  <a:srgbClr val="26120D"/>
                </a:solidFill>
                <a:latin typeface="Arial"/>
              </a:rPr>
              <a:t>One signal, one proof per handoff. Loop: fit → proof → scale.</a:t>
            </a:r>
            <a:endParaRPr sz="1500" b="1" i="0">
              <a:solidFill>
                <a:srgbClr val="0E0E0E"/>
              </a:solidFill>
              <a:latin typeface="Arial"/>
            </a:endParaRPr>
          </a:p>
        </p:txBody>
      </p:sp>
      <p:sp>
        <p:nvSpPr>
          <p:cNvPr id="47" name="Header accent rule"/>
          <p:cNvSpPr/>
          <p:nvPr/>
        </p:nvSpPr>
        <p:spPr>
          <a:xfrm>
            <a:off x="310896" y="182880"/>
            <a:ext cx="50292" cy="896112"/>
          </a:xfrm>
          <a:prstGeom prst="rect">
            <a:avLst/>
          </a:prstGeom>
          <a:solidFill>
            <a:srgbClr val="FFE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ns1="http://schemas.openxmlformats.org/officeDocument/2006/docPropsVTypes">
  <TotalTime>53</TotalTime>
  <Words>784</Words>
  <Application>Microsoft Office PowerPoint</Application>
  <PresentationFormat>Widescreen</PresentationFormat>
  <Paragraphs>80</Paragraphs>
  <Slides>3</Slides>
  <Notes>3</Notes>
  <HiddenSlides>0</HiddenSlides>
  <MMClips>0</MMClips>
  <ScaleCrop>false</ScaleCrop>
  <HeadingPairs>
    <ns1:vector size="6" baseType="variant">
      <ns1:variant>
        <ns1:lpstr>Fonts Used</ns1:lpstr>
      </ns1:variant>
      <ns1:variant>
        <ns1:i4>1</ns1:i4>
      </ns1:variant>
      <ns1:variant>
        <ns1:lpstr>Theme</ns1:lpstr>
      </ns1:variant>
      <ns1:variant>
        <ns1:i4>1</ns1:i4>
      </ns1:variant>
      <ns1:variant>
        <ns1:lpstr>Slide Titles</ns1:lpstr>
      </ns1:variant>
      <ns1:variant>
        <ns1:i4>3</ns1:i4>
      </ns1:variant>
    </ns1:vector>
  </HeadingPairs>
  <TitlesOfParts>
    <ns1:vector size="5" baseType="lpstr">
      <ns1:lpstr>Arial</ns1:lpstr>
      <ns1:lpstr>Office Theme</ns1:lpstr>
      <ns1:lpstr>PowerPoint Presentation</ns1:lpstr>
      <ns1:lpstr>PowerPoint Presentation</ns1:lpstr>
      <ns1:lpstr>PowerPoint Presentation</ns1:lpstr>
    </ns1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Mistral Studio - Enterprise and Prosumer Segmentation Framework</dc:title>
  <dc:subject>Builder segmentation, qualification, and enterprise conversion</dc:subject>
  <dc:creator>Shiv, Prospective PMM, Mistral Studio</dc:creator>
  <cp:lastModifiedBy>Shivam Singh</cp:lastModifiedBy>
  <cp:revision>7</cp:revision>
  <dcterms:created xsi:type="dcterms:W3CDTF">2026-08-16T18:10:44Z</dcterms:created>
  <dcterms:modified xsi:type="dcterms:W3CDTF">2026-08-16T21:32:16Z</dcterms:modified>
  <cp:keywords>mistral-studio, segmentation, prosumer, enterprise, personas</cp:keywords>
  <dc:description>Segmentation framework for qualifying prosumer builders and converting adoption into enterprise proof.</dc:description>
</cp:coreProperties>
</file>