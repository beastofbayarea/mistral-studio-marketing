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9" r:id="rId5"/>
    <p:sldId id="279" r:id="rId6"/>
    <p:sldId id="28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53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prototype-to-production gap, evals, feedback loops, governance, flexible deployment
- https://mistral.ai/products/studio/ - Studio build/deploy/govern and deployment options
- https://docs.mistral.ai/studio-api/overview - developer platform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Mistral Studio platform/deployment/control
- https://mistral.ai/news/ai-studio/ - Observability/Agent Runtime/AI Registry
- https://openai.com/index/new-tools-for-building-agents/ - OpenAI Responses API/agents tools
- https://docs.anthropic.com/en/docs/agents-and-tools/tool-use/tool-runner-sdk - Anthropic tool runner
- https://docs.cloud.google.com/vertex-ai/generative-ai/docs/agent-engine/evaluate - Google Vertex agent evaluation
- https://azure.microsoft.com/en-us/products/ai-foundry - Azure AI Foundry agent platform
- https://aws.amazon.com/about-aws/whats-new/2026/05/bedrock-agentcore-launch-aws-govcloud-us/ - Amazon Bedrock AgentCore
- https://www.langchain.com/langsmith-platform - LangSmith agent engineering platform
- https://langchain-ai.github.io/langgraph/concepts/persistence/ - LangGraph persistence/durability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Product launch
GTM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1" i="0">
                <a:solidFill>
                  <a:srgbClr val="FFD447"/>
                </a:solidFill>
                <a:latin typeface="Aptos"/>
              </a:rPr>
              <a:t>The 12-week plan to launch Mistral Studio and prove it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EFE7DB"/>
                </a:solidFill>
                <a:latin typeface="Aptos"/>
              </a:rPr>
              <a:t>Sharpened outside-in reconstruction from public product evidence.
Internal validation items are isolated on the final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47888" y="1051560"/>
            <a:ext cx="530352" cy="530352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61120" y="1051560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74352" y="1051560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387584" y="1051560"/>
            <a:ext cx="530352" cy="530352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247888" y="1764792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61120" y="1764792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674352" y="1764792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387584" y="1764792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0C7B8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A. SITUATION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Own the gap between prototype and production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Name the enemy first, then show one credible path through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600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THE LAUNCH PROMISE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40080" y="1920240"/>
            <a:ext cx="4983480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111111"/>
                </a:solidFill>
                <a:latin typeface="Aptos Display"/>
              </a:rPr>
              <a:t>From promising prototypes
to governed production agents.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3401568"/>
            <a:ext cx="470916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>
                <a:solidFill>
                  <a:srgbClr val="6F6A61"/>
                </a:solidFill>
                <a:latin typeface="Aptos"/>
              </a:rPr>
              <a:t>Mistral Studio combines durable workflows, evaluation, observability, governance and deployment control in one production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73168"/>
            <a:ext cx="4709160" cy="6583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4937760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Enterprise AI in production—not in pilot.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989320" y="16642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36F21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656832" y="169164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ENEMY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656832" y="1975104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Prototype portfolios stall on reliability, observability and governance.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715768"/>
            <a:ext cx="512064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989320" y="296265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E7F5C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656832" y="299008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WEDGE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656832" y="3273552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AI platform leaders in regulated, industrial and knowledge-heavy enterprises.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014216"/>
            <a:ext cx="512064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989320" y="4261104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5B4BB7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656832" y="42885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5B4BB7"/>
                </a:solidFill>
                <a:latin typeface="Aptos"/>
              </a:rPr>
              <a:t>MOTION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656832" y="4572000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Quickstarts for builders; readiness and architecture workshops for buyers.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5989320" y="5522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36F21"/>
                </a:solidFill>
                <a:latin typeface="Aptos"/>
              </a:rPr>
              <a:t>ONE PLATFORM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7424927" y="54864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111111"/>
                </a:solidFill>
                <a:latin typeface="Aptos"/>
              </a:rPr>
              <a:t>Durable workflows  •  evals + feedback  •  registry + lineage  •  governed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B. AUDIENCE + PROOF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Win where control is a buying criterion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Prioritize environments where reliability, sovereignty and governance decide the purchase—each already has adjacent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PRIORITY ENVIRONMENTS +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Regulated + public services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EPO • 400k+ pages/day, days to minutes, &lt;1%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Industrial + manufacturing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ASML diagnostics • Veolia copilot for 218k 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Transport + logistics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CMA CGM • cargo release and shipping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5B4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Technology + software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Cisco • renewal agent, up to 20% time reduction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MINIMUM BUYING CHAIN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CHAMPION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AI platform lead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Standardize development; needs registry, workspaces and observability.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3454D1"/>
                </a:solidFill>
                <a:latin typeface="Aptos"/>
              </a:rPr>
              <a:t>BUYER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CTO / VP Engineering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Speed + architecture; needs a production demo, ROI and roadmap.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APPROVER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Aptos"/>
              </a:rPr>
              <a:t>Security /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F6A61"/>
                </a:solidFill>
                <a:latin typeface="Aptos"/>
              </a:rPr>
              <a:t>Privacy, risk and audit; needs guardrails, credentials and lineage.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447"/>
                </a:solidFill>
                <a:latin typeface="Aptos"/>
              </a:rPr>
              <a:t>ICP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Enterprise AI platform teams moving a pilot portfolio into governed production—where deployment control and data ownership shape the purchase, as Airbus's on-prem sovereignty shows.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Adjacent public proof  |  next: Studio-specific before/after production metrics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F6A6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C. STRATEGY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Win on control + model choice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Compete on production criteria—not slogans. Strong / Partial / Limited is directional until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459237"/>
              </p:ext>
            </p:extLst>
          </p:nvPr>
        </p:nvGraphicFramePr>
        <p:xfrm>
          <a:off x="640080" y="1609344"/>
          <a:ext cx="109270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Alternative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Durable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runtime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Evals +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feedback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Registry +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lineage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Enterprise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connectors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Deploy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choice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Mistral Studio</a:t>
                      </a:r>
                    </a:p>
                  </a:txBody>
                  <a:tcPr marL="73152" marR="73152" anchor="ctr">
                    <a:solidFill>
                      <a:srgbClr val="FFD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OpenAI / Anthropic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Google / Microsoft / AWS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LangGraph / LangSmith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DIY open source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833872"/>
            <a:ext cx="10927080" cy="42062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859536" y="5952744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WINNING CONDITION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2587752" y="5916168"/>
            <a:ext cx="8549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Integrated production loop + deployment optionality + open-model posture.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Directional category assessment from source deck  |  validate before external use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D. EXECUTION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A 12-week plan turns two entry points into proof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Builders enter through the quickstart, buyers through readiness; both converge on a POV. Owners are role-level placeholders.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T−8 → T−5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Strategy + proof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Finalize ICP, positioning, demo use cases and proof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Product •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3454D1"/>
                </a:solidFill>
                <a:latin typeface="Aptos"/>
              </a:rPr>
              <a:t>T−4 → T−1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Build + enable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Ship builder quickstart, templates and trace demo; enterprise security kit and POV packs.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Docs • DevRel •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LAUNCH WEEK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Announce + activate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Launch page/post, technical demo, readiness workshop, exec social and account outreach.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Comms • DevRel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5B4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5B4BB7"/>
                </a:solidFill>
                <a:latin typeface="Aptos"/>
              </a:rPr>
              <a:t>T+1 → T+8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Convert + prove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Run POVs against explicit success criteria, track activation and publish Studio proof.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ptos"/>
              </a:rPr>
              <a:t>Sales • CS • Product • PMM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47"/>
                </a:solidFill>
                <a:latin typeface="Aptos"/>
              </a:rPr>
              <a:t>OPERATING RHYTHM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Both paths converge on one POV • weekly war room • shared KPI dashboard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F6A61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05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40080" y="274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E. OPERATING LOOP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40080" y="658368"/>
            <a:ext cx="64465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Measure activation—
not just attention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746504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Track movement from launch exposure to production proof.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267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6F21"/>
                </a:solidFill>
                <a:latin typeface="Aptos"/>
              </a:rPr>
              <a:t>AWARENESS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331720" y="22494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Target-account reach • page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697480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76656" y="298094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3454D1"/>
                </a:solidFill>
                <a:latin typeface="Aptos"/>
              </a:rPr>
              <a:t>ACTIVATION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331720" y="2962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Workspace/API key • time to first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410711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76656" y="369417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E7F5C"/>
                </a:solidFill>
                <a:latin typeface="Aptos"/>
              </a:rPr>
              <a:t>ADOPTION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36758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Workflows • connectors • traces • evals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123944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76656" y="440740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5B4BB7"/>
                </a:solidFill>
                <a:latin typeface="Aptos"/>
              </a:rPr>
              <a:t>PIPELINE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331720" y="4389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Workshops • POV starts • POV conversion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37176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76656" y="512064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6F21"/>
                </a:solidFill>
                <a:latin typeface="Aptos"/>
              </a:rPr>
              <a:t>EXPANSION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331720" y="51023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Production workloads • active teams • references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50407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046720" y="5029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DECISIONS BEFORE SCALE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046720" y="89611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Six items need
internal validation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8046720" y="21031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8622792" y="20756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Budget + named owners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0" y="262432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622792" y="259689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Revenue / pipeline targets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046720" y="314553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622792" y="3118103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Launch tier + availability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046720" y="366674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622792" y="363931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Pricing + packaging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046720" y="41879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622792" y="4160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SLAs + roadmap commitments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046720" y="470915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22792" y="4681727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Customer proof permissions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046720" y="54681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36F21"/>
                </a:solidFill>
                <a:latin typeface="Aptos"/>
              </a:rPr>
              <a:t>NEXT STEP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8046720" y="5715000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EFE7DB"/>
                </a:solidFill>
                <a:latin typeface="Aptos"/>
              </a:rPr>
              <a:t>Validate with Product, Sales, Legal / Security and Comms.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19088"/>
            <a:ext cx="640080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1" y="6419088"/>
            <a:ext cx="3291840" cy="10972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F6A61"/>
                </a:solidFill>
                <a:latin typeface="Aptos"/>
              </a:rPr>
              <a:t>Outside-in launch plan  |  internal validation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8208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06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ns1="http://schemas.openxmlformats.org/officeDocument/2006/docPropsVTypes">
  <TotalTime>38</TotalTime>
  <Words>1392</Words>
  <Application>Microsoft Office PowerPoint</Application>
  <PresentationFormat>Widescreen</PresentationFormat>
  <Paragraphs>174</Paragraphs>
  <Slides>6</Slides>
  <Notes>6</Notes>
  <HiddenSlides>0</HiddenSlides>
  <MMClips>0</MMClips>
  <ScaleCrop>false</ScaleCrop>
  <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6</ns1:i4>
      </ns1:variant>
    </ns1:vector>
  </HeadingPairs>
  <TitlesOfParts>
    <ns1:vector size="10" baseType="lpstr">
      <ns1:lpstr>Aptos</ns1:lpstr>
      <ns1:lpstr>Aptos Display</ns1:lpstr>
      <ns1:lpstr>Arial</ns1:lpstr>
      <ns1:lpstr>Office Theme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Mistral Studio - Go-to-Market Strategy</dc:title>
  <dc:subject>Go-to-market strategy and operating plan</dc:subject>
  <dc:creator>Shiv, Prospective PMM, Mistral Studio</dc:creator>
  <cp:lastModifiedBy>Shivam Singh</cp:lastModifiedBy>
  <cp:revision>7</cp:revision>
  <dcterms:created xsi:type="dcterms:W3CDTF">2026-08-16T17:42:39Z</dcterms:created>
  <dcterms:modified xsi:type="dcterms:W3CDTF">2026-08-16T18:28:15Z</dcterms:modified>
  <cp:keywords>mistral-studio, gtm-strategy, launch, execution-plan</cp:keywords>
  <dc:description>Operational launch strategy connecting audience, proof, execution, and measurement.</dc:description>
</cp:coreProperties>
</file>