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69" r:id="rId5"/>
    <p:sldId id="279" r:id="rId6"/>
    <p:sldId id="28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3535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 - Studio product positioning
- https://mistral.ai/news/ai-studio/ - launch announcement and problem framing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https://mistral.ai/news/ai-studio/ - prototype-to-production gap, evals, feedback loops, governance, flexible deployment
- https://mistral.ai/products/studio/ - Studio build/deploy/govern and deployment options
- https://docs.mistral.ai/studio-api/overview - developer platform capabilities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https://mistral.ai/customers/ - customer story sectors
- https://mistral.ai/customers/axa/ - AXA financial services proof
- https://mistral.ai/customers/hsbc/ - HSBC financial services proof
- https://mistral.ai/customers/epo/ - EPO public sector document AI
- https://mistral.ai/customers/asml/ - ASML industrial AI
- https://mistral.ai/customers/airbus/ - Airbus security/sovereignty
- https://mistral.ai/customers/cma-cgm/ - CMA CGM logistics
- https://mistral.ai/customers/sncf/ - SNCF transportation
- https://mistral.ai/customers/cisco/ - Cisco sales proposal 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 - Mistral Studio platform/deployment/control
- https://mistral.ai/news/ai-studio/ - Observability/Agent Runtime/AI Registry
- https://openai.com/index/new-tools-for-building-agents/ - OpenAI Responses API/agents tools
- https://docs.anthropic.com/en/docs/agents-and-tools/tool-use/tool-runner-sdk - Anthropic tool runner
- https://docs.cloud.google.com/vertex-ai/generative-ai/docs/agent-engine/evaluate - Google Vertex agent evaluation
- https://azure.microsoft.com/en-us/products/ai-foundry - Azure AI Foundry agent platform
- https://aws.amazon.com/about-aws/whats-new/2026/05/bedrock-agentcore-launch-aws-govcloud-us/ - Amazon Bedrock AgentCore
- https://www.langchain.com/langsmith-platform - LangSmith agent engineering platform
- https://langchain-ai.github.io/langgraph/concepts/persistence/ - LangGraph persistence/durability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https://mistral.ai/news/ai-studio/ - private beta status means launch tier/timing require internal validation
- https://mistral.ai/products/studio/ - public CTAs and product pillars
- https://docs.mistral.ai/studio-api/overview - docs/quickstart basis
- https://mistral.ai/customers/ - proof point source base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 - product CTAs/product areas
- https://docs.mistral.ai/studio-api/overview - activation components
- https://docs.mistral.ai/studio-api/workflows/getting-started/overview - workflow usage
- https://docs.mistral.ai/studio-api/workflows/observability - observability usage
- https://mistral.ai/news/ai-studio/ - launch status and assumptions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694944" y="6217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36F21"/>
                </a:solidFill>
                <a:latin typeface="Aptos"/>
              </a:rPr>
              <a:t>MISTRAL STUDIO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694944" y="1170432"/>
            <a:ext cx="70408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b="1" i="0">
                <a:solidFill>
                  <a:srgbClr val="FFFFFF"/>
                </a:solidFill>
                <a:latin typeface="Aptos Display"/>
              </a:rPr>
              <a:t>Product launch
GTM plan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713232" y="2871216"/>
            <a:ext cx="690372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b="1" i="0">
                <a:solidFill>
                  <a:srgbClr val="FFD447"/>
                </a:solidFill>
                <a:latin typeface="Aptos"/>
              </a:rPr>
              <a:t>The 12-week plan to launch Mistral Studio and prove it in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13632"/>
            <a:ext cx="6537960" cy="16459"/>
          </a:xfrm>
          <a:prstGeom prst="rect">
            <a:avLst/>
          </a:prstGeom>
          <a:solidFill>
            <a:srgbClr val="3D3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713232" y="4160520"/>
            <a:ext cx="6629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0" i="0">
                <a:solidFill>
                  <a:srgbClr val="EFE7DB"/>
                </a:solidFill>
                <a:latin typeface="Aptos"/>
              </a:rPr>
              <a:t>Sharpened outside-in reconstruction from public product evidence.
Internal validation items are isolated on the final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47888" y="1051560"/>
            <a:ext cx="530352" cy="530352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961120" y="1051560"/>
            <a:ext cx="530352" cy="530352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674352" y="1051560"/>
            <a:ext cx="53035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387584" y="1051560"/>
            <a:ext cx="530352" cy="530352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247888" y="1764792"/>
            <a:ext cx="530352" cy="530352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961120" y="1764792"/>
            <a:ext cx="53035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9674352" y="1764792"/>
            <a:ext cx="530352" cy="530352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387584" y="1764792"/>
            <a:ext cx="53035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713232" y="5349240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0" i="0">
                <a:solidFill>
                  <a:srgbClr val="D0C7B8"/>
                </a:solidFill>
                <a:latin typeface="Aptos"/>
              </a:rPr>
              <a:t>2026-08-16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19088"/>
            <a:ext cx="11018520" cy="109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6492240"/>
            <a:ext cx="978408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0C7B8"/>
                </a:solidFill>
                <a:latin typeface="Aptos"/>
              </a:rPr>
              <a:t>Outside-in launch plan  |  public evidence + internal validation 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A. SITUATION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Own the gap between prototype and production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Name the enemy first, then show one credible path through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640080" y="16002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THE LAUNCH PROMISE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40080" y="1920240"/>
            <a:ext cx="4983480" cy="12984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b="1" i="0">
                <a:solidFill>
                  <a:srgbClr val="111111"/>
                </a:solidFill>
                <a:latin typeface="Aptos Display"/>
              </a:rPr>
              <a:t>From promising prototypes
to governed production agents.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658368" y="3401568"/>
            <a:ext cx="470916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>
                <a:solidFill>
                  <a:srgbClr val="6F6A61"/>
                </a:solidFill>
                <a:latin typeface="Aptos"/>
              </a:rPr>
              <a:t>Mistral Studio combines durable workflows, evaluation, observability, governance and deployment control in one production platform.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73168"/>
            <a:ext cx="4709160" cy="65836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877824" y="4937760"/>
            <a:ext cx="4251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Enterprise AI in production—not in pilot.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989320" y="1664208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F36F21"/>
                </a:solidFill>
                <a:latin typeface="Aptos Display"/>
              </a:rPr>
              <a:t>01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6656832" y="169164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ENEMY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6656832" y="1975104"/>
            <a:ext cx="4572000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0" i="0">
                <a:solidFill>
                  <a:srgbClr val="111111"/>
                </a:solidFill>
                <a:latin typeface="Aptos"/>
              </a:rPr>
              <a:t>Prototype portfolios stall on reliability, observability and governance.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715768"/>
            <a:ext cx="512064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5989320" y="2962656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E7F5C"/>
                </a:solidFill>
                <a:latin typeface="Aptos Display"/>
              </a:rPr>
              <a:t>02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656832" y="2990088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1E7F5C"/>
                </a:solidFill>
                <a:latin typeface="Aptos"/>
              </a:rPr>
              <a:t>WEDGE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656832" y="3273552"/>
            <a:ext cx="4572000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0" i="0">
                <a:solidFill>
                  <a:srgbClr val="111111"/>
                </a:solidFill>
                <a:latin typeface="Aptos"/>
              </a:rPr>
              <a:t>AI platform leaders in regulated, industrial and knowledge-heavy enterprises.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4014216"/>
            <a:ext cx="512064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989320" y="4261104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5B4BB7"/>
                </a:solidFill>
                <a:latin typeface="Aptos Display"/>
              </a:rPr>
              <a:t>03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656832" y="4288536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5B4BB7"/>
                </a:solidFill>
                <a:latin typeface="Aptos"/>
              </a:rPr>
              <a:t>MOTION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656832" y="4572000"/>
            <a:ext cx="4572000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0" i="0">
                <a:solidFill>
                  <a:srgbClr val="111111"/>
                </a:solidFill>
                <a:latin typeface="Aptos"/>
              </a:rPr>
              <a:t>Quickstarts for builders; readiness and architecture workshops for buyers.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5989320" y="552297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36F21"/>
                </a:solidFill>
                <a:latin typeface="Aptos"/>
              </a:rPr>
              <a:t>ONE PLATFORM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7424927" y="548640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>
                <a:solidFill>
                  <a:srgbClr val="111111"/>
                </a:solidFill>
                <a:latin typeface="Aptos"/>
              </a:rPr>
              <a:t>Durable workflows  •  evals + feedback  •  registry + lineage  •  governed deployment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19088"/>
            <a:ext cx="11018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566928" y="6492240"/>
            <a:ext cx="978408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6F6A61"/>
                </a:solidFill>
                <a:latin typeface="Aptos"/>
              </a:rPr>
              <a:t>Outside-in launch plan  |  public evidence + internal validation required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11064240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6F6A61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B. AUDIENCE + PROOF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Win where control is a buying criterion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Prioritize environments where reliability, sovereignty and governance decide the purchase—each already has adjacent proof.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640080" y="15544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PRIORITY ENVIRONMENTS + PROOF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91440" cy="603504"/>
          </a:xfrm>
          <a:prstGeom prst="rect">
            <a:avLst/>
          </a:prstGeom>
          <a:solidFill>
            <a:srgbClr val="3454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932688" y="1874520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Regulated + public services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932688" y="2167128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EPO • 400k+ pages/day, days to minutes, &lt;1% error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43200"/>
            <a:ext cx="91440" cy="603504"/>
          </a:xfrm>
          <a:prstGeom prst="rect">
            <a:avLst/>
          </a:prstGeom>
          <a:solidFill>
            <a:srgbClr val="1E7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932688" y="2734056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Industrial + manufacturing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932688" y="3026664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ASML diagnostics • Veolia copilot for 218k employees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602736"/>
            <a:ext cx="91440" cy="6035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932688" y="3593592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Transport + logistics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932688" y="3886200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CMA CGM • cargo release and shipping documents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62272"/>
            <a:ext cx="91440" cy="603504"/>
          </a:xfrm>
          <a:prstGeom prst="rect">
            <a:avLst/>
          </a:prstGeom>
          <a:solidFill>
            <a:srgbClr val="5B4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932688" y="4453128"/>
            <a:ext cx="41605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i="0">
                <a:solidFill>
                  <a:srgbClr val="111111"/>
                </a:solidFill>
                <a:latin typeface="Aptos"/>
              </a:rPr>
              <a:t>Technology + software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932688" y="4745736"/>
            <a:ext cx="4251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0" i="0">
                <a:solidFill>
                  <a:srgbClr val="6F6A61"/>
                </a:solidFill>
                <a:latin typeface="Aptos"/>
              </a:rPr>
              <a:t>Cisco • renewal agent, up to 20% time reduction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806440" y="155448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1E7F5C"/>
                </a:solidFill>
                <a:latin typeface="Aptos"/>
              </a:rPr>
              <a:t>MINIMUM BUYING CHAIN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5806440" y="1901952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1E7F5C"/>
                </a:solidFill>
                <a:latin typeface="Aptos"/>
              </a:rPr>
              <a:t>CHAMPION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7059168" y="1883664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AI platform lead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59168" y="2231136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Standardize development; needs registry, workspaces and observability.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816352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806440" y="3035808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3454D1"/>
                </a:solidFill>
                <a:latin typeface="Aptos"/>
              </a:rPr>
              <a:t>BUYER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7059168" y="301752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111111"/>
                </a:solidFill>
                <a:latin typeface="Aptos"/>
              </a:rPr>
              <a:t>CTO / VP Engineering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59168" y="3364992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Speed + architecture; needs a production demo, ROI and roadmap.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3950208"/>
            <a:ext cx="5303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5806440" y="416966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APPROVER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151376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Aptos"/>
              </a:rPr>
              <a:t>Security /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4988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F6A61"/>
                </a:solidFill>
                <a:latin typeface="Aptos"/>
              </a:rPr>
              <a:t>Privacy, risk and audit; needs guardrails, credentials and lineage.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669280"/>
            <a:ext cx="10561320" cy="58521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4301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447"/>
                </a:solidFill>
                <a:latin typeface="Aptos"/>
              </a:rPr>
              <a:t>ICP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4752" y="5788152"/>
            <a:ext cx="9418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Enterprise AI platform teams moving a pilot portfolio into governed production—where deployment control and data ownership shape the purchase, as Airbus's on-prem sovereignty shows.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66928" y="6419088"/>
            <a:ext cx="11018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6492240"/>
            <a:ext cx="978408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6F6A61"/>
                </a:solidFill>
                <a:latin typeface="Aptos"/>
              </a:rPr>
              <a:t>Adjacent public proof  |  next: Studio-specific before/after production metrics</a:t>
            </a:r>
            <a:endParaRPr sz="800" b="0" i="0">
              <a:solidFill>
                <a:srgbClr val="6F6A6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064240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A61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C. STRATEGY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Win on control + model choice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Compete on production criteria—not slogans. Strong / Partial / Limited is directional until validated.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459237"/>
              </p:ext>
            </p:extLst>
          </p:nvPr>
        </p:nvGraphicFramePr>
        <p:xfrm>
          <a:off x="640080" y="1609344"/>
          <a:ext cx="1092708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Alternative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Durable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runtime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Evals +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feedback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Registry +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lineage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Enterprise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connectors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Deploy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choice</a:t>
                      </a:r>
                    </a:p>
                  </a:txBody>
                  <a:tcPr marL="73152" marR="73152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ptos"/>
                        </a:rPr>
                        <a:t>Mistral Studio</a:t>
                      </a:r>
                    </a:p>
                  </a:txBody>
                  <a:tcPr marL="73152" marR="73152" anchor="ctr">
                    <a:solidFill>
                      <a:srgbClr val="FFD4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1E7F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ptos"/>
                        </a:rPr>
                        <a:t>OpenAI / Anthropic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Limited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Limited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Limited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ptos"/>
                        </a:rPr>
                        <a:t>Google / Microsoft / AWS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ptos"/>
                        </a:rPr>
                        <a:t>LangGraph / LangSmith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Partial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7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ptos"/>
                        </a:rPr>
                        <a:t>DIY open source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Varies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Varies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Limited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Varies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11111"/>
                          </a:solidFill>
                          <a:latin typeface="Aptos"/>
                        </a:rPr>
                        <a:t>Strong</a:t>
                      </a:r>
                    </a:p>
                  </a:txBody>
                  <a:tcPr marL="73152" marR="73152" anchor="ctr">
                    <a:solidFill>
                      <a:srgbClr val="FFF8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5833872"/>
            <a:ext cx="10927080" cy="42062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859536" y="5952744"/>
            <a:ext cx="1572768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 i="0">
                <a:solidFill>
                  <a:srgbClr val="FFD447"/>
                </a:solidFill>
                <a:latin typeface="Aptos"/>
              </a:rPr>
              <a:t>WINNING CONDITION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2587752" y="5916168"/>
            <a:ext cx="8549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Integrated production loop + deployment optionality + open-model posture.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19088"/>
            <a:ext cx="11018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66928" y="6492240"/>
            <a:ext cx="978408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6F6A61"/>
                </a:solidFill>
                <a:latin typeface="Aptos"/>
              </a:rPr>
              <a:t>Directional category assessment from source deck  |  validate before external use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11064240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6F6A61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66928" y="274320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D. EXECUTION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530352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111111"/>
                </a:solidFill>
                <a:latin typeface="Aptos Display"/>
              </a:rPr>
              <a:t>A 12-week plan turns two entry points into proof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66928" y="1051560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Builders enter through the quickstart, buyers through readiness; both converge on a POV. Owners are role-level placeholders.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0" y="292608"/>
            <a:ext cx="146304" cy="146304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1704320" y="502920"/>
            <a:ext cx="146304" cy="146304"/>
          </a:xfrm>
          <a:prstGeom prst="rect">
            <a:avLst/>
          </a:prstGeom>
          <a:solidFill>
            <a:srgbClr val="FFD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704320" y="713232"/>
            <a:ext cx="146304" cy="1463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58368" y="1682496"/>
            <a:ext cx="2423160" cy="91440"/>
          </a:xfrm>
          <a:prstGeom prst="rect">
            <a:avLst/>
          </a:prstGeom>
          <a:solidFill>
            <a:srgbClr val="F36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5836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T−8 → T−5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65836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Strategy + proof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5836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Finalize ICP, positioning, demo use cases and proof permissions.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65836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PMM • Product • Solutions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7287" y="1682496"/>
            <a:ext cx="2423160" cy="91440"/>
          </a:xfrm>
          <a:prstGeom prst="rect">
            <a:avLst/>
          </a:prstGeom>
          <a:solidFill>
            <a:srgbClr val="3454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344728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3454D1"/>
                </a:solidFill>
                <a:latin typeface="Aptos"/>
              </a:rPr>
              <a:t>T−4 → T−1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344728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Build + enable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344728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Ship builder quickstart, templates and trace demo; enterprise security kit and POV packs.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344728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PMM • Docs • DevRel • Field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1682496"/>
            <a:ext cx="2423160" cy="91440"/>
          </a:xfrm>
          <a:prstGeom prst="rect">
            <a:avLst/>
          </a:prstGeom>
          <a:solidFill>
            <a:srgbClr val="1E7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6236207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1E7F5C"/>
                </a:solidFill>
                <a:latin typeface="Aptos"/>
              </a:rPr>
              <a:t>LAUNCH WEEK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236207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Announce + activate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236207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Launch page/post, technical demo, readiness workshop, exec social and account outreach.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207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236207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11111"/>
                </a:solidFill>
                <a:latin typeface="Aptos"/>
              </a:rPr>
              <a:t>PMM • Comms • DevRel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1682496"/>
            <a:ext cx="2423160" cy="91440"/>
          </a:xfrm>
          <a:prstGeom prst="rect">
            <a:avLst/>
          </a:prstGeom>
          <a:solidFill>
            <a:srgbClr val="5B4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9025128" y="1956816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5B4BB7"/>
                </a:solidFill>
                <a:latin typeface="Aptos"/>
              </a:rPr>
              <a:t>T+1 → T+8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9025128" y="2359152"/>
            <a:ext cx="2423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111111"/>
                </a:solidFill>
                <a:latin typeface="Aptos Display"/>
              </a:rPr>
              <a:t>Convert + prove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9025128" y="3163824"/>
            <a:ext cx="2432304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Run POVs against explicit success criteria, track activation and publish Studio proof.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5128" y="4599432"/>
            <a:ext cx="242316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9025128" y="4828032"/>
            <a:ext cx="242316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ptos"/>
              </a:rPr>
              <a:t>Sales • CS • Product • PMM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504688"/>
            <a:ext cx="10826496" cy="69494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7824" y="5779008"/>
            <a:ext cx="1572768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D447"/>
                </a:solidFill>
                <a:latin typeface="Aptos"/>
              </a:rPr>
              <a:t>OPERATING RHYTHM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614416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Both paths converge on one POV • weekly war room • shared KPI dashboard</a:t>
            </a:r>
            <a:endParaRPr sz="16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66928" y="6419088"/>
            <a:ext cx="1101852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6492240"/>
            <a:ext cx="978408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A61"/>
                </a:solidFill>
                <a:latin typeface="Aptos"/>
              </a:rPr>
              <a:t>Outside-in launch plan  |  public evidence + internal validation required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6F6A61"/>
                </a:solidFill>
                <a:latin typeface="Aptos"/>
              </a:rPr>
              <a:t>05</a:t>
            </a:r>
            <a:endParaRPr sz="900" b="1" i="0">
              <a:solidFill>
                <a:srgbClr val="6F6A6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40" y="0"/>
            <a:ext cx="4553712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640080" y="27432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E. OPERATING LOOP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640080" y="658368"/>
            <a:ext cx="6446520" cy="10241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900" b="1" i="0">
                <a:solidFill>
                  <a:srgbClr val="111111"/>
                </a:solidFill>
                <a:latin typeface="Aptos Display"/>
              </a:rPr>
              <a:t>Measure activation—
not just attention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658368" y="1746504"/>
            <a:ext cx="6355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6F6A61"/>
                </a:solidFill>
                <a:latin typeface="Aptos"/>
              </a:rPr>
              <a:t>Track movement from launch exposure to production proof.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676656" y="226771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36F21"/>
                </a:solidFill>
                <a:latin typeface="Aptos"/>
              </a:rPr>
              <a:t>AWARENESS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2331720" y="224942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Target-account reach • page engagement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2697480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676656" y="29809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3454D1"/>
                </a:solidFill>
                <a:latin typeface="Aptos"/>
              </a:rPr>
              <a:t>ACTIVATION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2331720" y="296265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111111"/>
                </a:solidFill>
                <a:latin typeface="Aptos"/>
              </a:rPr>
              <a:t>Workspace/API key • time to first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3410711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676656" y="369417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1E7F5C"/>
                </a:solidFill>
                <a:latin typeface="Aptos"/>
              </a:rPr>
              <a:t>ADOPTION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2331720" y="367588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Workflows • connectors • traces • evals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4123944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676656" y="440740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5B4BB7"/>
                </a:solidFill>
                <a:latin typeface="Aptos"/>
              </a:rPr>
              <a:t>PIPELINE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2331720" y="43891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111111"/>
                </a:solidFill>
                <a:latin typeface="Aptos"/>
              </a:rPr>
              <a:t>Workshops • POV starts • POV conversion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837176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76656" y="51206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36F21"/>
                </a:solidFill>
                <a:latin typeface="Aptos"/>
              </a:rPr>
              <a:t>EXPANSION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2331720" y="510235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111111"/>
                </a:solidFill>
                <a:latin typeface="Aptos"/>
              </a:rPr>
              <a:t>Production workloads • active teams • references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550407"/>
            <a:ext cx="6364224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8046720" y="502920"/>
            <a:ext cx="3337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F36F21"/>
                </a:solidFill>
                <a:latin typeface="Aptos"/>
              </a:rPr>
              <a:t>DECISIONS BEFORE SCALE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8046720" y="896112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100" b="1" i="0">
                <a:solidFill>
                  <a:srgbClr val="FFFFFF"/>
                </a:solidFill>
                <a:latin typeface="Aptos Display"/>
              </a:rPr>
              <a:t>Six items need
internal validation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8046720" y="210312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8622792" y="2075688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Budget + named owners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8046720" y="2624327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02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8622792" y="259689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Revenue / pipeline targets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046720" y="314553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8622792" y="3118103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Launch tier + availability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046720" y="3666744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622792" y="363931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Pricing + packaging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046720" y="4187952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05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622792" y="4160520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FFF"/>
                </a:solidFill>
                <a:latin typeface="Aptos"/>
              </a:rPr>
              <a:t>SLAs + roadmap commitments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046720" y="4709159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>
                <a:solidFill>
                  <a:srgbClr val="FFD447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8622792" y="4681727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FFFF"/>
                </a:solidFill>
                <a:latin typeface="Aptos"/>
              </a:rPr>
              <a:t>Customer proof permissions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8046720" y="5468112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 i="0">
                <a:solidFill>
                  <a:srgbClr val="F36F21"/>
                </a:solidFill>
                <a:latin typeface="Aptos"/>
              </a:rPr>
              <a:t>NEXT STEP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8046720" y="5715000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EFE7DB"/>
                </a:solidFill>
                <a:latin typeface="Aptos"/>
              </a:rPr>
              <a:t>Validate with Product, Sales, Legal / Security and Comms.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19088"/>
            <a:ext cx="6400800" cy="10972"/>
          </a:xfrm>
          <a:prstGeom prst="rect">
            <a:avLst/>
          </a:prstGeom>
          <a:solidFill>
            <a:srgbClr val="D8CC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1" y="6419088"/>
            <a:ext cx="3291840" cy="10972"/>
          </a:xfrm>
          <a:prstGeom prst="rect">
            <a:avLst/>
          </a:prstGeom>
          <a:solidFill>
            <a:srgbClr val="3D3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621792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A61"/>
                </a:solidFill>
                <a:latin typeface="Aptos"/>
              </a:rPr>
              <a:t>Outside-in launch plan  |  internal validation required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08208" y="647395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FFFF"/>
                </a:solidFill>
                <a:latin typeface="Aptos"/>
              </a:rPr>
              <a:t>06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1392</Words>
  <Application>Microsoft Office PowerPoint</Application>
  <PresentationFormat>Widescreen</PresentationFormat>
  <Paragraphs>174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Studio - GTM Strategy Deliverable</dc:title>
  <dc:subject>Go-To-Market strategy and operational execution plan</dc:subject>
  <dc:creator>Shiv, Prospective PMM, Mistral Studio</dc:creator>
  <cp:lastModifiedBy>Shivam Singh</cp:lastModifiedBy>
  <cp:revision>7</cp:revision>
  <ns2:created xsi:type="dcterms:W3CDTF">2026-08-16T17:42:39Z</ns2:created>
  <ns2:modified xsi:type="dcterms:W3CDTF">2026-08-16T18:28:15Z</ns2:modified>
  <cp:keywords>mistral-studio, gtm-strategy, execution-plan</cp:keywords>
</cp:coreProperties>
</file>