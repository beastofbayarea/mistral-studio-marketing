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266" r:id="rId3"/>
    <p:sldId id="273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7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5394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
- https://docs.mistral.ai/studio-api/workflows/building-workflows/workflows
- https://docs.mistral.ai/studio-api/workflows/getting-started/overview
- https://mistral.ai/news/ai-studio/
- https://docs.mistral.ai/studio-api/workflows/building-workflows/durable_agents
- https://docs.mistral.ai/studio-api/workflows/building-workflows/connectors
- https://docs.mistral.ai/studio-api/agents/agents-api
- https://docs.mistral.ai/studio-api/overview
- https://docs.mistral.ai/studio-api/workflows/observability
- https://docs.mistral.ai/studio-api/safety-moderation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
- https://docs.mistral.ai/studio-api/workflows/building-workflows/workflows
- https://docs.mistral.ai/studio-api/workflows/getting-started/overview
- https://mistral.ai/news/ai-studio/
- https://docs.mistral.ai/studio-api/workflows/building-workflows/durable_agents
- https://docs.mistral.ai/studio-api/workflows/building-workflows/connectors
- https://docs.mistral.ai/studio-api/agents/agents-api
- https://docs.mistral.ai/studio-api/overview
- https://docs.mistral.ai/studio-api/workflows/observability
- https://docs.mistral.ai/studio-api/safety-moderation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https://mistral.ai/products/studio/
- https://docs.mistral.ai/studio-api/workflows/building-workflows/workflows
- https://docs.mistral.ai/studio-api/workflows/getting-started/overview
- https://mistral.ai/news/ai-studio/
- https://docs.mistral.ai/studio-api/workflows/building-workflows/durable_agents
- https://docs.mistral.ai/studio-api/workflows/building-workflows/connectors
- https://docs.mistral.ai/studio-api/agents/agents-api
- https://docs.mistral.ai/studio-api/overview
- https://docs.mistral.ai/studio-api/workflows/observability
- https://docs.mistral.ai/studio-api/safety-moderation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3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3B0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>
            <a:spLocks/>
          </p:cNvSpPr>
          <p:nvPr/>
        </p:nvSpPr>
        <p:spPr>
          <a:xfrm>
            <a:off x="594360" y="411480"/>
            <a:ext cx="62636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F5A00"/>
                </a:solidFill>
                <a:latin typeface="Arial"/>
              </a:rPr>
              <a:t>MARKET SHIFT  •  MISTRAL STUDIO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94360" y="1078992"/>
            <a:ext cx="5115776" cy="14813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400" b="1" i="0" dirty="0">
                <a:solidFill>
                  <a:srgbClr val="FFFFFF"/>
                </a:solidFill>
                <a:latin typeface="Arial"/>
              </a:rPr>
              <a:t>From agent prototype to governed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4025500"/>
            <a:ext cx="960120" cy="36576"/>
          </a:xfrm>
          <a:prstGeom prst="rect">
            <a:avLst/>
          </a:prstGeom>
          <a:solidFill>
            <a:srgbClr val="FF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594360" y="6492240"/>
            <a:ext cx="621792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F3B29A"/>
                </a:solidFill>
                <a:latin typeface="Arial"/>
              </a:rPr>
              <a:t>MISTRAL STUDIO  •  NARRATIVE KEYNOTE</a:t>
            </a: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>
            <a:off x="11045952" y="6455664"/>
            <a:ext cx="43891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F5A00"/>
                </a:solidFill>
                <a:latin typeface="Arial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6592"/>
            <a:ext cx="4947488" cy="1417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0" i="0" dirty="0">
                <a:solidFill>
                  <a:srgbClr val="FFF2EA"/>
                </a:solidFill>
                <a:latin typeface="Arial"/>
              </a:rPr>
              <a:t>Models are abundant. Production confidence is scarce. Mistral Studio is the enterprise agent operating layer that carries agents from BUILD to RUN.</a:t>
            </a:r>
            <a:endParaRPr sz="2700" b="1" i="0" dirty="0">
              <a:solidFill>
                <a:srgbClr val="0E0E0E"/>
              </a:solidFill>
              <a:latin typeface="Arial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1B5272D8-05EA-5060-ACBC-B8502A793D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372" r="25559"/>
          <a:stretch>
            <a:fillRect/>
          </a:stretch>
        </p:blipFill>
        <p:spPr>
          <a:xfrm>
            <a:off x="6194249" y="0"/>
            <a:ext cx="598251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B0A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94360" y="411480"/>
            <a:ext cx="62636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F5A00"/>
                </a:solidFill>
                <a:latin typeface="Arial"/>
              </a:rPr>
              <a:t>MISTRAL STUDIO  •  THE AGENT OPERATING LAYER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94360" y="868680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i="0">
                <a:solidFill>
                  <a:srgbClr val="FFFFFF"/>
                </a:solidFill>
                <a:latin typeface="Arial"/>
              </a:rPr>
              <a:t>Trust comes from evaluation + governance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600200"/>
            <a:ext cx="960120" cy="36576"/>
          </a:xfrm>
          <a:prstGeom prst="rect">
            <a:avLst/>
          </a:prstGeom>
          <a:solidFill>
            <a:srgbClr val="FF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594360" y="6492240"/>
            <a:ext cx="621792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F3B29A"/>
                </a:solidFill>
                <a:latin typeface="Arial"/>
              </a:rPr>
              <a:t>MISTRAL STUDIO  •  NARRATIVE KEYNOTE</a:t>
            </a: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>
            <a:off x="11045952" y="6455664"/>
            <a:ext cx="43891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F5A00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9904" y="1965960"/>
            <a:ext cx="18288" cy="2880360"/>
          </a:xfrm>
          <a:prstGeom prst="rect">
            <a:avLst/>
          </a:prstGeom>
          <a:solidFill>
            <a:srgbClr val="7C2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96596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5A00"/>
                </a:solidFill>
                <a:latin typeface="Arial"/>
              </a:rPr>
              <a:t>EVALUATE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331720"/>
            <a:ext cx="4709160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FFFFFF"/>
                </a:solidFill>
                <a:latin typeface="Arial"/>
              </a:rPr>
              <a:t>Does it perform?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10896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3B29A"/>
                </a:solidFill>
                <a:latin typeface="Arial"/>
              </a:rPr>
              <a:t>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21408" y="3099816"/>
            <a:ext cx="352044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Works? Task-level evals</a:t>
            </a:r>
          </a:p>
        </p:txBody>
      </p:sp>
      <p:sp>
        <p:nvSpPr>
          <p:cNvPr id="13" name="Rectangle 12"/>
          <p:cNvSpPr>
            <a:spLocks/>
          </p:cNvSpPr>
          <p:nvPr/>
        </p:nvSpPr>
        <p:spPr>
          <a:xfrm>
            <a:off x="658368" y="3474720"/>
            <a:ext cx="4709160" cy="10972"/>
          </a:xfrm>
          <a:prstGeom prst="rect">
            <a:avLst/>
          </a:prstGeom>
          <a:solidFill>
            <a:srgbClr val="7C2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58368" y="3749039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3B29A"/>
                </a:solidFill>
                <a:latin typeface="Arial"/>
              </a:rPr>
              <a:t>REGRESSION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1408" y="3739896"/>
            <a:ext cx="352044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Still works? Evals on every change</a:t>
            </a:r>
          </a:p>
        </p:txBody>
      </p:sp>
      <p:sp>
        <p:nvSpPr>
          <p:cNvPr id="16" name="Rectangle 15"/>
          <p:cNvSpPr>
            <a:spLocks/>
          </p:cNvSpPr>
          <p:nvPr/>
        </p:nvSpPr>
        <p:spPr>
          <a:xfrm>
            <a:off x="658368" y="4114800"/>
            <a:ext cx="4709160" cy="10972"/>
          </a:xfrm>
          <a:prstGeom prst="rect">
            <a:avLst/>
          </a:prstGeom>
          <a:solidFill>
            <a:srgbClr val="7C2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58368" y="438912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3B29A"/>
                </a:solidFill>
                <a:latin typeface="Arial"/>
              </a:rPr>
              <a:t>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1408" y="4379976"/>
            <a:ext cx="352044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Efficient? Latency, tokens, spend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754880"/>
            <a:ext cx="4709160" cy="10972"/>
          </a:xfrm>
          <a:prstGeom prst="rect">
            <a:avLst/>
          </a:prstGeom>
          <a:solidFill>
            <a:srgbClr val="7C2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28816" y="196596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5A00"/>
                </a:solidFill>
                <a:latin typeface="Arial"/>
              </a:rPr>
              <a:t>GOVERN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6" y="2331720"/>
            <a:ext cx="4709160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 i="0">
                <a:solidFill>
                  <a:srgbClr val="FFFFFF"/>
                </a:solidFill>
                <a:latin typeface="Arial"/>
              </a:rPr>
              <a:t>Is it safe to run?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816" y="3108960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F5A00"/>
                </a:solidFill>
                <a:latin typeface="Arial"/>
              </a:rPr>
              <a:t>ACCESS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83296" y="3099816"/>
            <a:ext cx="320040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Who can use it? Roles, scopes</a:t>
            </a:r>
            <a:endParaRPr sz="1700" b="0" i="0">
              <a:solidFill>
                <a:srgbClr val="0E0E0E"/>
              </a:solidFill>
              <a:latin typeface="Arial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528816" y="3474720"/>
            <a:ext cx="4709160" cy="10972"/>
          </a:xfrm>
          <a:prstGeom prst="rect">
            <a:avLst/>
          </a:prstGeom>
          <a:solidFill>
            <a:srgbClr val="7C2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28816" y="3749039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F5A00"/>
                </a:solidFill>
                <a:latin typeface="Arial"/>
              </a:rPr>
              <a:t>AUDIT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3739896"/>
            <a:ext cx="320040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What happened? Full traces</a:t>
            </a:r>
            <a:endParaRPr sz="1700" b="0" i="0">
              <a:solidFill>
                <a:srgbClr val="0E0E0E"/>
              </a:solidFill>
              <a:latin typeface="Arial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28816" y="4114800"/>
            <a:ext cx="4709160" cy="10972"/>
          </a:xfrm>
          <a:prstGeom prst="rect">
            <a:avLst/>
          </a:prstGeom>
          <a:solidFill>
            <a:srgbClr val="7C2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28816" y="4389120"/>
            <a:ext cx="141732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F5A00"/>
                </a:solidFill>
                <a:latin typeface="Arial"/>
              </a:rPr>
              <a:t>DEPLOYMENT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83296" y="4379976"/>
            <a:ext cx="320040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Where can it run? Any host</a:t>
            </a:r>
            <a:endParaRPr sz="1700" b="0" i="0">
              <a:solidFill>
                <a:srgbClr val="0E0E0E"/>
              </a:solidFill>
              <a:latin typeface="Arial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528816" y="4754880"/>
            <a:ext cx="4709160" cy="10972"/>
          </a:xfrm>
          <a:prstGeom prst="rect">
            <a:avLst/>
          </a:prstGeom>
          <a:solidFill>
            <a:srgbClr val="7C2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8368" y="5230368"/>
            <a:ext cx="105613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5A00"/>
                </a:solidFill>
                <a:latin typeface="Arial"/>
              </a:rPr>
              <a:t>BUILD → EVALUATE → GOVERN → DEPLOY  •  RELIABLE, PORTABLE, CONTROLLED</a:t>
            </a:r>
            <a:endParaRPr lang="en-US" sz="1600" b="1" i="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B0A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>
            <a:spLocks/>
          </p:cNvSpPr>
          <p:nvPr/>
        </p:nvSpPr>
        <p:spPr>
          <a:xfrm>
            <a:off x="594360" y="411480"/>
            <a:ext cx="62636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i="0">
                <a:solidFill>
                  <a:srgbClr val="FF5A00"/>
                </a:solidFill>
                <a:latin typeface="Arial"/>
              </a:rPr>
              <a:t>ADOPTION PATH  •  CATEGORY POSITION</a:t>
            </a:r>
          </a:p>
        </p:txBody>
      </p:sp>
      <p:sp>
        <p:nvSpPr>
          <p:cNvPr id="3" name="TextBox 2"/>
          <p:cNvSpPr txBox="1">
            <a:spLocks/>
          </p:cNvSpPr>
          <p:nvPr/>
        </p:nvSpPr>
        <p:spPr>
          <a:xfrm>
            <a:off x="594360" y="868680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500" b="1" i="0">
                <a:solidFill>
                  <a:srgbClr val="FFFFFF"/>
                </a:solidFill>
                <a:latin typeface="Arial"/>
              </a:rPr>
              <a:t>Prove one workflow. Scale the pattern.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600200"/>
            <a:ext cx="960120" cy="36576"/>
          </a:xfrm>
          <a:prstGeom prst="rect">
            <a:avLst/>
          </a:prstGeom>
          <a:solidFill>
            <a:srgbClr val="FF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594360" y="6492240"/>
            <a:ext cx="621792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b="0" i="0">
                <a:solidFill>
                  <a:srgbClr val="F3B29A"/>
                </a:solidFill>
                <a:latin typeface="Arial"/>
              </a:rPr>
              <a:t>MISTRAL STUDIO  •  NARRATIVE KEYNOTE</a:t>
            </a:r>
          </a:p>
        </p:txBody>
      </p:sp>
      <p:sp>
        <p:nvSpPr>
          <p:cNvPr id="7" name="TextBox 6"/>
          <p:cNvSpPr txBox="1">
            <a:spLocks/>
          </p:cNvSpPr>
          <p:nvPr/>
        </p:nvSpPr>
        <p:spPr>
          <a:xfrm>
            <a:off x="11045952" y="6455664"/>
            <a:ext cx="438912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b="1" i="0">
                <a:solidFill>
                  <a:srgbClr val="FF5A00"/>
                </a:solidFill>
                <a:latin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965960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200" b="1" i="0">
                <a:solidFill>
                  <a:srgbClr val="FF5A00"/>
                </a:solidFill>
                <a:latin typeface="Arial"/>
              </a:rPr>
              <a:t>01</a:t>
            </a:r>
          </a:p>
        </p:txBody>
      </p:sp>
      <p:sp>
        <p:nvSpPr>
          <p:cNvPr id="9" name="Rectangle 8"/>
          <p:cNvSpPr>
            <a:spLocks/>
          </p:cNvSpPr>
          <p:nvPr/>
        </p:nvSpPr>
        <p:spPr>
          <a:xfrm>
            <a:off x="658368" y="2578608"/>
            <a:ext cx="2670048" cy="27432"/>
          </a:xfrm>
          <a:prstGeom prst="rect">
            <a:avLst/>
          </a:prstGeom>
          <a:solidFill>
            <a:srgbClr val="FF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267004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FFFFFF"/>
                </a:solidFill>
                <a:latin typeface="Arial"/>
              </a:rPr>
              <a:t>SELECT</a:t>
            </a:r>
          </a:p>
        </p:txBody>
      </p:sp>
      <p:sp>
        <p:nvSpPr>
          <p:cNvPr id="11" name="TextBox 10"/>
          <p:cNvSpPr txBox="1">
            <a:spLocks/>
          </p:cNvSpPr>
          <p:nvPr/>
        </p:nvSpPr>
        <p:spPr>
          <a:xfrm>
            <a:off x="658368" y="3310128"/>
            <a:ext cx="2670048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High value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Bounded risk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Clear owner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1965960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200" b="1" i="0">
                <a:solidFill>
                  <a:srgbClr val="FF5A00"/>
                </a:solidFill>
                <a:latin typeface="Arial"/>
              </a:rPr>
              <a:t>02</a:t>
            </a:r>
          </a:p>
        </p:txBody>
      </p:sp>
      <p:sp>
        <p:nvSpPr>
          <p:cNvPr id="13" name="Rectangle 12"/>
          <p:cNvSpPr>
            <a:spLocks/>
          </p:cNvSpPr>
          <p:nvPr/>
        </p:nvSpPr>
        <p:spPr>
          <a:xfrm>
            <a:off x="4069080" y="2578608"/>
            <a:ext cx="2670048" cy="27432"/>
          </a:xfrm>
          <a:prstGeom prst="rect">
            <a:avLst/>
          </a:prstGeom>
          <a:solidFill>
            <a:srgbClr val="FF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4069080" y="2834640"/>
            <a:ext cx="267004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FFFFFF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>
            <a:spLocks/>
          </p:cNvSpPr>
          <p:nvPr/>
        </p:nvSpPr>
        <p:spPr>
          <a:xfrm>
            <a:off x="4069080" y="3310128"/>
            <a:ext cx="2670048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Quality evals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Governance controls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Traces on every run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1965960"/>
            <a:ext cx="10058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200" b="1" i="0">
                <a:solidFill>
                  <a:srgbClr val="FF5A00"/>
                </a:solidFill>
                <a:latin typeface="Arial"/>
              </a:rPr>
              <a:t>03</a:t>
            </a:r>
          </a:p>
        </p:txBody>
      </p:sp>
      <p:sp>
        <p:nvSpPr>
          <p:cNvPr id="17" name="Rectangle 16"/>
          <p:cNvSpPr>
            <a:spLocks/>
          </p:cNvSpPr>
          <p:nvPr/>
        </p:nvSpPr>
        <p:spPr>
          <a:xfrm>
            <a:off x="7479792" y="2578608"/>
            <a:ext cx="2670048" cy="27432"/>
          </a:xfrm>
          <a:prstGeom prst="rect">
            <a:avLst/>
          </a:prstGeom>
          <a:solidFill>
            <a:srgbClr val="FF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7479792" y="2834640"/>
            <a:ext cx="267004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i="0">
                <a:solidFill>
                  <a:srgbClr val="FFFFFF"/>
                </a:solidFill>
                <a:latin typeface="Arial"/>
              </a:rPr>
              <a:t>SCALE</a:t>
            </a:r>
          </a:p>
        </p:txBody>
      </p:sp>
      <p:sp>
        <p:nvSpPr>
          <p:cNvPr id="19" name="TextBox 18"/>
          <p:cNvSpPr txBox="1">
            <a:spLocks/>
          </p:cNvSpPr>
          <p:nvPr/>
        </p:nvSpPr>
        <p:spPr>
          <a:xfrm>
            <a:off x="7479792" y="3310128"/>
            <a:ext cx="2670048" cy="7132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Reusable standard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Broader portfolio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0" i="0">
                <a:solidFill>
                  <a:srgbClr val="FFF2EA"/>
                </a:solidFill>
                <a:latin typeface="Arial"/>
              </a:rPr>
              <a:t>One operating layer</a:t>
            </a:r>
          </a:p>
        </p:txBody>
      </p:sp>
      <p:sp>
        <p:nvSpPr>
          <p:cNvPr id="23" name="TextBox 22"/>
          <p:cNvSpPr txBox="1">
            <a:spLocks/>
          </p:cNvSpPr>
          <p:nvPr/>
        </p:nvSpPr>
        <p:spPr>
          <a:xfrm>
            <a:off x="658368" y="5230368"/>
            <a:ext cx="1056132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b="1" i="0">
                <a:solidFill>
                  <a:srgbClr val="FF5A00"/>
                </a:solidFill>
                <a:latin typeface="Arial"/>
              </a:rPr>
              <a:t>WORKFLOW → STANDARD → PORTFOLIO  •  MISTRAL STUDIO OWNS THE AGENT OPERATING LAYER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ns1="http://schemas.openxmlformats.org/officeDocument/2006/docPropsVTypes">
  <TotalTime>51</TotalTime>
  <Words>651</Words>
  <Application>Microsoft Office PowerPoint</Application>
  <PresentationFormat>Widescreen</PresentationFormat>
  <Paragraphs>52</Paragraphs>
  <Slides>3</Slides>
  <Notes>3</Notes>
  <HiddenSlides>0</HiddenSlides>
  <MMClips>0</MMClips>
  <ScaleCrop>false</ScaleCrop>
  <HeadingPairs>
    <ns1:vector size="6" baseType="variant">
      <ns1:variant>
        <ns1:lpstr>Fonts Used</ns1:lpstr>
      </ns1:variant>
      <ns1:variant>
        <ns1:i4>1</ns1:i4>
      </ns1:variant>
      <ns1:variant>
        <ns1:lpstr>Theme</ns1:lpstr>
      </ns1:variant>
      <ns1:variant>
        <ns1:i4>1</ns1:i4>
      </ns1:variant>
      <ns1:variant>
        <ns1:lpstr>Slide Titles</ns1:lpstr>
      </ns1:variant>
      <ns1:variant>
        <ns1:i4>3</ns1:i4>
      </ns1:variant>
    </ns1:vector>
  </HeadingPairs>
  <TitlesOfParts>
    <ns1:vector size="5" baseType="lpstr">
      <ns1:lpstr>Arial</ns1:lpstr>
      <ns1:lpstr>Office Theme</ns1:lpstr>
      <ns1:lpstr>PowerPoint Presentation</ns1:lpstr>
      <ns1:lpstr>PowerPoint Presentation</ns1:lpstr>
      <ns1:lpstr>PowerPoint Presentation</ns1:lpstr>
    </ns1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Mistral Studio - Category Narrative Keynote</dc:title>
  <dc:subject>From agent prototype to governed production</dc:subject>
  <dc:creator>Shiv, Prospective PMM, Mistral Studio</dc:creator>
  <cp:lastModifiedBy>Shivam Singh</cp:lastModifiedBy>
  <cp:revision>8</cp:revision>
  <dcterms:created xsi:type="dcterms:W3CDTF">2026-08-16T18:10:44Z</dcterms:created>
  <dcterms:modified xsi:type="dcterms:W3CDTF">2026-08-16T21:31:58Z</dcterms:modified>
  <cp:keywords>mistral-studio, category-narrative, keynote, governance</cp:keywords>
  <dc:description>Category narrative for moving enterprise AI agents from prototypes into governed production.</dc:description>
</cp:coreProperties>
</file>