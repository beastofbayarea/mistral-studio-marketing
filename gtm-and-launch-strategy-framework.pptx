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281" r:id="rId4"/>
    <p:sldId id="259" r:id="rId5"/>
    <p:sldId id="261" r:id="rId6"/>
    <p:sldId id="284" r:id="rId7"/>
    <p:sldId id="285" r:id="rId8"/>
    <p:sldId id="279" r:id="rId9"/>
    <p:sldId id="287" r:id="rId10"/>
    <p:sldId id="286" r:id="rId11"/>
    <p:sldId id="28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91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9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Launch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commercialization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plan to price, sell, deploy and support Mistral Studio at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Commercial and operational scope only; market, audience and messaging sit in the PMM deck.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D0C7B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01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0" name="Picture 1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5A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LAUNCH OBJECTIVES  •  SCOPE  •  SUCCESS CRITERIA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What this launch must deliver, and how we will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768096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OBJECTIVES — Make Studio buyable on every route, deployable in production within 30 days of contract, and operable at launch-day scale.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— Pricing and packaging, offer architecture, routes to market, commercial motion, billing, legal, support and marketplace readiness.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2E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SUCCESS CRITERIA — Trial-to-paid at plan, ten production workloads live, committed spend across all three tiers.</a:t>
            </a:r>
            <a:endParaRPr kumimoji="0" sz="2700" b="1" i="0" u="none" strike="noStrike" kern="1200" cap="none" spc="0" normalizeH="0" baseline="0" noProof="0" dirty="0">
              <a:ln>
                <a:noFill/>
              </a:ln>
              <a:solidFill>
                <a:srgbClr val="0E0E0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  <p:pic>
        <p:nvPicPr>
          <p:cNvPr id="29" name="Picture 28" descr="mistral-gradient-icon-da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 SCOPE  •  WHAT WE COMMERCIALIZE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566928"/>
            <a:ext cx="107899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Only the capabilities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that priced offers rest on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Serverless • dedicated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self-hosted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METER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Usage metered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 model call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PROVISION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Workspaces 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API keys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GOVERN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RBAC • SSO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• audit logs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SUPPORT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SLA tiers 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escalation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CONTROL  •  WHAT TIERS CHANGE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Deployment location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commitment, not features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BILLING  •  ONE METER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187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One usage meter across 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three tiers and every route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ASSURANCE  •  ENTERPRISE FIT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Identity, residency and audit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evidence for security review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7030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NOTE  •  Platform architecture and product fit sit in the PMM deck; only deployment, metering and support capability is in scope here.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27030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ooter"/>
          <p:cNvSpPr txBox="1"/>
          <p:nvPr/>
        </p:nvSpPr>
        <p:spPr>
          <a:xfrm>
            <a:off x="914400" y="6503836"/>
            <a:ext cx="22265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Page number"/>
          <p:cNvSpPr txBox="1"/>
          <p:nvPr/>
        </p:nvSpPr>
        <p:spPr>
          <a:xfrm>
            <a:off x="11427044" y="6486998"/>
            <a:ext cx="12182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pic>
        <p:nvPicPr>
          <p:cNvPr id="66" name="Picture 65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ROUTES TO MARKET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Four routes, one route of record per customer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Route is set by customer type, buying vehicle and deployment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ROUTES + WHO ENTERS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Developers and small teams • card or PAYG, no sales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Direct enterprise sales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Enterprise platform teams • committed capacity, custom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Cloud marketplaces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Cloud-committed buyers • private offers that retire cloud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Partners / SIs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Regulated and delivery-led accounts • co-sell and implementation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HOW EACH ROUTE IS RUN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PRODUCT-LED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Self-serve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Growth owns the funnel; sales engages above the spend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SALES-LED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Direct enterprise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AE and SE own POV to contract; Finance approves terms and discount.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CO-SELL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Marketplace + partner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Alliances own listings and private offers; partners deliver deployment.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RULE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One customer, one route of record: self-serve below the enterprise threshold, direct above it, marketplace whenever a cloud commitment applies, partner when delivery capacity decides.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04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PRICING + PACKAGING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Three ways to buy, one meter, one upgrade path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Entry is free or metered; commitment and deployment control define the paid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ENTRY + USAGE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Medium 3.5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$1.50 in • $7.50 out per 1M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Mistral Small 4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From $0.15 in • $0.60 out per 1M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Free tier + trial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Free workspace credits; 30-day POV credits for qualified enterprise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Upgrade paths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Serverless → Dedicated at committed spend; Dedicated → Self-hosted on control need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PACKAGING TIERS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SERVERLESS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Pay as you go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Self-serve workspace and API. No commitment, metered usage, card or invoice.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DEDICATED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Committed capacity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Reserved throughput, in-region inference, annual commitment with drawdown.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SELF-HOSTED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Enterprise Suite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Your VPC or on-prem; licensed per environment, private offer via marketplaces.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Published rates are list price; dedicated and self-hosted are quoted per deal. Launch pricing, free-tier limits and discount policy require internal approval before external use.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9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OFFER ARCHITECTURE + COMMERCIAL TERMS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How the offer is sold, committed and discounted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SKU structure, contract model and marketplace mechanics behind the three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SKU / OFFER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Serverless usage SKU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Metered tokens and pages; no minimum, monthly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Dedicated capacity SKU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Reserved throughput units, in-region, annual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Self-hosted suite SKU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Per-environment license plus support subscription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Add-on SKUs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Premium support, Document AI volume, extended retention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CONTRACT + DISCOUNT MECHANICS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COMMITMENT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Annual drawdown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12–36 month committed spend drawn down against usage; overage at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DISCOUNTING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Banded and approved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Discount tiered by commitment and term; beyond band needs Finance and CRO.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Private offers</a:t>
            </a:r>
            <a:endParaRPr sz="20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AWS, Azure and GCP listings; private offers retire cloud commitment.</a:t>
            </a:r>
            <a:endParaRPr sz="16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D447"/>
                </a:solidFill>
                <a:latin typeface="Aptos"/>
              </a:rPr>
              <a:t>NOTE</a:t>
            </a:r>
            <a:endParaRPr sz="13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SKU structure, discount bands, commitment terms and marketplace listing dates are proposals pending Finance, Legal and Alliances approval.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40" name="Picture 39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COMMERCIAL MOTION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Trial to expansion, with a gate at every handoff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Six stages, explicit commercial gates, and the functions that enter at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STAGE 01 → 02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Trial → Qualify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workspace active and first workflow run; qualified on use case, budget and deployment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Growth •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STAGE 03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Proof of value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signed POV scope with success criteria, data access and a dated exit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SE •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STAGE 04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Contract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POV criteria met, pricing and terms approved, security review cleared.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Finance • Legal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STAGE 05 → 06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Deploy → Expand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Gate: production workload live on agreed SLA; expansion on a second use case and commit uplift.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CS • SE • Product • Finance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THE GATE RULE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No stage advances without its gate: no POV without a signed scope, no contract without met POV criteria, no expansion without a production workload running.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07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LAUNCH READINESS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One integrated readiness timeline, every launch function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Product, engineering, billing, legal, support, marketplace and docs on one critical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22902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prove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Feature freeze and GA criteria set; scale and SLA testing; metering and billing build; legal terms drafted.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Engineering • Finance • Legal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A500A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Operate + approve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Provisioning and invoicing tested end to end; security review closed; marketplace listings submitted; docs staged.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Billing Ops • Security • Alliances •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18728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Go live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GA build shipped; pricing live; marketplace offers published; support rota and escalation paths active.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Product • Support • Alliances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F7043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Scale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POVs converted to contracts; first workloads into production; billing accuracy and support load monitored.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Sales • CS • Finance • Engineering</a:t>
            </a:r>
            <a:endParaRPr sz="1400" b="1" i="0">
              <a:solidFill>
                <a:srgbClr val="11111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CRITICAL PATH</a:t>
            </a:r>
            <a:endParaRPr sz="1100" b="1" i="0">
              <a:solidFill>
                <a:srgbClr val="FFD447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Billing and provisioning gate everything downstream: marketplace offers cannot list without metering, and contracts cannot sign without approved legal terms. Both need sign-off by T−4.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08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  <p:pic>
        <p:nvPicPr>
          <p:cNvPr id="39" name="Picture 38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D. LAUNCH READINESS GATES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566928"/>
            <a:ext cx="107899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Nine gates.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All green, or we hold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PRODUCT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 criteria met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signed off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COMMERCIAL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Pricing and packaging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approved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BILLING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Metering, provisioning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invoicing live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LEGAL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Terms, DPA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security approved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2290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MARKETPLACE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Offers live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FAD9C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transactable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A500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SLA  •  SUPPORT APPROVED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Response targets, escalation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rota staffed for launch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1872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DOCS  •  QUICKSTART READY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187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Quickstart, API reference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deployment guides published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704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SALES + CS  •  OPERATIONAL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Quoting, approval paths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8F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onboarding runbooks live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7030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GATE RULE  •  Every gate has a named owner and a green / amber / red status reviewed weekly from T−8; any red at T−1 moves the date.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27030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Footer"/>
          <p:cNvSpPr txBox="1"/>
          <p:nvPr/>
        </p:nvSpPr>
        <p:spPr>
          <a:xfrm>
            <a:off x="914400" y="6503836"/>
            <a:ext cx="186429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D9D5C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Mistral Studio  •  Launch &amp; commercialization plan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F3A58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Page number"/>
          <p:cNvSpPr txBox="1"/>
          <p:nvPr/>
        </p:nvSpPr>
        <p:spPr>
          <a:xfrm>
            <a:off x="11427044" y="6486998"/>
            <a:ext cx="121828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09</a:t>
            </a:r>
          </a:p>
        </p:txBody>
      </p:sp>
      <p:pic>
        <p:nvPicPr>
          <p:cNvPr id="66" name="Picture 65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8483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6236208"/>
            <a:ext cx="12192000" cy="621792"/>
          </a:xfrm>
          <a:prstGeom prst="rect">
            <a:avLst/>
          </a:prstGeom>
          <a:solidFill>
            <a:srgbClr val="161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DECISION RIGHTS + METRICS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commercial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conversion, not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Commercial and operational metrics; PMM owns awareness and engagement.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CONVERSION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Trial-to-paid • POV-to-contract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A500A"/>
                </a:solidFill>
                <a:latin typeface="Aptos"/>
              </a:rPr>
              <a:t>REVENUE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ACV • committed spend •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18728"/>
                </a:solidFill>
                <a:latin typeface="Aptos"/>
              </a:rPr>
              <a:t>VELOCITY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Time to contract • time to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7043"/>
                </a:solidFill>
                <a:latin typeface="Aptos"/>
              </a:rPr>
              <a:t>MIX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Tier mix • marketplace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22902"/>
                </a:solidFill>
                <a:latin typeface="Aptos"/>
              </a:rPr>
              <a:t>PRODUCTION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paying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 RIGHTS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decisions,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one DRI each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headcount — CFO • T−6 • In review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+ commit targets — CRO • T−5 • Open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GA date — VP Product • T−8 • Approved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 — CFO and CRO • T−6 • In review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 + support model — VP Engineering • T−5 • Open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Contract + marketplace terms — GC • T−4 • Open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THE ASK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Clear every decision by T−4; anything still amber escalates to the launch steering group.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73952"/>
            <a:ext cx="7955279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D9D5CC"/>
                </a:solidFill>
                <a:latin typeface="Aptos"/>
              </a:rPr>
              <a:t>Mistral Studio  •  Launch &amp; commercialization plan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109960" y="6455664"/>
            <a:ext cx="438912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10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42" name="Picture 41" descr="mistral-gradient-icon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46520"/>
            <a:ext cx="201168" cy="207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2526</Words>
  <Application>Microsoft Office PowerPoint</Application>
  <PresentationFormat>Widescreen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GTM &amp; Launch Strategy MECE Framework</dc:title>
  <dc:subject>Outside-in GTM launch plan and MECE framework for Mistral Studio</dc:subject>
  <dc:creator>Mistral AI Product Marketing</dc:creator>
  <cp:lastModifiedBy>Shivam Singh</cp:lastModifiedBy>
  <cp:revision>25</cp:revision>
  <ns2:created xsi:type="dcterms:W3CDTF">2026-08-16T17:42:39Z</ns2:created>
  <ns2:modified xsi:type="dcterms:W3CDTF">2026-08-17T06:15:37Z</ns2:modified>
  <cp:keywords>mistral-studio, gtm-strategy, mece-framework, launch-plan</cp:keywords>
</cp:coreProperties>
</file>