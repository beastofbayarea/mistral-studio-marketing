
<file path=[Content_Types].xml><?xml version="1.0" encoding="utf-8"?>
<Types xmlns="http://schemas.openxmlformats.org/package/2006/content-types"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50" r:id="rId2"/>
  </p:sldMasterIdLst>
  <p:notesMasterIdLst>
    <p:notesMasterId r:id="rId13"/>
  </p:notesMasterIdLst>
  <p:sldIdLst>
    <p:sldId id="256" r:id="rId3"/>
    <p:sldId id="281" r:id="rId4"/>
    <p:sldId id="259" r:id="rId5"/>
    <p:sldId id="261" r:id="rId6"/>
    <p:sldId id="284" r:id="rId7"/>
    <p:sldId id="285" r:id="rId8"/>
    <p:sldId id="279" r:id="rId9"/>
    <p:sldId id="287" r:id="rId10"/>
    <p:sldId id="286" r:id="rId11"/>
    <p:sldId id="280" r:id="rId1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98" d="100"/>
          <a:sy n="98" d="100"/>
        </p:scale>
        <p:origin x="78" y="3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viewProps" Target="viewProps.xml"/><Relationship Id="rId10" Type="http://schemas.openxmlformats.org/officeDocument/2006/relationships/slide" Target="slides/slide8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079181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https://mistral.ai/products/studio/ - Studio product positioning
- https://mistral.ai/news/ai-studio/ - launch announcement and problem framing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https://mistral.ai/products/studio/
- https://docs.mistral.ai/studio-api/workflows/building-workflows/workflows
- https://docs.mistral.ai/studio-api/workflows/getting-started/overview
- https://mistral.ai/news/ai-studio/
- https://docs.mistral.ai/studio-api/workflows/building-workflows/durable_agents
- https://docs.mistral.ai/studio-api/workflows/building-workflows/connectors
- https://docs.mistral.ai/studio-api/agents/agents-api
- https://docs.mistral.ai/studio-api/overview
- https://docs.mistral.ai/studio-api/workflows/observability
- https://docs.mistral.ai/studio-api/safety-moderation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/>
              <a:t>[Sources]</a:t>
            </a:r>
          </a:p>
          <a:p>
            <a:r>
              <a:rPr lang="fr-FR"/>
              <a:t>- https://mistral.ai/products/studio/</a:t>
            </a:r>
          </a:p>
          <a:p>
            <a:r>
              <a:rPr lang="fr-FR"/>
              <a:t>- https://docs.mistral.ai/studio/agents/introduction</a:t>
            </a:r>
          </a:p>
          <a:p>
            <a:r>
              <a:rPr lang="fr-FR"/>
              <a:t>- https://docs.mistral.ai/studio/workflows/getting-started/overview</a:t>
            </a:r>
          </a:p>
          <a:p>
            <a:r>
              <a:rPr lang="fr-FR"/>
              <a:t>- https://docs.mistral.ai/studio/workflows/observability</a:t>
            </a:r>
          </a:p>
          <a:p>
            <a:r>
              <a:rPr lang="fr-FR"/>
              <a:t>- https://cmacgm-group.com — CMA CGM &amp; Mistral AI partnership (April 2025); deployed-use-case counts as of May 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https://mistral.ai/customers/ - customer story sectors
- https://mistral.ai/customers/axa/ - AXA financial services proof
- https://mistral.ai/customers/hsbc/ - HSBC financial services proof
- https://mistral.ai/customers/epo/ - EPO public sector document AI
- https://mistral.ai/customers/asml/ - ASML industrial AI
- https://mistral.ai/customers/airbus/ - Airbus security/sovereignty
- https://mistral.ai/customers/cma-cgm/ - CMA CGM logistics
- https://mistral.ai/customers/sncf/ - SNCF transportation
- https://mistral.ai/customers/cisco/ - Cisco sales proposal agent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[Sources]
- https://mistral.ai/customers/ - customer story sectors
- https://mistral.ai/customers/axa/ - AXA financial services proof
- https://mistral.ai/customers/hsbc/ - HSBC financial services proof
- https://mistral.ai/customers/epo/ - EPO public sector document AI
- https://mistral.ai/customers/asml/ - ASML industrial AI
- https://mistral.ai/customers/airbus/ - Airbus security/sovereignty
- https://mistral.ai/customers/cma-cgm/ - CMA CGM logistics
- https://mistral.ai/customers/sncf/ - SNCF transportation
- https://mistral.ai/customers/cisco/ - Cisco sales proposal agent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[Sources]
- https://mistral.ai/customers/ - customer story sectors
- https://mistral.ai/customers/axa/ - AXA financial services proof
- https://mistral.ai/customers/hsbc/ - HSBC financial services proof
- https://mistral.ai/customers/epo/ - EPO public sector document AI
- https://mistral.ai/customers/asml/ - ASML industrial AI
- https://mistral.ai/customers/airbus/ - Airbus security/sovereignty
- https://mistral.ai/customers/cma-cgm/ - CMA CGM logistics
- https://mistral.ai/customers/sncf/ - SNCF transportation
- https://mistral.ai/customers/cisco/ - Cisco sales proposal agent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https://mistral.ai/news/ai-studio/ - private beta status means launch tier/timing require internal validation
- https://mistral.ai/products/studio/ - public CTAs and product pillars
- https://docs.mistral.ai/studio-api/overview - docs/quickstart basis
- https://mistral.ai/customers/ - proof point source base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[Sources]
- https://mistral.ai/news/ai-studio/ - private beta status means launch tier/timing require internal validation
- https://mistral.ai/products/studio/ - public CTAs and product pillars
- https://docs.mistral.ai/studio-api/overview - docs/quickstart basis
- https://mistral.ai/customers/ - proof point source base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/>
              <a:t>[Sources]</a:t>
            </a:r>
          </a:p>
          <a:p>
            <a:r>
              <a:rPr lang="fr-FR"/>
              <a:t>- https://mistral.ai/products/studio/</a:t>
            </a:r>
          </a:p>
          <a:p>
            <a:r>
              <a:rPr lang="fr-FR"/>
              <a:t>- https://docs.mistral.ai/studio/agents/introduction</a:t>
            </a:r>
          </a:p>
          <a:p>
            <a:r>
              <a:rPr lang="fr-FR"/>
              <a:t>- https://docs.mistral.ai/studio/workflows/getting-started/overview</a:t>
            </a:r>
          </a:p>
          <a:p>
            <a:r>
              <a:rPr lang="fr-FR"/>
              <a:t>- https://docs.mistral.ai/studio/workflows/observability</a:t>
            </a:r>
          </a:p>
          <a:p>
            <a:r>
              <a:rPr lang="fr-FR"/>
              <a:t>- https://cmacgm-group.com — CMA CGM &amp; Mistral AI partnership (April 2025); deployed-use-case counts as of May 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9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https://mistral.ai/products/studio/ - product CTAs/product areas
- https://docs.mistral.ai/studio-api/overview - activation components
- https://docs.mistral.ai/studio-api/workflows/getting-started/overview - workflow usage
- https://docs.mistral.ai/studio-api/workflows/observability - observability usage
- https://mistral.ai/news/ai-studio/ - launch status and assumptions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913820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61910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jp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/>
          <p:cNvSpPr/>
          <p:nvPr/>
        </p:nvSpPr>
        <p:spPr>
          <a:xfrm>
            <a:off x="0" y="6236208"/>
            <a:ext cx="12192000" cy="621792"/>
          </a:xfrm>
          <a:prstGeom prst="rect">
            <a:avLst/>
          </a:prstGeom>
          <a:solidFill>
            <a:srgbClr val="1615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>
            <a:spLocks/>
          </p:cNvSpPr>
          <p:nvPr/>
        </p:nvSpPr>
        <p:spPr>
          <a:xfrm>
            <a:off x="694944" y="621792"/>
            <a:ext cx="292608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300" b="1" i="0">
                <a:solidFill>
                  <a:srgbClr val="F36F21"/>
                </a:solidFill>
                <a:latin typeface="Aptos"/>
              </a:rPr>
              <a:t>MISTRAL STUDIO</a:t>
            </a:r>
          </a:p>
        </p:txBody>
      </p:sp>
      <p:sp>
        <p:nvSpPr>
          <p:cNvPr id="3" name="TextBox 2"/>
          <p:cNvSpPr txBox="1">
            <a:spLocks/>
          </p:cNvSpPr>
          <p:nvPr/>
        </p:nvSpPr>
        <p:spPr>
          <a:xfrm>
            <a:off x="694944" y="1170432"/>
            <a:ext cx="7040880" cy="1417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5400" b="1" i="0">
                <a:solidFill>
                  <a:srgbClr val="FFFFFF"/>
                </a:solidFill>
                <a:latin typeface="Aptos Display"/>
              </a:rPr>
              <a:t>Launch &amp;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5400" b="1" i="0">
                <a:solidFill>
                  <a:srgbClr val="FFFFFF"/>
                </a:solidFill>
                <a:latin typeface="Aptos Display"/>
              </a:rPr>
              <a:t>commercialization plan</a:t>
            </a:r>
          </a:p>
        </p:txBody>
      </p:sp>
      <p:sp>
        <p:nvSpPr>
          <p:cNvPr id="4" name="TextBox 3"/>
          <p:cNvSpPr txBox="1">
            <a:spLocks/>
          </p:cNvSpPr>
          <p:nvPr/>
        </p:nvSpPr>
        <p:spPr>
          <a:xfrm>
            <a:off x="713232" y="2871216"/>
            <a:ext cx="6903720" cy="7132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300" b="1" i="0">
                <a:solidFill>
                  <a:srgbClr val="FFD447"/>
                </a:solidFill>
                <a:latin typeface="Aptos"/>
              </a:rPr>
              <a:t>The plan to price, sell, deploy and support Mistral Studio at launch.</a:t>
            </a:r>
          </a:p>
        </p:txBody>
      </p:sp>
      <p:sp>
        <p:nvSpPr>
          <p:cNvPr id="5" name="Rectangle 4"/>
          <p:cNvSpPr/>
          <p:nvPr/>
        </p:nvSpPr>
        <p:spPr>
          <a:xfrm>
            <a:off x="713232" y="3913632"/>
            <a:ext cx="6537960" cy="16459"/>
          </a:xfrm>
          <a:prstGeom prst="rect">
            <a:avLst/>
          </a:prstGeom>
          <a:solidFill>
            <a:srgbClr val="3D34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lang="en-US"/>
          </a:p>
        </p:txBody>
      </p:sp>
      <p:sp>
        <p:nvSpPr>
          <p:cNvPr id="6" name="TextBox 5"/>
          <p:cNvSpPr txBox="1">
            <a:spLocks/>
          </p:cNvSpPr>
          <p:nvPr/>
        </p:nvSpPr>
        <p:spPr>
          <a:xfrm>
            <a:off x="713232" y="4160520"/>
            <a:ext cx="6629400" cy="7132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700" b="0" i="0">
                <a:solidFill>
                  <a:srgbClr val="EFE7DB"/>
                </a:solidFill>
                <a:latin typeface="Aptos"/>
              </a:rPr>
              <a:t>Commercial and operational scope only; market, audience and messaging sit in the PMM deck.</a:t>
            </a:r>
          </a:p>
        </p:txBody>
      </p:sp>
      <p:sp>
        <p:nvSpPr>
          <p:cNvPr id="15" name="TextBox 14"/>
          <p:cNvSpPr txBox="1">
            <a:spLocks/>
          </p:cNvSpPr>
          <p:nvPr/>
        </p:nvSpPr>
        <p:spPr>
          <a:xfrm>
            <a:off x="713232" y="5349240"/>
            <a:ext cx="1828800" cy="1645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00" b="0" i="0">
                <a:solidFill>
                  <a:srgbClr val="D0C7B8"/>
                </a:solidFill>
                <a:latin typeface="Aptos"/>
              </a:rPr>
              <a:t>2026-08-16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6473952"/>
            <a:ext cx="7955279" cy="18288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800" b="0" i="0">
                <a:solidFill>
                  <a:srgbClr val="D9D5CC"/>
                </a:solidFill>
                <a:latin typeface="Aptos"/>
              </a:rPr>
              <a:t>Mistral Studio  •  Launch &amp; commercialization plan</a:t>
            </a:r>
            <a:endParaRPr sz="800" b="0" i="0">
              <a:solidFill>
                <a:srgbClr val="D0C7B8"/>
              </a:solidFill>
              <a:latin typeface="Aptos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11109960" y="6455664"/>
            <a:ext cx="438912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00" b="1" i="0">
                <a:solidFill>
                  <a:srgbClr val="FFFFFF"/>
                </a:solidFill>
                <a:latin typeface="Aptos"/>
              </a:rPr>
              <a:t>01</a:t>
            </a:r>
            <a:endParaRPr sz="900" b="1" i="0">
              <a:solidFill>
                <a:srgbClr val="FFFFFF"/>
              </a:solidFill>
              <a:latin typeface="Aptos"/>
            </a:endParaRPr>
          </a:p>
        </p:txBody>
      </p:sp>
      <p:pic>
        <p:nvPicPr>
          <p:cNvPr id="20" name="Picture 19" descr="mistral-gradient-icon-dark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446520"/>
            <a:ext cx="201168" cy="20798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38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Rectangle 27"/>
          <p:cNvSpPr/>
          <p:nvPr/>
        </p:nvSpPr>
        <p:spPr>
          <a:xfrm>
            <a:off x="0" y="6236208"/>
            <a:ext cx="12192000" cy="621792"/>
          </a:xfrm>
          <a:prstGeom prst="rect">
            <a:avLst/>
          </a:prstGeom>
          <a:solidFill>
            <a:srgbClr val="1615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3B0A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" name="TextBox 1"/>
          <p:cNvSpPr txBox="1">
            <a:spLocks/>
          </p:cNvSpPr>
          <p:nvPr/>
        </p:nvSpPr>
        <p:spPr>
          <a:xfrm>
            <a:off x="594360" y="411480"/>
            <a:ext cx="626364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>
                <a:ln>
                  <a:noFill/>
                </a:ln>
                <a:solidFill>
                  <a:srgbClr val="FF5A0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LAUNCH OBJECTIVES  •  SCOPE  •  SUCCESS CRITERIA</a:t>
            </a:r>
          </a:p>
        </p:txBody>
      </p:sp>
      <p:sp>
        <p:nvSpPr>
          <p:cNvPr id="3" name="TextBox 2"/>
          <p:cNvSpPr txBox="1">
            <a:spLocks/>
          </p:cNvSpPr>
          <p:nvPr/>
        </p:nvSpPr>
        <p:spPr>
          <a:xfrm>
            <a:off x="594360" y="1078992"/>
            <a:ext cx="5115776" cy="14813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4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 Display"/>
                <a:ea typeface="+mn-ea"/>
                <a:cs typeface="+mn-cs"/>
              </a:rPr>
              <a:t>What this launch must deliver, and how we will know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4025500"/>
            <a:ext cx="960120" cy="36576"/>
          </a:xfrm>
          <a:prstGeom prst="rect">
            <a:avLst/>
          </a:prstGeom>
          <a:solidFill>
            <a:srgbClr val="FF5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6" name="TextBox 5"/>
          <p:cNvSpPr txBox="1">
            <a:spLocks/>
          </p:cNvSpPr>
          <p:nvPr/>
        </p:nvSpPr>
        <p:spPr>
          <a:xfrm>
            <a:off x="914400" y="6473952"/>
            <a:ext cx="7955279" cy="18288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D9D5CC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Mistral Studio  •  Launch &amp; commercialization plan</a:t>
            </a:r>
          </a:p>
        </p:txBody>
      </p:sp>
      <p:sp>
        <p:nvSpPr>
          <p:cNvPr id="7" name="TextBox 6"/>
          <p:cNvSpPr txBox="1">
            <a:spLocks/>
          </p:cNvSpPr>
          <p:nvPr/>
        </p:nvSpPr>
        <p:spPr>
          <a:xfrm>
            <a:off x="11109960" y="6455664"/>
            <a:ext cx="438912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marL="0" marR="0" lvl="0" indent="0" algn="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334256"/>
            <a:ext cx="7680960" cy="1828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rgbClr val="FFF2EA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OBJECTIVES — Make Studio buyable on every route, deployable in production within 30 days of contract, and operable at launch-day scale.</a:t>
            </a:r>
          </a:p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rgbClr val="FFF2EA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SCOPE — Pricing and packaging, offer architecture, routes to market, commercial motion, billing, legal, support and marketplace readiness.</a:t>
            </a:r>
          </a:p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rgbClr val="FFF2EA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SUCCESS CRITERIA — Trial-to-paid at plan, ten production workloads live, committed spend across all three tiers.</a:t>
            </a:r>
            <a:endParaRPr kumimoji="0" sz="2700" b="1" i="0" u="none" strike="noStrike" kern="1200" cap="none" spc="0" normalizeH="0" baseline="0" noProof="0" dirty="0">
              <a:ln>
                <a:noFill/>
              </a:ln>
              <a:solidFill>
                <a:srgbClr val="0E0E0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1B5272D8-05EA-5060-ACBC-B8502A793D2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5372" r="25559"/>
          <a:stretch>
            <a:fillRect/>
          </a:stretch>
        </p:blipFill>
        <p:spPr>
          <a:xfrm>
            <a:off x="6194249" y="0"/>
            <a:ext cx="5982510" cy="6858000"/>
          </a:xfrm>
          <a:prstGeom prst="rect">
            <a:avLst/>
          </a:prstGeom>
        </p:spPr>
      </p:pic>
      <p:pic>
        <p:nvPicPr>
          <p:cNvPr id="29" name="Picture 28" descr="mistral-gradient-icon-dark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6446520"/>
            <a:ext cx="201168" cy="207987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A07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Rectangle 64"/>
          <p:cNvSpPr/>
          <p:nvPr/>
        </p:nvSpPr>
        <p:spPr>
          <a:xfrm>
            <a:off x="0" y="6236208"/>
            <a:ext cx="12192000" cy="621792"/>
          </a:xfrm>
          <a:prstGeom prst="rect">
            <a:avLst/>
          </a:prstGeom>
          <a:solidFill>
            <a:srgbClr val="1615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op accent"/>
          <p:cNvSpPr>
            <a:spLocks/>
          </p:cNvSpPr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FA50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" name="Mosaic 1"/>
          <p:cNvSpPr>
            <a:spLocks/>
          </p:cNvSpPr>
          <p:nvPr/>
        </p:nvSpPr>
        <p:spPr>
          <a:xfrm>
            <a:off x="0" y="1664208"/>
            <a:ext cx="987552" cy="658368"/>
          </a:xfrm>
          <a:prstGeom prst="rect">
            <a:avLst/>
          </a:prstGeom>
          <a:solidFill>
            <a:srgbClr val="7414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" name="Mosaic 2"/>
          <p:cNvSpPr/>
          <p:nvPr/>
        </p:nvSpPr>
        <p:spPr>
          <a:xfrm>
            <a:off x="987552" y="1664208"/>
            <a:ext cx="713232" cy="658368"/>
          </a:xfrm>
          <a:prstGeom prst="rect">
            <a:avLst/>
          </a:prstGeom>
          <a:solidFill>
            <a:srgbClr val="F229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5" name="Mosaic 3"/>
          <p:cNvSpPr>
            <a:spLocks/>
          </p:cNvSpPr>
          <p:nvPr/>
        </p:nvSpPr>
        <p:spPr>
          <a:xfrm>
            <a:off x="1700784" y="1664208"/>
            <a:ext cx="1097280" cy="658368"/>
          </a:xfrm>
          <a:prstGeom prst="rect">
            <a:avLst/>
          </a:prstGeom>
          <a:solidFill>
            <a:srgbClr val="FA50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6" name="Mosaic 4"/>
          <p:cNvSpPr>
            <a:spLocks/>
          </p:cNvSpPr>
          <p:nvPr/>
        </p:nvSpPr>
        <p:spPr>
          <a:xfrm>
            <a:off x="2798064" y="1664208"/>
            <a:ext cx="612648" cy="658368"/>
          </a:xfrm>
          <a:prstGeom prst="rect">
            <a:avLst/>
          </a:prstGeom>
          <a:solidFill>
            <a:srgbClr val="F18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7" name="Mosaic 5"/>
          <p:cNvSpPr/>
          <p:nvPr/>
        </p:nvSpPr>
        <p:spPr>
          <a:xfrm>
            <a:off x="3410712" y="1664208"/>
            <a:ext cx="1042415" cy="658368"/>
          </a:xfrm>
          <a:prstGeom prst="rect">
            <a:avLst/>
          </a:prstGeom>
          <a:solidFill>
            <a:srgbClr val="F229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8" name="Mosaic 6"/>
          <p:cNvSpPr/>
          <p:nvPr/>
        </p:nvSpPr>
        <p:spPr>
          <a:xfrm>
            <a:off x="4453128" y="1664208"/>
            <a:ext cx="576072" cy="658368"/>
          </a:xfrm>
          <a:prstGeom prst="rect">
            <a:avLst/>
          </a:prstGeom>
          <a:solidFill>
            <a:srgbClr val="2703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" name="Mosaic 7"/>
          <p:cNvSpPr>
            <a:spLocks/>
          </p:cNvSpPr>
          <p:nvPr/>
        </p:nvSpPr>
        <p:spPr>
          <a:xfrm>
            <a:off x="5029200" y="1664208"/>
            <a:ext cx="1225296" cy="658368"/>
          </a:xfrm>
          <a:prstGeom prst="rect">
            <a:avLst/>
          </a:prstGeom>
          <a:solidFill>
            <a:srgbClr val="FA50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" name="Mosaic 8"/>
          <p:cNvSpPr>
            <a:spLocks/>
          </p:cNvSpPr>
          <p:nvPr/>
        </p:nvSpPr>
        <p:spPr>
          <a:xfrm>
            <a:off x="6254496" y="1664208"/>
            <a:ext cx="658368" cy="658368"/>
          </a:xfrm>
          <a:prstGeom prst="rect">
            <a:avLst/>
          </a:prstGeom>
          <a:solidFill>
            <a:srgbClr val="7414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1" name="Mosaic 9"/>
          <p:cNvSpPr>
            <a:spLocks/>
          </p:cNvSpPr>
          <p:nvPr/>
        </p:nvSpPr>
        <p:spPr>
          <a:xfrm>
            <a:off x="6912864" y="1664208"/>
            <a:ext cx="1078992" cy="658368"/>
          </a:xfrm>
          <a:prstGeom prst="rect">
            <a:avLst/>
          </a:prstGeom>
          <a:solidFill>
            <a:srgbClr val="F229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2" name="Mosaic 10"/>
          <p:cNvSpPr/>
          <p:nvPr/>
        </p:nvSpPr>
        <p:spPr>
          <a:xfrm>
            <a:off x="7991856" y="1664208"/>
            <a:ext cx="786384" cy="658368"/>
          </a:xfrm>
          <a:prstGeom prst="rect">
            <a:avLst/>
          </a:prstGeom>
          <a:solidFill>
            <a:srgbClr val="F18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3" name="Mosaic 11"/>
          <p:cNvSpPr>
            <a:spLocks/>
          </p:cNvSpPr>
          <p:nvPr/>
        </p:nvSpPr>
        <p:spPr>
          <a:xfrm>
            <a:off x="8778240" y="1664208"/>
            <a:ext cx="1225296" cy="658368"/>
          </a:xfrm>
          <a:prstGeom prst="rect">
            <a:avLst/>
          </a:prstGeom>
          <a:solidFill>
            <a:srgbClr val="7414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4" name="Mosaic 12"/>
          <p:cNvSpPr>
            <a:spLocks/>
          </p:cNvSpPr>
          <p:nvPr/>
        </p:nvSpPr>
        <p:spPr>
          <a:xfrm>
            <a:off x="10003536" y="1664208"/>
            <a:ext cx="667512" cy="658368"/>
          </a:xfrm>
          <a:prstGeom prst="rect">
            <a:avLst/>
          </a:prstGeom>
          <a:solidFill>
            <a:srgbClr val="FA50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5" name="Mosaic 13"/>
          <p:cNvSpPr>
            <a:spLocks/>
          </p:cNvSpPr>
          <p:nvPr/>
        </p:nvSpPr>
        <p:spPr>
          <a:xfrm>
            <a:off x="10671048" y="1664208"/>
            <a:ext cx="1520647" cy="658368"/>
          </a:xfrm>
          <a:prstGeom prst="rect">
            <a:avLst/>
          </a:prstGeom>
          <a:solidFill>
            <a:srgbClr val="F229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6" name="Mosaic 14"/>
          <p:cNvSpPr/>
          <p:nvPr/>
        </p:nvSpPr>
        <p:spPr>
          <a:xfrm>
            <a:off x="0" y="2322576"/>
            <a:ext cx="658368" cy="384048"/>
          </a:xfrm>
          <a:prstGeom prst="rect">
            <a:avLst/>
          </a:prstGeom>
          <a:solidFill>
            <a:srgbClr val="F229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7" name="Mosaic 15"/>
          <p:cNvSpPr>
            <a:spLocks/>
          </p:cNvSpPr>
          <p:nvPr/>
        </p:nvSpPr>
        <p:spPr>
          <a:xfrm>
            <a:off x="658368" y="2322576"/>
            <a:ext cx="1307592" cy="384048"/>
          </a:xfrm>
          <a:prstGeom prst="rect">
            <a:avLst/>
          </a:prstGeom>
          <a:solidFill>
            <a:srgbClr val="2703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8" name="Mosaic 16"/>
          <p:cNvSpPr>
            <a:spLocks/>
          </p:cNvSpPr>
          <p:nvPr/>
        </p:nvSpPr>
        <p:spPr>
          <a:xfrm>
            <a:off x="1965960" y="2322576"/>
            <a:ext cx="694944" cy="384048"/>
          </a:xfrm>
          <a:prstGeom prst="rect">
            <a:avLst/>
          </a:prstGeom>
          <a:solidFill>
            <a:srgbClr val="F18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9" name="Mosaic 17"/>
          <p:cNvSpPr>
            <a:spLocks/>
          </p:cNvSpPr>
          <p:nvPr/>
        </p:nvSpPr>
        <p:spPr>
          <a:xfrm>
            <a:off x="2660904" y="2322576"/>
            <a:ext cx="1170432" cy="384048"/>
          </a:xfrm>
          <a:prstGeom prst="rect">
            <a:avLst/>
          </a:prstGeom>
          <a:solidFill>
            <a:srgbClr val="7414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0" name="Mosaic 18"/>
          <p:cNvSpPr/>
          <p:nvPr/>
        </p:nvSpPr>
        <p:spPr>
          <a:xfrm>
            <a:off x="3831336" y="2322576"/>
            <a:ext cx="612648" cy="384048"/>
          </a:xfrm>
          <a:prstGeom prst="rect">
            <a:avLst/>
          </a:prstGeom>
          <a:solidFill>
            <a:srgbClr val="FA50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1" name="Mosaic 19"/>
          <p:cNvSpPr>
            <a:spLocks/>
          </p:cNvSpPr>
          <p:nvPr/>
        </p:nvSpPr>
        <p:spPr>
          <a:xfrm>
            <a:off x="4443984" y="2322576"/>
            <a:ext cx="1417320" cy="384048"/>
          </a:xfrm>
          <a:prstGeom prst="rect">
            <a:avLst/>
          </a:prstGeom>
          <a:solidFill>
            <a:srgbClr val="F229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2" name="Mosaic 20"/>
          <p:cNvSpPr>
            <a:spLocks/>
          </p:cNvSpPr>
          <p:nvPr/>
        </p:nvSpPr>
        <p:spPr>
          <a:xfrm>
            <a:off x="5861304" y="2322576"/>
            <a:ext cx="640080" cy="384048"/>
          </a:xfrm>
          <a:prstGeom prst="rect">
            <a:avLst/>
          </a:prstGeom>
          <a:solidFill>
            <a:srgbClr val="2703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3" name="Mosaic 21"/>
          <p:cNvSpPr>
            <a:spLocks/>
          </p:cNvSpPr>
          <p:nvPr/>
        </p:nvSpPr>
        <p:spPr>
          <a:xfrm>
            <a:off x="6501384" y="2322576"/>
            <a:ext cx="1143000" cy="384048"/>
          </a:xfrm>
          <a:prstGeom prst="rect">
            <a:avLst/>
          </a:prstGeom>
          <a:solidFill>
            <a:srgbClr val="FA50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4" name="Mosaic 22"/>
          <p:cNvSpPr/>
          <p:nvPr/>
        </p:nvSpPr>
        <p:spPr>
          <a:xfrm>
            <a:off x="7644383" y="2322576"/>
            <a:ext cx="749808" cy="384048"/>
          </a:xfrm>
          <a:prstGeom prst="rect">
            <a:avLst/>
          </a:prstGeom>
          <a:solidFill>
            <a:srgbClr val="7414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5" name="Mosaic 23"/>
          <p:cNvSpPr>
            <a:spLocks/>
          </p:cNvSpPr>
          <p:nvPr/>
        </p:nvSpPr>
        <p:spPr>
          <a:xfrm>
            <a:off x="8394192" y="2322576"/>
            <a:ext cx="1307592" cy="384048"/>
          </a:xfrm>
          <a:prstGeom prst="rect">
            <a:avLst/>
          </a:prstGeom>
          <a:solidFill>
            <a:srgbClr val="F229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6" name="Mosaic 24"/>
          <p:cNvSpPr>
            <a:spLocks/>
          </p:cNvSpPr>
          <p:nvPr/>
        </p:nvSpPr>
        <p:spPr>
          <a:xfrm>
            <a:off x="9701784" y="2322576"/>
            <a:ext cx="585216" cy="384048"/>
          </a:xfrm>
          <a:prstGeom prst="rect">
            <a:avLst/>
          </a:prstGeom>
          <a:solidFill>
            <a:srgbClr val="F18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7" name="Mosaic 25"/>
          <p:cNvSpPr>
            <a:spLocks/>
          </p:cNvSpPr>
          <p:nvPr/>
        </p:nvSpPr>
        <p:spPr>
          <a:xfrm>
            <a:off x="10287000" y="2322576"/>
            <a:ext cx="1088136" cy="384048"/>
          </a:xfrm>
          <a:prstGeom prst="rect">
            <a:avLst/>
          </a:prstGeom>
          <a:solidFill>
            <a:srgbClr val="7414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8" name="Mosaic 26"/>
          <p:cNvSpPr/>
          <p:nvPr/>
        </p:nvSpPr>
        <p:spPr>
          <a:xfrm>
            <a:off x="11375136" y="2322576"/>
            <a:ext cx="816559" cy="384048"/>
          </a:xfrm>
          <a:prstGeom prst="rect">
            <a:avLst/>
          </a:prstGeom>
          <a:solidFill>
            <a:srgbClr val="FA50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9" name="Eyebrow"/>
          <p:cNvSpPr txBox="1"/>
          <p:nvPr/>
        </p:nvSpPr>
        <p:spPr>
          <a:xfrm>
            <a:off x="621792" y="320040"/>
            <a:ext cx="7132320" cy="2000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>
                <a:ln>
                  <a:noFill/>
                </a:ln>
                <a:solidFill>
                  <a:srgbClr val="FA500A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PRODUCT SCOPE  •  WHAT WE COMMERCIALIZE</a:t>
            </a:r>
          </a:p>
        </p:txBody>
      </p:sp>
      <p:sp>
        <p:nvSpPr>
          <p:cNvPr id="30" name="Title"/>
          <p:cNvSpPr txBox="1"/>
          <p:nvPr/>
        </p:nvSpPr>
        <p:spPr>
          <a:xfrm>
            <a:off x="621792" y="566928"/>
            <a:ext cx="10789920" cy="107721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500" b="1" i="0" u="none" strike="noStrike" kern="1200" cap="none" spc="0" normalizeH="0" baseline="0" noProof="0">
                <a:ln>
                  <a:noFill/>
                </a:ln>
                <a:solidFill>
                  <a:srgbClr val="FFF8F3"/>
                </a:solidFill>
                <a:effectLst/>
                <a:uLnTx/>
                <a:uFillTx/>
                <a:latin typeface="Aptos Display"/>
                <a:ea typeface="+mn-ea"/>
                <a:cs typeface="+mn-cs"/>
              </a:rPr>
              <a:t>Only the capabilities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500" b="1" i="0" u="none" strike="noStrike" kern="1200" cap="none" spc="0" normalizeH="0" baseline="0" noProof="0">
                <a:ln>
                  <a:noFill/>
                </a:ln>
                <a:solidFill>
                  <a:srgbClr val="FFF8F3"/>
                </a:solidFill>
                <a:effectLst/>
                <a:uLnTx/>
                <a:uFillTx/>
                <a:latin typeface="Aptos Display"/>
                <a:ea typeface="+mn-ea"/>
                <a:cs typeface="+mn-cs"/>
              </a:rPr>
              <a:t>that priced offers rest on</a:t>
            </a:r>
          </a:p>
        </p:txBody>
      </p:sp>
      <p:sp>
        <p:nvSpPr>
          <p:cNvPr id="31" name="BUILD marker"/>
          <p:cNvSpPr/>
          <p:nvPr/>
        </p:nvSpPr>
        <p:spPr>
          <a:xfrm>
            <a:off x="438912" y="1901952"/>
            <a:ext cx="438912" cy="438912"/>
          </a:xfrm>
          <a:prstGeom prst="rect">
            <a:avLst/>
          </a:prstGeom>
          <a:solidFill>
            <a:srgbClr val="F229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2" name="BUILD number"/>
          <p:cNvSpPr txBox="1"/>
          <p:nvPr/>
        </p:nvSpPr>
        <p:spPr>
          <a:xfrm>
            <a:off x="438912" y="1975104"/>
            <a:ext cx="438912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FFF8F3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01</a:t>
            </a:r>
          </a:p>
        </p:txBody>
      </p:sp>
      <p:sp>
        <p:nvSpPr>
          <p:cNvPr id="33" name="BUILD title"/>
          <p:cNvSpPr txBox="1"/>
          <p:nvPr/>
        </p:nvSpPr>
        <p:spPr>
          <a:xfrm>
            <a:off x="438912" y="2871216"/>
            <a:ext cx="1920240" cy="2308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>
                <a:ln>
                  <a:noFill/>
                </a:ln>
                <a:solidFill>
                  <a:srgbClr val="F22902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DEPLOY</a:t>
            </a:r>
          </a:p>
        </p:txBody>
      </p:sp>
      <p:sp>
        <p:nvSpPr>
          <p:cNvPr id="34" name="BUILD detail"/>
          <p:cNvSpPr txBox="1"/>
          <p:nvPr/>
        </p:nvSpPr>
        <p:spPr>
          <a:xfrm>
            <a:off x="438912" y="3264408"/>
            <a:ext cx="1920240" cy="4001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>
                <a:ln>
                  <a:noFill/>
                </a:ln>
                <a:solidFill>
                  <a:srgbClr val="FAD9CA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Serverless • dedicated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>
                <a:ln>
                  <a:noFill/>
                </a:ln>
                <a:solidFill>
                  <a:srgbClr val="FAD9CA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• self-hosted</a:t>
            </a:r>
          </a:p>
        </p:txBody>
      </p:sp>
      <p:sp>
        <p:nvSpPr>
          <p:cNvPr id="35" name="ORCHESTRATE marker"/>
          <p:cNvSpPr>
            <a:spLocks/>
          </p:cNvSpPr>
          <p:nvPr/>
        </p:nvSpPr>
        <p:spPr>
          <a:xfrm>
            <a:off x="2761488" y="1901952"/>
            <a:ext cx="438912" cy="438912"/>
          </a:xfrm>
          <a:prstGeom prst="rect">
            <a:avLst/>
          </a:prstGeom>
          <a:solidFill>
            <a:srgbClr val="FA50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6" name="ORCHESTRATE number"/>
          <p:cNvSpPr txBox="1"/>
          <p:nvPr/>
        </p:nvSpPr>
        <p:spPr>
          <a:xfrm>
            <a:off x="2761488" y="1975104"/>
            <a:ext cx="438912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FFF8F3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02</a:t>
            </a:r>
          </a:p>
        </p:txBody>
      </p:sp>
      <p:sp>
        <p:nvSpPr>
          <p:cNvPr id="37" name="ORCHESTRATE title"/>
          <p:cNvSpPr txBox="1">
            <a:spLocks/>
          </p:cNvSpPr>
          <p:nvPr/>
        </p:nvSpPr>
        <p:spPr>
          <a:xfrm>
            <a:off x="2761488" y="2871216"/>
            <a:ext cx="1920240" cy="2308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>
                <a:ln>
                  <a:noFill/>
                </a:ln>
                <a:solidFill>
                  <a:srgbClr val="FA500A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METER</a:t>
            </a:r>
          </a:p>
        </p:txBody>
      </p:sp>
      <p:sp>
        <p:nvSpPr>
          <p:cNvPr id="38" name="ORCHESTRATE detail"/>
          <p:cNvSpPr txBox="1"/>
          <p:nvPr/>
        </p:nvSpPr>
        <p:spPr>
          <a:xfrm>
            <a:off x="2761488" y="3264408"/>
            <a:ext cx="1920240" cy="4001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>
                <a:ln>
                  <a:noFill/>
                </a:ln>
                <a:solidFill>
                  <a:srgbClr val="FAD9CA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Usage metered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>
                <a:ln>
                  <a:noFill/>
                </a:ln>
                <a:solidFill>
                  <a:srgbClr val="FAD9CA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per model call</a:t>
            </a:r>
          </a:p>
        </p:txBody>
      </p:sp>
      <p:sp>
        <p:nvSpPr>
          <p:cNvPr id="39" name="EVALUATE marker"/>
          <p:cNvSpPr>
            <a:spLocks/>
          </p:cNvSpPr>
          <p:nvPr/>
        </p:nvSpPr>
        <p:spPr>
          <a:xfrm>
            <a:off x="5148072" y="1901952"/>
            <a:ext cx="438912" cy="438912"/>
          </a:xfrm>
          <a:prstGeom prst="rect">
            <a:avLst/>
          </a:prstGeom>
          <a:solidFill>
            <a:srgbClr val="F18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0" name="EVALUATE number"/>
          <p:cNvSpPr txBox="1">
            <a:spLocks/>
          </p:cNvSpPr>
          <p:nvPr/>
        </p:nvSpPr>
        <p:spPr>
          <a:xfrm>
            <a:off x="5148072" y="1975104"/>
            <a:ext cx="438912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FFF8F3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03</a:t>
            </a:r>
          </a:p>
        </p:txBody>
      </p:sp>
      <p:sp>
        <p:nvSpPr>
          <p:cNvPr id="41" name="EVALUATE title"/>
          <p:cNvSpPr txBox="1">
            <a:spLocks/>
          </p:cNvSpPr>
          <p:nvPr/>
        </p:nvSpPr>
        <p:spPr>
          <a:xfrm>
            <a:off x="5148072" y="2871216"/>
            <a:ext cx="1920240" cy="2308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>
                <a:ln>
                  <a:noFill/>
                </a:ln>
                <a:solidFill>
                  <a:srgbClr val="F18728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PROVISION</a:t>
            </a:r>
          </a:p>
        </p:txBody>
      </p:sp>
      <p:sp>
        <p:nvSpPr>
          <p:cNvPr id="42" name="EVALUATE detail"/>
          <p:cNvSpPr txBox="1">
            <a:spLocks/>
          </p:cNvSpPr>
          <p:nvPr/>
        </p:nvSpPr>
        <p:spPr>
          <a:xfrm>
            <a:off x="5148072" y="3264408"/>
            <a:ext cx="1920240" cy="4001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>
                <a:ln>
                  <a:noFill/>
                </a:ln>
                <a:solidFill>
                  <a:srgbClr val="FAD9CA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Workspaces +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>
                <a:ln>
                  <a:noFill/>
                </a:ln>
                <a:solidFill>
                  <a:srgbClr val="FAD9CA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API keys</a:t>
            </a:r>
          </a:p>
        </p:txBody>
      </p:sp>
      <p:sp>
        <p:nvSpPr>
          <p:cNvPr id="43" name="DEPLOY marker"/>
          <p:cNvSpPr/>
          <p:nvPr/>
        </p:nvSpPr>
        <p:spPr>
          <a:xfrm>
            <a:off x="7479792" y="1901952"/>
            <a:ext cx="438912" cy="438912"/>
          </a:xfrm>
          <a:prstGeom prst="rect">
            <a:avLst/>
          </a:prstGeom>
          <a:solidFill>
            <a:srgbClr val="FF70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4" name="DEPLOY number"/>
          <p:cNvSpPr txBox="1">
            <a:spLocks/>
          </p:cNvSpPr>
          <p:nvPr/>
        </p:nvSpPr>
        <p:spPr>
          <a:xfrm>
            <a:off x="7479792" y="1975104"/>
            <a:ext cx="438912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FFF8F3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04</a:t>
            </a:r>
          </a:p>
        </p:txBody>
      </p:sp>
      <p:sp>
        <p:nvSpPr>
          <p:cNvPr id="45" name="DEPLOY title"/>
          <p:cNvSpPr txBox="1">
            <a:spLocks/>
          </p:cNvSpPr>
          <p:nvPr/>
        </p:nvSpPr>
        <p:spPr>
          <a:xfrm>
            <a:off x="7479792" y="2871216"/>
            <a:ext cx="1920240" cy="2308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>
                <a:ln>
                  <a:noFill/>
                </a:ln>
                <a:solidFill>
                  <a:srgbClr val="FF7043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GOVERN</a:t>
            </a:r>
          </a:p>
        </p:txBody>
      </p:sp>
      <p:sp>
        <p:nvSpPr>
          <p:cNvPr id="46" name="DEPLOY detail"/>
          <p:cNvSpPr txBox="1">
            <a:spLocks/>
          </p:cNvSpPr>
          <p:nvPr/>
        </p:nvSpPr>
        <p:spPr>
          <a:xfrm>
            <a:off x="7479792" y="3264408"/>
            <a:ext cx="1920240" cy="4001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>
                <a:ln>
                  <a:noFill/>
                </a:ln>
                <a:solidFill>
                  <a:srgbClr val="FAD9CA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RBAC • SSO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>
                <a:ln>
                  <a:noFill/>
                </a:ln>
                <a:solidFill>
                  <a:srgbClr val="FAD9CA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• audit logs</a:t>
            </a:r>
          </a:p>
        </p:txBody>
      </p:sp>
      <p:sp>
        <p:nvSpPr>
          <p:cNvPr id="47" name="GOVERN marker"/>
          <p:cNvSpPr/>
          <p:nvPr/>
        </p:nvSpPr>
        <p:spPr>
          <a:xfrm>
            <a:off x="9829800" y="1901952"/>
            <a:ext cx="438912" cy="438912"/>
          </a:xfrm>
          <a:prstGeom prst="rect">
            <a:avLst/>
          </a:prstGeom>
          <a:solidFill>
            <a:srgbClr val="F229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8" name="GOVERN number"/>
          <p:cNvSpPr txBox="1">
            <a:spLocks/>
          </p:cNvSpPr>
          <p:nvPr/>
        </p:nvSpPr>
        <p:spPr>
          <a:xfrm>
            <a:off x="9829800" y="1975104"/>
            <a:ext cx="438912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FFF8F3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05</a:t>
            </a:r>
          </a:p>
        </p:txBody>
      </p:sp>
      <p:sp>
        <p:nvSpPr>
          <p:cNvPr id="49" name="GOVERN title"/>
          <p:cNvSpPr txBox="1"/>
          <p:nvPr/>
        </p:nvSpPr>
        <p:spPr>
          <a:xfrm>
            <a:off x="9829800" y="2871216"/>
            <a:ext cx="1920240" cy="2308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>
                <a:ln>
                  <a:noFill/>
                </a:ln>
                <a:solidFill>
                  <a:srgbClr val="F22902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SUPPORT</a:t>
            </a:r>
          </a:p>
        </p:txBody>
      </p:sp>
      <p:sp>
        <p:nvSpPr>
          <p:cNvPr id="50" name="GOVERN detail"/>
          <p:cNvSpPr txBox="1"/>
          <p:nvPr/>
        </p:nvSpPr>
        <p:spPr>
          <a:xfrm>
            <a:off x="9829800" y="3264408"/>
            <a:ext cx="1920240" cy="4001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>
                <a:ln>
                  <a:noFill/>
                </a:ln>
                <a:solidFill>
                  <a:srgbClr val="FAD9CA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SLA tiers +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>
                <a:ln>
                  <a:noFill/>
                </a:ln>
                <a:solidFill>
                  <a:srgbClr val="FAD9CA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escalation</a:t>
            </a:r>
          </a:p>
        </p:txBody>
      </p:sp>
      <p:sp>
        <p:nvSpPr>
          <p:cNvPr id="51" name="Section divider"/>
          <p:cNvSpPr/>
          <p:nvPr/>
        </p:nvSpPr>
        <p:spPr>
          <a:xfrm>
            <a:off x="621792" y="4023360"/>
            <a:ext cx="10945368" cy="13716"/>
          </a:xfrm>
          <a:prstGeom prst="rect">
            <a:avLst/>
          </a:prstGeom>
          <a:solidFill>
            <a:srgbClr val="9D2E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52" name="CONNECT  •  BUILD ONCE"/>
          <p:cNvSpPr txBox="1"/>
          <p:nvPr/>
        </p:nvSpPr>
        <p:spPr>
          <a:xfrm>
            <a:off x="621792" y="4297680"/>
            <a:ext cx="3200400" cy="2000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>
                <a:ln>
                  <a:noFill/>
                </a:ln>
                <a:solidFill>
                  <a:srgbClr val="FA500A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CONTROL  •  WHAT TIERS CHANGE</a:t>
            </a:r>
          </a:p>
        </p:txBody>
      </p:sp>
      <p:sp>
        <p:nvSpPr>
          <p:cNvPr id="53" name="CONNECT  •  BUILD ONCE body"/>
          <p:cNvSpPr txBox="1"/>
          <p:nvPr/>
        </p:nvSpPr>
        <p:spPr>
          <a:xfrm>
            <a:off x="621792" y="4709160"/>
            <a:ext cx="3154680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>
                <a:ln>
                  <a:noFill/>
                </a:ln>
                <a:solidFill>
                  <a:srgbClr val="FFF8F3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Deployment location and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>
                <a:ln>
                  <a:noFill/>
                </a:ln>
                <a:solidFill>
                  <a:srgbClr val="FFF8F3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commitment, not features</a:t>
            </a:r>
          </a:p>
        </p:txBody>
      </p:sp>
      <p:sp>
        <p:nvSpPr>
          <p:cNvPr id="54" name="RECOVER  •  DURABLE WORKFLOWS"/>
          <p:cNvSpPr txBox="1"/>
          <p:nvPr/>
        </p:nvSpPr>
        <p:spPr>
          <a:xfrm>
            <a:off x="4096512" y="4297680"/>
            <a:ext cx="3200400" cy="2000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>
                <a:ln>
                  <a:noFill/>
                </a:ln>
                <a:solidFill>
                  <a:srgbClr val="F18728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BILLING  •  ONE METER</a:t>
            </a:r>
            <a:endParaRPr kumimoji="0" sz="1400" b="1" i="0" u="none" strike="noStrike" kern="1200" cap="none" spc="0" normalizeH="0" baseline="0" noProof="0">
              <a:ln>
                <a:noFill/>
              </a:ln>
              <a:solidFill>
                <a:srgbClr val="F18728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55" name="RECOVER  •  DURABLE WORKFLOWS body"/>
          <p:cNvSpPr txBox="1"/>
          <p:nvPr/>
        </p:nvSpPr>
        <p:spPr>
          <a:xfrm>
            <a:off x="4096512" y="4709160"/>
            <a:ext cx="3154680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>
                <a:ln>
                  <a:noFill/>
                </a:ln>
                <a:solidFill>
                  <a:srgbClr val="FFF8F3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One usage meter across all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>
                <a:ln>
                  <a:noFill/>
                </a:ln>
                <a:solidFill>
                  <a:srgbClr val="FFF8F3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three tiers and every route</a:t>
            </a:r>
          </a:p>
        </p:txBody>
      </p:sp>
      <p:sp>
        <p:nvSpPr>
          <p:cNvPr id="56" name="CONTROL  •  GOVERNED SCALE"/>
          <p:cNvSpPr txBox="1"/>
          <p:nvPr/>
        </p:nvSpPr>
        <p:spPr>
          <a:xfrm>
            <a:off x="7699248" y="4297680"/>
            <a:ext cx="3200400" cy="2000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>
                <a:ln>
                  <a:noFill/>
                </a:ln>
                <a:solidFill>
                  <a:srgbClr val="FF7043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ASSURANCE  •  ENTERPRISE FIT</a:t>
            </a:r>
          </a:p>
        </p:txBody>
      </p:sp>
      <p:sp>
        <p:nvSpPr>
          <p:cNvPr id="57" name="CONTROL  •  GOVERNED SCALE body"/>
          <p:cNvSpPr txBox="1"/>
          <p:nvPr/>
        </p:nvSpPr>
        <p:spPr>
          <a:xfrm>
            <a:off x="7699248" y="4709160"/>
            <a:ext cx="3154680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>
                <a:ln>
                  <a:noFill/>
                </a:ln>
                <a:solidFill>
                  <a:srgbClr val="FFF8F3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Identity, residency and audit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>
                <a:ln>
                  <a:noFill/>
                </a:ln>
                <a:solidFill>
                  <a:srgbClr val="FFF8F3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evidence for security review</a:t>
            </a:r>
          </a:p>
        </p:txBody>
      </p:sp>
      <p:sp>
        <p:nvSpPr>
          <p:cNvPr id="58" name="Pillar divider"/>
          <p:cNvSpPr/>
          <p:nvPr/>
        </p:nvSpPr>
        <p:spPr>
          <a:xfrm>
            <a:off x="3822191" y="4279392"/>
            <a:ext cx="16459" cy="1225296"/>
          </a:xfrm>
          <a:prstGeom prst="rect">
            <a:avLst/>
          </a:prstGeom>
          <a:solidFill>
            <a:srgbClr val="9D2E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59" name="Pillar divider"/>
          <p:cNvSpPr/>
          <p:nvPr/>
        </p:nvSpPr>
        <p:spPr>
          <a:xfrm>
            <a:off x="7424927" y="4279392"/>
            <a:ext cx="16459" cy="1225296"/>
          </a:xfrm>
          <a:prstGeom prst="rect">
            <a:avLst/>
          </a:prstGeom>
          <a:solidFill>
            <a:srgbClr val="9D2E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60" name="Best fit field"/>
          <p:cNvSpPr/>
          <p:nvPr/>
        </p:nvSpPr>
        <p:spPr>
          <a:xfrm>
            <a:off x="621792" y="5669280"/>
            <a:ext cx="10945368" cy="612648"/>
          </a:xfrm>
          <a:prstGeom prst="rect">
            <a:avLst/>
          </a:prstGeom>
          <a:solidFill>
            <a:srgbClr val="FA50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61" name="Best fit"/>
          <p:cNvSpPr txBox="1"/>
          <p:nvPr/>
        </p:nvSpPr>
        <p:spPr>
          <a:xfrm>
            <a:off x="868680" y="5797296"/>
            <a:ext cx="10424160" cy="430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rgbClr val="27030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SCOPE NOTE  •  Platform architecture and product fit sit in the PMM deck; only deployment, metering and support capability is in scope here.</a:t>
            </a:r>
            <a:endParaRPr kumimoji="0" sz="1400" b="1" i="0" u="none" strike="noStrike" kern="1200" cap="none" spc="0" normalizeH="0" baseline="0" noProof="0">
              <a:ln>
                <a:noFill/>
              </a:ln>
              <a:solidFill>
                <a:srgbClr val="270306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62" name="Proof"/>
          <p:cNvSpPr txBox="1"/>
          <p:nvPr/>
        </p:nvSpPr>
        <p:spPr>
          <a:xfrm>
            <a:off x="621792" y="5468112"/>
            <a:ext cx="1078992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000" b="0" i="0" u="none" strike="noStrike" kern="1200" cap="none" spc="0" normalizeH="0" baseline="0" noProof="0">
              <a:ln>
                <a:noFill/>
              </a:ln>
              <a:solidFill>
                <a:srgbClr val="F3A58B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63" name="Footer"/>
          <p:cNvSpPr txBox="1"/>
          <p:nvPr/>
        </p:nvSpPr>
        <p:spPr>
          <a:xfrm>
            <a:off x="914400" y="6503836"/>
            <a:ext cx="2226572" cy="123111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D9D5CC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Mistral Studio  •  Launch &amp; commercialization plan</a:t>
            </a:r>
            <a:endParaRPr kumimoji="0" sz="700" b="0" i="0" u="none" strike="noStrike" kern="1200" cap="none" spc="0" normalizeH="0" baseline="0" noProof="0">
              <a:ln>
                <a:noFill/>
              </a:ln>
              <a:solidFill>
                <a:srgbClr val="F3A58B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64" name="Page number"/>
          <p:cNvSpPr txBox="1"/>
          <p:nvPr/>
        </p:nvSpPr>
        <p:spPr>
          <a:xfrm>
            <a:off x="11427044" y="6486998"/>
            <a:ext cx="121828" cy="13849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03</a:t>
            </a:r>
          </a:p>
        </p:txBody>
      </p:sp>
      <p:pic>
        <p:nvPicPr>
          <p:cNvPr id="66" name="Picture 65" descr="mistral-gradient-icon-dark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446520"/>
            <a:ext cx="201168" cy="207987"/>
          </a:xfrm>
          <a:prstGeom prst="rect">
            <a:avLst/>
          </a:prstGeom>
        </p:spPr>
      </p:pic>
    </p:spTree>
  </p:cSld>
  <p:clrMapOvr>
    <a:masterClrMapping/>
  </p:clrMapOvr>
  <p:transition spd="slow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8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Rectangle 38"/>
          <p:cNvSpPr/>
          <p:nvPr/>
        </p:nvSpPr>
        <p:spPr>
          <a:xfrm>
            <a:off x="0" y="6236208"/>
            <a:ext cx="12192000" cy="621792"/>
          </a:xfrm>
          <a:prstGeom prst="rect">
            <a:avLst/>
          </a:prstGeom>
          <a:solidFill>
            <a:srgbClr val="1615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>
            <a:spLocks/>
          </p:cNvSpPr>
          <p:nvPr/>
        </p:nvSpPr>
        <p:spPr>
          <a:xfrm>
            <a:off x="566928" y="274320"/>
            <a:ext cx="237744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300" b="1" i="0">
                <a:solidFill>
                  <a:srgbClr val="F36F21"/>
                </a:solidFill>
                <a:latin typeface="Aptos"/>
              </a:rPr>
              <a:t>A. ROUTES TO MARKET</a:t>
            </a:r>
          </a:p>
        </p:txBody>
      </p:sp>
      <p:sp>
        <p:nvSpPr>
          <p:cNvPr id="3" name="TextBox 2"/>
          <p:cNvSpPr txBox="1">
            <a:spLocks/>
          </p:cNvSpPr>
          <p:nvPr/>
        </p:nvSpPr>
        <p:spPr>
          <a:xfrm>
            <a:off x="566928" y="530352"/>
            <a:ext cx="10881360" cy="502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3500" b="1" i="0">
                <a:solidFill>
                  <a:srgbClr val="111111"/>
                </a:solidFill>
                <a:latin typeface="Aptos Display"/>
              </a:rPr>
              <a:t>Four routes, one route of record per customer</a:t>
            </a:r>
          </a:p>
        </p:txBody>
      </p:sp>
      <p:sp>
        <p:nvSpPr>
          <p:cNvPr id="4" name="TextBox 3"/>
          <p:cNvSpPr txBox="1">
            <a:spLocks/>
          </p:cNvSpPr>
          <p:nvPr/>
        </p:nvSpPr>
        <p:spPr>
          <a:xfrm>
            <a:off x="566928" y="1051560"/>
            <a:ext cx="10698480" cy="34747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600" b="0" i="0">
                <a:solidFill>
                  <a:srgbClr val="6F6A61"/>
                </a:solidFill>
                <a:latin typeface="Aptos"/>
              </a:rPr>
              <a:t>Route is set by customer type, buying vehicle and deployment need.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0" y="292608"/>
            <a:ext cx="146304" cy="146304"/>
          </a:xfrm>
          <a:prstGeom prst="rect">
            <a:avLst/>
          </a:prstGeom>
          <a:solidFill>
            <a:srgbClr val="F36F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lang="en-US"/>
          </a:p>
        </p:txBody>
      </p:sp>
      <p:sp>
        <p:nvSpPr>
          <p:cNvPr id="6" name="Rectangle 5"/>
          <p:cNvSpPr/>
          <p:nvPr/>
        </p:nvSpPr>
        <p:spPr>
          <a:xfrm>
            <a:off x="11704320" y="502920"/>
            <a:ext cx="146304" cy="146304"/>
          </a:xfrm>
          <a:prstGeom prst="rect">
            <a:avLst/>
          </a:prstGeom>
          <a:solidFill>
            <a:srgbClr val="FFD4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11704320" y="713232"/>
            <a:ext cx="146304" cy="146304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lang="en-US"/>
          </a:p>
        </p:txBody>
      </p:sp>
      <p:sp>
        <p:nvSpPr>
          <p:cNvPr id="8" name="TextBox 7"/>
          <p:cNvSpPr txBox="1">
            <a:spLocks/>
          </p:cNvSpPr>
          <p:nvPr/>
        </p:nvSpPr>
        <p:spPr>
          <a:xfrm>
            <a:off x="640080" y="1554480"/>
            <a:ext cx="292608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300" b="1" i="0">
                <a:solidFill>
                  <a:srgbClr val="F36F21"/>
                </a:solidFill>
                <a:latin typeface="Aptos"/>
              </a:rPr>
              <a:t>ROUTES + WHO ENTERS THERE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883664"/>
            <a:ext cx="91440" cy="603504"/>
          </a:xfrm>
          <a:prstGeom prst="rect">
            <a:avLst/>
          </a:prstGeom>
          <a:solidFill>
            <a:srgbClr val="F229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lang="en-US"/>
          </a:p>
        </p:txBody>
      </p:sp>
      <p:sp>
        <p:nvSpPr>
          <p:cNvPr id="10" name="TextBox 9"/>
          <p:cNvSpPr txBox="1">
            <a:spLocks/>
          </p:cNvSpPr>
          <p:nvPr/>
        </p:nvSpPr>
        <p:spPr>
          <a:xfrm>
            <a:off x="932688" y="1874520"/>
            <a:ext cx="416052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800" b="1" i="0">
                <a:solidFill>
                  <a:srgbClr val="111111"/>
                </a:solidFill>
                <a:latin typeface="Aptos"/>
              </a:rPr>
              <a:t>Self-serve</a:t>
            </a:r>
          </a:p>
        </p:txBody>
      </p:sp>
      <p:sp>
        <p:nvSpPr>
          <p:cNvPr id="11" name="TextBox 10"/>
          <p:cNvSpPr txBox="1">
            <a:spLocks/>
          </p:cNvSpPr>
          <p:nvPr/>
        </p:nvSpPr>
        <p:spPr>
          <a:xfrm>
            <a:off x="932688" y="2167128"/>
            <a:ext cx="425196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500" b="0" i="0">
                <a:solidFill>
                  <a:srgbClr val="6F6A61"/>
                </a:solidFill>
                <a:latin typeface="Aptos"/>
              </a:rPr>
              <a:t>Developers and small teams • card or PAYG, no sales contact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2743200"/>
            <a:ext cx="91440" cy="603504"/>
          </a:xfrm>
          <a:prstGeom prst="rect">
            <a:avLst/>
          </a:prstGeom>
          <a:solidFill>
            <a:srgbClr val="FA50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lang="en-US"/>
          </a:p>
        </p:txBody>
      </p:sp>
      <p:sp>
        <p:nvSpPr>
          <p:cNvPr id="13" name="TextBox 12"/>
          <p:cNvSpPr txBox="1">
            <a:spLocks/>
          </p:cNvSpPr>
          <p:nvPr/>
        </p:nvSpPr>
        <p:spPr>
          <a:xfrm>
            <a:off x="932688" y="2734056"/>
            <a:ext cx="416052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800" b="1" i="0">
                <a:solidFill>
                  <a:srgbClr val="111111"/>
                </a:solidFill>
                <a:latin typeface="Aptos"/>
              </a:rPr>
              <a:t>Direct enterprise sales</a:t>
            </a:r>
          </a:p>
        </p:txBody>
      </p:sp>
      <p:sp>
        <p:nvSpPr>
          <p:cNvPr id="14" name="TextBox 13"/>
          <p:cNvSpPr txBox="1">
            <a:spLocks/>
          </p:cNvSpPr>
          <p:nvPr/>
        </p:nvSpPr>
        <p:spPr>
          <a:xfrm>
            <a:off x="932688" y="3026664"/>
            <a:ext cx="425196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500" b="0" i="0">
                <a:solidFill>
                  <a:srgbClr val="6F6A61"/>
                </a:solidFill>
                <a:latin typeface="Aptos"/>
              </a:rPr>
              <a:t>Enterprise platform teams • committed capacity, custom terms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3602736"/>
            <a:ext cx="91440" cy="603504"/>
          </a:xfrm>
          <a:prstGeom prst="rect">
            <a:avLst/>
          </a:prstGeom>
          <a:solidFill>
            <a:srgbClr val="F18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lang="en-US"/>
          </a:p>
        </p:txBody>
      </p:sp>
      <p:sp>
        <p:nvSpPr>
          <p:cNvPr id="16" name="TextBox 15"/>
          <p:cNvSpPr txBox="1">
            <a:spLocks/>
          </p:cNvSpPr>
          <p:nvPr/>
        </p:nvSpPr>
        <p:spPr>
          <a:xfrm>
            <a:off x="932688" y="3593592"/>
            <a:ext cx="416052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800" b="1" i="0">
                <a:solidFill>
                  <a:srgbClr val="111111"/>
                </a:solidFill>
                <a:latin typeface="Aptos"/>
              </a:rPr>
              <a:t>Cloud marketplaces</a:t>
            </a:r>
          </a:p>
        </p:txBody>
      </p:sp>
      <p:sp>
        <p:nvSpPr>
          <p:cNvPr id="17" name="TextBox 16"/>
          <p:cNvSpPr txBox="1">
            <a:spLocks/>
          </p:cNvSpPr>
          <p:nvPr/>
        </p:nvSpPr>
        <p:spPr>
          <a:xfrm>
            <a:off x="932688" y="3886200"/>
            <a:ext cx="425196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500" b="0" i="0">
                <a:solidFill>
                  <a:srgbClr val="6F6A61"/>
                </a:solidFill>
                <a:latin typeface="Aptos"/>
              </a:rPr>
              <a:t>Cloud-committed buyers • private offers that retire cloud spend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4462272"/>
            <a:ext cx="91440" cy="603504"/>
          </a:xfrm>
          <a:prstGeom prst="rect">
            <a:avLst/>
          </a:prstGeom>
          <a:solidFill>
            <a:srgbClr val="FF70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lang="en-US"/>
          </a:p>
        </p:txBody>
      </p:sp>
      <p:sp>
        <p:nvSpPr>
          <p:cNvPr id="19" name="TextBox 18"/>
          <p:cNvSpPr txBox="1">
            <a:spLocks/>
          </p:cNvSpPr>
          <p:nvPr/>
        </p:nvSpPr>
        <p:spPr>
          <a:xfrm>
            <a:off x="932688" y="4453128"/>
            <a:ext cx="416052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800" b="1" i="0">
                <a:solidFill>
                  <a:srgbClr val="111111"/>
                </a:solidFill>
                <a:latin typeface="Aptos"/>
              </a:rPr>
              <a:t>Partners / SIs</a:t>
            </a:r>
          </a:p>
        </p:txBody>
      </p:sp>
      <p:sp>
        <p:nvSpPr>
          <p:cNvPr id="20" name="TextBox 19"/>
          <p:cNvSpPr txBox="1">
            <a:spLocks/>
          </p:cNvSpPr>
          <p:nvPr/>
        </p:nvSpPr>
        <p:spPr>
          <a:xfrm>
            <a:off x="932688" y="4745736"/>
            <a:ext cx="425196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500" b="0" i="0">
                <a:solidFill>
                  <a:srgbClr val="6F6A61"/>
                </a:solidFill>
                <a:latin typeface="Aptos"/>
              </a:rPr>
              <a:t>Regulated and delivery-led accounts • co-sell and implementation</a:t>
            </a:r>
          </a:p>
        </p:txBody>
      </p:sp>
      <p:sp>
        <p:nvSpPr>
          <p:cNvPr id="21" name="TextBox 20"/>
          <p:cNvSpPr txBox="1">
            <a:spLocks/>
          </p:cNvSpPr>
          <p:nvPr/>
        </p:nvSpPr>
        <p:spPr>
          <a:xfrm>
            <a:off x="5806440" y="1554480"/>
            <a:ext cx="301752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300" b="1" i="0">
                <a:solidFill>
                  <a:srgbClr val="FA500A"/>
                </a:solidFill>
                <a:latin typeface="Aptos"/>
              </a:rPr>
              <a:t>HOW EACH ROUTE IS RUN</a:t>
            </a:r>
          </a:p>
        </p:txBody>
      </p:sp>
      <p:sp>
        <p:nvSpPr>
          <p:cNvPr id="22" name="TextBox 21"/>
          <p:cNvSpPr txBox="1">
            <a:spLocks/>
          </p:cNvSpPr>
          <p:nvPr/>
        </p:nvSpPr>
        <p:spPr>
          <a:xfrm>
            <a:off x="5806440" y="1901952"/>
            <a:ext cx="114300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300" b="1" i="0">
                <a:solidFill>
                  <a:srgbClr val="FA500A"/>
                </a:solidFill>
                <a:latin typeface="Aptos"/>
              </a:rPr>
              <a:t>PRODUCT-LED</a:t>
            </a:r>
          </a:p>
        </p:txBody>
      </p:sp>
      <p:sp>
        <p:nvSpPr>
          <p:cNvPr id="23" name="TextBox 22"/>
          <p:cNvSpPr txBox="1">
            <a:spLocks/>
          </p:cNvSpPr>
          <p:nvPr/>
        </p:nvSpPr>
        <p:spPr>
          <a:xfrm>
            <a:off x="7059168" y="1883664"/>
            <a:ext cx="3977639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000" b="1" i="0">
                <a:solidFill>
                  <a:srgbClr val="111111"/>
                </a:solidFill>
                <a:latin typeface="Aptos"/>
              </a:rPr>
              <a:t>Self-serve</a:t>
            </a:r>
          </a:p>
        </p:txBody>
      </p:sp>
      <p:sp>
        <p:nvSpPr>
          <p:cNvPr id="24" name="TextBox 23"/>
          <p:cNvSpPr txBox="1">
            <a:spLocks/>
          </p:cNvSpPr>
          <p:nvPr/>
        </p:nvSpPr>
        <p:spPr>
          <a:xfrm>
            <a:off x="7059168" y="2231136"/>
            <a:ext cx="4114800" cy="502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600" b="0" i="0">
                <a:solidFill>
                  <a:srgbClr val="6F6A61"/>
                </a:solidFill>
                <a:latin typeface="Aptos"/>
              </a:rPr>
              <a:t>Growth owns the funnel; sales engages above the spend threshold.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06440" y="2816352"/>
            <a:ext cx="5303520" cy="10972"/>
          </a:xfrm>
          <a:prstGeom prst="rect">
            <a:avLst/>
          </a:prstGeom>
          <a:solidFill>
            <a:srgbClr val="D8CC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lang="en-US"/>
          </a:p>
        </p:txBody>
      </p:sp>
      <p:sp>
        <p:nvSpPr>
          <p:cNvPr id="26" name="TextBox 25"/>
          <p:cNvSpPr txBox="1">
            <a:spLocks/>
          </p:cNvSpPr>
          <p:nvPr/>
        </p:nvSpPr>
        <p:spPr>
          <a:xfrm>
            <a:off x="5806440" y="3035808"/>
            <a:ext cx="114300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300" b="1" i="0">
                <a:solidFill>
                  <a:srgbClr val="F18728"/>
                </a:solidFill>
                <a:latin typeface="Aptos"/>
              </a:rPr>
              <a:t>SALES-LED</a:t>
            </a:r>
          </a:p>
        </p:txBody>
      </p:sp>
      <p:sp>
        <p:nvSpPr>
          <p:cNvPr id="27" name="TextBox 26"/>
          <p:cNvSpPr txBox="1">
            <a:spLocks/>
          </p:cNvSpPr>
          <p:nvPr/>
        </p:nvSpPr>
        <p:spPr>
          <a:xfrm>
            <a:off x="7059168" y="3017520"/>
            <a:ext cx="3977639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000" b="1" i="0">
                <a:solidFill>
                  <a:srgbClr val="111111"/>
                </a:solidFill>
                <a:latin typeface="Aptos"/>
              </a:rPr>
              <a:t>Direct enterprise</a:t>
            </a:r>
          </a:p>
        </p:txBody>
      </p:sp>
      <p:sp>
        <p:nvSpPr>
          <p:cNvPr id="28" name="TextBox 27"/>
          <p:cNvSpPr txBox="1">
            <a:spLocks/>
          </p:cNvSpPr>
          <p:nvPr/>
        </p:nvSpPr>
        <p:spPr>
          <a:xfrm>
            <a:off x="7059168" y="3364992"/>
            <a:ext cx="4114800" cy="502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600" b="0" i="0">
                <a:solidFill>
                  <a:srgbClr val="6F6A61"/>
                </a:solidFill>
                <a:latin typeface="Aptos"/>
              </a:rPr>
              <a:t>AE and SE own POV to contract; Finance approves terms and discount.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806440" y="3950208"/>
            <a:ext cx="5303520" cy="10972"/>
          </a:xfrm>
          <a:prstGeom prst="rect">
            <a:avLst/>
          </a:prstGeom>
          <a:solidFill>
            <a:srgbClr val="D8CC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lang="en-US"/>
          </a:p>
        </p:txBody>
      </p:sp>
      <p:sp>
        <p:nvSpPr>
          <p:cNvPr id="30" name="TextBox 29"/>
          <p:cNvSpPr txBox="1">
            <a:spLocks/>
          </p:cNvSpPr>
          <p:nvPr/>
        </p:nvSpPr>
        <p:spPr>
          <a:xfrm>
            <a:off x="5806440" y="4169664"/>
            <a:ext cx="114300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300" b="1" i="0">
                <a:solidFill>
                  <a:srgbClr val="F22902"/>
                </a:solidFill>
                <a:latin typeface="Aptos"/>
              </a:rPr>
              <a:t>CO-SELL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59168" y="4151376"/>
            <a:ext cx="3977639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000" b="1" i="0">
                <a:solidFill>
                  <a:srgbClr val="111111"/>
                </a:solidFill>
                <a:latin typeface="Aptos"/>
              </a:rPr>
              <a:t>Marketplace + partner</a:t>
            </a:r>
            <a:endParaRPr sz="2000" b="1" i="0">
              <a:solidFill>
                <a:srgbClr val="111111"/>
              </a:solidFill>
              <a:latin typeface="Aptos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7059168" y="4498848"/>
            <a:ext cx="4114800" cy="502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600" b="0" i="0">
                <a:solidFill>
                  <a:srgbClr val="6F6A61"/>
                </a:solidFill>
                <a:latin typeface="Aptos"/>
              </a:rPr>
              <a:t>Alliances own listings and private offers; partners deliver deployment.</a:t>
            </a:r>
            <a:endParaRPr sz="1600" b="0" i="0">
              <a:solidFill>
                <a:srgbClr val="6F6A61"/>
              </a:solidFill>
              <a:latin typeface="Aptos"/>
            </a:endParaRPr>
          </a:p>
        </p:txBody>
      </p:sp>
      <p:sp>
        <p:nvSpPr>
          <p:cNvPr id="33" name="Rectangle 32"/>
          <p:cNvSpPr/>
          <p:nvPr/>
        </p:nvSpPr>
        <p:spPr>
          <a:xfrm>
            <a:off x="640080" y="5669280"/>
            <a:ext cx="10561320" cy="585216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868680" y="5843016"/>
            <a:ext cx="45720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300" b="1" i="0">
                <a:solidFill>
                  <a:srgbClr val="FFD447"/>
                </a:solidFill>
                <a:latin typeface="Aptos"/>
              </a:rPr>
              <a:t>RULE</a:t>
            </a:r>
            <a:endParaRPr sz="1300" b="1" i="0">
              <a:solidFill>
                <a:srgbClr val="FFD447"/>
              </a:solidFill>
              <a:latin typeface="Aptos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1444752" y="5788152"/>
            <a:ext cx="9418320" cy="3108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600" b="1" i="0">
                <a:solidFill>
                  <a:srgbClr val="FFFFFF"/>
                </a:solidFill>
                <a:latin typeface="Aptos"/>
              </a:rPr>
              <a:t>One customer, one route of record: self-serve below the enterprise threshold, direct above it, marketplace whenever a cloud commitment applies, partner when delivery capacity decides.</a:t>
            </a:r>
            <a:endParaRPr sz="1600" b="1" i="0">
              <a:solidFill>
                <a:srgbClr val="FFFFFF"/>
              </a:solidFill>
              <a:latin typeface="Aptos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914400" y="6473952"/>
            <a:ext cx="7955279" cy="18288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800" b="0" i="0">
                <a:solidFill>
                  <a:srgbClr val="D9D5CC"/>
                </a:solidFill>
                <a:latin typeface="Aptos"/>
              </a:rPr>
              <a:t>Mistral Studio  •  Launch &amp; commercialization plan</a:t>
            </a:r>
            <a:endParaRPr sz="800" b="0" i="0">
              <a:solidFill>
                <a:srgbClr val="6F6A61"/>
              </a:solidFill>
              <a:latin typeface="Aptos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11109960" y="6455664"/>
            <a:ext cx="438912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00" b="1" i="0">
                <a:solidFill>
                  <a:srgbClr val="FFFFFF"/>
                </a:solidFill>
                <a:latin typeface="Aptos"/>
              </a:rPr>
              <a:t>04</a:t>
            </a:r>
            <a:endParaRPr sz="900" b="1" i="0">
              <a:solidFill>
                <a:srgbClr val="6F6A61"/>
              </a:solidFill>
              <a:latin typeface="Aptos"/>
            </a:endParaRPr>
          </a:p>
        </p:txBody>
      </p:sp>
      <p:pic>
        <p:nvPicPr>
          <p:cNvPr id="40" name="Picture 39" descr="mistral-gradient-icon-dark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446520"/>
            <a:ext cx="201168" cy="207987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8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Rectangle 38"/>
          <p:cNvSpPr/>
          <p:nvPr/>
        </p:nvSpPr>
        <p:spPr>
          <a:xfrm>
            <a:off x="0" y="6236208"/>
            <a:ext cx="12192000" cy="621792"/>
          </a:xfrm>
          <a:prstGeom prst="rect">
            <a:avLst/>
          </a:prstGeom>
          <a:solidFill>
            <a:srgbClr val="1615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>
            <a:spLocks/>
          </p:cNvSpPr>
          <p:nvPr/>
        </p:nvSpPr>
        <p:spPr>
          <a:xfrm>
            <a:off x="566928" y="274320"/>
            <a:ext cx="237744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300" b="1" i="0">
                <a:solidFill>
                  <a:srgbClr val="F36F21"/>
                </a:solidFill>
                <a:latin typeface="Aptos"/>
              </a:rPr>
              <a:t>PRICING + PACKAGING</a:t>
            </a:r>
          </a:p>
        </p:txBody>
      </p:sp>
      <p:sp>
        <p:nvSpPr>
          <p:cNvPr id="3" name="TextBox 2"/>
          <p:cNvSpPr txBox="1">
            <a:spLocks/>
          </p:cNvSpPr>
          <p:nvPr/>
        </p:nvSpPr>
        <p:spPr>
          <a:xfrm>
            <a:off x="566928" y="530352"/>
            <a:ext cx="10881360" cy="502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3500" b="1" i="0">
                <a:solidFill>
                  <a:srgbClr val="111111"/>
                </a:solidFill>
                <a:latin typeface="Aptos Display"/>
              </a:rPr>
              <a:t>Three ways to buy, one meter, one upgrade path</a:t>
            </a:r>
          </a:p>
        </p:txBody>
      </p:sp>
      <p:sp>
        <p:nvSpPr>
          <p:cNvPr id="4" name="TextBox 3"/>
          <p:cNvSpPr txBox="1">
            <a:spLocks/>
          </p:cNvSpPr>
          <p:nvPr/>
        </p:nvSpPr>
        <p:spPr>
          <a:xfrm>
            <a:off x="566928" y="1051560"/>
            <a:ext cx="10698480" cy="34747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600" b="0" i="0">
                <a:solidFill>
                  <a:srgbClr val="6F6A61"/>
                </a:solidFill>
                <a:latin typeface="Aptos"/>
              </a:rPr>
              <a:t>Entry is free or metered; commitment and deployment control define the paid tiers.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0" y="292608"/>
            <a:ext cx="146304" cy="146304"/>
          </a:xfrm>
          <a:prstGeom prst="rect">
            <a:avLst/>
          </a:prstGeom>
          <a:solidFill>
            <a:srgbClr val="F36F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lang="en-US"/>
          </a:p>
        </p:txBody>
      </p:sp>
      <p:sp>
        <p:nvSpPr>
          <p:cNvPr id="6" name="Rectangle 5"/>
          <p:cNvSpPr/>
          <p:nvPr/>
        </p:nvSpPr>
        <p:spPr>
          <a:xfrm>
            <a:off x="11704320" y="502920"/>
            <a:ext cx="146304" cy="146304"/>
          </a:xfrm>
          <a:prstGeom prst="rect">
            <a:avLst/>
          </a:prstGeom>
          <a:solidFill>
            <a:srgbClr val="FFD4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11704320" y="713232"/>
            <a:ext cx="146304" cy="146304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lang="en-US"/>
          </a:p>
        </p:txBody>
      </p:sp>
      <p:sp>
        <p:nvSpPr>
          <p:cNvPr id="8" name="TextBox 7"/>
          <p:cNvSpPr txBox="1">
            <a:spLocks/>
          </p:cNvSpPr>
          <p:nvPr/>
        </p:nvSpPr>
        <p:spPr>
          <a:xfrm>
            <a:off x="640080" y="1554480"/>
            <a:ext cx="292608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300" b="1" i="0">
                <a:solidFill>
                  <a:srgbClr val="F36F21"/>
                </a:solidFill>
                <a:latin typeface="Aptos"/>
              </a:rPr>
              <a:t>ENTRY + USAGE RATES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883664"/>
            <a:ext cx="91440" cy="603504"/>
          </a:xfrm>
          <a:prstGeom prst="rect">
            <a:avLst/>
          </a:prstGeom>
          <a:solidFill>
            <a:srgbClr val="F229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lang="en-US"/>
          </a:p>
        </p:txBody>
      </p:sp>
      <p:sp>
        <p:nvSpPr>
          <p:cNvPr id="10" name="TextBox 9"/>
          <p:cNvSpPr txBox="1">
            <a:spLocks/>
          </p:cNvSpPr>
          <p:nvPr/>
        </p:nvSpPr>
        <p:spPr>
          <a:xfrm>
            <a:off x="932688" y="1874520"/>
            <a:ext cx="416052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800" b="1" i="0">
                <a:solidFill>
                  <a:srgbClr val="111111"/>
                </a:solidFill>
                <a:latin typeface="Aptos"/>
              </a:rPr>
              <a:t>Mistral Medium 3.5</a:t>
            </a:r>
          </a:p>
        </p:txBody>
      </p:sp>
      <p:sp>
        <p:nvSpPr>
          <p:cNvPr id="11" name="TextBox 10"/>
          <p:cNvSpPr txBox="1">
            <a:spLocks/>
          </p:cNvSpPr>
          <p:nvPr/>
        </p:nvSpPr>
        <p:spPr>
          <a:xfrm>
            <a:off x="932688" y="2167128"/>
            <a:ext cx="425196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500" b="0" i="0">
                <a:solidFill>
                  <a:srgbClr val="6F6A61"/>
                </a:solidFill>
                <a:latin typeface="Aptos"/>
              </a:rPr>
              <a:t>$1.50 in • $7.50 out per 1M tokens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2743200"/>
            <a:ext cx="91440" cy="603504"/>
          </a:xfrm>
          <a:prstGeom prst="rect">
            <a:avLst/>
          </a:prstGeom>
          <a:solidFill>
            <a:srgbClr val="FA50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lang="en-US"/>
          </a:p>
        </p:txBody>
      </p:sp>
      <p:sp>
        <p:nvSpPr>
          <p:cNvPr id="13" name="TextBox 12"/>
          <p:cNvSpPr txBox="1">
            <a:spLocks/>
          </p:cNvSpPr>
          <p:nvPr/>
        </p:nvSpPr>
        <p:spPr>
          <a:xfrm>
            <a:off x="932688" y="2734056"/>
            <a:ext cx="416052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800" b="1" i="0">
                <a:solidFill>
                  <a:srgbClr val="111111"/>
                </a:solidFill>
                <a:latin typeface="Aptos"/>
              </a:rPr>
              <a:t>Mistral Small 4</a:t>
            </a:r>
          </a:p>
        </p:txBody>
      </p:sp>
      <p:sp>
        <p:nvSpPr>
          <p:cNvPr id="14" name="TextBox 13"/>
          <p:cNvSpPr txBox="1">
            <a:spLocks/>
          </p:cNvSpPr>
          <p:nvPr/>
        </p:nvSpPr>
        <p:spPr>
          <a:xfrm>
            <a:off x="932688" y="3026664"/>
            <a:ext cx="425196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500" b="0" i="0">
                <a:solidFill>
                  <a:srgbClr val="6F6A61"/>
                </a:solidFill>
                <a:latin typeface="Aptos"/>
              </a:rPr>
              <a:t>From $0.15 in • $0.60 out per 1M tokens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3602736"/>
            <a:ext cx="91440" cy="603504"/>
          </a:xfrm>
          <a:prstGeom prst="rect">
            <a:avLst/>
          </a:prstGeom>
          <a:solidFill>
            <a:srgbClr val="F18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lang="en-US"/>
          </a:p>
        </p:txBody>
      </p:sp>
      <p:sp>
        <p:nvSpPr>
          <p:cNvPr id="16" name="TextBox 15"/>
          <p:cNvSpPr txBox="1">
            <a:spLocks/>
          </p:cNvSpPr>
          <p:nvPr/>
        </p:nvSpPr>
        <p:spPr>
          <a:xfrm>
            <a:off x="932688" y="3593592"/>
            <a:ext cx="416052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800" b="1" i="0">
                <a:solidFill>
                  <a:srgbClr val="111111"/>
                </a:solidFill>
                <a:latin typeface="Aptos"/>
              </a:rPr>
              <a:t>Free tier + trial</a:t>
            </a:r>
          </a:p>
        </p:txBody>
      </p:sp>
      <p:sp>
        <p:nvSpPr>
          <p:cNvPr id="17" name="TextBox 16"/>
          <p:cNvSpPr txBox="1">
            <a:spLocks/>
          </p:cNvSpPr>
          <p:nvPr/>
        </p:nvSpPr>
        <p:spPr>
          <a:xfrm>
            <a:off x="932688" y="3886200"/>
            <a:ext cx="425196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500" b="0" i="0">
                <a:solidFill>
                  <a:srgbClr val="6F6A61"/>
                </a:solidFill>
                <a:latin typeface="Aptos"/>
              </a:rPr>
              <a:t>Free workspace credits; 30-day POV credits for qualified enterprise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4462272"/>
            <a:ext cx="91440" cy="603504"/>
          </a:xfrm>
          <a:prstGeom prst="rect">
            <a:avLst/>
          </a:prstGeom>
          <a:solidFill>
            <a:srgbClr val="FF70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lang="en-US"/>
          </a:p>
        </p:txBody>
      </p:sp>
      <p:sp>
        <p:nvSpPr>
          <p:cNvPr id="19" name="TextBox 18"/>
          <p:cNvSpPr txBox="1">
            <a:spLocks/>
          </p:cNvSpPr>
          <p:nvPr/>
        </p:nvSpPr>
        <p:spPr>
          <a:xfrm>
            <a:off x="932688" y="4453128"/>
            <a:ext cx="416052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800" b="1" i="0">
                <a:solidFill>
                  <a:srgbClr val="111111"/>
                </a:solidFill>
                <a:latin typeface="Aptos"/>
              </a:rPr>
              <a:t>Upgrade paths</a:t>
            </a:r>
          </a:p>
        </p:txBody>
      </p:sp>
      <p:sp>
        <p:nvSpPr>
          <p:cNvPr id="20" name="TextBox 19"/>
          <p:cNvSpPr txBox="1">
            <a:spLocks/>
          </p:cNvSpPr>
          <p:nvPr/>
        </p:nvSpPr>
        <p:spPr>
          <a:xfrm>
            <a:off x="932688" y="4745736"/>
            <a:ext cx="425196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500" b="0" i="0">
                <a:solidFill>
                  <a:srgbClr val="6F6A61"/>
                </a:solidFill>
                <a:latin typeface="Aptos"/>
              </a:rPr>
              <a:t>Serverless → Dedicated at committed spend; Dedicated → Self-hosted on control need</a:t>
            </a:r>
          </a:p>
        </p:txBody>
      </p:sp>
      <p:sp>
        <p:nvSpPr>
          <p:cNvPr id="21" name="TextBox 20"/>
          <p:cNvSpPr txBox="1">
            <a:spLocks/>
          </p:cNvSpPr>
          <p:nvPr/>
        </p:nvSpPr>
        <p:spPr>
          <a:xfrm>
            <a:off x="5806440" y="1554480"/>
            <a:ext cx="301752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300" b="1" i="0">
                <a:solidFill>
                  <a:srgbClr val="FA500A"/>
                </a:solidFill>
                <a:latin typeface="Aptos"/>
              </a:rPr>
              <a:t>PACKAGING TIERS</a:t>
            </a:r>
          </a:p>
        </p:txBody>
      </p:sp>
      <p:sp>
        <p:nvSpPr>
          <p:cNvPr id="22" name="TextBox 21"/>
          <p:cNvSpPr txBox="1">
            <a:spLocks/>
          </p:cNvSpPr>
          <p:nvPr/>
        </p:nvSpPr>
        <p:spPr>
          <a:xfrm>
            <a:off x="5806440" y="1901952"/>
            <a:ext cx="114300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300" b="1" i="0">
                <a:solidFill>
                  <a:srgbClr val="FA500A"/>
                </a:solidFill>
                <a:latin typeface="Aptos"/>
              </a:rPr>
              <a:t>SERVERLESS</a:t>
            </a:r>
          </a:p>
        </p:txBody>
      </p:sp>
      <p:sp>
        <p:nvSpPr>
          <p:cNvPr id="23" name="TextBox 22"/>
          <p:cNvSpPr txBox="1">
            <a:spLocks/>
          </p:cNvSpPr>
          <p:nvPr/>
        </p:nvSpPr>
        <p:spPr>
          <a:xfrm>
            <a:off x="7059168" y="1883664"/>
            <a:ext cx="3977639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000" b="1" i="0">
                <a:solidFill>
                  <a:srgbClr val="111111"/>
                </a:solidFill>
                <a:latin typeface="Aptos"/>
              </a:rPr>
              <a:t>Pay as you go</a:t>
            </a:r>
          </a:p>
        </p:txBody>
      </p:sp>
      <p:sp>
        <p:nvSpPr>
          <p:cNvPr id="24" name="TextBox 23"/>
          <p:cNvSpPr txBox="1">
            <a:spLocks/>
          </p:cNvSpPr>
          <p:nvPr/>
        </p:nvSpPr>
        <p:spPr>
          <a:xfrm>
            <a:off x="7059168" y="2231136"/>
            <a:ext cx="4114800" cy="502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600" b="0" i="0">
                <a:solidFill>
                  <a:srgbClr val="6F6A61"/>
                </a:solidFill>
                <a:latin typeface="Aptos"/>
              </a:rPr>
              <a:t>Self-serve workspace and API. No commitment, metered usage, card or invoice.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06440" y="2816352"/>
            <a:ext cx="5303520" cy="10972"/>
          </a:xfrm>
          <a:prstGeom prst="rect">
            <a:avLst/>
          </a:prstGeom>
          <a:solidFill>
            <a:srgbClr val="D8CC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lang="en-US"/>
          </a:p>
        </p:txBody>
      </p:sp>
      <p:sp>
        <p:nvSpPr>
          <p:cNvPr id="26" name="TextBox 25"/>
          <p:cNvSpPr txBox="1">
            <a:spLocks/>
          </p:cNvSpPr>
          <p:nvPr/>
        </p:nvSpPr>
        <p:spPr>
          <a:xfrm>
            <a:off x="5806440" y="3035808"/>
            <a:ext cx="114300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300" b="1" i="0">
                <a:solidFill>
                  <a:srgbClr val="F18728"/>
                </a:solidFill>
                <a:latin typeface="Aptos"/>
              </a:rPr>
              <a:t>DEDICATED</a:t>
            </a:r>
          </a:p>
        </p:txBody>
      </p:sp>
      <p:sp>
        <p:nvSpPr>
          <p:cNvPr id="27" name="TextBox 26"/>
          <p:cNvSpPr txBox="1">
            <a:spLocks/>
          </p:cNvSpPr>
          <p:nvPr/>
        </p:nvSpPr>
        <p:spPr>
          <a:xfrm>
            <a:off x="7059168" y="3017520"/>
            <a:ext cx="3977639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000" b="1" i="0">
                <a:solidFill>
                  <a:srgbClr val="111111"/>
                </a:solidFill>
                <a:latin typeface="Aptos"/>
              </a:rPr>
              <a:t>Committed capacity</a:t>
            </a:r>
          </a:p>
        </p:txBody>
      </p:sp>
      <p:sp>
        <p:nvSpPr>
          <p:cNvPr id="28" name="TextBox 27"/>
          <p:cNvSpPr txBox="1">
            <a:spLocks/>
          </p:cNvSpPr>
          <p:nvPr/>
        </p:nvSpPr>
        <p:spPr>
          <a:xfrm>
            <a:off x="7059168" y="3364992"/>
            <a:ext cx="4114800" cy="502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600" b="0" i="0">
                <a:solidFill>
                  <a:srgbClr val="6F6A61"/>
                </a:solidFill>
                <a:latin typeface="Aptos"/>
              </a:rPr>
              <a:t>Reserved throughput, in-region inference, annual commitment with drawdown.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806440" y="3950208"/>
            <a:ext cx="5303520" cy="10972"/>
          </a:xfrm>
          <a:prstGeom prst="rect">
            <a:avLst/>
          </a:prstGeom>
          <a:solidFill>
            <a:srgbClr val="D8CC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lang="en-US"/>
          </a:p>
        </p:txBody>
      </p:sp>
      <p:sp>
        <p:nvSpPr>
          <p:cNvPr id="30" name="TextBox 29"/>
          <p:cNvSpPr txBox="1">
            <a:spLocks/>
          </p:cNvSpPr>
          <p:nvPr/>
        </p:nvSpPr>
        <p:spPr>
          <a:xfrm>
            <a:off x="5806440" y="4169664"/>
            <a:ext cx="114300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300" b="1" i="0">
                <a:solidFill>
                  <a:srgbClr val="F22902"/>
                </a:solidFill>
                <a:latin typeface="Aptos"/>
              </a:rPr>
              <a:t>SELF-HOSTED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59168" y="4151376"/>
            <a:ext cx="3977639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000" b="1" i="0">
                <a:solidFill>
                  <a:srgbClr val="111111"/>
                </a:solidFill>
                <a:latin typeface="Aptos"/>
              </a:rPr>
              <a:t>Enterprise Suite</a:t>
            </a:r>
            <a:endParaRPr sz="2000" b="1" i="0">
              <a:solidFill>
                <a:srgbClr val="111111"/>
              </a:solidFill>
              <a:latin typeface="Aptos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7059168" y="4498848"/>
            <a:ext cx="4114800" cy="502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600" b="0" i="0">
                <a:solidFill>
                  <a:srgbClr val="6F6A61"/>
                </a:solidFill>
                <a:latin typeface="Aptos"/>
              </a:rPr>
              <a:t>Your VPC or on-prem; licensed per environment, private offer via marketplaces.</a:t>
            </a:r>
            <a:endParaRPr sz="1600" b="0" i="0">
              <a:solidFill>
                <a:srgbClr val="6F6A61"/>
              </a:solidFill>
              <a:latin typeface="Aptos"/>
            </a:endParaRPr>
          </a:p>
        </p:txBody>
      </p:sp>
      <p:sp>
        <p:nvSpPr>
          <p:cNvPr id="33" name="Rectangle 32"/>
          <p:cNvSpPr/>
          <p:nvPr/>
        </p:nvSpPr>
        <p:spPr>
          <a:xfrm>
            <a:off x="640080" y="5669280"/>
            <a:ext cx="10561320" cy="585216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868680" y="5843016"/>
            <a:ext cx="45720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300" b="1" i="0">
                <a:solidFill>
                  <a:srgbClr val="FFD447"/>
                </a:solidFill>
                <a:latin typeface="Aptos"/>
              </a:rPr>
              <a:t>NOTE</a:t>
            </a:r>
            <a:endParaRPr sz="1300" b="1" i="0">
              <a:solidFill>
                <a:srgbClr val="FFD447"/>
              </a:solidFill>
              <a:latin typeface="Aptos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1444752" y="5788152"/>
            <a:ext cx="9418320" cy="3108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600" b="1" i="0">
                <a:solidFill>
                  <a:srgbClr val="FFFFFF"/>
                </a:solidFill>
                <a:latin typeface="Aptos"/>
              </a:rPr>
              <a:t>Published rates are list price; dedicated and self-hosted are quoted per deal. Launch pricing, free-tier limits and discount policy require internal approval before external use.</a:t>
            </a:r>
            <a:endParaRPr sz="1600" b="1" i="0">
              <a:solidFill>
                <a:srgbClr val="FFFFFF"/>
              </a:solidFill>
              <a:latin typeface="Aptos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914400" y="6473952"/>
            <a:ext cx="7955279" cy="18288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800" b="0" i="0">
                <a:solidFill>
                  <a:srgbClr val="D9D5CC"/>
                </a:solidFill>
                <a:latin typeface="Aptos"/>
              </a:rPr>
              <a:t>Mistral Studio  •  Launch &amp; commercialization plan</a:t>
            </a:r>
            <a:endParaRPr sz="800" b="0" i="0">
              <a:solidFill>
                <a:srgbClr val="6F6A61"/>
              </a:solidFill>
              <a:latin typeface="Aptos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11109960" y="6455664"/>
            <a:ext cx="438912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00" b="1" i="0">
                <a:solidFill>
                  <a:srgbClr val="FFFFFF"/>
                </a:solidFill>
                <a:latin typeface="Aptos"/>
              </a:rPr>
              <a:t>05</a:t>
            </a:r>
            <a:endParaRPr sz="900" b="1" i="0">
              <a:solidFill>
                <a:srgbClr val="6F6A61"/>
              </a:solidFill>
              <a:latin typeface="Aptos"/>
            </a:endParaRPr>
          </a:p>
        </p:txBody>
      </p:sp>
      <p:pic>
        <p:nvPicPr>
          <p:cNvPr id="40" name="Picture 39" descr="mistral-gradient-icon-dark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446520"/>
            <a:ext cx="201168" cy="2079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75977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8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Rectangle 38"/>
          <p:cNvSpPr/>
          <p:nvPr/>
        </p:nvSpPr>
        <p:spPr>
          <a:xfrm>
            <a:off x="0" y="6236208"/>
            <a:ext cx="12192000" cy="621792"/>
          </a:xfrm>
          <a:prstGeom prst="rect">
            <a:avLst/>
          </a:prstGeom>
          <a:solidFill>
            <a:srgbClr val="1615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>
            <a:spLocks/>
          </p:cNvSpPr>
          <p:nvPr/>
        </p:nvSpPr>
        <p:spPr>
          <a:xfrm>
            <a:off x="566928" y="274320"/>
            <a:ext cx="237744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300" b="1" i="0">
                <a:solidFill>
                  <a:srgbClr val="F36F21"/>
                </a:solidFill>
                <a:latin typeface="Aptos"/>
              </a:rPr>
              <a:t>OFFER ARCHITECTURE + COMMERCIAL TERMS</a:t>
            </a:r>
          </a:p>
        </p:txBody>
      </p:sp>
      <p:sp>
        <p:nvSpPr>
          <p:cNvPr id="3" name="TextBox 2"/>
          <p:cNvSpPr txBox="1">
            <a:spLocks/>
          </p:cNvSpPr>
          <p:nvPr/>
        </p:nvSpPr>
        <p:spPr>
          <a:xfrm>
            <a:off x="566928" y="530352"/>
            <a:ext cx="10881360" cy="502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3500" b="1" i="0">
                <a:solidFill>
                  <a:srgbClr val="111111"/>
                </a:solidFill>
                <a:latin typeface="Aptos Display"/>
              </a:rPr>
              <a:t>How the offer is sold, committed and discounted</a:t>
            </a:r>
          </a:p>
        </p:txBody>
      </p:sp>
      <p:sp>
        <p:nvSpPr>
          <p:cNvPr id="4" name="TextBox 3"/>
          <p:cNvSpPr txBox="1">
            <a:spLocks/>
          </p:cNvSpPr>
          <p:nvPr/>
        </p:nvSpPr>
        <p:spPr>
          <a:xfrm>
            <a:off x="566928" y="1051560"/>
            <a:ext cx="10698480" cy="34747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600" b="0" i="0">
                <a:solidFill>
                  <a:srgbClr val="6F6A61"/>
                </a:solidFill>
                <a:latin typeface="Aptos"/>
              </a:rPr>
              <a:t>SKU structure, contract model and marketplace mechanics behind the three tiers.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0" y="292608"/>
            <a:ext cx="146304" cy="146304"/>
          </a:xfrm>
          <a:prstGeom prst="rect">
            <a:avLst/>
          </a:prstGeom>
          <a:solidFill>
            <a:srgbClr val="F36F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lang="en-US"/>
          </a:p>
        </p:txBody>
      </p:sp>
      <p:sp>
        <p:nvSpPr>
          <p:cNvPr id="6" name="Rectangle 5"/>
          <p:cNvSpPr/>
          <p:nvPr/>
        </p:nvSpPr>
        <p:spPr>
          <a:xfrm>
            <a:off x="11704320" y="502920"/>
            <a:ext cx="146304" cy="146304"/>
          </a:xfrm>
          <a:prstGeom prst="rect">
            <a:avLst/>
          </a:prstGeom>
          <a:solidFill>
            <a:srgbClr val="FFD4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11704320" y="713232"/>
            <a:ext cx="146304" cy="146304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lang="en-US"/>
          </a:p>
        </p:txBody>
      </p:sp>
      <p:sp>
        <p:nvSpPr>
          <p:cNvPr id="8" name="TextBox 7"/>
          <p:cNvSpPr txBox="1">
            <a:spLocks/>
          </p:cNvSpPr>
          <p:nvPr/>
        </p:nvSpPr>
        <p:spPr>
          <a:xfrm>
            <a:off x="640080" y="1554480"/>
            <a:ext cx="292608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300" b="1" i="0">
                <a:solidFill>
                  <a:srgbClr val="F36F21"/>
                </a:solidFill>
                <a:latin typeface="Aptos"/>
              </a:rPr>
              <a:t>SKU / OFFER ARCHITECTURE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883664"/>
            <a:ext cx="91440" cy="603504"/>
          </a:xfrm>
          <a:prstGeom prst="rect">
            <a:avLst/>
          </a:prstGeom>
          <a:solidFill>
            <a:srgbClr val="F229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lang="en-US"/>
          </a:p>
        </p:txBody>
      </p:sp>
      <p:sp>
        <p:nvSpPr>
          <p:cNvPr id="10" name="TextBox 9"/>
          <p:cNvSpPr txBox="1">
            <a:spLocks/>
          </p:cNvSpPr>
          <p:nvPr/>
        </p:nvSpPr>
        <p:spPr>
          <a:xfrm>
            <a:off x="932688" y="1874520"/>
            <a:ext cx="416052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800" b="1" i="0">
                <a:solidFill>
                  <a:srgbClr val="111111"/>
                </a:solidFill>
                <a:latin typeface="Aptos"/>
              </a:rPr>
              <a:t>Serverless usage SKU</a:t>
            </a:r>
          </a:p>
        </p:txBody>
      </p:sp>
      <p:sp>
        <p:nvSpPr>
          <p:cNvPr id="11" name="TextBox 10"/>
          <p:cNvSpPr txBox="1">
            <a:spLocks/>
          </p:cNvSpPr>
          <p:nvPr/>
        </p:nvSpPr>
        <p:spPr>
          <a:xfrm>
            <a:off x="932688" y="2167128"/>
            <a:ext cx="425196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500" b="0" i="0">
                <a:solidFill>
                  <a:srgbClr val="6F6A61"/>
                </a:solidFill>
                <a:latin typeface="Aptos"/>
              </a:rPr>
              <a:t>Metered tokens and pages; no minimum, monthly invoice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2743200"/>
            <a:ext cx="91440" cy="603504"/>
          </a:xfrm>
          <a:prstGeom prst="rect">
            <a:avLst/>
          </a:prstGeom>
          <a:solidFill>
            <a:srgbClr val="FA50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lang="en-US"/>
          </a:p>
        </p:txBody>
      </p:sp>
      <p:sp>
        <p:nvSpPr>
          <p:cNvPr id="13" name="TextBox 12"/>
          <p:cNvSpPr txBox="1">
            <a:spLocks/>
          </p:cNvSpPr>
          <p:nvPr/>
        </p:nvSpPr>
        <p:spPr>
          <a:xfrm>
            <a:off x="932688" y="2734056"/>
            <a:ext cx="416052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800" b="1" i="0">
                <a:solidFill>
                  <a:srgbClr val="111111"/>
                </a:solidFill>
                <a:latin typeface="Aptos"/>
              </a:rPr>
              <a:t>Dedicated capacity SKU</a:t>
            </a:r>
          </a:p>
        </p:txBody>
      </p:sp>
      <p:sp>
        <p:nvSpPr>
          <p:cNvPr id="14" name="TextBox 13"/>
          <p:cNvSpPr txBox="1">
            <a:spLocks/>
          </p:cNvSpPr>
          <p:nvPr/>
        </p:nvSpPr>
        <p:spPr>
          <a:xfrm>
            <a:off x="932688" y="3026664"/>
            <a:ext cx="425196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500" b="0" i="0">
                <a:solidFill>
                  <a:srgbClr val="6F6A61"/>
                </a:solidFill>
                <a:latin typeface="Aptos"/>
              </a:rPr>
              <a:t>Reserved throughput units, in-region, annual term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3602736"/>
            <a:ext cx="91440" cy="603504"/>
          </a:xfrm>
          <a:prstGeom prst="rect">
            <a:avLst/>
          </a:prstGeom>
          <a:solidFill>
            <a:srgbClr val="F18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lang="en-US"/>
          </a:p>
        </p:txBody>
      </p:sp>
      <p:sp>
        <p:nvSpPr>
          <p:cNvPr id="16" name="TextBox 15"/>
          <p:cNvSpPr txBox="1">
            <a:spLocks/>
          </p:cNvSpPr>
          <p:nvPr/>
        </p:nvSpPr>
        <p:spPr>
          <a:xfrm>
            <a:off x="932688" y="3593592"/>
            <a:ext cx="416052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800" b="1" i="0">
                <a:solidFill>
                  <a:srgbClr val="111111"/>
                </a:solidFill>
                <a:latin typeface="Aptos"/>
              </a:rPr>
              <a:t>Self-hosted suite SKU</a:t>
            </a:r>
          </a:p>
        </p:txBody>
      </p:sp>
      <p:sp>
        <p:nvSpPr>
          <p:cNvPr id="17" name="TextBox 16"/>
          <p:cNvSpPr txBox="1">
            <a:spLocks/>
          </p:cNvSpPr>
          <p:nvPr/>
        </p:nvSpPr>
        <p:spPr>
          <a:xfrm>
            <a:off x="932688" y="3886200"/>
            <a:ext cx="425196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500" b="0" i="0">
                <a:solidFill>
                  <a:srgbClr val="6F6A61"/>
                </a:solidFill>
                <a:latin typeface="Aptos"/>
              </a:rPr>
              <a:t>Per-environment license plus support subscription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4462272"/>
            <a:ext cx="91440" cy="603504"/>
          </a:xfrm>
          <a:prstGeom prst="rect">
            <a:avLst/>
          </a:prstGeom>
          <a:solidFill>
            <a:srgbClr val="FF70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lang="en-US"/>
          </a:p>
        </p:txBody>
      </p:sp>
      <p:sp>
        <p:nvSpPr>
          <p:cNvPr id="19" name="TextBox 18"/>
          <p:cNvSpPr txBox="1">
            <a:spLocks/>
          </p:cNvSpPr>
          <p:nvPr/>
        </p:nvSpPr>
        <p:spPr>
          <a:xfrm>
            <a:off x="932688" y="4453128"/>
            <a:ext cx="416052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800" b="1" i="0">
                <a:solidFill>
                  <a:srgbClr val="111111"/>
                </a:solidFill>
                <a:latin typeface="Aptos"/>
              </a:rPr>
              <a:t>Add-on SKUs</a:t>
            </a:r>
          </a:p>
        </p:txBody>
      </p:sp>
      <p:sp>
        <p:nvSpPr>
          <p:cNvPr id="20" name="TextBox 19"/>
          <p:cNvSpPr txBox="1">
            <a:spLocks/>
          </p:cNvSpPr>
          <p:nvPr/>
        </p:nvSpPr>
        <p:spPr>
          <a:xfrm>
            <a:off x="932688" y="4745736"/>
            <a:ext cx="425196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500" b="0" i="0">
                <a:solidFill>
                  <a:srgbClr val="6F6A61"/>
                </a:solidFill>
                <a:latin typeface="Aptos"/>
              </a:rPr>
              <a:t>Premium support, Document AI volume, extended retention</a:t>
            </a:r>
          </a:p>
        </p:txBody>
      </p:sp>
      <p:sp>
        <p:nvSpPr>
          <p:cNvPr id="21" name="TextBox 20"/>
          <p:cNvSpPr txBox="1">
            <a:spLocks/>
          </p:cNvSpPr>
          <p:nvPr/>
        </p:nvSpPr>
        <p:spPr>
          <a:xfrm>
            <a:off x="5806440" y="1554480"/>
            <a:ext cx="301752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300" b="1" i="0">
                <a:solidFill>
                  <a:srgbClr val="FA500A"/>
                </a:solidFill>
                <a:latin typeface="Aptos"/>
              </a:rPr>
              <a:t>CONTRACT + DISCOUNT MECHANICS</a:t>
            </a:r>
          </a:p>
        </p:txBody>
      </p:sp>
      <p:sp>
        <p:nvSpPr>
          <p:cNvPr id="22" name="TextBox 21"/>
          <p:cNvSpPr txBox="1">
            <a:spLocks/>
          </p:cNvSpPr>
          <p:nvPr/>
        </p:nvSpPr>
        <p:spPr>
          <a:xfrm>
            <a:off x="5806440" y="1901952"/>
            <a:ext cx="114300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300" b="1" i="0">
                <a:solidFill>
                  <a:srgbClr val="FA500A"/>
                </a:solidFill>
                <a:latin typeface="Aptos"/>
              </a:rPr>
              <a:t>COMMITMENT</a:t>
            </a:r>
          </a:p>
        </p:txBody>
      </p:sp>
      <p:sp>
        <p:nvSpPr>
          <p:cNvPr id="23" name="TextBox 22"/>
          <p:cNvSpPr txBox="1">
            <a:spLocks/>
          </p:cNvSpPr>
          <p:nvPr/>
        </p:nvSpPr>
        <p:spPr>
          <a:xfrm>
            <a:off x="7059168" y="1883664"/>
            <a:ext cx="3977639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000" b="1" i="0">
                <a:solidFill>
                  <a:srgbClr val="111111"/>
                </a:solidFill>
                <a:latin typeface="Aptos"/>
              </a:rPr>
              <a:t>Annual drawdown</a:t>
            </a:r>
          </a:p>
        </p:txBody>
      </p:sp>
      <p:sp>
        <p:nvSpPr>
          <p:cNvPr id="24" name="TextBox 23"/>
          <p:cNvSpPr txBox="1">
            <a:spLocks/>
          </p:cNvSpPr>
          <p:nvPr/>
        </p:nvSpPr>
        <p:spPr>
          <a:xfrm>
            <a:off x="7059168" y="2231136"/>
            <a:ext cx="4114800" cy="502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600" b="0" i="0">
                <a:solidFill>
                  <a:srgbClr val="6F6A61"/>
                </a:solidFill>
                <a:latin typeface="Aptos"/>
              </a:rPr>
              <a:t>12–36 month committed spend drawn down against usage; overage at list.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06440" y="2816352"/>
            <a:ext cx="5303520" cy="10972"/>
          </a:xfrm>
          <a:prstGeom prst="rect">
            <a:avLst/>
          </a:prstGeom>
          <a:solidFill>
            <a:srgbClr val="D8CC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lang="en-US"/>
          </a:p>
        </p:txBody>
      </p:sp>
      <p:sp>
        <p:nvSpPr>
          <p:cNvPr id="26" name="TextBox 25"/>
          <p:cNvSpPr txBox="1">
            <a:spLocks/>
          </p:cNvSpPr>
          <p:nvPr/>
        </p:nvSpPr>
        <p:spPr>
          <a:xfrm>
            <a:off x="5806440" y="3035808"/>
            <a:ext cx="114300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300" b="1" i="0">
                <a:solidFill>
                  <a:srgbClr val="F18728"/>
                </a:solidFill>
                <a:latin typeface="Aptos"/>
              </a:rPr>
              <a:t>DISCOUNTING</a:t>
            </a:r>
          </a:p>
        </p:txBody>
      </p:sp>
      <p:sp>
        <p:nvSpPr>
          <p:cNvPr id="27" name="TextBox 26"/>
          <p:cNvSpPr txBox="1">
            <a:spLocks/>
          </p:cNvSpPr>
          <p:nvPr/>
        </p:nvSpPr>
        <p:spPr>
          <a:xfrm>
            <a:off x="7059168" y="3017520"/>
            <a:ext cx="3977639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000" b="1" i="0">
                <a:solidFill>
                  <a:srgbClr val="111111"/>
                </a:solidFill>
                <a:latin typeface="Aptos"/>
              </a:rPr>
              <a:t>Banded and approved</a:t>
            </a:r>
          </a:p>
        </p:txBody>
      </p:sp>
      <p:sp>
        <p:nvSpPr>
          <p:cNvPr id="28" name="TextBox 27"/>
          <p:cNvSpPr txBox="1">
            <a:spLocks/>
          </p:cNvSpPr>
          <p:nvPr/>
        </p:nvSpPr>
        <p:spPr>
          <a:xfrm>
            <a:off x="7059168" y="3364992"/>
            <a:ext cx="4114800" cy="502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600" b="0" i="0">
                <a:solidFill>
                  <a:srgbClr val="6F6A61"/>
                </a:solidFill>
                <a:latin typeface="Aptos"/>
              </a:rPr>
              <a:t>Discount tiered by commitment and term; beyond band needs Finance and CRO.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806440" y="3950208"/>
            <a:ext cx="5303520" cy="10972"/>
          </a:xfrm>
          <a:prstGeom prst="rect">
            <a:avLst/>
          </a:prstGeom>
          <a:solidFill>
            <a:srgbClr val="D8CC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lang="en-US"/>
          </a:p>
        </p:txBody>
      </p:sp>
      <p:sp>
        <p:nvSpPr>
          <p:cNvPr id="30" name="TextBox 29"/>
          <p:cNvSpPr txBox="1">
            <a:spLocks/>
          </p:cNvSpPr>
          <p:nvPr/>
        </p:nvSpPr>
        <p:spPr>
          <a:xfrm>
            <a:off x="5806440" y="4169664"/>
            <a:ext cx="114300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300" b="1" i="0">
                <a:solidFill>
                  <a:srgbClr val="F22902"/>
                </a:solidFill>
                <a:latin typeface="Aptos"/>
              </a:rPr>
              <a:t>MARKETPLACE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59168" y="4151376"/>
            <a:ext cx="3977639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000" b="1" i="0">
                <a:solidFill>
                  <a:srgbClr val="111111"/>
                </a:solidFill>
                <a:latin typeface="Aptos"/>
              </a:rPr>
              <a:t>Private offers</a:t>
            </a:r>
            <a:endParaRPr sz="2000" b="1" i="0">
              <a:solidFill>
                <a:srgbClr val="111111"/>
              </a:solidFill>
              <a:latin typeface="Aptos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7059168" y="4498848"/>
            <a:ext cx="4114800" cy="502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600" b="0" i="0">
                <a:solidFill>
                  <a:srgbClr val="6F6A61"/>
                </a:solidFill>
                <a:latin typeface="Aptos"/>
              </a:rPr>
              <a:t>AWS, Azure and GCP listings; private offers retire cloud commitment.</a:t>
            </a:r>
            <a:endParaRPr sz="1600" b="0" i="0">
              <a:solidFill>
                <a:srgbClr val="6F6A61"/>
              </a:solidFill>
              <a:latin typeface="Aptos"/>
            </a:endParaRPr>
          </a:p>
        </p:txBody>
      </p:sp>
      <p:sp>
        <p:nvSpPr>
          <p:cNvPr id="33" name="Rectangle 32"/>
          <p:cNvSpPr/>
          <p:nvPr/>
        </p:nvSpPr>
        <p:spPr>
          <a:xfrm>
            <a:off x="640080" y="5669280"/>
            <a:ext cx="10561320" cy="585216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868680" y="5843016"/>
            <a:ext cx="45720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300" b="1" i="0">
                <a:solidFill>
                  <a:srgbClr val="FFD447"/>
                </a:solidFill>
                <a:latin typeface="Aptos"/>
              </a:rPr>
              <a:t>NOTE</a:t>
            </a:r>
            <a:endParaRPr sz="1300" b="1" i="0">
              <a:solidFill>
                <a:srgbClr val="FFD447"/>
              </a:solidFill>
              <a:latin typeface="Aptos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1444752" y="5788152"/>
            <a:ext cx="9418320" cy="3108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600" b="1" i="0">
                <a:solidFill>
                  <a:srgbClr val="FFFFFF"/>
                </a:solidFill>
                <a:latin typeface="Aptos"/>
              </a:rPr>
              <a:t>SKU structure, discount bands, commitment terms and marketplace listing dates are proposals pending Finance, Legal and Alliances approval.</a:t>
            </a:r>
            <a:endParaRPr sz="1600" b="1" i="0">
              <a:solidFill>
                <a:srgbClr val="FFFFFF"/>
              </a:solidFill>
              <a:latin typeface="Aptos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914400" y="6473952"/>
            <a:ext cx="7955279" cy="18288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800" b="0" i="0">
                <a:solidFill>
                  <a:srgbClr val="D9D5CC"/>
                </a:solidFill>
                <a:latin typeface="Aptos"/>
              </a:rPr>
              <a:t>Mistral Studio  •  Launch &amp; commercialization plan</a:t>
            </a:r>
            <a:endParaRPr sz="800" b="0" i="0">
              <a:solidFill>
                <a:srgbClr val="6F6A61"/>
              </a:solidFill>
              <a:latin typeface="Aptos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11109960" y="6455664"/>
            <a:ext cx="438912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00" b="1" i="0">
                <a:solidFill>
                  <a:srgbClr val="FFFFFF"/>
                </a:solidFill>
                <a:latin typeface="Aptos"/>
              </a:rPr>
              <a:t>06</a:t>
            </a:r>
            <a:endParaRPr sz="900" b="1" i="0">
              <a:solidFill>
                <a:srgbClr val="6F6A61"/>
              </a:solidFill>
              <a:latin typeface="Aptos"/>
            </a:endParaRPr>
          </a:p>
        </p:txBody>
      </p:sp>
      <p:pic>
        <p:nvPicPr>
          <p:cNvPr id="40" name="Picture 39" descr="mistral-gradient-icon-dark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446520"/>
            <a:ext cx="201168" cy="2079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153951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8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Rectangle 37"/>
          <p:cNvSpPr/>
          <p:nvPr/>
        </p:nvSpPr>
        <p:spPr>
          <a:xfrm>
            <a:off x="0" y="6236208"/>
            <a:ext cx="12192000" cy="621792"/>
          </a:xfrm>
          <a:prstGeom prst="rect">
            <a:avLst/>
          </a:prstGeom>
          <a:solidFill>
            <a:srgbClr val="1615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>
            <a:spLocks/>
          </p:cNvSpPr>
          <p:nvPr/>
        </p:nvSpPr>
        <p:spPr>
          <a:xfrm>
            <a:off x="566928" y="274320"/>
            <a:ext cx="237744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300" b="1" i="0">
                <a:solidFill>
                  <a:srgbClr val="F36F21"/>
                </a:solidFill>
                <a:latin typeface="Aptos"/>
              </a:rPr>
              <a:t>B. COMMERCIAL MOTION</a:t>
            </a:r>
          </a:p>
        </p:txBody>
      </p:sp>
      <p:sp>
        <p:nvSpPr>
          <p:cNvPr id="3" name="TextBox 2"/>
          <p:cNvSpPr txBox="1">
            <a:spLocks/>
          </p:cNvSpPr>
          <p:nvPr/>
        </p:nvSpPr>
        <p:spPr>
          <a:xfrm>
            <a:off x="566928" y="530352"/>
            <a:ext cx="10881360" cy="502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3500" b="1" i="0">
                <a:solidFill>
                  <a:srgbClr val="111111"/>
                </a:solidFill>
                <a:latin typeface="Aptos Display"/>
              </a:rPr>
              <a:t>Trial to expansion, with a gate at every handoff</a:t>
            </a:r>
          </a:p>
        </p:txBody>
      </p:sp>
      <p:sp>
        <p:nvSpPr>
          <p:cNvPr id="4" name="TextBox 3"/>
          <p:cNvSpPr txBox="1">
            <a:spLocks/>
          </p:cNvSpPr>
          <p:nvPr/>
        </p:nvSpPr>
        <p:spPr>
          <a:xfrm>
            <a:off x="566928" y="1051560"/>
            <a:ext cx="10698480" cy="34747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600" b="0" i="0">
                <a:solidFill>
                  <a:srgbClr val="6F6A61"/>
                </a:solidFill>
                <a:latin typeface="Aptos"/>
              </a:rPr>
              <a:t>Six stages, explicit commercial gates, and the functions that enter at each.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0" y="292608"/>
            <a:ext cx="146304" cy="146304"/>
          </a:xfrm>
          <a:prstGeom prst="rect">
            <a:avLst/>
          </a:prstGeom>
          <a:solidFill>
            <a:srgbClr val="F36F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lang="en-US"/>
          </a:p>
        </p:txBody>
      </p:sp>
      <p:sp>
        <p:nvSpPr>
          <p:cNvPr id="6" name="Rectangle 5"/>
          <p:cNvSpPr/>
          <p:nvPr/>
        </p:nvSpPr>
        <p:spPr>
          <a:xfrm>
            <a:off x="11704320" y="502920"/>
            <a:ext cx="146304" cy="146304"/>
          </a:xfrm>
          <a:prstGeom prst="rect">
            <a:avLst/>
          </a:prstGeom>
          <a:solidFill>
            <a:srgbClr val="FFD4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11704320" y="713232"/>
            <a:ext cx="146304" cy="146304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658368" y="1682496"/>
            <a:ext cx="2423160" cy="91440"/>
          </a:xfrm>
          <a:prstGeom prst="rect">
            <a:avLst/>
          </a:prstGeom>
          <a:solidFill>
            <a:srgbClr val="F229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lang="en-US"/>
          </a:p>
        </p:txBody>
      </p:sp>
      <p:sp>
        <p:nvSpPr>
          <p:cNvPr id="9" name="TextBox 8"/>
          <p:cNvSpPr txBox="1">
            <a:spLocks/>
          </p:cNvSpPr>
          <p:nvPr/>
        </p:nvSpPr>
        <p:spPr>
          <a:xfrm>
            <a:off x="658368" y="1956816"/>
            <a:ext cx="2423160" cy="2468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300" b="1" i="0">
                <a:solidFill>
                  <a:srgbClr val="F22902"/>
                </a:solidFill>
                <a:latin typeface="Aptos"/>
              </a:rPr>
              <a:t>STAGE 01 → 02</a:t>
            </a:r>
          </a:p>
        </p:txBody>
      </p:sp>
      <p:sp>
        <p:nvSpPr>
          <p:cNvPr id="10" name="TextBox 9"/>
          <p:cNvSpPr txBox="1">
            <a:spLocks/>
          </p:cNvSpPr>
          <p:nvPr/>
        </p:nvSpPr>
        <p:spPr>
          <a:xfrm>
            <a:off x="658368" y="2359152"/>
            <a:ext cx="2423160" cy="5669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400" b="1" i="0">
                <a:solidFill>
                  <a:srgbClr val="111111"/>
                </a:solidFill>
                <a:latin typeface="Aptos Display"/>
              </a:rPr>
              <a:t>Trial → Qualify</a:t>
            </a:r>
          </a:p>
        </p:txBody>
      </p:sp>
      <p:sp>
        <p:nvSpPr>
          <p:cNvPr id="11" name="TextBox 10"/>
          <p:cNvSpPr txBox="1">
            <a:spLocks/>
          </p:cNvSpPr>
          <p:nvPr/>
        </p:nvSpPr>
        <p:spPr>
          <a:xfrm>
            <a:off x="658368" y="3163824"/>
            <a:ext cx="2432304" cy="11887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600" b="0" i="0">
                <a:solidFill>
                  <a:srgbClr val="6F6A61"/>
                </a:solidFill>
                <a:latin typeface="Aptos"/>
              </a:rPr>
              <a:t>Gate: workspace active and first workflow run; qualified on use case, budget and deployment need.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4599432"/>
            <a:ext cx="2423160" cy="10972"/>
          </a:xfrm>
          <a:prstGeom prst="rect">
            <a:avLst/>
          </a:prstGeom>
          <a:solidFill>
            <a:srgbClr val="D8CC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lang="en-US"/>
          </a:p>
        </p:txBody>
      </p:sp>
      <p:sp>
        <p:nvSpPr>
          <p:cNvPr id="13" name="TextBox 12"/>
          <p:cNvSpPr txBox="1">
            <a:spLocks/>
          </p:cNvSpPr>
          <p:nvPr/>
        </p:nvSpPr>
        <p:spPr>
          <a:xfrm>
            <a:off x="658368" y="4828032"/>
            <a:ext cx="2423160" cy="6217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b="1" i="0">
                <a:solidFill>
                  <a:srgbClr val="111111"/>
                </a:solidFill>
                <a:latin typeface="Aptos"/>
              </a:rPr>
              <a:t>Product • Growth • Sales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47287" y="1682496"/>
            <a:ext cx="2423160" cy="91440"/>
          </a:xfrm>
          <a:prstGeom prst="rect">
            <a:avLst/>
          </a:prstGeom>
          <a:solidFill>
            <a:srgbClr val="FA50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lang="en-US"/>
          </a:p>
        </p:txBody>
      </p:sp>
      <p:sp>
        <p:nvSpPr>
          <p:cNvPr id="15" name="TextBox 14"/>
          <p:cNvSpPr txBox="1">
            <a:spLocks/>
          </p:cNvSpPr>
          <p:nvPr/>
        </p:nvSpPr>
        <p:spPr>
          <a:xfrm>
            <a:off x="3447287" y="1956816"/>
            <a:ext cx="2423160" cy="2468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300" b="1" i="0">
                <a:solidFill>
                  <a:srgbClr val="FA500A"/>
                </a:solidFill>
                <a:latin typeface="Aptos"/>
              </a:rPr>
              <a:t>STAGE 03</a:t>
            </a:r>
          </a:p>
        </p:txBody>
      </p:sp>
      <p:sp>
        <p:nvSpPr>
          <p:cNvPr id="16" name="TextBox 15"/>
          <p:cNvSpPr txBox="1">
            <a:spLocks/>
          </p:cNvSpPr>
          <p:nvPr/>
        </p:nvSpPr>
        <p:spPr>
          <a:xfrm>
            <a:off x="3447287" y="2359152"/>
            <a:ext cx="2423160" cy="5669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400" b="1" i="0">
                <a:solidFill>
                  <a:srgbClr val="111111"/>
                </a:solidFill>
                <a:latin typeface="Aptos Display"/>
              </a:rPr>
              <a:t>Proof of value</a:t>
            </a:r>
          </a:p>
        </p:txBody>
      </p:sp>
      <p:sp>
        <p:nvSpPr>
          <p:cNvPr id="17" name="TextBox 16"/>
          <p:cNvSpPr txBox="1">
            <a:spLocks/>
          </p:cNvSpPr>
          <p:nvPr/>
        </p:nvSpPr>
        <p:spPr>
          <a:xfrm>
            <a:off x="3447287" y="3163824"/>
            <a:ext cx="2432304" cy="11887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600" b="0" i="0">
                <a:solidFill>
                  <a:srgbClr val="6F6A61"/>
                </a:solidFill>
                <a:latin typeface="Aptos"/>
              </a:rPr>
              <a:t>Gate: signed POV scope with success criteria, data access and a dated exit decision.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47287" y="4599432"/>
            <a:ext cx="2423160" cy="10972"/>
          </a:xfrm>
          <a:prstGeom prst="rect">
            <a:avLst/>
          </a:prstGeom>
          <a:solidFill>
            <a:srgbClr val="D8CC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lang="en-US"/>
          </a:p>
        </p:txBody>
      </p:sp>
      <p:sp>
        <p:nvSpPr>
          <p:cNvPr id="19" name="TextBox 18"/>
          <p:cNvSpPr txBox="1">
            <a:spLocks/>
          </p:cNvSpPr>
          <p:nvPr/>
        </p:nvSpPr>
        <p:spPr>
          <a:xfrm>
            <a:off x="3447287" y="4828032"/>
            <a:ext cx="2423160" cy="6217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b="1" i="0">
                <a:solidFill>
                  <a:srgbClr val="111111"/>
                </a:solidFill>
                <a:latin typeface="Aptos"/>
              </a:rPr>
              <a:t>Sales • SE • Product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36207" y="1682496"/>
            <a:ext cx="2423160" cy="91440"/>
          </a:xfrm>
          <a:prstGeom prst="rect">
            <a:avLst/>
          </a:prstGeom>
          <a:solidFill>
            <a:srgbClr val="F18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lang="en-US"/>
          </a:p>
        </p:txBody>
      </p:sp>
      <p:sp>
        <p:nvSpPr>
          <p:cNvPr id="21" name="TextBox 20"/>
          <p:cNvSpPr txBox="1">
            <a:spLocks/>
          </p:cNvSpPr>
          <p:nvPr/>
        </p:nvSpPr>
        <p:spPr>
          <a:xfrm>
            <a:off x="6236207" y="1956816"/>
            <a:ext cx="2423160" cy="2468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300" b="1" i="0">
                <a:solidFill>
                  <a:srgbClr val="F18728"/>
                </a:solidFill>
                <a:latin typeface="Aptos"/>
              </a:rPr>
              <a:t>STAGE 04</a:t>
            </a:r>
          </a:p>
        </p:txBody>
      </p:sp>
      <p:sp>
        <p:nvSpPr>
          <p:cNvPr id="22" name="TextBox 21"/>
          <p:cNvSpPr txBox="1">
            <a:spLocks/>
          </p:cNvSpPr>
          <p:nvPr/>
        </p:nvSpPr>
        <p:spPr>
          <a:xfrm>
            <a:off x="6236207" y="2359152"/>
            <a:ext cx="2423160" cy="5669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400" b="1" i="0">
                <a:solidFill>
                  <a:srgbClr val="111111"/>
                </a:solidFill>
                <a:latin typeface="Aptos Display"/>
              </a:rPr>
              <a:t>Contract</a:t>
            </a:r>
          </a:p>
        </p:txBody>
      </p:sp>
      <p:sp>
        <p:nvSpPr>
          <p:cNvPr id="23" name="TextBox 22"/>
          <p:cNvSpPr txBox="1">
            <a:spLocks/>
          </p:cNvSpPr>
          <p:nvPr/>
        </p:nvSpPr>
        <p:spPr>
          <a:xfrm>
            <a:off x="6236207" y="3163824"/>
            <a:ext cx="2432304" cy="11887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600" b="0" i="0">
                <a:solidFill>
                  <a:srgbClr val="6F6A61"/>
                </a:solidFill>
                <a:latin typeface="Aptos"/>
              </a:rPr>
              <a:t>Gate: POV criteria met, pricing and terms approved, security review cleared.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36207" y="4599432"/>
            <a:ext cx="2423160" cy="10972"/>
          </a:xfrm>
          <a:prstGeom prst="rect">
            <a:avLst/>
          </a:prstGeom>
          <a:solidFill>
            <a:srgbClr val="D8CC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lang="en-US"/>
          </a:p>
        </p:txBody>
      </p:sp>
      <p:sp>
        <p:nvSpPr>
          <p:cNvPr id="25" name="TextBox 24"/>
          <p:cNvSpPr txBox="1">
            <a:spLocks/>
          </p:cNvSpPr>
          <p:nvPr/>
        </p:nvSpPr>
        <p:spPr>
          <a:xfrm>
            <a:off x="6236207" y="4828032"/>
            <a:ext cx="2423160" cy="6217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b="1" i="0">
                <a:solidFill>
                  <a:srgbClr val="111111"/>
                </a:solidFill>
                <a:latin typeface="Aptos"/>
              </a:rPr>
              <a:t>Sales • Finance • Legal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25128" y="1682496"/>
            <a:ext cx="2423160" cy="91440"/>
          </a:xfrm>
          <a:prstGeom prst="rect">
            <a:avLst/>
          </a:prstGeom>
          <a:solidFill>
            <a:srgbClr val="FF70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lang="en-US"/>
          </a:p>
        </p:txBody>
      </p:sp>
      <p:sp>
        <p:nvSpPr>
          <p:cNvPr id="27" name="TextBox 26"/>
          <p:cNvSpPr txBox="1">
            <a:spLocks/>
          </p:cNvSpPr>
          <p:nvPr/>
        </p:nvSpPr>
        <p:spPr>
          <a:xfrm>
            <a:off x="9025128" y="1956816"/>
            <a:ext cx="2423160" cy="2468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300" b="1" i="0">
                <a:solidFill>
                  <a:srgbClr val="FF7043"/>
                </a:solidFill>
                <a:latin typeface="Aptos"/>
              </a:rPr>
              <a:t>STAGE 05 → 06</a:t>
            </a:r>
          </a:p>
        </p:txBody>
      </p:sp>
      <p:sp>
        <p:nvSpPr>
          <p:cNvPr id="28" name="TextBox 27"/>
          <p:cNvSpPr txBox="1">
            <a:spLocks/>
          </p:cNvSpPr>
          <p:nvPr/>
        </p:nvSpPr>
        <p:spPr>
          <a:xfrm>
            <a:off x="9025128" y="2359152"/>
            <a:ext cx="2423160" cy="5669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400" b="1" i="0">
                <a:solidFill>
                  <a:srgbClr val="111111"/>
                </a:solidFill>
                <a:latin typeface="Aptos Display"/>
              </a:rPr>
              <a:t>Deploy → Expand</a:t>
            </a:r>
          </a:p>
        </p:txBody>
      </p:sp>
      <p:sp>
        <p:nvSpPr>
          <p:cNvPr id="29" name="TextBox 28"/>
          <p:cNvSpPr txBox="1">
            <a:spLocks/>
          </p:cNvSpPr>
          <p:nvPr/>
        </p:nvSpPr>
        <p:spPr>
          <a:xfrm>
            <a:off x="9025128" y="3163824"/>
            <a:ext cx="2432304" cy="11887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600" b="0" i="0">
                <a:solidFill>
                  <a:srgbClr val="6F6A61"/>
                </a:solidFill>
                <a:latin typeface="Aptos"/>
              </a:rPr>
              <a:t>Gate: production workload live on agreed SLA; expansion on a second use case and commit uplift.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025128" y="4599432"/>
            <a:ext cx="2423160" cy="10972"/>
          </a:xfrm>
          <a:prstGeom prst="rect">
            <a:avLst/>
          </a:prstGeom>
          <a:solidFill>
            <a:srgbClr val="D8CC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lang="en-US"/>
          </a:p>
        </p:txBody>
      </p:sp>
      <p:sp>
        <p:nvSpPr>
          <p:cNvPr id="31" name="TextBox 30"/>
          <p:cNvSpPr txBox="1"/>
          <p:nvPr/>
        </p:nvSpPr>
        <p:spPr>
          <a:xfrm>
            <a:off x="9025128" y="4828032"/>
            <a:ext cx="2423160" cy="6217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b="1" i="0">
                <a:solidFill>
                  <a:srgbClr val="111111"/>
                </a:solidFill>
                <a:latin typeface="Aptos"/>
              </a:rPr>
              <a:t>CS • SE • Product • Finance</a:t>
            </a:r>
            <a:endParaRPr sz="1400" b="1" i="0">
              <a:solidFill>
                <a:srgbClr val="111111"/>
              </a:solidFill>
              <a:latin typeface="Aptos"/>
            </a:endParaRPr>
          </a:p>
        </p:txBody>
      </p:sp>
      <p:sp>
        <p:nvSpPr>
          <p:cNvPr id="32" name="Rectangle 31"/>
          <p:cNvSpPr/>
          <p:nvPr/>
        </p:nvSpPr>
        <p:spPr>
          <a:xfrm>
            <a:off x="658368" y="5504688"/>
            <a:ext cx="10826496" cy="694944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77824" y="5779008"/>
            <a:ext cx="1572768" cy="14630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100" b="1" i="0">
                <a:solidFill>
                  <a:srgbClr val="FFD447"/>
                </a:solidFill>
                <a:latin typeface="Aptos"/>
              </a:rPr>
              <a:t>THE GATE RULE</a:t>
            </a:r>
            <a:endParaRPr sz="1100" b="1" i="0">
              <a:solidFill>
                <a:srgbClr val="FFD447"/>
              </a:solidFill>
              <a:latin typeface="Aptos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2606040" y="5614416"/>
            <a:ext cx="8686800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600" b="1" i="0">
                <a:solidFill>
                  <a:srgbClr val="FFFFFF"/>
                </a:solidFill>
                <a:latin typeface="Aptos"/>
              </a:rPr>
              <a:t>No stage advances without its gate: no POV without a signed scope, no contract without met POV criteria, no expansion without a production workload running.</a:t>
            </a:r>
            <a:endParaRPr sz="1600" b="1" i="0">
              <a:solidFill>
                <a:srgbClr val="FFFFFF"/>
              </a:solidFill>
              <a:latin typeface="Aptos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914400" y="6473952"/>
            <a:ext cx="7955279" cy="18288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800" b="0" i="0">
                <a:solidFill>
                  <a:srgbClr val="D9D5CC"/>
                </a:solidFill>
                <a:latin typeface="Aptos"/>
              </a:rPr>
              <a:t>Mistral Studio  •  Launch &amp; commercialization plan</a:t>
            </a:r>
            <a:endParaRPr sz="800" b="0" i="0">
              <a:solidFill>
                <a:srgbClr val="6F6A61"/>
              </a:solidFill>
              <a:latin typeface="Aptos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11109960" y="6455664"/>
            <a:ext cx="438912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00" b="1" i="0">
                <a:solidFill>
                  <a:srgbClr val="FFFFFF"/>
                </a:solidFill>
                <a:latin typeface="Aptos"/>
              </a:rPr>
              <a:t>07</a:t>
            </a:r>
            <a:endParaRPr sz="900" b="1" i="0">
              <a:solidFill>
                <a:srgbClr val="6F6A61"/>
              </a:solidFill>
              <a:latin typeface="Aptos"/>
            </a:endParaRPr>
          </a:p>
        </p:txBody>
      </p:sp>
      <p:pic>
        <p:nvPicPr>
          <p:cNvPr id="39" name="Picture 38" descr="mistral-gradient-icon-dark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446520"/>
            <a:ext cx="201168" cy="20798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8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Rectangle 37"/>
          <p:cNvSpPr/>
          <p:nvPr/>
        </p:nvSpPr>
        <p:spPr>
          <a:xfrm>
            <a:off x="0" y="6236208"/>
            <a:ext cx="12192000" cy="621792"/>
          </a:xfrm>
          <a:prstGeom prst="rect">
            <a:avLst/>
          </a:prstGeom>
          <a:solidFill>
            <a:srgbClr val="1615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>
            <a:spLocks/>
          </p:cNvSpPr>
          <p:nvPr/>
        </p:nvSpPr>
        <p:spPr>
          <a:xfrm>
            <a:off x="566928" y="274320"/>
            <a:ext cx="237744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300" b="1" i="0">
                <a:solidFill>
                  <a:srgbClr val="F36F21"/>
                </a:solidFill>
                <a:latin typeface="Aptos"/>
              </a:rPr>
              <a:t>C. LAUNCH READINESS</a:t>
            </a:r>
          </a:p>
        </p:txBody>
      </p:sp>
      <p:sp>
        <p:nvSpPr>
          <p:cNvPr id="3" name="TextBox 2"/>
          <p:cNvSpPr txBox="1">
            <a:spLocks/>
          </p:cNvSpPr>
          <p:nvPr/>
        </p:nvSpPr>
        <p:spPr>
          <a:xfrm>
            <a:off x="566928" y="530352"/>
            <a:ext cx="10881360" cy="502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3500" b="1" i="0">
                <a:solidFill>
                  <a:srgbClr val="111111"/>
                </a:solidFill>
                <a:latin typeface="Aptos Display"/>
              </a:rPr>
              <a:t>One integrated readiness timeline, every launch function</a:t>
            </a:r>
          </a:p>
        </p:txBody>
      </p:sp>
      <p:sp>
        <p:nvSpPr>
          <p:cNvPr id="4" name="TextBox 3"/>
          <p:cNvSpPr txBox="1">
            <a:spLocks/>
          </p:cNvSpPr>
          <p:nvPr/>
        </p:nvSpPr>
        <p:spPr>
          <a:xfrm>
            <a:off x="566928" y="1051560"/>
            <a:ext cx="10698480" cy="34747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600" b="0" i="0">
                <a:solidFill>
                  <a:srgbClr val="6F6A61"/>
                </a:solidFill>
                <a:latin typeface="Aptos"/>
              </a:rPr>
              <a:t>Product, engineering, billing, legal, support, marketplace and docs on one critical path.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0" y="292608"/>
            <a:ext cx="146304" cy="146304"/>
          </a:xfrm>
          <a:prstGeom prst="rect">
            <a:avLst/>
          </a:prstGeom>
          <a:solidFill>
            <a:srgbClr val="F36F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lang="en-US"/>
          </a:p>
        </p:txBody>
      </p:sp>
      <p:sp>
        <p:nvSpPr>
          <p:cNvPr id="6" name="Rectangle 5"/>
          <p:cNvSpPr/>
          <p:nvPr/>
        </p:nvSpPr>
        <p:spPr>
          <a:xfrm>
            <a:off x="11704320" y="502920"/>
            <a:ext cx="146304" cy="146304"/>
          </a:xfrm>
          <a:prstGeom prst="rect">
            <a:avLst/>
          </a:prstGeom>
          <a:solidFill>
            <a:srgbClr val="FFD4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11704320" y="713232"/>
            <a:ext cx="146304" cy="146304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658368" y="1682496"/>
            <a:ext cx="2423160" cy="91440"/>
          </a:xfrm>
          <a:prstGeom prst="rect">
            <a:avLst/>
          </a:prstGeom>
          <a:solidFill>
            <a:srgbClr val="F229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lang="en-US"/>
          </a:p>
        </p:txBody>
      </p:sp>
      <p:sp>
        <p:nvSpPr>
          <p:cNvPr id="9" name="TextBox 8"/>
          <p:cNvSpPr txBox="1">
            <a:spLocks/>
          </p:cNvSpPr>
          <p:nvPr/>
        </p:nvSpPr>
        <p:spPr>
          <a:xfrm>
            <a:off x="658368" y="1956816"/>
            <a:ext cx="2423160" cy="2468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300" b="1" i="0">
                <a:solidFill>
                  <a:srgbClr val="F22902"/>
                </a:solidFill>
                <a:latin typeface="Aptos"/>
              </a:rPr>
              <a:t>T−8 → T−5</a:t>
            </a:r>
          </a:p>
        </p:txBody>
      </p:sp>
      <p:sp>
        <p:nvSpPr>
          <p:cNvPr id="10" name="TextBox 9"/>
          <p:cNvSpPr txBox="1">
            <a:spLocks/>
          </p:cNvSpPr>
          <p:nvPr/>
        </p:nvSpPr>
        <p:spPr>
          <a:xfrm>
            <a:off x="658368" y="2359152"/>
            <a:ext cx="2423160" cy="5669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400" b="1" i="0">
                <a:solidFill>
                  <a:srgbClr val="111111"/>
                </a:solidFill>
                <a:latin typeface="Aptos Display"/>
              </a:rPr>
              <a:t>Build + prove</a:t>
            </a:r>
          </a:p>
        </p:txBody>
      </p:sp>
      <p:sp>
        <p:nvSpPr>
          <p:cNvPr id="11" name="TextBox 10"/>
          <p:cNvSpPr txBox="1">
            <a:spLocks/>
          </p:cNvSpPr>
          <p:nvPr/>
        </p:nvSpPr>
        <p:spPr>
          <a:xfrm>
            <a:off x="658368" y="3163824"/>
            <a:ext cx="2432304" cy="11887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600" b="0" i="0">
                <a:solidFill>
                  <a:srgbClr val="6F6A61"/>
                </a:solidFill>
                <a:latin typeface="Aptos"/>
              </a:rPr>
              <a:t>Feature freeze and GA criteria set; scale and SLA testing; metering and billing build; legal terms drafted.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4599432"/>
            <a:ext cx="2423160" cy="10972"/>
          </a:xfrm>
          <a:prstGeom prst="rect">
            <a:avLst/>
          </a:prstGeom>
          <a:solidFill>
            <a:srgbClr val="D8CC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lang="en-US"/>
          </a:p>
        </p:txBody>
      </p:sp>
      <p:sp>
        <p:nvSpPr>
          <p:cNvPr id="13" name="TextBox 12"/>
          <p:cNvSpPr txBox="1">
            <a:spLocks/>
          </p:cNvSpPr>
          <p:nvPr/>
        </p:nvSpPr>
        <p:spPr>
          <a:xfrm>
            <a:off x="658368" y="4828032"/>
            <a:ext cx="2423160" cy="6217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b="1" i="0">
                <a:solidFill>
                  <a:srgbClr val="111111"/>
                </a:solidFill>
                <a:latin typeface="Aptos"/>
              </a:rPr>
              <a:t>Product • Engineering • Finance • Legal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47287" y="1682496"/>
            <a:ext cx="2423160" cy="91440"/>
          </a:xfrm>
          <a:prstGeom prst="rect">
            <a:avLst/>
          </a:prstGeom>
          <a:solidFill>
            <a:srgbClr val="FA50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lang="en-US"/>
          </a:p>
        </p:txBody>
      </p:sp>
      <p:sp>
        <p:nvSpPr>
          <p:cNvPr id="15" name="TextBox 14"/>
          <p:cNvSpPr txBox="1">
            <a:spLocks/>
          </p:cNvSpPr>
          <p:nvPr/>
        </p:nvSpPr>
        <p:spPr>
          <a:xfrm>
            <a:off x="3447287" y="1956816"/>
            <a:ext cx="2423160" cy="2468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300" b="1" i="0">
                <a:solidFill>
                  <a:srgbClr val="FA500A"/>
                </a:solidFill>
                <a:latin typeface="Aptos"/>
              </a:rPr>
              <a:t>T−4 → T−1</a:t>
            </a:r>
          </a:p>
        </p:txBody>
      </p:sp>
      <p:sp>
        <p:nvSpPr>
          <p:cNvPr id="16" name="TextBox 15"/>
          <p:cNvSpPr txBox="1">
            <a:spLocks/>
          </p:cNvSpPr>
          <p:nvPr/>
        </p:nvSpPr>
        <p:spPr>
          <a:xfrm>
            <a:off x="3447287" y="2359152"/>
            <a:ext cx="2423160" cy="5669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400" b="1" i="0">
                <a:solidFill>
                  <a:srgbClr val="111111"/>
                </a:solidFill>
                <a:latin typeface="Aptos Display"/>
              </a:rPr>
              <a:t>Operate + approve</a:t>
            </a:r>
          </a:p>
        </p:txBody>
      </p:sp>
      <p:sp>
        <p:nvSpPr>
          <p:cNvPr id="17" name="TextBox 16"/>
          <p:cNvSpPr txBox="1">
            <a:spLocks/>
          </p:cNvSpPr>
          <p:nvPr/>
        </p:nvSpPr>
        <p:spPr>
          <a:xfrm>
            <a:off x="3447287" y="3163824"/>
            <a:ext cx="2432304" cy="11887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600" b="0" i="0">
                <a:solidFill>
                  <a:srgbClr val="6F6A61"/>
                </a:solidFill>
                <a:latin typeface="Aptos"/>
              </a:rPr>
              <a:t>Provisioning and invoicing tested end to end; security review closed; marketplace listings submitted; docs staged.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47287" y="4599432"/>
            <a:ext cx="2423160" cy="10972"/>
          </a:xfrm>
          <a:prstGeom prst="rect">
            <a:avLst/>
          </a:prstGeom>
          <a:solidFill>
            <a:srgbClr val="D8CC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lang="en-US"/>
          </a:p>
        </p:txBody>
      </p:sp>
      <p:sp>
        <p:nvSpPr>
          <p:cNvPr id="19" name="TextBox 18"/>
          <p:cNvSpPr txBox="1">
            <a:spLocks/>
          </p:cNvSpPr>
          <p:nvPr/>
        </p:nvSpPr>
        <p:spPr>
          <a:xfrm>
            <a:off x="3447287" y="4828032"/>
            <a:ext cx="2423160" cy="6217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b="1" i="0">
                <a:solidFill>
                  <a:srgbClr val="111111"/>
                </a:solidFill>
                <a:latin typeface="Aptos"/>
              </a:rPr>
              <a:t>Billing Ops • Security • Alliances • Docs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36207" y="1682496"/>
            <a:ext cx="2423160" cy="91440"/>
          </a:xfrm>
          <a:prstGeom prst="rect">
            <a:avLst/>
          </a:prstGeom>
          <a:solidFill>
            <a:srgbClr val="F18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lang="en-US"/>
          </a:p>
        </p:txBody>
      </p:sp>
      <p:sp>
        <p:nvSpPr>
          <p:cNvPr id="21" name="TextBox 20"/>
          <p:cNvSpPr txBox="1">
            <a:spLocks/>
          </p:cNvSpPr>
          <p:nvPr/>
        </p:nvSpPr>
        <p:spPr>
          <a:xfrm>
            <a:off x="6236207" y="1956816"/>
            <a:ext cx="2423160" cy="2468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300" b="1" i="0">
                <a:solidFill>
                  <a:srgbClr val="F18728"/>
                </a:solidFill>
                <a:latin typeface="Aptos"/>
              </a:rPr>
              <a:t>LAUNCH WEEK</a:t>
            </a:r>
          </a:p>
        </p:txBody>
      </p:sp>
      <p:sp>
        <p:nvSpPr>
          <p:cNvPr id="22" name="TextBox 21"/>
          <p:cNvSpPr txBox="1">
            <a:spLocks/>
          </p:cNvSpPr>
          <p:nvPr/>
        </p:nvSpPr>
        <p:spPr>
          <a:xfrm>
            <a:off x="6236207" y="2359152"/>
            <a:ext cx="2423160" cy="5669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400" b="1" i="0">
                <a:solidFill>
                  <a:srgbClr val="111111"/>
                </a:solidFill>
                <a:latin typeface="Aptos Display"/>
              </a:rPr>
              <a:t>Go live</a:t>
            </a:r>
          </a:p>
        </p:txBody>
      </p:sp>
      <p:sp>
        <p:nvSpPr>
          <p:cNvPr id="23" name="TextBox 22"/>
          <p:cNvSpPr txBox="1">
            <a:spLocks/>
          </p:cNvSpPr>
          <p:nvPr/>
        </p:nvSpPr>
        <p:spPr>
          <a:xfrm>
            <a:off x="6236207" y="3163824"/>
            <a:ext cx="2432304" cy="11887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600" b="0" i="0">
                <a:solidFill>
                  <a:srgbClr val="6F6A61"/>
                </a:solidFill>
                <a:latin typeface="Aptos"/>
              </a:rPr>
              <a:t>GA build shipped; pricing live; marketplace offers published; support rota and escalation paths active.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36207" y="4599432"/>
            <a:ext cx="2423160" cy="10972"/>
          </a:xfrm>
          <a:prstGeom prst="rect">
            <a:avLst/>
          </a:prstGeom>
          <a:solidFill>
            <a:srgbClr val="D8CC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lang="en-US"/>
          </a:p>
        </p:txBody>
      </p:sp>
      <p:sp>
        <p:nvSpPr>
          <p:cNvPr id="25" name="TextBox 24"/>
          <p:cNvSpPr txBox="1">
            <a:spLocks/>
          </p:cNvSpPr>
          <p:nvPr/>
        </p:nvSpPr>
        <p:spPr>
          <a:xfrm>
            <a:off x="6236207" y="4828032"/>
            <a:ext cx="2423160" cy="6217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b="1" i="0">
                <a:solidFill>
                  <a:srgbClr val="111111"/>
                </a:solidFill>
                <a:latin typeface="Aptos"/>
              </a:rPr>
              <a:t>Product • Support • Alliances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25128" y="1682496"/>
            <a:ext cx="2423160" cy="91440"/>
          </a:xfrm>
          <a:prstGeom prst="rect">
            <a:avLst/>
          </a:prstGeom>
          <a:solidFill>
            <a:srgbClr val="FF70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lang="en-US"/>
          </a:p>
        </p:txBody>
      </p:sp>
      <p:sp>
        <p:nvSpPr>
          <p:cNvPr id="27" name="TextBox 26"/>
          <p:cNvSpPr txBox="1">
            <a:spLocks/>
          </p:cNvSpPr>
          <p:nvPr/>
        </p:nvSpPr>
        <p:spPr>
          <a:xfrm>
            <a:off x="9025128" y="1956816"/>
            <a:ext cx="2423160" cy="2468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300" b="1" i="0">
                <a:solidFill>
                  <a:srgbClr val="FF7043"/>
                </a:solidFill>
                <a:latin typeface="Aptos"/>
              </a:rPr>
              <a:t>T+1 → T+8</a:t>
            </a:r>
          </a:p>
        </p:txBody>
      </p:sp>
      <p:sp>
        <p:nvSpPr>
          <p:cNvPr id="28" name="TextBox 27"/>
          <p:cNvSpPr txBox="1">
            <a:spLocks/>
          </p:cNvSpPr>
          <p:nvPr/>
        </p:nvSpPr>
        <p:spPr>
          <a:xfrm>
            <a:off x="9025128" y="2359152"/>
            <a:ext cx="2423160" cy="5669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400" b="1" i="0">
                <a:solidFill>
                  <a:srgbClr val="111111"/>
                </a:solidFill>
                <a:latin typeface="Aptos Display"/>
              </a:rPr>
              <a:t>Scale + prove</a:t>
            </a:r>
          </a:p>
        </p:txBody>
      </p:sp>
      <p:sp>
        <p:nvSpPr>
          <p:cNvPr id="29" name="TextBox 28"/>
          <p:cNvSpPr txBox="1">
            <a:spLocks/>
          </p:cNvSpPr>
          <p:nvPr/>
        </p:nvSpPr>
        <p:spPr>
          <a:xfrm>
            <a:off x="9025128" y="3163824"/>
            <a:ext cx="2432304" cy="11887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600" b="0" i="0">
                <a:solidFill>
                  <a:srgbClr val="6F6A61"/>
                </a:solidFill>
                <a:latin typeface="Aptos"/>
              </a:rPr>
              <a:t>POVs converted to contracts; first workloads into production; billing accuracy and support load monitored.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025128" y="4599432"/>
            <a:ext cx="2423160" cy="10972"/>
          </a:xfrm>
          <a:prstGeom prst="rect">
            <a:avLst/>
          </a:prstGeom>
          <a:solidFill>
            <a:srgbClr val="D8CC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lang="en-US"/>
          </a:p>
        </p:txBody>
      </p:sp>
      <p:sp>
        <p:nvSpPr>
          <p:cNvPr id="31" name="TextBox 30"/>
          <p:cNvSpPr txBox="1"/>
          <p:nvPr/>
        </p:nvSpPr>
        <p:spPr>
          <a:xfrm>
            <a:off x="9025128" y="4828032"/>
            <a:ext cx="2423160" cy="6217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b="1" i="0">
                <a:solidFill>
                  <a:srgbClr val="111111"/>
                </a:solidFill>
                <a:latin typeface="Aptos"/>
              </a:rPr>
              <a:t>Sales • CS • Finance • Engineering</a:t>
            </a:r>
            <a:endParaRPr sz="1400" b="1" i="0">
              <a:solidFill>
                <a:srgbClr val="111111"/>
              </a:solidFill>
              <a:latin typeface="Aptos"/>
            </a:endParaRPr>
          </a:p>
        </p:txBody>
      </p:sp>
      <p:sp>
        <p:nvSpPr>
          <p:cNvPr id="32" name="Rectangle 31"/>
          <p:cNvSpPr/>
          <p:nvPr/>
        </p:nvSpPr>
        <p:spPr>
          <a:xfrm>
            <a:off x="658368" y="5504688"/>
            <a:ext cx="10826496" cy="694944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77824" y="5779008"/>
            <a:ext cx="1572768" cy="14630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100" b="1" i="0">
                <a:solidFill>
                  <a:srgbClr val="FFD447"/>
                </a:solidFill>
                <a:latin typeface="Aptos"/>
              </a:rPr>
              <a:t>CRITICAL PATH</a:t>
            </a:r>
            <a:endParaRPr sz="1100" b="1" i="0">
              <a:solidFill>
                <a:srgbClr val="FFD447"/>
              </a:solidFill>
              <a:latin typeface="Aptos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2606040" y="5614416"/>
            <a:ext cx="8686800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600" b="1" i="0">
                <a:solidFill>
                  <a:srgbClr val="FFFFFF"/>
                </a:solidFill>
                <a:latin typeface="Aptos"/>
              </a:rPr>
              <a:t>Billing and provisioning gate everything downstream: marketplace offers cannot list without metering, and contracts cannot sign without approved legal terms. Both need sign-off by T−4.</a:t>
            </a:r>
            <a:endParaRPr sz="1600" b="1" i="0">
              <a:solidFill>
                <a:srgbClr val="FFFFFF"/>
              </a:solidFill>
              <a:latin typeface="Aptos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914400" y="6473952"/>
            <a:ext cx="7955279" cy="18288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800" b="0" i="0">
                <a:solidFill>
                  <a:srgbClr val="D9D5CC"/>
                </a:solidFill>
                <a:latin typeface="Aptos"/>
              </a:rPr>
              <a:t>Mistral Studio  •  Launch &amp; commercialization plan</a:t>
            </a:r>
            <a:endParaRPr sz="800" b="0" i="0">
              <a:solidFill>
                <a:srgbClr val="6F6A61"/>
              </a:solidFill>
              <a:latin typeface="Aptos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11109960" y="6455664"/>
            <a:ext cx="438912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00" b="1" i="0">
                <a:solidFill>
                  <a:srgbClr val="FFFFFF"/>
                </a:solidFill>
                <a:latin typeface="Aptos"/>
              </a:rPr>
              <a:t>08</a:t>
            </a:r>
            <a:endParaRPr sz="900" b="1" i="0">
              <a:solidFill>
                <a:srgbClr val="6F6A61"/>
              </a:solidFill>
              <a:latin typeface="Aptos"/>
            </a:endParaRPr>
          </a:p>
        </p:txBody>
      </p:sp>
      <p:pic>
        <p:nvPicPr>
          <p:cNvPr id="39" name="Picture 38" descr="mistral-gradient-icon-dark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446520"/>
            <a:ext cx="201168" cy="2079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112842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A07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Rectangle 64"/>
          <p:cNvSpPr/>
          <p:nvPr/>
        </p:nvSpPr>
        <p:spPr>
          <a:xfrm>
            <a:off x="0" y="6236208"/>
            <a:ext cx="12192000" cy="621792"/>
          </a:xfrm>
          <a:prstGeom prst="rect">
            <a:avLst/>
          </a:prstGeom>
          <a:solidFill>
            <a:srgbClr val="1615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op accent"/>
          <p:cNvSpPr>
            <a:spLocks/>
          </p:cNvSpPr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FA50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" name="Mosaic 1"/>
          <p:cNvSpPr>
            <a:spLocks/>
          </p:cNvSpPr>
          <p:nvPr/>
        </p:nvSpPr>
        <p:spPr>
          <a:xfrm>
            <a:off x="0" y="1664208"/>
            <a:ext cx="987552" cy="658368"/>
          </a:xfrm>
          <a:prstGeom prst="rect">
            <a:avLst/>
          </a:prstGeom>
          <a:solidFill>
            <a:srgbClr val="7414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" name="Mosaic 2"/>
          <p:cNvSpPr/>
          <p:nvPr/>
        </p:nvSpPr>
        <p:spPr>
          <a:xfrm>
            <a:off x="987552" y="1664208"/>
            <a:ext cx="713232" cy="658368"/>
          </a:xfrm>
          <a:prstGeom prst="rect">
            <a:avLst/>
          </a:prstGeom>
          <a:solidFill>
            <a:srgbClr val="F229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5" name="Mosaic 3"/>
          <p:cNvSpPr>
            <a:spLocks/>
          </p:cNvSpPr>
          <p:nvPr/>
        </p:nvSpPr>
        <p:spPr>
          <a:xfrm>
            <a:off x="1700784" y="1664208"/>
            <a:ext cx="1097280" cy="658368"/>
          </a:xfrm>
          <a:prstGeom prst="rect">
            <a:avLst/>
          </a:prstGeom>
          <a:solidFill>
            <a:srgbClr val="FA50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6" name="Mosaic 4"/>
          <p:cNvSpPr>
            <a:spLocks/>
          </p:cNvSpPr>
          <p:nvPr/>
        </p:nvSpPr>
        <p:spPr>
          <a:xfrm>
            <a:off x="2798064" y="1664208"/>
            <a:ext cx="612648" cy="658368"/>
          </a:xfrm>
          <a:prstGeom prst="rect">
            <a:avLst/>
          </a:prstGeom>
          <a:solidFill>
            <a:srgbClr val="F18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7" name="Mosaic 5"/>
          <p:cNvSpPr/>
          <p:nvPr/>
        </p:nvSpPr>
        <p:spPr>
          <a:xfrm>
            <a:off x="3410712" y="1664208"/>
            <a:ext cx="1042415" cy="658368"/>
          </a:xfrm>
          <a:prstGeom prst="rect">
            <a:avLst/>
          </a:prstGeom>
          <a:solidFill>
            <a:srgbClr val="F229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8" name="Mosaic 6"/>
          <p:cNvSpPr/>
          <p:nvPr/>
        </p:nvSpPr>
        <p:spPr>
          <a:xfrm>
            <a:off x="4453128" y="1664208"/>
            <a:ext cx="576072" cy="658368"/>
          </a:xfrm>
          <a:prstGeom prst="rect">
            <a:avLst/>
          </a:prstGeom>
          <a:solidFill>
            <a:srgbClr val="2703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" name="Mosaic 7"/>
          <p:cNvSpPr>
            <a:spLocks/>
          </p:cNvSpPr>
          <p:nvPr/>
        </p:nvSpPr>
        <p:spPr>
          <a:xfrm>
            <a:off x="5029200" y="1664208"/>
            <a:ext cx="1225296" cy="658368"/>
          </a:xfrm>
          <a:prstGeom prst="rect">
            <a:avLst/>
          </a:prstGeom>
          <a:solidFill>
            <a:srgbClr val="FA50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" name="Mosaic 8"/>
          <p:cNvSpPr>
            <a:spLocks/>
          </p:cNvSpPr>
          <p:nvPr/>
        </p:nvSpPr>
        <p:spPr>
          <a:xfrm>
            <a:off x="6254496" y="1664208"/>
            <a:ext cx="658368" cy="658368"/>
          </a:xfrm>
          <a:prstGeom prst="rect">
            <a:avLst/>
          </a:prstGeom>
          <a:solidFill>
            <a:srgbClr val="7414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1" name="Mosaic 9"/>
          <p:cNvSpPr>
            <a:spLocks/>
          </p:cNvSpPr>
          <p:nvPr/>
        </p:nvSpPr>
        <p:spPr>
          <a:xfrm>
            <a:off x="6912864" y="1664208"/>
            <a:ext cx="1078992" cy="658368"/>
          </a:xfrm>
          <a:prstGeom prst="rect">
            <a:avLst/>
          </a:prstGeom>
          <a:solidFill>
            <a:srgbClr val="F229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2" name="Mosaic 10"/>
          <p:cNvSpPr/>
          <p:nvPr/>
        </p:nvSpPr>
        <p:spPr>
          <a:xfrm>
            <a:off x="7991856" y="1664208"/>
            <a:ext cx="786384" cy="658368"/>
          </a:xfrm>
          <a:prstGeom prst="rect">
            <a:avLst/>
          </a:prstGeom>
          <a:solidFill>
            <a:srgbClr val="F18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3" name="Mosaic 11"/>
          <p:cNvSpPr>
            <a:spLocks/>
          </p:cNvSpPr>
          <p:nvPr/>
        </p:nvSpPr>
        <p:spPr>
          <a:xfrm>
            <a:off x="8778240" y="1664208"/>
            <a:ext cx="1225296" cy="658368"/>
          </a:xfrm>
          <a:prstGeom prst="rect">
            <a:avLst/>
          </a:prstGeom>
          <a:solidFill>
            <a:srgbClr val="7414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4" name="Mosaic 12"/>
          <p:cNvSpPr>
            <a:spLocks/>
          </p:cNvSpPr>
          <p:nvPr/>
        </p:nvSpPr>
        <p:spPr>
          <a:xfrm>
            <a:off x="10003536" y="1664208"/>
            <a:ext cx="667512" cy="658368"/>
          </a:xfrm>
          <a:prstGeom prst="rect">
            <a:avLst/>
          </a:prstGeom>
          <a:solidFill>
            <a:srgbClr val="FA50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5" name="Mosaic 13"/>
          <p:cNvSpPr>
            <a:spLocks/>
          </p:cNvSpPr>
          <p:nvPr/>
        </p:nvSpPr>
        <p:spPr>
          <a:xfrm>
            <a:off x="10671048" y="1664208"/>
            <a:ext cx="1520647" cy="658368"/>
          </a:xfrm>
          <a:prstGeom prst="rect">
            <a:avLst/>
          </a:prstGeom>
          <a:solidFill>
            <a:srgbClr val="F229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6" name="Mosaic 14"/>
          <p:cNvSpPr/>
          <p:nvPr/>
        </p:nvSpPr>
        <p:spPr>
          <a:xfrm>
            <a:off x="0" y="2322576"/>
            <a:ext cx="658368" cy="384048"/>
          </a:xfrm>
          <a:prstGeom prst="rect">
            <a:avLst/>
          </a:prstGeom>
          <a:solidFill>
            <a:srgbClr val="F229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7" name="Mosaic 15"/>
          <p:cNvSpPr>
            <a:spLocks/>
          </p:cNvSpPr>
          <p:nvPr/>
        </p:nvSpPr>
        <p:spPr>
          <a:xfrm>
            <a:off x="658368" y="2322576"/>
            <a:ext cx="1307592" cy="384048"/>
          </a:xfrm>
          <a:prstGeom prst="rect">
            <a:avLst/>
          </a:prstGeom>
          <a:solidFill>
            <a:srgbClr val="2703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8" name="Mosaic 16"/>
          <p:cNvSpPr>
            <a:spLocks/>
          </p:cNvSpPr>
          <p:nvPr/>
        </p:nvSpPr>
        <p:spPr>
          <a:xfrm>
            <a:off x="1965960" y="2322576"/>
            <a:ext cx="694944" cy="384048"/>
          </a:xfrm>
          <a:prstGeom prst="rect">
            <a:avLst/>
          </a:prstGeom>
          <a:solidFill>
            <a:srgbClr val="F18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9" name="Mosaic 17"/>
          <p:cNvSpPr>
            <a:spLocks/>
          </p:cNvSpPr>
          <p:nvPr/>
        </p:nvSpPr>
        <p:spPr>
          <a:xfrm>
            <a:off x="2660904" y="2322576"/>
            <a:ext cx="1170432" cy="384048"/>
          </a:xfrm>
          <a:prstGeom prst="rect">
            <a:avLst/>
          </a:prstGeom>
          <a:solidFill>
            <a:srgbClr val="7414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0" name="Mosaic 18"/>
          <p:cNvSpPr/>
          <p:nvPr/>
        </p:nvSpPr>
        <p:spPr>
          <a:xfrm>
            <a:off x="3831336" y="2322576"/>
            <a:ext cx="612648" cy="384048"/>
          </a:xfrm>
          <a:prstGeom prst="rect">
            <a:avLst/>
          </a:prstGeom>
          <a:solidFill>
            <a:srgbClr val="FA50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1" name="Mosaic 19"/>
          <p:cNvSpPr>
            <a:spLocks/>
          </p:cNvSpPr>
          <p:nvPr/>
        </p:nvSpPr>
        <p:spPr>
          <a:xfrm>
            <a:off x="4443984" y="2322576"/>
            <a:ext cx="1417320" cy="384048"/>
          </a:xfrm>
          <a:prstGeom prst="rect">
            <a:avLst/>
          </a:prstGeom>
          <a:solidFill>
            <a:srgbClr val="F229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2" name="Mosaic 20"/>
          <p:cNvSpPr>
            <a:spLocks/>
          </p:cNvSpPr>
          <p:nvPr/>
        </p:nvSpPr>
        <p:spPr>
          <a:xfrm>
            <a:off x="5861304" y="2322576"/>
            <a:ext cx="640080" cy="384048"/>
          </a:xfrm>
          <a:prstGeom prst="rect">
            <a:avLst/>
          </a:prstGeom>
          <a:solidFill>
            <a:srgbClr val="2703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3" name="Mosaic 21"/>
          <p:cNvSpPr>
            <a:spLocks/>
          </p:cNvSpPr>
          <p:nvPr/>
        </p:nvSpPr>
        <p:spPr>
          <a:xfrm>
            <a:off x="6501384" y="2322576"/>
            <a:ext cx="1143000" cy="384048"/>
          </a:xfrm>
          <a:prstGeom prst="rect">
            <a:avLst/>
          </a:prstGeom>
          <a:solidFill>
            <a:srgbClr val="FA50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4" name="Mosaic 22"/>
          <p:cNvSpPr/>
          <p:nvPr/>
        </p:nvSpPr>
        <p:spPr>
          <a:xfrm>
            <a:off x="7644383" y="2322576"/>
            <a:ext cx="749808" cy="384048"/>
          </a:xfrm>
          <a:prstGeom prst="rect">
            <a:avLst/>
          </a:prstGeom>
          <a:solidFill>
            <a:srgbClr val="7414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5" name="Mosaic 23"/>
          <p:cNvSpPr>
            <a:spLocks/>
          </p:cNvSpPr>
          <p:nvPr/>
        </p:nvSpPr>
        <p:spPr>
          <a:xfrm>
            <a:off x="8394192" y="2322576"/>
            <a:ext cx="1307592" cy="384048"/>
          </a:xfrm>
          <a:prstGeom prst="rect">
            <a:avLst/>
          </a:prstGeom>
          <a:solidFill>
            <a:srgbClr val="F229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6" name="Mosaic 24"/>
          <p:cNvSpPr>
            <a:spLocks/>
          </p:cNvSpPr>
          <p:nvPr/>
        </p:nvSpPr>
        <p:spPr>
          <a:xfrm>
            <a:off x="9701784" y="2322576"/>
            <a:ext cx="585216" cy="384048"/>
          </a:xfrm>
          <a:prstGeom prst="rect">
            <a:avLst/>
          </a:prstGeom>
          <a:solidFill>
            <a:srgbClr val="F18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7" name="Mosaic 25"/>
          <p:cNvSpPr>
            <a:spLocks/>
          </p:cNvSpPr>
          <p:nvPr/>
        </p:nvSpPr>
        <p:spPr>
          <a:xfrm>
            <a:off x="10287000" y="2322576"/>
            <a:ext cx="1088136" cy="384048"/>
          </a:xfrm>
          <a:prstGeom prst="rect">
            <a:avLst/>
          </a:prstGeom>
          <a:solidFill>
            <a:srgbClr val="7414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8" name="Mosaic 26"/>
          <p:cNvSpPr/>
          <p:nvPr/>
        </p:nvSpPr>
        <p:spPr>
          <a:xfrm>
            <a:off x="11375136" y="2322576"/>
            <a:ext cx="816559" cy="384048"/>
          </a:xfrm>
          <a:prstGeom prst="rect">
            <a:avLst/>
          </a:prstGeom>
          <a:solidFill>
            <a:srgbClr val="FA50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9" name="Eyebrow"/>
          <p:cNvSpPr txBox="1"/>
          <p:nvPr/>
        </p:nvSpPr>
        <p:spPr>
          <a:xfrm>
            <a:off x="621792" y="320040"/>
            <a:ext cx="7132320" cy="2000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>
                <a:ln>
                  <a:noFill/>
                </a:ln>
                <a:solidFill>
                  <a:srgbClr val="FA500A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D. LAUNCH READINESS GATES</a:t>
            </a:r>
          </a:p>
        </p:txBody>
      </p:sp>
      <p:sp>
        <p:nvSpPr>
          <p:cNvPr id="30" name="Title"/>
          <p:cNvSpPr txBox="1"/>
          <p:nvPr/>
        </p:nvSpPr>
        <p:spPr>
          <a:xfrm>
            <a:off x="621792" y="566928"/>
            <a:ext cx="10789920" cy="107721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500" b="1" i="0" u="none" strike="noStrike" kern="1200" cap="none" spc="0" normalizeH="0" baseline="0" noProof="0">
                <a:ln>
                  <a:noFill/>
                </a:ln>
                <a:solidFill>
                  <a:srgbClr val="FFF8F3"/>
                </a:solidFill>
                <a:effectLst/>
                <a:uLnTx/>
                <a:uFillTx/>
                <a:latin typeface="Aptos Display"/>
                <a:ea typeface="+mn-ea"/>
                <a:cs typeface="+mn-cs"/>
              </a:rPr>
              <a:t>Nine gates.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500" b="1" i="0" u="none" strike="noStrike" kern="1200" cap="none" spc="0" normalizeH="0" baseline="0" noProof="0">
                <a:ln>
                  <a:noFill/>
                </a:ln>
                <a:solidFill>
                  <a:srgbClr val="FFF8F3"/>
                </a:solidFill>
                <a:effectLst/>
                <a:uLnTx/>
                <a:uFillTx/>
                <a:latin typeface="Aptos Display"/>
                <a:ea typeface="+mn-ea"/>
                <a:cs typeface="+mn-cs"/>
              </a:rPr>
              <a:t>All green, or we hold</a:t>
            </a:r>
          </a:p>
        </p:txBody>
      </p:sp>
      <p:sp>
        <p:nvSpPr>
          <p:cNvPr id="31" name="BUILD marker"/>
          <p:cNvSpPr/>
          <p:nvPr/>
        </p:nvSpPr>
        <p:spPr>
          <a:xfrm>
            <a:off x="438912" y="1901952"/>
            <a:ext cx="438912" cy="438912"/>
          </a:xfrm>
          <a:prstGeom prst="rect">
            <a:avLst/>
          </a:prstGeom>
          <a:solidFill>
            <a:srgbClr val="F229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2" name="BUILD number"/>
          <p:cNvSpPr txBox="1"/>
          <p:nvPr/>
        </p:nvSpPr>
        <p:spPr>
          <a:xfrm>
            <a:off x="438912" y="1975104"/>
            <a:ext cx="438912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FFF8F3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01</a:t>
            </a:r>
          </a:p>
        </p:txBody>
      </p:sp>
      <p:sp>
        <p:nvSpPr>
          <p:cNvPr id="33" name="BUILD title"/>
          <p:cNvSpPr txBox="1"/>
          <p:nvPr/>
        </p:nvSpPr>
        <p:spPr>
          <a:xfrm>
            <a:off x="438912" y="2871216"/>
            <a:ext cx="1920240" cy="2308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>
                <a:ln>
                  <a:noFill/>
                </a:ln>
                <a:solidFill>
                  <a:srgbClr val="F22902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PRODUCT</a:t>
            </a:r>
          </a:p>
        </p:txBody>
      </p:sp>
      <p:sp>
        <p:nvSpPr>
          <p:cNvPr id="34" name="BUILD detail"/>
          <p:cNvSpPr txBox="1"/>
          <p:nvPr/>
        </p:nvSpPr>
        <p:spPr>
          <a:xfrm>
            <a:off x="438912" y="3264408"/>
            <a:ext cx="1920240" cy="4001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>
                <a:ln>
                  <a:noFill/>
                </a:ln>
                <a:solidFill>
                  <a:srgbClr val="FAD9CA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GA criteria met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>
                <a:ln>
                  <a:noFill/>
                </a:ln>
                <a:solidFill>
                  <a:srgbClr val="FAD9CA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and signed off</a:t>
            </a:r>
          </a:p>
        </p:txBody>
      </p:sp>
      <p:sp>
        <p:nvSpPr>
          <p:cNvPr id="35" name="ORCHESTRATE marker"/>
          <p:cNvSpPr>
            <a:spLocks/>
          </p:cNvSpPr>
          <p:nvPr/>
        </p:nvSpPr>
        <p:spPr>
          <a:xfrm>
            <a:off x="2761488" y="1901952"/>
            <a:ext cx="438912" cy="438912"/>
          </a:xfrm>
          <a:prstGeom prst="rect">
            <a:avLst/>
          </a:prstGeom>
          <a:solidFill>
            <a:srgbClr val="FA50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6" name="ORCHESTRATE number"/>
          <p:cNvSpPr txBox="1"/>
          <p:nvPr/>
        </p:nvSpPr>
        <p:spPr>
          <a:xfrm>
            <a:off x="2761488" y="1975104"/>
            <a:ext cx="438912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FFF8F3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02</a:t>
            </a:r>
          </a:p>
        </p:txBody>
      </p:sp>
      <p:sp>
        <p:nvSpPr>
          <p:cNvPr id="37" name="ORCHESTRATE title"/>
          <p:cNvSpPr txBox="1">
            <a:spLocks/>
          </p:cNvSpPr>
          <p:nvPr/>
        </p:nvSpPr>
        <p:spPr>
          <a:xfrm>
            <a:off x="2761488" y="2871216"/>
            <a:ext cx="1920240" cy="2308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>
                <a:ln>
                  <a:noFill/>
                </a:ln>
                <a:solidFill>
                  <a:srgbClr val="FA500A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COMMERCIAL</a:t>
            </a:r>
          </a:p>
        </p:txBody>
      </p:sp>
      <p:sp>
        <p:nvSpPr>
          <p:cNvPr id="38" name="ORCHESTRATE detail"/>
          <p:cNvSpPr txBox="1"/>
          <p:nvPr/>
        </p:nvSpPr>
        <p:spPr>
          <a:xfrm>
            <a:off x="2761488" y="3264408"/>
            <a:ext cx="1920240" cy="4001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>
                <a:ln>
                  <a:noFill/>
                </a:ln>
                <a:solidFill>
                  <a:srgbClr val="FAD9CA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Pricing and packaging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>
                <a:ln>
                  <a:noFill/>
                </a:ln>
                <a:solidFill>
                  <a:srgbClr val="FAD9CA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approved</a:t>
            </a:r>
          </a:p>
        </p:txBody>
      </p:sp>
      <p:sp>
        <p:nvSpPr>
          <p:cNvPr id="39" name="EVALUATE marker"/>
          <p:cNvSpPr>
            <a:spLocks/>
          </p:cNvSpPr>
          <p:nvPr/>
        </p:nvSpPr>
        <p:spPr>
          <a:xfrm>
            <a:off x="5148072" y="1901952"/>
            <a:ext cx="438912" cy="438912"/>
          </a:xfrm>
          <a:prstGeom prst="rect">
            <a:avLst/>
          </a:prstGeom>
          <a:solidFill>
            <a:srgbClr val="F18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0" name="EVALUATE number"/>
          <p:cNvSpPr txBox="1">
            <a:spLocks/>
          </p:cNvSpPr>
          <p:nvPr/>
        </p:nvSpPr>
        <p:spPr>
          <a:xfrm>
            <a:off x="5148072" y="1975104"/>
            <a:ext cx="438912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FFF8F3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03</a:t>
            </a:r>
          </a:p>
        </p:txBody>
      </p:sp>
      <p:sp>
        <p:nvSpPr>
          <p:cNvPr id="41" name="EVALUATE title"/>
          <p:cNvSpPr txBox="1">
            <a:spLocks/>
          </p:cNvSpPr>
          <p:nvPr/>
        </p:nvSpPr>
        <p:spPr>
          <a:xfrm>
            <a:off x="5148072" y="2871216"/>
            <a:ext cx="1920240" cy="2308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>
                <a:ln>
                  <a:noFill/>
                </a:ln>
                <a:solidFill>
                  <a:srgbClr val="F18728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BILLING</a:t>
            </a:r>
          </a:p>
        </p:txBody>
      </p:sp>
      <p:sp>
        <p:nvSpPr>
          <p:cNvPr id="42" name="EVALUATE detail"/>
          <p:cNvSpPr txBox="1">
            <a:spLocks/>
          </p:cNvSpPr>
          <p:nvPr/>
        </p:nvSpPr>
        <p:spPr>
          <a:xfrm>
            <a:off x="5148072" y="3264408"/>
            <a:ext cx="1920240" cy="4001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>
                <a:ln>
                  <a:noFill/>
                </a:ln>
                <a:solidFill>
                  <a:srgbClr val="FAD9CA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Metering, provisioning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>
                <a:ln>
                  <a:noFill/>
                </a:ln>
                <a:solidFill>
                  <a:srgbClr val="FAD9CA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and invoicing live</a:t>
            </a:r>
          </a:p>
        </p:txBody>
      </p:sp>
      <p:sp>
        <p:nvSpPr>
          <p:cNvPr id="43" name="DEPLOY marker"/>
          <p:cNvSpPr/>
          <p:nvPr/>
        </p:nvSpPr>
        <p:spPr>
          <a:xfrm>
            <a:off x="7479792" y="1901952"/>
            <a:ext cx="438912" cy="438912"/>
          </a:xfrm>
          <a:prstGeom prst="rect">
            <a:avLst/>
          </a:prstGeom>
          <a:solidFill>
            <a:srgbClr val="FF70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4" name="DEPLOY number"/>
          <p:cNvSpPr txBox="1">
            <a:spLocks/>
          </p:cNvSpPr>
          <p:nvPr/>
        </p:nvSpPr>
        <p:spPr>
          <a:xfrm>
            <a:off x="7479792" y="1975104"/>
            <a:ext cx="438912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FFF8F3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04</a:t>
            </a:r>
          </a:p>
        </p:txBody>
      </p:sp>
      <p:sp>
        <p:nvSpPr>
          <p:cNvPr id="45" name="DEPLOY title"/>
          <p:cNvSpPr txBox="1">
            <a:spLocks/>
          </p:cNvSpPr>
          <p:nvPr/>
        </p:nvSpPr>
        <p:spPr>
          <a:xfrm>
            <a:off x="7479792" y="2871216"/>
            <a:ext cx="1920240" cy="2308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>
                <a:ln>
                  <a:noFill/>
                </a:ln>
                <a:solidFill>
                  <a:srgbClr val="FF7043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LEGAL</a:t>
            </a:r>
          </a:p>
        </p:txBody>
      </p:sp>
      <p:sp>
        <p:nvSpPr>
          <p:cNvPr id="46" name="DEPLOY detail"/>
          <p:cNvSpPr txBox="1">
            <a:spLocks/>
          </p:cNvSpPr>
          <p:nvPr/>
        </p:nvSpPr>
        <p:spPr>
          <a:xfrm>
            <a:off x="7479792" y="3264408"/>
            <a:ext cx="1920240" cy="4001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>
                <a:ln>
                  <a:noFill/>
                </a:ln>
                <a:solidFill>
                  <a:srgbClr val="FAD9CA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Terms, DPA and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>
                <a:ln>
                  <a:noFill/>
                </a:ln>
                <a:solidFill>
                  <a:srgbClr val="FAD9CA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security approved</a:t>
            </a:r>
          </a:p>
        </p:txBody>
      </p:sp>
      <p:sp>
        <p:nvSpPr>
          <p:cNvPr id="47" name="GOVERN marker"/>
          <p:cNvSpPr/>
          <p:nvPr/>
        </p:nvSpPr>
        <p:spPr>
          <a:xfrm>
            <a:off x="9829800" y="1901952"/>
            <a:ext cx="438912" cy="438912"/>
          </a:xfrm>
          <a:prstGeom prst="rect">
            <a:avLst/>
          </a:prstGeom>
          <a:solidFill>
            <a:srgbClr val="F229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8" name="GOVERN number"/>
          <p:cNvSpPr txBox="1">
            <a:spLocks/>
          </p:cNvSpPr>
          <p:nvPr/>
        </p:nvSpPr>
        <p:spPr>
          <a:xfrm>
            <a:off x="9829800" y="1975104"/>
            <a:ext cx="438912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FFF8F3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05</a:t>
            </a:r>
          </a:p>
        </p:txBody>
      </p:sp>
      <p:sp>
        <p:nvSpPr>
          <p:cNvPr id="49" name="GOVERN title"/>
          <p:cNvSpPr txBox="1"/>
          <p:nvPr/>
        </p:nvSpPr>
        <p:spPr>
          <a:xfrm>
            <a:off x="9829800" y="2871216"/>
            <a:ext cx="1920240" cy="2308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>
                <a:ln>
                  <a:noFill/>
                </a:ln>
                <a:solidFill>
                  <a:srgbClr val="F22902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MARKETPLACE</a:t>
            </a:r>
          </a:p>
        </p:txBody>
      </p:sp>
      <p:sp>
        <p:nvSpPr>
          <p:cNvPr id="50" name="GOVERN detail"/>
          <p:cNvSpPr txBox="1"/>
          <p:nvPr/>
        </p:nvSpPr>
        <p:spPr>
          <a:xfrm>
            <a:off x="9829800" y="3264408"/>
            <a:ext cx="1920240" cy="4001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>
                <a:ln>
                  <a:noFill/>
                </a:ln>
                <a:solidFill>
                  <a:srgbClr val="FAD9CA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Offers live and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>
                <a:ln>
                  <a:noFill/>
                </a:ln>
                <a:solidFill>
                  <a:srgbClr val="FAD9CA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transactable</a:t>
            </a:r>
          </a:p>
        </p:txBody>
      </p:sp>
      <p:sp>
        <p:nvSpPr>
          <p:cNvPr id="51" name="Section divider"/>
          <p:cNvSpPr/>
          <p:nvPr/>
        </p:nvSpPr>
        <p:spPr>
          <a:xfrm>
            <a:off x="621792" y="4023360"/>
            <a:ext cx="10945368" cy="13716"/>
          </a:xfrm>
          <a:prstGeom prst="rect">
            <a:avLst/>
          </a:prstGeom>
          <a:solidFill>
            <a:srgbClr val="9D2E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52" name="CONNECT  •  BUILD ONCE"/>
          <p:cNvSpPr txBox="1"/>
          <p:nvPr/>
        </p:nvSpPr>
        <p:spPr>
          <a:xfrm>
            <a:off x="621792" y="4297680"/>
            <a:ext cx="3200400" cy="2000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>
                <a:ln>
                  <a:noFill/>
                </a:ln>
                <a:solidFill>
                  <a:srgbClr val="FA500A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SLA  •  SUPPORT APPROVED</a:t>
            </a:r>
          </a:p>
        </p:txBody>
      </p:sp>
      <p:sp>
        <p:nvSpPr>
          <p:cNvPr id="53" name="CONNECT  •  BUILD ONCE body"/>
          <p:cNvSpPr txBox="1"/>
          <p:nvPr/>
        </p:nvSpPr>
        <p:spPr>
          <a:xfrm>
            <a:off x="621792" y="4709160"/>
            <a:ext cx="3154680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>
                <a:ln>
                  <a:noFill/>
                </a:ln>
                <a:solidFill>
                  <a:srgbClr val="FFF8F3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Response targets, escalation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>
                <a:ln>
                  <a:noFill/>
                </a:ln>
                <a:solidFill>
                  <a:srgbClr val="FFF8F3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and rota staffed for launch</a:t>
            </a:r>
          </a:p>
        </p:txBody>
      </p:sp>
      <p:sp>
        <p:nvSpPr>
          <p:cNvPr id="54" name="RECOVER  •  DURABLE WORKFLOWS"/>
          <p:cNvSpPr txBox="1"/>
          <p:nvPr/>
        </p:nvSpPr>
        <p:spPr>
          <a:xfrm>
            <a:off x="4096512" y="4297680"/>
            <a:ext cx="3200400" cy="2000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>
                <a:ln>
                  <a:noFill/>
                </a:ln>
                <a:solidFill>
                  <a:srgbClr val="F18728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DOCS  •  QUICKSTART READY</a:t>
            </a:r>
            <a:endParaRPr kumimoji="0" sz="1400" b="1" i="0" u="none" strike="noStrike" kern="1200" cap="none" spc="0" normalizeH="0" baseline="0" noProof="0">
              <a:ln>
                <a:noFill/>
              </a:ln>
              <a:solidFill>
                <a:srgbClr val="F18728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55" name="RECOVER  •  DURABLE WORKFLOWS body"/>
          <p:cNvSpPr txBox="1"/>
          <p:nvPr/>
        </p:nvSpPr>
        <p:spPr>
          <a:xfrm>
            <a:off x="4096512" y="4709160"/>
            <a:ext cx="3154680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>
                <a:ln>
                  <a:noFill/>
                </a:ln>
                <a:solidFill>
                  <a:srgbClr val="FFF8F3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Quickstart, API reference and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>
                <a:ln>
                  <a:noFill/>
                </a:ln>
                <a:solidFill>
                  <a:srgbClr val="FFF8F3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deployment guides published</a:t>
            </a:r>
          </a:p>
        </p:txBody>
      </p:sp>
      <p:sp>
        <p:nvSpPr>
          <p:cNvPr id="56" name="CONTROL  •  GOVERNED SCALE"/>
          <p:cNvSpPr txBox="1"/>
          <p:nvPr/>
        </p:nvSpPr>
        <p:spPr>
          <a:xfrm>
            <a:off x="7699248" y="4297680"/>
            <a:ext cx="3200400" cy="2000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>
                <a:ln>
                  <a:noFill/>
                </a:ln>
                <a:solidFill>
                  <a:srgbClr val="FF7043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SALES + CS  •  OPERATIONAL</a:t>
            </a:r>
          </a:p>
        </p:txBody>
      </p:sp>
      <p:sp>
        <p:nvSpPr>
          <p:cNvPr id="57" name="CONTROL  •  GOVERNED SCALE body"/>
          <p:cNvSpPr txBox="1"/>
          <p:nvPr/>
        </p:nvSpPr>
        <p:spPr>
          <a:xfrm>
            <a:off x="7699248" y="4709160"/>
            <a:ext cx="3154680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>
                <a:ln>
                  <a:noFill/>
                </a:ln>
                <a:solidFill>
                  <a:srgbClr val="FFF8F3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Quoting, approval paths and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>
                <a:ln>
                  <a:noFill/>
                </a:ln>
                <a:solidFill>
                  <a:srgbClr val="FFF8F3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onboarding runbooks live</a:t>
            </a:r>
          </a:p>
        </p:txBody>
      </p:sp>
      <p:sp>
        <p:nvSpPr>
          <p:cNvPr id="58" name="Pillar divider"/>
          <p:cNvSpPr/>
          <p:nvPr/>
        </p:nvSpPr>
        <p:spPr>
          <a:xfrm>
            <a:off x="3822191" y="4279392"/>
            <a:ext cx="16459" cy="1225296"/>
          </a:xfrm>
          <a:prstGeom prst="rect">
            <a:avLst/>
          </a:prstGeom>
          <a:solidFill>
            <a:srgbClr val="9D2E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59" name="Pillar divider"/>
          <p:cNvSpPr/>
          <p:nvPr/>
        </p:nvSpPr>
        <p:spPr>
          <a:xfrm>
            <a:off x="7424927" y="4279392"/>
            <a:ext cx="16459" cy="1225296"/>
          </a:xfrm>
          <a:prstGeom prst="rect">
            <a:avLst/>
          </a:prstGeom>
          <a:solidFill>
            <a:srgbClr val="9D2E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60" name="Best fit field"/>
          <p:cNvSpPr/>
          <p:nvPr/>
        </p:nvSpPr>
        <p:spPr>
          <a:xfrm>
            <a:off x="621792" y="5669280"/>
            <a:ext cx="10945368" cy="612648"/>
          </a:xfrm>
          <a:prstGeom prst="rect">
            <a:avLst/>
          </a:prstGeom>
          <a:solidFill>
            <a:srgbClr val="FA50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61" name="Best fit"/>
          <p:cNvSpPr txBox="1"/>
          <p:nvPr/>
        </p:nvSpPr>
        <p:spPr>
          <a:xfrm>
            <a:off x="868680" y="5797296"/>
            <a:ext cx="10424160" cy="430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rgbClr val="27030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GATE RULE  •  Every gate has a named owner and a green / amber / red status reviewed weekly from T−8; any red at T−1 moves the date.</a:t>
            </a:r>
            <a:endParaRPr kumimoji="0" sz="1400" b="1" i="0" u="none" strike="noStrike" kern="1200" cap="none" spc="0" normalizeH="0" baseline="0" noProof="0">
              <a:ln>
                <a:noFill/>
              </a:ln>
              <a:solidFill>
                <a:srgbClr val="270306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62" name="Proof"/>
          <p:cNvSpPr txBox="1"/>
          <p:nvPr/>
        </p:nvSpPr>
        <p:spPr>
          <a:xfrm>
            <a:off x="621792" y="5468112"/>
            <a:ext cx="1078992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000" b="0" i="0" u="none" strike="noStrike" kern="1200" cap="none" spc="0" normalizeH="0" baseline="0" noProof="0">
              <a:ln>
                <a:noFill/>
              </a:ln>
              <a:solidFill>
                <a:srgbClr val="F3A58B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63" name="Footer"/>
          <p:cNvSpPr txBox="1"/>
          <p:nvPr/>
        </p:nvSpPr>
        <p:spPr>
          <a:xfrm>
            <a:off x="914400" y="6503836"/>
            <a:ext cx="1864293" cy="123111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D9D5CC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Mistral Studio  •  Launch &amp; commercialization plan</a:t>
            </a:r>
            <a:endParaRPr kumimoji="0" sz="700" b="0" i="0" u="none" strike="noStrike" kern="1200" cap="none" spc="0" normalizeH="0" baseline="0" noProof="0">
              <a:ln>
                <a:noFill/>
              </a:ln>
              <a:solidFill>
                <a:srgbClr val="F3A58B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64" name="Page number"/>
          <p:cNvSpPr txBox="1"/>
          <p:nvPr/>
        </p:nvSpPr>
        <p:spPr>
          <a:xfrm>
            <a:off x="11427044" y="6486998"/>
            <a:ext cx="121828" cy="13849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09</a:t>
            </a:r>
          </a:p>
        </p:txBody>
      </p:sp>
      <p:pic>
        <p:nvPicPr>
          <p:cNvPr id="66" name="Picture 65" descr="mistral-gradient-icon-dark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446520"/>
            <a:ext cx="201168" cy="2079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9284836"/>
      </p:ext>
    </p:extLst>
  </p:cSld>
  <p:clrMapOvr>
    <a:masterClrMapping/>
  </p:clrMapOvr>
  <p:transition spd="slow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8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Rectangle 40"/>
          <p:cNvSpPr/>
          <p:nvPr/>
        </p:nvSpPr>
        <p:spPr>
          <a:xfrm>
            <a:off x="0" y="6236208"/>
            <a:ext cx="12192000" cy="621792"/>
          </a:xfrm>
          <a:prstGeom prst="rect">
            <a:avLst/>
          </a:prstGeom>
          <a:solidFill>
            <a:srgbClr val="1615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Rectangle 1"/>
          <p:cNvSpPr/>
          <p:nvPr/>
        </p:nvSpPr>
        <p:spPr>
          <a:xfrm>
            <a:off x="7635240" y="0"/>
            <a:ext cx="4553712" cy="68580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>
            <a:spLocks/>
          </p:cNvSpPr>
          <p:nvPr/>
        </p:nvSpPr>
        <p:spPr>
          <a:xfrm>
            <a:off x="640080" y="274320"/>
            <a:ext cx="256032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300" b="1" i="0">
                <a:solidFill>
                  <a:srgbClr val="F36F21"/>
                </a:solidFill>
                <a:latin typeface="Aptos"/>
              </a:rPr>
              <a:t>E. DECISION RIGHTS + METRICS</a:t>
            </a:r>
          </a:p>
        </p:txBody>
      </p:sp>
      <p:sp>
        <p:nvSpPr>
          <p:cNvPr id="4" name="TextBox 3"/>
          <p:cNvSpPr txBox="1">
            <a:spLocks/>
          </p:cNvSpPr>
          <p:nvPr/>
        </p:nvSpPr>
        <p:spPr>
          <a:xfrm>
            <a:off x="640080" y="658368"/>
            <a:ext cx="6446520" cy="10241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3900" b="1" i="0">
                <a:solidFill>
                  <a:srgbClr val="111111"/>
                </a:solidFill>
                <a:latin typeface="Aptos Display"/>
              </a:rPr>
              <a:t>Measure commercial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3900" b="1" i="0">
                <a:solidFill>
                  <a:srgbClr val="111111"/>
                </a:solidFill>
                <a:latin typeface="Aptos Display"/>
              </a:rPr>
              <a:t>conversion, not attention</a:t>
            </a:r>
          </a:p>
        </p:txBody>
      </p:sp>
      <p:sp>
        <p:nvSpPr>
          <p:cNvPr id="5" name="TextBox 4"/>
          <p:cNvSpPr txBox="1">
            <a:spLocks/>
          </p:cNvSpPr>
          <p:nvPr/>
        </p:nvSpPr>
        <p:spPr>
          <a:xfrm>
            <a:off x="658368" y="1746504"/>
            <a:ext cx="635508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600" b="0" i="0">
                <a:solidFill>
                  <a:srgbClr val="6F6A61"/>
                </a:solidFill>
                <a:latin typeface="Aptos"/>
              </a:rPr>
              <a:t>Commercial and operational metrics; PMM owns awareness and engagement.</a:t>
            </a:r>
          </a:p>
        </p:txBody>
      </p:sp>
      <p:sp>
        <p:nvSpPr>
          <p:cNvPr id="6" name="TextBox 5"/>
          <p:cNvSpPr txBox="1">
            <a:spLocks/>
          </p:cNvSpPr>
          <p:nvPr/>
        </p:nvSpPr>
        <p:spPr>
          <a:xfrm>
            <a:off x="676656" y="2267712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b="1" i="0">
                <a:solidFill>
                  <a:srgbClr val="F22902"/>
                </a:solidFill>
                <a:latin typeface="Aptos"/>
              </a:rPr>
              <a:t>CONVERSION</a:t>
            </a:r>
          </a:p>
        </p:txBody>
      </p:sp>
      <p:sp>
        <p:nvSpPr>
          <p:cNvPr id="7" name="TextBox 6"/>
          <p:cNvSpPr txBox="1">
            <a:spLocks/>
          </p:cNvSpPr>
          <p:nvPr/>
        </p:nvSpPr>
        <p:spPr>
          <a:xfrm>
            <a:off x="2331720" y="2249424"/>
            <a:ext cx="475488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600" b="0" i="0">
                <a:solidFill>
                  <a:srgbClr val="111111"/>
                </a:solidFill>
                <a:latin typeface="Aptos"/>
              </a:rPr>
              <a:t>Trial-to-paid • POV-to-contract</a:t>
            </a:r>
          </a:p>
        </p:txBody>
      </p:sp>
      <p:sp>
        <p:nvSpPr>
          <p:cNvPr id="8" name="Rectangle 7"/>
          <p:cNvSpPr/>
          <p:nvPr/>
        </p:nvSpPr>
        <p:spPr>
          <a:xfrm>
            <a:off x="676656" y="2697480"/>
            <a:ext cx="6364224" cy="10972"/>
          </a:xfrm>
          <a:prstGeom prst="rect">
            <a:avLst/>
          </a:prstGeom>
          <a:solidFill>
            <a:srgbClr val="D8CC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lang="en-US"/>
          </a:p>
        </p:txBody>
      </p:sp>
      <p:sp>
        <p:nvSpPr>
          <p:cNvPr id="9" name="TextBox 8"/>
          <p:cNvSpPr txBox="1">
            <a:spLocks/>
          </p:cNvSpPr>
          <p:nvPr/>
        </p:nvSpPr>
        <p:spPr>
          <a:xfrm>
            <a:off x="676656" y="2980944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b="1" i="0">
                <a:solidFill>
                  <a:srgbClr val="FA500A"/>
                </a:solidFill>
                <a:latin typeface="Aptos"/>
              </a:rPr>
              <a:t>REVENUE</a:t>
            </a:r>
          </a:p>
        </p:txBody>
      </p:sp>
      <p:sp>
        <p:nvSpPr>
          <p:cNvPr id="10" name="TextBox 9"/>
          <p:cNvSpPr txBox="1">
            <a:spLocks/>
          </p:cNvSpPr>
          <p:nvPr/>
        </p:nvSpPr>
        <p:spPr>
          <a:xfrm>
            <a:off x="2331720" y="2962656"/>
            <a:ext cx="475488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600" b="1" i="0">
                <a:solidFill>
                  <a:srgbClr val="111111"/>
                </a:solidFill>
                <a:latin typeface="Aptos"/>
              </a:rPr>
              <a:t>ACV • committed spend • expansion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76656" y="3410711"/>
            <a:ext cx="6364224" cy="10972"/>
          </a:xfrm>
          <a:prstGeom prst="rect">
            <a:avLst/>
          </a:prstGeom>
          <a:solidFill>
            <a:srgbClr val="D8CC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lang="en-US"/>
          </a:p>
        </p:txBody>
      </p:sp>
      <p:sp>
        <p:nvSpPr>
          <p:cNvPr id="12" name="TextBox 11"/>
          <p:cNvSpPr txBox="1">
            <a:spLocks/>
          </p:cNvSpPr>
          <p:nvPr/>
        </p:nvSpPr>
        <p:spPr>
          <a:xfrm>
            <a:off x="676656" y="3694176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b="1" i="0">
                <a:solidFill>
                  <a:srgbClr val="F18728"/>
                </a:solidFill>
                <a:latin typeface="Aptos"/>
              </a:rPr>
              <a:t>VELOCITY</a:t>
            </a:r>
          </a:p>
        </p:txBody>
      </p:sp>
      <p:sp>
        <p:nvSpPr>
          <p:cNvPr id="13" name="TextBox 12"/>
          <p:cNvSpPr txBox="1">
            <a:spLocks/>
          </p:cNvSpPr>
          <p:nvPr/>
        </p:nvSpPr>
        <p:spPr>
          <a:xfrm>
            <a:off x="2331720" y="3675888"/>
            <a:ext cx="475488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600" b="0" i="0">
                <a:solidFill>
                  <a:srgbClr val="111111"/>
                </a:solidFill>
                <a:latin typeface="Aptos"/>
              </a:rPr>
              <a:t>Time to contract • time to production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76656" y="4123944"/>
            <a:ext cx="6364224" cy="10972"/>
          </a:xfrm>
          <a:prstGeom prst="rect">
            <a:avLst/>
          </a:prstGeom>
          <a:solidFill>
            <a:srgbClr val="D8CC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lang="en-US"/>
          </a:p>
        </p:txBody>
      </p:sp>
      <p:sp>
        <p:nvSpPr>
          <p:cNvPr id="15" name="TextBox 14"/>
          <p:cNvSpPr txBox="1">
            <a:spLocks/>
          </p:cNvSpPr>
          <p:nvPr/>
        </p:nvSpPr>
        <p:spPr>
          <a:xfrm>
            <a:off x="676656" y="4407408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b="1" i="0">
                <a:solidFill>
                  <a:srgbClr val="FF7043"/>
                </a:solidFill>
                <a:latin typeface="Aptos"/>
              </a:rPr>
              <a:t>MIX</a:t>
            </a:r>
          </a:p>
        </p:txBody>
      </p:sp>
      <p:sp>
        <p:nvSpPr>
          <p:cNvPr id="16" name="TextBox 15"/>
          <p:cNvSpPr txBox="1">
            <a:spLocks/>
          </p:cNvSpPr>
          <p:nvPr/>
        </p:nvSpPr>
        <p:spPr>
          <a:xfrm>
            <a:off x="2331720" y="4389120"/>
            <a:ext cx="475488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600" b="1" i="0">
                <a:solidFill>
                  <a:srgbClr val="111111"/>
                </a:solidFill>
                <a:latin typeface="Aptos"/>
              </a:rPr>
              <a:t>Tier mix • marketplace contribution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76656" y="4837176"/>
            <a:ext cx="6364224" cy="10972"/>
          </a:xfrm>
          <a:prstGeom prst="rect">
            <a:avLst/>
          </a:prstGeom>
          <a:solidFill>
            <a:srgbClr val="D8CC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lang="en-US"/>
          </a:p>
        </p:txBody>
      </p:sp>
      <p:sp>
        <p:nvSpPr>
          <p:cNvPr id="18" name="TextBox 17"/>
          <p:cNvSpPr txBox="1">
            <a:spLocks/>
          </p:cNvSpPr>
          <p:nvPr/>
        </p:nvSpPr>
        <p:spPr>
          <a:xfrm>
            <a:off x="676656" y="5120640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b="1" i="0">
                <a:solidFill>
                  <a:srgbClr val="F22902"/>
                </a:solidFill>
                <a:latin typeface="Aptos"/>
              </a:rPr>
              <a:t>PRODUCTION</a:t>
            </a:r>
          </a:p>
        </p:txBody>
      </p:sp>
      <p:sp>
        <p:nvSpPr>
          <p:cNvPr id="19" name="TextBox 18"/>
          <p:cNvSpPr txBox="1">
            <a:spLocks/>
          </p:cNvSpPr>
          <p:nvPr/>
        </p:nvSpPr>
        <p:spPr>
          <a:xfrm>
            <a:off x="2331720" y="5102352"/>
            <a:ext cx="475488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600" b="0" i="0">
                <a:solidFill>
                  <a:srgbClr val="111111"/>
                </a:solidFill>
                <a:latin typeface="Aptos"/>
              </a:rPr>
              <a:t>Production workloads • paying teams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76656" y="5550407"/>
            <a:ext cx="6364224" cy="10972"/>
          </a:xfrm>
          <a:prstGeom prst="rect">
            <a:avLst/>
          </a:prstGeom>
          <a:solidFill>
            <a:srgbClr val="D8CC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lang="en-US"/>
          </a:p>
        </p:txBody>
      </p:sp>
      <p:sp>
        <p:nvSpPr>
          <p:cNvPr id="21" name="TextBox 20"/>
          <p:cNvSpPr txBox="1">
            <a:spLocks/>
          </p:cNvSpPr>
          <p:nvPr/>
        </p:nvSpPr>
        <p:spPr>
          <a:xfrm>
            <a:off x="8046720" y="502920"/>
            <a:ext cx="333756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300" b="1" i="0">
                <a:solidFill>
                  <a:srgbClr val="F36F21"/>
                </a:solidFill>
                <a:latin typeface="Aptos"/>
              </a:rPr>
              <a:t>DECISION RIGHTS</a:t>
            </a:r>
          </a:p>
        </p:txBody>
      </p:sp>
      <p:sp>
        <p:nvSpPr>
          <p:cNvPr id="22" name="TextBox 21"/>
          <p:cNvSpPr txBox="1">
            <a:spLocks/>
          </p:cNvSpPr>
          <p:nvPr/>
        </p:nvSpPr>
        <p:spPr>
          <a:xfrm>
            <a:off x="8046720" y="896112"/>
            <a:ext cx="3291840" cy="914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3100" b="1" i="0">
                <a:solidFill>
                  <a:srgbClr val="FFFFFF"/>
                </a:solidFill>
                <a:latin typeface="Aptos Display"/>
              </a:rPr>
              <a:t>Six decisions,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3100" b="1" i="0">
                <a:solidFill>
                  <a:srgbClr val="FFFFFF"/>
                </a:solidFill>
                <a:latin typeface="Aptos Display"/>
              </a:rPr>
              <a:t>one DRI each</a:t>
            </a:r>
          </a:p>
        </p:txBody>
      </p:sp>
      <p:sp>
        <p:nvSpPr>
          <p:cNvPr id="23" name="TextBox 22"/>
          <p:cNvSpPr txBox="1">
            <a:spLocks/>
          </p:cNvSpPr>
          <p:nvPr/>
        </p:nvSpPr>
        <p:spPr>
          <a:xfrm>
            <a:off x="8046720" y="2103120"/>
            <a:ext cx="41148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200" b="1" i="0">
                <a:solidFill>
                  <a:srgbClr val="FFD447"/>
                </a:solidFill>
                <a:latin typeface="Aptos"/>
              </a:rPr>
              <a:t>01</a:t>
            </a:r>
          </a:p>
        </p:txBody>
      </p:sp>
      <p:sp>
        <p:nvSpPr>
          <p:cNvPr id="24" name="TextBox 23"/>
          <p:cNvSpPr txBox="1">
            <a:spLocks/>
          </p:cNvSpPr>
          <p:nvPr/>
        </p:nvSpPr>
        <p:spPr>
          <a:xfrm>
            <a:off x="8622792" y="2075688"/>
            <a:ext cx="265176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600" b="1" i="0">
                <a:solidFill>
                  <a:srgbClr val="FFFFFF"/>
                </a:solidFill>
                <a:latin typeface="Aptos"/>
              </a:rPr>
              <a:t>Budget + headcount — CFO • T−6 • In review</a:t>
            </a:r>
          </a:p>
        </p:txBody>
      </p:sp>
      <p:sp>
        <p:nvSpPr>
          <p:cNvPr id="25" name="TextBox 24"/>
          <p:cNvSpPr txBox="1">
            <a:spLocks/>
          </p:cNvSpPr>
          <p:nvPr/>
        </p:nvSpPr>
        <p:spPr>
          <a:xfrm>
            <a:off x="8046720" y="2624327"/>
            <a:ext cx="41148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200" b="1" i="0">
                <a:solidFill>
                  <a:srgbClr val="FFD447"/>
                </a:solidFill>
                <a:latin typeface="Aptos"/>
              </a:rPr>
              <a:t>02</a:t>
            </a:r>
          </a:p>
        </p:txBody>
      </p:sp>
      <p:sp>
        <p:nvSpPr>
          <p:cNvPr id="26" name="TextBox 25"/>
          <p:cNvSpPr txBox="1">
            <a:spLocks/>
          </p:cNvSpPr>
          <p:nvPr/>
        </p:nvSpPr>
        <p:spPr>
          <a:xfrm>
            <a:off x="8622792" y="2596896"/>
            <a:ext cx="265176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600" b="0" i="0">
                <a:solidFill>
                  <a:srgbClr val="FFFFFF"/>
                </a:solidFill>
                <a:latin typeface="Aptos"/>
              </a:rPr>
              <a:t>Revenue + commit targets — CRO • T−5 • Open</a:t>
            </a:r>
          </a:p>
        </p:txBody>
      </p:sp>
      <p:sp>
        <p:nvSpPr>
          <p:cNvPr id="27" name="TextBox 26"/>
          <p:cNvSpPr txBox="1">
            <a:spLocks/>
          </p:cNvSpPr>
          <p:nvPr/>
        </p:nvSpPr>
        <p:spPr>
          <a:xfrm>
            <a:off x="8046720" y="3145535"/>
            <a:ext cx="41148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200" b="1" i="0">
                <a:solidFill>
                  <a:srgbClr val="FFD447"/>
                </a:solidFill>
                <a:latin typeface="Aptos"/>
              </a:rPr>
              <a:t>03</a:t>
            </a:r>
          </a:p>
        </p:txBody>
      </p:sp>
      <p:sp>
        <p:nvSpPr>
          <p:cNvPr id="28" name="TextBox 27"/>
          <p:cNvSpPr txBox="1">
            <a:spLocks/>
          </p:cNvSpPr>
          <p:nvPr/>
        </p:nvSpPr>
        <p:spPr>
          <a:xfrm>
            <a:off x="8622792" y="3118103"/>
            <a:ext cx="265176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600" b="0" i="0">
                <a:solidFill>
                  <a:srgbClr val="FFFFFF"/>
                </a:solidFill>
                <a:latin typeface="Aptos"/>
              </a:rPr>
              <a:t>Launch tier + GA date — VP Product • T−8 • Approved</a:t>
            </a:r>
          </a:p>
        </p:txBody>
      </p:sp>
      <p:sp>
        <p:nvSpPr>
          <p:cNvPr id="29" name="TextBox 28"/>
          <p:cNvSpPr txBox="1">
            <a:spLocks/>
          </p:cNvSpPr>
          <p:nvPr/>
        </p:nvSpPr>
        <p:spPr>
          <a:xfrm>
            <a:off x="8046720" y="3666744"/>
            <a:ext cx="41148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200" b="1" i="0">
                <a:solidFill>
                  <a:srgbClr val="FFD447"/>
                </a:solidFill>
                <a:latin typeface="Aptos"/>
              </a:rPr>
              <a:t>04</a:t>
            </a:r>
          </a:p>
        </p:txBody>
      </p:sp>
      <p:sp>
        <p:nvSpPr>
          <p:cNvPr id="30" name="TextBox 29"/>
          <p:cNvSpPr txBox="1">
            <a:spLocks/>
          </p:cNvSpPr>
          <p:nvPr/>
        </p:nvSpPr>
        <p:spPr>
          <a:xfrm>
            <a:off x="8622792" y="3639312"/>
            <a:ext cx="265176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600" b="0" i="0">
                <a:solidFill>
                  <a:srgbClr val="FFFFFF"/>
                </a:solidFill>
                <a:latin typeface="Aptos"/>
              </a:rPr>
              <a:t>Pricing + packaging — CFO and CRO • T−6 • In review</a:t>
            </a:r>
          </a:p>
        </p:txBody>
      </p:sp>
      <p:sp>
        <p:nvSpPr>
          <p:cNvPr id="31" name="TextBox 30"/>
          <p:cNvSpPr txBox="1">
            <a:spLocks/>
          </p:cNvSpPr>
          <p:nvPr/>
        </p:nvSpPr>
        <p:spPr>
          <a:xfrm>
            <a:off x="8046720" y="4187952"/>
            <a:ext cx="41148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200" b="1" i="0">
                <a:solidFill>
                  <a:srgbClr val="FFD447"/>
                </a:solidFill>
                <a:latin typeface="Aptos"/>
              </a:rPr>
              <a:t>05</a:t>
            </a:r>
          </a:p>
        </p:txBody>
      </p:sp>
      <p:sp>
        <p:nvSpPr>
          <p:cNvPr id="32" name="TextBox 31"/>
          <p:cNvSpPr txBox="1">
            <a:spLocks/>
          </p:cNvSpPr>
          <p:nvPr/>
        </p:nvSpPr>
        <p:spPr>
          <a:xfrm>
            <a:off x="8622792" y="4160520"/>
            <a:ext cx="265176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600" b="0" i="0">
                <a:solidFill>
                  <a:srgbClr val="FFFFFF"/>
                </a:solidFill>
                <a:latin typeface="Aptos"/>
              </a:rPr>
              <a:t>SLA + support model — VP Engineering • T−5 • Open</a:t>
            </a:r>
          </a:p>
        </p:txBody>
      </p:sp>
      <p:sp>
        <p:nvSpPr>
          <p:cNvPr id="33" name="TextBox 32"/>
          <p:cNvSpPr txBox="1">
            <a:spLocks/>
          </p:cNvSpPr>
          <p:nvPr/>
        </p:nvSpPr>
        <p:spPr>
          <a:xfrm>
            <a:off x="8046720" y="4709159"/>
            <a:ext cx="41148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200" b="1" i="0">
                <a:solidFill>
                  <a:srgbClr val="FFD447"/>
                </a:solidFill>
                <a:latin typeface="Aptos"/>
              </a:rPr>
              <a:t>06</a:t>
            </a:r>
          </a:p>
        </p:txBody>
      </p:sp>
      <p:sp>
        <p:nvSpPr>
          <p:cNvPr id="34" name="TextBox 33"/>
          <p:cNvSpPr txBox="1">
            <a:spLocks/>
          </p:cNvSpPr>
          <p:nvPr/>
        </p:nvSpPr>
        <p:spPr>
          <a:xfrm>
            <a:off x="8622792" y="4681727"/>
            <a:ext cx="265176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600" b="1" i="0">
                <a:solidFill>
                  <a:srgbClr val="FFFFFF"/>
                </a:solidFill>
                <a:latin typeface="Aptos"/>
              </a:rPr>
              <a:t>Contract + marketplace terms — GC • T−4 • Open</a:t>
            </a:r>
          </a:p>
        </p:txBody>
      </p:sp>
      <p:sp>
        <p:nvSpPr>
          <p:cNvPr id="35" name="TextBox 34"/>
          <p:cNvSpPr txBox="1">
            <a:spLocks/>
          </p:cNvSpPr>
          <p:nvPr/>
        </p:nvSpPr>
        <p:spPr>
          <a:xfrm>
            <a:off x="8046720" y="5468112"/>
            <a:ext cx="1005840" cy="1645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100" b="1" i="0">
                <a:solidFill>
                  <a:srgbClr val="F36F21"/>
                </a:solidFill>
                <a:latin typeface="Aptos"/>
              </a:rPr>
              <a:t>THE ASK</a:t>
            </a:r>
          </a:p>
        </p:txBody>
      </p:sp>
      <p:sp>
        <p:nvSpPr>
          <p:cNvPr id="36" name="TextBox 35"/>
          <p:cNvSpPr txBox="1">
            <a:spLocks/>
          </p:cNvSpPr>
          <p:nvPr/>
        </p:nvSpPr>
        <p:spPr>
          <a:xfrm>
            <a:off x="8046720" y="5715000"/>
            <a:ext cx="3246120" cy="502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600" b="1" i="0">
                <a:solidFill>
                  <a:srgbClr val="EFE7DB"/>
                </a:solidFill>
                <a:latin typeface="Aptos"/>
              </a:rPr>
              <a:t>Clear every decision by T−4; anything still amber escalates to the launch steering group.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" y="6473952"/>
            <a:ext cx="7955279" cy="18288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800" b="0" i="0">
                <a:solidFill>
                  <a:srgbClr val="D9D5CC"/>
                </a:solidFill>
                <a:latin typeface="Aptos"/>
              </a:rPr>
              <a:t>Mistral Studio  •  Launch &amp; commercialization plan</a:t>
            </a:r>
            <a:endParaRPr sz="800" b="0" i="0">
              <a:solidFill>
                <a:srgbClr val="6F6A61"/>
              </a:solidFill>
              <a:latin typeface="Aptos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11109960" y="6455664"/>
            <a:ext cx="438912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00" b="1" i="0">
                <a:solidFill>
                  <a:srgbClr val="FFFFFF"/>
                </a:solidFill>
                <a:latin typeface="Aptos"/>
              </a:rPr>
              <a:t>10</a:t>
            </a:r>
            <a:endParaRPr sz="900" b="1" i="0">
              <a:solidFill>
                <a:srgbClr val="FFFFFF"/>
              </a:solidFill>
              <a:latin typeface="Aptos"/>
            </a:endParaRPr>
          </a:p>
        </p:txBody>
      </p:sp>
      <p:pic>
        <p:nvPicPr>
          <p:cNvPr id="42" name="Picture 41" descr="mistral-gradient-icon-dark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446520"/>
            <a:ext cx="201168" cy="207987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548</TotalTime>
  <Words>2526</Words>
  <Application>Microsoft Office PowerPoint</Application>
  <PresentationFormat>Widescreen</PresentationFormat>
  <Paragraphs>272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Aptos</vt:lpstr>
      <vt:lpstr>Aptos Display</vt:lpstr>
      <vt:lpstr>Arial</vt:lpstr>
      <vt:lpstr>Office Theme</vt:lpstr>
      <vt:lpstr>1_Office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ns2="http://purl.org/dc/terms/" xmlns:xsi="http://www.w3.org/2001/XMLSchema-instance">
  <dc:title>Mistral Studio - GTM &amp; Launch Strategy MECE Framework</dc:title>
  <dc:subject>Outside-in GTM launch plan and MECE framework for Mistral Studio</dc:subject>
  <dc:creator>Shiv, Prospective PMM, Mistral Studio</dc:creator>
  <cp:lastModifiedBy>Shivam Singh</cp:lastModifiedBy>
  <cp:revision>25</cp:revision>
  <ns2:created xsi:type="dcterms:W3CDTF">2026-08-16T17:42:39Z</ns2:created>
  <ns2:modified xsi:type="dcterms:W3CDTF">2026-08-17T06:15:37Z</ns2:modified>
  <cp:keywords>mistral-studio, gtm-strategy, mece-framework, launch-plan</cp:keywords>
</cp:coreProperties>
</file>