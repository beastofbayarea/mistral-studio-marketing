
<file path=[Content_Types].xml><?xml version="1.0" encoding="utf-8"?>
<Types xmlns="http://schemas.openxmlformats.org/package/2006/content-types">
  <Default Extension="jpg" ContentType="image/jp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98" d="100"/>
          <a:sy n="98" d="100"/>
        </p:scale>
        <p:origin x="78" y="36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5" Type="http://schemas.openxmlformats.org/officeDocument/2006/relationships/slide" Target="slides/slide4.xml"/><Relationship Id="rId1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B0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mnt/data/pptx_extract/ppt/media/image-1-1.jpg"/>
          <p:cNvPicPr>
            <a:picLocks noChangeAspect="1"/>
          </p:cNvPicPr>
          <p:nvPr/>
        </p:nvPicPr>
        <p:blipFill>
          <a:blip r:embed="rId2"/>
          <a:srcRect l="24950" r="24950"/>
          <a:stretch/>
        </p:blipFill>
        <p:spPr>
          <a:xfrm>
            <a:off x="6080760" y="0"/>
            <a:ext cx="6108192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02920" y="512064"/>
            <a:ext cx="23774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570" b="1" dirty="0">
                <a:solidFill>
                  <a:srgbClr val="FF3D0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MISTRAL STUDIO</a:t>
            </a:r>
            <a:endParaRPr lang="en-US" sz="570" dirty="0"/>
          </a:p>
        </p:txBody>
      </p:sp>
      <p:sp>
        <p:nvSpPr>
          <p:cNvPr id="4" name="Text 1"/>
          <p:cNvSpPr/>
          <p:nvPr/>
        </p:nvSpPr>
        <p:spPr>
          <a:xfrm>
            <a:off x="502920" y="1225296"/>
            <a:ext cx="4160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25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Launch &amp;</a:t>
            </a:r>
            <a:endParaRPr lang="en-US" sz="2250" dirty="0"/>
          </a:p>
          <a:p>
            <a:pPr marL="0" indent="0">
              <a:buNone/>
            </a:pPr>
            <a:r>
              <a:rPr lang="en-US" sz="225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commercialization plan</a:t>
            </a:r>
            <a:endParaRPr lang="en-US" sz="2250" dirty="0"/>
          </a:p>
        </p:txBody>
      </p:sp>
      <p:sp>
        <p:nvSpPr>
          <p:cNvPr id="5" name="Shape 2"/>
          <p:cNvSpPr/>
          <p:nvPr/>
        </p:nvSpPr>
        <p:spPr>
          <a:xfrm>
            <a:off x="502920" y="2331720"/>
            <a:ext cx="384048" cy="0"/>
          </a:xfrm>
          <a:prstGeom prst="line">
            <a:avLst/>
          </a:prstGeom>
          <a:noFill/>
          <a:ln w="17780">
            <a:solidFill>
              <a:srgbClr val="FF3D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3"/>
          <p:cNvSpPr/>
          <p:nvPr/>
        </p:nvSpPr>
        <p:spPr>
          <a:xfrm>
            <a:off x="502920" y="2743200"/>
            <a:ext cx="4434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900" b="1" dirty="0">
                <a:solidFill>
                  <a:srgbClr val="FFB00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plan to price, sell, contract, bill, deploy and support Studio at launch.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502920" y="3429000"/>
            <a:ext cx="44988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730" dirty="0">
                <a:solidFill>
                  <a:srgbClr val="C8C0B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Commercial and operational scope only; market, audience, positioning, messaging and proof sit in the PMM deck.</a:t>
            </a:r>
            <a:endParaRPr lang="en-US" sz="730" dirty="0"/>
          </a:p>
        </p:txBody>
      </p:sp>
      <p:sp>
        <p:nvSpPr>
          <p:cNvPr id="8" name="Shape 5"/>
          <p:cNvSpPr/>
          <p:nvPr/>
        </p:nvSpPr>
        <p:spPr>
          <a:xfrm>
            <a:off x="0" y="6647688"/>
            <a:ext cx="6080760" cy="210312"/>
          </a:xfrm>
          <a:prstGeom prst="rect">
            <a:avLst/>
          </a:prstGeom>
          <a:solidFill>
            <a:srgbClr val="090910"/>
          </a:solidFill>
          <a:ln w="12700">
            <a:solidFill>
              <a:srgbClr val="09091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6"/>
          <p:cNvSpPr/>
          <p:nvPr/>
        </p:nvSpPr>
        <p:spPr>
          <a:xfrm>
            <a:off x="502920" y="6327648"/>
            <a:ext cx="118872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40" dirty="0">
                <a:solidFill>
                  <a:srgbClr val="6D625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2026-08-16</a:t>
            </a:r>
            <a:endParaRPr lang="en-US" sz="540" dirty="0"/>
          </a:p>
        </p:txBody>
      </p:sp>
      <p:sp>
        <p:nvSpPr>
          <p:cNvPr id="10" name="Text 7"/>
          <p:cNvSpPr/>
          <p:nvPr/>
        </p:nvSpPr>
        <p:spPr>
          <a:xfrm>
            <a:off x="11612880" y="6327648"/>
            <a:ext cx="2286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54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01</a:t>
            </a:r>
            <a:endParaRPr lang="en-US" sz="54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EFE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75488" y="219456"/>
            <a:ext cx="71323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570" b="1" dirty="0">
                <a:solidFill>
                  <a:srgbClr val="FF3D0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LAUNCH CHARTER  •  COMMERCIAL SCOPE  •  DECISION RIGHTS</a:t>
            </a:r>
            <a:endParaRPr lang="en-US" sz="570" dirty="0"/>
          </a:p>
        </p:txBody>
      </p:sp>
      <p:sp>
        <p:nvSpPr>
          <p:cNvPr id="3" name="Text 1"/>
          <p:cNvSpPr/>
          <p:nvPr/>
        </p:nvSpPr>
        <p:spPr>
          <a:xfrm>
            <a:off x="475488" y="438912"/>
            <a:ext cx="103327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050" b="1" dirty="0">
                <a:solidFill>
                  <a:srgbClr val="0A0B0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What this launch must deliver — and what must be ready</a:t>
            </a:r>
            <a:endParaRPr lang="en-US" sz="2050" dirty="0"/>
          </a:p>
        </p:txBody>
      </p:sp>
      <p:sp>
        <p:nvSpPr>
          <p:cNvPr id="4" name="Text 2"/>
          <p:cNvSpPr/>
          <p:nvPr/>
        </p:nvSpPr>
        <p:spPr>
          <a:xfrm>
            <a:off x="475488" y="832104"/>
            <a:ext cx="10515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710" dirty="0">
                <a:solidFill>
                  <a:srgbClr val="6D625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concise deck now keeps the original operating charter, commercial scope, scorecard and executive decision rights together.</a:t>
            </a:r>
            <a:endParaRPr lang="en-US" sz="710" dirty="0"/>
          </a:p>
        </p:txBody>
      </p:sp>
      <p:sp>
        <p:nvSpPr>
          <p:cNvPr id="5" name="Shape 3"/>
          <p:cNvSpPr/>
          <p:nvPr/>
        </p:nvSpPr>
        <p:spPr>
          <a:xfrm>
            <a:off x="475488" y="1088136"/>
            <a:ext cx="11018520" cy="0"/>
          </a:xfrm>
          <a:prstGeom prst="line">
            <a:avLst/>
          </a:prstGeom>
          <a:noFill/>
          <a:ln w="7620">
            <a:solidFill>
              <a:srgbClr val="FF3D00">
                <a:alpha val="85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6" name="Image 0" descr="/mnt/data/pptx_extract/ppt/media/image-2-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640312" y="237744"/>
            <a:ext cx="109728" cy="109728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0" y="6647688"/>
            <a:ext cx="12192000" cy="210312"/>
          </a:xfrm>
          <a:prstGeom prst="rect">
            <a:avLst/>
          </a:prstGeom>
          <a:solidFill>
            <a:srgbClr val="0A0B0D"/>
          </a:solidFill>
          <a:ln w="12700">
            <a:solidFill>
              <a:srgbClr val="0A0B0D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Shape 5"/>
          <p:cNvSpPr/>
          <p:nvPr/>
        </p:nvSpPr>
        <p:spPr>
          <a:xfrm>
            <a:off x="438912" y="6428232"/>
            <a:ext cx="146304" cy="27432"/>
          </a:xfrm>
          <a:prstGeom prst="rect">
            <a:avLst/>
          </a:prstGeom>
          <a:solidFill>
            <a:srgbClr val="FF3D00"/>
          </a:solidFill>
          <a:ln w="12700">
            <a:solidFill>
              <a:srgbClr val="FF3D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6"/>
          <p:cNvSpPr/>
          <p:nvPr/>
        </p:nvSpPr>
        <p:spPr>
          <a:xfrm>
            <a:off x="621792" y="6373368"/>
            <a:ext cx="384048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90" dirty="0">
                <a:solidFill>
                  <a:srgbClr val="6D625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Mistral Studio  •  Launch &amp; commercialization plan</a:t>
            </a:r>
            <a:endParaRPr lang="en-US" sz="490" dirty="0"/>
          </a:p>
        </p:txBody>
      </p:sp>
      <p:sp>
        <p:nvSpPr>
          <p:cNvPr id="10" name="Text 7"/>
          <p:cNvSpPr/>
          <p:nvPr/>
        </p:nvSpPr>
        <p:spPr>
          <a:xfrm>
            <a:off x="11612880" y="6327648"/>
            <a:ext cx="2286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520" b="1" dirty="0">
                <a:solidFill>
                  <a:srgbClr val="0A0B0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02</a:t>
            </a:r>
            <a:endParaRPr lang="en-US" sz="520" dirty="0"/>
          </a:p>
        </p:txBody>
      </p:sp>
      <p:sp>
        <p:nvSpPr>
          <p:cNvPr id="11" name="Text 8"/>
          <p:cNvSpPr/>
          <p:nvPr/>
        </p:nvSpPr>
        <p:spPr>
          <a:xfrm>
            <a:off x="530352" y="1225296"/>
            <a:ext cx="18288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550" b="1" dirty="0">
                <a:solidFill>
                  <a:srgbClr val="FF3D0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LAUNCH CHARTER</a:t>
            </a:r>
            <a:endParaRPr lang="en-US" sz="550" dirty="0"/>
          </a:p>
        </p:txBody>
      </p:sp>
      <p:sp>
        <p:nvSpPr>
          <p:cNvPr id="12" name="Text 9"/>
          <p:cNvSpPr/>
          <p:nvPr/>
        </p:nvSpPr>
        <p:spPr>
          <a:xfrm>
            <a:off x="603504" y="1664208"/>
            <a:ext cx="4233672" cy="274320"/>
          </a:xfrm>
          <a:prstGeom prst="rect">
            <a:avLst/>
          </a:prstGeom>
          <a:solidFill>
            <a:srgbClr val="FDF7EF"/>
          </a:solidFill>
          <a:ln>
            <a:solidFill>
              <a:srgbClr val="FDF7EF">
                <a:alpha val="0"/>
              </a:srgbClr>
            </a:solidFill>
          </a:ln>
        </p:spPr>
        <p:txBody>
          <a:bodyPr wrap="square" lIns="0" tIns="254" rIns="254" bIns="254" rtlCol="0" anchor="t">
            <a:normAutofit/>
          </a:bodyPr>
          <a:lstStyle/>
          <a:p>
            <a:pPr marL="0" indent="0">
              <a:buNone/>
            </a:pPr>
            <a:r>
              <a:rPr lang="en-US" sz="690" dirty="0">
                <a:solidFill>
                  <a:srgbClr val="0A0B0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Make Studio buyable on every route, deployable in production within 30 days of contract, and operable at launch-day scale.</a:t>
            </a:r>
            <a:endParaRPr lang="en-US" sz="690" dirty="0"/>
          </a:p>
        </p:txBody>
      </p:sp>
      <p:sp>
        <p:nvSpPr>
          <p:cNvPr id="13" name="Shape 10"/>
          <p:cNvSpPr/>
          <p:nvPr/>
        </p:nvSpPr>
        <p:spPr>
          <a:xfrm>
            <a:off x="530352" y="1435608"/>
            <a:ext cx="32004" cy="530352"/>
          </a:xfrm>
          <a:prstGeom prst="rect">
            <a:avLst/>
          </a:prstGeom>
          <a:solidFill>
            <a:srgbClr val="FF3D00"/>
          </a:solidFill>
          <a:ln w="12700">
            <a:solidFill>
              <a:srgbClr val="FF3D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11"/>
          <p:cNvSpPr/>
          <p:nvPr/>
        </p:nvSpPr>
        <p:spPr>
          <a:xfrm>
            <a:off x="621792" y="1499616"/>
            <a:ext cx="41605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540" b="1" dirty="0">
                <a:solidFill>
                  <a:srgbClr val="FF3D0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OBJECTIVE</a:t>
            </a:r>
            <a:endParaRPr lang="en-US" sz="540" dirty="0"/>
          </a:p>
        </p:txBody>
      </p:sp>
      <p:sp>
        <p:nvSpPr>
          <p:cNvPr id="15" name="Text 12"/>
          <p:cNvSpPr/>
          <p:nvPr/>
        </p:nvSpPr>
        <p:spPr>
          <a:xfrm>
            <a:off x="603504" y="2304288"/>
            <a:ext cx="4233672" cy="274320"/>
          </a:xfrm>
          <a:prstGeom prst="rect">
            <a:avLst/>
          </a:prstGeom>
          <a:solidFill>
            <a:srgbClr val="FDF7EF"/>
          </a:solidFill>
          <a:ln>
            <a:solidFill>
              <a:srgbClr val="FDF7EF">
                <a:alpha val="0"/>
              </a:srgbClr>
            </a:solidFill>
          </a:ln>
        </p:spPr>
        <p:txBody>
          <a:bodyPr wrap="square" lIns="0" tIns="254" rIns="254" bIns="254" rtlCol="0" anchor="t">
            <a:normAutofit/>
          </a:bodyPr>
          <a:lstStyle/>
          <a:p>
            <a:pPr marL="0" indent="0">
              <a:buNone/>
            </a:pPr>
            <a:r>
              <a:rPr lang="en-US" sz="690" dirty="0">
                <a:solidFill>
                  <a:srgbClr val="0A0B0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Pricing, packaging, offer architecture, routes to market, commercial motion, billing, legal, support, marketplace readiness and docs.</a:t>
            </a:r>
            <a:endParaRPr lang="en-US" sz="690" dirty="0"/>
          </a:p>
        </p:txBody>
      </p:sp>
      <p:sp>
        <p:nvSpPr>
          <p:cNvPr id="16" name="Shape 13"/>
          <p:cNvSpPr/>
          <p:nvPr/>
        </p:nvSpPr>
        <p:spPr>
          <a:xfrm>
            <a:off x="530352" y="2075688"/>
            <a:ext cx="32004" cy="530352"/>
          </a:xfrm>
          <a:prstGeom prst="rect">
            <a:avLst/>
          </a:prstGeom>
          <a:solidFill>
            <a:srgbClr val="FF8B00"/>
          </a:solidFill>
          <a:ln w="12700">
            <a:solidFill>
              <a:srgbClr val="FF8B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4"/>
          <p:cNvSpPr/>
          <p:nvPr/>
        </p:nvSpPr>
        <p:spPr>
          <a:xfrm>
            <a:off x="621792" y="2139696"/>
            <a:ext cx="41605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540" b="1" dirty="0">
                <a:solidFill>
                  <a:srgbClr val="FF8B0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SCOPE</a:t>
            </a:r>
            <a:endParaRPr lang="en-US" sz="540" dirty="0"/>
          </a:p>
        </p:txBody>
      </p:sp>
      <p:sp>
        <p:nvSpPr>
          <p:cNvPr id="18" name="Text 15"/>
          <p:cNvSpPr/>
          <p:nvPr/>
        </p:nvSpPr>
        <p:spPr>
          <a:xfrm>
            <a:off x="603504" y="2944368"/>
            <a:ext cx="4233672" cy="274320"/>
          </a:xfrm>
          <a:prstGeom prst="rect">
            <a:avLst/>
          </a:prstGeom>
          <a:solidFill>
            <a:srgbClr val="FDF7EF"/>
          </a:solidFill>
          <a:ln>
            <a:solidFill>
              <a:srgbClr val="FDF7EF">
                <a:alpha val="0"/>
              </a:srgbClr>
            </a:solidFill>
          </a:ln>
        </p:spPr>
        <p:txBody>
          <a:bodyPr wrap="square" lIns="0" tIns="254" rIns="254" bIns="254" rtlCol="0" anchor="t">
            <a:normAutofit/>
          </a:bodyPr>
          <a:lstStyle/>
          <a:p>
            <a:pPr marL="0" indent="0">
              <a:buNone/>
            </a:pPr>
            <a:r>
              <a:rPr lang="en-US" sz="690" dirty="0">
                <a:solidFill>
                  <a:srgbClr val="0A0B0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Trial-to-paid at plan; ten production workloads live; committed spend across Serverless, Dedicated and Self-hosted.</a:t>
            </a:r>
            <a:endParaRPr lang="en-US" sz="690" dirty="0"/>
          </a:p>
        </p:txBody>
      </p:sp>
      <p:sp>
        <p:nvSpPr>
          <p:cNvPr id="19" name="Shape 16"/>
          <p:cNvSpPr/>
          <p:nvPr/>
        </p:nvSpPr>
        <p:spPr>
          <a:xfrm>
            <a:off x="530352" y="2715768"/>
            <a:ext cx="32004" cy="530352"/>
          </a:xfrm>
          <a:prstGeom prst="rect">
            <a:avLst/>
          </a:prstGeom>
          <a:solidFill>
            <a:srgbClr val="FF3D00"/>
          </a:solidFill>
          <a:ln w="12700">
            <a:solidFill>
              <a:srgbClr val="FF3D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Text 17"/>
          <p:cNvSpPr/>
          <p:nvPr/>
        </p:nvSpPr>
        <p:spPr>
          <a:xfrm>
            <a:off x="621792" y="2779776"/>
            <a:ext cx="41605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540" b="1" dirty="0">
                <a:solidFill>
                  <a:srgbClr val="FF3D0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SUCCESS CRITERIA</a:t>
            </a:r>
            <a:endParaRPr lang="en-US" sz="540" dirty="0"/>
          </a:p>
        </p:txBody>
      </p:sp>
      <p:sp>
        <p:nvSpPr>
          <p:cNvPr id="21" name="Text 18"/>
          <p:cNvSpPr/>
          <p:nvPr/>
        </p:nvSpPr>
        <p:spPr>
          <a:xfrm>
            <a:off x="530352" y="3557016"/>
            <a:ext cx="292608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550" b="1" dirty="0">
                <a:solidFill>
                  <a:srgbClr val="FF3D0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COMMERCIALIZABLE CAPABILITY BASE</a:t>
            </a:r>
            <a:endParaRPr lang="en-US" sz="550" dirty="0"/>
          </a:p>
        </p:txBody>
      </p:sp>
      <p:sp>
        <p:nvSpPr>
          <p:cNvPr id="22" name="Text 19"/>
          <p:cNvSpPr/>
          <p:nvPr/>
        </p:nvSpPr>
        <p:spPr>
          <a:xfrm>
            <a:off x="603504" y="4014216"/>
            <a:ext cx="4233672" cy="530352"/>
          </a:xfrm>
          <a:prstGeom prst="rect">
            <a:avLst/>
          </a:prstGeom>
          <a:solidFill>
            <a:srgbClr val="FDF7EF"/>
          </a:solidFill>
          <a:ln>
            <a:solidFill>
              <a:srgbClr val="FDF7EF">
                <a:alpha val="0"/>
              </a:srgbClr>
            </a:solidFill>
          </a:ln>
        </p:spPr>
        <p:txBody>
          <a:bodyPr wrap="square" lIns="0" tIns="254" rIns="254" bIns="254" rtlCol="0" anchor="t">
            <a:normAutofit/>
          </a:bodyPr>
          <a:lstStyle/>
          <a:p>
            <a:pPr marL="0" indent="0">
              <a:buNone/>
            </a:pPr>
            <a:r>
              <a:rPr lang="en-US" sz="620" dirty="0">
                <a:solidFill>
                  <a:srgbClr val="0A0B0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Deploy: serverless, dedicated, self-hosted  •  Meter: usage per model call</a:t>
            </a:r>
            <a:endParaRPr lang="en-US" sz="620" dirty="0"/>
          </a:p>
          <a:p>
            <a:pPr marL="0" indent="0">
              <a:buNone/>
            </a:pPr>
            <a:r>
              <a:rPr lang="en-US" sz="620" dirty="0">
                <a:solidFill>
                  <a:srgbClr val="0A0B0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Provision: workspaces + API keys  •  Govern: RBAC, SSO, audit logs</a:t>
            </a:r>
            <a:endParaRPr lang="en-US" sz="620" dirty="0"/>
          </a:p>
          <a:p>
            <a:pPr marL="0" indent="0">
              <a:buNone/>
            </a:pPr>
            <a:r>
              <a:rPr lang="en-US" sz="620" dirty="0">
                <a:solidFill>
                  <a:srgbClr val="0A0B0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Support: SLA tiers + escalation</a:t>
            </a:r>
            <a:endParaRPr lang="en-US" sz="620" dirty="0"/>
          </a:p>
        </p:txBody>
      </p:sp>
      <p:sp>
        <p:nvSpPr>
          <p:cNvPr id="23" name="Shape 20"/>
          <p:cNvSpPr/>
          <p:nvPr/>
        </p:nvSpPr>
        <p:spPr>
          <a:xfrm>
            <a:off x="530352" y="3785616"/>
            <a:ext cx="32004" cy="786384"/>
          </a:xfrm>
          <a:prstGeom prst="rect">
            <a:avLst/>
          </a:prstGeom>
          <a:solidFill>
            <a:srgbClr val="FF8B00"/>
          </a:solidFill>
          <a:ln w="12700">
            <a:solidFill>
              <a:srgbClr val="FF8B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" name="Text 21"/>
          <p:cNvSpPr/>
          <p:nvPr/>
        </p:nvSpPr>
        <p:spPr>
          <a:xfrm>
            <a:off x="621792" y="3849624"/>
            <a:ext cx="41605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540" b="1" dirty="0">
                <a:solidFill>
                  <a:srgbClr val="FF8B0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DEPLOY / METER / PROVISION / GOVERN / SUPPORT</a:t>
            </a:r>
            <a:endParaRPr lang="en-US" sz="540" dirty="0"/>
          </a:p>
        </p:txBody>
      </p:sp>
      <p:sp>
        <p:nvSpPr>
          <p:cNvPr id="25" name="Text 22"/>
          <p:cNvSpPr/>
          <p:nvPr/>
        </p:nvSpPr>
        <p:spPr>
          <a:xfrm>
            <a:off x="530352" y="4709160"/>
            <a:ext cx="13716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550" b="1" dirty="0">
                <a:solidFill>
                  <a:srgbClr val="FF3D0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SCORECARD</a:t>
            </a:r>
            <a:endParaRPr lang="en-US" sz="550" dirty="0"/>
          </a:p>
        </p:txBody>
      </p:sp>
      <p:sp>
        <p:nvSpPr>
          <p:cNvPr id="26" name="Text 23"/>
          <p:cNvSpPr/>
          <p:nvPr/>
        </p:nvSpPr>
        <p:spPr>
          <a:xfrm>
            <a:off x="603504" y="5166360"/>
            <a:ext cx="676656" cy="502920"/>
          </a:xfrm>
          <a:prstGeom prst="rect">
            <a:avLst/>
          </a:prstGeom>
          <a:solidFill>
            <a:srgbClr val="FDF7EF"/>
          </a:solidFill>
          <a:ln>
            <a:solidFill>
              <a:srgbClr val="FDF7EF">
                <a:alpha val="0"/>
              </a:srgbClr>
            </a:solidFill>
          </a:ln>
        </p:spPr>
        <p:txBody>
          <a:bodyPr wrap="square" lIns="0" tIns="254" rIns="254" bIns="254" rtlCol="0" anchor="t">
            <a:normAutofit/>
          </a:bodyPr>
          <a:lstStyle/>
          <a:p>
            <a:pPr marL="0" indent="0">
              <a:buNone/>
            </a:pPr>
            <a:r>
              <a:rPr lang="en-US" sz="520" dirty="0">
                <a:solidFill>
                  <a:srgbClr val="0A0B0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Trial-to-paid</a:t>
            </a:r>
            <a:endParaRPr lang="en-US" sz="520" dirty="0"/>
          </a:p>
          <a:p>
            <a:pPr marL="0" indent="0">
              <a:buNone/>
            </a:pPr>
            <a:r>
              <a:rPr lang="en-US" sz="520" dirty="0">
                <a:solidFill>
                  <a:srgbClr val="0A0B0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POV-to-contract</a:t>
            </a:r>
            <a:endParaRPr lang="en-US" sz="520" dirty="0"/>
          </a:p>
        </p:txBody>
      </p:sp>
      <p:sp>
        <p:nvSpPr>
          <p:cNvPr id="27" name="Shape 24"/>
          <p:cNvSpPr/>
          <p:nvPr/>
        </p:nvSpPr>
        <p:spPr>
          <a:xfrm>
            <a:off x="530352" y="4937760"/>
            <a:ext cx="32004" cy="758952"/>
          </a:xfrm>
          <a:prstGeom prst="rect">
            <a:avLst/>
          </a:prstGeom>
          <a:solidFill>
            <a:srgbClr val="FF3D00"/>
          </a:solidFill>
          <a:ln w="12700">
            <a:solidFill>
              <a:srgbClr val="FF3D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8" name="Text 25"/>
          <p:cNvSpPr/>
          <p:nvPr/>
        </p:nvSpPr>
        <p:spPr>
          <a:xfrm>
            <a:off x="621792" y="5001768"/>
            <a:ext cx="60350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540" b="1" dirty="0">
                <a:solidFill>
                  <a:srgbClr val="FF3D0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CONVERSION</a:t>
            </a:r>
            <a:endParaRPr lang="en-US" sz="540" dirty="0"/>
          </a:p>
        </p:txBody>
      </p:sp>
      <p:sp>
        <p:nvSpPr>
          <p:cNvPr id="29" name="Text 26"/>
          <p:cNvSpPr/>
          <p:nvPr/>
        </p:nvSpPr>
        <p:spPr>
          <a:xfrm>
            <a:off x="1499616" y="5166360"/>
            <a:ext cx="676656" cy="502920"/>
          </a:xfrm>
          <a:prstGeom prst="rect">
            <a:avLst/>
          </a:prstGeom>
          <a:solidFill>
            <a:srgbClr val="FDF7EF"/>
          </a:solidFill>
          <a:ln>
            <a:solidFill>
              <a:srgbClr val="FDF7EF">
                <a:alpha val="0"/>
              </a:srgbClr>
            </a:solidFill>
          </a:ln>
        </p:spPr>
        <p:txBody>
          <a:bodyPr wrap="square" lIns="0" tIns="254" rIns="254" bIns="254" rtlCol="0" anchor="t">
            <a:normAutofit/>
          </a:bodyPr>
          <a:lstStyle/>
          <a:p>
            <a:pPr marL="0" indent="0">
              <a:buNone/>
            </a:pPr>
            <a:r>
              <a:rPr lang="en-US" sz="520" dirty="0">
                <a:solidFill>
                  <a:srgbClr val="0A0B0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ACV</a:t>
            </a:r>
            <a:endParaRPr lang="en-US" sz="520" dirty="0"/>
          </a:p>
          <a:p>
            <a:pPr marL="0" indent="0">
              <a:buNone/>
            </a:pPr>
            <a:r>
              <a:rPr lang="en-US" sz="520" dirty="0">
                <a:solidFill>
                  <a:srgbClr val="0A0B0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Committed spend</a:t>
            </a:r>
            <a:endParaRPr lang="en-US" sz="520" dirty="0"/>
          </a:p>
          <a:p>
            <a:pPr marL="0" indent="0">
              <a:buNone/>
            </a:pPr>
            <a:r>
              <a:rPr lang="en-US" sz="520" dirty="0">
                <a:solidFill>
                  <a:srgbClr val="0A0B0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Expansion</a:t>
            </a:r>
            <a:endParaRPr lang="en-US" sz="520" dirty="0"/>
          </a:p>
        </p:txBody>
      </p:sp>
      <p:sp>
        <p:nvSpPr>
          <p:cNvPr id="30" name="Shape 27"/>
          <p:cNvSpPr/>
          <p:nvPr/>
        </p:nvSpPr>
        <p:spPr>
          <a:xfrm>
            <a:off x="1426464" y="4937760"/>
            <a:ext cx="32004" cy="758952"/>
          </a:xfrm>
          <a:prstGeom prst="rect">
            <a:avLst/>
          </a:prstGeom>
          <a:solidFill>
            <a:srgbClr val="FF8B00"/>
          </a:solidFill>
          <a:ln w="12700">
            <a:solidFill>
              <a:srgbClr val="FF8B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1" name="Text 28"/>
          <p:cNvSpPr/>
          <p:nvPr/>
        </p:nvSpPr>
        <p:spPr>
          <a:xfrm>
            <a:off x="1517904" y="5001768"/>
            <a:ext cx="60350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540" b="1" dirty="0">
                <a:solidFill>
                  <a:srgbClr val="FF8B0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REVENUE</a:t>
            </a:r>
            <a:endParaRPr lang="en-US" sz="540" dirty="0"/>
          </a:p>
        </p:txBody>
      </p:sp>
      <p:sp>
        <p:nvSpPr>
          <p:cNvPr id="32" name="Text 29"/>
          <p:cNvSpPr/>
          <p:nvPr/>
        </p:nvSpPr>
        <p:spPr>
          <a:xfrm>
            <a:off x="2395728" y="5166360"/>
            <a:ext cx="676656" cy="502920"/>
          </a:xfrm>
          <a:prstGeom prst="rect">
            <a:avLst/>
          </a:prstGeom>
          <a:solidFill>
            <a:srgbClr val="FDF7EF"/>
          </a:solidFill>
          <a:ln>
            <a:solidFill>
              <a:srgbClr val="FDF7EF">
                <a:alpha val="0"/>
              </a:srgbClr>
            </a:solidFill>
          </a:ln>
        </p:spPr>
        <p:txBody>
          <a:bodyPr wrap="square" lIns="0" tIns="254" rIns="254" bIns="254" rtlCol="0" anchor="t">
            <a:normAutofit/>
          </a:bodyPr>
          <a:lstStyle/>
          <a:p>
            <a:pPr marL="0" indent="0">
              <a:buNone/>
            </a:pPr>
            <a:r>
              <a:rPr lang="en-US" sz="520" dirty="0">
                <a:solidFill>
                  <a:srgbClr val="0A0B0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Time to contract</a:t>
            </a:r>
            <a:endParaRPr lang="en-US" sz="520" dirty="0"/>
          </a:p>
          <a:p>
            <a:pPr marL="0" indent="0">
              <a:buNone/>
            </a:pPr>
            <a:r>
              <a:rPr lang="en-US" sz="520" dirty="0">
                <a:solidFill>
                  <a:srgbClr val="0A0B0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Time to production</a:t>
            </a:r>
            <a:endParaRPr lang="en-US" sz="520" dirty="0"/>
          </a:p>
        </p:txBody>
      </p:sp>
      <p:sp>
        <p:nvSpPr>
          <p:cNvPr id="33" name="Shape 30"/>
          <p:cNvSpPr/>
          <p:nvPr/>
        </p:nvSpPr>
        <p:spPr>
          <a:xfrm>
            <a:off x="2322576" y="4937760"/>
            <a:ext cx="32004" cy="758952"/>
          </a:xfrm>
          <a:prstGeom prst="rect">
            <a:avLst/>
          </a:prstGeom>
          <a:solidFill>
            <a:srgbClr val="FF3D00"/>
          </a:solidFill>
          <a:ln w="12700">
            <a:solidFill>
              <a:srgbClr val="FF3D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4" name="Text 31"/>
          <p:cNvSpPr/>
          <p:nvPr/>
        </p:nvSpPr>
        <p:spPr>
          <a:xfrm>
            <a:off x="2414016" y="5001768"/>
            <a:ext cx="60350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540" b="1" dirty="0">
                <a:solidFill>
                  <a:srgbClr val="FF3D0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VELOCITY</a:t>
            </a:r>
            <a:endParaRPr lang="en-US" sz="540" dirty="0"/>
          </a:p>
        </p:txBody>
      </p:sp>
      <p:sp>
        <p:nvSpPr>
          <p:cNvPr id="35" name="Text 32"/>
          <p:cNvSpPr/>
          <p:nvPr/>
        </p:nvSpPr>
        <p:spPr>
          <a:xfrm>
            <a:off x="3291840" y="5166360"/>
            <a:ext cx="676656" cy="502920"/>
          </a:xfrm>
          <a:prstGeom prst="rect">
            <a:avLst/>
          </a:prstGeom>
          <a:solidFill>
            <a:srgbClr val="FDF7EF"/>
          </a:solidFill>
          <a:ln>
            <a:solidFill>
              <a:srgbClr val="FDF7EF">
                <a:alpha val="0"/>
              </a:srgbClr>
            </a:solidFill>
          </a:ln>
        </p:spPr>
        <p:txBody>
          <a:bodyPr wrap="square" lIns="0" tIns="254" rIns="254" bIns="254" rtlCol="0" anchor="t">
            <a:normAutofit/>
          </a:bodyPr>
          <a:lstStyle/>
          <a:p>
            <a:pPr marL="0" indent="0">
              <a:buNone/>
            </a:pPr>
            <a:r>
              <a:rPr lang="en-US" sz="520" dirty="0">
                <a:solidFill>
                  <a:srgbClr val="0A0B0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Tier mix</a:t>
            </a:r>
            <a:endParaRPr lang="en-US" sz="520" dirty="0"/>
          </a:p>
          <a:p>
            <a:pPr marL="0" indent="0">
              <a:buNone/>
            </a:pPr>
            <a:r>
              <a:rPr lang="en-US" sz="520" dirty="0">
                <a:solidFill>
                  <a:srgbClr val="0A0B0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Marketplace contribution</a:t>
            </a:r>
            <a:endParaRPr lang="en-US" sz="520" dirty="0"/>
          </a:p>
        </p:txBody>
      </p:sp>
      <p:sp>
        <p:nvSpPr>
          <p:cNvPr id="36" name="Shape 33"/>
          <p:cNvSpPr/>
          <p:nvPr/>
        </p:nvSpPr>
        <p:spPr>
          <a:xfrm>
            <a:off x="3218688" y="4937760"/>
            <a:ext cx="32004" cy="758952"/>
          </a:xfrm>
          <a:prstGeom prst="rect">
            <a:avLst/>
          </a:prstGeom>
          <a:solidFill>
            <a:srgbClr val="FF8B00"/>
          </a:solidFill>
          <a:ln w="12700">
            <a:solidFill>
              <a:srgbClr val="FF8B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7" name="Text 34"/>
          <p:cNvSpPr/>
          <p:nvPr/>
        </p:nvSpPr>
        <p:spPr>
          <a:xfrm>
            <a:off x="3310128" y="5001768"/>
            <a:ext cx="60350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540" b="1" dirty="0">
                <a:solidFill>
                  <a:srgbClr val="FF8B0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MIX</a:t>
            </a:r>
            <a:endParaRPr lang="en-US" sz="540" dirty="0"/>
          </a:p>
        </p:txBody>
      </p:sp>
      <p:sp>
        <p:nvSpPr>
          <p:cNvPr id="38" name="Text 35"/>
          <p:cNvSpPr/>
          <p:nvPr/>
        </p:nvSpPr>
        <p:spPr>
          <a:xfrm>
            <a:off x="4187952" y="5166360"/>
            <a:ext cx="676656" cy="502920"/>
          </a:xfrm>
          <a:prstGeom prst="rect">
            <a:avLst/>
          </a:prstGeom>
          <a:solidFill>
            <a:srgbClr val="FDF7EF"/>
          </a:solidFill>
          <a:ln>
            <a:solidFill>
              <a:srgbClr val="FDF7EF">
                <a:alpha val="0"/>
              </a:srgbClr>
            </a:solidFill>
          </a:ln>
        </p:spPr>
        <p:txBody>
          <a:bodyPr wrap="square" lIns="0" tIns="254" rIns="254" bIns="254" rtlCol="0" anchor="t">
            <a:normAutofit/>
          </a:bodyPr>
          <a:lstStyle/>
          <a:p>
            <a:pPr marL="0" indent="0">
              <a:buNone/>
            </a:pPr>
            <a:r>
              <a:rPr lang="en-US" sz="520" dirty="0">
                <a:solidFill>
                  <a:srgbClr val="0A0B0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Production workloads</a:t>
            </a:r>
            <a:endParaRPr lang="en-US" sz="520" dirty="0"/>
          </a:p>
          <a:p>
            <a:pPr marL="0" indent="0">
              <a:buNone/>
            </a:pPr>
            <a:r>
              <a:rPr lang="en-US" sz="520" dirty="0">
                <a:solidFill>
                  <a:srgbClr val="0A0B0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Paying teams</a:t>
            </a:r>
            <a:endParaRPr lang="en-US" sz="520" dirty="0"/>
          </a:p>
        </p:txBody>
      </p:sp>
      <p:sp>
        <p:nvSpPr>
          <p:cNvPr id="39" name="Shape 36"/>
          <p:cNvSpPr/>
          <p:nvPr/>
        </p:nvSpPr>
        <p:spPr>
          <a:xfrm>
            <a:off x="4114800" y="4937760"/>
            <a:ext cx="32004" cy="758952"/>
          </a:xfrm>
          <a:prstGeom prst="rect">
            <a:avLst/>
          </a:prstGeom>
          <a:solidFill>
            <a:srgbClr val="FF3D00"/>
          </a:solidFill>
          <a:ln w="12700">
            <a:solidFill>
              <a:srgbClr val="FF3D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0" name="Text 37"/>
          <p:cNvSpPr/>
          <p:nvPr/>
        </p:nvSpPr>
        <p:spPr>
          <a:xfrm>
            <a:off x="4206240" y="5001768"/>
            <a:ext cx="60350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540" b="1" dirty="0">
                <a:solidFill>
                  <a:srgbClr val="FF3D0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PRODUCTION</a:t>
            </a:r>
            <a:endParaRPr lang="en-US" sz="540" dirty="0"/>
          </a:p>
        </p:txBody>
      </p:sp>
      <p:sp>
        <p:nvSpPr>
          <p:cNvPr id="41" name="Text 38"/>
          <p:cNvSpPr/>
          <p:nvPr/>
        </p:nvSpPr>
        <p:spPr>
          <a:xfrm>
            <a:off x="5349240" y="1280160"/>
            <a:ext cx="5989320" cy="274320"/>
          </a:xfrm>
          <a:prstGeom prst="rect">
            <a:avLst/>
          </a:prstGeom>
          <a:solidFill>
            <a:srgbClr val="0A0B0D"/>
          </a:solidFill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42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Six decisions, one DRI each</a:t>
            </a:r>
            <a:endParaRPr lang="en-US" sz="1420" dirty="0"/>
          </a:p>
        </p:txBody>
      </p:sp>
      <p:sp>
        <p:nvSpPr>
          <p:cNvPr id="42" name="Text 39"/>
          <p:cNvSpPr/>
          <p:nvPr/>
        </p:nvSpPr>
        <p:spPr>
          <a:xfrm>
            <a:off x="5349240" y="1664208"/>
            <a:ext cx="26517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520" b="1" dirty="0">
                <a:solidFill>
                  <a:srgbClr val="FFB00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</a:t>
            </a:r>
            <a:endParaRPr lang="en-US" sz="520" dirty="0"/>
          </a:p>
        </p:txBody>
      </p:sp>
      <p:sp>
        <p:nvSpPr>
          <p:cNvPr id="43" name="Text 40"/>
          <p:cNvSpPr/>
          <p:nvPr/>
        </p:nvSpPr>
        <p:spPr>
          <a:xfrm>
            <a:off x="8055864" y="1664208"/>
            <a:ext cx="12344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520" b="1" dirty="0">
                <a:solidFill>
                  <a:srgbClr val="FFB00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DRI</a:t>
            </a:r>
            <a:endParaRPr lang="en-US" sz="520" dirty="0"/>
          </a:p>
        </p:txBody>
      </p:sp>
      <p:sp>
        <p:nvSpPr>
          <p:cNvPr id="44" name="Text 41"/>
          <p:cNvSpPr/>
          <p:nvPr/>
        </p:nvSpPr>
        <p:spPr>
          <a:xfrm>
            <a:off x="9345168" y="1664208"/>
            <a:ext cx="5943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520" b="1" dirty="0">
                <a:solidFill>
                  <a:srgbClr val="FFB00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DUE</a:t>
            </a:r>
            <a:endParaRPr lang="en-US" sz="520" dirty="0"/>
          </a:p>
        </p:txBody>
      </p:sp>
      <p:sp>
        <p:nvSpPr>
          <p:cNvPr id="45" name="Text 42"/>
          <p:cNvSpPr/>
          <p:nvPr/>
        </p:nvSpPr>
        <p:spPr>
          <a:xfrm>
            <a:off x="9994392" y="1664208"/>
            <a:ext cx="10515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520" b="1" dirty="0">
                <a:solidFill>
                  <a:srgbClr val="FFB00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STATUS</a:t>
            </a:r>
            <a:endParaRPr lang="en-US" sz="520" dirty="0"/>
          </a:p>
        </p:txBody>
      </p:sp>
      <p:sp>
        <p:nvSpPr>
          <p:cNvPr id="46" name="Text 43"/>
          <p:cNvSpPr/>
          <p:nvPr/>
        </p:nvSpPr>
        <p:spPr>
          <a:xfrm>
            <a:off x="5349240" y="1920240"/>
            <a:ext cx="2651760" cy="237744"/>
          </a:xfrm>
          <a:prstGeom prst="rect">
            <a:avLst/>
          </a:prstGeom>
          <a:solidFill>
            <a:srgbClr val="0A0B0D"/>
          </a:solidFill>
          <a:ln>
            <a:solidFill>
              <a:srgbClr val="0A0B0D">
                <a:alpha val="0"/>
              </a:srgbClr>
            </a:solidFill>
          </a:ln>
        </p:spPr>
        <p:txBody>
          <a:bodyPr wrap="square" lIns="254" tIns="381" rIns="381" bIns="254" rtlCol="0" anchor="ctr">
            <a:normAutofit/>
          </a:bodyPr>
          <a:lstStyle/>
          <a:p>
            <a:pPr marL="0" indent="0">
              <a:buNone/>
            </a:pPr>
            <a:r>
              <a:rPr lang="en-US" sz="680" dirty="0">
                <a:solidFill>
                  <a:srgbClr val="F8EFE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Budget + headcount</a:t>
            </a:r>
            <a:endParaRPr lang="en-US" sz="680" dirty="0"/>
          </a:p>
        </p:txBody>
      </p:sp>
      <p:sp>
        <p:nvSpPr>
          <p:cNvPr id="47" name="Text 44"/>
          <p:cNvSpPr/>
          <p:nvPr/>
        </p:nvSpPr>
        <p:spPr>
          <a:xfrm>
            <a:off x="8055864" y="1920240"/>
            <a:ext cx="1234440" cy="237744"/>
          </a:xfrm>
          <a:prstGeom prst="rect">
            <a:avLst/>
          </a:prstGeom>
          <a:solidFill>
            <a:srgbClr val="0A0B0D"/>
          </a:solidFill>
          <a:ln>
            <a:solidFill>
              <a:srgbClr val="0A0B0D">
                <a:alpha val="0"/>
              </a:srgbClr>
            </a:solidFill>
          </a:ln>
        </p:spPr>
        <p:txBody>
          <a:bodyPr wrap="square" lIns="254" tIns="381" rIns="381" bIns="254" rtlCol="0" anchor="ctr">
            <a:normAutofit/>
          </a:bodyPr>
          <a:lstStyle/>
          <a:p>
            <a:pPr marL="0" indent="0">
              <a:buNone/>
            </a:pPr>
            <a:r>
              <a:rPr lang="en-US" sz="680" dirty="0">
                <a:solidFill>
                  <a:srgbClr val="F8EFE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CFO</a:t>
            </a:r>
            <a:endParaRPr lang="en-US" sz="680" dirty="0"/>
          </a:p>
        </p:txBody>
      </p:sp>
      <p:sp>
        <p:nvSpPr>
          <p:cNvPr id="48" name="Text 45"/>
          <p:cNvSpPr/>
          <p:nvPr/>
        </p:nvSpPr>
        <p:spPr>
          <a:xfrm>
            <a:off x="9345168" y="1920240"/>
            <a:ext cx="594360" cy="237744"/>
          </a:xfrm>
          <a:prstGeom prst="rect">
            <a:avLst/>
          </a:prstGeom>
          <a:solidFill>
            <a:srgbClr val="0A0B0D"/>
          </a:solidFill>
          <a:ln>
            <a:solidFill>
              <a:srgbClr val="0A0B0D">
                <a:alpha val="0"/>
              </a:srgbClr>
            </a:solidFill>
          </a:ln>
        </p:spPr>
        <p:txBody>
          <a:bodyPr wrap="square" lIns="254" tIns="381" rIns="381" bIns="254" rtlCol="0" anchor="ctr">
            <a:normAutofit/>
          </a:bodyPr>
          <a:lstStyle/>
          <a:p>
            <a:pPr marL="0" indent="0">
              <a:buNone/>
            </a:pPr>
            <a:r>
              <a:rPr lang="en-US" sz="680" dirty="0">
                <a:solidFill>
                  <a:srgbClr val="F8EFE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T−6</a:t>
            </a:r>
            <a:endParaRPr lang="en-US" sz="680" dirty="0"/>
          </a:p>
        </p:txBody>
      </p:sp>
      <p:sp>
        <p:nvSpPr>
          <p:cNvPr id="49" name="Text 46"/>
          <p:cNvSpPr/>
          <p:nvPr/>
        </p:nvSpPr>
        <p:spPr>
          <a:xfrm>
            <a:off x="9994392" y="1920240"/>
            <a:ext cx="1051560" cy="237744"/>
          </a:xfrm>
          <a:prstGeom prst="rect">
            <a:avLst/>
          </a:prstGeom>
          <a:solidFill>
            <a:srgbClr val="0A0B0D"/>
          </a:solidFill>
          <a:ln>
            <a:solidFill>
              <a:srgbClr val="0A0B0D">
                <a:alpha val="0"/>
              </a:srgbClr>
            </a:solidFill>
          </a:ln>
        </p:spPr>
        <p:txBody>
          <a:bodyPr wrap="square" lIns="254" tIns="381" rIns="381" bIns="254" rtlCol="0" anchor="ctr">
            <a:normAutofit/>
          </a:bodyPr>
          <a:lstStyle/>
          <a:p>
            <a:pPr marL="0" indent="0">
              <a:buNone/>
            </a:pPr>
            <a:r>
              <a:rPr lang="en-US" sz="680" dirty="0">
                <a:solidFill>
                  <a:srgbClr val="F8EFE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 review</a:t>
            </a:r>
            <a:endParaRPr lang="en-US" sz="680" dirty="0"/>
          </a:p>
        </p:txBody>
      </p:sp>
      <p:sp>
        <p:nvSpPr>
          <p:cNvPr id="50" name="Text 47"/>
          <p:cNvSpPr/>
          <p:nvPr/>
        </p:nvSpPr>
        <p:spPr>
          <a:xfrm>
            <a:off x="5349240" y="2231136"/>
            <a:ext cx="2651760" cy="237744"/>
          </a:xfrm>
          <a:prstGeom prst="rect">
            <a:avLst/>
          </a:prstGeom>
          <a:solidFill>
            <a:srgbClr val="0A0B0D"/>
          </a:solidFill>
          <a:ln>
            <a:solidFill>
              <a:srgbClr val="0A0B0D">
                <a:alpha val="0"/>
              </a:srgbClr>
            </a:solidFill>
          </a:ln>
        </p:spPr>
        <p:txBody>
          <a:bodyPr wrap="square" lIns="254" tIns="381" rIns="381" bIns="254" rtlCol="0" anchor="ctr">
            <a:normAutofit/>
          </a:bodyPr>
          <a:lstStyle/>
          <a:p>
            <a:pPr marL="0" indent="0">
              <a:buNone/>
            </a:pPr>
            <a:r>
              <a:rPr lang="en-US" sz="680" dirty="0">
                <a:solidFill>
                  <a:srgbClr val="F8EFE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Revenue + commit targets</a:t>
            </a:r>
            <a:endParaRPr lang="en-US" sz="680" dirty="0"/>
          </a:p>
        </p:txBody>
      </p:sp>
      <p:sp>
        <p:nvSpPr>
          <p:cNvPr id="51" name="Text 48"/>
          <p:cNvSpPr/>
          <p:nvPr/>
        </p:nvSpPr>
        <p:spPr>
          <a:xfrm>
            <a:off x="8055864" y="2231136"/>
            <a:ext cx="1234440" cy="237744"/>
          </a:xfrm>
          <a:prstGeom prst="rect">
            <a:avLst/>
          </a:prstGeom>
          <a:solidFill>
            <a:srgbClr val="0A0B0D"/>
          </a:solidFill>
          <a:ln>
            <a:solidFill>
              <a:srgbClr val="0A0B0D">
                <a:alpha val="0"/>
              </a:srgbClr>
            </a:solidFill>
          </a:ln>
        </p:spPr>
        <p:txBody>
          <a:bodyPr wrap="square" lIns="254" tIns="381" rIns="381" bIns="254" rtlCol="0" anchor="ctr">
            <a:normAutofit/>
          </a:bodyPr>
          <a:lstStyle/>
          <a:p>
            <a:pPr marL="0" indent="0">
              <a:buNone/>
            </a:pPr>
            <a:r>
              <a:rPr lang="en-US" sz="680" dirty="0">
                <a:solidFill>
                  <a:srgbClr val="F8EFE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CRO</a:t>
            </a:r>
            <a:endParaRPr lang="en-US" sz="680" dirty="0"/>
          </a:p>
        </p:txBody>
      </p:sp>
      <p:sp>
        <p:nvSpPr>
          <p:cNvPr id="52" name="Text 49"/>
          <p:cNvSpPr/>
          <p:nvPr/>
        </p:nvSpPr>
        <p:spPr>
          <a:xfrm>
            <a:off x="9345168" y="2231136"/>
            <a:ext cx="594360" cy="237744"/>
          </a:xfrm>
          <a:prstGeom prst="rect">
            <a:avLst/>
          </a:prstGeom>
          <a:solidFill>
            <a:srgbClr val="0A0B0D"/>
          </a:solidFill>
          <a:ln>
            <a:solidFill>
              <a:srgbClr val="0A0B0D">
                <a:alpha val="0"/>
              </a:srgbClr>
            </a:solidFill>
          </a:ln>
        </p:spPr>
        <p:txBody>
          <a:bodyPr wrap="square" lIns="254" tIns="381" rIns="381" bIns="254" rtlCol="0" anchor="ctr">
            <a:normAutofit/>
          </a:bodyPr>
          <a:lstStyle/>
          <a:p>
            <a:pPr marL="0" indent="0">
              <a:buNone/>
            </a:pPr>
            <a:r>
              <a:rPr lang="en-US" sz="680" dirty="0">
                <a:solidFill>
                  <a:srgbClr val="F8EFE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T−5</a:t>
            </a:r>
            <a:endParaRPr lang="en-US" sz="680" dirty="0"/>
          </a:p>
        </p:txBody>
      </p:sp>
      <p:sp>
        <p:nvSpPr>
          <p:cNvPr id="53" name="Text 50"/>
          <p:cNvSpPr/>
          <p:nvPr/>
        </p:nvSpPr>
        <p:spPr>
          <a:xfrm>
            <a:off x="9994392" y="2231136"/>
            <a:ext cx="1051560" cy="237744"/>
          </a:xfrm>
          <a:prstGeom prst="rect">
            <a:avLst/>
          </a:prstGeom>
          <a:solidFill>
            <a:srgbClr val="0A0B0D"/>
          </a:solidFill>
          <a:ln>
            <a:solidFill>
              <a:srgbClr val="0A0B0D">
                <a:alpha val="0"/>
              </a:srgbClr>
            </a:solidFill>
          </a:ln>
        </p:spPr>
        <p:txBody>
          <a:bodyPr wrap="square" lIns="254" tIns="381" rIns="381" bIns="254" rtlCol="0" anchor="ctr">
            <a:normAutofit/>
          </a:bodyPr>
          <a:lstStyle/>
          <a:p>
            <a:pPr marL="0" indent="0">
              <a:buNone/>
            </a:pPr>
            <a:r>
              <a:rPr lang="en-US" sz="680" dirty="0">
                <a:solidFill>
                  <a:srgbClr val="F8EFE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Open</a:t>
            </a:r>
            <a:endParaRPr lang="en-US" sz="680" dirty="0"/>
          </a:p>
        </p:txBody>
      </p:sp>
      <p:sp>
        <p:nvSpPr>
          <p:cNvPr id="54" name="Text 51"/>
          <p:cNvSpPr/>
          <p:nvPr/>
        </p:nvSpPr>
        <p:spPr>
          <a:xfrm>
            <a:off x="5349240" y="2542032"/>
            <a:ext cx="2651760" cy="237744"/>
          </a:xfrm>
          <a:prstGeom prst="rect">
            <a:avLst/>
          </a:prstGeom>
          <a:solidFill>
            <a:srgbClr val="0A0B0D"/>
          </a:solidFill>
          <a:ln>
            <a:solidFill>
              <a:srgbClr val="0A0B0D">
                <a:alpha val="0"/>
              </a:srgbClr>
            </a:solidFill>
          </a:ln>
        </p:spPr>
        <p:txBody>
          <a:bodyPr wrap="square" lIns="254" tIns="381" rIns="381" bIns="254" rtlCol="0" anchor="ctr">
            <a:normAutofit/>
          </a:bodyPr>
          <a:lstStyle/>
          <a:p>
            <a:pPr marL="0" indent="0">
              <a:buNone/>
            </a:pPr>
            <a:r>
              <a:rPr lang="en-US" sz="680" dirty="0">
                <a:solidFill>
                  <a:srgbClr val="F8EFE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Launch tier + GA date</a:t>
            </a:r>
            <a:endParaRPr lang="en-US" sz="680" dirty="0"/>
          </a:p>
        </p:txBody>
      </p:sp>
      <p:sp>
        <p:nvSpPr>
          <p:cNvPr id="55" name="Text 52"/>
          <p:cNvSpPr/>
          <p:nvPr/>
        </p:nvSpPr>
        <p:spPr>
          <a:xfrm>
            <a:off x="8055864" y="2542032"/>
            <a:ext cx="1234440" cy="237744"/>
          </a:xfrm>
          <a:prstGeom prst="rect">
            <a:avLst/>
          </a:prstGeom>
          <a:solidFill>
            <a:srgbClr val="0A0B0D"/>
          </a:solidFill>
          <a:ln>
            <a:solidFill>
              <a:srgbClr val="0A0B0D">
                <a:alpha val="0"/>
              </a:srgbClr>
            </a:solidFill>
          </a:ln>
        </p:spPr>
        <p:txBody>
          <a:bodyPr wrap="square" lIns="254" tIns="381" rIns="381" bIns="254" rtlCol="0" anchor="ctr">
            <a:normAutofit/>
          </a:bodyPr>
          <a:lstStyle/>
          <a:p>
            <a:pPr marL="0" indent="0">
              <a:buNone/>
            </a:pPr>
            <a:r>
              <a:rPr lang="en-US" sz="680" dirty="0">
                <a:solidFill>
                  <a:srgbClr val="F8EFE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VP Product</a:t>
            </a:r>
            <a:endParaRPr lang="en-US" sz="680" dirty="0"/>
          </a:p>
        </p:txBody>
      </p:sp>
      <p:sp>
        <p:nvSpPr>
          <p:cNvPr id="56" name="Text 53"/>
          <p:cNvSpPr/>
          <p:nvPr/>
        </p:nvSpPr>
        <p:spPr>
          <a:xfrm>
            <a:off x="9345168" y="2542032"/>
            <a:ext cx="594360" cy="237744"/>
          </a:xfrm>
          <a:prstGeom prst="rect">
            <a:avLst/>
          </a:prstGeom>
          <a:solidFill>
            <a:srgbClr val="0A0B0D"/>
          </a:solidFill>
          <a:ln>
            <a:solidFill>
              <a:srgbClr val="0A0B0D">
                <a:alpha val="0"/>
              </a:srgbClr>
            </a:solidFill>
          </a:ln>
        </p:spPr>
        <p:txBody>
          <a:bodyPr wrap="square" lIns="254" tIns="381" rIns="381" bIns="254" rtlCol="0" anchor="ctr">
            <a:normAutofit/>
          </a:bodyPr>
          <a:lstStyle/>
          <a:p>
            <a:pPr marL="0" indent="0">
              <a:buNone/>
            </a:pPr>
            <a:r>
              <a:rPr lang="en-US" sz="680" dirty="0">
                <a:solidFill>
                  <a:srgbClr val="F8EFE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T−8</a:t>
            </a:r>
            <a:endParaRPr lang="en-US" sz="680" dirty="0"/>
          </a:p>
        </p:txBody>
      </p:sp>
      <p:sp>
        <p:nvSpPr>
          <p:cNvPr id="57" name="Text 54"/>
          <p:cNvSpPr/>
          <p:nvPr/>
        </p:nvSpPr>
        <p:spPr>
          <a:xfrm>
            <a:off x="9994392" y="2542032"/>
            <a:ext cx="1051560" cy="237744"/>
          </a:xfrm>
          <a:prstGeom prst="rect">
            <a:avLst/>
          </a:prstGeom>
          <a:solidFill>
            <a:srgbClr val="0A0B0D"/>
          </a:solidFill>
          <a:ln>
            <a:solidFill>
              <a:srgbClr val="0A0B0D">
                <a:alpha val="0"/>
              </a:srgbClr>
            </a:solidFill>
          </a:ln>
        </p:spPr>
        <p:txBody>
          <a:bodyPr wrap="square" lIns="254" tIns="381" rIns="381" bIns="254" rtlCol="0" anchor="ctr">
            <a:normAutofit/>
          </a:bodyPr>
          <a:lstStyle/>
          <a:p>
            <a:pPr marL="0" indent="0">
              <a:buNone/>
            </a:pPr>
            <a:r>
              <a:rPr lang="en-US" sz="680" dirty="0">
                <a:solidFill>
                  <a:srgbClr val="F8EFE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Approved</a:t>
            </a:r>
            <a:endParaRPr lang="en-US" sz="680" dirty="0"/>
          </a:p>
        </p:txBody>
      </p:sp>
      <p:sp>
        <p:nvSpPr>
          <p:cNvPr id="58" name="Text 55"/>
          <p:cNvSpPr/>
          <p:nvPr/>
        </p:nvSpPr>
        <p:spPr>
          <a:xfrm>
            <a:off x="5349240" y="2852928"/>
            <a:ext cx="2651760" cy="237744"/>
          </a:xfrm>
          <a:prstGeom prst="rect">
            <a:avLst/>
          </a:prstGeom>
          <a:solidFill>
            <a:srgbClr val="0A0B0D"/>
          </a:solidFill>
          <a:ln>
            <a:solidFill>
              <a:srgbClr val="0A0B0D">
                <a:alpha val="0"/>
              </a:srgbClr>
            </a:solidFill>
          </a:ln>
        </p:spPr>
        <p:txBody>
          <a:bodyPr wrap="square" lIns="254" tIns="381" rIns="381" bIns="254" rtlCol="0" anchor="ctr">
            <a:normAutofit/>
          </a:bodyPr>
          <a:lstStyle/>
          <a:p>
            <a:pPr marL="0" indent="0">
              <a:buNone/>
            </a:pPr>
            <a:r>
              <a:rPr lang="en-US" sz="680" dirty="0">
                <a:solidFill>
                  <a:srgbClr val="F8EFE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Pricing + packaging</a:t>
            </a:r>
            <a:endParaRPr lang="en-US" sz="680" dirty="0"/>
          </a:p>
        </p:txBody>
      </p:sp>
      <p:sp>
        <p:nvSpPr>
          <p:cNvPr id="59" name="Text 56"/>
          <p:cNvSpPr/>
          <p:nvPr/>
        </p:nvSpPr>
        <p:spPr>
          <a:xfrm>
            <a:off x="8055864" y="2852928"/>
            <a:ext cx="1234440" cy="237744"/>
          </a:xfrm>
          <a:prstGeom prst="rect">
            <a:avLst/>
          </a:prstGeom>
          <a:solidFill>
            <a:srgbClr val="0A0B0D"/>
          </a:solidFill>
          <a:ln>
            <a:solidFill>
              <a:srgbClr val="0A0B0D">
                <a:alpha val="0"/>
              </a:srgbClr>
            </a:solidFill>
          </a:ln>
        </p:spPr>
        <p:txBody>
          <a:bodyPr wrap="square" lIns="254" tIns="381" rIns="381" bIns="254" rtlCol="0" anchor="ctr">
            <a:normAutofit/>
          </a:bodyPr>
          <a:lstStyle/>
          <a:p>
            <a:pPr marL="0" indent="0">
              <a:buNone/>
            </a:pPr>
            <a:r>
              <a:rPr lang="en-US" sz="680" dirty="0">
                <a:solidFill>
                  <a:srgbClr val="F8EFE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CFO + CRO</a:t>
            </a:r>
            <a:endParaRPr lang="en-US" sz="680" dirty="0"/>
          </a:p>
        </p:txBody>
      </p:sp>
      <p:sp>
        <p:nvSpPr>
          <p:cNvPr id="60" name="Text 57"/>
          <p:cNvSpPr/>
          <p:nvPr/>
        </p:nvSpPr>
        <p:spPr>
          <a:xfrm>
            <a:off x="9345168" y="2852928"/>
            <a:ext cx="594360" cy="237744"/>
          </a:xfrm>
          <a:prstGeom prst="rect">
            <a:avLst/>
          </a:prstGeom>
          <a:solidFill>
            <a:srgbClr val="0A0B0D"/>
          </a:solidFill>
          <a:ln>
            <a:solidFill>
              <a:srgbClr val="0A0B0D">
                <a:alpha val="0"/>
              </a:srgbClr>
            </a:solidFill>
          </a:ln>
        </p:spPr>
        <p:txBody>
          <a:bodyPr wrap="square" lIns="254" tIns="381" rIns="381" bIns="254" rtlCol="0" anchor="ctr">
            <a:normAutofit/>
          </a:bodyPr>
          <a:lstStyle/>
          <a:p>
            <a:pPr marL="0" indent="0">
              <a:buNone/>
            </a:pPr>
            <a:r>
              <a:rPr lang="en-US" sz="680" dirty="0">
                <a:solidFill>
                  <a:srgbClr val="F8EFE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T−6</a:t>
            </a:r>
            <a:endParaRPr lang="en-US" sz="680" dirty="0"/>
          </a:p>
        </p:txBody>
      </p:sp>
      <p:sp>
        <p:nvSpPr>
          <p:cNvPr id="61" name="Text 58"/>
          <p:cNvSpPr/>
          <p:nvPr/>
        </p:nvSpPr>
        <p:spPr>
          <a:xfrm>
            <a:off x="9994392" y="2852928"/>
            <a:ext cx="1051560" cy="237744"/>
          </a:xfrm>
          <a:prstGeom prst="rect">
            <a:avLst/>
          </a:prstGeom>
          <a:solidFill>
            <a:srgbClr val="0A0B0D"/>
          </a:solidFill>
          <a:ln>
            <a:solidFill>
              <a:srgbClr val="0A0B0D">
                <a:alpha val="0"/>
              </a:srgbClr>
            </a:solidFill>
          </a:ln>
        </p:spPr>
        <p:txBody>
          <a:bodyPr wrap="square" lIns="254" tIns="381" rIns="381" bIns="254" rtlCol="0" anchor="ctr">
            <a:normAutofit/>
          </a:bodyPr>
          <a:lstStyle/>
          <a:p>
            <a:pPr marL="0" indent="0">
              <a:buNone/>
            </a:pPr>
            <a:r>
              <a:rPr lang="en-US" sz="680" dirty="0">
                <a:solidFill>
                  <a:srgbClr val="F8EFE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 review</a:t>
            </a:r>
            <a:endParaRPr lang="en-US" sz="680" dirty="0"/>
          </a:p>
        </p:txBody>
      </p:sp>
      <p:sp>
        <p:nvSpPr>
          <p:cNvPr id="62" name="Text 59"/>
          <p:cNvSpPr/>
          <p:nvPr/>
        </p:nvSpPr>
        <p:spPr>
          <a:xfrm>
            <a:off x="5349240" y="3163824"/>
            <a:ext cx="2651760" cy="237744"/>
          </a:xfrm>
          <a:prstGeom prst="rect">
            <a:avLst/>
          </a:prstGeom>
          <a:solidFill>
            <a:srgbClr val="0A0B0D"/>
          </a:solidFill>
          <a:ln>
            <a:solidFill>
              <a:srgbClr val="0A0B0D">
                <a:alpha val="0"/>
              </a:srgbClr>
            </a:solidFill>
          </a:ln>
        </p:spPr>
        <p:txBody>
          <a:bodyPr wrap="square" lIns="254" tIns="381" rIns="381" bIns="254" rtlCol="0" anchor="ctr">
            <a:normAutofit/>
          </a:bodyPr>
          <a:lstStyle/>
          <a:p>
            <a:pPr marL="0" indent="0">
              <a:buNone/>
            </a:pPr>
            <a:r>
              <a:rPr lang="en-US" sz="680" dirty="0">
                <a:solidFill>
                  <a:srgbClr val="F8EFE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SLA + support model</a:t>
            </a:r>
            <a:endParaRPr lang="en-US" sz="680" dirty="0"/>
          </a:p>
        </p:txBody>
      </p:sp>
      <p:sp>
        <p:nvSpPr>
          <p:cNvPr id="63" name="Text 60"/>
          <p:cNvSpPr/>
          <p:nvPr/>
        </p:nvSpPr>
        <p:spPr>
          <a:xfrm>
            <a:off x="8055864" y="3163824"/>
            <a:ext cx="1234440" cy="237744"/>
          </a:xfrm>
          <a:prstGeom prst="rect">
            <a:avLst/>
          </a:prstGeom>
          <a:solidFill>
            <a:srgbClr val="0A0B0D"/>
          </a:solidFill>
          <a:ln>
            <a:solidFill>
              <a:srgbClr val="0A0B0D">
                <a:alpha val="0"/>
              </a:srgbClr>
            </a:solidFill>
          </a:ln>
        </p:spPr>
        <p:txBody>
          <a:bodyPr wrap="square" lIns="254" tIns="381" rIns="381" bIns="254" rtlCol="0" anchor="ctr">
            <a:normAutofit/>
          </a:bodyPr>
          <a:lstStyle/>
          <a:p>
            <a:pPr marL="0" indent="0">
              <a:buNone/>
            </a:pPr>
            <a:r>
              <a:rPr lang="en-US" sz="680" dirty="0">
                <a:solidFill>
                  <a:srgbClr val="F8EFE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VP Engineering</a:t>
            </a:r>
            <a:endParaRPr lang="en-US" sz="680" dirty="0"/>
          </a:p>
        </p:txBody>
      </p:sp>
      <p:sp>
        <p:nvSpPr>
          <p:cNvPr id="64" name="Text 61"/>
          <p:cNvSpPr/>
          <p:nvPr/>
        </p:nvSpPr>
        <p:spPr>
          <a:xfrm>
            <a:off x="9345168" y="3163824"/>
            <a:ext cx="594360" cy="237744"/>
          </a:xfrm>
          <a:prstGeom prst="rect">
            <a:avLst/>
          </a:prstGeom>
          <a:solidFill>
            <a:srgbClr val="0A0B0D"/>
          </a:solidFill>
          <a:ln>
            <a:solidFill>
              <a:srgbClr val="0A0B0D">
                <a:alpha val="0"/>
              </a:srgbClr>
            </a:solidFill>
          </a:ln>
        </p:spPr>
        <p:txBody>
          <a:bodyPr wrap="square" lIns="254" tIns="381" rIns="381" bIns="254" rtlCol="0" anchor="ctr">
            <a:normAutofit/>
          </a:bodyPr>
          <a:lstStyle/>
          <a:p>
            <a:pPr marL="0" indent="0">
              <a:buNone/>
            </a:pPr>
            <a:r>
              <a:rPr lang="en-US" sz="680" dirty="0">
                <a:solidFill>
                  <a:srgbClr val="F8EFE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T−5</a:t>
            </a:r>
            <a:endParaRPr lang="en-US" sz="680" dirty="0"/>
          </a:p>
        </p:txBody>
      </p:sp>
      <p:sp>
        <p:nvSpPr>
          <p:cNvPr id="65" name="Text 62"/>
          <p:cNvSpPr/>
          <p:nvPr/>
        </p:nvSpPr>
        <p:spPr>
          <a:xfrm>
            <a:off x="9994392" y="3163824"/>
            <a:ext cx="1051560" cy="237744"/>
          </a:xfrm>
          <a:prstGeom prst="rect">
            <a:avLst/>
          </a:prstGeom>
          <a:solidFill>
            <a:srgbClr val="0A0B0D"/>
          </a:solidFill>
          <a:ln>
            <a:solidFill>
              <a:srgbClr val="0A0B0D">
                <a:alpha val="0"/>
              </a:srgbClr>
            </a:solidFill>
          </a:ln>
        </p:spPr>
        <p:txBody>
          <a:bodyPr wrap="square" lIns="254" tIns="381" rIns="381" bIns="254" rtlCol="0" anchor="ctr">
            <a:normAutofit/>
          </a:bodyPr>
          <a:lstStyle/>
          <a:p>
            <a:pPr marL="0" indent="0">
              <a:buNone/>
            </a:pPr>
            <a:r>
              <a:rPr lang="en-US" sz="680" dirty="0">
                <a:solidFill>
                  <a:srgbClr val="F8EFE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Open</a:t>
            </a:r>
            <a:endParaRPr lang="en-US" sz="680" dirty="0"/>
          </a:p>
        </p:txBody>
      </p:sp>
      <p:sp>
        <p:nvSpPr>
          <p:cNvPr id="66" name="Text 63"/>
          <p:cNvSpPr/>
          <p:nvPr/>
        </p:nvSpPr>
        <p:spPr>
          <a:xfrm>
            <a:off x="5349240" y="3474720"/>
            <a:ext cx="2651760" cy="237744"/>
          </a:xfrm>
          <a:prstGeom prst="rect">
            <a:avLst/>
          </a:prstGeom>
          <a:solidFill>
            <a:srgbClr val="0A0B0D"/>
          </a:solidFill>
          <a:ln>
            <a:solidFill>
              <a:srgbClr val="0A0B0D">
                <a:alpha val="0"/>
              </a:srgbClr>
            </a:solidFill>
          </a:ln>
        </p:spPr>
        <p:txBody>
          <a:bodyPr wrap="square" lIns="254" tIns="381" rIns="381" bIns="254" rtlCol="0" anchor="ctr">
            <a:normAutofit/>
          </a:bodyPr>
          <a:lstStyle/>
          <a:p>
            <a:pPr marL="0" indent="0">
              <a:buNone/>
            </a:pPr>
            <a:r>
              <a:rPr lang="en-US" sz="680" dirty="0">
                <a:solidFill>
                  <a:srgbClr val="F8EFE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Contract + marketplace terms</a:t>
            </a:r>
            <a:endParaRPr lang="en-US" sz="680" dirty="0"/>
          </a:p>
        </p:txBody>
      </p:sp>
      <p:sp>
        <p:nvSpPr>
          <p:cNvPr id="67" name="Text 64"/>
          <p:cNvSpPr/>
          <p:nvPr/>
        </p:nvSpPr>
        <p:spPr>
          <a:xfrm>
            <a:off x="8055864" y="3474720"/>
            <a:ext cx="1234440" cy="237744"/>
          </a:xfrm>
          <a:prstGeom prst="rect">
            <a:avLst/>
          </a:prstGeom>
          <a:solidFill>
            <a:srgbClr val="0A0B0D"/>
          </a:solidFill>
          <a:ln>
            <a:solidFill>
              <a:srgbClr val="0A0B0D">
                <a:alpha val="0"/>
              </a:srgbClr>
            </a:solidFill>
          </a:ln>
        </p:spPr>
        <p:txBody>
          <a:bodyPr wrap="square" lIns="254" tIns="381" rIns="381" bIns="254" rtlCol="0" anchor="ctr">
            <a:normAutofit/>
          </a:bodyPr>
          <a:lstStyle/>
          <a:p>
            <a:pPr marL="0" indent="0">
              <a:buNone/>
            </a:pPr>
            <a:r>
              <a:rPr lang="en-US" sz="680" dirty="0">
                <a:solidFill>
                  <a:srgbClr val="F8EFE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GC</a:t>
            </a:r>
            <a:endParaRPr lang="en-US" sz="680" dirty="0"/>
          </a:p>
        </p:txBody>
      </p:sp>
      <p:sp>
        <p:nvSpPr>
          <p:cNvPr id="68" name="Text 65"/>
          <p:cNvSpPr/>
          <p:nvPr/>
        </p:nvSpPr>
        <p:spPr>
          <a:xfrm>
            <a:off x="9345168" y="3474720"/>
            <a:ext cx="594360" cy="237744"/>
          </a:xfrm>
          <a:prstGeom prst="rect">
            <a:avLst/>
          </a:prstGeom>
          <a:solidFill>
            <a:srgbClr val="0A0B0D"/>
          </a:solidFill>
          <a:ln>
            <a:solidFill>
              <a:srgbClr val="0A0B0D">
                <a:alpha val="0"/>
              </a:srgbClr>
            </a:solidFill>
          </a:ln>
        </p:spPr>
        <p:txBody>
          <a:bodyPr wrap="square" lIns="254" tIns="381" rIns="381" bIns="254" rtlCol="0" anchor="ctr">
            <a:normAutofit/>
          </a:bodyPr>
          <a:lstStyle/>
          <a:p>
            <a:pPr marL="0" indent="0">
              <a:buNone/>
            </a:pPr>
            <a:r>
              <a:rPr lang="en-US" sz="680" dirty="0">
                <a:solidFill>
                  <a:srgbClr val="F8EFE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T−4</a:t>
            </a:r>
            <a:endParaRPr lang="en-US" sz="680" dirty="0"/>
          </a:p>
        </p:txBody>
      </p:sp>
      <p:sp>
        <p:nvSpPr>
          <p:cNvPr id="69" name="Text 66"/>
          <p:cNvSpPr/>
          <p:nvPr/>
        </p:nvSpPr>
        <p:spPr>
          <a:xfrm>
            <a:off x="9994392" y="3474720"/>
            <a:ext cx="1051560" cy="237744"/>
          </a:xfrm>
          <a:prstGeom prst="rect">
            <a:avLst/>
          </a:prstGeom>
          <a:solidFill>
            <a:srgbClr val="0A0B0D"/>
          </a:solidFill>
          <a:ln>
            <a:solidFill>
              <a:srgbClr val="0A0B0D">
                <a:alpha val="0"/>
              </a:srgbClr>
            </a:solidFill>
          </a:ln>
        </p:spPr>
        <p:txBody>
          <a:bodyPr wrap="square" lIns="254" tIns="381" rIns="381" bIns="254" rtlCol="0" anchor="ctr">
            <a:normAutofit/>
          </a:bodyPr>
          <a:lstStyle/>
          <a:p>
            <a:pPr marL="0" indent="0">
              <a:buNone/>
            </a:pPr>
            <a:r>
              <a:rPr lang="en-US" sz="680" dirty="0">
                <a:solidFill>
                  <a:srgbClr val="F8EFE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Open</a:t>
            </a:r>
            <a:endParaRPr lang="en-US" sz="680" dirty="0"/>
          </a:p>
        </p:txBody>
      </p:sp>
      <p:sp>
        <p:nvSpPr>
          <p:cNvPr id="70" name="Text 67"/>
          <p:cNvSpPr/>
          <p:nvPr/>
        </p:nvSpPr>
        <p:spPr>
          <a:xfrm>
            <a:off x="5349240" y="4005072"/>
            <a:ext cx="1828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00" b="1" dirty="0">
                <a:solidFill>
                  <a:srgbClr val="FFB00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 standard</a:t>
            </a:r>
            <a:endParaRPr lang="en-US" sz="600" dirty="0"/>
          </a:p>
        </p:txBody>
      </p:sp>
      <p:sp>
        <p:nvSpPr>
          <p:cNvPr id="71" name="Text 68"/>
          <p:cNvSpPr/>
          <p:nvPr/>
        </p:nvSpPr>
        <p:spPr>
          <a:xfrm>
            <a:off x="5349240" y="4224528"/>
            <a:ext cx="5989320" cy="457200"/>
          </a:xfrm>
          <a:prstGeom prst="rect">
            <a:avLst/>
          </a:prstGeom>
          <a:solidFill>
            <a:srgbClr val="0A0B0D"/>
          </a:solidFill>
          <a:ln>
            <a:solidFill>
              <a:srgbClr val="0A0B0D">
                <a:alpha val="0"/>
              </a:srgbClr>
            </a:solidFill>
          </a:ln>
        </p:spPr>
        <p:txBody>
          <a:bodyPr wrap="square" lIns="762" tIns="1524" rIns="1524" bIns="762" rtlCol="0" anchor="ctr">
            <a:normAutofit/>
          </a:bodyPr>
          <a:lstStyle/>
          <a:p>
            <a:pPr marL="0" indent="0">
              <a:buNone/>
            </a:pPr>
            <a:r>
              <a:rPr lang="en-US" sz="760" dirty="0">
                <a:solidFill>
                  <a:srgbClr val="F8EFE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Every launch-critical decision has an owner, due date and current status before the critical path begins.</a:t>
            </a:r>
            <a:endParaRPr lang="en-US" sz="760" dirty="0"/>
          </a:p>
        </p:txBody>
      </p:sp>
      <p:sp>
        <p:nvSpPr>
          <p:cNvPr id="72" name="Text 69"/>
          <p:cNvSpPr/>
          <p:nvPr/>
        </p:nvSpPr>
        <p:spPr>
          <a:xfrm>
            <a:off x="5349240" y="5193792"/>
            <a:ext cx="5989320" cy="384048"/>
          </a:xfrm>
          <a:prstGeom prst="rect">
            <a:avLst/>
          </a:prstGeom>
          <a:solidFill>
            <a:srgbClr val="0A0B0D"/>
          </a:solidFill>
          <a:ln>
            <a:solidFill>
              <a:srgbClr val="0A0B0D">
                <a:alpha val="0"/>
              </a:srgbClr>
            </a:solidFill>
          </a:ln>
        </p:spPr>
        <p:txBody>
          <a:bodyPr wrap="square" lIns="762" tIns="1524" rIns="1524" bIns="762" rtlCol="0" anchor="ctr">
            <a:normAutofit/>
          </a:bodyPr>
          <a:lstStyle/>
          <a:p>
            <a:pPr marL="0" indent="0">
              <a:buNone/>
            </a:pPr>
            <a:r>
              <a:rPr lang="en-US" sz="64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ASK  Clear every decision by T−4; anything still amber escalates to the launch steering group.</a:t>
            </a:r>
            <a:endParaRPr lang="en-US" sz="64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7EFE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75488" y="219456"/>
            <a:ext cx="71323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570" b="1" dirty="0">
                <a:solidFill>
                  <a:srgbClr val="FF3D0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A. ROUTES TO MARKET  •  COMMERCIAL MOTION</a:t>
            </a:r>
            <a:endParaRPr lang="en-US" sz="570" dirty="0"/>
          </a:p>
        </p:txBody>
      </p:sp>
      <p:sp>
        <p:nvSpPr>
          <p:cNvPr id="3" name="Text 1"/>
          <p:cNvSpPr/>
          <p:nvPr/>
        </p:nvSpPr>
        <p:spPr>
          <a:xfrm>
            <a:off x="475488" y="438912"/>
            <a:ext cx="103327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050" b="1" dirty="0">
                <a:solidFill>
                  <a:srgbClr val="0A0B0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Four routes, one commercial spine</a:t>
            </a:r>
            <a:endParaRPr lang="en-US" sz="2050" dirty="0"/>
          </a:p>
        </p:txBody>
      </p:sp>
      <p:sp>
        <p:nvSpPr>
          <p:cNvPr id="4" name="Text 2"/>
          <p:cNvSpPr/>
          <p:nvPr/>
        </p:nvSpPr>
        <p:spPr>
          <a:xfrm>
            <a:off x="475488" y="832104"/>
            <a:ext cx="10515600" cy="182880"/>
          </a:xfrm>
          <a:prstGeom prst="rect">
            <a:avLst/>
          </a:prstGeom>
          <a:noFill/>
          <a:ln/>
        </p:spPr>
        <p:txBody>
          <a:bodyPr wrap="square" lIns="18288" tIns="18288" rIns="18288" bIns="18288" rtlCol="0" anchor="ctr">
            <a:norm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710" b="0">
                <a:solidFill>
                  <a:srgbClr val="6D625B"/>
                </a:solidFill>
                <a:latin typeface="Aptos"/>
              </a:rPr>
              <a:t>Buying vehicle determines entry; every route advances through gated handoffs from trial to expansion.</a:t>
            </a:r>
            <a:endParaRPr lang="en-US" sz="710" dirty="0"/>
          </a:p>
        </p:txBody>
      </p:sp>
      <p:sp>
        <p:nvSpPr>
          <p:cNvPr id="5" name="Shape 3"/>
          <p:cNvSpPr/>
          <p:nvPr/>
        </p:nvSpPr>
        <p:spPr>
          <a:xfrm>
            <a:off x="475488" y="1088136"/>
            <a:ext cx="11018520" cy="0"/>
          </a:xfrm>
          <a:prstGeom prst="line">
            <a:avLst/>
          </a:prstGeom>
          <a:noFill/>
          <a:ln w="7620">
            <a:solidFill>
              <a:srgbClr val="FF3D00">
                <a:alpha val="8500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6" name="Image 0" descr="/mnt/data/pptx_extract/ppt/media/image-2-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640312" y="237744"/>
            <a:ext cx="109728" cy="109728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0" y="6647688"/>
            <a:ext cx="12192000" cy="210312"/>
          </a:xfrm>
          <a:prstGeom prst="rect">
            <a:avLst/>
          </a:prstGeom>
          <a:solidFill>
            <a:srgbClr val="0A0B0D"/>
          </a:solidFill>
          <a:ln w="12700">
            <a:solidFill>
              <a:srgbClr val="0A0B0D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8" name="Shape 5"/>
          <p:cNvSpPr/>
          <p:nvPr/>
        </p:nvSpPr>
        <p:spPr>
          <a:xfrm>
            <a:off x="438912" y="6428232"/>
            <a:ext cx="146304" cy="27432"/>
          </a:xfrm>
          <a:prstGeom prst="rect">
            <a:avLst/>
          </a:prstGeom>
          <a:solidFill>
            <a:srgbClr val="FF3D00"/>
          </a:solidFill>
          <a:ln w="12700">
            <a:solidFill>
              <a:srgbClr val="FF3D00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9" name="Text 6"/>
          <p:cNvSpPr/>
          <p:nvPr/>
        </p:nvSpPr>
        <p:spPr>
          <a:xfrm>
            <a:off x="621792" y="6373368"/>
            <a:ext cx="384048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90" dirty="0">
                <a:solidFill>
                  <a:srgbClr val="6D625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Mistral Studio  •  Launch &amp; commercialization plan</a:t>
            </a:r>
            <a:endParaRPr lang="en-US" sz="490" dirty="0"/>
          </a:p>
        </p:txBody>
      </p:sp>
      <p:sp>
        <p:nvSpPr>
          <p:cNvPr id="10" name="Text 7"/>
          <p:cNvSpPr/>
          <p:nvPr/>
        </p:nvSpPr>
        <p:spPr>
          <a:xfrm>
            <a:off x="11612880" y="6327648"/>
            <a:ext cx="2286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520" b="1" dirty="0">
                <a:solidFill>
                  <a:srgbClr val="0A0B0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03</a:t>
            </a:r>
            <a:endParaRPr lang="en-US" sz="520" dirty="0"/>
          </a:p>
        </p:txBody>
      </p:sp>
      <p:sp>
        <p:nvSpPr>
          <p:cNvPr id="11" name="Text 8"/>
          <p:cNvSpPr/>
          <p:nvPr/>
        </p:nvSpPr>
        <p:spPr>
          <a:xfrm>
            <a:off x="530352" y="1243584"/>
            <a:ext cx="36576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550" b="1" dirty="0">
                <a:solidFill>
                  <a:srgbClr val="FF3D0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ENTRY ROUTES AND ROUTE OF RECORD</a:t>
            </a:r>
            <a:endParaRPr lang="en-US" sz="550" dirty="0"/>
          </a:p>
        </p:txBody>
      </p:sp>
      <p:sp>
        <p:nvSpPr>
          <p:cNvPr id="12" name="Text 9"/>
          <p:cNvSpPr/>
          <p:nvPr/>
        </p:nvSpPr>
        <p:spPr>
          <a:xfrm>
            <a:off x="530352" y="1444752"/>
            <a:ext cx="1417320" cy="201168"/>
          </a:xfrm>
          <a:prstGeom prst="rect">
            <a:avLst/>
          </a:prstGeom>
          <a:solidFill>
            <a:srgbClr val="F2E6D9"/>
          </a:solidFill>
          <a:ln/>
        </p:spPr>
        <p:txBody>
          <a:bodyPr wrap="square" lIns="508" tIns="635" rIns="635" bIns="508" rtlCol="0" anchor="ctr">
            <a:normAutofit/>
          </a:bodyPr>
          <a:lstStyle/>
          <a:p>
            <a:pPr marL="0" indent="0">
              <a:buNone/>
            </a:pPr>
            <a:r>
              <a:rPr lang="en-US" sz="580" b="1" dirty="0">
                <a:solidFill>
                  <a:srgbClr val="FF3D0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ROUTE</a:t>
            </a:r>
            <a:endParaRPr lang="en-US" sz="580" dirty="0"/>
          </a:p>
        </p:txBody>
      </p:sp>
      <p:sp>
        <p:nvSpPr>
          <p:cNvPr id="13" name="Text 10"/>
          <p:cNvSpPr/>
          <p:nvPr/>
        </p:nvSpPr>
        <p:spPr>
          <a:xfrm>
            <a:off x="2020824" y="1444752"/>
            <a:ext cx="2331720" cy="201168"/>
          </a:xfrm>
          <a:prstGeom prst="rect">
            <a:avLst/>
          </a:prstGeom>
          <a:solidFill>
            <a:srgbClr val="F2E6D9"/>
          </a:solidFill>
          <a:ln/>
        </p:spPr>
        <p:txBody>
          <a:bodyPr wrap="square" lIns="508" tIns="635" rIns="635" bIns="508" rtlCol="0" anchor="ctr">
            <a:normAutofit/>
          </a:bodyPr>
          <a:lstStyle/>
          <a:p>
            <a:pPr marL="0" indent="0">
              <a:buNone/>
            </a:pPr>
            <a:r>
              <a:rPr lang="en-US" sz="580" b="1" dirty="0">
                <a:solidFill>
                  <a:srgbClr val="FF3D0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WHO ENTERS THERE</a:t>
            </a:r>
            <a:endParaRPr lang="en-US" sz="580" dirty="0"/>
          </a:p>
        </p:txBody>
      </p:sp>
      <p:sp>
        <p:nvSpPr>
          <p:cNvPr id="14" name="Text 11"/>
          <p:cNvSpPr/>
          <p:nvPr/>
        </p:nvSpPr>
        <p:spPr>
          <a:xfrm>
            <a:off x="4425696" y="1444752"/>
            <a:ext cx="2148840" cy="201168"/>
          </a:xfrm>
          <a:prstGeom prst="rect">
            <a:avLst/>
          </a:prstGeom>
          <a:solidFill>
            <a:srgbClr val="F2E6D9"/>
          </a:solidFill>
          <a:ln/>
        </p:spPr>
        <p:txBody>
          <a:bodyPr wrap="square" lIns="508" tIns="635" rIns="635" bIns="508" rtlCol="0" anchor="ctr">
            <a:normAutofit/>
          </a:bodyPr>
          <a:lstStyle/>
          <a:p>
            <a:pPr marL="0" indent="0">
              <a:buNone/>
            </a:pPr>
            <a:r>
              <a:rPr lang="en-US" sz="580" b="1" dirty="0">
                <a:solidFill>
                  <a:srgbClr val="FF3D0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HOW IT IS RUN</a:t>
            </a:r>
            <a:endParaRPr lang="en-US" sz="580" dirty="0"/>
          </a:p>
        </p:txBody>
      </p:sp>
      <p:sp>
        <p:nvSpPr>
          <p:cNvPr id="15" name="Text 12"/>
          <p:cNvSpPr/>
          <p:nvPr/>
        </p:nvSpPr>
        <p:spPr>
          <a:xfrm>
            <a:off x="6647688" y="1444752"/>
            <a:ext cx="2651760" cy="201168"/>
          </a:xfrm>
          <a:prstGeom prst="rect">
            <a:avLst/>
          </a:prstGeom>
          <a:solidFill>
            <a:srgbClr val="F2E6D9"/>
          </a:solidFill>
          <a:ln/>
        </p:spPr>
        <p:txBody>
          <a:bodyPr wrap="square" lIns="508" tIns="635" rIns="635" bIns="508" rtlCol="0" anchor="ctr">
            <a:normAutofit/>
          </a:bodyPr>
          <a:lstStyle/>
          <a:p>
            <a:pPr marL="0" indent="0">
              <a:buNone/>
            </a:pPr>
            <a:r>
              <a:rPr lang="en-US" sz="580" b="1" dirty="0">
                <a:solidFill>
                  <a:srgbClr val="FF3D0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ROUTE RULE</a:t>
            </a:r>
            <a:endParaRPr lang="en-US" sz="580" dirty="0"/>
          </a:p>
        </p:txBody>
      </p:sp>
      <p:sp>
        <p:nvSpPr>
          <p:cNvPr id="16" name="Text 13"/>
          <p:cNvSpPr/>
          <p:nvPr/>
        </p:nvSpPr>
        <p:spPr>
          <a:xfrm>
            <a:off x="530352" y="1737360"/>
            <a:ext cx="1417320" cy="365760"/>
          </a:xfrm>
          <a:prstGeom prst="rect">
            <a:avLst/>
          </a:prstGeom>
          <a:solidFill>
            <a:srgbClr val="FDF7EF"/>
          </a:solidFill>
          <a:ln w="3810">
            <a:solidFill>
              <a:srgbClr val="E9D9CB"/>
            </a:solidFill>
          </a:ln>
        </p:spPr>
        <p:txBody>
          <a:bodyPr wrap="square" lIns="508" tIns="762" rIns="762" bIns="508" rtlCol="0" anchor="ctr">
            <a:normAutofit/>
          </a:bodyPr>
          <a:lstStyle/>
          <a:p>
            <a:pPr marL="0" indent="0">
              <a:buNone/>
            </a:pPr>
            <a:r>
              <a:rPr lang="en-US" sz="730" b="1" dirty="0">
                <a:solidFill>
                  <a:srgbClr val="0A0B0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Self-serve</a:t>
            </a:r>
            <a:endParaRPr lang="en-US" sz="730" dirty="0"/>
          </a:p>
        </p:txBody>
      </p:sp>
      <p:sp>
        <p:nvSpPr>
          <p:cNvPr id="17" name="Text 14"/>
          <p:cNvSpPr/>
          <p:nvPr/>
        </p:nvSpPr>
        <p:spPr>
          <a:xfrm>
            <a:off x="2020824" y="1737360"/>
            <a:ext cx="2331720" cy="365760"/>
          </a:xfrm>
          <a:prstGeom prst="rect">
            <a:avLst/>
          </a:prstGeom>
          <a:solidFill>
            <a:srgbClr val="FDF7EF"/>
          </a:solidFill>
          <a:ln w="3810">
            <a:solidFill>
              <a:srgbClr val="E9D9CB"/>
            </a:solidFill>
          </a:ln>
        </p:spPr>
        <p:txBody>
          <a:bodyPr wrap="square" lIns="508" tIns="762" rIns="762" bIns="508" rtlCol="0" anchor="ctr">
            <a:normAutofit/>
          </a:bodyPr>
          <a:lstStyle/>
          <a:p>
            <a:pPr marL="0" indent="0">
              <a:buNone/>
            </a:pPr>
            <a:r>
              <a:rPr lang="en-US" sz="670" dirty="0">
                <a:solidFill>
                  <a:srgbClr val="0A0B0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Developers and small teams; card or PAYG, no sales contact</a:t>
            </a:r>
            <a:endParaRPr lang="en-US" sz="670" dirty="0"/>
          </a:p>
        </p:txBody>
      </p:sp>
      <p:sp>
        <p:nvSpPr>
          <p:cNvPr id="18" name="Text 15"/>
          <p:cNvSpPr/>
          <p:nvPr/>
        </p:nvSpPr>
        <p:spPr>
          <a:xfrm>
            <a:off x="4425696" y="1737360"/>
            <a:ext cx="2148840" cy="365760"/>
          </a:xfrm>
          <a:prstGeom prst="rect">
            <a:avLst/>
          </a:prstGeom>
          <a:solidFill>
            <a:srgbClr val="FDF7EF"/>
          </a:solidFill>
          <a:ln w="3810">
            <a:solidFill>
              <a:srgbClr val="E9D9CB"/>
            </a:solidFill>
          </a:ln>
        </p:spPr>
        <p:txBody>
          <a:bodyPr wrap="square" lIns="508" tIns="762" rIns="762" bIns="508" rtlCol="0" anchor="ctr">
            <a:normAutofit/>
          </a:bodyPr>
          <a:lstStyle/>
          <a:p>
            <a:pPr marL="0" indent="0">
              <a:buNone/>
            </a:pPr>
            <a:r>
              <a:rPr lang="en-US" sz="670" dirty="0">
                <a:solidFill>
                  <a:srgbClr val="0A0B0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Product-led; Growth owns funnel, Sales engages above threshold</a:t>
            </a:r>
            <a:endParaRPr lang="en-US" sz="670" dirty="0"/>
          </a:p>
        </p:txBody>
      </p:sp>
      <p:sp>
        <p:nvSpPr>
          <p:cNvPr id="19" name="Text 16"/>
          <p:cNvSpPr/>
          <p:nvPr/>
        </p:nvSpPr>
        <p:spPr>
          <a:xfrm>
            <a:off x="6647688" y="1737360"/>
            <a:ext cx="2651760" cy="365760"/>
          </a:xfrm>
          <a:prstGeom prst="rect">
            <a:avLst/>
          </a:prstGeom>
          <a:solidFill>
            <a:srgbClr val="FDF7EF"/>
          </a:solidFill>
          <a:ln w="3810">
            <a:solidFill>
              <a:srgbClr val="E9D9CB"/>
            </a:solidFill>
          </a:ln>
        </p:spPr>
        <p:txBody>
          <a:bodyPr wrap="square" lIns="508" tIns="762" rIns="762" bIns="508" rtlCol="0" anchor="ctr">
            <a:normAutofit/>
          </a:bodyPr>
          <a:lstStyle/>
          <a:p>
            <a:pPr marL="0" indent="0">
              <a:buNone/>
            </a:pPr>
            <a:r>
              <a:rPr lang="en-US" sz="670" dirty="0">
                <a:solidFill>
                  <a:srgbClr val="0A0B0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Default below enterprise spend threshold</a:t>
            </a:r>
            <a:endParaRPr lang="en-US" sz="670" dirty="0"/>
          </a:p>
        </p:txBody>
      </p:sp>
      <p:sp>
        <p:nvSpPr>
          <p:cNvPr id="20" name="Text 17"/>
          <p:cNvSpPr/>
          <p:nvPr/>
        </p:nvSpPr>
        <p:spPr>
          <a:xfrm>
            <a:off x="530352" y="2176272"/>
            <a:ext cx="1417320" cy="365760"/>
          </a:xfrm>
          <a:prstGeom prst="rect">
            <a:avLst/>
          </a:prstGeom>
          <a:solidFill>
            <a:srgbClr val="FBF3EA"/>
          </a:solidFill>
          <a:ln w="3810">
            <a:solidFill>
              <a:srgbClr val="E9D9CB"/>
            </a:solidFill>
          </a:ln>
        </p:spPr>
        <p:txBody>
          <a:bodyPr wrap="square" lIns="508" tIns="762" rIns="762" bIns="508" rtlCol="0" anchor="ctr">
            <a:normAutofit/>
          </a:bodyPr>
          <a:lstStyle/>
          <a:p>
            <a:pPr marL="0" indent="0">
              <a:buNone/>
            </a:pPr>
            <a:r>
              <a:rPr lang="en-US" sz="730" b="1" dirty="0">
                <a:solidFill>
                  <a:srgbClr val="0A0B0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Direct enterprise</a:t>
            </a:r>
            <a:endParaRPr lang="en-US" sz="730" dirty="0"/>
          </a:p>
        </p:txBody>
      </p:sp>
      <p:sp>
        <p:nvSpPr>
          <p:cNvPr id="21" name="Text 18"/>
          <p:cNvSpPr/>
          <p:nvPr/>
        </p:nvSpPr>
        <p:spPr>
          <a:xfrm>
            <a:off x="2020824" y="2176272"/>
            <a:ext cx="2331720" cy="365760"/>
          </a:xfrm>
          <a:prstGeom prst="rect">
            <a:avLst/>
          </a:prstGeom>
          <a:solidFill>
            <a:srgbClr val="FBF3EA"/>
          </a:solidFill>
          <a:ln w="3810">
            <a:solidFill>
              <a:srgbClr val="E9D9CB"/>
            </a:solidFill>
          </a:ln>
        </p:spPr>
        <p:txBody>
          <a:bodyPr wrap="square" lIns="508" tIns="762" rIns="762" bIns="508" rtlCol="0" anchor="ctr">
            <a:normAutofit/>
          </a:bodyPr>
          <a:lstStyle/>
          <a:p>
            <a:pPr marL="0" indent="0">
              <a:buNone/>
            </a:pPr>
            <a:r>
              <a:rPr lang="en-US" sz="670" dirty="0">
                <a:solidFill>
                  <a:srgbClr val="0A0B0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Enterprise platform teams; committed capacity, custom terms</a:t>
            </a:r>
            <a:endParaRPr lang="en-US" sz="670" dirty="0"/>
          </a:p>
        </p:txBody>
      </p:sp>
      <p:sp>
        <p:nvSpPr>
          <p:cNvPr id="22" name="Text 19"/>
          <p:cNvSpPr/>
          <p:nvPr/>
        </p:nvSpPr>
        <p:spPr>
          <a:xfrm>
            <a:off x="4425696" y="2176272"/>
            <a:ext cx="2148840" cy="365760"/>
          </a:xfrm>
          <a:prstGeom prst="rect">
            <a:avLst/>
          </a:prstGeom>
          <a:solidFill>
            <a:srgbClr val="FBF3EA"/>
          </a:solidFill>
          <a:ln w="3810">
            <a:solidFill>
              <a:srgbClr val="E9D9CB"/>
            </a:solidFill>
          </a:ln>
        </p:spPr>
        <p:txBody>
          <a:bodyPr wrap="square" lIns="508" tIns="762" rIns="762" bIns="508" rtlCol="0" anchor="ctr">
            <a:normAutofit/>
          </a:bodyPr>
          <a:lstStyle/>
          <a:p>
            <a:pPr marL="0" indent="0">
              <a:buNone/>
            </a:pPr>
            <a:r>
              <a:rPr lang="en-US" sz="670" dirty="0">
                <a:solidFill>
                  <a:srgbClr val="0A0B0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Sales-led; AE + SE own POV to contract; Finance approves terms</a:t>
            </a:r>
            <a:endParaRPr lang="en-US" sz="670" dirty="0"/>
          </a:p>
        </p:txBody>
      </p:sp>
      <p:sp>
        <p:nvSpPr>
          <p:cNvPr id="23" name="Text 20"/>
          <p:cNvSpPr/>
          <p:nvPr/>
        </p:nvSpPr>
        <p:spPr>
          <a:xfrm>
            <a:off x="6647688" y="2176272"/>
            <a:ext cx="2651760" cy="365760"/>
          </a:xfrm>
          <a:prstGeom prst="rect">
            <a:avLst/>
          </a:prstGeom>
          <a:solidFill>
            <a:srgbClr val="FBF3EA"/>
          </a:solidFill>
          <a:ln w="3810">
            <a:solidFill>
              <a:srgbClr val="E9D9CB"/>
            </a:solidFill>
          </a:ln>
        </p:spPr>
        <p:txBody>
          <a:bodyPr wrap="square" lIns="508" tIns="762" rIns="762" bIns="508" rtlCol="0" anchor="ctr">
            <a:normAutofit/>
          </a:bodyPr>
          <a:lstStyle/>
          <a:p>
            <a:pPr marL="0" indent="0">
              <a:buNone/>
            </a:pPr>
            <a:r>
              <a:rPr lang="en-US" sz="670" dirty="0">
                <a:solidFill>
                  <a:srgbClr val="0A0B0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Default above enterprise threshold</a:t>
            </a:r>
            <a:endParaRPr lang="en-US" sz="670" dirty="0"/>
          </a:p>
        </p:txBody>
      </p:sp>
      <p:sp>
        <p:nvSpPr>
          <p:cNvPr id="24" name="Text 21"/>
          <p:cNvSpPr/>
          <p:nvPr/>
        </p:nvSpPr>
        <p:spPr>
          <a:xfrm>
            <a:off x="530352" y="2615184"/>
            <a:ext cx="1417320" cy="365760"/>
          </a:xfrm>
          <a:prstGeom prst="rect">
            <a:avLst/>
          </a:prstGeom>
          <a:solidFill>
            <a:srgbClr val="FDF7EF"/>
          </a:solidFill>
          <a:ln w="3810">
            <a:solidFill>
              <a:srgbClr val="E9D9CB"/>
            </a:solidFill>
          </a:ln>
        </p:spPr>
        <p:txBody>
          <a:bodyPr wrap="square" lIns="508" tIns="762" rIns="762" bIns="508" rtlCol="0" anchor="ctr">
            <a:normAutofit/>
          </a:bodyPr>
          <a:lstStyle/>
          <a:p>
            <a:pPr marL="0" indent="0">
              <a:buNone/>
            </a:pPr>
            <a:r>
              <a:rPr lang="en-US" sz="730" b="1" dirty="0">
                <a:solidFill>
                  <a:srgbClr val="0A0B0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Cloud marketplace</a:t>
            </a:r>
            <a:endParaRPr lang="en-US" sz="730" dirty="0"/>
          </a:p>
        </p:txBody>
      </p:sp>
      <p:sp>
        <p:nvSpPr>
          <p:cNvPr id="25" name="Text 22"/>
          <p:cNvSpPr/>
          <p:nvPr/>
        </p:nvSpPr>
        <p:spPr>
          <a:xfrm>
            <a:off x="2020824" y="2615184"/>
            <a:ext cx="2331720" cy="365760"/>
          </a:xfrm>
          <a:prstGeom prst="rect">
            <a:avLst/>
          </a:prstGeom>
          <a:solidFill>
            <a:srgbClr val="FDF7EF"/>
          </a:solidFill>
          <a:ln w="3810">
            <a:solidFill>
              <a:srgbClr val="E9D9CB"/>
            </a:solidFill>
          </a:ln>
        </p:spPr>
        <p:txBody>
          <a:bodyPr wrap="square" lIns="508" tIns="762" rIns="762" bIns="508" rtlCol="0" anchor="ctr">
            <a:normAutofit/>
          </a:bodyPr>
          <a:lstStyle/>
          <a:p>
            <a:pPr marL="0" indent="0">
              <a:buNone/>
            </a:pPr>
            <a:r>
              <a:rPr lang="en-US" sz="670" dirty="0">
                <a:solidFill>
                  <a:srgbClr val="0A0B0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Cloud-committed buyers; private offers retire cloud spend</a:t>
            </a:r>
            <a:endParaRPr lang="en-US" sz="670" dirty="0"/>
          </a:p>
        </p:txBody>
      </p:sp>
      <p:sp>
        <p:nvSpPr>
          <p:cNvPr id="26" name="Text 23"/>
          <p:cNvSpPr/>
          <p:nvPr/>
        </p:nvSpPr>
        <p:spPr>
          <a:xfrm>
            <a:off x="4425696" y="2615184"/>
            <a:ext cx="2148840" cy="365760"/>
          </a:xfrm>
          <a:prstGeom prst="rect">
            <a:avLst/>
          </a:prstGeom>
          <a:solidFill>
            <a:srgbClr val="FDF7EF"/>
          </a:solidFill>
          <a:ln w="3810">
            <a:solidFill>
              <a:srgbClr val="E9D9CB"/>
            </a:solidFill>
          </a:ln>
        </p:spPr>
        <p:txBody>
          <a:bodyPr wrap="square" lIns="508" tIns="762" rIns="762" bIns="508" rtlCol="0" anchor="ctr">
            <a:normAutofit/>
          </a:bodyPr>
          <a:lstStyle/>
          <a:p>
            <a:pPr marL="0" indent="0">
              <a:buNone/>
            </a:pPr>
            <a:r>
              <a:rPr lang="en-US" sz="670" dirty="0">
                <a:solidFill>
                  <a:srgbClr val="0A0B0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Co-sell; Alliances own listings and private offers</a:t>
            </a:r>
            <a:endParaRPr lang="en-US" sz="670" dirty="0"/>
          </a:p>
        </p:txBody>
      </p:sp>
      <p:sp>
        <p:nvSpPr>
          <p:cNvPr id="27" name="Text 24"/>
          <p:cNvSpPr/>
          <p:nvPr/>
        </p:nvSpPr>
        <p:spPr>
          <a:xfrm>
            <a:off x="6647688" y="2615184"/>
            <a:ext cx="2651760" cy="365760"/>
          </a:xfrm>
          <a:prstGeom prst="rect">
            <a:avLst/>
          </a:prstGeom>
          <a:solidFill>
            <a:srgbClr val="FDF7EF"/>
          </a:solidFill>
          <a:ln w="3810">
            <a:solidFill>
              <a:srgbClr val="E9D9CB"/>
            </a:solidFill>
          </a:ln>
        </p:spPr>
        <p:txBody>
          <a:bodyPr wrap="square" lIns="508" tIns="762" rIns="762" bIns="508" rtlCol="0" anchor="ctr">
            <a:normAutofit/>
          </a:bodyPr>
          <a:lstStyle/>
          <a:p>
            <a:pPr marL="0" indent="0">
              <a:buNone/>
            </a:pPr>
            <a:r>
              <a:rPr lang="en-US" sz="670" dirty="0">
                <a:solidFill>
                  <a:srgbClr val="0A0B0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Use when cloud commitment applies</a:t>
            </a:r>
            <a:endParaRPr lang="en-US" sz="670" dirty="0"/>
          </a:p>
        </p:txBody>
      </p:sp>
      <p:sp>
        <p:nvSpPr>
          <p:cNvPr id="28" name="Text 25"/>
          <p:cNvSpPr/>
          <p:nvPr/>
        </p:nvSpPr>
        <p:spPr>
          <a:xfrm>
            <a:off x="530352" y="3054096"/>
            <a:ext cx="1417320" cy="365760"/>
          </a:xfrm>
          <a:prstGeom prst="rect">
            <a:avLst/>
          </a:prstGeom>
          <a:solidFill>
            <a:srgbClr val="FBF3EA"/>
          </a:solidFill>
          <a:ln w="3810">
            <a:solidFill>
              <a:srgbClr val="E9D9CB"/>
            </a:solidFill>
          </a:ln>
        </p:spPr>
        <p:txBody>
          <a:bodyPr wrap="square" lIns="508" tIns="762" rIns="762" bIns="508" rtlCol="0" anchor="ctr">
            <a:normAutofit/>
          </a:bodyPr>
          <a:lstStyle/>
          <a:p>
            <a:pPr marL="0" indent="0">
              <a:buNone/>
            </a:pPr>
            <a:r>
              <a:rPr lang="en-US" sz="730" b="1" dirty="0">
                <a:solidFill>
                  <a:srgbClr val="0A0B0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Partners / SIs</a:t>
            </a:r>
            <a:endParaRPr lang="en-US" sz="730" dirty="0"/>
          </a:p>
        </p:txBody>
      </p:sp>
      <p:sp>
        <p:nvSpPr>
          <p:cNvPr id="29" name="Text 26"/>
          <p:cNvSpPr/>
          <p:nvPr/>
        </p:nvSpPr>
        <p:spPr>
          <a:xfrm>
            <a:off x="2020824" y="3054096"/>
            <a:ext cx="2331720" cy="365760"/>
          </a:xfrm>
          <a:prstGeom prst="rect">
            <a:avLst/>
          </a:prstGeom>
          <a:solidFill>
            <a:srgbClr val="FBF3EA"/>
          </a:solidFill>
          <a:ln w="3810">
            <a:solidFill>
              <a:srgbClr val="E9D9CB"/>
            </a:solidFill>
          </a:ln>
        </p:spPr>
        <p:txBody>
          <a:bodyPr wrap="square" lIns="508" tIns="762" rIns="762" bIns="508" rtlCol="0" anchor="ctr">
            <a:normAutofit/>
          </a:bodyPr>
          <a:lstStyle/>
          <a:p>
            <a:pPr marL="0" indent="0">
              <a:buNone/>
            </a:pPr>
            <a:r>
              <a:rPr lang="en-US" sz="670" dirty="0">
                <a:solidFill>
                  <a:srgbClr val="0A0B0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Regulated and delivery-led accounts; co-sell and implementation</a:t>
            </a:r>
            <a:endParaRPr lang="en-US" sz="670" dirty="0"/>
          </a:p>
        </p:txBody>
      </p:sp>
      <p:sp>
        <p:nvSpPr>
          <p:cNvPr id="30" name="Text 27"/>
          <p:cNvSpPr/>
          <p:nvPr/>
        </p:nvSpPr>
        <p:spPr>
          <a:xfrm>
            <a:off x="4425696" y="3054096"/>
            <a:ext cx="2148840" cy="365760"/>
          </a:xfrm>
          <a:prstGeom prst="rect">
            <a:avLst/>
          </a:prstGeom>
          <a:solidFill>
            <a:srgbClr val="FBF3EA"/>
          </a:solidFill>
          <a:ln w="3810">
            <a:solidFill>
              <a:srgbClr val="E9D9CB"/>
            </a:solidFill>
          </a:ln>
        </p:spPr>
        <p:txBody>
          <a:bodyPr wrap="square" lIns="508" tIns="762" rIns="762" bIns="508" rtlCol="0" anchor="ctr">
            <a:normAutofit/>
          </a:bodyPr>
          <a:lstStyle/>
          <a:p>
            <a:pPr marL="0" indent="0">
              <a:buNone/>
            </a:pPr>
            <a:r>
              <a:rPr lang="en-US" sz="670" dirty="0">
                <a:solidFill>
                  <a:srgbClr val="0A0B0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Co-sell; partners deliver deployment with SE support</a:t>
            </a:r>
            <a:endParaRPr lang="en-US" sz="670" dirty="0"/>
          </a:p>
        </p:txBody>
      </p:sp>
      <p:sp>
        <p:nvSpPr>
          <p:cNvPr id="31" name="Text 28"/>
          <p:cNvSpPr/>
          <p:nvPr/>
        </p:nvSpPr>
        <p:spPr>
          <a:xfrm>
            <a:off x="6647688" y="3054096"/>
            <a:ext cx="2651760" cy="365760"/>
          </a:xfrm>
          <a:prstGeom prst="rect">
            <a:avLst/>
          </a:prstGeom>
          <a:solidFill>
            <a:srgbClr val="FBF3EA"/>
          </a:solidFill>
          <a:ln w="3810">
            <a:solidFill>
              <a:srgbClr val="E9D9CB"/>
            </a:solidFill>
          </a:ln>
        </p:spPr>
        <p:txBody>
          <a:bodyPr wrap="square" lIns="508" tIns="762" rIns="762" bIns="508" rtlCol="0" anchor="ctr">
            <a:normAutofit/>
          </a:bodyPr>
          <a:lstStyle/>
          <a:p>
            <a:pPr marL="0" indent="0">
              <a:buNone/>
            </a:pPr>
            <a:r>
              <a:rPr lang="en-US" sz="670" dirty="0">
                <a:solidFill>
                  <a:srgbClr val="0A0B0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Use when delivery capacity decides</a:t>
            </a:r>
            <a:endParaRPr lang="en-US" sz="670" dirty="0"/>
          </a:p>
        </p:txBody>
      </p:sp>
      <p:sp>
        <p:nvSpPr>
          <p:cNvPr id="32" name="Text 29"/>
          <p:cNvSpPr/>
          <p:nvPr/>
        </p:nvSpPr>
        <p:spPr>
          <a:xfrm>
            <a:off x="530352" y="3703320"/>
            <a:ext cx="27432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550" b="1" dirty="0">
                <a:solidFill>
                  <a:srgbClr val="FF3D0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COMMON COMMERCIAL SPINE</a:t>
            </a:r>
            <a:endParaRPr lang="en-US" sz="550" dirty="0"/>
          </a:p>
        </p:txBody>
      </p:sp>
      <p:sp>
        <p:nvSpPr>
          <p:cNvPr id="48" name="Text 45"/>
          <p:cNvSpPr/>
          <p:nvPr/>
        </p:nvSpPr>
        <p:spPr>
          <a:xfrm>
            <a:off x="530352" y="5340096"/>
            <a:ext cx="10789920" cy="420624"/>
          </a:xfrm>
          <a:prstGeom prst="rect">
            <a:avLst/>
          </a:prstGeom>
          <a:solidFill>
            <a:srgbClr val="0A0B0D"/>
          </a:solidFill>
          <a:ln>
            <a:solidFill>
              <a:srgbClr val="0A0B0D">
                <a:alpha val="0"/>
              </a:srgbClr>
            </a:solidFill>
          </a:ln>
        </p:spPr>
        <p:txBody>
          <a:bodyPr wrap="square" lIns="18288" tIns="18288" rIns="18288" bIns="18288" rtlCol="0" anchor="ctr">
            <a:norm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580" b="1">
                <a:solidFill>
                  <a:srgbClr val="FFFFFF"/>
                </a:solidFill>
                <a:latin typeface="Aptos"/>
              </a:rPr>
              <a:t>GATE RULE  No qualified opportunity without active workspace + first workflow; no POV without signed scope; no contract without met POV criteria; no expansion without a production workload running.</a:t>
            </a:r>
            <a:endParaRPr lang="en-US" sz="640" dirty="0"/>
          </a:p>
        </p:txBody>
      </p:sp>
      <p:sp>
        <p:nvSpPr>
          <p:cNvPr id="49" name="Rectangle 48"/>
          <p:cNvSpPr/>
          <p:nvPr/>
        </p:nvSpPr>
        <p:spPr>
          <a:xfrm>
            <a:off x="530352" y="3968496"/>
            <a:ext cx="1729740" cy="1115568"/>
          </a:xfrm>
          <a:prstGeom prst="rect">
            <a:avLst/>
          </a:prstGeom>
          <a:solidFill>
            <a:srgbClr val="FDF7EF"/>
          </a:solidFill>
          <a:ln w="6350">
            <a:solidFill>
              <a:srgbClr val="E9D9C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0" name="Rectangle 49"/>
          <p:cNvSpPr/>
          <p:nvPr/>
        </p:nvSpPr>
        <p:spPr>
          <a:xfrm>
            <a:off x="530352" y="3968496"/>
            <a:ext cx="1729740" cy="45720"/>
          </a:xfrm>
          <a:prstGeom prst="rect">
            <a:avLst/>
          </a:prstGeom>
          <a:solidFill>
            <a:srgbClr val="FF3D00"/>
          </a:solidFill>
          <a:ln>
            <a:solidFill>
              <a:srgbClr val="FF3D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1" name="TextBox 50"/>
          <p:cNvSpPr txBox="1"/>
          <p:nvPr/>
        </p:nvSpPr>
        <p:spPr>
          <a:xfrm>
            <a:off x="594359" y="4096511"/>
            <a:ext cx="1601724" cy="11887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540" b="1">
                <a:solidFill>
                  <a:srgbClr val="FF3D00"/>
                </a:solidFill>
                <a:latin typeface="Aptos"/>
              </a:rPr>
              <a:t>TRIAL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594359" y="4261104"/>
            <a:ext cx="1601724" cy="7680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00" b="0">
                <a:solidFill>
                  <a:srgbClr val="0A0B0D"/>
                </a:solidFill>
                <a:latin typeface="Aptos"/>
              </a:rPr>
              <a:t>Workspace active + first workflow run.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00" b="0">
                <a:solidFill>
                  <a:srgbClr val="0A0B0D"/>
                </a:solidFill>
                <a:latin typeface="Aptos"/>
              </a:rPr>
              <a:t>Product • Growth</a:t>
            </a:r>
          </a:p>
        </p:txBody>
      </p:sp>
      <p:sp>
        <p:nvSpPr>
          <p:cNvPr id="53" name="Rectangle 52"/>
          <p:cNvSpPr/>
          <p:nvPr/>
        </p:nvSpPr>
        <p:spPr>
          <a:xfrm>
            <a:off x="2342388" y="3968496"/>
            <a:ext cx="1729740" cy="1115568"/>
          </a:xfrm>
          <a:prstGeom prst="rect">
            <a:avLst/>
          </a:prstGeom>
          <a:solidFill>
            <a:srgbClr val="FDF7EF"/>
          </a:solidFill>
          <a:ln w="6350">
            <a:solidFill>
              <a:srgbClr val="E9D9C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4" name="Rectangle 53"/>
          <p:cNvSpPr/>
          <p:nvPr/>
        </p:nvSpPr>
        <p:spPr>
          <a:xfrm>
            <a:off x="2342388" y="3968496"/>
            <a:ext cx="1729740" cy="45720"/>
          </a:xfrm>
          <a:prstGeom prst="rect">
            <a:avLst/>
          </a:prstGeom>
          <a:solidFill>
            <a:srgbClr val="FF3D00"/>
          </a:solidFill>
          <a:ln>
            <a:solidFill>
              <a:srgbClr val="FF3D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5" name="TextBox 54"/>
          <p:cNvSpPr txBox="1"/>
          <p:nvPr/>
        </p:nvSpPr>
        <p:spPr>
          <a:xfrm>
            <a:off x="2406396" y="4096511"/>
            <a:ext cx="1601724" cy="11887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540" b="1">
                <a:solidFill>
                  <a:srgbClr val="FF3D00"/>
                </a:solidFill>
                <a:latin typeface="Aptos"/>
              </a:rPr>
              <a:t>QUALIFY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2406396" y="4261104"/>
            <a:ext cx="1601724" cy="7680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00" b="0">
                <a:solidFill>
                  <a:srgbClr val="0A0B0D"/>
                </a:solidFill>
                <a:latin typeface="Aptos"/>
              </a:rPr>
              <a:t>Use case, budget and deployment need confirmed.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00" b="0">
                <a:solidFill>
                  <a:srgbClr val="0A0B0D"/>
                </a:solidFill>
                <a:latin typeface="Aptos"/>
              </a:rPr>
              <a:t>Product • Growth • Sales</a:t>
            </a:r>
          </a:p>
        </p:txBody>
      </p:sp>
      <p:sp>
        <p:nvSpPr>
          <p:cNvPr id="57" name="Rectangle 56"/>
          <p:cNvSpPr/>
          <p:nvPr/>
        </p:nvSpPr>
        <p:spPr>
          <a:xfrm>
            <a:off x="4154424" y="3968496"/>
            <a:ext cx="1729740" cy="1115568"/>
          </a:xfrm>
          <a:prstGeom prst="rect">
            <a:avLst/>
          </a:prstGeom>
          <a:solidFill>
            <a:srgbClr val="FDF7EF"/>
          </a:solidFill>
          <a:ln w="6350">
            <a:solidFill>
              <a:srgbClr val="E9D9C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8" name="Rectangle 57"/>
          <p:cNvSpPr/>
          <p:nvPr/>
        </p:nvSpPr>
        <p:spPr>
          <a:xfrm>
            <a:off x="4154424" y="3968496"/>
            <a:ext cx="1729740" cy="45720"/>
          </a:xfrm>
          <a:prstGeom prst="rect">
            <a:avLst/>
          </a:prstGeom>
          <a:solidFill>
            <a:srgbClr val="FF3D00"/>
          </a:solidFill>
          <a:ln>
            <a:solidFill>
              <a:srgbClr val="FF3D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9" name="TextBox 58"/>
          <p:cNvSpPr txBox="1"/>
          <p:nvPr/>
        </p:nvSpPr>
        <p:spPr>
          <a:xfrm>
            <a:off x="4218432" y="4096511"/>
            <a:ext cx="1601724" cy="11887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540" b="1">
                <a:solidFill>
                  <a:srgbClr val="FF3D00"/>
                </a:solidFill>
                <a:latin typeface="Aptos"/>
              </a:rPr>
              <a:t>POV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4218432" y="4261104"/>
            <a:ext cx="1601724" cy="7680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00" b="0">
                <a:solidFill>
                  <a:srgbClr val="0A0B0D"/>
                </a:solidFill>
                <a:latin typeface="Aptos"/>
              </a:rPr>
              <a:t>Signed scope with success criteria, data access and dated exit.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00" b="0">
                <a:solidFill>
                  <a:srgbClr val="0A0B0D"/>
                </a:solidFill>
                <a:latin typeface="Aptos"/>
              </a:rPr>
              <a:t>Sales • SE • Product</a:t>
            </a:r>
          </a:p>
        </p:txBody>
      </p:sp>
      <p:sp>
        <p:nvSpPr>
          <p:cNvPr id="61" name="Rectangle 60"/>
          <p:cNvSpPr/>
          <p:nvPr/>
        </p:nvSpPr>
        <p:spPr>
          <a:xfrm>
            <a:off x="5966460" y="3968496"/>
            <a:ext cx="1729740" cy="1115568"/>
          </a:xfrm>
          <a:prstGeom prst="rect">
            <a:avLst/>
          </a:prstGeom>
          <a:solidFill>
            <a:srgbClr val="FDF7EF"/>
          </a:solidFill>
          <a:ln w="6350">
            <a:solidFill>
              <a:srgbClr val="E9D9C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2" name="Rectangle 61"/>
          <p:cNvSpPr/>
          <p:nvPr/>
        </p:nvSpPr>
        <p:spPr>
          <a:xfrm>
            <a:off x="5966460" y="3968496"/>
            <a:ext cx="1729740" cy="45720"/>
          </a:xfrm>
          <a:prstGeom prst="rect">
            <a:avLst/>
          </a:prstGeom>
          <a:solidFill>
            <a:srgbClr val="FF8B00"/>
          </a:solidFill>
          <a:ln>
            <a:solidFill>
              <a:srgbClr val="FF8B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3" name="TextBox 62"/>
          <p:cNvSpPr txBox="1"/>
          <p:nvPr/>
        </p:nvSpPr>
        <p:spPr>
          <a:xfrm>
            <a:off x="6030468" y="4096511"/>
            <a:ext cx="1601724" cy="11887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540" b="1">
                <a:solidFill>
                  <a:srgbClr val="FF8B00"/>
                </a:solidFill>
                <a:latin typeface="Aptos"/>
              </a:rPr>
              <a:t>CONTRACT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6030468" y="4261104"/>
            <a:ext cx="1601724" cy="7680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00" b="0">
                <a:solidFill>
                  <a:srgbClr val="0A0B0D"/>
                </a:solidFill>
                <a:latin typeface="Aptos"/>
              </a:rPr>
              <a:t>POV criteria met; pricing, terms and security cleared.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00" b="0">
                <a:solidFill>
                  <a:srgbClr val="0A0B0D"/>
                </a:solidFill>
                <a:latin typeface="Aptos"/>
              </a:rPr>
              <a:t>Sales • Finance • Legal</a:t>
            </a:r>
          </a:p>
        </p:txBody>
      </p:sp>
      <p:sp>
        <p:nvSpPr>
          <p:cNvPr id="65" name="Rectangle 64"/>
          <p:cNvSpPr/>
          <p:nvPr/>
        </p:nvSpPr>
        <p:spPr>
          <a:xfrm>
            <a:off x="7778496" y="3968496"/>
            <a:ext cx="1729740" cy="1115568"/>
          </a:xfrm>
          <a:prstGeom prst="rect">
            <a:avLst/>
          </a:prstGeom>
          <a:solidFill>
            <a:srgbClr val="FDF7EF"/>
          </a:solidFill>
          <a:ln w="6350">
            <a:solidFill>
              <a:srgbClr val="E9D9C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6" name="Rectangle 65"/>
          <p:cNvSpPr/>
          <p:nvPr/>
        </p:nvSpPr>
        <p:spPr>
          <a:xfrm>
            <a:off x="7778496" y="3968496"/>
            <a:ext cx="1729740" cy="45720"/>
          </a:xfrm>
          <a:prstGeom prst="rect">
            <a:avLst/>
          </a:prstGeom>
          <a:solidFill>
            <a:srgbClr val="FF8B00"/>
          </a:solidFill>
          <a:ln>
            <a:solidFill>
              <a:srgbClr val="FF8B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7" name="TextBox 66"/>
          <p:cNvSpPr txBox="1"/>
          <p:nvPr/>
        </p:nvSpPr>
        <p:spPr>
          <a:xfrm>
            <a:off x="7842504" y="4096511"/>
            <a:ext cx="1601724" cy="11887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540" b="1">
                <a:solidFill>
                  <a:srgbClr val="FF8B00"/>
                </a:solidFill>
                <a:latin typeface="Aptos"/>
              </a:rPr>
              <a:t>DEPLOY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7842504" y="4261104"/>
            <a:ext cx="1601724" cy="7680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00" b="0">
                <a:solidFill>
                  <a:srgbClr val="0A0B0D"/>
                </a:solidFill>
                <a:latin typeface="Aptos"/>
              </a:rPr>
              <a:t>Production workload live on agreed SLA and deployment path.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00" b="0">
                <a:solidFill>
                  <a:srgbClr val="0A0B0D"/>
                </a:solidFill>
                <a:latin typeface="Aptos"/>
              </a:rPr>
              <a:t>CS • SE • Product</a:t>
            </a:r>
          </a:p>
        </p:txBody>
      </p:sp>
      <p:sp>
        <p:nvSpPr>
          <p:cNvPr id="69" name="Rectangle 68"/>
          <p:cNvSpPr/>
          <p:nvPr/>
        </p:nvSpPr>
        <p:spPr>
          <a:xfrm>
            <a:off x="9590532" y="3968496"/>
            <a:ext cx="1729740" cy="1115568"/>
          </a:xfrm>
          <a:prstGeom prst="rect">
            <a:avLst/>
          </a:prstGeom>
          <a:solidFill>
            <a:srgbClr val="FDF7EF"/>
          </a:solidFill>
          <a:ln w="6350">
            <a:solidFill>
              <a:srgbClr val="E9D9C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0" name="Rectangle 69"/>
          <p:cNvSpPr/>
          <p:nvPr/>
        </p:nvSpPr>
        <p:spPr>
          <a:xfrm>
            <a:off x="9590532" y="3968496"/>
            <a:ext cx="1729740" cy="45720"/>
          </a:xfrm>
          <a:prstGeom prst="rect">
            <a:avLst/>
          </a:prstGeom>
          <a:solidFill>
            <a:srgbClr val="FF8B00"/>
          </a:solidFill>
          <a:ln>
            <a:solidFill>
              <a:srgbClr val="FF8B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1" name="TextBox 70"/>
          <p:cNvSpPr txBox="1"/>
          <p:nvPr/>
        </p:nvSpPr>
        <p:spPr>
          <a:xfrm>
            <a:off x="9654540" y="4096511"/>
            <a:ext cx="1601724" cy="11887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540" b="1">
                <a:solidFill>
                  <a:srgbClr val="FF8B00"/>
                </a:solidFill>
                <a:latin typeface="Aptos"/>
              </a:rPr>
              <a:t>EXPAND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9654540" y="4261104"/>
            <a:ext cx="1601724" cy="7680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00" b="0">
                <a:solidFill>
                  <a:srgbClr val="0A0B0D"/>
                </a:solidFill>
                <a:latin typeface="Aptos"/>
              </a:rPr>
              <a:t>Second use case + commit uplift tied to production proof.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00" b="0">
                <a:solidFill>
                  <a:srgbClr val="0A0B0D"/>
                </a:solidFill>
                <a:latin typeface="Aptos"/>
              </a:rPr>
              <a:t>CS • SE • Finance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EFE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75488" y="219456"/>
            <a:ext cx="71323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570" b="1" dirty="0">
                <a:solidFill>
                  <a:srgbClr val="FF3D0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B. PRICING  •  PACKAGING  •  COMMERCIAL TERMS</a:t>
            </a:r>
            <a:endParaRPr lang="en-US" sz="570" dirty="0"/>
          </a:p>
        </p:txBody>
      </p:sp>
      <p:sp>
        <p:nvSpPr>
          <p:cNvPr id="3" name="Text 1"/>
          <p:cNvSpPr/>
          <p:nvPr/>
        </p:nvSpPr>
        <p:spPr>
          <a:xfrm>
            <a:off x="475488" y="438912"/>
            <a:ext cx="103327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050" b="1" dirty="0">
                <a:solidFill>
                  <a:srgbClr val="0A0B0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Three tiers, one meter, one commercial rulebook</a:t>
            </a:r>
            <a:endParaRPr lang="en-US" sz="2050" dirty="0"/>
          </a:p>
        </p:txBody>
      </p:sp>
      <p:sp>
        <p:nvSpPr>
          <p:cNvPr id="4" name="Text 2"/>
          <p:cNvSpPr/>
          <p:nvPr/>
        </p:nvSpPr>
        <p:spPr>
          <a:xfrm>
            <a:off x="475488" y="832104"/>
            <a:ext cx="10515600" cy="182880"/>
          </a:xfrm>
          <a:prstGeom prst="rect">
            <a:avLst/>
          </a:prstGeom>
          <a:noFill/>
          <a:ln/>
        </p:spPr>
        <p:txBody>
          <a:bodyPr wrap="square" lIns="18288" tIns="18288" rIns="18288" bIns="18288" rtlCol="0" anchor="ctr">
            <a:norm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710" b="0">
                <a:solidFill>
                  <a:srgbClr val="6D625B"/>
                </a:solidFill>
                <a:latin typeface="Aptos"/>
              </a:rPr>
              <a:t>Entry is free or metered; commitment, deployment control and deal-specific economics define the paid tiers and contract mechanics.</a:t>
            </a:r>
            <a:endParaRPr lang="en-US" sz="710" dirty="0"/>
          </a:p>
        </p:txBody>
      </p:sp>
      <p:sp>
        <p:nvSpPr>
          <p:cNvPr id="5" name="Shape 3"/>
          <p:cNvSpPr/>
          <p:nvPr/>
        </p:nvSpPr>
        <p:spPr>
          <a:xfrm>
            <a:off x="475488" y="1088136"/>
            <a:ext cx="11018520" cy="0"/>
          </a:xfrm>
          <a:prstGeom prst="line">
            <a:avLst/>
          </a:prstGeom>
          <a:noFill/>
          <a:ln w="7620">
            <a:solidFill>
              <a:srgbClr val="FF3D00">
                <a:alpha val="8500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6" name="Image 0" descr="/mnt/data/pptx_extract/ppt/media/image-2-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640312" y="237744"/>
            <a:ext cx="109728" cy="109728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0" y="6647688"/>
            <a:ext cx="12192000" cy="210312"/>
          </a:xfrm>
          <a:prstGeom prst="rect">
            <a:avLst/>
          </a:prstGeom>
          <a:solidFill>
            <a:srgbClr val="0A0B0D"/>
          </a:solidFill>
          <a:ln w="12700">
            <a:solidFill>
              <a:srgbClr val="0A0B0D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8" name="Shape 5"/>
          <p:cNvSpPr/>
          <p:nvPr/>
        </p:nvSpPr>
        <p:spPr>
          <a:xfrm>
            <a:off x="438912" y="6428232"/>
            <a:ext cx="146304" cy="27432"/>
          </a:xfrm>
          <a:prstGeom prst="rect">
            <a:avLst/>
          </a:prstGeom>
          <a:solidFill>
            <a:srgbClr val="FF3D00"/>
          </a:solidFill>
          <a:ln w="12700">
            <a:solidFill>
              <a:srgbClr val="FF3D00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9" name="Text 6"/>
          <p:cNvSpPr/>
          <p:nvPr/>
        </p:nvSpPr>
        <p:spPr>
          <a:xfrm>
            <a:off x="621792" y="6373368"/>
            <a:ext cx="384048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90" dirty="0">
                <a:solidFill>
                  <a:srgbClr val="6D625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Mistral Studio  •  Launch &amp; commercialization plan</a:t>
            </a:r>
            <a:endParaRPr lang="en-US" sz="490" dirty="0"/>
          </a:p>
        </p:txBody>
      </p:sp>
      <p:sp>
        <p:nvSpPr>
          <p:cNvPr id="10" name="Text 7"/>
          <p:cNvSpPr/>
          <p:nvPr/>
        </p:nvSpPr>
        <p:spPr>
          <a:xfrm>
            <a:off x="11612880" y="6327648"/>
            <a:ext cx="2286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520" b="1" dirty="0">
                <a:solidFill>
                  <a:srgbClr val="0A0B0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04</a:t>
            </a:r>
            <a:endParaRPr lang="en-US" sz="520" dirty="0"/>
          </a:p>
        </p:txBody>
      </p:sp>
      <p:sp>
        <p:nvSpPr>
          <p:cNvPr id="11" name="Text 8"/>
          <p:cNvSpPr/>
          <p:nvPr/>
        </p:nvSpPr>
        <p:spPr>
          <a:xfrm>
            <a:off x="530352" y="1216152"/>
            <a:ext cx="237744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550" b="1" dirty="0">
                <a:solidFill>
                  <a:srgbClr val="FF3D0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ENTRY + USAGE RATES</a:t>
            </a:r>
            <a:endParaRPr lang="en-US" sz="550" dirty="0"/>
          </a:p>
        </p:txBody>
      </p:sp>
      <p:sp>
        <p:nvSpPr>
          <p:cNvPr id="12" name="Text 9"/>
          <p:cNvSpPr/>
          <p:nvPr/>
        </p:nvSpPr>
        <p:spPr>
          <a:xfrm>
            <a:off x="603504" y="1645920"/>
            <a:ext cx="3319272" cy="182880"/>
          </a:xfrm>
          <a:prstGeom prst="rect">
            <a:avLst/>
          </a:prstGeom>
          <a:solidFill>
            <a:srgbClr val="FDF7EF"/>
          </a:solidFill>
          <a:ln>
            <a:solidFill>
              <a:srgbClr val="FDF7EF">
                <a:alpha val="0"/>
              </a:srgbClr>
            </a:solidFill>
          </a:ln>
        </p:spPr>
        <p:txBody>
          <a:bodyPr wrap="square" lIns="0" tIns="254" rIns="254" bIns="254" rtlCol="0" anchor="t">
            <a:normAutofit/>
          </a:bodyPr>
          <a:lstStyle/>
          <a:p>
            <a:pPr marL="0" indent="0">
              <a:buNone/>
            </a:pPr>
            <a:r>
              <a:rPr lang="en-US" sz="660" dirty="0">
                <a:solidFill>
                  <a:srgbClr val="0A0B0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$1.50 in • $7.50 out per 1M tokens</a:t>
            </a:r>
            <a:endParaRPr lang="en-US" sz="660" dirty="0"/>
          </a:p>
        </p:txBody>
      </p:sp>
      <p:sp>
        <p:nvSpPr>
          <p:cNvPr id="13" name="Shape 10"/>
          <p:cNvSpPr/>
          <p:nvPr/>
        </p:nvSpPr>
        <p:spPr>
          <a:xfrm>
            <a:off x="530352" y="1417320"/>
            <a:ext cx="32004" cy="438912"/>
          </a:xfrm>
          <a:prstGeom prst="rect">
            <a:avLst/>
          </a:prstGeom>
          <a:solidFill>
            <a:srgbClr val="FF3D00"/>
          </a:solidFill>
          <a:ln w="12700">
            <a:solidFill>
              <a:srgbClr val="FF3D00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4" name="Text 11"/>
          <p:cNvSpPr/>
          <p:nvPr/>
        </p:nvSpPr>
        <p:spPr>
          <a:xfrm>
            <a:off x="621792" y="1481328"/>
            <a:ext cx="32461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540" b="1" dirty="0">
                <a:solidFill>
                  <a:srgbClr val="FF3D0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MISTRAL MEDIUM 3.5</a:t>
            </a:r>
            <a:endParaRPr lang="en-US" sz="540" dirty="0"/>
          </a:p>
        </p:txBody>
      </p:sp>
      <p:sp>
        <p:nvSpPr>
          <p:cNvPr id="15" name="Text 12"/>
          <p:cNvSpPr/>
          <p:nvPr/>
        </p:nvSpPr>
        <p:spPr>
          <a:xfrm>
            <a:off x="4206240" y="1645920"/>
            <a:ext cx="3319272" cy="182880"/>
          </a:xfrm>
          <a:prstGeom prst="rect">
            <a:avLst/>
          </a:prstGeom>
          <a:solidFill>
            <a:srgbClr val="FDF7EF"/>
          </a:solidFill>
          <a:ln>
            <a:solidFill>
              <a:srgbClr val="FDF7EF">
                <a:alpha val="0"/>
              </a:srgbClr>
            </a:solidFill>
          </a:ln>
        </p:spPr>
        <p:txBody>
          <a:bodyPr wrap="square" lIns="0" tIns="254" rIns="254" bIns="254" rtlCol="0" anchor="t">
            <a:normAutofit/>
          </a:bodyPr>
          <a:lstStyle/>
          <a:p>
            <a:pPr marL="0" indent="0">
              <a:buNone/>
            </a:pPr>
            <a:r>
              <a:rPr lang="en-US" sz="660" dirty="0">
                <a:solidFill>
                  <a:srgbClr val="0A0B0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From $0.15 in • $0.60 out per 1M tokens</a:t>
            </a:r>
            <a:endParaRPr lang="en-US" sz="660" dirty="0"/>
          </a:p>
        </p:txBody>
      </p:sp>
      <p:sp>
        <p:nvSpPr>
          <p:cNvPr id="16" name="Shape 13"/>
          <p:cNvSpPr/>
          <p:nvPr/>
        </p:nvSpPr>
        <p:spPr>
          <a:xfrm>
            <a:off x="4133088" y="1417320"/>
            <a:ext cx="32004" cy="438912"/>
          </a:xfrm>
          <a:prstGeom prst="rect">
            <a:avLst/>
          </a:prstGeom>
          <a:solidFill>
            <a:srgbClr val="FF8B00"/>
          </a:solidFill>
          <a:ln w="12700">
            <a:solidFill>
              <a:srgbClr val="FF8B00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7" name="Text 14"/>
          <p:cNvSpPr/>
          <p:nvPr/>
        </p:nvSpPr>
        <p:spPr>
          <a:xfrm>
            <a:off x="4224528" y="1481328"/>
            <a:ext cx="32461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540" b="1" dirty="0">
                <a:solidFill>
                  <a:srgbClr val="FF8B0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MISTRAL SMALL 4</a:t>
            </a:r>
            <a:endParaRPr lang="en-US" sz="540" dirty="0"/>
          </a:p>
        </p:txBody>
      </p:sp>
      <p:sp>
        <p:nvSpPr>
          <p:cNvPr id="18" name="Text 15"/>
          <p:cNvSpPr/>
          <p:nvPr/>
        </p:nvSpPr>
        <p:spPr>
          <a:xfrm>
            <a:off x="7808976" y="1645920"/>
            <a:ext cx="3319272" cy="182880"/>
          </a:xfrm>
          <a:prstGeom prst="rect">
            <a:avLst/>
          </a:prstGeom>
          <a:solidFill>
            <a:srgbClr val="FDF7EF"/>
          </a:solidFill>
          <a:ln>
            <a:solidFill>
              <a:srgbClr val="FDF7EF">
                <a:alpha val="0"/>
              </a:srgbClr>
            </a:solidFill>
          </a:ln>
        </p:spPr>
        <p:txBody>
          <a:bodyPr wrap="square" lIns="0" tIns="254" rIns="254" bIns="254" rtlCol="0" anchor="t">
            <a:normAutofit/>
          </a:bodyPr>
          <a:lstStyle/>
          <a:p>
            <a:pPr marL="0" indent="0">
              <a:buNone/>
            </a:pPr>
            <a:r>
              <a:rPr lang="en-US" sz="660" dirty="0">
                <a:solidFill>
                  <a:srgbClr val="0A0B0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Workspace credits; 30-day POV credits for qualified enterprise</a:t>
            </a:r>
            <a:endParaRPr lang="en-US" sz="660" dirty="0"/>
          </a:p>
        </p:txBody>
      </p:sp>
      <p:sp>
        <p:nvSpPr>
          <p:cNvPr id="19" name="Shape 16"/>
          <p:cNvSpPr/>
          <p:nvPr/>
        </p:nvSpPr>
        <p:spPr>
          <a:xfrm>
            <a:off x="7735824" y="1417320"/>
            <a:ext cx="32004" cy="438912"/>
          </a:xfrm>
          <a:prstGeom prst="rect">
            <a:avLst/>
          </a:prstGeom>
          <a:solidFill>
            <a:srgbClr val="FF3D00"/>
          </a:solidFill>
          <a:ln w="12700">
            <a:solidFill>
              <a:srgbClr val="FF3D00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0" name="Text 17"/>
          <p:cNvSpPr/>
          <p:nvPr/>
        </p:nvSpPr>
        <p:spPr>
          <a:xfrm>
            <a:off x="7827264" y="1481328"/>
            <a:ext cx="32461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540" b="1" dirty="0">
                <a:solidFill>
                  <a:srgbClr val="FF3D0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FREE TIER + TRIAL</a:t>
            </a:r>
            <a:endParaRPr lang="en-US" sz="540" dirty="0"/>
          </a:p>
        </p:txBody>
      </p:sp>
      <p:sp>
        <p:nvSpPr>
          <p:cNvPr id="21" name="Text 18"/>
          <p:cNvSpPr/>
          <p:nvPr/>
        </p:nvSpPr>
        <p:spPr>
          <a:xfrm>
            <a:off x="530352" y="2029968"/>
            <a:ext cx="292608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550" b="1" dirty="0">
                <a:solidFill>
                  <a:srgbClr val="FF3D0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PACKAGING TIERS AND SKU MECHANICS</a:t>
            </a:r>
            <a:endParaRPr lang="en-US" sz="550" dirty="0"/>
          </a:p>
        </p:txBody>
      </p:sp>
      <p:sp>
        <p:nvSpPr>
          <p:cNvPr id="22" name="Text 19"/>
          <p:cNvSpPr/>
          <p:nvPr/>
        </p:nvSpPr>
        <p:spPr>
          <a:xfrm>
            <a:off x="530352" y="2350008"/>
            <a:ext cx="3429000" cy="2240280"/>
          </a:xfrm>
          <a:prstGeom prst="rect">
            <a:avLst/>
          </a:prstGeom>
          <a:solidFill>
            <a:srgbClr val="FDF7EF"/>
          </a:solidFill>
          <a:ln w="6350">
            <a:solidFill>
              <a:srgbClr val="E9D9CB"/>
            </a:solidFill>
          </a:ln>
        </p:spPr>
        <p:txBody>
          <a:bodyPr wrap="square" lIns="1397" tIns="1778" rIns="1778" bIns="1016" rtlCol="0" anchor="t">
            <a:normAutofit/>
          </a:bodyPr>
          <a:lstStyle/>
          <a:p>
            <a:pPr marL="0" indent="0">
              <a:buNone/>
            </a:pPr>
            <a:r>
              <a:rPr lang="en-US" sz="750" dirty="0">
                <a:solidFill>
                  <a:srgbClr val="0A0B0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SERVERLESS</a:t>
            </a:r>
            <a:endParaRPr lang="en-US" sz="750" dirty="0"/>
          </a:p>
          <a:p>
            <a:pPr marL="0" indent="0">
              <a:buNone/>
            </a:pPr>
            <a:r>
              <a:rPr lang="en-US" sz="750" dirty="0">
                <a:solidFill>
                  <a:srgbClr val="0A0B0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Pay as you go</a:t>
            </a:r>
            <a:endParaRPr lang="en-US" sz="750" dirty="0"/>
          </a:p>
          <a:p>
            <a:pPr marL="0" indent="0">
              <a:buNone/>
            </a:pPr>
            <a:endParaRPr lang="en-US" sz="750" dirty="0"/>
          </a:p>
          <a:p>
            <a:pPr marL="0" indent="0">
              <a:buNone/>
            </a:pPr>
            <a:r>
              <a:rPr lang="en-US" sz="750" dirty="0">
                <a:solidFill>
                  <a:srgbClr val="0A0B0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Self-serve workspace and API; no commitment; card or invoice.</a:t>
            </a:r>
            <a:endParaRPr lang="en-US" sz="750" dirty="0"/>
          </a:p>
          <a:p>
            <a:pPr marL="0" indent="0">
              <a:buNone/>
            </a:pPr>
            <a:endParaRPr lang="en-US" sz="750" dirty="0"/>
          </a:p>
          <a:p>
            <a:pPr marL="0" indent="0">
              <a:buNone/>
            </a:pPr>
            <a:r>
              <a:rPr lang="en-US" sz="750" dirty="0">
                <a:solidFill>
                  <a:srgbClr val="0A0B0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Serverless usage SKU</a:t>
            </a:r>
            <a:endParaRPr lang="en-US" sz="750" dirty="0"/>
          </a:p>
          <a:p>
            <a:pPr marL="0" indent="0">
              <a:buNone/>
            </a:pPr>
            <a:r>
              <a:rPr lang="en-US" sz="750" dirty="0">
                <a:solidFill>
                  <a:srgbClr val="0A0B0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Metered tokens and pages; no minimum; monthly invoice.</a:t>
            </a:r>
            <a:endParaRPr lang="en-US" sz="750" dirty="0"/>
          </a:p>
          <a:p>
            <a:pPr marL="0" indent="0">
              <a:buNone/>
            </a:pPr>
            <a:endParaRPr lang="en-US" sz="750" dirty="0"/>
          </a:p>
          <a:p>
            <a:pPr marL="0" indent="0">
              <a:buNone/>
            </a:pPr>
            <a:r>
              <a:rPr lang="en-US" sz="750" dirty="0">
                <a:solidFill>
                  <a:srgbClr val="0A0B0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Upgrade when committed spend justifies dedicated capacity.</a:t>
            </a:r>
            <a:endParaRPr lang="en-US" sz="750" dirty="0"/>
          </a:p>
        </p:txBody>
      </p:sp>
      <p:sp>
        <p:nvSpPr>
          <p:cNvPr id="23" name="Shape 20"/>
          <p:cNvSpPr/>
          <p:nvPr/>
        </p:nvSpPr>
        <p:spPr>
          <a:xfrm>
            <a:off x="530352" y="2258568"/>
            <a:ext cx="3429000" cy="64008"/>
          </a:xfrm>
          <a:prstGeom prst="rect">
            <a:avLst/>
          </a:prstGeom>
          <a:solidFill>
            <a:srgbClr val="FF3D00"/>
          </a:solidFill>
          <a:ln w="12700">
            <a:solidFill>
              <a:srgbClr val="FF3D00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4" name="Text 21"/>
          <p:cNvSpPr/>
          <p:nvPr/>
        </p:nvSpPr>
        <p:spPr>
          <a:xfrm>
            <a:off x="4133088" y="2350008"/>
            <a:ext cx="3429000" cy="2240280"/>
          </a:xfrm>
          <a:prstGeom prst="rect">
            <a:avLst/>
          </a:prstGeom>
          <a:solidFill>
            <a:srgbClr val="FDF7EF"/>
          </a:solidFill>
          <a:ln w="6350">
            <a:solidFill>
              <a:srgbClr val="E9D9CB"/>
            </a:solidFill>
          </a:ln>
        </p:spPr>
        <p:txBody>
          <a:bodyPr wrap="square" lIns="1397" tIns="1778" rIns="1778" bIns="1016" rtlCol="0" anchor="t">
            <a:normAutofit/>
          </a:bodyPr>
          <a:lstStyle/>
          <a:p>
            <a:pPr marL="0" indent="0">
              <a:buNone/>
            </a:pPr>
            <a:r>
              <a:rPr lang="en-US" sz="750" dirty="0">
                <a:solidFill>
                  <a:srgbClr val="0A0B0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DEDICATED</a:t>
            </a:r>
            <a:endParaRPr lang="en-US" sz="750" dirty="0"/>
          </a:p>
          <a:p>
            <a:pPr marL="0" indent="0">
              <a:buNone/>
            </a:pPr>
            <a:r>
              <a:rPr lang="en-US" sz="750" dirty="0">
                <a:solidFill>
                  <a:srgbClr val="0A0B0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Committed capacity</a:t>
            </a:r>
            <a:endParaRPr lang="en-US" sz="750" dirty="0"/>
          </a:p>
          <a:p>
            <a:pPr marL="0" indent="0">
              <a:buNone/>
            </a:pPr>
            <a:endParaRPr lang="en-US" sz="750" dirty="0"/>
          </a:p>
          <a:p>
            <a:pPr marL="0" indent="0">
              <a:buNone/>
            </a:pPr>
            <a:r>
              <a:rPr lang="en-US" sz="750" dirty="0">
                <a:solidFill>
                  <a:srgbClr val="0A0B0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Reserved throughput; in-region inference; annual commitment with drawdown.</a:t>
            </a:r>
            <a:endParaRPr lang="en-US" sz="750" dirty="0"/>
          </a:p>
          <a:p>
            <a:pPr marL="0" indent="0">
              <a:buNone/>
            </a:pPr>
            <a:endParaRPr lang="en-US" sz="750" dirty="0"/>
          </a:p>
          <a:p>
            <a:pPr marL="0" indent="0">
              <a:buNone/>
            </a:pPr>
            <a:r>
              <a:rPr lang="en-US" sz="750" dirty="0">
                <a:solidFill>
                  <a:srgbClr val="0A0B0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Dedicated capacity SKU</a:t>
            </a:r>
            <a:endParaRPr lang="en-US" sz="750" dirty="0"/>
          </a:p>
          <a:p>
            <a:pPr marL="0" indent="0">
              <a:buNone/>
            </a:pPr>
            <a:r>
              <a:rPr lang="en-US" sz="750" dirty="0">
                <a:solidFill>
                  <a:srgbClr val="0A0B0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Reserved throughput units; 12–36 month committed spend; overage at list.</a:t>
            </a:r>
            <a:endParaRPr lang="en-US" sz="750" dirty="0"/>
          </a:p>
          <a:p>
            <a:pPr marL="0" indent="0">
              <a:buNone/>
            </a:pPr>
            <a:endParaRPr lang="en-US" sz="750" dirty="0"/>
          </a:p>
          <a:p>
            <a:pPr marL="0" indent="0">
              <a:buNone/>
            </a:pPr>
            <a:r>
              <a:rPr lang="en-US" sz="750" dirty="0">
                <a:solidFill>
                  <a:srgbClr val="0A0B0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Discounts tiered by commitment and term; beyond band needs Finance + CRO.</a:t>
            </a:r>
            <a:endParaRPr lang="en-US" sz="750" dirty="0"/>
          </a:p>
        </p:txBody>
      </p:sp>
      <p:sp>
        <p:nvSpPr>
          <p:cNvPr id="25" name="Shape 22"/>
          <p:cNvSpPr/>
          <p:nvPr/>
        </p:nvSpPr>
        <p:spPr>
          <a:xfrm>
            <a:off x="4133088" y="2258568"/>
            <a:ext cx="3429000" cy="64008"/>
          </a:xfrm>
          <a:prstGeom prst="rect">
            <a:avLst/>
          </a:prstGeom>
          <a:solidFill>
            <a:srgbClr val="FF8B00"/>
          </a:solidFill>
          <a:ln w="12700">
            <a:solidFill>
              <a:srgbClr val="FF8B00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6" name="Text 23"/>
          <p:cNvSpPr/>
          <p:nvPr/>
        </p:nvSpPr>
        <p:spPr>
          <a:xfrm>
            <a:off x="7735824" y="2350008"/>
            <a:ext cx="3429000" cy="2240280"/>
          </a:xfrm>
          <a:prstGeom prst="rect">
            <a:avLst/>
          </a:prstGeom>
          <a:solidFill>
            <a:srgbClr val="FDF7EF"/>
          </a:solidFill>
          <a:ln w="6350">
            <a:solidFill>
              <a:srgbClr val="E9D9CB"/>
            </a:solidFill>
          </a:ln>
        </p:spPr>
        <p:txBody>
          <a:bodyPr wrap="square" lIns="1397" tIns="1778" rIns="1778" bIns="1016" rtlCol="0" anchor="t">
            <a:normAutofit/>
          </a:bodyPr>
          <a:lstStyle/>
          <a:p>
            <a:pPr marL="0" indent="0">
              <a:buNone/>
            </a:pPr>
            <a:r>
              <a:rPr lang="en-US" sz="750" dirty="0">
                <a:solidFill>
                  <a:srgbClr val="0A0B0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SELF-HOSTED</a:t>
            </a:r>
            <a:endParaRPr lang="en-US" sz="750" dirty="0"/>
          </a:p>
          <a:p>
            <a:pPr marL="0" indent="0">
              <a:buNone/>
            </a:pPr>
            <a:r>
              <a:rPr lang="en-US" sz="750" dirty="0">
                <a:solidFill>
                  <a:srgbClr val="0A0B0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Enterprise Suite</a:t>
            </a:r>
            <a:endParaRPr lang="en-US" sz="750" dirty="0"/>
          </a:p>
          <a:p>
            <a:pPr marL="0" indent="0">
              <a:buNone/>
            </a:pPr>
            <a:endParaRPr lang="en-US" sz="750" dirty="0"/>
          </a:p>
          <a:p>
            <a:pPr marL="0" indent="0">
              <a:buNone/>
            </a:pPr>
            <a:r>
              <a:rPr lang="en-US" sz="750" dirty="0">
                <a:solidFill>
                  <a:srgbClr val="0A0B0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Customer VPC or on-prem; licensed per environment; private offer via marketplaces.</a:t>
            </a:r>
            <a:endParaRPr lang="en-US" sz="750" dirty="0"/>
          </a:p>
          <a:p>
            <a:pPr marL="0" indent="0">
              <a:buNone/>
            </a:pPr>
            <a:endParaRPr lang="en-US" sz="750" dirty="0"/>
          </a:p>
          <a:p>
            <a:pPr marL="0" indent="0">
              <a:buNone/>
            </a:pPr>
            <a:r>
              <a:rPr lang="en-US" sz="750" dirty="0">
                <a:solidFill>
                  <a:srgbClr val="0A0B0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Self-hosted suite SKU</a:t>
            </a:r>
            <a:endParaRPr lang="en-US" sz="750" dirty="0"/>
          </a:p>
          <a:p>
            <a:pPr marL="0" indent="0">
              <a:buNone/>
            </a:pPr>
            <a:r>
              <a:rPr lang="en-US" sz="750" dirty="0">
                <a:solidFill>
                  <a:srgbClr val="0A0B0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Per-environment license plus support subscription.</a:t>
            </a:r>
            <a:endParaRPr lang="en-US" sz="750" dirty="0"/>
          </a:p>
          <a:p>
            <a:pPr marL="0" indent="0">
              <a:buNone/>
            </a:pPr>
            <a:endParaRPr lang="en-US" sz="750" dirty="0"/>
          </a:p>
          <a:p>
            <a:pPr marL="0" indent="0">
              <a:buNone/>
            </a:pPr>
            <a:r>
              <a:rPr lang="en-US" sz="750" dirty="0">
                <a:solidFill>
                  <a:srgbClr val="0A0B0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Private offers retire AWS, Azure or GCP cloud commitment.</a:t>
            </a:r>
            <a:endParaRPr lang="en-US" sz="750" dirty="0"/>
          </a:p>
        </p:txBody>
      </p:sp>
      <p:sp>
        <p:nvSpPr>
          <p:cNvPr id="27" name="Shape 24"/>
          <p:cNvSpPr/>
          <p:nvPr/>
        </p:nvSpPr>
        <p:spPr>
          <a:xfrm>
            <a:off x="7735824" y="2258568"/>
            <a:ext cx="3429000" cy="64008"/>
          </a:xfrm>
          <a:prstGeom prst="rect">
            <a:avLst/>
          </a:prstGeom>
          <a:solidFill>
            <a:srgbClr val="FF3D00"/>
          </a:solidFill>
          <a:ln w="12700">
            <a:solidFill>
              <a:srgbClr val="FF3D00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8" name="Text 25"/>
          <p:cNvSpPr/>
          <p:nvPr/>
        </p:nvSpPr>
        <p:spPr>
          <a:xfrm>
            <a:off x="530352" y="4773168"/>
            <a:ext cx="347472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550" b="1" dirty="0">
                <a:solidFill>
                  <a:srgbClr val="FF3D0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ADD-ONS AND COMMERCIAL APPROVAL POINTS</a:t>
            </a:r>
            <a:endParaRPr lang="en-US" sz="550" dirty="0"/>
          </a:p>
        </p:txBody>
      </p:sp>
      <p:sp>
        <p:nvSpPr>
          <p:cNvPr id="29" name="Text 26"/>
          <p:cNvSpPr/>
          <p:nvPr/>
        </p:nvSpPr>
        <p:spPr>
          <a:xfrm>
            <a:off x="603504" y="5221224"/>
            <a:ext cx="3319272" cy="274320"/>
          </a:xfrm>
          <a:prstGeom prst="rect">
            <a:avLst/>
          </a:prstGeom>
          <a:solidFill>
            <a:srgbClr val="FDF7EF"/>
          </a:solidFill>
          <a:ln>
            <a:solidFill>
              <a:srgbClr val="FDF7EF">
                <a:alpha val="0"/>
              </a:srgbClr>
            </a:solidFill>
          </a:ln>
        </p:spPr>
        <p:txBody>
          <a:bodyPr wrap="square" lIns="0" tIns="254" rIns="254" bIns="254" rtlCol="0" anchor="t">
            <a:normAutofit/>
          </a:bodyPr>
          <a:lstStyle/>
          <a:p>
            <a:pPr marL="0" indent="0">
              <a:buNone/>
            </a:pPr>
            <a:r>
              <a:rPr lang="en-US" sz="660" dirty="0">
                <a:solidFill>
                  <a:srgbClr val="0A0B0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Premium support • Document AI volume • extended retention</a:t>
            </a:r>
            <a:endParaRPr lang="en-US" sz="660" dirty="0"/>
          </a:p>
        </p:txBody>
      </p:sp>
      <p:sp>
        <p:nvSpPr>
          <p:cNvPr id="30" name="Shape 27"/>
          <p:cNvSpPr/>
          <p:nvPr/>
        </p:nvSpPr>
        <p:spPr>
          <a:xfrm>
            <a:off x="530352" y="4992624"/>
            <a:ext cx="32004" cy="530352"/>
          </a:xfrm>
          <a:prstGeom prst="rect">
            <a:avLst/>
          </a:prstGeom>
          <a:solidFill>
            <a:srgbClr val="FF3D00"/>
          </a:solidFill>
          <a:ln w="12700">
            <a:solidFill>
              <a:srgbClr val="FF3D00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1" name="Text 28"/>
          <p:cNvSpPr/>
          <p:nvPr/>
        </p:nvSpPr>
        <p:spPr>
          <a:xfrm>
            <a:off x="621792" y="5056632"/>
            <a:ext cx="32461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540" b="1" dirty="0">
                <a:solidFill>
                  <a:srgbClr val="FF3D0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ADD-ON SKUS</a:t>
            </a:r>
            <a:endParaRPr lang="en-US" sz="540" dirty="0"/>
          </a:p>
        </p:txBody>
      </p:sp>
      <p:sp>
        <p:nvSpPr>
          <p:cNvPr id="32" name="Text 29"/>
          <p:cNvSpPr/>
          <p:nvPr/>
        </p:nvSpPr>
        <p:spPr>
          <a:xfrm>
            <a:off x="4206240" y="5221224"/>
            <a:ext cx="3319272" cy="274320"/>
          </a:xfrm>
          <a:prstGeom prst="rect">
            <a:avLst/>
          </a:prstGeom>
          <a:solidFill>
            <a:srgbClr val="FDF7EF"/>
          </a:solidFill>
          <a:ln>
            <a:solidFill>
              <a:srgbClr val="FDF7EF">
                <a:alpha val="0"/>
              </a:srgbClr>
            </a:solidFill>
          </a:ln>
        </p:spPr>
        <p:txBody>
          <a:bodyPr wrap="square" lIns="18288" tIns="18288" rIns="18288" bIns="18288" rtlCol="0" anchor="t">
            <a:norm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610" b="0">
                <a:solidFill>
                  <a:srgbClr val="0A0B0D"/>
                </a:solidFill>
                <a:latin typeface="Aptos"/>
              </a:rPr>
              <a:t>Upgrade path: Serverless -&gt; Dedicated on committed spend; Dedicated -&gt; Self-hosted on control or sovereignty need.</a:t>
            </a:r>
            <a:endParaRPr lang="en-US" sz="660" dirty="0"/>
          </a:p>
        </p:txBody>
      </p:sp>
      <p:sp>
        <p:nvSpPr>
          <p:cNvPr id="33" name="Shape 30"/>
          <p:cNvSpPr/>
          <p:nvPr/>
        </p:nvSpPr>
        <p:spPr>
          <a:xfrm>
            <a:off x="4133088" y="4992624"/>
            <a:ext cx="32004" cy="530352"/>
          </a:xfrm>
          <a:prstGeom prst="rect">
            <a:avLst/>
          </a:prstGeom>
          <a:solidFill>
            <a:srgbClr val="FF8B00"/>
          </a:solidFill>
          <a:ln w="12700">
            <a:solidFill>
              <a:srgbClr val="FF8B00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4" name="Text 31"/>
          <p:cNvSpPr/>
          <p:nvPr/>
        </p:nvSpPr>
        <p:spPr>
          <a:xfrm>
            <a:off x="4224528" y="5056632"/>
            <a:ext cx="32461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540" b="1" dirty="0">
                <a:solidFill>
                  <a:srgbClr val="FF8B0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CONTROL PRINCIPLE</a:t>
            </a:r>
            <a:endParaRPr lang="en-US" sz="540" dirty="0"/>
          </a:p>
        </p:txBody>
      </p:sp>
      <p:sp>
        <p:nvSpPr>
          <p:cNvPr id="35" name="Text 32"/>
          <p:cNvSpPr/>
          <p:nvPr/>
        </p:nvSpPr>
        <p:spPr>
          <a:xfrm>
            <a:off x="7808976" y="5221224"/>
            <a:ext cx="3319272" cy="274320"/>
          </a:xfrm>
          <a:prstGeom prst="rect">
            <a:avLst/>
          </a:prstGeom>
          <a:solidFill>
            <a:srgbClr val="FDF7EF"/>
          </a:solidFill>
          <a:ln>
            <a:solidFill>
              <a:srgbClr val="FDF7EF">
                <a:alpha val="0"/>
              </a:srgbClr>
            </a:solidFill>
          </a:ln>
        </p:spPr>
        <p:txBody>
          <a:bodyPr wrap="square" lIns="0" tIns="254" rIns="254" bIns="254" rtlCol="0" anchor="t">
            <a:normAutofit/>
          </a:bodyPr>
          <a:lstStyle/>
          <a:p>
            <a:pPr marL="0" indent="0">
              <a:buNone/>
            </a:pPr>
            <a:r>
              <a:rPr lang="en-US" sz="660" dirty="0">
                <a:solidFill>
                  <a:srgbClr val="0A0B0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Identity, residency and audit evidence must be ready for security review.</a:t>
            </a:r>
            <a:endParaRPr lang="en-US" sz="660" dirty="0"/>
          </a:p>
        </p:txBody>
      </p:sp>
      <p:sp>
        <p:nvSpPr>
          <p:cNvPr id="36" name="Shape 33"/>
          <p:cNvSpPr/>
          <p:nvPr/>
        </p:nvSpPr>
        <p:spPr>
          <a:xfrm>
            <a:off x="7735824" y="4992624"/>
            <a:ext cx="32004" cy="530352"/>
          </a:xfrm>
          <a:prstGeom prst="rect">
            <a:avLst/>
          </a:prstGeom>
          <a:solidFill>
            <a:srgbClr val="FF3D00"/>
          </a:solidFill>
          <a:ln w="12700">
            <a:solidFill>
              <a:srgbClr val="FF3D00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7" name="Text 34"/>
          <p:cNvSpPr/>
          <p:nvPr/>
        </p:nvSpPr>
        <p:spPr>
          <a:xfrm>
            <a:off x="7827264" y="5056632"/>
            <a:ext cx="32461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540" b="1" dirty="0">
                <a:solidFill>
                  <a:srgbClr val="FF3D0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ASSURANCE</a:t>
            </a:r>
            <a:endParaRPr lang="en-US" sz="540" dirty="0"/>
          </a:p>
        </p:txBody>
      </p:sp>
      <p:sp>
        <p:nvSpPr>
          <p:cNvPr id="38" name="Text 35"/>
          <p:cNvSpPr/>
          <p:nvPr/>
        </p:nvSpPr>
        <p:spPr>
          <a:xfrm>
            <a:off x="530352" y="5650992"/>
            <a:ext cx="10789920" cy="438912"/>
          </a:xfrm>
          <a:prstGeom prst="rect">
            <a:avLst/>
          </a:prstGeom>
          <a:solidFill>
            <a:srgbClr val="0A0B0D"/>
          </a:solidFill>
          <a:ln>
            <a:solidFill>
              <a:srgbClr val="0A0B0D">
                <a:alpha val="0"/>
              </a:srgbClr>
            </a:solidFill>
          </a:ln>
        </p:spPr>
        <p:txBody>
          <a:bodyPr wrap="square" lIns="18288" tIns="18288" rIns="18288" bIns="18288" rtlCol="0" anchor="ctr">
            <a:norm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570" b="1">
                <a:solidFill>
                  <a:srgbClr val="FFFFFF"/>
                </a:solidFill>
                <a:latin typeface="Aptos"/>
              </a:rPr>
              <a:t>COMMERCIAL RULEBOOK  Published rates are list price; Dedicated and Self-hosted are quoted per deal. One usage meter across routes; launch pricing, free-tier limits, discount bands and marketplace dates require final approval.</a:t>
            </a:r>
            <a:endParaRPr lang="en-US" sz="62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7EFE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75488" y="219456"/>
            <a:ext cx="71323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570" b="1" dirty="0">
                <a:solidFill>
                  <a:srgbClr val="FF3D0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C. LAUNCH READINESS  •  CRITICAL PATH  •  GATES</a:t>
            </a:r>
            <a:endParaRPr lang="en-US" sz="570" dirty="0"/>
          </a:p>
        </p:txBody>
      </p:sp>
      <p:sp>
        <p:nvSpPr>
          <p:cNvPr id="3" name="Text 1"/>
          <p:cNvSpPr/>
          <p:nvPr/>
        </p:nvSpPr>
        <p:spPr>
          <a:xfrm>
            <a:off x="475488" y="438912"/>
            <a:ext cx="103327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050" b="1" dirty="0">
                <a:solidFill>
                  <a:srgbClr val="0A0B0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One operational timeline, one gate checklist</a:t>
            </a:r>
            <a:endParaRPr lang="en-US" sz="2050" dirty="0"/>
          </a:p>
        </p:txBody>
      </p:sp>
      <p:sp>
        <p:nvSpPr>
          <p:cNvPr id="4" name="Text 2"/>
          <p:cNvSpPr/>
          <p:nvPr/>
        </p:nvSpPr>
        <p:spPr>
          <a:xfrm>
            <a:off x="475488" y="832104"/>
            <a:ext cx="10515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710" dirty="0">
                <a:solidFill>
                  <a:srgbClr val="6D625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concise deck now carries both the original readiness timeline and the full launch gate standard.</a:t>
            </a:r>
            <a:endParaRPr lang="en-US" sz="710" dirty="0"/>
          </a:p>
        </p:txBody>
      </p:sp>
      <p:sp>
        <p:nvSpPr>
          <p:cNvPr id="5" name="Shape 3"/>
          <p:cNvSpPr/>
          <p:nvPr/>
        </p:nvSpPr>
        <p:spPr>
          <a:xfrm>
            <a:off x="475488" y="1088136"/>
            <a:ext cx="11018520" cy="0"/>
          </a:xfrm>
          <a:prstGeom prst="line">
            <a:avLst/>
          </a:prstGeom>
          <a:noFill/>
          <a:ln w="7620">
            <a:solidFill>
              <a:srgbClr val="FF3D00">
                <a:alpha val="85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6" name="Image 0" descr="/mnt/data/pptx_extract/ppt/media/image-2-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640312" y="237744"/>
            <a:ext cx="109728" cy="109728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0" y="6647688"/>
            <a:ext cx="12192000" cy="210312"/>
          </a:xfrm>
          <a:prstGeom prst="rect">
            <a:avLst/>
          </a:prstGeom>
          <a:solidFill>
            <a:srgbClr val="0A0B0D"/>
          </a:solidFill>
          <a:ln w="12700">
            <a:solidFill>
              <a:srgbClr val="0A0B0D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Shape 5"/>
          <p:cNvSpPr/>
          <p:nvPr/>
        </p:nvSpPr>
        <p:spPr>
          <a:xfrm>
            <a:off x="438912" y="6428232"/>
            <a:ext cx="146304" cy="27432"/>
          </a:xfrm>
          <a:prstGeom prst="rect">
            <a:avLst/>
          </a:prstGeom>
          <a:solidFill>
            <a:srgbClr val="FF3D00"/>
          </a:solidFill>
          <a:ln w="12700">
            <a:solidFill>
              <a:srgbClr val="FF3D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6"/>
          <p:cNvSpPr/>
          <p:nvPr/>
        </p:nvSpPr>
        <p:spPr>
          <a:xfrm>
            <a:off x="621792" y="6373368"/>
            <a:ext cx="384048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90" dirty="0">
                <a:solidFill>
                  <a:srgbClr val="6D625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Mistral Studio  •  Launch &amp; commercialization plan</a:t>
            </a:r>
            <a:endParaRPr lang="en-US" sz="490" dirty="0"/>
          </a:p>
        </p:txBody>
      </p:sp>
      <p:sp>
        <p:nvSpPr>
          <p:cNvPr id="10" name="Text 7"/>
          <p:cNvSpPr/>
          <p:nvPr/>
        </p:nvSpPr>
        <p:spPr>
          <a:xfrm>
            <a:off x="11612880" y="6327648"/>
            <a:ext cx="2286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520" b="1" dirty="0">
                <a:solidFill>
                  <a:srgbClr val="0A0B0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05</a:t>
            </a:r>
            <a:endParaRPr lang="en-US" sz="520" dirty="0"/>
          </a:p>
        </p:txBody>
      </p:sp>
      <p:sp>
        <p:nvSpPr>
          <p:cNvPr id="11" name="Text 8"/>
          <p:cNvSpPr/>
          <p:nvPr/>
        </p:nvSpPr>
        <p:spPr>
          <a:xfrm>
            <a:off x="530352" y="1207008"/>
            <a:ext cx="292608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550" b="1" dirty="0">
                <a:solidFill>
                  <a:srgbClr val="FF3D0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INTEGRATED READINESS TIMELINE</a:t>
            </a:r>
            <a:endParaRPr lang="en-US" sz="550" dirty="0"/>
          </a:p>
        </p:txBody>
      </p:sp>
      <p:sp>
        <p:nvSpPr>
          <p:cNvPr id="12" name="Text 9"/>
          <p:cNvSpPr/>
          <p:nvPr/>
        </p:nvSpPr>
        <p:spPr>
          <a:xfrm>
            <a:off x="530352" y="1536192"/>
            <a:ext cx="2587752" cy="1965960"/>
          </a:xfrm>
          <a:prstGeom prst="rect">
            <a:avLst/>
          </a:prstGeom>
          <a:solidFill>
            <a:srgbClr val="FDF7EF"/>
          </a:solidFill>
          <a:ln w="6350">
            <a:solidFill>
              <a:srgbClr val="E9D9CB"/>
            </a:solidFill>
          </a:ln>
        </p:spPr>
        <p:txBody>
          <a:bodyPr wrap="square" lIns="1270" tIns="1524" rIns="1524" bIns="1016" rtlCol="0" anchor="t">
            <a:normAutofit/>
          </a:bodyPr>
          <a:lstStyle/>
          <a:p>
            <a:pPr marL="0" indent="0">
              <a:buNone/>
            </a:pPr>
            <a:r>
              <a:rPr lang="en-US" sz="725" dirty="0">
                <a:solidFill>
                  <a:srgbClr val="0A0B0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T−8 → T−5</a:t>
            </a:r>
            <a:endParaRPr lang="en-US" sz="725" dirty="0"/>
          </a:p>
          <a:p>
            <a:pPr marL="0" indent="0">
              <a:buNone/>
            </a:pPr>
            <a:r>
              <a:rPr lang="en-US" sz="725" dirty="0">
                <a:solidFill>
                  <a:srgbClr val="0A0B0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Build + prove</a:t>
            </a:r>
            <a:endParaRPr lang="en-US" sz="725" dirty="0"/>
          </a:p>
          <a:p>
            <a:pPr marL="0" indent="0">
              <a:buNone/>
            </a:pPr>
            <a:endParaRPr lang="en-US" sz="725" dirty="0"/>
          </a:p>
          <a:p>
            <a:pPr marL="0" indent="0">
              <a:buNone/>
            </a:pPr>
            <a:r>
              <a:rPr lang="en-US" sz="725" dirty="0">
                <a:solidFill>
                  <a:srgbClr val="0A0B0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Feature freeze and GA criteria set; scale and SLA testing; metering and billing build; legal terms drafted.</a:t>
            </a:r>
            <a:endParaRPr lang="en-US" sz="725" dirty="0"/>
          </a:p>
          <a:p>
            <a:pPr marL="0" indent="0">
              <a:buNone/>
            </a:pPr>
            <a:endParaRPr lang="en-US" sz="725" dirty="0"/>
          </a:p>
          <a:p>
            <a:pPr marL="0" indent="0">
              <a:buNone/>
            </a:pPr>
            <a:r>
              <a:rPr lang="en-US" sz="725" dirty="0">
                <a:solidFill>
                  <a:srgbClr val="0A0B0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Product • Engineering • Finance • Legal</a:t>
            </a:r>
            <a:endParaRPr lang="en-US" sz="725" dirty="0"/>
          </a:p>
        </p:txBody>
      </p:sp>
      <p:sp>
        <p:nvSpPr>
          <p:cNvPr id="13" name="Shape 10"/>
          <p:cNvSpPr/>
          <p:nvPr/>
        </p:nvSpPr>
        <p:spPr>
          <a:xfrm>
            <a:off x="530352" y="1444752"/>
            <a:ext cx="2587752" cy="64008"/>
          </a:xfrm>
          <a:prstGeom prst="rect">
            <a:avLst/>
          </a:prstGeom>
          <a:solidFill>
            <a:srgbClr val="FF3D00"/>
          </a:solidFill>
          <a:ln w="12700">
            <a:solidFill>
              <a:srgbClr val="FF3D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11"/>
          <p:cNvSpPr/>
          <p:nvPr/>
        </p:nvSpPr>
        <p:spPr>
          <a:xfrm>
            <a:off x="3236976" y="1536192"/>
            <a:ext cx="2587752" cy="1965960"/>
          </a:xfrm>
          <a:prstGeom prst="rect">
            <a:avLst/>
          </a:prstGeom>
          <a:solidFill>
            <a:srgbClr val="FDF7EF"/>
          </a:solidFill>
          <a:ln w="6350">
            <a:solidFill>
              <a:srgbClr val="E9D9CB"/>
            </a:solidFill>
          </a:ln>
        </p:spPr>
        <p:txBody>
          <a:bodyPr wrap="square" lIns="1270" tIns="1524" rIns="1524" bIns="1016" rtlCol="0" anchor="t">
            <a:normAutofit/>
          </a:bodyPr>
          <a:lstStyle/>
          <a:p>
            <a:pPr marL="0" indent="0">
              <a:buNone/>
            </a:pPr>
            <a:r>
              <a:rPr lang="en-US" sz="725" dirty="0">
                <a:solidFill>
                  <a:srgbClr val="0A0B0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T−4 → T−1</a:t>
            </a:r>
            <a:endParaRPr lang="en-US" sz="725" dirty="0"/>
          </a:p>
          <a:p>
            <a:pPr marL="0" indent="0">
              <a:buNone/>
            </a:pPr>
            <a:r>
              <a:rPr lang="en-US" sz="725" dirty="0">
                <a:solidFill>
                  <a:srgbClr val="0A0B0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Operate + approve</a:t>
            </a:r>
            <a:endParaRPr lang="en-US" sz="725" dirty="0"/>
          </a:p>
          <a:p>
            <a:pPr marL="0" indent="0">
              <a:buNone/>
            </a:pPr>
            <a:endParaRPr lang="en-US" sz="725" dirty="0"/>
          </a:p>
          <a:p>
            <a:pPr marL="0" indent="0">
              <a:buNone/>
            </a:pPr>
            <a:r>
              <a:rPr lang="en-US" sz="725" dirty="0">
                <a:solidFill>
                  <a:srgbClr val="0A0B0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Provisioning and invoicing tested end to end; security review closed; marketplace listings submitted; docs staged.</a:t>
            </a:r>
            <a:endParaRPr lang="en-US" sz="725" dirty="0"/>
          </a:p>
          <a:p>
            <a:pPr marL="0" indent="0">
              <a:buNone/>
            </a:pPr>
            <a:endParaRPr lang="en-US" sz="725" dirty="0"/>
          </a:p>
          <a:p>
            <a:pPr marL="0" indent="0">
              <a:buNone/>
            </a:pPr>
            <a:r>
              <a:rPr lang="en-US" sz="725" dirty="0">
                <a:solidFill>
                  <a:srgbClr val="0A0B0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Billing Ops • Security • Alliances • Docs</a:t>
            </a:r>
            <a:endParaRPr lang="en-US" sz="725" dirty="0"/>
          </a:p>
        </p:txBody>
      </p:sp>
      <p:sp>
        <p:nvSpPr>
          <p:cNvPr id="15" name="Shape 12"/>
          <p:cNvSpPr/>
          <p:nvPr/>
        </p:nvSpPr>
        <p:spPr>
          <a:xfrm>
            <a:off x="3236976" y="1444752"/>
            <a:ext cx="2587752" cy="64008"/>
          </a:xfrm>
          <a:prstGeom prst="rect">
            <a:avLst/>
          </a:prstGeom>
          <a:solidFill>
            <a:srgbClr val="FF3D00"/>
          </a:solidFill>
          <a:ln w="12700">
            <a:solidFill>
              <a:srgbClr val="FF3D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Text 13"/>
          <p:cNvSpPr/>
          <p:nvPr/>
        </p:nvSpPr>
        <p:spPr>
          <a:xfrm>
            <a:off x="5943600" y="1536192"/>
            <a:ext cx="2587752" cy="1965960"/>
          </a:xfrm>
          <a:prstGeom prst="rect">
            <a:avLst/>
          </a:prstGeom>
          <a:solidFill>
            <a:srgbClr val="FDF7EF"/>
          </a:solidFill>
          <a:ln w="6350">
            <a:solidFill>
              <a:srgbClr val="E9D9CB"/>
            </a:solidFill>
          </a:ln>
        </p:spPr>
        <p:txBody>
          <a:bodyPr wrap="square" lIns="1270" tIns="1524" rIns="1524" bIns="1016" rtlCol="0" anchor="t">
            <a:normAutofit/>
          </a:bodyPr>
          <a:lstStyle/>
          <a:p>
            <a:pPr marL="0" indent="0">
              <a:buNone/>
            </a:pPr>
            <a:r>
              <a:rPr lang="en-US" sz="725" dirty="0">
                <a:solidFill>
                  <a:srgbClr val="0A0B0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Launch week</a:t>
            </a:r>
            <a:endParaRPr lang="en-US" sz="725" dirty="0"/>
          </a:p>
          <a:p>
            <a:pPr marL="0" indent="0">
              <a:buNone/>
            </a:pPr>
            <a:r>
              <a:rPr lang="en-US" sz="725" dirty="0">
                <a:solidFill>
                  <a:srgbClr val="0A0B0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Go live</a:t>
            </a:r>
            <a:endParaRPr lang="en-US" sz="725" dirty="0"/>
          </a:p>
          <a:p>
            <a:pPr marL="0" indent="0">
              <a:buNone/>
            </a:pPr>
            <a:endParaRPr lang="en-US" sz="725" dirty="0"/>
          </a:p>
          <a:p>
            <a:pPr marL="0" indent="0">
              <a:buNone/>
            </a:pPr>
            <a:r>
              <a:rPr lang="en-US" sz="725" dirty="0">
                <a:solidFill>
                  <a:srgbClr val="0A0B0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GA build shipped; pricing live; marketplace offers published; support rota and escalation paths active.</a:t>
            </a:r>
            <a:endParaRPr lang="en-US" sz="725" dirty="0"/>
          </a:p>
          <a:p>
            <a:pPr marL="0" indent="0">
              <a:buNone/>
            </a:pPr>
            <a:endParaRPr lang="en-US" sz="725" dirty="0"/>
          </a:p>
          <a:p>
            <a:pPr marL="0" indent="0">
              <a:buNone/>
            </a:pPr>
            <a:r>
              <a:rPr lang="en-US" sz="725" dirty="0">
                <a:solidFill>
                  <a:srgbClr val="0A0B0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Product • Support • Alliances</a:t>
            </a:r>
            <a:endParaRPr lang="en-US" sz="725" dirty="0"/>
          </a:p>
        </p:txBody>
      </p:sp>
      <p:sp>
        <p:nvSpPr>
          <p:cNvPr id="17" name="Shape 14"/>
          <p:cNvSpPr/>
          <p:nvPr/>
        </p:nvSpPr>
        <p:spPr>
          <a:xfrm>
            <a:off x="5943600" y="1444752"/>
            <a:ext cx="2587752" cy="64008"/>
          </a:xfrm>
          <a:prstGeom prst="rect">
            <a:avLst/>
          </a:prstGeom>
          <a:solidFill>
            <a:srgbClr val="FF8B00"/>
          </a:solidFill>
          <a:ln w="12700">
            <a:solidFill>
              <a:srgbClr val="FF8B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Text 15"/>
          <p:cNvSpPr/>
          <p:nvPr/>
        </p:nvSpPr>
        <p:spPr>
          <a:xfrm>
            <a:off x="8650224" y="1536192"/>
            <a:ext cx="2587752" cy="1965960"/>
          </a:xfrm>
          <a:prstGeom prst="rect">
            <a:avLst/>
          </a:prstGeom>
          <a:solidFill>
            <a:srgbClr val="FDF7EF"/>
          </a:solidFill>
          <a:ln w="6350">
            <a:solidFill>
              <a:srgbClr val="E9D9CB"/>
            </a:solidFill>
          </a:ln>
        </p:spPr>
        <p:txBody>
          <a:bodyPr wrap="square" lIns="1270" tIns="1524" rIns="1524" bIns="1016" rtlCol="0" anchor="t">
            <a:normAutofit/>
          </a:bodyPr>
          <a:lstStyle/>
          <a:p>
            <a:pPr marL="0" indent="0">
              <a:buNone/>
            </a:pPr>
            <a:r>
              <a:rPr lang="en-US" sz="725" dirty="0">
                <a:solidFill>
                  <a:srgbClr val="0A0B0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T+1 → T+8</a:t>
            </a:r>
            <a:endParaRPr lang="en-US" sz="725" dirty="0"/>
          </a:p>
          <a:p>
            <a:pPr marL="0" indent="0">
              <a:buNone/>
            </a:pPr>
            <a:r>
              <a:rPr lang="en-US" sz="725" dirty="0">
                <a:solidFill>
                  <a:srgbClr val="0A0B0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Scale + prove</a:t>
            </a:r>
            <a:endParaRPr lang="en-US" sz="725" dirty="0"/>
          </a:p>
          <a:p>
            <a:pPr marL="0" indent="0">
              <a:buNone/>
            </a:pPr>
            <a:endParaRPr lang="en-US" sz="725" dirty="0"/>
          </a:p>
          <a:p>
            <a:pPr marL="0" indent="0">
              <a:buNone/>
            </a:pPr>
            <a:r>
              <a:rPr lang="en-US" sz="725" dirty="0">
                <a:solidFill>
                  <a:srgbClr val="0A0B0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POVs converted to contracts; first workloads into production; billing accuracy and support load monitored.</a:t>
            </a:r>
            <a:endParaRPr lang="en-US" sz="725" dirty="0"/>
          </a:p>
          <a:p>
            <a:pPr marL="0" indent="0">
              <a:buNone/>
            </a:pPr>
            <a:endParaRPr lang="en-US" sz="725" dirty="0"/>
          </a:p>
          <a:p>
            <a:pPr marL="0" indent="0">
              <a:buNone/>
            </a:pPr>
            <a:r>
              <a:rPr lang="en-US" sz="725" dirty="0">
                <a:solidFill>
                  <a:srgbClr val="0A0B0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Sales • CS • Finance • Engineering</a:t>
            </a:r>
            <a:endParaRPr lang="en-US" sz="725" dirty="0"/>
          </a:p>
        </p:txBody>
      </p:sp>
      <p:sp>
        <p:nvSpPr>
          <p:cNvPr id="19" name="Shape 16"/>
          <p:cNvSpPr/>
          <p:nvPr/>
        </p:nvSpPr>
        <p:spPr>
          <a:xfrm>
            <a:off x="8650224" y="1444752"/>
            <a:ext cx="2587752" cy="64008"/>
          </a:xfrm>
          <a:prstGeom prst="rect">
            <a:avLst/>
          </a:prstGeom>
          <a:solidFill>
            <a:srgbClr val="FF8B00"/>
          </a:solidFill>
          <a:ln w="12700">
            <a:solidFill>
              <a:srgbClr val="FF8B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Text 17"/>
          <p:cNvSpPr/>
          <p:nvPr/>
        </p:nvSpPr>
        <p:spPr>
          <a:xfrm>
            <a:off x="530352" y="3776472"/>
            <a:ext cx="256032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550" b="1" dirty="0">
                <a:solidFill>
                  <a:srgbClr val="FF3D0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LAUNCH GATE CHECKLIST</a:t>
            </a:r>
            <a:endParaRPr lang="en-US" sz="550" dirty="0"/>
          </a:p>
        </p:txBody>
      </p:sp>
      <p:sp>
        <p:nvSpPr>
          <p:cNvPr id="21" name="Shape 18"/>
          <p:cNvSpPr/>
          <p:nvPr/>
        </p:nvSpPr>
        <p:spPr>
          <a:xfrm>
            <a:off x="530352" y="4005072"/>
            <a:ext cx="2587752" cy="457200"/>
          </a:xfrm>
          <a:prstGeom prst="rect">
            <a:avLst/>
          </a:prstGeom>
          <a:solidFill>
            <a:srgbClr val="FDF7EF"/>
          </a:solidFill>
          <a:ln w="5080">
            <a:solidFill>
              <a:srgbClr val="E9D9C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" name="Shape 19"/>
          <p:cNvSpPr/>
          <p:nvPr/>
        </p:nvSpPr>
        <p:spPr>
          <a:xfrm>
            <a:off x="530352" y="4005072"/>
            <a:ext cx="2587752" cy="50292"/>
          </a:xfrm>
          <a:prstGeom prst="rect">
            <a:avLst/>
          </a:prstGeom>
          <a:solidFill>
            <a:srgbClr val="FF3D00"/>
          </a:solidFill>
          <a:ln w="12700">
            <a:solidFill>
              <a:srgbClr val="FF3D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" name="Text 20"/>
          <p:cNvSpPr/>
          <p:nvPr/>
        </p:nvSpPr>
        <p:spPr>
          <a:xfrm>
            <a:off x="603504" y="4096512"/>
            <a:ext cx="244144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480" b="1" dirty="0">
                <a:solidFill>
                  <a:srgbClr val="FF3D0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PRODUCT</a:t>
            </a:r>
            <a:endParaRPr lang="en-US" sz="480" dirty="0"/>
          </a:p>
        </p:txBody>
      </p:sp>
      <p:sp>
        <p:nvSpPr>
          <p:cNvPr id="24" name="Text 21"/>
          <p:cNvSpPr/>
          <p:nvPr/>
        </p:nvSpPr>
        <p:spPr>
          <a:xfrm>
            <a:off x="603504" y="4261104"/>
            <a:ext cx="24414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>
              <a:buNone/>
            </a:pPr>
            <a:r>
              <a:rPr lang="en-US" sz="540" dirty="0">
                <a:solidFill>
                  <a:srgbClr val="0A0B0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GA criteria met and signed off</a:t>
            </a:r>
            <a:endParaRPr lang="en-US" sz="540" dirty="0"/>
          </a:p>
        </p:txBody>
      </p:sp>
      <p:sp>
        <p:nvSpPr>
          <p:cNvPr id="25" name="Shape 22"/>
          <p:cNvSpPr/>
          <p:nvPr/>
        </p:nvSpPr>
        <p:spPr>
          <a:xfrm>
            <a:off x="3236976" y="4005072"/>
            <a:ext cx="2587752" cy="457200"/>
          </a:xfrm>
          <a:prstGeom prst="rect">
            <a:avLst/>
          </a:prstGeom>
          <a:solidFill>
            <a:srgbClr val="FDF7EF"/>
          </a:solidFill>
          <a:ln w="5080">
            <a:solidFill>
              <a:srgbClr val="E9D9C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6" name="Shape 23"/>
          <p:cNvSpPr/>
          <p:nvPr/>
        </p:nvSpPr>
        <p:spPr>
          <a:xfrm>
            <a:off x="3236976" y="4005072"/>
            <a:ext cx="2587752" cy="50292"/>
          </a:xfrm>
          <a:prstGeom prst="rect">
            <a:avLst/>
          </a:prstGeom>
          <a:solidFill>
            <a:srgbClr val="FF8B00"/>
          </a:solidFill>
          <a:ln w="12700">
            <a:solidFill>
              <a:srgbClr val="FF8B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7" name="Text 24"/>
          <p:cNvSpPr/>
          <p:nvPr/>
        </p:nvSpPr>
        <p:spPr>
          <a:xfrm>
            <a:off x="3310128" y="4096512"/>
            <a:ext cx="244144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480" b="1" dirty="0">
                <a:solidFill>
                  <a:srgbClr val="FF8B0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COMMERCIAL</a:t>
            </a:r>
            <a:endParaRPr lang="en-US" sz="480" dirty="0"/>
          </a:p>
        </p:txBody>
      </p:sp>
      <p:sp>
        <p:nvSpPr>
          <p:cNvPr id="28" name="Text 25"/>
          <p:cNvSpPr/>
          <p:nvPr/>
        </p:nvSpPr>
        <p:spPr>
          <a:xfrm>
            <a:off x="3310128" y="4261104"/>
            <a:ext cx="24414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>
              <a:buNone/>
            </a:pPr>
            <a:r>
              <a:rPr lang="en-US" sz="540" dirty="0">
                <a:solidFill>
                  <a:srgbClr val="0A0B0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Pricing and packaging approved</a:t>
            </a:r>
            <a:endParaRPr lang="en-US" sz="540" dirty="0"/>
          </a:p>
        </p:txBody>
      </p:sp>
      <p:sp>
        <p:nvSpPr>
          <p:cNvPr id="29" name="Shape 26"/>
          <p:cNvSpPr/>
          <p:nvPr/>
        </p:nvSpPr>
        <p:spPr>
          <a:xfrm>
            <a:off x="5943600" y="4005072"/>
            <a:ext cx="2587752" cy="457200"/>
          </a:xfrm>
          <a:prstGeom prst="rect">
            <a:avLst/>
          </a:prstGeom>
          <a:solidFill>
            <a:srgbClr val="FDF7EF"/>
          </a:solidFill>
          <a:ln w="5080">
            <a:solidFill>
              <a:srgbClr val="E9D9C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0" name="Shape 27"/>
          <p:cNvSpPr/>
          <p:nvPr/>
        </p:nvSpPr>
        <p:spPr>
          <a:xfrm>
            <a:off x="5943600" y="4005072"/>
            <a:ext cx="2587752" cy="50292"/>
          </a:xfrm>
          <a:prstGeom prst="rect">
            <a:avLst/>
          </a:prstGeom>
          <a:solidFill>
            <a:srgbClr val="FF3D00"/>
          </a:solidFill>
          <a:ln w="12700">
            <a:solidFill>
              <a:srgbClr val="FF3D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1" name="Text 28"/>
          <p:cNvSpPr/>
          <p:nvPr/>
        </p:nvSpPr>
        <p:spPr>
          <a:xfrm>
            <a:off x="6016752" y="4096512"/>
            <a:ext cx="244144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480" b="1" dirty="0">
                <a:solidFill>
                  <a:srgbClr val="FF3D0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BILLING</a:t>
            </a:r>
            <a:endParaRPr lang="en-US" sz="480" dirty="0"/>
          </a:p>
        </p:txBody>
      </p:sp>
      <p:sp>
        <p:nvSpPr>
          <p:cNvPr id="32" name="Text 29"/>
          <p:cNvSpPr/>
          <p:nvPr/>
        </p:nvSpPr>
        <p:spPr>
          <a:xfrm>
            <a:off x="6016752" y="4261104"/>
            <a:ext cx="24414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>
              <a:buNone/>
            </a:pPr>
            <a:r>
              <a:rPr lang="en-US" sz="540" dirty="0">
                <a:solidFill>
                  <a:srgbClr val="0A0B0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Metering, provisioning and invoicing live</a:t>
            </a:r>
            <a:endParaRPr lang="en-US" sz="540" dirty="0"/>
          </a:p>
        </p:txBody>
      </p:sp>
      <p:sp>
        <p:nvSpPr>
          <p:cNvPr id="33" name="Shape 30"/>
          <p:cNvSpPr/>
          <p:nvPr/>
        </p:nvSpPr>
        <p:spPr>
          <a:xfrm>
            <a:off x="8650224" y="4005072"/>
            <a:ext cx="2587752" cy="457200"/>
          </a:xfrm>
          <a:prstGeom prst="rect">
            <a:avLst/>
          </a:prstGeom>
          <a:solidFill>
            <a:srgbClr val="FDF7EF"/>
          </a:solidFill>
          <a:ln w="5080">
            <a:solidFill>
              <a:srgbClr val="E9D9C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4" name="Shape 31"/>
          <p:cNvSpPr/>
          <p:nvPr/>
        </p:nvSpPr>
        <p:spPr>
          <a:xfrm>
            <a:off x="8650224" y="4005072"/>
            <a:ext cx="2587752" cy="50292"/>
          </a:xfrm>
          <a:prstGeom prst="rect">
            <a:avLst/>
          </a:prstGeom>
          <a:solidFill>
            <a:srgbClr val="FF8B00"/>
          </a:solidFill>
          <a:ln w="12700">
            <a:solidFill>
              <a:srgbClr val="FF8B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5" name="Text 32"/>
          <p:cNvSpPr/>
          <p:nvPr/>
        </p:nvSpPr>
        <p:spPr>
          <a:xfrm>
            <a:off x="8723376" y="4096512"/>
            <a:ext cx="244144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480" b="1" dirty="0">
                <a:solidFill>
                  <a:srgbClr val="FF8B0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LEGAL</a:t>
            </a:r>
            <a:endParaRPr lang="en-US" sz="480" dirty="0"/>
          </a:p>
        </p:txBody>
      </p:sp>
      <p:sp>
        <p:nvSpPr>
          <p:cNvPr id="36" name="Text 33"/>
          <p:cNvSpPr/>
          <p:nvPr/>
        </p:nvSpPr>
        <p:spPr>
          <a:xfrm>
            <a:off x="8723376" y="4261104"/>
            <a:ext cx="24414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>
              <a:buNone/>
            </a:pPr>
            <a:r>
              <a:rPr lang="en-US" sz="540" dirty="0">
                <a:solidFill>
                  <a:srgbClr val="0A0B0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Terms, DPA and security approved</a:t>
            </a:r>
            <a:endParaRPr lang="en-US" sz="540" dirty="0"/>
          </a:p>
        </p:txBody>
      </p:sp>
      <p:sp>
        <p:nvSpPr>
          <p:cNvPr id="37" name="Shape 34"/>
          <p:cNvSpPr/>
          <p:nvPr/>
        </p:nvSpPr>
        <p:spPr>
          <a:xfrm>
            <a:off x="530352" y="4553712"/>
            <a:ext cx="2587752" cy="457200"/>
          </a:xfrm>
          <a:prstGeom prst="rect">
            <a:avLst/>
          </a:prstGeom>
          <a:solidFill>
            <a:srgbClr val="FDF7EF"/>
          </a:solidFill>
          <a:ln w="5080">
            <a:solidFill>
              <a:srgbClr val="E9D9C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8" name="Shape 35"/>
          <p:cNvSpPr/>
          <p:nvPr/>
        </p:nvSpPr>
        <p:spPr>
          <a:xfrm>
            <a:off x="530352" y="4553712"/>
            <a:ext cx="2587752" cy="50292"/>
          </a:xfrm>
          <a:prstGeom prst="rect">
            <a:avLst/>
          </a:prstGeom>
          <a:solidFill>
            <a:srgbClr val="FF3D00"/>
          </a:solidFill>
          <a:ln w="12700">
            <a:solidFill>
              <a:srgbClr val="FF3D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9" name="Text 36"/>
          <p:cNvSpPr/>
          <p:nvPr/>
        </p:nvSpPr>
        <p:spPr>
          <a:xfrm>
            <a:off x="603504" y="4645152"/>
            <a:ext cx="244144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480" b="1" dirty="0">
                <a:solidFill>
                  <a:srgbClr val="FF3D0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MARKETPLACE</a:t>
            </a:r>
            <a:endParaRPr lang="en-US" sz="480" dirty="0"/>
          </a:p>
        </p:txBody>
      </p:sp>
      <p:sp>
        <p:nvSpPr>
          <p:cNvPr id="40" name="Text 37"/>
          <p:cNvSpPr/>
          <p:nvPr/>
        </p:nvSpPr>
        <p:spPr>
          <a:xfrm>
            <a:off x="603504" y="4809744"/>
            <a:ext cx="24414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>
              <a:buNone/>
            </a:pPr>
            <a:r>
              <a:rPr lang="en-US" sz="540" dirty="0">
                <a:solidFill>
                  <a:srgbClr val="0A0B0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Offers live and transactable</a:t>
            </a:r>
            <a:endParaRPr lang="en-US" sz="540" dirty="0"/>
          </a:p>
        </p:txBody>
      </p:sp>
      <p:sp>
        <p:nvSpPr>
          <p:cNvPr id="41" name="Shape 38"/>
          <p:cNvSpPr/>
          <p:nvPr/>
        </p:nvSpPr>
        <p:spPr>
          <a:xfrm>
            <a:off x="3236976" y="4553712"/>
            <a:ext cx="2587752" cy="457200"/>
          </a:xfrm>
          <a:prstGeom prst="rect">
            <a:avLst/>
          </a:prstGeom>
          <a:solidFill>
            <a:srgbClr val="FDF7EF"/>
          </a:solidFill>
          <a:ln w="5080">
            <a:solidFill>
              <a:srgbClr val="E9D9C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2" name="Shape 39"/>
          <p:cNvSpPr/>
          <p:nvPr/>
        </p:nvSpPr>
        <p:spPr>
          <a:xfrm>
            <a:off x="3236976" y="4553712"/>
            <a:ext cx="2587752" cy="50292"/>
          </a:xfrm>
          <a:prstGeom prst="rect">
            <a:avLst/>
          </a:prstGeom>
          <a:solidFill>
            <a:srgbClr val="FF8B00"/>
          </a:solidFill>
          <a:ln w="12700">
            <a:solidFill>
              <a:srgbClr val="FF8B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3" name="Text 40"/>
          <p:cNvSpPr/>
          <p:nvPr/>
        </p:nvSpPr>
        <p:spPr>
          <a:xfrm>
            <a:off x="3310128" y="4645152"/>
            <a:ext cx="244144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480" b="1" dirty="0">
                <a:solidFill>
                  <a:srgbClr val="FF8B0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SUPPORT</a:t>
            </a:r>
            <a:endParaRPr lang="en-US" sz="480" dirty="0"/>
          </a:p>
        </p:txBody>
      </p:sp>
      <p:sp>
        <p:nvSpPr>
          <p:cNvPr id="44" name="Text 41"/>
          <p:cNvSpPr/>
          <p:nvPr/>
        </p:nvSpPr>
        <p:spPr>
          <a:xfrm>
            <a:off x="3310128" y="4809744"/>
            <a:ext cx="24414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>
              <a:buNone/>
            </a:pPr>
            <a:r>
              <a:rPr lang="en-US" sz="540" dirty="0">
                <a:solidFill>
                  <a:srgbClr val="0A0B0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Response targets, escalation and rota staffed</a:t>
            </a:r>
            <a:endParaRPr lang="en-US" sz="540" dirty="0"/>
          </a:p>
        </p:txBody>
      </p:sp>
      <p:sp>
        <p:nvSpPr>
          <p:cNvPr id="45" name="Shape 42"/>
          <p:cNvSpPr/>
          <p:nvPr/>
        </p:nvSpPr>
        <p:spPr>
          <a:xfrm>
            <a:off x="5943600" y="4553712"/>
            <a:ext cx="2587752" cy="457200"/>
          </a:xfrm>
          <a:prstGeom prst="rect">
            <a:avLst/>
          </a:prstGeom>
          <a:solidFill>
            <a:srgbClr val="FDF7EF"/>
          </a:solidFill>
          <a:ln w="5080">
            <a:solidFill>
              <a:srgbClr val="E9D9C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6" name="Shape 43"/>
          <p:cNvSpPr/>
          <p:nvPr/>
        </p:nvSpPr>
        <p:spPr>
          <a:xfrm>
            <a:off x="5943600" y="4553712"/>
            <a:ext cx="2587752" cy="50292"/>
          </a:xfrm>
          <a:prstGeom prst="rect">
            <a:avLst/>
          </a:prstGeom>
          <a:solidFill>
            <a:srgbClr val="FF3D00"/>
          </a:solidFill>
          <a:ln w="12700">
            <a:solidFill>
              <a:srgbClr val="FF3D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7" name="Text 44"/>
          <p:cNvSpPr/>
          <p:nvPr/>
        </p:nvSpPr>
        <p:spPr>
          <a:xfrm>
            <a:off x="6016752" y="4645152"/>
            <a:ext cx="244144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480" b="1" dirty="0">
                <a:solidFill>
                  <a:srgbClr val="FF3D0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DOCS</a:t>
            </a:r>
            <a:endParaRPr lang="en-US" sz="480" dirty="0"/>
          </a:p>
        </p:txBody>
      </p:sp>
      <p:sp>
        <p:nvSpPr>
          <p:cNvPr id="48" name="Text 45"/>
          <p:cNvSpPr/>
          <p:nvPr/>
        </p:nvSpPr>
        <p:spPr>
          <a:xfrm>
            <a:off x="6016752" y="4809744"/>
            <a:ext cx="24414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>
              <a:buNone/>
            </a:pPr>
            <a:r>
              <a:rPr lang="en-US" sz="540" dirty="0">
                <a:solidFill>
                  <a:srgbClr val="0A0B0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Quickstart, API reference and deployment guides published</a:t>
            </a:r>
            <a:endParaRPr lang="en-US" sz="540" dirty="0"/>
          </a:p>
        </p:txBody>
      </p:sp>
      <p:sp>
        <p:nvSpPr>
          <p:cNvPr id="49" name="Shape 46"/>
          <p:cNvSpPr/>
          <p:nvPr/>
        </p:nvSpPr>
        <p:spPr>
          <a:xfrm>
            <a:off x="8650224" y="4553712"/>
            <a:ext cx="2587752" cy="457200"/>
          </a:xfrm>
          <a:prstGeom prst="rect">
            <a:avLst/>
          </a:prstGeom>
          <a:solidFill>
            <a:srgbClr val="FDF7EF"/>
          </a:solidFill>
          <a:ln w="5080">
            <a:solidFill>
              <a:srgbClr val="E9D9C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0" name="Shape 47"/>
          <p:cNvSpPr/>
          <p:nvPr/>
        </p:nvSpPr>
        <p:spPr>
          <a:xfrm>
            <a:off x="8650224" y="4553712"/>
            <a:ext cx="2587752" cy="50292"/>
          </a:xfrm>
          <a:prstGeom prst="rect">
            <a:avLst/>
          </a:prstGeom>
          <a:solidFill>
            <a:srgbClr val="FF8B00"/>
          </a:solidFill>
          <a:ln w="12700">
            <a:solidFill>
              <a:srgbClr val="FF8B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1" name="Text 48"/>
          <p:cNvSpPr/>
          <p:nvPr/>
        </p:nvSpPr>
        <p:spPr>
          <a:xfrm>
            <a:off x="8723376" y="4645152"/>
            <a:ext cx="244144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480" b="1" dirty="0">
                <a:solidFill>
                  <a:srgbClr val="FF8B0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SALES + CS</a:t>
            </a:r>
            <a:endParaRPr lang="en-US" sz="480" dirty="0"/>
          </a:p>
        </p:txBody>
      </p:sp>
      <p:sp>
        <p:nvSpPr>
          <p:cNvPr id="52" name="Text 49"/>
          <p:cNvSpPr/>
          <p:nvPr/>
        </p:nvSpPr>
        <p:spPr>
          <a:xfrm>
            <a:off x="8723376" y="4809744"/>
            <a:ext cx="24414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>
              <a:buNone/>
            </a:pPr>
            <a:r>
              <a:rPr lang="en-US" sz="540" dirty="0">
                <a:solidFill>
                  <a:srgbClr val="0A0B0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Quoting, approval paths and onboarding runbooks live</a:t>
            </a:r>
            <a:endParaRPr lang="en-US" sz="540" dirty="0"/>
          </a:p>
        </p:txBody>
      </p:sp>
      <p:sp>
        <p:nvSpPr>
          <p:cNvPr id="53" name="Text 50"/>
          <p:cNvSpPr/>
          <p:nvPr/>
        </p:nvSpPr>
        <p:spPr>
          <a:xfrm>
            <a:off x="530352" y="5212080"/>
            <a:ext cx="18288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550" b="1" dirty="0">
                <a:solidFill>
                  <a:srgbClr val="FF3D0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CRITICAL PATH</a:t>
            </a:r>
            <a:endParaRPr lang="en-US" sz="550" dirty="0"/>
          </a:p>
        </p:txBody>
      </p:sp>
      <p:sp>
        <p:nvSpPr>
          <p:cNvPr id="54" name="Text 51"/>
          <p:cNvSpPr/>
          <p:nvPr/>
        </p:nvSpPr>
        <p:spPr>
          <a:xfrm>
            <a:off x="603504" y="5660136"/>
            <a:ext cx="3319272" cy="292608"/>
          </a:xfrm>
          <a:prstGeom prst="rect">
            <a:avLst/>
          </a:prstGeom>
          <a:solidFill>
            <a:srgbClr val="FDF7EF"/>
          </a:solidFill>
          <a:ln>
            <a:solidFill>
              <a:srgbClr val="FDF7EF">
                <a:alpha val="0"/>
              </a:srgbClr>
            </a:solidFill>
          </a:ln>
        </p:spPr>
        <p:txBody>
          <a:bodyPr wrap="square" lIns="0" tIns="254" rIns="254" bIns="254" rtlCol="0" anchor="t">
            <a:normAutofit/>
          </a:bodyPr>
          <a:lstStyle/>
          <a:p>
            <a:pPr marL="0" indent="0">
              <a:buNone/>
            </a:pPr>
            <a:r>
              <a:rPr lang="en-US" sz="610" dirty="0">
                <a:solidFill>
                  <a:srgbClr val="0A0B0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Marketplace offers cannot list without metering; contracts cannot sign without provisioning and invoicing tested end to end.</a:t>
            </a:r>
            <a:endParaRPr lang="en-US" sz="610" dirty="0"/>
          </a:p>
        </p:txBody>
      </p:sp>
      <p:sp>
        <p:nvSpPr>
          <p:cNvPr id="55" name="Shape 52"/>
          <p:cNvSpPr/>
          <p:nvPr/>
        </p:nvSpPr>
        <p:spPr>
          <a:xfrm>
            <a:off x="530352" y="5431536"/>
            <a:ext cx="32004" cy="548640"/>
          </a:xfrm>
          <a:prstGeom prst="rect">
            <a:avLst/>
          </a:prstGeom>
          <a:solidFill>
            <a:srgbClr val="FF3D00"/>
          </a:solidFill>
          <a:ln w="12700">
            <a:solidFill>
              <a:srgbClr val="FF3D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6" name="Text 53"/>
          <p:cNvSpPr/>
          <p:nvPr/>
        </p:nvSpPr>
        <p:spPr>
          <a:xfrm>
            <a:off x="621792" y="5495544"/>
            <a:ext cx="32461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540" b="1" dirty="0">
                <a:solidFill>
                  <a:srgbClr val="FF3D0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BILLING + PROVISIONING</a:t>
            </a:r>
            <a:endParaRPr lang="en-US" sz="540" dirty="0"/>
          </a:p>
        </p:txBody>
      </p:sp>
      <p:sp>
        <p:nvSpPr>
          <p:cNvPr id="57" name="Text 54"/>
          <p:cNvSpPr/>
          <p:nvPr/>
        </p:nvSpPr>
        <p:spPr>
          <a:xfrm>
            <a:off x="4206240" y="5660136"/>
            <a:ext cx="3319272" cy="292608"/>
          </a:xfrm>
          <a:prstGeom prst="rect">
            <a:avLst/>
          </a:prstGeom>
          <a:solidFill>
            <a:srgbClr val="FDF7EF"/>
          </a:solidFill>
          <a:ln>
            <a:solidFill>
              <a:srgbClr val="FDF7EF">
                <a:alpha val="0"/>
              </a:srgbClr>
            </a:solidFill>
          </a:ln>
        </p:spPr>
        <p:txBody>
          <a:bodyPr wrap="square" lIns="0" tIns="254" rIns="254" bIns="254" rtlCol="0" anchor="t">
            <a:normAutofit/>
          </a:bodyPr>
          <a:lstStyle/>
          <a:p>
            <a:pPr marL="0" indent="0">
              <a:buNone/>
            </a:pPr>
            <a:r>
              <a:rPr lang="en-US" sz="610" dirty="0">
                <a:solidFill>
                  <a:srgbClr val="0A0B0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Terms, DPA and security review must be approved before contracts or private offers go live.</a:t>
            </a:r>
            <a:endParaRPr lang="en-US" sz="610" dirty="0"/>
          </a:p>
        </p:txBody>
      </p:sp>
      <p:sp>
        <p:nvSpPr>
          <p:cNvPr id="58" name="Shape 55"/>
          <p:cNvSpPr/>
          <p:nvPr/>
        </p:nvSpPr>
        <p:spPr>
          <a:xfrm>
            <a:off x="4133088" y="5431536"/>
            <a:ext cx="32004" cy="548640"/>
          </a:xfrm>
          <a:prstGeom prst="rect">
            <a:avLst/>
          </a:prstGeom>
          <a:solidFill>
            <a:srgbClr val="FF8B00"/>
          </a:solidFill>
          <a:ln w="12700">
            <a:solidFill>
              <a:srgbClr val="FF8B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9" name="Text 56"/>
          <p:cNvSpPr/>
          <p:nvPr/>
        </p:nvSpPr>
        <p:spPr>
          <a:xfrm>
            <a:off x="4224528" y="5495544"/>
            <a:ext cx="32461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540" b="1" dirty="0">
                <a:solidFill>
                  <a:srgbClr val="FF8B0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LEGAL + SECURITY</a:t>
            </a:r>
            <a:endParaRPr lang="en-US" sz="540" dirty="0"/>
          </a:p>
        </p:txBody>
      </p:sp>
      <p:sp>
        <p:nvSpPr>
          <p:cNvPr id="60" name="Text 57"/>
          <p:cNvSpPr/>
          <p:nvPr/>
        </p:nvSpPr>
        <p:spPr>
          <a:xfrm>
            <a:off x="7808976" y="5660136"/>
            <a:ext cx="3319272" cy="292608"/>
          </a:xfrm>
          <a:prstGeom prst="rect">
            <a:avLst/>
          </a:prstGeom>
          <a:solidFill>
            <a:srgbClr val="FDF7EF"/>
          </a:solidFill>
          <a:ln>
            <a:solidFill>
              <a:srgbClr val="FDF7EF">
                <a:alpha val="0"/>
              </a:srgbClr>
            </a:solidFill>
          </a:ln>
        </p:spPr>
        <p:txBody>
          <a:bodyPr wrap="square" lIns="0" tIns="254" rIns="254" bIns="254" rtlCol="0" anchor="t">
            <a:normAutofit/>
          </a:bodyPr>
          <a:lstStyle/>
          <a:p>
            <a:pPr marL="0" indent="0">
              <a:buNone/>
            </a:pPr>
            <a:r>
              <a:rPr lang="en-US" sz="610" dirty="0">
                <a:solidFill>
                  <a:srgbClr val="0A0B0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Every gate has a named owner and green / amber / red status; any red at T−1 moves the date.</a:t>
            </a:r>
            <a:endParaRPr lang="en-US" sz="610" dirty="0"/>
          </a:p>
        </p:txBody>
      </p:sp>
      <p:sp>
        <p:nvSpPr>
          <p:cNvPr id="61" name="Shape 58"/>
          <p:cNvSpPr/>
          <p:nvPr/>
        </p:nvSpPr>
        <p:spPr>
          <a:xfrm>
            <a:off x="7735824" y="5431536"/>
            <a:ext cx="32004" cy="548640"/>
          </a:xfrm>
          <a:prstGeom prst="rect">
            <a:avLst/>
          </a:prstGeom>
          <a:solidFill>
            <a:srgbClr val="FF3D00"/>
          </a:solidFill>
          <a:ln w="12700">
            <a:solidFill>
              <a:srgbClr val="FF3D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2" name="Text 59"/>
          <p:cNvSpPr/>
          <p:nvPr/>
        </p:nvSpPr>
        <p:spPr>
          <a:xfrm>
            <a:off x="7827264" y="5495544"/>
            <a:ext cx="32461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540" b="1" dirty="0">
                <a:solidFill>
                  <a:srgbClr val="FF3D0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GATE RULE</a:t>
            </a:r>
            <a:endParaRPr lang="en-US" sz="540" dirty="0"/>
          </a:p>
        </p:txBody>
      </p:sp>
      <p:sp>
        <p:nvSpPr>
          <p:cNvPr id="63" name="Text 60"/>
          <p:cNvSpPr/>
          <p:nvPr/>
        </p:nvSpPr>
        <p:spPr>
          <a:xfrm>
            <a:off x="530352" y="6035040"/>
            <a:ext cx="10789920" cy="274320"/>
          </a:xfrm>
          <a:prstGeom prst="rect">
            <a:avLst/>
          </a:prstGeom>
          <a:solidFill>
            <a:srgbClr val="0A0B0D"/>
          </a:solidFill>
          <a:ln>
            <a:solidFill>
              <a:srgbClr val="0A0B0D">
                <a:alpha val="0"/>
              </a:srgbClr>
            </a:solidFill>
          </a:ln>
        </p:spPr>
        <p:txBody>
          <a:bodyPr wrap="square" lIns="762" tIns="1524" rIns="1524" bIns="762" rtlCol="0" anchor="ctr">
            <a:normAutofit/>
          </a:bodyPr>
          <a:lstStyle/>
          <a:p>
            <a:pPr marL="0" indent="0">
              <a:buNone/>
            </a:pPr>
            <a:r>
              <a:rPr lang="en-US" sz="57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OPERATING RULE  Launch only after billing, provisioning, legal terms, marketplace readiness, support rota, sales/CS runbooks and docs are all green.</a:t>
            </a:r>
            <a:endParaRPr lang="en-US" sz="57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1277</Words>
  <Application>Microsoft Office PowerPoint</Application>
  <PresentationFormat>Widescreen</PresentationFormat>
  <Paragraphs>222</Paragraphs>
  <Slides>5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9" baseType="lpstr">
      <vt:lpstr>Aptos</vt:lpstr>
      <vt:lpstr>Aptos Display</vt:lpstr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OpenAI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Mistral Studio Launch and Commercialization Plan</dc:title>
  <dc:subject>Mistral Studio Launch and Commercialization Plan</dc:subject>
  <dc:creator>OpenAI</dc:creator>
  <cp:lastModifiedBy>Shivam Singh</cp:lastModifiedBy>
  <cp:revision>1</cp:revision>
  <dcterms:created xsi:type="dcterms:W3CDTF">2026-08-17T12:43:14Z</dcterms:created>
  <dcterms:modified xsi:type="dcterms:W3CDTF">2026-08-17T12:56:01Z</dcterms:modified>
</cp:coreProperties>
</file>