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78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393192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3D00"/>
                </a:solidFill>
                <a:latin typeface="Aptos"/>
              </a:rPr>
              <a:t>MISTRAL STUDIO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1097280" y="1124712"/>
            <a:ext cx="9994392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5200" b="1" i="0">
                <a:solidFill>
                  <a:srgbClr val="FFFFFF"/>
                </a:solidFill>
                <a:latin typeface="Aptos Display"/>
              </a:rPr>
              <a:t>Launch &amp;
commercialization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239512" y="2578608"/>
            <a:ext cx="1709928" cy="32004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>
            <a:spLocks/>
          </p:cNvSpPr>
          <p:nvPr/>
        </p:nvSpPr>
        <p:spPr>
          <a:xfrm>
            <a:off x="1828800" y="2852928"/>
            <a:ext cx="8531352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0">
                <a:solidFill>
                  <a:srgbClr val="FFB000"/>
                </a:solidFill>
                <a:latin typeface="Aptos"/>
              </a:rPr>
              <a:t>The plan to price, sell, contract, bill, deploy and support Studio at launch.</a:t>
            </a:r>
          </a:p>
        </p:txBody>
      </p:sp>
      <p:pic>
        <p:nvPicPr>
          <p:cNvPr id="6" name="Picture 5" descr="slide1-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5767" y="3886200"/>
            <a:ext cx="3820160" cy="2148840"/>
          </a:xfrm>
          <a:prstGeom prst="rect">
            <a:avLst/>
          </a:prstGeom>
        </p:spPr>
      </p:pic>
      <p:sp>
        <p:nvSpPr>
          <p:cNvPr id="7" name="TextBox 6"/>
          <p:cNvSpPr txBox="1">
            <a:spLocks/>
          </p:cNvSpPr>
          <p:nvPr/>
        </p:nvSpPr>
        <p:spPr>
          <a:xfrm>
            <a:off x="566928" y="3493008"/>
            <a:ext cx="108813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C8C0B6"/>
                </a:solidFill>
                <a:latin typeface="Aptos"/>
              </a:rPr>
              <a:t>Commercial and operational scope — market, audience, positioning, messaging and proof remain in the PMM deck.</a:t>
            </a:r>
          </a:p>
        </p:txBody>
      </p:sp>
      <p:sp>
        <p:nvSpPr>
          <p:cNvPr id="8" name="TextBox 7"/>
          <p:cNvSpPr txBox="1">
            <a:spLocks/>
          </p:cNvSpPr>
          <p:nvPr/>
        </p:nvSpPr>
        <p:spPr>
          <a:xfrm>
            <a:off x="530352" y="6355080"/>
            <a:ext cx="128016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0" i="0">
                <a:solidFill>
                  <a:srgbClr val="C8C0B6"/>
                </a:solidFill>
                <a:latin typeface="Aptos"/>
              </a:rPr>
              <a:t>2026-08-16</a:t>
            </a:r>
          </a:p>
        </p:txBody>
      </p:sp>
      <p:sp>
        <p:nvSpPr>
          <p:cNvPr id="9" name="TextBox 8"/>
          <p:cNvSpPr txBox="1">
            <a:spLocks/>
          </p:cNvSpPr>
          <p:nvPr/>
        </p:nvSpPr>
        <p:spPr>
          <a:xfrm>
            <a:off x="11475720" y="6355080"/>
            <a:ext cx="32004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C8C0B6"/>
                </a:solidFill>
                <a:latin typeface="Aptos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>
            <a:spLocks/>
          </p:cNvSpPr>
          <p:nvPr/>
        </p:nvSpPr>
        <p:spPr>
          <a:xfrm>
            <a:off x="530352" y="182880"/>
            <a:ext cx="106984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3D00"/>
                </a:solidFill>
                <a:latin typeface="Aptos"/>
              </a:rPr>
              <a:t>LAUNCH CHARTER  •  COMMERCIAL SCOPE  •  DECISION RIGHTS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30352" y="420624"/>
            <a:ext cx="10789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000" b="1" i="0">
                <a:solidFill>
                  <a:srgbClr val="0A0B0D"/>
                </a:solidFill>
                <a:latin typeface="Aptos Display"/>
              </a:rPr>
              <a:t>What this launch must deliver — and what must be ready</a:t>
            </a:r>
          </a:p>
        </p:txBody>
      </p:sp>
      <p:sp>
        <p:nvSpPr>
          <p:cNvPr id="4" name="TextBox 3"/>
          <p:cNvSpPr txBox="1">
            <a:spLocks/>
          </p:cNvSpPr>
          <p:nvPr/>
        </p:nvSpPr>
        <p:spPr>
          <a:xfrm>
            <a:off x="530352" y="859536"/>
            <a:ext cx="10835640" cy="2231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i="0">
                <a:solidFill>
                  <a:srgbClr val="6D625B"/>
                </a:solidFill>
                <a:latin typeface="Aptos"/>
              </a:rPr>
              <a:t>One charter, six decisions, one scorecard.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106424"/>
            <a:ext cx="11018520" cy="16459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slide2-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73736"/>
            <a:ext cx="155448" cy="1600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0A0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38912" y="6437376"/>
            <a:ext cx="146304" cy="32004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>
            <a:spLocks/>
          </p:cNvSpPr>
          <p:nvPr/>
        </p:nvSpPr>
        <p:spPr>
          <a:xfrm>
            <a:off x="621792" y="6382512"/>
            <a:ext cx="43891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0" b="0" i="0">
                <a:solidFill>
                  <a:srgbClr val="6D625B"/>
                </a:solidFill>
                <a:latin typeface="Aptos"/>
              </a:rPr>
              <a:t>Mistral Studio  •  Launch &amp; commercialization plan</a:t>
            </a:r>
          </a:p>
        </p:txBody>
      </p:sp>
      <p:sp>
        <p:nvSpPr>
          <p:cNvPr id="10" name="TextBox 9"/>
          <p:cNvSpPr txBox="1">
            <a:spLocks/>
          </p:cNvSpPr>
          <p:nvPr/>
        </p:nvSpPr>
        <p:spPr>
          <a:xfrm>
            <a:off x="11475720" y="6355080"/>
            <a:ext cx="32004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6D625B"/>
                </a:solidFill>
                <a:latin typeface="Aptos"/>
              </a:rPr>
              <a:t>02</a:t>
            </a:r>
          </a:p>
        </p:txBody>
      </p:sp>
      <p:sp>
        <p:nvSpPr>
          <p:cNvPr id="11" name="TextBox 10"/>
          <p:cNvSpPr txBox="1">
            <a:spLocks/>
          </p:cNvSpPr>
          <p:nvPr/>
        </p:nvSpPr>
        <p:spPr>
          <a:xfrm>
            <a:off x="530352" y="1261872"/>
            <a:ext cx="36576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3D00"/>
                </a:solidFill>
                <a:latin typeface="Aptos"/>
              </a:rPr>
              <a:t>LAUNCH CHARTER</a:t>
            </a:r>
          </a:p>
        </p:txBody>
      </p:sp>
      <p:sp>
        <p:nvSpPr>
          <p:cNvPr id="12" name="TextBox 11"/>
          <p:cNvSpPr txBox="1">
            <a:spLocks/>
          </p:cNvSpPr>
          <p:nvPr/>
        </p:nvSpPr>
        <p:spPr>
          <a:xfrm>
            <a:off x="530352" y="1444752"/>
            <a:ext cx="3749039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600" b="1" i="0">
                <a:solidFill>
                  <a:srgbClr val="0A0B0D"/>
                </a:solidFill>
                <a:latin typeface="Aptos Display"/>
              </a:rPr>
              <a:t>Buyable.
Deployable.
Operable.</a:t>
            </a:r>
          </a:p>
        </p:txBody>
      </p:sp>
      <p:sp>
        <p:nvSpPr>
          <p:cNvPr id="13" name="TextBox 12"/>
          <p:cNvSpPr txBox="1">
            <a:spLocks/>
          </p:cNvSpPr>
          <p:nvPr/>
        </p:nvSpPr>
        <p:spPr>
          <a:xfrm>
            <a:off x="530352" y="2660904"/>
            <a:ext cx="7680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200" b="1" i="0">
                <a:solidFill>
                  <a:srgbClr val="FF3D00"/>
                </a:solidFill>
                <a:latin typeface="Aptos Display"/>
              </a:rPr>
              <a:t>30</a:t>
            </a:r>
          </a:p>
        </p:txBody>
      </p:sp>
      <p:sp>
        <p:nvSpPr>
          <p:cNvPr id="14" name="TextBox 13"/>
          <p:cNvSpPr txBox="1">
            <a:spLocks/>
          </p:cNvSpPr>
          <p:nvPr/>
        </p:nvSpPr>
        <p:spPr>
          <a:xfrm>
            <a:off x="1280160" y="2706624"/>
            <a:ext cx="277977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0A0B0D"/>
                </a:solidFill>
                <a:latin typeface="Aptos"/>
              </a:rPr>
              <a:t>DAYS TO PRODUCTION
FROM CONTRACT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3044952"/>
            <a:ext cx="3685032" cy="13716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530352" y="3145536"/>
            <a:ext cx="9144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3D00"/>
                </a:solidFill>
                <a:latin typeface="Aptos"/>
              </a:rPr>
              <a:t>OBJECTIVE</a:t>
            </a:r>
          </a:p>
        </p:txBody>
      </p:sp>
      <p:sp>
        <p:nvSpPr>
          <p:cNvPr id="17" name="TextBox 16"/>
          <p:cNvSpPr txBox="1">
            <a:spLocks/>
          </p:cNvSpPr>
          <p:nvPr/>
        </p:nvSpPr>
        <p:spPr>
          <a:xfrm>
            <a:off x="530352" y="3346704"/>
            <a:ext cx="3602736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0A0B0D"/>
                </a:solidFill>
                <a:latin typeface="Aptos"/>
              </a:rPr>
              <a:t>Buyable on every route; operable at launch scale.</a:t>
            </a: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530352" y="3776472"/>
            <a:ext cx="9144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3D00"/>
                </a:solidFill>
                <a:latin typeface="Aptos"/>
              </a:rPr>
              <a:t>SCOPE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530352" y="3968496"/>
            <a:ext cx="3602736" cy="623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0A0B0D"/>
                </a:solidFill>
                <a:latin typeface="Aptos"/>
              </a:rPr>
              <a:t>Pricing, routes, billing, legal, marketplace and docs — plus deploy, meter, provision, govern and support.</a:t>
            </a:r>
          </a:p>
        </p:txBody>
      </p:sp>
      <p:sp>
        <p:nvSpPr>
          <p:cNvPr id="20" name="TextBox 19"/>
          <p:cNvSpPr txBox="1">
            <a:spLocks/>
          </p:cNvSpPr>
          <p:nvPr/>
        </p:nvSpPr>
        <p:spPr>
          <a:xfrm>
            <a:off x="530352" y="4599432"/>
            <a:ext cx="9144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3D00"/>
                </a:solidFill>
                <a:latin typeface="Aptos"/>
              </a:rPr>
              <a:t>SUCCESS</a:t>
            </a:r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>
            <a:off x="530352" y="4791456"/>
            <a:ext cx="3602736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0A0B0D"/>
                </a:solidFill>
                <a:latin typeface="Aptos"/>
              </a:rPr>
              <a:t>Trial-to-paid at plan; ten workloads live; commit across all paths.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2272" y="1261872"/>
            <a:ext cx="22860" cy="3840480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4754880" y="1261872"/>
            <a:ext cx="6492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 i="0">
                <a:solidFill>
                  <a:srgbClr val="0A0B0D"/>
                </a:solidFill>
                <a:latin typeface="Aptos Display"/>
              </a:rPr>
              <a:t>Six decisions, one DRI each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4754880" y="1591056"/>
            <a:ext cx="2971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FF3D00"/>
                </a:solidFill>
                <a:latin typeface="Aptos"/>
              </a:rPr>
              <a:t>DECISION</a:t>
            </a:r>
          </a:p>
        </p:txBody>
      </p:sp>
      <p:sp>
        <p:nvSpPr>
          <p:cNvPr id="25" name="TextBox 24"/>
          <p:cNvSpPr txBox="1">
            <a:spLocks/>
          </p:cNvSpPr>
          <p:nvPr/>
        </p:nvSpPr>
        <p:spPr>
          <a:xfrm>
            <a:off x="7891272" y="1591056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FF3D00"/>
                </a:solidFill>
                <a:latin typeface="Aptos"/>
              </a:rPr>
              <a:t>DRI</a:t>
            </a:r>
          </a:p>
        </p:txBody>
      </p:sp>
      <p:sp>
        <p:nvSpPr>
          <p:cNvPr id="26" name="TextBox 25"/>
          <p:cNvSpPr txBox="1">
            <a:spLocks/>
          </p:cNvSpPr>
          <p:nvPr/>
        </p:nvSpPr>
        <p:spPr>
          <a:xfrm>
            <a:off x="9345168" y="1591056"/>
            <a:ext cx="6035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FF3D00"/>
                </a:solidFill>
                <a:latin typeface="Aptos"/>
              </a:rPr>
              <a:t>DUE</a:t>
            </a: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10113264" y="1591056"/>
            <a:ext cx="12344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FF3D00"/>
                </a:solidFill>
                <a:latin typeface="Aptos"/>
              </a:rPr>
              <a:t>STATUS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0" y="1819656"/>
            <a:ext cx="6629400" cy="10972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>
            <a:spLocks/>
          </p:cNvSpPr>
          <p:nvPr/>
        </p:nvSpPr>
        <p:spPr>
          <a:xfrm>
            <a:off x="4754880" y="1920240"/>
            <a:ext cx="2971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i="0">
                <a:solidFill>
                  <a:srgbClr val="0A0B0D"/>
                </a:solidFill>
                <a:latin typeface="Aptos"/>
              </a:rPr>
              <a:t>Budget + headcount</a:t>
            </a:r>
          </a:p>
        </p:txBody>
      </p:sp>
      <p:sp>
        <p:nvSpPr>
          <p:cNvPr id="30" name="TextBox 29"/>
          <p:cNvSpPr txBox="1">
            <a:spLocks/>
          </p:cNvSpPr>
          <p:nvPr/>
        </p:nvSpPr>
        <p:spPr>
          <a:xfrm>
            <a:off x="7891272" y="1920240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>
                <a:solidFill>
                  <a:srgbClr val="6D625B"/>
                </a:solidFill>
                <a:latin typeface="Aptos"/>
              </a:rPr>
              <a:t>CFO</a:t>
            </a:r>
          </a:p>
        </p:txBody>
      </p:sp>
      <p:sp>
        <p:nvSpPr>
          <p:cNvPr id="31" name="TextBox 30"/>
          <p:cNvSpPr txBox="1">
            <a:spLocks/>
          </p:cNvSpPr>
          <p:nvPr/>
        </p:nvSpPr>
        <p:spPr>
          <a:xfrm>
            <a:off x="9345168" y="1920240"/>
            <a:ext cx="60350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0A0B0D"/>
                </a:solidFill>
                <a:latin typeface="Aptos"/>
              </a:rPr>
              <a:t>T−6</a:t>
            </a:r>
          </a:p>
        </p:txBody>
      </p:sp>
      <p:sp>
        <p:nvSpPr>
          <p:cNvPr id="32" name="Oval 31"/>
          <p:cNvSpPr/>
          <p:nvPr/>
        </p:nvSpPr>
        <p:spPr>
          <a:xfrm>
            <a:off x="10131552" y="1970532"/>
            <a:ext cx="100584" cy="100584"/>
          </a:xfrm>
          <a:prstGeom prst="ellipse">
            <a:avLst/>
          </a:prstGeom>
          <a:solidFill>
            <a:srgbClr val="FF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>
            <a:spLocks/>
          </p:cNvSpPr>
          <p:nvPr/>
        </p:nvSpPr>
        <p:spPr>
          <a:xfrm>
            <a:off x="10305288" y="1915668"/>
            <a:ext cx="98755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8B00"/>
                </a:solidFill>
                <a:latin typeface="Aptos"/>
              </a:rPr>
              <a:t>In review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0" y="2258568"/>
            <a:ext cx="6629400" cy="7315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>
            <a:spLocks/>
          </p:cNvSpPr>
          <p:nvPr/>
        </p:nvSpPr>
        <p:spPr>
          <a:xfrm>
            <a:off x="4754880" y="2359152"/>
            <a:ext cx="2971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i="0">
                <a:solidFill>
                  <a:srgbClr val="0A0B0D"/>
                </a:solidFill>
                <a:latin typeface="Aptos"/>
              </a:rPr>
              <a:t>Revenue + commit targets</a:t>
            </a:r>
          </a:p>
        </p:txBody>
      </p:sp>
      <p:sp>
        <p:nvSpPr>
          <p:cNvPr id="36" name="TextBox 35"/>
          <p:cNvSpPr txBox="1">
            <a:spLocks/>
          </p:cNvSpPr>
          <p:nvPr/>
        </p:nvSpPr>
        <p:spPr>
          <a:xfrm>
            <a:off x="7891272" y="2359152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>
                <a:solidFill>
                  <a:srgbClr val="6D625B"/>
                </a:solidFill>
                <a:latin typeface="Aptos"/>
              </a:rPr>
              <a:t>CRO</a:t>
            </a:r>
          </a:p>
        </p:txBody>
      </p:sp>
      <p:sp>
        <p:nvSpPr>
          <p:cNvPr id="37" name="TextBox 36"/>
          <p:cNvSpPr txBox="1">
            <a:spLocks/>
          </p:cNvSpPr>
          <p:nvPr/>
        </p:nvSpPr>
        <p:spPr>
          <a:xfrm>
            <a:off x="9345168" y="2359152"/>
            <a:ext cx="60350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0A0B0D"/>
                </a:solidFill>
                <a:latin typeface="Aptos"/>
              </a:rPr>
              <a:t>T−5</a:t>
            </a:r>
          </a:p>
        </p:txBody>
      </p:sp>
      <p:sp>
        <p:nvSpPr>
          <p:cNvPr id="38" name="Oval 37"/>
          <p:cNvSpPr/>
          <p:nvPr/>
        </p:nvSpPr>
        <p:spPr>
          <a:xfrm>
            <a:off x="10131552" y="2409444"/>
            <a:ext cx="100584" cy="100584"/>
          </a:xfrm>
          <a:prstGeom prst="ellipse">
            <a:avLst/>
          </a:prstGeom>
          <a:solidFill>
            <a:srgbClr val="C24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>
            <a:spLocks/>
          </p:cNvSpPr>
          <p:nvPr/>
        </p:nvSpPr>
        <p:spPr>
          <a:xfrm>
            <a:off x="10305288" y="2354580"/>
            <a:ext cx="98755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C24A12"/>
                </a:solidFill>
                <a:latin typeface="Aptos"/>
              </a:rPr>
              <a:t>Open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54880" y="2697480"/>
            <a:ext cx="6629400" cy="7315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>
            <a:spLocks/>
          </p:cNvSpPr>
          <p:nvPr/>
        </p:nvSpPr>
        <p:spPr>
          <a:xfrm>
            <a:off x="4754880" y="2798064"/>
            <a:ext cx="2971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1" i="0">
                <a:solidFill>
                  <a:srgbClr val="0A0B0D"/>
                </a:solidFill>
                <a:latin typeface="Aptos"/>
              </a:rPr>
              <a:t>Launch tier + GA date</a:t>
            </a:r>
          </a:p>
        </p:txBody>
      </p:sp>
      <p:sp>
        <p:nvSpPr>
          <p:cNvPr id="42" name="TextBox 41"/>
          <p:cNvSpPr txBox="1">
            <a:spLocks/>
          </p:cNvSpPr>
          <p:nvPr/>
        </p:nvSpPr>
        <p:spPr>
          <a:xfrm>
            <a:off x="7891272" y="2798064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>
                <a:solidFill>
                  <a:srgbClr val="6D625B"/>
                </a:solidFill>
                <a:latin typeface="Aptos"/>
              </a:rPr>
              <a:t>VP Product</a:t>
            </a:r>
          </a:p>
        </p:txBody>
      </p:sp>
      <p:sp>
        <p:nvSpPr>
          <p:cNvPr id="43" name="TextBox 42"/>
          <p:cNvSpPr txBox="1">
            <a:spLocks/>
          </p:cNvSpPr>
          <p:nvPr/>
        </p:nvSpPr>
        <p:spPr>
          <a:xfrm>
            <a:off x="9345168" y="2798064"/>
            <a:ext cx="60350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0A0B0D"/>
                </a:solidFill>
                <a:latin typeface="Aptos"/>
              </a:rPr>
              <a:t>T−8</a:t>
            </a:r>
          </a:p>
        </p:txBody>
      </p:sp>
      <p:sp>
        <p:nvSpPr>
          <p:cNvPr id="44" name="Oval 43"/>
          <p:cNvSpPr/>
          <p:nvPr/>
        </p:nvSpPr>
        <p:spPr>
          <a:xfrm>
            <a:off x="10131552" y="2848356"/>
            <a:ext cx="100584" cy="100584"/>
          </a:xfrm>
          <a:prstGeom prst="ellipse">
            <a:avLst/>
          </a:prstGeom>
          <a:solidFill>
            <a:srgbClr val="238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>
            <a:spLocks/>
          </p:cNvSpPr>
          <p:nvPr/>
        </p:nvSpPr>
        <p:spPr>
          <a:xfrm>
            <a:off x="10305288" y="2793492"/>
            <a:ext cx="98755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238A55"/>
                </a:solidFill>
                <a:latin typeface="Aptos"/>
              </a:rPr>
              <a:t>Approved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54880" y="3136392"/>
            <a:ext cx="6629400" cy="7315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>
            <a:spLocks/>
          </p:cNvSpPr>
          <p:nvPr/>
        </p:nvSpPr>
        <p:spPr>
          <a:xfrm>
            <a:off x="4754880" y="3236976"/>
            <a:ext cx="2971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i="0">
                <a:solidFill>
                  <a:srgbClr val="0A0B0D"/>
                </a:solidFill>
                <a:latin typeface="Aptos"/>
              </a:rPr>
              <a:t>Pricing + packaging</a:t>
            </a:r>
          </a:p>
        </p:txBody>
      </p:sp>
      <p:sp>
        <p:nvSpPr>
          <p:cNvPr id="48" name="TextBox 47"/>
          <p:cNvSpPr txBox="1">
            <a:spLocks/>
          </p:cNvSpPr>
          <p:nvPr/>
        </p:nvSpPr>
        <p:spPr>
          <a:xfrm>
            <a:off x="7891272" y="3236976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>
                <a:solidFill>
                  <a:srgbClr val="6D625B"/>
                </a:solidFill>
                <a:latin typeface="Aptos"/>
              </a:rPr>
              <a:t>CFO + CRO</a:t>
            </a:r>
          </a:p>
        </p:txBody>
      </p:sp>
      <p:sp>
        <p:nvSpPr>
          <p:cNvPr id="49" name="TextBox 48"/>
          <p:cNvSpPr txBox="1">
            <a:spLocks/>
          </p:cNvSpPr>
          <p:nvPr/>
        </p:nvSpPr>
        <p:spPr>
          <a:xfrm>
            <a:off x="9345168" y="3236976"/>
            <a:ext cx="60350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0A0B0D"/>
                </a:solidFill>
                <a:latin typeface="Aptos"/>
              </a:rPr>
              <a:t>T−6</a:t>
            </a:r>
          </a:p>
        </p:txBody>
      </p:sp>
      <p:sp>
        <p:nvSpPr>
          <p:cNvPr id="50" name="Oval 49"/>
          <p:cNvSpPr/>
          <p:nvPr/>
        </p:nvSpPr>
        <p:spPr>
          <a:xfrm>
            <a:off x="10131552" y="3287268"/>
            <a:ext cx="100584" cy="100584"/>
          </a:xfrm>
          <a:prstGeom prst="ellipse">
            <a:avLst/>
          </a:prstGeom>
          <a:solidFill>
            <a:srgbClr val="FF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>
            <a:spLocks/>
          </p:cNvSpPr>
          <p:nvPr/>
        </p:nvSpPr>
        <p:spPr>
          <a:xfrm>
            <a:off x="10305288" y="3232404"/>
            <a:ext cx="98755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8B00"/>
                </a:solidFill>
                <a:latin typeface="Aptos"/>
              </a:rPr>
              <a:t>In review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754880" y="3575304"/>
            <a:ext cx="6629400" cy="7315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/>
          <p:cNvSpPr txBox="1">
            <a:spLocks/>
          </p:cNvSpPr>
          <p:nvPr/>
        </p:nvSpPr>
        <p:spPr>
          <a:xfrm>
            <a:off x="4754880" y="3675888"/>
            <a:ext cx="2971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i="0">
                <a:solidFill>
                  <a:srgbClr val="0A0B0D"/>
                </a:solidFill>
                <a:latin typeface="Aptos"/>
              </a:rPr>
              <a:t>SLA + support model</a:t>
            </a:r>
          </a:p>
        </p:txBody>
      </p:sp>
      <p:sp>
        <p:nvSpPr>
          <p:cNvPr id="54" name="TextBox 53"/>
          <p:cNvSpPr txBox="1">
            <a:spLocks/>
          </p:cNvSpPr>
          <p:nvPr/>
        </p:nvSpPr>
        <p:spPr>
          <a:xfrm>
            <a:off x="7891272" y="3675888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>
                <a:solidFill>
                  <a:srgbClr val="6D625B"/>
                </a:solidFill>
                <a:latin typeface="Aptos"/>
              </a:rPr>
              <a:t>VP Engineering</a:t>
            </a:r>
          </a:p>
        </p:txBody>
      </p:sp>
      <p:sp>
        <p:nvSpPr>
          <p:cNvPr id="55" name="TextBox 54"/>
          <p:cNvSpPr txBox="1">
            <a:spLocks/>
          </p:cNvSpPr>
          <p:nvPr/>
        </p:nvSpPr>
        <p:spPr>
          <a:xfrm>
            <a:off x="9345168" y="3675888"/>
            <a:ext cx="60350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0A0B0D"/>
                </a:solidFill>
                <a:latin typeface="Aptos"/>
              </a:rPr>
              <a:t>T−5</a:t>
            </a:r>
          </a:p>
        </p:txBody>
      </p:sp>
      <p:sp>
        <p:nvSpPr>
          <p:cNvPr id="56" name="Oval 55"/>
          <p:cNvSpPr/>
          <p:nvPr/>
        </p:nvSpPr>
        <p:spPr>
          <a:xfrm>
            <a:off x="10131552" y="3726180"/>
            <a:ext cx="100584" cy="100584"/>
          </a:xfrm>
          <a:prstGeom prst="ellipse">
            <a:avLst/>
          </a:prstGeom>
          <a:solidFill>
            <a:srgbClr val="C24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>
            <a:spLocks/>
          </p:cNvSpPr>
          <p:nvPr/>
        </p:nvSpPr>
        <p:spPr>
          <a:xfrm>
            <a:off x="10305288" y="3671316"/>
            <a:ext cx="98755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C24A12"/>
                </a:solidFill>
                <a:latin typeface="Aptos"/>
              </a:rPr>
              <a:t>Open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54880" y="4014216"/>
            <a:ext cx="6629400" cy="7315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/>
          <p:cNvSpPr txBox="1">
            <a:spLocks/>
          </p:cNvSpPr>
          <p:nvPr/>
        </p:nvSpPr>
        <p:spPr>
          <a:xfrm>
            <a:off x="4754880" y="4114800"/>
            <a:ext cx="2971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i="0">
                <a:solidFill>
                  <a:srgbClr val="0A0B0D"/>
                </a:solidFill>
                <a:latin typeface="Aptos"/>
              </a:rPr>
              <a:t>Contract + marketplace terms</a:t>
            </a:r>
          </a:p>
        </p:txBody>
      </p:sp>
      <p:sp>
        <p:nvSpPr>
          <p:cNvPr id="60" name="TextBox 59"/>
          <p:cNvSpPr txBox="1">
            <a:spLocks/>
          </p:cNvSpPr>
          <p:nvPr/>
        </p:nvSpPr>
        <p:spPr>
          <a:xfrm>
            <a:off x="7891272" y="4114800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>
                <a:solidFill>
                  <a:srgbClr val="6D625B"/>
                </a:solidFill>
                <a:latin typeface="Aptos"/>
              </a:rPr>
              <a:t>GC</a:t>
            </a:r>
          </a:p>
        </p:txBody>
      </p:sp>
      <p:sp>
        <p:nvSpPr>
          <p:cNvPr id="61" name="TextBox 60"/>
          <p:cNvSpPr txBox="1">
            <a:spLocks/>
          </p:cNvSpPr>
          <p:nvPr/>
        </p:nvSpPr>
        <p:spPr>
          <a:xfrm>
            <a:off x="9345168" y="4114800"/>
            <a:ext cx="60350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0A0B0D"/>
                </a:solidFill>
                <a:latin typeface="Aptos"/>
              </a:rPr>
              <a:t>T−4</a:t>
            </a:r>
          </a:p>
        </p:txBody>
      </p:sp>
      <p:sp>
        <p:nvSpPr>
          <p:cNvPr id="62" name="Oval 61"/>
          <p:cNvSpPr/>
          <p:nvPr/>
        </p:nvSpPr>
        <p:spPr>
          <a:xfrm>
            <a:off x="10131552" y="4165092"/>
            <a:ext cx="100584" cy="100584"/>
          </a:xfrm>
          <a:prstGeom prst="ellipse">
            <a:avLst/>
          </a:prstGeom>
          <a:solidFill>
            <a:srgbClr val="C24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/>
          <p:cNvSpPr txBox="1">
            <a:spLocks/>
          </p:cNvSpPr>
          <p:nvPr/>
        </p:nvSpPr>
        <p:spPr>
          <a:xfrm>
            <a:off x="10305288" y="4110228"/>
            <a:ext cx="98755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C24A12"/>
                </a:solidFill>
                <a:latin typeface="Aptos"/>
              </a:rPr>
              <a:t>Open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754880" y="4453128"/>
            <a:ext cx="6629400" cy="7315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>
            <a:spLocks/>
          </p:cNvSpPr>
          <p:nvPr/>
        </p:nvSpPr>
        <p:spPr>
          <a:xfrm>
            <a:off x="4754880" y="4654296"/>
            <a:ext cx="12344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FF3D00"/>
                </a:solidFill>
                <a:latin typeface="Aptos"/>
              </a:rPr>
              <a:t>DECISION STANDARD</a:t>
            </a:r>
          </a:p>
        </p:txBody>
      </p:sp>
      <p:sp>
        <p:nvSpPr>
          <p:cNvPr id="66" name="TextBox 65"/>
          <p:cNvSpPr txBox="1">
            <a:spLocks/>
          </p:cNvSpPr>
          <p:nvPr/>
        </p:nvSpPr>
        <p:spPr>
          <a:xfrm>
            <a:off x="6153912" y="4608576"/>
            <a:ext cx="5184648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i="0">
                <a:solidFill>
                  <a:srgbClr val="0A0B0D"/>
                </a:solidFill>
                <a:latin typeface="Aptos"/>
              </a:rPr>
              <a:t>Every decision has an owner, due date and status before the critical path begins.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0352" y="5248656"/>
            <a:ext cx="10817352" cy="25603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>
            <a:spLocks/>
          </p:cNvSpPr>
          <p:nvPr/>
        </p:nvSpPr>
        <p:spPr>
          <a:xfrm>
            <a:off x="530352" y="5330952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3D00"/>
                </a:solidFill>
                <a:latin typeface="Aptos"/>
              </a:rPr>
              <a:t>SCORECARD</a:t>
            </a:r>
          </a:p>
        </p:txBody>
      </p:sp>
      <p:sp>
        <p:nvSpPr>
          <p:cNvPr id="69" name="TextBox 68"/>
          <p:cNvSpPr txBox="1">
            <a:spLocks/>
          </p:cNvSpPr>
          <p:nvPr/>
        </p:nvSpPr>
        <p:spPr>
          <a:xfrm>
            <a:off x="1691640" y="5321808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0A0B0D"/>
                </a:solidFill>
                <a:latin typeface="Aptos"/>
              </a:rPr>
              <a:t>CONVERSION</a:t>
            </a:r>
          </a:p>
        </p:txBody>
      </p:sp>
      <p:sp>
        <p:nvSpPr>
          <p:cNvPr id="70" name="TextBox 69"/>
          <p:cNvSpPr txBox="1">
            <a:spLocks/>
          </p:cNvSpPr>
          <p:nvPr/>
        </p:nvSpPr>
        <p:spPr>
          <a:xfrm>
            <a:off x="1691640" y="55321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6D625B"/>
                </a:solidFill>
                <a:latin typeface="Aptos"/>
              </a:rPr>
              <a:t>Trial-to-paid
POV-to-contract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474720" y="5358384"/>
            <a:ext cx="10972" cy="566928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/>
          <p:cNvSpPr txBox="1">
            <a:spLocks/>
          </p:cNvSpPr>
          <p:nvPr/>
        </p:nvSpPr>
        <p:spPr>
          <a:xfrm>
            <a:off x="3630168" y="5321808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0A0B0D"/>
                </a:solidFill>
                <a:latin typeface="Aptos"/>
              </a:rPr>
              <a:t>REVENUE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30168" y="55321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D625B"/>
                </a:solidFill>
                <a:latin typeface="Aptos"/>
              </a:rPr>
              <a:t>ACV • Commit
Expansion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13248" y="5358384"/>
            <a:ext cx="10972" cy="566928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568696" y="5321808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A0B0D"/>
                </a:solidFill>
                <a:latin typeface="Aptos"/>
              </a:rPr>
              <a:t>VELOCITY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68696" y="55321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D625B"/>
                </a:solidFill>
                <a:latin typeface="Aptos"/>
              </a:rPr>
              <a:t>Time to contract
Time to production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51776" y="5358384"/>
            <a:ext cx="10972" cy="566928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7507224" y="5321808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A0B0D"/>
                </a:solidFill>
                <a:latin typeface="Aptos"/>
              </a:rPr>
              <a:t>MIX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507224" y="55321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D625B"/>
                </a:solidFill>
                <a:latin typeface="Aptos"/>
              </a:rPr>
              <a:t>Tier mix
Marketplace share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290304" y="5358384"/>
            <a:ext cx="10972" cy="566928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9445752" y="5321808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A0B0D"/>
                </a:solidFill>
                <a:latin typeface="Aptos"/>
              </a:rPr>
              <a:t>PRODUCTION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445752" y="55321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D625B"/>
                </a:solidFill>
                <a:latin typeface="Aptos"/>
              </a:rPr>
              <a:t>Live workloads
Paying teams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13232" y="6089904"/>
            <a:ext cx="10451592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0A0B0D"/>
                </a:solidFill>
                <a:latin typeface="Aptos"/>
              </a:rPr>
              <a:t>THE ASK  Clear every decision by T−4; amber escalates to steering.</a:t>
            </a:r>
            <a:endParaRPr sz="1300" b="1" i="0">
              <a:solidFill>
                <a:srgbClr val="0A0B0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>
            <a:spLocks/>
          </p:cNvSpPr>
          <p:nvPr/>
        </p:nvSpPr>
        <p:spPr>
          <a:xfrm>
            <a:off x="530352" y="182880"/>
            <a:ext cx="106984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3D00"/>
                </a:solidFill>
                <a:latin typeface="Aptos"/>
              </a:rPr>
              <a:t>A. ROUTES TO MARKET  •  COMMERCIAL MOTION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30352" y="420624"/>
            <a:ext cx="10789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000" b="1" i="0">
                <a:solidFill>
                  <a:srgbClr val="0A0B0D"/>
                </a:solidFill>
                <a:latin typeface="Aptos Display"/>
              </a:rPr>
              <a:t>Four routes, one commercial spine</a:t>
            </a:r>
          </a:p>
        </p:txBody>
      </p:sp>
      <p:sp>
        <p:nvSpPr>
          <p:cNvPr id="4" name="TextBox 3"/>
          <p:cNvSpPr txBox="1">
            <a:spLocks/>
          </p:cNvSpPr>
          <p:nvPr/>
        </p:nvSpPr>
        <p:spPr>
          <a:xfrm>
            <a:off x="530352" y="859536"/>
            <a:ext cx="10835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i="0">
                <a:solidFill>
                  <a:srgbClr val="6D625B"/>
                </a:solidFill>
                <a:latin typeface="Aptos"/>
              </a:rPr>
              <a:t>The buying vehicle determines entry; every route advances through the same gated handoffs.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106424"/>
            <a:ext cx="11018520" cy="16459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slide2-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73736"/>
            <a:ext cx="155448" cy="1600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0A0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38912" y="6437376"/>
            <a:ext cx="146304" cy="32004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>
            <a:spLocks/>
          </p:cNvSpPr>
          <p:nvPr/>
        </p:nvSpPr>
        <p:spPr>
          <a:xfrm>
            <a:off x="621792" y="6382512"/>
            <a:ext cx="43891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0" b="0" i="0">
                <a:solidFill>
                  <a:srgbClr val="6D625B"/>
                </a:solidFill>
                <a:latin typeface="Aptos"/>
              </a:rPr>
              <a:t>Mistral Studio  •  Launch &amp; commercialization plan</a:t>
            </a:r>
          </a:p>
        </p:txBody>
      </p:sp>
      <p:sp>
        <p:nvSpPr>
          <p:cNvPr id="10" name="TextBox 9"/>
          <p:cNvSpPr txBox="1">
            <a:spLocks/>
          </p:cNvSpPr>
          <p:nvPr/>
        </p:nvSpPr>
        <p:spPr>
          <a:xfrm>
            <a:off x="11475720" y="6355080"/>
            <a:ext cx="32004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6D625B"/>
                </a:solidFill>
                <a:latin typeface="Aptos"/>
              </a:rPr>
              <a:t>03</a:t>
            </a:r>
          </a:p>
        </p:txBody>
      </p:sp>
      <p:sp>
        <p:nvSpPr>
          <p:cNvPr id="11" name="TextBox 10"/>
          <p:cNvSpPr txBox="1">
            <a:spLocks/>
          </p:cNvSpPr>
          <p:nvPr/>
        </p:nvSpPr>
        <p:spPr>
          <a:xfrm>
            <a:off x="530352" y="1261872"/>
            <a:ext cx="32918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3D00"/>
                </a:solidFill>
                <a:latin typeface="Aptos"/>
              </a:rPr>
              <a:t>ENTRY ROUTES AND ROUTE OF RECORD</a:t>
            </a:r>
          </a:p>
        </p:txBody>
      </p:sp>
      <p:sp>
        <p:nvSpPr>
          <p:cNvPr id="12" name="TextBox 11"/>
          <p:cNvSpPr txBox="1">
            <a:spLocks/>
          </p:cNvSpPr>
          <p:nvPr/>
        </p:nvSpPr>
        <p:spPr>
          <a:xfrm>
            <a:off x="530352" y="1536192"/>
            <a:ext cx="130759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6D625B"/>
                </a:solidFill>
                <a:latin typeface="Aptos"/>
              </a:rPr>
              <a:t>ROUTE</a:t>
            </a:r>
          </a:p>
        </p:txBody>
      </p:sp>
      <p:sp>
        <p:nvSpPr>
          <p:cNvPr id="13" name="TextBox 12"/>
          <p:cNvSpPr txBox="1">
            <a:spLocks/>
          </p:cNvSpPr>
          <p:nvPr/>
        </p:nvSpPr>
        <p:spPr>
          <a:xfrm>
            <a:off x="1984248" y="1536192"/>
            <a:ext cx="26974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6D625B"/>
                </a:solidFill>
                <a:latin typeface="Aptos"/>
              </a:rPr>
              <a:t>WHO ENTERS THERE</a:t>
            </a:r>
          </a:p>
        </p:txBody>
      </p:sp>
      <p:sp>
        <p:nvSpPr>
          <p:cNvPr id="14" name="TextBox 13"/>
          <p:cNvSpPr txBox="1">
            <a:spLocks/>
          </p:cNvSpPr>
          <p:nvPr/>
        </p:nvSpPr>
        <p:spPr>
          <a:xfrm>
            <a:off x="4846320" y="1536192"/>
            <a:ext cx="277977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6D625B"/>
                </a:solidFill>
                <a:latin typeface="Aptos"/>
              </a:rPr>
              <a:t>HOW IT IS RUN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7790688" y="1536192"/>
            <a:ext cx="35387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6D625B"/>
                </a:solidFill>
                <a:latin typeface="Aptos"/>
              </a:rPr>
              <a:t>ROUTE RULE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11137392" cy="548640"/>
          </a:xfrm>
          <a:prstGeom prst="rect">
            <a:avLst/>
          </a:prstGeom>
          <a:solidFill>
            <a:srgbClr val="FD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457200" y="1783080"/>
            <a:ext cx="54864" cy="548640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530352" y="1810512"/>
            <a:ext cx="130759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0A0B0D"/>
                </a:solidFill>
                <a:latin typeface="Aptos"/>
              </a:rPr>
              <a:t>Self-serve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1984248" y="1810512"/>
            <a:ext cx="269748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>
                <a:solidFill>
                  <a:srgbClr val="0A0B0D"/>
                </a:solidFill>
                <a:latin typeface="Aptos"/>
              </a:rPr>
              <a:t>Developers and small teams; card or PAYG</a:t>
            </a:r>
          </a:p>
        </p:txBody>
      </p:sp>
      <p:sp>
        <p:nvSpPr>
          <p:cNvPr id="20" name="TextBox 19"/>
          <p:cNvSpPr txBox="1">
            <a:spLocks/>
          </p:cNvSpPr>
          <p:nvPr/>
        </p:nvSpPr>
        <p:spPr>
          <a:xfrm>
            <a:off x="4846320" y="1810512"/>
            <a:ext cx="277977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>
                <a:solidFill>
                  <a:srgbClr val="0A0B0D"/>
                </a:solidFill>
                <a:latin typeface="Aptos"/>
              </a:rPr>
              <a:t>Product-led; Growth owns funnel, Sales above threshold</a:t>
            </a:r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>
            <a:off x="7790688" y="1810512"/>
            <a:ext cx="353872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>
                <a:solidFill>
                  <a:srgbClr val="0A0B0D"/>
                </a:solidFill>
                <a:latin typeface="Aptos"/>
              </a:rPr>
              <a:t>Default below enterprise spend threshold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0352" y="2331720"/>
            <a:ext cx="10908792" cy="7315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57200" y="2404872"/>
            <a:ext cx="54864" cy="548640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530352" y="2432304"/>
            <a:ext cx="130759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0A0B0D"/>
                </a:solidFill>
                <a:latin typeface="Aptos"/>
              </a:rPr>
              <a:t>Direct enterprise</a:t>
            </a:r>
          </a:p>
        </p:txBody>
      </p:sp>
      <p:sp>
        <p:nvSpPr>
          <p:cNvPr id="25" name="TextBox 24"/>
          <p:cNvSpPr txBox="1">
            <a:spLocks/>
          </p:cNvSpPr>
          <p:nvPr/>
        </p:nvSpPr>
        <p:spPr>
          <a:xfrm>
            <a:off x="1984248" y="2432304"/>
            <a:ext cx="269748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>
                <a:solidFill>
                  <a:srgbClr val="0A0B0D"/>
                </a:solidFill>
                <a:latin typeface="Aptos"/>
              </a:rPr>
              <a:t>Platform teams; committed capacity, custom terms</a:t>
            </a:r>
          </a:p>
        </p:txBody>
      </p:sp>
      <p:sp>
        <p:nvSpPr>
          <p:cNvPr id="26" name="TextBox 25"/>
          <p:cNvSpPr txBox="1">
            <a:spLocks/>
          </p:cNvSpPr>
          <p:nvPr/>
        </p:nvSpPr>
        <p:spPr>
          <a:xfrm>
            <a:off x="4846320" y="2432304"/>
            <a:ext cx="277977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>
                <a:solidFill>
                  <a:srgbClr val="0A0B0D"/>
                </a:solidFill>
                <a:latin typeface="Aptos"/>
              </a:rPr>
              <a:t>Sales-led; AE + SE own POV; Finance approves terms</a:t>
            </a: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7790688" y="2432304"/>
            <a:ext cx="353872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>
                <a:solidFill>
                  <a:srgbClr val="0A0B0D"/>
                </a:solidFill>
                <a:latin typeface="Aptos"/>
              </a:rPr>
              <a:t>Default above enterprise threshold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2953512"/>
            <a:ext cx="10908792" cy="7315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457200" y="3026664"/>
            <a:ext cx="11137392" cy="548640"/>
          </a:xfrm>
          <a:prstGeom prst="rect">
            <a:avLst/>
          </a:prstGeom>
          <a:solidFill>
            <a:srgbClr val="FD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57200" y="3026664"/>
            <a:ext cx="54864" cy="548640"/>
          </a:xfrm>
          <a:prstGeom prst="rect">
            <a:avLst/>
          </a:prstGeom>
          <a:solidFill>
            <a:srgbClr val="FF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>
            <a:spLocks/>
          </p:cNvSpPr>
          <p:nvPr/>
        </p:nvSpPr>
        <p:spPr>
          <a:xfrm>
            <a:off x="530352" y="3054096"/>
            <a:ext cx="130759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0A0B0D"/>
                </a:solidFill>
                <a:latin typeface="Aptos"/>
              </a:rPr>
              <a:t>Cloud marketplace</a:t>
            </a:r>
          </a:p>
        </p:txBody>
      </p:sp>
      <p:sp>
        <p:nvSpPr>
          <p:cNvPr id="32" name="TextBox 31"/>
          <p:cNvSpPr txBox="1">
            <a:spLocks/>
          </p:cNvSpPr>
          <p:nvPr/>
        </p:nvSpPr>
        <p:spPr>
          <a:xfrm>
            <a:off x="1984248" y="3054096"/>
            <a:ext cx="269748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>
                <a:solidFill>
                  <a:srgbClr val="0A0B0D"/>
                </a:solidFill>
                <a:latin typeface="Aptos"/>
              </a:rPr>
              <a:t>Cloud-committed buyers; private offers retire spend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3054096"/>
            <a:ext cx="277977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A0B0D"/>
                </a:solidFill>
                <a:latin typeface="Aptos"/>
              </a:rPr>
              <a:t>Co-sell; Alliances own listings and private offers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90688" y="3054096"/>
            <a:ext cx="353872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A0B0D"/>
                </a:solidFill>
                <a:latin typeface="Aptos"/>
              </a:rPr>
              <a:t>Use when cloud commitment applies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0352" y="3575303"/>
            <a:ext cx="10908792" cy="7315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57200" y="3648456"/>
            <a:ext cx="54864" cy="548640"/>
          </a:xfrm>
          <a:prstGeom prst="rect">
            <a:avLst/>
          </a:prstGeom>
          <a:solidFill>
            <a:srgbClr val="FF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30352" y="3675887"/>
            <a:ext cx="130759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0B0D"/>
                </a:solidFill>
                <a:latin typeface="Aptos"/>
              </a:rPr>
              <a:t>Partners / SIs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84248" y="3675887"/>
            <a:ext cx="269748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A0B0D"/>
                </a:solidFill>
                <a:latin typeface="Aptos"/>
              </a:rPr>
              <a:t>Regulated or delivery-led accounts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0" y="3675887"/>
            <a:ext cx="277977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A0B0D"/>
                </a:solidFill>
                <a:latin typeface="Aptos"/>
              </a:rPr>
              <a:t>Co-sell; partners deploy with SE support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90688" y="3675887"/>
            <a:ext cx="353872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A0B0D"/>
                </a:solidFill>
                <a:latin typeface="Aptos"/>
              </a:rPr>
              <a:t>Use when delivery capacity decides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0352" y="4197096"/>
            <a:ext cx="10908792" cy="7315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30352" y="4297680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3D00"/>
                </a:solidFill>
                <a:latin typeface="Aptos"/>
              </a:rPr>
              <a:t>COMMON COMMERCIAL SPINE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3232" y="4800600"/>
            <a:ext cx="10543032" cy="21945"/>
          </a:xfrm>
          <a:prstGeom prst="rect">
            <a:avLst/>
          </a:prstGeom>
          <a:solidFill>
            <a:srgbClr val="0A0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530352" y="4645152"/>
            <a:ext cx="310896" cy="310896"/>
          </a:xfrm>
          <a:prstGeom prst="ellipse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30352" y="4690872"/>
            <a:ext cx="310896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0352" y="5047488"/>
            <a:ext cx="1600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A0B0D"/>
                </a:solidFill>
                <a:latin typeface="Aptos"/>
              </a:rPr>
              <a:t>TRIAL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" y="5285232"/>
            <a:ext cx="1627632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B0D"/>
                </a:solidFill>
                <a:latin typeface="Aptos"/>
              </a:rPr>
              <a:t>Workspace + first
workflow</a:t>
            </a:r>
          </a:p>
        </p:txBody>
      </p:sp>
      <p:sp>
        <p:nvSpPr>
          <p:cNvPr id="48" name="TextBox 47"/>
          <p:cNvSpPr txBox="1">
            <a:spLocks/>
          </p:cNvSpPr>
          <p:nvPr/>
        </p:nvSpPr>
        <p:spPr>
          <a:xfrm>
            <a:off x="530352" y="5696712"/>
            <a:ext cx="162763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6D625B"/>
                </a:solidFill>
                <a:latin typeface="Aptos"/>
              </a:rPr>
              <a:t>Product • Growth</a:t>
            </a:r>
          </a:p>
        </p:txBody>
      </p:sp>
      <p:sp>
        <p:nvSpPr>
          <p:cNvPr id="49" name="Oval 48"/>
          <p:cNvSpPr/>
          <p:nvPr/>
        </p:nvSpPr>
        <p:spPr>
          <a:xfrm>
            <a:off x="2340864" y="4645152"/>
            <a:ext cx="310896" cy="310896"/>
          </a:xfrm>
          <a:prstGeom prst="ellipse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340864" y="4690872"/>
            <a:ext cx="310896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40864" y="5047488"/>
            <a:ext cx="1600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A0B0D"/>
                </a:solidFill>
                <a:latin typeface="Aptos"/>
              </a:rPr>
              <a:t>QUALIFY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40864" y="5285232"/>
            <a:ext cx="1627632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B0D"/>
                </a:solidFill>
                <a:latin typeface="Aptos"/>
              </a:rPr>
              <a:t>Use case + budget
confirmed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40864" y="5696712"/>
            <a:ext cx="162763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D625B"/>
                </a:solidFill>
                <a:latin typeface="Aptos"/>
              </a:rPr>
              <a:t>Product • Growth • Sales</a:t>
            </a:r>
          </a:p>
        </p:txBody>
      </p:sp>
      <p:sp>
        <p:nvSpPr>
          <p:cNvPr id="54" name="Oval 53"/>
          <p:cNvSpPr/>
          <p:nvPr/>
        </p:nvSpPr>
        <p:spPr>
          <a:xfrm>
            <a:off x="4151376" y="4645152"/>
            <a:ext cx="310896" cy="310896"/>
          </a:xfrm>
          <a:prstGeom prst="ellipse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151376" y="4690872"/>
            <a:ext cx="310896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51376" y="5047488"/>
            <a:ext cx="1600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A0B0D"/>
                </a:solidFill>
                <a:latin typeface="Aptos"/>
              </a:rPr>
              <a:t>POV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51376" y="5285232"/>
            <a:ext cx="1627632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B0D"/>
                </a:solidFill>
                <a:latin typeface="Aptos"/>
              </a:rPr>
              <a:t>Scope + success
signed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51376" y="5696712"/>
            <a:ext cx="162763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D625B"/>
                </a:solidFill>
                <a:latin typeface="Aptos"/>
              </a:rPr>
              <a:t>Sales • SE • Product</a:t>
            </a:r>
          </a:p>
        </p:txBody>
      </p:sp>
      <p:sp>
        <p:nvSpPr>
          <p:cNvPr id="59" name="Oval 58"/>
          <p:cNvSpPr/>
          <p:nvPr/>
        </p:nvSpPr>
        <p:spPr>
          <a:xfrm>
            <a:off x="5961888" y="4645152"/>
            <a:ext cx="310896" cy="310896"/>
          </a:xfrm>
          <a:prstGeom prst="ellipse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961888" y="4690872"/>
            <a:ext cx="310896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61888" y="5047488"/>
            <a:ext cx="1600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A0B0D"/>
                </a:solidFill>
                <a:latin typeface="Aptos"/>
              </a:rPr>
              <a:t>CONTRACT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61888" y="5285232"/>
            <a:ext cx="1627632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B0D"/>
                </a:solidFill>
                <a:latin typeface="Aptos"/>
              </a:rPr>
              <a:t>Terms + security
cleared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61888" y="5696712"/>
            <a:ext cx="162763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D625B"/>
                </a:solidFill>
                <a:latin typeface="Aptos"/>
              </a:rPr>
              <a:t>Sales • Finance • Legal</a:t>
            </a:r>
          </a:p>
        </p:txBody>
      </p:sp>
      <p:sp>
        <p:nvSpPr>
          <p:cNvPr id="64" name="Oval 63"/>
          <p:cNvSpPr/>
          <p:nvPr/>
        </p:nvSpPr>
        <p:spPr>
          <a:xfrm>
            <a:off x="7772400" y="4645152"/>
            <a:ext cx="310896" cy="310896"/>
          </a:xfrm>
          <a:prstGeom prst="ellipse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772400" y="4690872"/>
            <a:ext cx="310896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72400" y="5047488"/>
            <a:ext cx="1600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A0B0D"/>
                </a:solidFill>
                <a:latin typeface="Aptos"/>
              </a:rPr>
              <a:t>DEPLOY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772400" y="5285232"/>
            <a:ext cx="1627632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B0D"/>
                </a:solidFill>
                <a:latin typeface="Aptos"/>
              </a:rPr>
              <a:t>Production live
on SLA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0" y="5696712"/>
            <a:ext cx="162763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D625B"/>
                </a:solidFill>
                <a:latin typeface="Aptos"/>
              </a:rPr>
              <a:t>CS • SE • Product</a:t>
            </a:r>
          </a:p>
        </p:txBody>
      </p:sp>
      <p:sp>
        <p:nvSpPr>
          <p:cNvPr id="69" name="Oval 68"/>
          <p:cNvSpPr/>
          <p:nvPr/>
        </p:nvSpPr>
        <p:spPr>
          <a:xfrm>
            <a:off x="9582912" y="4645152"/>
            <a:ext cx="310896" cy="310896"/>
          </a:xfrm>
          <a:prstGeom prst="ellipse">
            <a:avLst/>
          </a:prstGeom>
          <a:solidFill>
            <a:srgbClr val="0A0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9582912" y="4690872"/>
            <a:ext cx="310896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582912" y="5047488"/>
            <a:ext cx="1600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A0B0D"/>
                </a:solidFill>
                <a:latin typeface="Aptos"/>
              </a:rPr>
              <a:t>EXPAND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582912" y="5285232"/>
            <a:ext cx="1627632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B0D"/>
                </a:solidFill>
                <a:latin typeface="Aptos"/>
              </a:rPr>
              <a:t>Second use case
+ uplift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82912" y="5696712"/>
            <a:ext cx="162763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D625B"/>
                </a:solidFill>
                <a:latin typeface="Aptos"/>
              </a:rPr>
              <a:t>CS • SE • Finance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30352" y="5952744"/>
            <a:ext cx="10817352" cy="347472"/>
          </a:xfrm>
          <a:prstGeom prst="rect">
            <a:avLst/>
          </a:prstGeom>
          <a:solidFill>
            <a:srgbClr val="0A0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713232" y="6035040"/>
            <a:ext cx="10451592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ptos"/>
              </a:rPr>
              <a:t>GATE RULE  Active workspace → signed POV scope → criteria met → production workload → proof-led expansion.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>
            <a:spLocks/>
          </p:cNvSpPr>
          <p:nvPr/>
        </p:nvSpPr>
        <p:spPr>
          <a:xfrm>
            <a:off x="530352" y="182880"/>
            <a:ext cx="106984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3D00"/>
                </a:solidFill>
                <a:latin typeface="Aptos"/>
              </a:rPr>
              <a:t>B. PRICING  •  PACKAGING  •  COMMERCIAL TERMS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30352" y="420624"/>
            <a:ext cx="10789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000" b="1" i="0">
                <a:solidFill>
                  <a:srgbClr val="0A0B0D"/>
                </a:solidFill>
                <a:latin typeface="Aptos Display"/>
              </a:rPr>
              <a:t>Three tiers, one meter, one commercial rulebook</a:t>
            </a:r>
          </a:p>
        </p:txBody>
      </p:sp>
      <p:sp>
        <p:nvSpPr>
          <p:cNvPr id="4" name="TextBox 3"/>
          <p:cNvSpPr txBox="1">
            <a:spLocks/>
          </p:cNvSpPr>
          <p:nvPr/>
        </p:nvSpPr>
        <p:spPr>
          <a:xfrm>
            <a:off x="530352" y="859536"/>
            <a:ext cx="10835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i="0">
                <a:solidFill>
                  <a:srgbClr val="6D625B"/>
                </a:solidFill>
                <a:latin typeface="Aptos"/>
              </a:rPr>
              <a:t>Commitment, deployment control and deal economics define the paid path.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106424"/>
            <a:ext cx="11018520" cy="16459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slide2-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73736"/>
            <a:ext cx="155448" cy="1600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0A0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38912" y="6437376"/>
            <a:ext cx="146304" cy="32004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>
            <a:spLocks/>
          </p:cNvSpPr>
          <p:nvPr/>
        </p:nvSpPr>
        <p:spPr>
          <a:xfrm>
            <a:off x="621792" y="6382512"/>
            <a:ext cx="43891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0" b="0" i="0">
                <a:solidFill>
                  <a:srgbClr val="6D625B"/>
                </a:solidFill>
                <a:latin typeface="Aptos"/>
              </a:rPr>
              <a:t>Mistral Studio  •  Launch &amp; commercialization plan</a:t>
            </a:r>
          </a:p>
        </p:txBody>
      </p:sp>
      <p:sp>
        <p:nvSpPr>
          <p:cNvPr id="10" name="TextBox 9"/>
          <p:cNvSpPr txBox="1">
            <a:spLocks/>
          </p:cNvSpPr>
          <p:nvPr/>
        </p:nvSpPr>
        <p:spPr>
          <a:xfrm>
            <a:off x="11475720" y="6355080"/>
            <a:ext cx="32004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6D625B"/>
                </a:solidFill>
                <a:latin typeface="Aptos"/>
              </a:rPr>
              <a:t>04</a:t>
            </a:r>
          </a:p>
        </p:txBody>
      </p:sp>
      <p:sp>
        <p:nvSpPr>
          <p:cNvPr id="11" name="TextBox 10"/>
          <p:cNvSpPr txBox="1">
            <a:spLocks/>
          </p:cNvSpPr>
          <p:nvPr/>
        </p:nvSpPr>
        <p:spPr>
          <a:xfrm>
            <a:off x="530352" y="1261872"/>
            <a:ext cx="21945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3D00"/>
                </a:solidFill>
                <a:latin typeface="Aptos"/>
              </a:rPr>
              <a:t>ENTRY + USAGE RATES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1545336"/>
            <a:ext cx="45720" cy="713232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>
            <a:spLocks/>
          </p:cNvSpPr>
          <p:nvPr/>
        </p:nvSpPr>
        <p:spPr>
          <a:xfrm>
            <a:off x="658368" y="1545336"/>
            <a:ext cx="327355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FF3D00"/>
                </a:solidFill>
                <a:latin typeface="Aptos"/>
              </a:rPr>
              <a:t>MISTRAL MEDIUM 3.5</a:t>
            </a:r>
          </a:p>
        </p:txBody>
      </p:sp>
      <p:sp>
        <p:nvSpPr>
          <p:cNvPr id="14" name="TextBox 13"/>
          <p:cNvSpPr txBox="1">
            <a:spLocks/>
          </p:cNvSpPr>
          <p:nvPr/>
        </p:nvSpPr>
        <p:spPr>
          <a:xfrm>
            <a:off x="658368" y="1792224"/>
            <a:ext cx="3273552" cy="283464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2500" lnSpcReduction="10000"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200" b="1" i="0">
                <a:solidFill>
                  <a:srgbClr val="0A0B0D"/>
                </a:solidFill>
                <a:latin typeface="Aptos Display"/>
              </a:rPr>
              <a:t>$1.50 in  •  $7.50 out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658368" y="2103120"/>
            <a:ext cx="3273552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6D625B"/>
                </a:solidFill>
                <a:latin typeface="Aptos"/>
              </a:rPr>
              <a:t>per 1M tokens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42232" y="1545336"/>
            <a:ext cx="45720" cy="713232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>
            <a:spLocks/>
          </p:cNvSpPr>
          <p:nvPr/>
        </p:nvSpPr>
        <p:spPr>
          <a:xfrm>
            <a:off x="4270248" y="1545336"/>
            <a:ext cx="327355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FF3D00"/>
                </a:solidFill>
                <a:latin typeface="Aptos"/>
              </a:rPr>
              <a:t>MISTRAL SMALL 4</a:t>
            </a: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4270248" y="1792224"/>
            <a:ext cx="3273552" cy="283464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2500" lnSpcReduction="10000"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200" b="1" i="0">
                <a:solidFill>
                  <a:srgbClr val="0A0B0D"/>
                </a:solidFill>
                <a:latin typeface="Aptos Display"/>
              </a:rPr>
              <a:t>From $0.15 in  •  $0.60 out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4270248" y="2103120"/>
            <a:ext cx="3273552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6D625B"/>
                </a:solidFill>
                <a:latin typeface="Aptos"/>
              </a:rPr>
              <a:t>per 1M tokens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54112" y="1545336"/>
            <a:ext cx="45720" cy="713232"/>
          </a:xfrm>
          <a:prstGeom prst="rect">
            <a:avLst/>
          </a:prstGeom>
          <a:solidFill>
            <a:srgbClr val="FF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>
            <a:off x="7882128" y="1545336"/>
            <a:ext cx="339242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C24A12"/>
                </a:solidFill>
                <a:latin typeface="Aptos"/>
              </a:rPr>
              <a:t>FREE TIER + TRIAL</a:t>
            </a: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7882128" y="1792224"/>
            <a:ext cx="33924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i="0">
                <a:solidFill>
                  <a:srgbClr val="0A0B0D"/>
                </a:solidFill>
                <a:latin typeface="Aptos Display"/>
              </a:rPr>
              <a:t>Workspace credits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7882128" y="2103120"/>
            <a:ext cx="3392424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6D625B"/>
                </a:solidFill>
                <a:latin typeface="Aptos"/>
              </a:rPr>
              <a:t>30-day POV credits for qualified enterprise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0352" y="2395728"/>
            <a:ext cx="10817352" cy="13716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>
            <a:spLocks/>
          </p:cNvSpPr>
          <p:nvPr/>
        </p:nvSpPr>
        <p:spPr>
          <a:xfrm>
            <a:off x="530352" y="2542032"/>
            <a:ext cx="31089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3D00"/>
                </a:solidFill>
                <a:latin typeface="Aptos"/>
              </a:rPr>
              <a:t>PACKAGING TIERS + SKU MECHANICS</a:t>
            </a:r>
          </a:p>
        </p:txBody>
      </p:sp>
      <p:sp>
        <p:nvSpPr>
          <p:cNvPr id="26" name="TextBox 25"/>
          <p:cNvSpPr txBox="1">
            <a:spLocks/>
          </p:cNvSpPr>
          <p:nvPr/>
        </p:nvSpPr>
        <p:spPr>
          <a:xfrm>
            <a:off x="530352" y="2761488"/>
            <a:ext cx="3246120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2500" lnSpcReduction="10000"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 i="0">
                <a:solidFill>
                  <a:srgbClr val="0A0B0D"/>
                </a:solidFill>
                <a:latin typeface="Aptos Display"/>
              </a:rPr>
              <a:t>SERVERLESS</a:t>
            </a: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530352" y="3099816"/>
            <a:ext cx="3246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F3D00"/>
                </a:solidFill>
                <a:latin typeface="Aptos"/>
              </a:rPr>
              <a:t>PAY AS YOU GO</a:t>
            </a:r>
          </a:p>
        </p:txBody>
      </p:sp>
      <p:sp>
        <p:nvSpPr>
          <p:cNvPr id="28" name="TextBox 27"/>
          <p:cNvSpPr txBox="1">
            <a:spLocks/>
          </p:cNvSpPr>
          <p:nvPr/>
        </p:nvSpPr>
        <p:spPr>
          <a:xfrm>
            <a:off x="530352" y="338328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i="0">
                <a:solidFill>
                  <a:srgbClr val="0A0B0D"/>
                </a:solidFill>
                <a:latin typeface="Aptos"/>
              </a:rPr>
              <a:t>Self-serve workspace and API; card or invoice.</a:t>
            </a:r>
          </a:p>
        </p:txBody>
      </p:sp>
      <p:sp>
        <p:nvSpPr>
          <p:cNvPr id="29" name="TextBox 28"/>
          <p:cNvSpPr txBox="1">
            <a:spLocks/>
          </p:cNvSpPr>
          <p:nvPr/>
        </p:nvSpPr>
        <p:spPr>
          <a:xfrm>
            <a:off x="530352" y="3977639"/>
            <a:ext cx="32461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6D625B"/>
                </a:solidFill>
                <a:latin typeface="Aptos"/>
              </a:rPr>
              <a:t>SERVERLESS USAGE SKU</a:t>
            </a:r>
          </a:p>
        </p:txBody>
      </p:sp>
      <p:sp>
        <p:nvSpPr>
          <p:cNvPr id="30" name="TextBox 29"/>
          <p:cNvSpPr txBox="1">
            <a:spLocks/>
          </p:cNvSpPr>
          <p:nvPr/>
        </p:nvSpPr>
        <p:spPr>
          <a:xfrm>
            <a:off x="530352" y="4215384"/>
            <a:ext cx="324612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i="0">
                <a:solidFill>
                  <a:srgbClr val="0A0B0D"/>
                </a:solidFill>
                <a:latin typeface="Aptos"/>
              </a:rPr>
              <a:t>Metered tokens and pages; no minimum; monthly invoice.</a:t>
            </a:r>
          </a:p>
        </p:txBody>
      </p:sp>
      <p:sp>
        <p:nvSpPr>
          <p:cNvPr id="31" name="TextBox 30"/>
          <p:cNvSpPr txBox="1">
            <a:spLocks/>
          </p:cNvSpPr>
          <p:nvPr/>
        </p:nvSpPr>
        <p:spPr>
          <a:xfrm>
            <a:off x="530352" y="4709160"/>
            <a:ext cx="324612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C24A12"/>
                </a:solidFill>
                <a:latin typeface="Aptos"/>
              </a:rPr>
              <a:t>Upgrade when committed spend justifies dedicated capacity.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59352" y="2660904"/>
            <a:ext cx="16459" cy="2468880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>
            <a:spLocks/>
          </p:cNvSpPr>
          <p:nvPr/>
        </p:nvSpPr>
        <p:spPr>
          <a:xfrm>
            <a:off x="4142232" y="2761488"/>
            <a:ext cx="3246120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2500" lnSpcReduction="10000"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 i="0">
                <a:solidFill>
                  <a:srgbClr val="0A0B0D"/>
                </a:solidFill>
                <a:latin typeface="Aptos Display"/>
              </a:rPr>
              <a:t>DEDICATED</a:t>
            </a: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4142232" y="3099816"/>
            <a:ext cx="3246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F3D00"/>
                </a:solidFill>
                <a:latin typeface="Aptos"/>
              </a:rPr>
              <a:t>COMMITTED CAPACITY</a:t>
            </a:r>
          </a:p>
        </p:txBody>
      </p:sp>
      <p:sp>
        <p:nvSpPr>
          <p:cNvPr id="35" name="TextBox 34"/>
          <p:cNvSpPr txBox="1">
            <a:spLocks/>
          </p:cNvSpPr>
          <p:nvPr/>
        </p:nvSpPr>
        <p:spPr>
          <a:xfrm>
            <a:off x="4142232" y="3383280"/>
            <a:ext cx="3246120" cy="566927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i="0">
                <a:solidFill>
                  <a:srgbClr val="0A0B0D"/>
                </a:solidFill>
                <a:latin typeface="Aptos"/>
              </a:rPr>
              <a:t>Reserved throughput, in-region; annual commitment with drawdown.</a:t>
            </a:r>
          </a:p>
        </p:txBody>
      </p:sp>
      <p:sp>
        <p:nvSpPr>
          <p:cNvPr id="36" name="TextBox 35"/>
          <p:cNvSpPr txBox="1">
            <a:spLocks/>
          </p:cNvSpPr>
          <p:nvPr/>
        </p:nvSpPr>
        <p:spPr>
          <a:xfrm>
            <a:off x="4142232" y="3977639"/>
            <a:ext cx="32461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6D625B"/>
                </a:solidFill>
                <a:latin typeface="Aptos"/>
              </a:rPr>
              <a:t>DEDICATED CAPACITY SKU</a:t>
            </a:r>
          </a:p>
        </p:txBody>
      </p:sp>
      <p:sp>
        <p:nvSpPr>
          <p:cNvPr id="37" name="TextBox 36"/>
          <p:cNvSpPr txBox="1">
            <a:spLocks/>
          </p:cNvSpPr>
          <p:nvPr/>
        </p:nvSpPr>
        <p:spPr>
          <a:xfrm>
            <a:off x="4142232" y="4215384"/>
            <a:ext cx="3246120" cy="4663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i="0">
                <a:solidFill>
                  <a:srgbClr val="0A0B0D"/>
                </a:solidFill>
                <a:latin typeface="Aptos"/>
              </a:rPr>
              <a:t>Reserved throughput units; 12–36 month commitment; overage at list.</a:t>
            </a:r>
          </a:p>
        </p:txBody>
      </p:sp>
      <p:sp>
        <p:nvSpPr>
          <p:cNvPr id="38" name="TextBox 37"/>
          <p:cNvSpPr txBox="1">
            <a:spLocks/>
          </p:cNvSpPr>
          <p:nvPr/>
        </p:nvSpPr>
        <p:spPr>
          <a:xfrm>
            <a:off x="4142232" y="4709160"/>
            <a:ext cx="324612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C24A12"/>
                </a:solidFill>
                <a:latin typeface="Aptos"/>
              </a:rPr>
              <a:t>Discounts tier by commitment and term; exceptions need Finance + CRO.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71232" y="2660904"/>
            <a:ext cx="16459" cy="2468880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754112" y="2761488"/>
            <a:ext cx="3246120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2500" lnSpcReduction="10000"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A0B0D"/>
                </a:solidFill>
                <a:latin typeface="Aptos Display"/>
              </a:rPr>
              <a:t>SELF-HOSTED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54112" y="3099816"/>
            <a:ext cx="3246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3D00"/>
                </a:solidFill>
                <a:latin typeface="Aptos"/>
              </a:rPr>
              <a:t>ENTERPRISE SUITE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54112" y="338328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0A0B0D"/>
                </a:solidFill>
                <a:latin typeface="Aptos"/>
              </a:rPr>
              <a:t>Customer VPC or on-prem; licensed per environment; marketplace private offer.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54112" y="3977639"/>
            <a:ext cx="32461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6D625B"/>
                </a:solidFill>
                <a:latin typeface="Aptos"/>
              </a:rPr>
              <a:t>SELF-HOSTED SUITE SKU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54112" y="4215384"/>
            <a:ext cx="324612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0A0B0D"/>
                </a:solidFill>
                <a:latin typeface="Aptos"/>
              </a:rPr>
              <a:t>Per-environment license plus support subscription.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54112" y="4709160"/>
            <a:ext cx="324612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4A12"/>
                </a:solidFill>
                <a:latin typeface="Aptos"/>
              </a:rPr>
              <a:t>Use when control or sovereignty decides; private offers retire cloud commitment.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0352" y="5321808"/>
            <a:ext cx="10817352" cy="950976"/>
          </a:xfrm>
          <a:prstGeom prst="rect">
            <a:avLst/>
          </a:prstGeom>
          <a:solidFill>
            <a:srgbClr val="0A0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13232" y="5468112"/>
            <a:ext cx="187451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3D00"/>
                </a:solidFill>
                <a:latin typeface="Aptos"/>
              </a:rPr>
              <a:t>COMMERCIAL RULEBOOK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5431536"/>
            <a:ext cx="8394192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Published rates are list price. Dedicated and Self-hosted are quoted per deal; one usage meter runs across routes.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3232" y="5925312"/>
            <a:ext cx="10287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D8D0C8"/>
                </a:solidFill>
                <a:latin typeface="Aptos"/>
              </a:rPr>
              <a:t>Add-ons: premium support • Document AI volume • extended retention    |    Identity, residency and audit evidence ready for security review.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>
            <a:spLocks/>
          </p:cNvSpPr>
          <p:nvPr/>
        </p:nvSpPr>
        <p:spPr>
          <a:xfrm>
            <a:off x="530352" y="182880"/>
            <a:ext cx="106984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3D00"/>
                </a:solidFill>
                <a:latin typeface="Aptos"/>
              </a:rPr>
              <a:t>C. LAUNCH READINESS  •  CRITICAL PATH  •  GATES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30352" y="420624"/>
            <a:ext cx="10789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000" b="1" i="0">
                <a:solidFill>
                  <a:srgbClr val="0A0B0D"/>
                </a:solidFill>
                <a:latin typeface="Aptos Display"/>
              </a:rPr>
              <a:t>One operational timeline, one gate checklist</a:t>
            </a:r>
          </a:p>
        </p:txBody>
      </p:sp>
      <p:sp>
        <p:nvSpPr>
          <p:cNvPr id="4" name="TextBox 3"/>
          <p:cNvSpPr txBox="1">
            <a:spLocks/>
          </p:cNvSpPr>
          <p:nvPr/>
        </p:nvSpPr>
        <p:spPr>
          <a:xfrm>
            <a:off x="530352" y="859536"/>
            <a:ext cx="10835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i="0">
                <a:solidFill>
                  <a:srgbClr val="6D625B"/>
                </a:solidFill>
                <a:latin typeface="Aptos"/>
              </a:rPr>
              <a:t>The launch date holds only when the critical path and every readiness gate are green.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106424"/>
            <a:ext cx="11018520" cy="16459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slide2-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73736"/>
            <a:ext cx="155448" cy="1600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0A0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38912" y="6437376"/>
            <a:ext cx="146304" cy="32004"/>
          </a:xfrm>
          <a:prstGeom prst="rect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>
            <a:spLocks/>
          </p:cNvSpPr>
          <p:nvPr/>
        </p:nvSpPr>
        <p:spPr>
          <a:xfrm>
            <a:off x="621792" y="6382512"/>
            <a:ext cx="43891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0" b="0" i="0">
                <a:solidFill>
                  <a:srgbClr val="6D625B"/>
                </a:solidFill>
                <a:latin typeface="Aptos"/>
              </a:rPr>
              <a:t>Mistral Studio  •  Launch &amp; commercialization plan</a:t>
            </a:r>
          </a:p>
        </p:txBody>
      </p:sp>
      <p:sp>
        <p:nvSpPr>
          <p:cNvPr id="10" name="TextBox 9"/>
          <p:cNvSpPr txBox="1">
            <a:spLocks/>
          </p:cNvSpPr>
          <p:nvPr/>
        </p:nvSpPr>
        <p:spPr>
          <a:xfrm>
            <a:off x="11475720" y="6355080"/>
            <a:ext cx="32004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6D625B"/>
                </a:solidFill>
                <a:latin typeface="Aptos"/>
              </a:rPr>
              <a:t>05</a:t>
            </a:r>
          </a:p>
        </p:txBody>
      </p:sp>
      <p:sp>
        <p:nvSpPr>
          <p:cNvPr id="11" name="TextBox 10"/>
          <p:cNvSpPr txBox="1">
            <a:spLocks/>
          </p:cNvSpPr>
          <p:nvPr/>
        </p:nvSpPr>
        <p:spPr>
          <a:xfrm>
            <a:off x="530352" y="1261872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3D00"/>
                </a:solidFill>
                <a:latin typeface="Aptos"/>
              </a:rPr>
              <a:t>INTEGRATED READINESS TIMELINE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130552"/>
            <a:ext cx="10561320" cy="20116"/>
          </a:xfrm>
          <a:prstGeom prst="rect">
            <a:avLst/>
          </a:prstGeom>
          <a:solidFill>
            <a:srgbClr val="0A0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30352" y="1984248"/>
            <a:ext cx="292608" cy="292608"/>
          </a:xfrm>
          <a:prstGeom prst="ellipse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2011680"/>
            <a:ext cx="292608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417320"/>
            <a:ext cx="21945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3D00"/>
                </a:solidFill>
                <a:latin typeface="Aptos"/>
              </a:rPr>
              <a:t>T−8 → T−5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1591056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0B0D"/>
                </a:solidFill>
                <a:latin typeface="Aptos Display"/>
              </a:rPr>
              <a:t>BUILD + 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2340864"/>
            <a:ext cx="250545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0A0B0D"/>
                </a:solidFill>
                <a:latin typeface="Aptos"/>
              </a:rPr>
              <a:t>Freeze criteria; test scale/SLA; build metering and terms.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2816352"/>
            <a:ext cx="25146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6D625B"/>
                </a:solidFill>
                <a:latin typeface="Aptos"/>
              </a:rPr>
              <a:t>Product • Engineering • Finance • Legal</a:t>
            </a:r>
          </a:p>
        </p:txBody>
      </p:sp>
      <p:sp>
        <p:nvSpPr>
          <p:cNvPr id="19" name="Oval 18"/>
          <p:cNvSpPr/>
          <p:nvPr/>
        </p:nvSpPr>
        <p:spPr>
          <a:xfrm>
            <a:off x="3246120" y="1984248"/>
            <a:ext cx="292608" cy="292608"/>
          </a:xfrm>
          <a:prstGeom prst="ellipse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>
            <a:spLocks/>
          </p:cNvSpPr>
          <p:nvPr/>
        </p:nvSpPr>
        <p:spPr>
          <a:xfrm>
            <a:off x="3246120" y="2011680"/>
            <a:ext cx="292608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>
            <a:off x="3648456" y="1417320"/>
            <a:ext cx="21945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F3D00"/>
                </a:solidFill>
                <a:latin typeface="Aptos"/>
              </a:rPr>
              <a:t>T−4 → T−1</a:t>
            </a: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3648456" y="1591056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900" b="1" i="0">
                <a:solidFill>
                  <a:srgbClr val="0A0B0D"/>
                </a:solidFill>
                <a:latin typeface="Aptos Display"/>
              </a:rPr>
              <a:t>OPERATE + APPROVE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3246120" y="2340864"/>
            <a:ext cx="250545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0" i="0">
                <a:solidFill>
                  <a:srgbClr val="0A0B0D"/>
                </a:solidFill>
                <a:latin typeface="Aptos"/>
              </a:rPr>
              <a:t>Test invoices; close security; submit listings and docs.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3246120" y="2816352"/>
            <a:ext cx="25146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6D625B"/>
                </a:solidFill>
                <a:latin typeface="Aptos"/>
              </a:rPr>
              <a:t>Billing Ops • Security • Alliances • Docs</a:t>
            </a:r>
          </a:p>
        </p:txBody>
      </p:sp>
      <p:sp>
        <p:nvSpPr>
          <p:cNvPr id="25" name="Oval 24"/>
          <p:cNvSpPr/>
          <p:nvPr/>
        </p:nvSpPr>
        <p:spPr>
          <a:xfrm>
            <a:off x="5961888" y="1984248"/>
            <a:ext cx="292608" cy="292608"/>
          </a:xfrm>
          <a:prstGeom prst="ellipse">
            <a:avLst/>
          </a:prstGeom>
          <a:solidFill>
            <a:srgbClr val="FF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>
            <a:spLocks/>
          </p:cNvSpPr>
          <p:nvPr/>
        </p:nvSpPr>
        <p:spPr>
          <a:xfrm>
            <a:off x="5961888" y="2011680"/>
            <a:ext cx="292608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6364224" y="1417320"/>
            <a:ext cx="21945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F3D00"/>
                </a:solidFill>
                <a:latin typeface="Aptos"/>
              </a:rPr>
              <a:t>LAUNCH WEEK</a:t>
            </a:r>
          </a:p>
        </p:txBody>
      </p:sp>
      <p:sp>
        <p:nvSpPr>
          <p:cNvPr id="28" name="TextBox 27"/>
          <p:cNvSpPr txBox="1">
            <a:spLocks/>
          </p:cNvSpPr>
          <p:nvPr/>
        </p:nvSpPr>
        <p:spPr>
          <a:xfrm>
            <a:off x="6364224" y="1591056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900" b="1" i="0">
                <a:solidFill>
                  <a:srgbClr val="0A0B0D"/>
                </a:solidFill>
                <a:latin typeface="Aptos Display"/>
              </a:rPr>
              <a:t>GO LIVE</a:t>
            </a:r>
          </a:p>
        </p:txBody>
      </p:sp>
      <p:sp>
        <p:nvSpPr>
          <p:cNvPr id="29" name="TextBox 28"/>
          <p:cNvSpPr txBox="1">
            <a:spLocks/>
          </p:cNvSpPr>
          <p:nvPr/>
        </p:nvSpPr>
        <p:spPr>
          <a:xfrm>
            <a:off x="5961888" y="2340864"/>
            <a:ext cx="250545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0" i="0">
                <a:solidFill>
                  <a:srgbClr val="0A0B0D"/>
                </a:solidFill>
                <a:latin typeface="Aptos"/>
              </a:rPr>
              <a:t>Ship GA; publish pricing/offers; activate support.</a:t>
            </a:r>
          </a:p>
        </p:txBody>
      </p:sp>
      <p:sp>
        <p:nvSpPr>
          <p:cNvPr id="30" name="TextBox 29"/>
          <p:cNvSpPr txBox="1">
            <a:spLocks/>
          </p:cNvSpPr>
          <p:nvPr/>
        </p:nvSpPr>
        <p:spPr>
          <a:xfrm>
            <a:off x="5961888" y="2816352"/>
            <a:ext cx="25146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6D625B"/>
                </a:solidFill>
                <a:latin typeface="Aptos"/>
              </a:rPr>
              <a:t>Product • Support • Alliances</a:t>
            </a:r>
          </a:p>
        </p:txBody>
      </p:sp>
      <p:sp>
        <p:nvSpPr>
          <p:cNvPr id="31" name="Oval 30"/>
          <p:cNvSpPr/>
          <p:nvPr/>
        </p:nvSpPr>
        <p:spPr>
          <a:xfrm>
            <a:off x="8677656" y="1984248"/>
            <a:ext cx="292608" cy="292608"/>
          </a:xfrm>
          <a:prstGeom prst="ellipse">
            <a:avLst/>
          </a:prstGeom>
          <a:solidFill>
            <a:srgbClr val="0A0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>
            <a:spLocks/>
          </p:cNvSpPr>
          <p:nvPr/>
        </p:nvSpPr>
        <p:spPr>
          <a:xfrm>
            <a:off x="8677656" y="2011680"/>
            <a:ext cx="292608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33" name="TextBox 32"/>
          <p:cNvSpPr txBox="1">
            <a:spLocks/>
          </p:cNvSpPr>
          <p:nvPr/>
        </p:nvSpPr>
        <p:spPr>
          <a:xfrm>
            <a:off x="9079992" y="1417320"/>
            <a:ext cx="21945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F3D00"/>
                </a:solidFill>
                <a:latin typeface="Aptos"/>
              </a:rPr>
              <a:t>T+1 → T+8</a:t>
            </a: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9079992" y="1591056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900" b="1" i="0">
                <a:solidFill>
                  <a:srgbClr val="0A0B0D"/>
                </a:solidFill>
                <a:latin typeface="Aptos Display"/>
              </a:rPr>
              <a:t>SCALE + PROVE</a:t>
            </a:r>
          </a:p>
        </p:txBody>
      </p:sp>
      <p:sp>
        <p:nvSpPr>
          <p:cNvPr id="35" name="TextBox 34"/>
          <p:cNvSpPr txBox="1">
            <a:spLocks/>
          </p:cNvSpPr>
          <p:nvPr/>
        </p:nvSpPr>
        <p:spPr>
          <a:xfrm>
            <a:off x="8677656" y="2340864"/>
            <a:ext cx="250545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0" i="0">
                <a:solidFill>
                  <a:srgbClr val="0A0B0D"/>
                </a:solidFill>
                <a:latin typeface="Aptos"/>
              </a:rPr>
              <a:t>Convert POVs; launch workloads; monitor billing/support.</a:t>
            </a:r>
          </a:p>
        </p:txBody>
      </p:sp>
      <p:sp>
        <p:nvSpPr>
          <p:cNvPr id="36" name="TextBox 35"/>
          <p:cNvSpPr txBox="1">
            <a:spLocks/>
          </p:cNvSpPr>
          <p:nvPr/>
        </p:nvSpPr>
        <p:spPr>
          <a:xfrm>
            <a:off x="8677656" y="2816352"/>
            <a:ext cx="25146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6D625B"/>
                </a:solidFill>
                <a:latin typeface="Aptos"/>
              </a:rPr>
              <a:t>Sales • CS • Finance • Engineering</a:t>
            </a:r>
          </a:p>
        </p:txBody>
      </p:sp>
      <p:sp>
        <p:nvSpPr>
          <p:cNvPr id="37" name="TextBox 36"/>
          <p:cNvSpPr txBox="1">
            <a:spLocks/>
          </p:cNvSpPr>
          <p:nvPr/>
        </p:nvSpPr>
        <p:spPr>
          <a:xfrm>
            <a:off x="530352" y="3200400"/>
            <a:ext cx="2834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FF3D00"/>
                </a:solidFill>
                <a:latin typeface="Aptos"/>
              </a:rPr>
              <a:t>LAUNCH GATE CHECKLIST</a:t>
            </a:r>
          </a:p>
        </p:txBody>
      </p:sp>
      <p:sp>
        <p:nvSpPr>
          <p:cNvPr id="38" name="Oval 37"/>
          <p:cNvSpPr/>
          <p:nvPr/>
        </p:nvSpPr>
        <p:spPr>
          <a:xfrm>
            <a:off x="8988552" y="3227832"/>
            <a:ext cx="91440" cy="91440"/>
          </a:xfrm>
          <a:prstGeom prst="ellipse">
            <a:avLst/>
          </a:prstGeom>
          <a:solidFill>
            <a:srgbClr val="238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>
            <a:spLocks/>
          </p:cNvSpPr>
          <p:nvPr/>
        </p:nvSpPr>
        <p:spPr>
          <a:xfrm>
            <a:off x="9125712" y="3191256"/>
            <a:ext cx="566928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6D625B"/>
                </a:solidFill>
                <a:latin typeface="Aptos"/>
              </a:rPr>
              <a:t>READY</a:t>
            </a:r>
          </a:p>
        </p:txBody>
      </p:sp>
      <p:sp>
        <p:nvSpPr>
          <p:cNvPr id="40" name="Oval 39"/>
          <p:cNvSpPr/>
          <p:nvPr/>
        </p:nvSpPr>
        <p:spPr>
          <a:xfrm>
            <a:off x="9747504" y="3227832"/>
            <a:ext cx="91440" cy="91440"/>
          </a:xfrm>
          <a:prstGeom prst="ellipse">
            <a:avLst/>
          </a:prstGeom>
          <a:solidFill>
            <a:srgbClr val="FF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>
            <a:spLocks/>
          </p:cNvSpPr>
          <p:nvPr/>
        </p:nvSpPr>
        <p:spPr>
          <a:xfrm>
            <a:off x="9884664" y="3191256"/>
            <a:ext cx="658368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6D625B"/>
                </a:solidFill>
                <a:latin typeface="Aptos"/>
              </a:rPr>
              <a:t>AT RISK</a:t>
            </a:r>
          </a:p>
        </p:txBody>
      </p:sp>
      <p:sp>
        <p:nvSpPr>
          <p:cNvPr id="42" name="Oval 41"/>
          <p:cNvSpPr/>
          <p:nvPr/>
        </p:nvSpPr>
        <p:spPr>
          <a:xfrm>
            <a:off x="10671048" y="3227832"/>
            <a:ext cx="91440" cy="91440"/>
          </a:xfrm>
          <a:prstGeom prst="ellipse">
            <a:avLst/>
          </a:prstGeom>
          <a:solidFill>
            <a:srgbClr val="B3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>
            <a:spLocks/>
          </p:cNvSpPr>
          <p:nvPr/>
        </p:nvSpPr>
        <p:spPr>
          <a:xfrm>
            <a:off x="10808208" y="3191256"/>
            <a:ext cx="658368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i="0">
                <a:solidFill>
                  <a:srgbClr val="6D625B"/>
                </a:solidFill>
                <a:latin typeface="Aptos"/>
              </a:rPr>
              <a:t>BLOCKED</a:t>
            </a:r>
          </a:p>
        </p:txBody>
      </p:sp>
      <p:sp>
        <p:nvSpPr>
          <p:cNvPr id="44" name="Oval 43"/>
          <p:cNvSpPr/>
          <p:nvPr/>
        </p:nvSpPr>
        <p:spPr>
          <a:xfrm>
            <a:off x="530352" y="3579876"/>
            <a:ext cx="118872" cy="118872"/>
          </a:xfrm>
          <a:prstGeom prst="ellipse">
            <a:avLst/>
          </a:prstGeom>
          <a:solidFill>
            <a:srgbClr val="238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>
            <a:spLocks/>
          </p:cNvSpPr>
          <p:nvPr/>
        </p:nvSpPr>
        <p:spPr>
          <a:xfrm>
            <a:off x="749808" y="3529584"/>
            <a:ext cx="121615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0A0B0D"/>
                </a:solidFill>
                <a:latin typeface="Aptos"/>
              </a:rPr>
              <a:t>PRODUCT</a:t>
            </a:r>
          </a:p>
        </p:txBody>
      </p:sp>
      <p:sp>
        <p:nvSpPr>
          <p:cNvPr id="46" name="TextBox 45"/>
          <p:cNvSpPr txBox="1">
            <a:spLocks/>
          </p:cNvSpPr>
          <p:nvPr/>
        </p:nvSpPr>
        <p:spPr>
          <a:xfrm>
            <a:off x="1993392" y="3529584"/>
            <a:ext cx="3840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0A0B0D"/>
                </a:solidFill>
                <a:latin typeface="Aptos"/>
              </a:rPr>
              <a:t>GA criteria met and signed off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93392" y="3803904"/>
            <a:ext cx="3840480" cy="5486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530352" y="3973068"/>
            <a:ext cx="118872" cy="118872"/>
          </a:xfrm>
          <a:prstGeom prst="ellipse">
            <a:avLst/>
          </a:prstGeom>
          <a:solidFill>
            <a:srgbClr val="FF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/>
          <p:cNvSpPr txBox="1">
            <a:spLocks/>
          </p:cNvSpPr>
          <p:nvPr/>
        </p:nvSpPr>
        <p:spPr>
          <a:xfrm>
            <a:off x="749808" y="3922776"/>
            <a:ext cx="121615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0A0B0D"/>
                </a:solidFill>
                <a:latin typeface="Aptos"/>
              </a:rPr>
              <a:t>COMMERCIAL</a:t>
            </a:r>
          </a:p>
        </p:txBody>
      </p:sp>
      <p:sp>
        <p:nvSpPr>
          <p:cNvPr id="50" name="TextBox 49"/>
          <p:cNvSpPr txBox="1">
            <a:spLocks/>
          </p:cNvSpPr>
          <p:nvPr/>
        </p:nvSpPr>
        <p:spPr>
          <a:xfrm>
            <a:off x="1993392" y="3922776"/>
            <a:ext cx="3840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0A0B0D"/>
                </a:solidFill>
                <a:latin typeface="Aptos"/>
              </a:rPr>
              <a:t>Pricing and packaging approved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993392" y="4197096"/>
            <a:ext cx="3840480" cy="5486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/>
        </p:nvSpPr>
        <p:spPr>
          <a:xfrm>
            <a:off x="530352" y="4366259"/>
            <a:ext cx="118872" cy="118872"/>
          </a:xfrm>
          <a:prstGeom prst="ellipse">
            <a:avLst/>
          </a:prstGeom>
          <a:solidFill>
            <a:srgbClr val="FF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/>
          <p:cNvSpPr txBox="1">
            <a:spLocks/>
          </p:cNvSpPr>
          <p:nvPr/>
        </p:nvSpPr>
        <p:spPr>
          <a:xfrm>
            <a:off x="749808" y="4315968"/>
            <a:ext cx="121615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0A0B0D"/>
                </a:solidFill>
                <a:latin typeface="Aptos"/>
              </a:rPr>
              <a:t>BILLING</a:t>
            </a:r>
          </a:p>
        </p:txBody>
      </p:sp>
      <p:sp>
        <p:nvSpPr>
          <p:cNvPr id="54" name="TextBox 53"/>
          <p:cNvSpPr txBox="1">
            <a:spLocks/>
          </p:cNvSpPr>
          <p:nvPr/>
        </p:nvSpPr>
        <p:spPr>
          <a:xfrm>
            <a:off x="1993392" y="4315968"/>
            <a:ext cx="3840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0A0B0D"/>
                </a:solidFill>
                <a:latin typeface="Aptos"/>
              </a:rPr>
              <a:t>Metering, provisioning and invoicing live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93392" y="4590288"/>
            <a:ext cx="3840480" cy="5486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/>
          <p:cNvSpPr/>
          <p:nvPr/>
        </p:nvSpPr>
        <p:spPr>
          <a:xfrm>
            <a:off x="530352" y="4759452"/>
            <a:ext cx="118872" cy="118872"/>
          </a:xfrm>
          <a:prstGeom prst="ellipse">
            <a:avLst/>
          </a:prstGeom>
          <a:solidFill>
            <a:srgbClr val="B3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>
            <a:spLocks/>
          </p:cNvSpPr>
          <p:nvPr/>
        </p:nvSpPr>
        <p:spPr>
          <a:xfrm>
            <a:off x="749808" y="4709160"/>
            <a:ext cx="121615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0A0B0D"/>
                </a:solidFill>
                <a:latin typeface="Aptos"/>
              </a:rPr>
              <a:t>LEGAL</a:t>
            </a:r>
          </a:p>
        </p:txBody>
      </p:sp>
      <p:sp>
        <p:nvSpPr>
          <p:cNvPr id="58" name="TextBox 57"/>
          <p:cNvSpPr txBox="1">
            <a:spLocks/>
          </p:cNvSpPr>
          <p:nvPr/>
        </p:nvSpPr>
        <p:spPr>
          <a:xfrm>
            <a:off x="1993392" y="4709160"/>
            <a:ext cx="3840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0A0B0D"/>
                </a:solidFill>
                <a:latin typeface="Aptos"/>
              </a:rPr>
              <a:t>Terms, DPA and security approved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993392" y="4983480"/>
            <a:ext cx="3840480" cy="5486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/>
          <p:cNvSpPr/>
          <p:nvPr/>
        </p:nvSpPr>
        <p:spPr>
          <a:xfrm>
            <a:off x="6044184" y="3579876"/>
            <a:ext cx="118872" cy="118872"/>
          </a:xfrm>
          <a:prstGeom prst="ellipse">
            <a:avLst/>
          </a:prstGeom>
          <a:solidFill>
            <a:srgbClr val="B3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>
            <a:spLocks/>
          </p:cNvSpPr>
          <p:nvPr/>
        </p:nvSpPr>
        <p:spPr>
          <a:xfrm>
            <a:off x="6263640" y="3529584"/>
            <a:ext cx="121615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0A0B0D"/>
                </a:solidFill>
                <a:latin typeface="Aptos"/>
              </a:rPr>
              <a:t>MARKETPLACE</a:t>
            </a:r>
          </a:p>
        </p:txBody>
      </p:sp>
      <p:sp>
        <p:nvSpPr>
          <p:cNvPr id="62" name="TextBox 61"/>
          <p:cNvSpPr txBox="1">
            <a:spLocks/>
          </p:cNvSpPr>
          <p:nvPr/>
        </p:nvSpPr>
        <p:spPr>
          <a:xfrm>
            <a:off x="7507224" y="3529584"/>
            <a:ext cx="3840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0A0B0D"/>
                </a:solidFill>
                <a:latin typeface="Aptos"/>
              </a:rPr>
              <a:t>Offers live and transactable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07224" y="3803904"/>
            <a:ext cx="3840480" cy="5486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/>
          <p:cNvSpPr/>
          <p:nvPr/>
        </p:nvSpPr>
        <p:spPr>
          <a:xfrm>
            <a:off x="6044184" y="3973068"/>
            <a:ext cx="118872" cy="118872"/>
          </a:xfrm>
          <a:prstGeom prst="ellipse">
            <a:avLst/>
          </a:prstGeom>
          <a:solidFill>
            <a:srgbClr val="238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263640" y="3922776"/>
            <a:ext cx="121615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A0B0D"/>
                </a:solidFill>
                <a:latin typeface="Aptos"/>
              </a:rPr>
              <a:t>SUPPORT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07224" y="3922776"/>
            <a:ext cx="3840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B0D"/>
                </a:solidFill>
                <a:latin typeface="Aptos"/>
              </a:rPr>
              <a:t>Targets, escalation and rota staffed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507224" y="4197096"/>
            <a:ext cx="3840480" cy="5486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6044184" y="4366259"/>
            <a:ext cx="118872" cy="118872"/>
          </a:xfrm>
          <a:prstGeom prst="ellipse">
            <a:avLst/>
          </a:prstGeom>
          <a:solidFill>
            <a:srgbClr val="FF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263640" y="4315968"/>
            <a:ext cx="121615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A0B0D"/>
                </a:solidFill>
                <a:latin typeface="Aptos"/>
              </a:rPr>
              <a:t>DOCS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507224" y="4315968"/>
            <a:ext cx="3840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B0D"/>
                </a:solidFill>
                <a:latin typeface="Aptos"/>
              </a:rPr>
              <a:t>Quickstart, API and deployment guides published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507224" y="4590288"/>
            <a:ext cx="3840480" cy="5486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6044184" y="4759452"/>
            <a:ext cx="118872" cy="118872"/>
          </a:xfrm>
          <a:prstGeom prst="ellipse">
            <a:avLst/>
          </a:prstGeom>
          <a:solidFill>
            <a:srgbClr val="B3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263640" y="4709160"/>
            <a:ext cx="121615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A0B0D"/>
                </a:solidFill>
                <a:latin typeface="Aptos"/>
              </a:rPr>
              <a:t>SALES + CS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07224" y="4709160"/>
            <a:ext cx="3840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B0D"/>
                </a:solidFill>
                <a:latin typeface="Aptos"/>
              </a:rPr>
              <a:t>Quoting, approvals and onboarding runbooks live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507224" y="4983480"/>
            <a:ext cx="3840480" cy="5486"/>
          </a:xfrm>
          <a:prstGeom prst="rect">
            <a:avLst/>
          </a:prstGeom>
          <a:solidFill>
            <a:srgbClr val="E9D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530352" y="5230368"/>
            <a:ext cx="10817352" cy="1060704"/>
          </a:xfrm>
          <a:prstGeom prst="rect">
            <a:avLst/>
          </a:prstGeom>
          <a:solidFill>
            <a:srgbClr val="0A0B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713232" y="5376672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3D00"/>
                </a:solidFill>
                <a:latin typeface="Aptos"/>
              </a:rPr>
              <a:t>CRITICAL PATH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258568" y="5303520"/>
            <a:ext cx="8641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Launch only when every gate is green.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3232" y="5779008"/>
            <a:ext cx="33832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3D00"/>
                </a:solidFill>
                <a:latin typeface="Aptos"/>
              </a:rPr>
              <a:t>BILLING + PROVISIONING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3232" y="5961888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D8D0C8"/>
                </a:solidFill>
                <a:latin typeface="Aptos"/>
              </a:rPr>
              <a:t>Offers and contracts wait for end-to-end tests.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69663" y="5779008"/>
            <a:ext cx="33832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3D00"/>
                </a:solidFill>
                <a:latin typeface="Aptos"/>
              </a:rPr>
              <a:t>LEGAL + SECURITY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69663" y="5961888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D8D0C8"/>
                </a:solidFill>
                <a:latin typeface="Aptos"/>
              </a:rPr>
              <a:t>Terms, DPA and review close before go-live.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26096" y="5779008"/>
            <a:ext cx="31546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3D00"/>
                </a:solidFill>
                <a:latin typeface="Aptos"/>
              </a:rPr>
              <a:t>GATE RULE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626096" y="5961888"/>
            <a:ext cx="3154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D8D0C8"/>
                </a:solidFill>
                <a:latin typeface="Aptos"/>
              </a:rPr>
              <a:t>Any red at T−1 moves the date.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ns1="http://schemas.openxmlformats.org/officeDocument/2006/docPropsVTypes">
  <TotalTime>53</TotalTime>
  <Words>1025</Words>
  <Application>Microsoft Office PowerPoint</Application>
  <PresentationFormat>Widescreen</PresentationFormat>
  <Paragraphs>207</Paragraphs>
  <Slides>5</Slides>
  <Notes>0</Notes>
  <HiddenSlides>0</HiddenSlides>
  <MMClips>0</MMClips>
  <ScaleCrop>false</ScaleCrop>
  <HeadingPairs>
    <ns1:vector size="6" baseType="variant">
      <ns1:variant>
        <ns1:lpstr>Fonts Used</ns1:lpstr>
      </ns1:variant>
      <ns1:variant>
        <ns1:i4>3</ns1:i4>
      </ns1:variant>
      <ns1:variant>
        <ns1:lpstr>Theme</ns1:lpstr>
      </ns1:variant>
      <ns1:variant>
        <ns1:i4>1</ns1:i4>
      </ns1:variant>
      <ns1:variant>
        <ns1:lpstr>Slide Titles</ns1:lpstr>
      </ns1:variant>
      <ns1:variant>
        <ns1:i4>5</ns1:i4>
      </ns1:variant>
    </ns1:vector>
  </HeadingPairs>
  <TitlesOfParts>
    <ns1:vector size="9" baseType="lpstr">
      <ns1:lpstr>Aptos</ns1:lpstr>
      <ns1:lpstr>Aptos Display</ns1:lpstr>
      <ns1:lpstr>Arial</ns1:lpstr>
      <ns1:lpstr>Office Theme</ns1:lpstr>
      <ns1:lpstr>PowerPoint Presentation</ns1:lpstr>
      <ns1:lpstr>PowerPoint Presentation</ns1:lpstr>
      <ns1:lpstr>PowerPoint Presentation</ns1:lpstr>
      <ns1:lpstr>PowerPoint Presentation</ns1:lpstr>
      <ns1:lpstr>PowerPoint Presentation</ns1:lpstr>
    </ns1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Mistral Studio - Launch and Commercialization Plan</dc:title>
  <dc:subject>Go-to-market launch plan, pricing, channels, and readiness gates</dc:subject>
  <dc:creator>Shiv, Prospective PMM, Mistral Studio</dc:creator>
  <cp:lastModifiedBy>Shivam Singh</cp:lastModifiedBy>
  <cp:revision>8</cp:revision>
  <dcterms:created xsi:type="dcterms:W3CDTF">2026-08-17T12:43:14Z</dcterms:created>
  <dcterms:modified xsi:type="dcterms:W3CDTF">2026-08-17T13:48:57Z</dcterms:modified>
  <dc:description>Outside-in launch and commercialization framework for Mistral Studio.</dc:description>
  <cp:keywords>mistral-studio, launch-strategy, commercialization, go-to-market</cp:keywords>
</cp:coreProperties>
</file>