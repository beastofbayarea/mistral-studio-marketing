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3931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3D00"/>
                </a:solidFill>
                <a:latin typeface="Aptos"/>
              </a:rPr>
              <a:t>MISTRAL STUDIO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1097280" y="1124712"/>
            <a:ext cx="9994392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200" b="1" i="0">
                <a:solidFill>
                  <a:srgbClr val="FFFFFF"/>
                </a:solidFill>
                <a:latin typeface="Aptos Display"/>
              </a:rPr>
              <a:t>Launch &amp;
commercialization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39512" y="2578608"/>
            <a:ext cx="1709928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1828800" y="2852928"/>
            <a:ext cx="8531352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>
                <a:solidFill>
                  <a:srgbClr val="FFB000"/>
                </a:solidFill>
                <a:latin typeface="Aptos"/>
              </a:rPr>
              <a:t>The plan to price, sell, contract, bill, deploy and support Studio at launch.</a:t>
            </a:r>
          </a:p>
        </p:txBody>
      </p:sp>
      <p:pic>
        <p:nvPicPr>
          <p:cNvPr id="6" name="Picture 5" descr="slide1-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5767" y="3886200"/>
            <a:ext cx="3820160" cy="2148840"/>
          </a:xfrm>
          <a:prstGeom prst="rect">
            <a:avLst/>
          </a:prstGeom>
        </p:spPr>
      </p:pic>
      <p:sp>
        <p:nvSpPr>
          <p:cNvPr id="7" name="TextBox 6"/>
          <p:cNvSpPr txBox="1">
            <a:spLocks/>
          </p:cNvSpPr>
          <p:nvPr/>
        </p:nvSpPr>
        <p:spPr>
          <a:xfrm>
            <a:off x="566928" y="349300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C8C0B6"/>
                </a:solidFill>
                <a:latin typeface="Aptos"/>
              </a:rPr>
              <a:t>Commercial and operational scope — market, audience, positioning, messaging and proof remain in the PMM deck.</a:t>
            </a:r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530352" y="6355080"/>
            <a:ext cx="128016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i="0">
                <a:solidFill>
                  <a:srgbClr val="C8C0B6"/>
                </a:solidFill>
                <a:latin typeface="Aptos"/>
              </a:rPr>
              <a:t>2026-08-16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C8C0B6"/>
                </a:solidFill>
                <a:latin typeface="Aptos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30352" y="182880"/>
            <a:ext cx="10698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LAUNCH CHARTER  •  COMMERCIAL SCOPE  •  DECISION RIGHTS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30352" y="420624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0A0B0D"/>
                </a:solidFill>
                <a:latin typeface="Aptos Display"/>
              </a:rPr>
              <a:t>What this launch must deliver — and what must be ready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859536"/>
            <a:ext cx="1083564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6D625B"/>
                </a:solidFill>
                <a:latin typeface="Aptos"/>
              </a:rPr>
              <a:t>One charter, six decisions, one scorecard.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06424"/>
            <a:ext cx="11018520" cy="16459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lide2-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73736"/>
            <a:ext cx="155448" cy="160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38912" y="6437376"/>
            <a:ext cx="146304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21792" y="6382512"/>
            <a:ext cx="43891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0" i="0">
                <a:solidFill>
                  <a:srgbClr val="6D625B"/>
                </a:solidFill>
                <a:latin typeface="Aptos"/>
              </a:rPr>
              <a:t>Mistral Studio  •  Launch &amp; commercialization plan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30352" y="1261872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LAUNCH CHARTER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530352" y="1444752"/>
            <a:ext cx="3749039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600" b="1" i="0">
                <a:solidFill>
                  <a:srgbClr val="0A0B0D"/>
                </a:solidFill>
                <a:latin typeface="Aptos Display"/>
              </a:rPr>
              <a:t>Buyable.
Deployable.
Operable.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530352" y="2660904"/>
            <a:ext cx="7680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200" b="1" i="0">
                <a:solidFill>
                  <a:srgbClr val="FF3D00"/>
                </a:solidFill>
                <a:latin typeface="Aptos Display"/>
              </a:rPr>
              <a:t>30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1280160" y="2706624"/>
            <a:ext cx="277977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0A0B0D"/>
                </a:solidFill>
                <a:latin typeface="Aptos"/>
              </a:rPr>
              <a:t>DAYS TO PRODUCTION
FROM CONTRACT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044952"/>
            <a:ext cx="3685032" cy="1371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30352" y="3145536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OBJECTIVE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530352" y="3346704"/>
            <a:ext cx="3602736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Buyable on every route; operable at launch scale.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530352" y="377647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SCOPE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530352" y="3968496"/>
            <a:ext cx="3602736" cy="623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Pricing, routes, billing, legal, marketplace and docs — plus deploy, meter, provision, govern and support.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530352" y="459943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SUCCESS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530352" y="4791456"/>
            <a:ext cx="3602736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Trial-to-paid at plan; ten workloads live; commit across all paths.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1261872"/>
            <a:ext cx="22860" cy="3840480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4754880" y="1261872"/>
            <a:ext cx="6492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 i="0">
                <a:solidFill>
                  <a:srgbClr val="0A0B0D"/>
                </a:solidFill>
                <a:latin typeface="Aptos Display"/>
              </a:rPr>
              <a:t>Six decisions, one DRI each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4754880" y="1591056"/>
            <a:ext cx="2971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DECISION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7891272" y="1591056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DRI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9345168" y="1591056"/>
            <a:ext cx="6035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DUE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10113264" y="1591056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STATUS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1819656"/>
            <a:ext cx="6629400" cy="10972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4754880" y="1920240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Budget + headcount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7891272" y="192024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CFO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9345168" y="1920240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T−6</a:t>
            </a:r>
          </a:p>
        </p:txBody>
      </p:sp>
      <p:sp>
        <p:nvSpPr>
          <p:cNvPr id="32" name="Oval 31"/>
          <p:cNvSpPr/>
          <p:nvPr/>
        </p:nvSpPr>
        <p:spPr>
          <a:xfrm>
            <a:off x="10131552" y="1970532"/>
            <a:ext cx="100584" cy="100584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10305288" y="1915668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8B00"/>
                </a:solidFill>
                <a:latin typeface="Aptos"/>
              </a:rPr>
              <a:t>In review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258568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4754880" y="2359152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Revenue + commit targets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7891272" y="2359152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CRO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9345168" y="2359152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T−5</a:t>
            </a:r>
          </a:p>
        </p:txBody>
      </p:sp>
      <p:sp>
        <p:nvSpPr>
          <p:cNvPr id="38" name="Oval 37"/>
          <p:cNvSpPr/>
          <p:nvPr/>
        </p:nvSpPr>
        <p:spPr>
          <a:xfrm>
            <a:off x="10131552" y="2409444"/>
            <a:ext cx="100584" cy="100584"/>
          </a:xfrm>
          <a:prstGeom prst="ellipse">
            <a:avLst/>
          </a:prstGeom>
          <a:solidFill>
            <a:srgbClr val="C2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10305288" y="2354580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Open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2697480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4754880" y="2798064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1" i="0">
                <a:solidFill>
                  <a:srgbClr val="0A0B0D"/>
                </a:solidFill>
                <a:latin typeface="Aptos"/>
              </a:rPr>
              <a:t>Launch tier + GA date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7891272" y="2798064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VP Product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9345168" y="2798064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T−8</a:t>
            </a:r>
          </a:p>
        </p:txBody>
      </p:sp>
      <p:sp>
        <p:nvSpPr>
          <p:cNvPr id="44" name="Oval 43"/>
          <p:cNvSpPr/>
          <p:nvPr/>
        </p:nvSpPr>
        <p:spPr>
          <a:xfrm>
            <a:off x="10131552" y="2848356"/>
            <a:ext cx="100584" cy="100584"/>
          </a:xfrm>
          <a:prstGeom prst="ellipse">
            <a:avLst/>
          </a:prstGeom>
          <a:solidFill>
            <a:srgbClr val="23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>
            <a:spLocks/>
          </p:cNvSpPr>
          <p:nvPr/>
        </p:nvSpPr>
        <p:spPr>
          <a:xfrm>
            <a:off x="10305288" y="2793492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238A55"/>
                </a:solidFill>
                <a:latin typeface="Aptos"/>
              </a:rPr>
              <a:t>Approved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3136392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4754880" y="3236976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Pricing + packaging</a:t>
            </a: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7891272" y="3236976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CFO + CRO</a:t>
            </a:r>
          </a:p>
        </p:txBody>
      </p:sp>
      <p:sp>
        <p:nvSpPr>
          <p:cNvPr id="49" name="TextBox 48"/>
          <p:cNvSpPr txBox="1">
            <a:spLocks/>
          </p:cNvSpPr>
          <p:nvPr/>
        </p:nvSpPr>
        <p:spPr>
          <a:xfrm>
            <a:off x="9345168" y="3236976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T−6</a:t>
            </a:r>
          </a:p>
        </p:txBody>
      </p:sp>
      <p:sp>
        <p:nvSpPr>
          <p:cNvPr id="50" name="Oval 49"/>
          <p:cNvSpPr/>
          <p:nvPr/>
        </p:nvSpPr>
        <p:spPr>
          <a:xfrm>
            <a:off x="10131552" y="3287268"/>
            <a:ext cx="100584" cy="100584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10305288" y="3232404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8B00"/>
                </a:solidFill>
                <a:latin typeface="Aptos"/>
              </a:rPr>
              <a:t>In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3575304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>
            <a:spLocks/>
          </p:cNvSpPr>
          <p:nvPr/>
        </p:nvSpPr>
        <p:spPr>
          <a:xfrm>
            <a:off x="4754880" y="3675888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SLA + support model</a:t>
            </a:r>
          </a:p>
        </p:txBody>
      </p:sp>
      <p:sp>
        <p:nvSpPr>
          <p:cNvPr id="54" name="TextBox 53"/>
          <p:cNvSpPr txBox="1">
            <a:spLocks/>
          </p:cNvSpPr>
          <p:nvPr/>
        </p:nvSpPr>
        <p:spPr>
          <a:xfrm>
            <a:off x="7891272" y="3675888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VP Engineering</a:t>
            </a:r>
          </a:p>
        </p:txBody>
      </p:sp>
      <p:sp>
        <p:nvSpPr>
          <p:cNvPr id="55" name="TextBox 54"/>
          <p:cNvSpPr txBox="1">
            <a:spLocks/>
          </p:cNvSpPr>
          <p:nvPr/>
        </p:nvSpPr>
        <p:spPr>
          <a:xfrm>
            <a:off x="9345168" y="3675888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T−5</a:t>
            </a:r>
          </a:p>
        </p:txBody>
      </p:sp>
      <p:sp>
        <p:nvSpPr>
          <p:cNvPr id="56" name="Oval 55"/>
          <p:cNvSpPr/>
          <p:nvPr/>
        </p:nvSpPr>
        <p:spPr>
          <a:xfrm>
            <a:off x="10131552" y="3726180"/>
            <a:ext cx="100584" cy="100584"/>
          </a:xfrm>
          <a:prstGeom prst="ellipse">
            <a:avLst/>
          </a:prstGeom>
          <a:solidFill>
            <a:srgbClr val="C2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>
            <a:spLocks/>
          </p:cNvSpPr>
          <p:nvPr/>
        </p:nvSpPr>
        <p:spPr>
          <a:xfrm>
            <a:off x="10305288" y="3671316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Open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4014216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>
            <a:spLocks/>
          </p:cNvSpPr>
          <p:nvPr/>
        </p:nvSpPr>
        <p:spPr>
          <a:xfrm>
            <a:off x="4754880" y="4114800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Contract + marketplace terms</a:t>
            </a:r>
          </a:p>
        </p:txBody>
      </p:sp>
      <p:sp>
        <p:nvSpPr>
          <p:cNvPr id="60" name="TextBox 59"/>
          <p:cNvSpPr txBox="1">
            <a:spLocks/>
          </p:cNvSpPr>
          <p:nvPr/>
        </p:nvSpPr>
        <p:spPr>
          <a:xfrm>
            <a:off x="7891272" y="411480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GC</a:t>
            </a:r>
          </a:p>
        </p:txBody>
      </p:sp>
      <p:sp>
        <p:nvSpPr>
          <p:cNvPr id="61" name="TextBox 60"/>
          <p:cNvSpPr txBox="1">
            <a:spLocks/>
          </p:cNvSpPr>
          <p:nvPr/>
        </p:nvSpPr>
        <p:spPr>
          <a:xfrm>
            <a:off x="9345168" y="4114800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T−4</a:t>
            </a:r>
          </a:p>
        </p:txBody>
      </p:sp>
      <p:sp>
        <p:nvSpPr>
          <p:cNvPr id="62" name="Oval 61"/>
          <p:cNvSpPr/>
          <p:nvPr/>
        </p:nvSpPr>
        <p:spPr>
          <a:xfrm>
            <a:off x="10131552" y="4165092"/>
            <a:ext cx="100584" cy="100584"/>
          </a:xfrm>
          <a:prstGeom prst="ellipse">
            <a:avLst/>
          </a:prstGeom>
          <a:solidFill>
            <a:srgbClr val="C2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/>
          <p:cNvSpPr txBox="1">
            <a:spLocks/>
          </p:cNvSpPr>
          <p:nvPr/>
        </p:nvSpPr>
        <p:spPr>
          <a:xfrm>
            <a:off x="10305288" y="4110228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Open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54880" y="4453128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>
            <a:spLocks/>
          </p:cNvSpPr>
          <p:nvPr/>
        </p:nvSpPr>
        <p:spPr>
          <a:xfrm>
            <a:off x="4754880" y="4654296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DECISION STANDARD</a:t>
            </a:r>
          </a:p>
        </p:txBody>
      </p:sp>
      <p:sp>
        <p:nvSpPr>
          <p:cNvPr id="66" name="TextBox 65"/>
          <p:cNvSpPr txBox="1">
            <a:spLocks/>
          </p:cNvSpPr>
          <p:nvPr/>
        </p:nvSpPr>
        <p:spPr>
          <a:xfrm>
            <a:off x="6153912" y="4608576"/>
            <a:ext cx="5184648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Every decision has an owner, due date and status before the critical path begins.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0352" y="5248656"/>
            <a:ext cx="10817352" cy="25603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>
            <a:spLocks/>
          </p:cNvSpPr>
          <p:nvPr/>
        </p:nvSpPr>
        <p:spPr>
          <a:xfrm>
            <a:off x="530352" y="5330952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SCORECARD</a:t>
            </a:r>
          </a:p>
        </p:txBody>
      </p:sp>
      <p:sp>
        <p:nvSpPr>
          <p:cNvPr id="69" name="TextBox 68"/>
          <p:cNvSpPr txBox="1">
            <a:spLocks/>
          </p:cNvSpPr>
          <p:nvPr/>
        </p:nvSpPr>
        <p:spPr>
          <a:xfrm>
            <a:off x="1691640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CONVERSION</a:t>
            </a:r>
          </a:p>
        </p:txBody>
      </p:sp>
      <p:sp>
        <p:nvSpPr>
          <p:cNvPr id="70" name="TextBox 69"/>
          <p:cNvSpPr txBox="1">
            <a:spLocks/>
          </p:cNvSpPr>
          <p:nvPr/>
        </p:nvSpPr>
        <p:spPr>
          <a:xfrm>
            <a:off x="1691640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D625B"/>
                </a:solidFill>
                <a:latin typeface="Aptos"/>
              </a:rPr>
              <a:t>Trial-to-paid
POV-to-contract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474720" y="5358384"/>
            <a:ext cx="10972" cy="566928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>
            <a:spLocks/>
          </p:cNvSpPr>
          <p:nvPr/>
        </p:nvSpPr>
        <p:spPr>
          <a:xfrm>
            <a:off x="3630168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REVENUE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30168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625B"/>
                </a:solidFill>
                <a:latin typeface="Aptos"/>
              </a:rPr>
              <a:t>ACV • Commit
Expansion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13248" y="5358384"/>
            <a:ext cx="10972" cy="566928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568696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VELOCITY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68696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625B"/>
                </a:solidFill>
                <a:latin typeface="Aptos"/>
              </a:rPr>
              <a:t>Time to contract
Time to production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51776" y="5358384"/>
            <a:ext cx="10972" cy="566928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507224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07224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625B"/>
                </a:solidFill>
                <a:latin typeface="Aptos"/>
              </a:rPr>
              <a:t>Tier mix
Marketplace share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90304" y="5358384"/>
            <a:ext cx="10972" cy="566928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445752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PRODUCTION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445752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625B"/>
                </a:solidFill>
                <a:latin typeface="Aptos"/>
              </a:rPr>
              <a:t>Live workloads
Paying teams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3232" y="6089904"/>
            <a:ext cx="1045159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0A0B0D"/>
                </a:solidFill>
                <a:latin typeface="Aptos"/>
              </a:rPr>
              <a:t>THE ASK  Clear every decision by T−4; amber escalates to steering.</a:t>
            </a:r>
            <a:endParaRPr sz="1300" b="1" i="0">
              <a:solidFill>
                <a:srgbClr val="0A0B0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30352" y="182880"/>
            <a:ext cx="10698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A. ROUTES TO MARKET  •  COMMERCIAL MOTION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30352" y="420624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0A0B0D"/>
                </a:solidFill>
                <a:latin typeface="Aptos Display"/>
              </a:rPr>
              <a:t>Four routes, one commercial spine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859536"/>
            <a:ext cx="10835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6D625B"/>
                </a:solidFill>
                <a:latin typeface="Aptos"/>
              </a:rPr>
              <a:t>The buying vehicle determines entry; every route advances through the same gated handoffs.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06424"/>
            <a:ext cx="11018520" cy="16459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lide2-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73736"/>
            <a:ext cx="155448" cy="160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38912" y="6437376"/>
            <a:ext cx="146304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21792" y="6382512"/>
            <a:ext cx="43891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0" i="0">
                <a:solidFill>
                  <a:srgbClr val="6D625B"/>
                </a:solidFill>
                <a:latin typeface="Aptos"/>
              </a:rPr>
              <a:t>Mistral Studio  •  Launch &amp; commercialization plan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03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30352" y="1261872"/>
            <a:ext cx="3291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ENTRY ROUTES AND ROUTE OF RECORD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530352" y="1536192"/>
            <a:ext cx="13075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ROUTE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1984248" y="1536192"/>
            <a:ext cx="2697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WHO ENTERS THERE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4846320" y="1536192"/>
            <a:ext cx="277977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HOW IT IS RUN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7790688" y="1536192"/>
            <a:ext cx="35387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ROUTE RULE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11137392" cy="548640"/>
          </a:xfrm>
          <a:prstGeom prst="rect">
            <a:avLst/>
          </a:prstGeom>
          <a:solidFill>
            <a:srgbClr val="FD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457200" y="1783080"/>
            <a:ext cx="54864" cy="548640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530352" y="1810512"/>
            <a:ext cx="1307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Self-serve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1984248" y="1810512"/>
            <a:ext cx="26974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Developers and small teams; card or PAYG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4846320" y="1810512"/>
            <a:ext cx="27797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Product-led; Growth owns funnel, Sales above threshold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7790688" y="1810512"/>
            <a:ext cx="3538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Default below enterprise spend threshold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2331720"/>
            <a:ext cx="10908792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57200" y="2404872"/>
            <a:ext cx="54864" cy="548640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530352" y="2432304"/>
            <a:ext cx="1307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Direct enterprise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1984248" y="2432304"/>
            <a:ext cx="26974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Platform teams; committed capacity, custom terms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846320" y="2432304"/>
            <a:ext cx="27797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Sales-led; AE + SE own POV; Finance approves terms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7790688" y="2432304"/>
            <a:ext cx="3538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Default above enterprise threshold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2953512"/>
            <a:ext cx="10908792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57200" y="3026664"/>
            <a:ext cx="11137392" cy="548640"/>
          </a:xfrm>
          <a:prstGeom prst="rect">
            <a:avLst/>
          </a:prstGeom>
          <a:solidFill>
            <a:srgbClr val="FD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57200" y="3026664"/>
            <a:ext cx="54864" cy="548640"/>
          </a:xfrm>
          <a:prstGeom prst="rect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530352" y="3054096"/>
            <a:ext cx="1307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Cloud marketplace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1984248" y="3054096"/>
            <a:ext cx="26974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Cloud-committed buyers; private offers retire spend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054096"/>
            <a:ext cx="27797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Co-sell; Alliances own listings and private offers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3054096"/>
            <a:ext cx="3538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Use when cloud commitment applies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" y="3575303"/>
            <a:ext cx="10908792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" y="3648456"/>
            <a:ext cx="54864" cy="548640"/>
          </a:xfrm>
          <a:prstGeom prst="rect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0352" y="3675887"/>
            <a:ext cx="1307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0B0D"/>
                </a:solidFill>
                <a:latin typeface="Aptos"/>
              </a:rPr>
              <a:t>Partners / SIs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84248" y="3675887"/>
            <a:ext cx="26974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Regulated or delivery-led accounts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675887"/>
            <a:ext cx="27797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Co-sell; partners deploy with SE support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90688" y="3675887"/>
            <a:ext cx="3538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Use when delivery capacity decides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2" y="4197096"/>
            <a:ext cx="10908792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0352" y="4297680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3D00"/>
                </a:solidFill>
                <a:latin typeface="Aptos"/>
              </a:rPr>
              <a:t>COMMON COMMERCIAL SPINE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" y="4800600"/>
            <a:ext cx="10543032" cy="21945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530352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30352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TRIAL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Workspace + first
workflow</a:t>
            </a: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530352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Product • Growth</a:t>
            </a:r>
          </a:p>
        </p:txBody>
      </p:sp>
      <p:sp>
        <p:nvSpPr>
          <p:cNvPr id="49" name="Oval 48"/>
          <p:cNvSpPr/>
          <p:nvPr/>
        </p:nvSpPr>
        <p:spPr>
          <a:xfrm>
            <a:off x="2340864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340864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40864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QUALIFY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40864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Use case + budget
confirmed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40864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Product • Growth • Sales</a:t>
            </a:r>
          </a:p>
        </p:txBody>
      </p:sp>
      <p:sp>
        <p:nvSpPr>
          <p:cNvPr id="54" name="Oval 53"/>
          <p:cNvSpPr/>
          <p:nvPr/>
        </p:nvSpPr>
        <p:spPr>
          <a:xfrm>
            <a:off x="4151376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51376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51376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POV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51376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Scope + success
signed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51376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Sales • SE • Product</a:t>
            </a:r>
          </a:p>
        </p:txBody>
      </p:sp>
      <p:sp>
        <p:nvSpPr>
          <p:cNvPr id="59" name="Oval 58"/>
          <p:cNvSpPr/>
          <p:nvPr/>
        </p:nvSpPr>
        <p:spPr>
          <a:xfrm>
            <a:off x="5961888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961888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61888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CONTRACT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61888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Terms + security
cleared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Sales • Finance • Legal</a:t>
            </a:r>
          </a:p>
        </p:txBody>
      </p:sp>
      <p:sp>
        <p:nvSpPr>
          <p:cNvPr id="64" name="Oval 63"/>
          <p:cNvSpPr/>
          <p:nvPr/>
        </p:nvSpPr>
        <p:spPr>
          <a:xfrm>
            <a:off x="7772400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772400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0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DEPLOY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0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Production live
on SLA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CS • SE • Product</a:t>
            </a:r>
          </a:p>
        </p:txBody>
      </p:sp>
      <p:sp>
        <p:nvSpPr>
          <p:cNvPr id="69" name="Oval 68"/>
          <p:cNvSpPr/>
          <p:nvPr/>
        </p:nvSpPr>
        <p:spPr>
          <a:xfrm>
            <a:off x="9582912" y="4645152"/>
            <a:ext cx="310896" cy="310896"/>
          </a:xfrm>
          <a:prstGeom prst="ellipse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582912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82912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EXPAND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82912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Second use case
+ uplift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82912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CS • SE • Finance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0352" y="5952744"/>
            <a:ext cx="10817352" cy="347472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13232" y="6035040"/>
            <a:ext cx="10451592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ptos"/>
              </a:rPr>
              <a:t>GATE RULE  Active workspace → signed POV scope → criteria met → production workload → proof-led expansion.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30352" y="182880"/>
            <a:ext cx="10698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B. PRICING  •  PACKAGING  •  COMMERCIAL TERMS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30352" y="420624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0A0B0D"/>
                </a:solidFill>
                <a:latin typeface="Aptos Display"/>
              </a:rPr>
              <a:t>Three tiers, one meter, one commercial rulebook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859536"/>
            <a:ext cx="10835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6D625B"/>
                </a:solidFill>
                <a:latin typeface="Aptos"/>
              </a:rPr>
              <a:t>Commitment, deployment control and deal economics define the paid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06424"/>
            <a:ext cx="11018520" cy="16459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lide2-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73736"/>
            <a:ext cx="155448" cy="160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38912" y="6437376"/>
            <a:ext cx="146304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21792" y="6382512"/>
            <a:ext cx="43891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0" i="0">
                <a:solidFill>
                  <a:srgbClr val="6D625B"/>
                </a:solidFill>
                <a:latin typeface="Aptos"/>
              </a:rPr>
              <a:t>Mistral Studio  •  Launch &amp; commercialization plan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04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30352" y="126187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ENTRY + USAGE RATES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1545336"/>
            <a:ext cx="45720" cy="713232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658368" y="1545336"/>
            <a:ext cx="327355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MISTRAL MEDIUM 3.5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658368" y="1792224"/>
            <a:ext cx="3273552" cy="28346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 i="0">
                <a:solidFill>
                  <a:srgbClr val="0A0B0D"/>
                </a:solidFill>
                <a:latin typeface="Aptos Display"/>
              </a:rPr>
              <a:t>$1.50 in  •  $7.50 out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658368" y="2103120"/>
            <a:ext cx="3273552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D625B"/>
                </a:solidFill>
                <a:latin typeface="Aptos"/>
              </a:rPr>
              <a:t>per 1M tokens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2232" y="1545336"/>
            <a:ext cx="45720" cy="713232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4270248" y="1545336"/>
            <a:ext cx="327355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MISTRAL SMALL 4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4270248" y="1792224"/>
            <a:ext cx="3273552" cy="28346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 i="0">
                <a:solidFill>
                  <a:srgbClr val="0A0B0D"/>
                </a:solidFill>
                <a:latin typeface="Aptos Display"/>
              </a:rPr>
              <a:t>From $0.15 in  •  $0.60 out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4270248" y="2103120"/>
            <a:ext cx="3273552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D625B"/>
                </a:solidFill>
                <a:latin typeface="Aptos"/>
              </a:rPr>
              <a:t>per 1M tokens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54112" y="1545336"/>
            <a:ext cx="45720" cy="713232"/>
          </a:xfrm>
          <a:prstGeom prst="rect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7882128" y="1545336"/>
            <a:ext cx="339242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C24A12"/>
                </a:solidFill>
                <a:latin typeface="Aptos"/>
              </a:rPr>
              <a:t>FREE TIER + TRIAL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7882128" y="1792224"/>
            <a:ext cx="33924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0A0B0D"/>
                </a:solidFill>
                <a:latin typeface="Aptos Display"/>
              </a:rPr>
              <a:t>Workspace credits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7882128" y="2103120"/>
            <a:ext cx="3392424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D625B"/>
                </a:solidFill>
                <a:latin typeface="Aptos"/>
              </a:rPr>
              <a:t>30-day POV credits for qualified enterprise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" y="2395728"/>
            <a:ext cx="10817352" cy="1371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530352" y="2542032"/>
            <a:ext cx="31089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PACKAGING TIERS + SKU MECHANICS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530352" y="2761488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0A0B0D"/>
                </a:solidFill>
                <a:latin typeface="Aptos Display"/>
              </a:rPr>
              <a:t>SERVERLESS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530352" y="3099816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PAY AS YOU GO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530352" y="338328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Self-serve workspace and API; card or invoice.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530352" y="3977639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SERVERLESS USAGE SKU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530352" y="4215384"/>
            <a:ext cx="324612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Metered tokens and pages; no minimum; monthly invoice.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530352" y="4709160"/>
            <a:ext cx="324612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Upgrade when committed spend justifies dedicated capacity.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9352" y="2660904"/>
            <a:ext cx="16459" cy="2468880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4142232" y="2761488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0A0B0D"/>
                </a:solidFill>
                <a:latin typeface="Aptos Display"/>
              </a:rPr>
              <a:t>DEDICATED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4142232" y="3099816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COMMITTED CAPACITY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4142232" y="3383280"/>
            <a:ext cx="3246120" cy="566927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Reserved throughput, in-region; annual commitment with drawdown.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4142232" y="3977639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DEDICATED CAPACITY SKU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142232" y="4215384"/>
            <a:ext cx="3246120" cy="4663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Reserved throughput units; 12–36 month commitment; overage at list.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4142232" y="4709160"/>
            <a:ext cx="324612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Discounts tier by commitment and term; exceptions need Finance + CRO.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71232" y="2660904"/>
            <a:ext cx="16459" cy="2468880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54112" y="2761488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0B0D"/>
                </a:solidFill>
                <a:latin typeface="Aptos Display"/>
              </a:rPr>
              <a:t>SELF-HOSTED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54112" y="3099816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3D00"/>
                </a:solidFill>
                <a:latin typeface="Aptos"/>
              </a:rPr>
              <a:t>ENTERPRISE SUITE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54112" y="338328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0A0B0D"/>
                </a:solidFill>
                <a:latin typeface="Aptos"/>
              </a:rPr>
              <a:t>Customer VPC or on-prem; licensed per environment; marketplace private offer.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54112" y="3977639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D625B"/>
                </a:solidFill>
                <a:latin typeface="Aptos"/>
              </a:rPr>
              <a:t>SELF-HOSTED SUITE SKU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54112" y="4215384"/>
            <a:ext cx="324612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0A0B0D"/>
                </a:solidFill>
                <a:latin typeface="Aptos"/>
              </a:rPr>
              <a:t>Per-environment license plus support subscription.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54112" y="4709160"/>
            <a:ext cx="324612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4A12"/>
                </a:solidFill>
                <a:latin typeface="Aptos"/>
              </a:rPr>
              <a:t>Use when control or sovereignty decides; private offers retire cloud commitment.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0352" y="5321808"/>
            <a:ext cx="10817352" cy="950976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13232" y="5468112"/>
            <a:ext cx="187451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3D00"/>
                </a:solidFill>
                <a:latin typeface="Aptos"/>
              </a:rPr>
              <a:t>COMMERCIAL RULEBOOK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5431536"/>
            <a:ext cx="83941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Published rates are list price. Dedicated and Self-hosted are quoted per deal; one usage meter runs across routes.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" y="5925312"/>
            <a:ext cx="10287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8D0C8"/>
                </a:solidFill>
                <a:latin typeface="Aptos"/>
              </a:rPr>
              <a:t>Add-ons: premium support • Document AI volume • extended retention    |    Identity, residency and audit evidence ready for security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30352" y="182880"/>
            <a:ext cx="10698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C. LAUNCH READINESS  •  CRITICAL PATH  •  GATES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30352" y="420624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0A0B0D"/>
                </a:solidFill>
                <a:latin typeface="Aptos Display"/>
              </a:rPr>
              <a:t>One operational timeline, one gate checklist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859536"/>
            <a:ext cx="10835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6D625B"/>
                </a:solidFill>
                <a:latin typeface="Aptos"/>
              </a:rPr>
              <a:t>The launch date holds only when the critical path and every readiness gate are green.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06424"/>
            <a:ext cx="11018520" cy="16459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lide2-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73736"/>
            <a:ext cx="155448" cy="160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38912" y="6437376"/>
            <a:ext cx="146304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21792" y="6382512"/>
            <a:ext cx="43891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0" i="0">
                <a:solidFill>
                  <a:srgbClr val="6D625B"/>
                </a:solidFill>
                <a:latin typeface="Aptos"/>
              </a:rPr>
              <a:t>Mistral Studio  •  Launch &amp; commercialization plan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05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30352" y="1261872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INTEGRATED READINESS TIMELINE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130552"/>
            <a:ext cx="10561320" cy="20116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30352" y="1984248"/>
            <a:ext cx="292608" cy="292608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2011680"/>
            <a:ext cx="292608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417320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3D00"/>
                </a:solidFill>
                <a:latin typeface="Aptos"/>
              </a:rPr>
              <a:t>T−8 → T−5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159105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0B0D"/>
                </a:solidFill>
                <a:latin typeface="Aptos Display"/>
              </a:rPr>
              <a:t>BUILD + 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340864"/>
            <a:ext cx="25054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A0B0D"/>
                </a:solidFill>
                <a:latin typeface="Aptos"/>
              </a:rPr>
              <a:t>Freeze criteria; test scale/SLA; build metering and terms.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28163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Product • Engineering • Finance • Legal</a:t>
            </a:r>
          </a:p>
        </p:txBody>
      </p:sp>
      <p:sp>
        <p:nvSpPr>
          <p:cNvPr id="19" name="Oval 18"/>
          <p:cNvSpPr/>
          <p:nvPr/>
        </p:nvSpPr>
        <p:spPr>
          <a:xfrm>
            <a:off x="3246120" y="1984248"/>
            <a:ext cx="292608" cy="292608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3246120" y="2011680"/>
            <a:ext cx="292608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3648456" y="1417320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T−4 → T−1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3648456" y="159105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1" i="0">
                <a:solidFill>
                  <a:srgbClr val="0A0B0D"/>
                </a:solidFill>
                <a:latin typeface="Aptos Display"/>
              </a:rPr>
              <a:t>OPERATE + APPROVE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3246120" y="2340864"/>
            <a:ext cx="25054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i="0">
                <a:solidFill>
                  <a:srgbClr val="0A0B0D"/>
                </a:solidFill>
                <a:latin typeface="Aptos"/>
              </a:rPr>
              <a:t>Test invoices; close security; submit listings and docs.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3246120" y="28163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Billing Ops • Security • Alliances • Docs</a:t>
            </a:r>
          </a:p>
        </p:txBody>
      </p:sp>
      <p:sp>
        <p:nvSpPr>
          <p:cNvPr id="25" name="Oval 24"/>
          <p:cNvSpPr/>
          <p:nvPr/>
        </p:nvSpPr>
        <p:spPr>
          <a:xfrm>
            <a:off x="5961888" y="1984248"/>
            <a:ext cx="292608" cy="292608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5961888" y="2011680"/>
            <a:ext cx="292608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6364224" y="1417320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LAUNCH WEEK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6364224" y="159105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1" i="0">
                <a:solidFill>
                  <a:srgbClr val="0A0B0D"/>
                </a:solidFill>
                <a:latin typeface="Aptos Display"/>
              </a:rPr>
              <a:t>GO LIVE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5961888" y="2340864"/>
            <a:ext cx="25054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i="0">
                <a:solidFill>
                  <a:srgbClr val="0A0B0D"/>
                </a:solidFill>
                <a:latin typeface="Aptos"/>
              </a:rPr>
              <a:t>Ship GA; publish pricing/offers; activate support.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5961888" y="28163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Product • Support • Alliances</a:t>
            </a:r>
          </a:p>
        </p:txBody>
      </p:sp>
      <p:sp>
        <p:nvSpPr>
          <p:cNvPr id="31" name="Oval 30"/>
          <p:cNvSpPr/>
          <p:nvPr/>
        </p:nvSpPr>
        <p:spPr>
          <a:xfrm>
            <a:off x="8677656" y="1984248"/>
            <a:ext cx="292608" cy="292608"/>
          </a:xfrm>
          <a:prstGeom prst="ellipse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8677656" y="2011680"/>
            <a:ext cx="292608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9079992" y="1417320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T+1 → T+8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9079992" y="159105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1" i="0">
                <a:solidFill>
                  <a:srgbClr val="0A0B0D"/>
                </a:solidFill>
                <a:latin typeface="Aptos Display"/>
              </a:rPr>
              <a:t>SCALE + PROVE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8677656" y="2340864"/>
            <a:ext cx="25054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i="0">
                <a:solidFill>
                  <a:srgbClr val="0A0B0D"/>
                </a:solidFill>
                <a:latin typeface="Aptos"/>
              </a:rPr>
              <a:t>Convert POVs; launch workloads; monitor billing/support.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8677656" y="28163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Sales • CS • Finance • Engineering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530352" y="3200400"/>
            <a:ext cx="2834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LAUNCH GATE CHECKLIST</a:t>
            </a:r>
          </a:p>
        </p:txBody>
      </p:sp>
      <p:sp>
        <p:nvSpPr>
          <p:cNvPr id="38" name="Oval 37"/>
          <p:cNvSpPr/>
          <p:nvPr/>
        </p:nvSpPr>
        <p:spPr>
          <a:xfrm>
            <a:off x="8988552" y="3227832"/>
            <a:ext cx="91440" cy="91440"/>
          </a:xfrm>
          <a:prstGeom prst="ellipse">
            <a:avLst/>
          </a:prstGeom>
          <a:solidFill>
            <a:srgbClr val="23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9125712" y="3191256"/>
            <a:ext cx="56692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READY</a:t>
            </a:r>
          </a:p>
        </p:txBody>
      </p:sp>
      <p:sp>
        <p:nvSpPr>
          <p:cNvPr id="40" name="Oval 39"/>
          <p:cNvSpPr/>
          <p:nvPr/>
        </p:nvSpPr>
        <p:spPr>
          <a:xfrm>
            <a:off x="9747504" y="3227832"/>
            <a:ext cx="91440" cy="91440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9884664" y="3191256"/>
            <a:ext cx="65836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AT RISK</a:t>
            </a:r>
          </a:p>
        </p:txBody>
      </p:sp>
      <p:sp>
        <p:nvSpPr>
          <p:cNvPr id="42" name="Oval 41"/>
          <p:cNvSpPr/>
          <p:nvPr/>
        </p:nvSpPr>
        <p:spPr>
          <a:xfrm>
            <a:off x="10671048" y="3227832"/>
            <a:ext cx="91440" cy="91440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808208" y="3191256"/>
            <a:ext cx="65836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BLOCKED</a:t>
            </a:r>
          </a:p>
        </p:txBody>
      </p:sp>
      <p:sp>
        <p:nvSpPr>
          <p:cNvPr id="44" name="Oval 43"/>
          <p:cNvSpPr/>
          <p:nvPr/>
        </p:nvSpPr>
        <p:spPr>
          <a:xfrm>
            <a:off x="530352" y="3579876"/>
            <a:ext cx="118872" cy="118872"/>
          </a:xfrm>
          <a:prstGeom prst="ellipse">
            <a:avLst/>
          </a:prstGeom>
          <a:solidFill>
            <a:srgbClr val="23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>
            <a:spLocks/>
          </p:cNvSpPr>
          <p:nvPr/>
        </p:nvSpPr>
        <p:spPr>
          <a:xfrm>
            <a:off x="749808" y="3529584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PRODUCT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1993392" y="3529584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GA criteria met and signed off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93392" y="3803904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530352" y="3973068"/>
            <a:ext cx="118872" cy="118872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>
            <a:spLocks/>
          </p:cNvSpPr>
          <p:nvPr/>
        </p:nvSpPr>
        <p:spPr>
          <a:xfrm>
            <a:off x="749808" y="3922776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COMMERCIAL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1993392" y="3922776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Pricing and packaging approved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93392" y="4197096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530352" y="4366259"/>
            <a:ext cx="118872" cy="118872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>
            <a:spLocks/>
          </p:cNvSpPr>
          <p:nvPr/>
        </p:nvSpPr>
        <p:spPr>
          <a:xfrm>
            <a:off x="749808" y="4315968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BILLING</a:t>
            </a:r>
          </a:p>
        </p:txBody>
      </p:sp>
      <p:sp>
        <p:nvSpPr>
          <p:cNvPr id="54" name="TextBox 53"/>
          <p:cNvSpPr txBox="1">
            <a:spLocks/>
          </p:cNvSpPr>
          <p:nvPr/>
        </p:nvSpPr>
        <p:spPr>
          <a:xfrm>
            <a:off x="1993392" y="4315968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Metering, provisioning and invoicing live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93392" y="4590288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530352" y="4759452"/>
            <a:ext cx="118872" cy="118872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>
            <a:spLocks/>
          </p:cNvSpPr>
          <p:nvPr/>
        </p:nvSpPr>
        <p:spPr>
          <a:xfrm>
            <a:off x="749808" y="4709160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LEGAL</a:t>
            </a:r>
          </a:p>
        </p:txBody>
      </p:sp>
      <p:sp>
        <p:nvSpPr>
          <p:cNvPr id="58" name="TextBox 57"/>
          <p:cNvSpPr txBox="1">
            <a:spLocks/>
          </p:cNvSpPr>
          <p:nvPr/>
        </p:nvSpPr>
        <p:spPr>
          <a:xfrm>
            <a:off x="1993392" y="4709160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Terms, DPA and security approved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93392" y="4983480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6044184" y="3579876"/>
            <a:ext cx="118872" cy="118872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>
            <a:spLocks/>
          </p:cNvSpPr>
          <p:nvPr/>
        </p:nvSpPr>
        <p:spPr>
          <a:xfrm>
            <a:off x="6263640" y="3529584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MARKETPLACE</a:t>
            </a:r>
          </a:p>
        </p:txBody>
      </p:sp>
      <p:sp>
        <p:nvSpPr>
          <p:cNvPr id="62" name="TextBox 61"/>
          <p:cNvSpPr txBox="1">
            <a:spLocks/>
          </p:cNvSpPr>
          <p:nvPr/>
        </p:nvSpPr>
        <p:spPr>
          <a:xfrm>
            <a:off x="7507224" y="3529584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Offers live and transactable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07224" y="3803904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6044184" y="3973068"/>
            <a:ext cx="118872" cy="118872"/>
          </a:xfrm>
          <a:prstGeom prst="ellipse">
            <a:avLst/>
          </a:prstGeom>
          <a:solidFill>
            <a:srgbClr val="23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63640" y="3922776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SUPPORT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07224" y="3922776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Targets, escalation and rota staffed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507224" y="4197096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6044184" y="4366259"/>
            <a:ext cx="118872" cy="118872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63640" y="4315968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DOCS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07224" y="4315968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Quickstart, API and deployment guides published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07224" y="4590288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044184" y="4759452"/>
            <a:ext cx="118872" cy="118872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63640" y="4709160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SALES + CS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07224" y="4709160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Quoting, approvals and onboarding runbooks live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507224" y="4983480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30352" y="5230368"/>
            <a:ext cx="10817352" cy="1060704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13232" y="5376672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3D00"/>
                </a:solidFill>
                <a:latin typeface="Aptos"/>
              </a:rPr>
              <a:t>CRITICAL PATH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58568" y="5303520"/>
            <a:ext cx="8641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Launch only when every gate is green.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3232" y="5779008"/>
            <a:ext cx="3383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3D00"/>
                </a:solidFill>
                <a:latin typeface="Aptos"/>
              </a:rPr>
              <a:t>BILLING + PROVISIONING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3232" y="5961888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D0C8"/>
                </a:solidFill>
                <a:latin typeface="Aptos"/>
              </a:rPr>
              <a:t>Offers and contracts wait for end-to-end tests.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69663" y="5779008"/>
            <a:ext cx="3383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3D00"/>
                </a:solidFill>
                <a:latin typeface="Aptos"/>
              </a:rPr>
              <a:t>LEGAL + SECURITY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69663" y="5961888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D0C8"/>
                </a:solidFill>
                <a:latin typeface="Aptos"/>
              </a:rPr>
              <a:t>Terms, DPA and review close before go-live.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26096" y="5779008"/>
            <a:ext cx="31546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3D00"/>
                </a:solidFill>
                <a:latin typeface="Aptos"/>
              </a:rPr>
              <a:t>GATE RULE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6096" y="5961888"/>
            <a:ext cx="3154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D0C8"/>
                </a:solidFill>
                <a:latin typeface="Aptos"/>
              </a:rPr>
              <a:t>Any red at T−1 moves the date.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1025</Words>
  <Application>Microsoft Office PowerPoint</Application>
  <PresentationFormat>Widescreen</PresentationFormat>
  <Paragraphs>207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Mistral Studio Launch and Commercialization Plan</dc:title>
  <dc:subject>Mistral Studio Launch and Commercialization Plan</dc:subject>
  <dc:creator>OpenAI</dc:creator>
  <cp:lastModifiedBy>Shivam Singh</cp:lastModifiedBy>
  <cp:revision>8</cp:revision>
  <dcterms:created xsi:type="dcterms:W3CDTF">2026-08-17T12:43:14Z</dcterms:created>
  <dcterms:modified xsi:type="dcterms:W3CDTF">2026-08-17T13:48:57Z</dcterms:modified>
</cp:coreProperties>
</file>