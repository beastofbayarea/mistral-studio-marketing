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thesis in two layers: the company strategy explains why Mistral can win the model layer; the policy agenda explains how that win compounds.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is single and linear: control the model layer, feed the loop with adoption, and let the European stack make the position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market size first, then the constraints. The constraints make an open, controllable alternative commercially valuable rather than ideological.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defensible part: enterprise counts and sector filters are verifiable, contract values are anchored to comparable enterprise software and infrastructure deals. Share assumption is the one number open to challenge, so lead with it rather than bury it. Note that the bottoms-up total independently lands on the same figure as the top-down forecast, which is the point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The positioning is deliberate asymmetry, not open-source advocacy.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bridge: it converts the company position into a policy agenda without changing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maps to a friction point in the loop: talent and compute feed supply, market and demand levers pull adoption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single sentence. Everything before it exists to make that sentence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9939528" y="155448"/>
            <a:ext cx="420624" cy="420624"/>
          </a:xfrm>
          <a:prstGeom prst="star5">
            <a:avLst/>
          </a:prstGeom>
          <a:solidFill>
            <a:srgbClr val="12459E"/>
          </a:solidFill>
          <a:ln w="12700">
            <a:solidFill>
              <a:srgbClr val="333333"/>
            </a:solidFill>
            <a:prstDash val="solid"/>
          </a:ln>
        </p:spPr>
      </p:sp>
      <p:sp>
        <p:nvSpPr>
          <p:cNvPr id="3" name="Shape 1"/>
          <p:cNvSpPr/>
          <p:nvPr/>
        </p:nvSpPr>
        <p:spPr>
          <a:xfrm>
            <a:off x="10762488" y="375959"/>
            <a:ext cx="420624" cy="420624"/>
          </a:xfrm>
          <a:prstGeom prst="star5">
            <a:avLst/>
          </a:prstGeom>
          <a:solidFill>
            <a:srgbClr val="12459E"/>
          </a:solidFill>
          <a:ln w="12700">
            <a:solidFill>
              <a:srgbClr val="333333"/>
            </a:solidFill>
            <a:prstDash val="solid"/>
          </a:ln>
        </p:spPr>
      </p:sp>
      <p:sp>
        <p:nvSpPr>
          <p:cNvPr id="4" name="Shape 2"/>
          <p:cNvSpPr/>
          <p:nvPr/>
        </p:nvSpPr>
        <p:spPr>
          <a:xfrm>
            <a:off x="11364937" y="978408"/>
            <a:ext cx="420624" cy="420624"/>
          </a:xfrm>
          <a:prstGeom prst="star5">
            <a:avLst/>
          </a:prstGeom>
          <a:solidFill>
            <a:srgbClr val="12459E"/>
          </a:solidFill>
          <a:ln w="12700">
            <a:solidFill>
              <a:srgbClr val="333333"/>
            </a:solidFill>
            <a:prstDash val="solid"/>
          </a:ln>
        </p:spPr>
      </p:sp>
      <p:sp>
        <p:nvSpPr>
          <p:cNvPr id="5" name="Shape 3"/>
          <p:cNvSpPr/>
          <p:nvPr/>
        </p:nvSpPr>
        <p:spPr>
          <a:xfrm>
            <a:off x="11585448" y="1801368"/>
            <a:ext cx="420624" cy="420624"/>
          </a:xfrm>
          <a:prstGeom prst="star5">
            <a:avLst/>
          </a:prstGeom>
          <a:solidFill>
            <a:srgbClr val="12459E"/>
          </a:solidFill>
          <a:ln w="12700">
            <a:solidFill>
              <a:srgbClr val="333333"/>
            </a:solidFill>
            <a:prstDash val="solid"/>
          </a:ln>
        </p:spPr>
      </p:sp>
      <p:sp>
        <p:nvSpPr>
          <p:cNvPr id="6" name="Shape 4"/>
          <p:cNvSpPr/>
          <p:nvPr/>
        </p:nvSpPr>
        <p:spPr>
          <a:xfrm>
            <a:off x="11364937" y="2624328"/>
            <a:ext cx="420624" cy="420624"/>
          </a:xfrm>
          <a:prstGeom prst="star5">
            <a:avLst/>
          </a:prstGeom>
          <a:solidFill>
            <a:srgbClr val="12459E"/>
          </a:solidFill>
          <a:ln w="12700">
            <a:solidFill>
              <a:srgbClr val="333333"/>
            </a:solidFill>
            <a:prstDash val="solid"/>
          </a:ln>
        </p:spPr>
      </p:sp>
      <p:sp>
        <p:nvSpPr>
          <p:cNvPr id="7" name="Shape 5"/>
          <p:cNvSpPr/>
          <p:nvPr/>
        </p:nvSpPr>
        <p:spPr>
          <a:xfrm>
            <a:off x="10762488" y="3226777"/>
            <a:ext cx="420624" cy="420624"/>
          </a:xfrm>
          <a:prstGeom prst="star5">
            <a:avLst/>
          </a:prstGeom>
          <a:solidFill>
            <a:srgbClr val="12459E"/>
          </a:solidFill>
          <a:ln w="12700">
            <a:solidFill>
              <a:srgbClr val="333333"/>
            </a:solidFill>
            <a:prstDash val="solid"/>
          </a:ln>
        </p:spPr>
      </p:sp>
      <p:sp>
        <p:nvSpPr>
          <p:cNvPr id="8" name="Shape 6"/>
          <p:cNvSpPr/>
          <p:nvPr/>
        </p:nvSpPr>
        <p:spPr>
          <a:xfrm>
            <a:off x="9939528" y="3447288"/>
            <a:ext cx="420624" cy="420624"/>
          </a:xfrm>
          <a:prstGeom prst="star5">
            <a:avLst/>
          </a:prstGeom>
          <a:solidFill>
            <a:srgbClr val="12459E"/>
          </a:solidFill>
          <a:ln w="12700">
            <a:solidFill>
              <a:srgbClr val="333333"/>
            </a:solidFill>
            <a:prstDash val="solid"/>
          </a:ln>
        </p:spPr>
      </p:sp>
      <p:sp>
        <p:nvSpPr>
          <p:cNvPr id="9" name="Shape 7"/>
          <p:cNvSpPr/>
          <p:nvPr/>
        </p:nvSpPr>
        <p:spPr>
          <a:xfrm>
            <a:off x="9116568" y="3226777"/>
            <a:ext cx="420624" cy="420624"/>
          </a:xfrm>
          <a:prstGeom prst="star5">
            <a:avLst/>
          </a:prstGeom>
          <a:solidFill>
            <a:srgbClr val="12459E"/>
          </a:solidFill>
          <a:ln w="12700">
            <a:solidFill>
              <a:srgbClr val="333333"/>
            </a:solidFill>
            <a:prstDash val="solid"/>
          </a:ln>
        </p:spPr>
      </p:sp>
      <p:sp>
        <p:nvSpPr>
          <p:cNvPr id="10" name="Shape 8"/>
          <p:cNvSpPr/>
          <p:nvPr/>
        </p:nvSpPr>
        <p:spPr>
          <a:xfrm>
            <a:off x="8514119" y="2624328"/>
            <a:ext cx="420624" cy="420624"/>
          </a:xfrm>
          <a:prstGeom prst="star5">
            <a:avLst/>
          </a:prstGeom>
          <a:solidFill>
            <a:srgbClr val="12459E"/>
          </a:solidFill>
          <a:ln w="12700">
            <a:solidFill>
              <a:srgbClr val="333333"/>
            </a:solidFill>
            <a:prstDash val="solid"/>
          </a:ln>
        </p:spPr>
      </p:sp>
      <p:sp>
        <p:nvSpPr>
          <p:cNvPr id="11" name="Shape 9"/>
          <p:cNvSpPr/>
          <p:nvPr/>
        </p:nvSpPr>
        <p:spPr>
          <a:xfrm>
            <a:off x="8293608" y="1801368"/>
            <a:ext cx="420624" cy="420624"/>
          </a:xfrm>
          <a:prstGeom prst="star5">
            <a:avLst/>
          </a:prstGeom>
          <a:solidFill>
            <a:srgbClr val="12459E"/>
          </a:solidFill>
          <a:ln w="12700">
            <a:solidFill>
              <a:srgbClr val="333333"/>
            </a:solidFill>
            <a:prstDash val="solid"/>
          </a:ln>
        </p:spPr>
      </p:sp>
      <p:sp>
        <p:nvSpPr>
          <p:cNvPr id="12" name="Shape 10"/>
          <p:cNvSpPr/>
          <p:nvPr/>
        </p:nvSpPr>
        <p:spPr>
          <a:xfrm>
            <a:off x="8514119" y="978408"/>
            <a:ext cx="420624" cy="420624"/>
          </a:xfrm>
          <a:prstGeom prst="star5">
            <a:avLst/>
          </a:prstGeom>
          <a:solidFill>
            <a:srgbClr val="12459E"/>
          </a:solidFill>
          <a:ln w="12700">
            <a:solidFill>
              <a:srgbClr val="333333"/>
            </a:solidFill>
            <a:prstDash val="solid"/>
          </a:ln>
        </p:spPr>
      </p:sp>
      <p:sp>
        <p:nvSpPr>
          <p:cNvPr id="13" name="Shape 11"/>
          <p:cNvSpPr/>
          <p:nvPr/>
        </p:nvSpPr>
        <p:spPr>
          <a:xfrm>
            <a:off x="9116568" y="375959"/>
            <a:ext cx="420624" cy="420624"/>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85800"/>
            <a:ext cx="1984248" cy="457200"/>
          </a:xfrm>
          <a:prstGeom prst="rect">
            <a:avLst/>
          </a:prstGeom>
        </p:spPr>
      </p:pic>
      <p:sp>
        <p:nvSpPr>
          <p:cNvPr id="15" name="Text 12"/>
          <p:cNvSpPr/>
          <p:nvPr/>
        </p:nvSpPr>
        <p:spPr>
          <a:xfrm>
            <a:off x="822960" y="2057400"/>
            <a:ext cx="82296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COMPANY THESIS  ·  POLICY ARCHITECTURE</a:t>
            </a:r>
            <a:endParaRPr lang="en-US" sz="1200" dirty="0"/>
          </a:p>
        </p:txBody>
      </p:sp>
      <p:sp>
        <p:nvSpPr>
          <p:cNvPr id="16" name="Text 13"/>
          <p:cNvSpPr/>
          <p:nvPr/>
        </p:nvSpPr>
        <p:spPr>
          <a:xfrm>
            <a:off x="777240" y="2468880"/>
            <a:ext cx="7863840" cy="173736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From model wedge to</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European AI stack</a:t>
            </a:r>
            <a:endParaRPr lang="en-US" sz="4600" dirty="0"/>
          </a:p>
        </p:txBody>
      </p:sp>
      <p:sp>
        <p:nvSpPr>
          <p:cNvPr id="17" name="Text 14"/>
          <p:cNvSpPr/>
          <p:nvPr/>
        </p:nvSpPr>
        <p:spPr>
          <a:xfrm>
            <a:off x="777240" y="4617720"/>
            <a:ext cx="6949440" cy="914400"/>
          </a:xfrm>
          <a:prstGeom prst="rect">
            <a:avLst/>
          </a:prstGeom>
          <a:noFill/>
          <a:ln/>
        </p:spPr>
        <p:txBody>
          <a:bodyPr wrap="square" lIns="0" tIns="0" rIns="0" bIns="0" rtlCol="0" anchor="ctr"/>
          <a:lstStyle/>
          <a:p>
            <a:pPr indent="0" marL="0">
              <a:lnSpc>
                <a:spcPts val="2400"/>
              </a:lnSpc>
              <a:buNone/>
            </a:pPr>
            <a:r>
              <a:rPr lang="en-US" sz="1500" dirty="0">
                <a:solidFill>
                  <a:srgbClr val="C9D4F0"/>
                </a:solidFill>
                <a:latin typeface="Calibri" pitchFamily="34" charset="0"/>
                <a:ea typeface="Calibri" pitchFamily="34" charset="-122"/>
                <a:cs typeface="Calibri" pitchFamily="34" charset="-120"/>
              </a:rPr>
              <a:t>Why Mistral can win the model layer, and how Europe turns that win into a stack that compounds.</a:t>
            </a:r>
            <a:endParaRPr lang="en-US" sz="1500" dirty="0"/>
          </a:p>
        </p:txBody>
      </p:sp>
      <p:sp>
        <p:nvSpPr>
          <p:cNvPr id="18" name="Text 15"/>
          <p:cNvSpPr/>
          <p:nvPr/>
        </p:nvSpPr>
        <p:spPr>
          <a:xfrm>
            <a:off x="77724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Win the model layer</a:t>
            </a:r>
            <a:endParaRPr lang="en-US" sz="1250" dirty="0"/>
          </a:p>
        </p:txBody>
      </p:sp>
      <p:sp>
        <p:nvSpPr>
          <p:cNvPr id="19" name="Text 16"/>
          <p:cNvSpPr/>
          <p:nvPr/>
        </p:nvSpPr>
        <p:spPr>
          <a:xfrm>
            <a:off x="393192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Make it durable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NARRATIVE SPINE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One thesis, two layers</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The company layer explains why Mistral can win. The policy layer explains how Europe makes that win compound.</a:t>
            </a:r>
            <a:endParaRPr lang="en-US" sz="1450" dirty="0"/>
          </a:p>
        </p:txBody>
      </p:sp>
      <p:sp>
        <p:nvSpPr>
          <p:cNvPr id="7" name="Shape 5"/>
          <p:cNvSpPr/>
          <p:nvPr/>
        </p:nvSpPr>
        <p:spPr>
          <a:xfrm>
            <a:off x="548640" y="2148840"/>
            <a:ext cx="3429000" cy="2834640"/>
          </a:xfrm>
          <a:prstGeom prst="roundRect">
            <a:avLst>
              <a:gd name="adj" fmla="val 3871"/>
            </a:avLst>
          </a:prstGeom>
          <a:solidFill>
            <a:srgbClr val="F4F6FB"/>
          </a:solidFill>
          <a:ln w="12700">
            <a:solidFill>
              <a:srgbClr val="DDE2EE"/>
            </a:solidFill>
            <a:prstDash val="solid"/>
          </a:ln>
        </p:spPr>
      </p:sp>
      <p:sp>
        <p:nvSpPr>
          <p:cNvPr id="8" name="Shape 6"/>
          <p:cNvSpPr/>
          <p:nvPr/>
        </p:nvSpPr>
        <p:spPr>
          <a:xfrm>
            <a:off x="896112" y="2514600"/>
            <a:ext cx="566928" cy="566928"/>
          </a:xfrm>
          <a:prstGeom prst="ellipse">
            <a:avLst/>
          </a:prstGeom>
          <a:solidFill>
            <a:srgbClr val="FFCC00"/>
          </a:solidFill>
          <a:ln w="12700">
            <a:solidFill>
              <a:srgbClr val="333333"/>
            </a:solidFill>
            <a:prstDash val="solid"/>
          </a:ln>
        </p:spPr>
      </p:sp>
      <p:sp>
        <p:nvSpPr>
          <p:cNvPr id="9" name="Text 7"/>
          <p:cNvSpPr/>
          <p:nvPr/>
        </p:nvSpPr>
        <p:spPr>
          <a:xfrm>
            <a:off x="89611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89611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Company wedge</a:t>
            </a:r>
            <a:endParaRPr lang="en-US" sz="1900" dirty="0"/>
          </a:p>
        </p:txBody>
      </p:sp>
      <p:sp>
        <p:nvSpPr>
          <p:cNvPr id="11" name="Text 9"/>
          <p:cNvSpPr/>
          <p:nvPr/>
        </p:nvSpPr>
        <p:spPr>
          <a:xfrm>
            <a:off x="89611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Open, inspectable, deployable models that enterprises can actually trust and control.</a:t>
            </a:r>
            <a:endParaRPr lang="en-US" sz="1350" dirty="0"/>
          </a:p>
        </p:txBody>
      </p:sp>
      <p:sp>
        <p:nvSpPr>
          <p:cNvPr id="12" name="Shape 10"/>
          <p:cNvSpPr/>
          <p:nvPr/>
        </p:nvSpPr>
        <p:spPr>
          <a:xfrm>
            <a:off x="4297680" y="2148840"/>
            <a:ext cx="3429000" cy="2834640"/>
          </a:xfrm>
          <a:prstGeom prst="roundRect">
            <a:avLst>
              <a:gd name="adj" fmla="val 3871"/>
            </a:avLst>
          </a:prstGeom>
          <a:solidFill>
            <a:srgbClr val="F4F6FB"/>
          </a:solidFill>
          <a:ln w="12700">
            <a:solidFill>
              <a:srgbClr val="DDE2EE"/>
            </a:solidFill>
            <a:prstDash val="solid"/>
          </a:ln>
        </p:spPr>
      </p:sp>
      <p:sp>
        <p:nvSpPr>
          <p:cNvPr id="13" name="Shape 11"/>
          <p:cNvSpPr/>
          <p:nvPr/>
        </p:nvSpPr>
        <p:spPr>
          <a:xfrm>
            <a:off x="4645152" y="2514600"/>
            <a:ext cx="566928" cy="566928"/>
          </a:xfrm>
          <a:prstGeom prst="ellipse">
            <a:avLst/>
          </a:prstGeom>
          <a:solidFill>
            <a:srgbClr val="FFCC00"/>
          </a:solidFill>
          <a:ln w="12700">
            <a:solidFill>
              <a:srgbClr val="333333"/>
            </a:solidFill>
            <a:prstDash val="solid"/>
          </a:ln>
        </p:spPr>
      </p:sp>
      <p:sp>
        <p:nvSpPr>
          <p:cNvPr id="14" name="Text 12"/>
          <p:cNvSpPr/>
          <p:nvPr/>
        </p:nvSpPr>
        <p:spPr>
          <a:xfrm>
            <a:off x="464515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464515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Industrial loop</a:t>
            </a:r>
            <a:endParaRPr lang="en-US" sz="1900" dirty="0"/>
          </a:p>
        </p:txBody>
      </p:sp>
      <p:sp>
        <p:nvSpPr>
          <p:cNvPr id="16" name="Text 14"/>
          <p:cNvSpPr/>
          <p:nvPr/>
        </p:nvSpPr>
        <p:spPr>
          <a:xfrm>
            <a:off x="464515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Adoption generates data and usage feedback, which sharpens the next model generation.</a:t>
            </a:r>
            <a:endParaRPr lang="en-US" sz="1350" dirty="0"/>
          </a:p>
        </p:txBody>
      </p:sp>
      <p:sp>
        <p:nvSpPr>
          <p:cNvPr id="17" name="Shape 15"/>
          <p:cNvSpPr/>
          <p:nvPr/>
        </p:nvSpPr>
        <p:spPr>
          <a:xfrm>
            <a:off x="8046720" y="2148840"/>
            <a:ext cx="3429000" cy="2834640"/>
          </a:xfrm>
          <a:prstGeom prst="roundRect">
            <a:avLst>
              <a:gd name="adj" fmla="val 3871"/>
            </a:avLst>
          </a:prstGeom>
          <a:solidFill>
            <a:srgbClr val="F4F6FB"/>
          </a:solidFill>
          <a:ln w="12700">
            <a:solidFill>
              <a:srgbClr val="DDE2EE"/>
            </a:solidFill>
            <a:prstDash val="solid"/>
          </a:ln>
        </p:spPr>
      </p:sp>
      <p:sp>
        <p:nvSpPr>
          <p:cNvPr id="18" name="Shape 16"/>
          <p:cNvSpPr/>
          <p:nvPr/>
        </p:nvSpPr>
        <p:spPr>
          <a:xfrm>
            <a:off x="8394192" y="2514600"/>
            <a:ext cx="566928" cy="566928"/>
          </a:xfrm>
          <a:prstGeom prst="ellipse">
            <a:avLst/>
          </a:prstGeom>
          <a:solidFill>
            <a:srgbClr val="FFCC00"/>
          </a:solidFill>
          <a:ln w="12700">
            <a:solidFill>
              <a:srgbClr val="333333"/>
            </a:solidFill>
            <a:prstDash val="solid"/>
          </a:ln>
        </p:spPr>
      </p:sp>
      <p:sp>
        <p:nvSpPr>
          <p:cNvPr id="19" name="Text 17"/>
          <p:cNvSpPr/>
          <p:nvPr/>
        </p:nvSpPr>
        <p:spPr>
          <a:xfrm>
            <a:off x="839419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39419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European stack</a:t>
            </a:r>
            <a:endParaRPr lang="en-US" sz="1900" dirty="0"/>
          </a:p>
        </p:txBody>
      </p:sp>
      <p:sp>
        <p:nvSpPr>
          <p:cNvPr id="21" name="Text 19"/>
          <p:cNvSpPr/>
          <p:nvPr/>
        </p:nvSpPr>
        <p:spPr>
          <a:xfrm>
            <a:off x="839419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Talent, compute, demand, and capital compound under European control.</a:t>
            </a:r>
            <a:endParaRPr lang="en-US" sz="1350" dirty="0"/>
          </a:p>
        </p:txBody>
      </p:sp>
      <p:sp>
        <p:nvSpPr>
          <p:cNvPr id="22" name="Text 20"/>
          <p:cNvSpPr/>
          <p:nvPr/>
        </p:nvSpPr>
        <p:spPr>
          <a:xfrm>
            <a:off x="548640" y="5257800"/>
            <a:ext cx="10607040" cy="457200"/>
          </a:xfrm>
          <a:prstGeom prst="rect">
            <a:avLst/>
          </a:prstGeom>
          <a:noFill/>
          <a:ln/>
        </p:spPr>
        <p:txBody>
          <a:bodyPr wrap="square" lIns="0" tIns="0" rIns="0" bIns="0" rtlCol="0" anchor="ctr"/>
          <a:lstStyle/>
          <a:p>
            <a:pPr algn="ctr" indent="0" marL="0">
              <a:buNone/>
            </a:pPr>
            <a:r>
              <a:rPr lang="en-US" sz="1800" b="1" i="1" dirty="0">
                <a:solidFill>
                  <a:srgbClr val="111A33"/>
                </a:solidFill>
                <a:latin typeface="Cambria" pitchFamily="34" charset="0"/>
                <a:ea typeface="Cambria" pitchFamily="34" charset="-122"/>
                <a:cs typeface="Cambria" pitchFamily="34" charset="-120"/>
              </a:rPr>
              <a:t>Model control becomes market architecture.</a:t>
            </a:r>
            <a:endParaRPr lang="en-US" sz="180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2 / 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STRATEGIC PROBLEM</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model layer is the choke point</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Value, trust, and autonomy concentrate where replication is hardest: models trained with scarce compute, data, and talent.</a:t>
            </a:r>
            <a:endParaRPr lang="en-US" sz="1450" dirty="0"/>
          </a:p>
        </p:txBody>
      </p:sp>
      <p:sp>
        <p:nvSpPr>
          <p:cNvPr id="7" name="Shape 5"/>
          <p:cNvSpPr/>
          <p:nvPr/>
        </p:nvSpPr>
        <p:spPr>
          <a:xfrm>
            <a:off x="548640" y="2103120"/>
            <a:ext cx="3429000" cy="1691640"/>
          </a:xfrm>
          <a:prstGeom prst="roundRect">
            <a:avLst>
              <a:gd name="adj" fmla="val 6486"/>
            </a:avLst>
          </a:prstGeom>
          <a:solidFill>
            <a:srgbClr val="003399"/>
          </a:solidFill>
          <a:ln w="12700">
            <a:solidFill>
              <a:srgbClr val="333333"/>
            </a:solidFill>
            <a:prstDash val="solid"/>
          </a:ln>
        </p:spPr>
      </p:sp>
      <p:sp>
        <p:nvSpPr>
          <p:cNvPr id="8" name="Text 6"/>
          <p:cNvSpPr/>
          <p:nvPr/>
        </p:nvSpPr>
        <p:spPr>
          <a:xfrm>
            <a:off x="86868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$110B</a:t>
            </a:r>
            <a:endParaRPr lang="en-US" sz="4400" dirty="0"/>
          </a:p>
        </p:txBody>
      </p:sp>
      <p:sp>
        <p:nvSpPr>
          <p:cNvPr id="9" name="Text 7"/>
          <p:cNvSpPr/>
          <p:nvPr/>
        </p:nvSpPr>
        <p:spPr>
          <a:xfrm>
            <a:off x="86868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projected 2030 generative AI market</a:t>
            </a:r>
            <a:endParaRPr lang="en-US" sz="1250" dirty="0"/>
          </a:p>
        </p:txBody>
      </p:sp>
      <p:sp>
        <p:nvSpPr>
          <p:cNvPr id="10" name="Shape 8"/>
          <p:cNvSpPr/>
          <p:nvPr/>
        </p:nvSpPr>
        <p:spPr>
          <a:xfrm>
            <a:off x="4297680" y="2103120"/>
            <a:ext cx="3429000" cy="1691640"/>
          </a:xfrm>
          <a:prstGeom prst="roundRect">
            <a:avLst>
              <a:gd name="adj" fmla="val 6486"/>
            </a:avLst>
          </a:prstGeom>
          <a:solidFill>
            <a:srgbClr val="003399"/>
          </a:solidFill>
          <a:ln w="12700">
            <a:solidFill>
              <a:srgbClr val="333333"/>
            </a:solidFill>
            <a:prstDash val="solid"/>
          </a:ln>
        </p:spPr>
      </p:sp>
      <p:sp>
        <p:nvSpPr>
          <p:cNvPr id="11" name="Text 9"/>
          <p:cNvSpPr/>
          <p:nvPr/>
        </p:nvSpPr>
        <p:spPr>
          <a:xfrm>
            <a:off x="461772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35%</a:t>
            </a:r>
            <a:endParaRPr lang="en-US" sz="4400" dirty="0"/>
          </a:p>
        </p:txBody>
      </p:sp>
      <p:sp>
        <p:nvSpPr>
          <p:cNvPr id="12" name="Text 10"/>
          <p:cNvSpPr/>
          <p:nvPr/>
        </p:nvSpPr>
        <p:spPr>
          <a:xfrm>
            <a:off x="461772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estimated annual market growth</a:t>
            </a:r>
            <a:endParaRPr lang="en-US" sz="1250" dirty="0"/>
          </a:p>
        </p:txBody>
      </p:sp>
      <p:sp>
        <p:nvSpPr>
          <p:cNvPr id="13" name="Shape 11"/>
          <p:cNvSpPr/>
          <p:nvPr/>
        </p:nvSpPr>
        <p:spPr>
          <a:xfrm>
            <a:off x="8046720" y="2103120"/>
            <a:ext cx="3429000" cy="1691640"/>
          </a:xfrm>
          <a:prstGeom prst="roundRect">
            <a:avLst>
              <a:gd name="adj" fmla="val 6486"/>
            </a:avLst>
          </a:prstGeom>
          <a:solidFill>
            <a:srgbClr val="003399"/>
          </a:solidFill>
          <a:ln w="12700">
            <a:solidFill>
              <a:srgbClr val="333333"/>
            </a:solidFill>
            <a:prstDash val="solid"/>
          </a:ln>
        </p:spPr>
      </p:sp>
      <p:sp>
        <p:nvSpPr>
          <p:cNvPr id="14" name="Text 12"/>
          <p:cNvSpPr/>
          <p:nvPr/>
        </p:nvSpPr>
        <p:spPr>
          <a:xfrm>
            <a:off x="836676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450M+</a:t>
            </a:r>
            <a:endParaRPr lang="en-US" sz="4400" dirty="0"/>
          </a:p>
        </p:txBody>
      </p:sp>
      <p:sp>
        <p:nvSpPr>
          <p:cNvPr id="15" name="Text 13"/>
          <p:cNvSpPr/>
          <p:nvPr/>
        </p:nvSpPr>
        <p:spPr>
          <a:xfrm>
            <a:off x="836676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people in the EU single market</a:t>
            </a:r>
            <a:endParaRPr lang="en-US" sz="1250" dirty="0"/>
          </a:p>
        </p:txBody>
      </p:sp>
      <p:sp>
        <p:nvSpPr>
          <p:cNvPr id="16" name="Text 14"/>
          <p:cNvSpPr/>
          <p:nvPr/>
        </p:nvSpPr>
        <p:spPr>
          <a:xfrm>
            <a:off x="548640" y="4114800"/>
            <a:ext cx="7315200" cy="320040"/>
          </a:xfrm>
          <a:prstGeom prst="rect">
            <a:avLst/>
          </a:prstGeom>
          <a:noFill/>
          <a:ln/>
        </p:spPr>
        <p:txBody>
          <a:bodyPr wrap="square" lIns="0" tIns="0" rIns="0" bIns="0" rtlCol="0" anchor="ctr"/>
          <a:lstStyle/>
          <a:p>
            <a:pPr indent="0" marL="0">
              <a:buNone/>
            </a:pPr>
            <a:r>
              <a:rPr lang="en-US" sz="1200" b="1" spc="150" kern="0" dirty="0">
                <a:solidFill>
                  <a:srgbClr val="003399"/>
                </a:solidFill>
                <a:latin typeface="Calibri" pitchFamily="34" charset="0"/>
                <a:ea typeface="Calibri" pitchFamily="34" charset="-122"/>
                <a:cs typeface="Calibri" pitchFamily="34" charset="-120"/>
              </a:rPr>
              <a:t>Three structural constraints on closed stacks</a:t>
            </a:r>
            <a:endParaRPr lang="en-US" sz="1200" dirty="0"/>
          </a:p>
        </p:txBody>
      </p:sp>
      <p:sp>
        <p:nvSpPr>
          <p:cNvPr id="17" name="Shape 15"/>
          <p:cNvSpPr/>
          <p:nvPr/>
        </p:nvSpPr>
        <p:spPr>
          <a:xfrm>
            <a:off x="566928" y="4608576"/>
            <a:ext cx="146304" cy="146304"/>
          </a:xfrm>
          <a:prstGeom prst="ellipse">
            <a:avLst/>
          </a:prstGeom>
          <a:solidFill>
            <a:srgbClr val="FFCC00"/>
          </a:solidFill>
          <a:ln w="12700">
            <a:solidFill>
              <a:srgbClr val="333333"/>
            </a:solidFill>
            <a:prstDash val="solid"/>
          </a:ln>
        </p:spPr>
      </p:sp>
      <p:sp>
        <p:nvSpPr>
          <p:cNvPr id="18" name="Text 16"/>
          <p:cNvSpPr/>
          <p:nvPr/>
        </p:nvSpPr>
        <p:spPr>
          <a:xfrm>
            <a:off x="914400" y="452628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Closed APIs limit inspection and enterprise data control.</a:t>
            </a:r>
            <a:endParaRPr lang="en-US" sz="1450" dirty="0"/>
          </a:p>
        </p:txBody>
      </p:sp>
      <p:sp>
        <p:nvSpPr>
          <p:cNvPr id="19" name="Shape 17"/>
          <p:cNvSpPr/>
          <p:nvPr/>
        </p:nvSpPr>
        <p:spPr>
          <a:xfrm>
            <a:off x="566928" y="5111496"/>
            <a:ext cx="146304" cy="146304"/>
          </a:xfrm>
          <a:prstGeom prst="ellipse">
            <a:avLst/>
          </a:prstGeom>
          <a:solidFill>
            <a:srgbClr val="FFCC00"/>
          </a:solidFill>
          <a:ln w="12700">
            <a:solidFill>
              <a:srgbClr val="333333"/>
            </a:solidFill>
            <a:prstDash val="solid"/>
          </a:ln>
        </p:spPr>
      </p:sp>
      <p:sp>
        <p:nvSpPr>
          <p:cNvPr id="20" name="Text 18"/>
          <p:cNvSpPr/>
          <p:nvPr/>
        </p:nvSpPr>
        <p:spPr>
          <a:xfrm>
            <a:off x="914400" y="502920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Integration stays shallow when only text outputs are exposed.</a:t>
            </a:r>
            <a:endParaRPr lang="en-US" sz="1450" dirty="0"/>
          </a:p>
        </p:txBody>
      </p:sp>
      <p:sp>
        <p:nvSpPr>
          <p:cNvPr id="21" name="Shape 19"/>
          <p:cNvSpPr/>
          <p:nvPr/>
        </p:nvSpPr>
        <p:spPr>
          <a:xfrm>
            <a:off x="566928" y="5614416"/>
            <a:ext cx="146304" cy="146304"/>
          </a:xfrm>
          <a:prstGeom prst="ellipse">
            <a:avLst/>
          </a:prstGeom>
          <a:solidFill>
            <a:srgbClr val="FFCC00"/>
          </a:solidFill>
          <a:ln w="12700">
            <a:solidFill>
              <a:srgbClr val="333333"/>
            </a:solidFill>
            <a:prstDash val="solid"/>
          </a:ln>
        </p:spPr>
      </p:sp>
      <p:sp>
        <p:nvSpPr>
          <p:cNvPr id="22" name="Text 20"/>
          <p:cNvSpPr/>
          <p:nvPr/>
        </p:nvSpPr>
        <p:spPr>
          <a:xfrm>
            <a:off x="914400" y="553212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Foreign AI stacks create strategic and legal dependency.</a:t>
            </a:r>
            <a:endParaRPr lang="en-US" sz="145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3 / 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MARKET SIZING</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addressable market, built from the bottom up</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Top-down market forecasts do not underwrite a plan. Accounts, contract values, and share do.</a:t>
            </a:r>
            <a:endParaRPr lang="en-US" sz="1450" dirty="0"/>
          </a:p>
        </p:txBody>
      </p:sp>
      <p:sp>
        <p:nvSpPr>
          <p:cNvPr id="7" name="Shape 5"/>
          <p:cNvSpPr/>
          <p:nvPr/>
        </p:nvSpPr>
        <p:spPr>
          <a:xfrm>
            <a:off x="548640" y="1965960"/>
            <a:ext cx="2468880" cy="1371600"/>
          </a:xfrm>
          <a:prstGeom prst="roundRect">
            <a:avLst>
              <a:gd name="adj" fmla="val 6667"/>
            </a:avLst>
          </a:prstGeom>
          <a:solidFill>
            <a:srgbClr val="F4F6FB"/>
          </a:solidFill>
          <a:ln w="12700">
            <a:solidFill>
              <a:srgbClr val="DDE2EE"/>
            </a:solidFill>
            <a:prstDash val="solid"/>
          </a:ln>
        </p:spPr>
      </p:sp>
      <p:sp>
        <p:nvSpPr>
          <p:cNvPr id="8" name="Text 6"/>
          <p:cNvSpPr/>
          <p:nvPr/>
        </p:nvSpPr>
        <p:spPr>
          <a:xfrm>
            <a:off x="777240"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45,000</a:t>
            </a:r>
            <a:endParaRPr lang="en-US" sz="2800" dirty="0"/>
          </a:p>
        </p:txBody>
      </p:sp>
      <p:sp>
        <p:nvSpPr>
          <p:cNvPr id="9" name="Text 7"/>
          <p:cNvSpPr/>
          <p:nvPr/>
        </p:nvSpPr>
        <p:spPr>
          <a:xfrm>
            <a:off x="777240"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EU enterprises</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over 250 employees</a:t>
            </a:r>
            <a:endParaRPr lang="en-US" sz="1150" dirty="0"/>
          </a:p>
        </p:txBody>
      </p:sp>
      <p:sp>
        <p:nvSpPr>
          <p:cNvPr id="10" name="Shape 8"/>
          <p:cNvSpPr/>
          <p:nvPr/>
        </p:nvSpPr>
        <p:spPr>
          <a:xfrm>
            <a:off x="3044952" y="2551176"/>
            <a:ext cx="182880" cy="201168"/>
          </a:xfrm>
          <a:prstGeom prst="rightArrow">
            <a:avLst/>
          </a:prstGeom>
          <a:solidFill>
            <a:srgbClr val="003399"/>
          </a:solidFill>
          <a:ln w="12700">
            <a:solidFill>
              <a:srgbClr val="333333"/>
            </a:solidFill>
            <a:prstDash val="solid"/>
          </a:ln>
        </p:spPr>
      </p:sp>
      <p:sp>
        <p:nvSpPr>
          <p:cNvPr id="11" name="Shape 9"/>
          <p:cNvSpPr/>
          <p:nvPr/>
        </p:nvSpPr>
        <p:spPr>
          <a:xfrm>
            <a:off x="3273552" y="1965960"/>
            <a:ext cx="2468880" cy="1371600"/>
          </a:xfrm>
          <a:prstGeom prst="roundRect">
            <a:avLst>
              <a:gd name="adj" fmla="val 6667"/>
            </a:avLst>
          </a:prstGeom>
          <a:solidFill>
            <a:srgbClr val="F4F6FB"/>
          </a:solidFill>
          <a:ln w="12700">
            <a:solidFill>
              <a:srgbClr val="DDE2EE"/>
            </a:solidFill>
            <a:prstDash val="solid"/>
          </a:ln>
        </p:spPr>
      </p:sp>
      <p:sp>
        <p:nvSpPr>
          <p:cNvPr id="12" name="Text 10"/>
          <p:cNvSpPr/>
          <p:nvPr/>
        </p:nvSpPr>
        <p:spPr>
          <a:xfrm>
            <a:off x="3502152"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18,000</a:t>
            </a:r>
            <a:endParaRPr lang="en-US" sz="2800" dirty="0"/>
          </a:p>
        </p:txBody>
      </p:sp>
      <p:sp>
        <p:nvSpPr>
          <p:cNvPr id="13" name="Text 11"/>
          <p:cNvSpPr/>
          <p:nvPr/>
        </p:nvSpPr>
        <p:spPr>
          <a:xfrm>
            <a:off x="3502152"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in regulated and</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data-sensitive sectors</a:t>
            </a:r>
            <a:endParaRPr lang="en-US" sz="1150" dirty="0"/>
          </a:p>
        </p:txBody>
      </p:sp>
      <p:sp>
        <p:nvSpPr>
          <p:cNvPr id="14" name="Shape 12"/>
          <p:cNvSpPr/>
          <p:nvPr/>
        </p:nvSpPr>
        <p:spPr>
          <a:xfrm>
            <a:off x="5769864" y="2551176"/>
            <a:ext cx="182880" cy="201168"/>
          </a:xfrm>
          <a:prstGeom prst="rightArrow">
            <a:avLst/>
          </a:prstGeom>
          <a:solidFill>
            <a:srgbClr val="003399"/>
          </a:solidFill>
          <a:ln w="12700">
            <a:solidFill>
              <a:srgbClr val="333333"/>
            </a:solidFill>
            <a:prstDash val="solid"/>
          </a:ln>
        </p:spPr>
      </p:sp>
      <p:sp>
        <p:nvSpPr>
          <p:cNvPr id="15" name="Shape 13"/>
          <p:cNvSpPr/>
          <p:nvPr/>
        </p:nvSpPr>
        <p:spPr>
          <a:xfrm>
            <a:off x="5998464" y="1965960"/>
            <a:ext cx="2468880" cy="1371600"/>
          </a:xfrm>
          <a:prstGeom prst="roundRect">
            <a:avLst>
              <a:gd name="adj" fmla="val 6667"/>
            </a:avLst>
          </a:prstGeom>
          <a:solidFill>
            <a:srgbClr val="F4F6FB"/>
          </a:solidFill>
          <a:ln w="12700">
            <a:solidFill>
              <a:srgbClr val="DDE2EE"/>
            </a:solidFill>
            <a:prstDash val="solid"/>
          </a:ln>
        </p:spPr>
      </p:sp>
      <p:sp>
        <p:nvSpPr>
          <p:cNvPr id="16" name="Text 14"/>
          <p:cNvSpPr/>
          <p:nvPr/>
        </p:nvSpPr>
        <p:spPr>
          <a:xfrm>
            <a:off x="6227064"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11,000</a:t>
            </a:r>
            <a:endParaRPr lang="en-US" sz="2800" dirty="0"/>
          </a:p>
        </p:txBody>
      </p:sp>
      <p:sp>
        <p:nvSpPr>
          <p:cNvPr id="17" name="Text 15"/>
          <p:cNvSpPr/>
          <p:nvPr/>
        </p:nvSpPr>
        <p:spPr>
          <a:xfrm>
            <a:off x="6227064"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with deployment</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capacity by 2030</a:t>
            </a:r>
            <a:endParaRPr lang="en-US" sz="1150" dirty="0"/>
          </a:p>
        </p:txBody>
      </p:sp>
      <p:sp>
        <p:nvSpPr>
          <p:cNvPr id="18" name="Shape 16"/>
          <p:cNvSpPr/>
          <p:nvPr/>
        </p:nvSpPr>
        <p:spPr>
          <a:xfrm>
            <a:off x="8494776" y="2551176"/>
            <a:ext cx="182880" cy="201168"/>
          </a:xfrm>
          <a:prstGeom prst="rightArrow">
            <a:avLst/>
          </a:prstGeom>
          <a:solidFill>
            <a:srgbClr val="003399"/>
          </a:solidFill>
          <a:ln w="12700">
            <a:solidFill>
              <a:srgbClr val="333333"/>
            </a:solidFill>
            <a:prstDash val="solid"/>
          </a:ln>
        </p:spPr>
      </p:sp>
      <p:sp>
        <p:nvSpPr>
          <p:cNvPr id="19" name="Shape 17"/>
          <p:cNvSpPr/>
          <p:nvPr/>
        </p:nvSpPr>
        <p:spPr>
          <a:xfrm>
            <a:off x="8723376" y="1965960"/>
            <a:ext cx="2468880" cy="1371600"/>
          </a:xfrm>
          <a:prstGeom prst="roundRect">
            <a:avLst>
              <a:gd name="adj" fmla="val 6667"/>
            </a:avLst>
          </a:prstGeom>
          <a:solidFill>
            <a:srgbClr val="003399"/>
          </a:solidFill>
          <a:ln w="12700">
            <a:solidFill>
              <a:srgbClr val="003399"/>
            </a:solidFill>
            <a:prstDash val="solid"/>
          </a:ln>
        </p:spPr>
      </p:sp>
      <p:sp>
        <p:nvSpPr>
          <p:cNvPr id="20" name="Text 18"/>
          <p:cNvSpPr/>
          <p:nvPr/>
        </p:nvSpPr>
        <p:spPr>
          <a:xfrm>
            <a:off x="8951976" y="2103120"/>
            <a:ext cx="2011680" cy="548640"/>
          </a:xfrm>
          <a:prstGeom prst="rect">
            <a:avLst/>
          </a:prstGeom>
          <a:noFill/>
          <a:ln/>
        </p:spPr>
        <p:txBody>
          <a:bodyPr wrap="square" lIns="0" tIns="0" rIns="0" bIns="0" rtlCol="0" anchor="ctr"/>
          <a:lstStyle/>
          <a:p>
            <a:pPr indent="0" marL="0">
              <a:buNone/>
            </a:pPr>
            <a:r>
              <a:rPr lang="en-US" sz="2600" b="1" dirty="0">
                <a:solidFill>
                  <a:srgbClr val="FFCC00"/>
                </a:solidFill>
                <a:latin typeface="Cambria" pitchFamily="34" charset="0"/>
                <a:ea typeface="Cambria" pitchFamily="34" charset="-122"/>
                <a:cs typeface="Cambria" pitchFamily="34" charset="-120"/>
              </a:rPr>
              <a:t>EUR 4.4B</a:t>
            </a:r>
            <a:endParaRPr lang="en-US" sz="2600" dirty="0"/>
          </a:p>
        </p:txBody>
      </p:sp>
      <p:sp>
        <p:nvSpPr>
          <p:cNvPr id="21" name="Text 19"/>
          <p:cNvSpPr/>
          <p:nvPr/>
        </p:nvSpPr>
        <p:spPr>
          <a:xfrm>
            <a:off x="8951976"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annual serviceable</a:t>
            </a:r>
            <a:endParaRPr lang="en-US" sz="1150" dirty="0"/>
          </a:p>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spend on the model layer</a:t>
            </a:r>
            <a:endParaRPr lang="en-US" sz="1150" dirty="0"/>
          </a:p>
        </p:txBody>
      </p:sp>
      <p:sp>
        <p:nvSpPr>
          <p:cNvPr id="22" name="Text 20"/>
          <p:cNvSpPr/>
          <p:nvPr/>
        </p:nvSpPr>
        <p:spPr>
          <a:xfrm>
            <a:off x="548640" y="3611880"/>
            <a:ext cx="5486400" cy="274320"/>
          </a:xfrm>
          <a:prstGeom prst="rect">
            <a:avLst/>
          </a:prstGeom>
          <a:noFill/>
          <a:ln/>
        </p:spPr>
        <p:txBody>
          <a:bodyPr wrap="square" lIns="0" tIns="0" rIns="0" bIns="0" rtlCol="0" anchor="ctr"/>
          <a:lstStyle/>
          <a:p>
            <a:pPr indent="0" marL="0">
              <a:buNone/>
            </a:pPr>
            <a:r>
              <a:rPr lang="en-US" sz="1100" b="1" spc="150" kern="0" dirty="0">
                <a:solidFill>
                  <a:srgbClr val="003399"/>
                </a:solidFill>
                <a:latin typeface="Calibri" pitchFamily="34" charset="0"/>
                <a:ea typeface="Calibri" pitchFamily="34" charset="-122"/>
                <a:cs typeface="Calibri" pitchFamily="34" charset="-120"/>
              </a:rPr>
              <a:t>CONTRACT VALUE BY SEGMENT</a:t>
            </a:r>
            <a:endParaRPr lang="en-US" sz="1100" dirty="0"/>
          </a:p>
        </p:txBody>
      </p:sp>
      <p:sp>
        <p:nvSpPr>
          <p:cNvPr id="23" name="Shape 21"/>
          <p:cNvSpPr/>
          <p:nvPr/>
        </p:nvSpPr>
        <p:spPr>
          <a:xfrm>
            <a:off x="548640" y="3977640"/>
            <a:ext cx="6720840" cy="566928"/>
          </a:xfrm>
          <a:prstGeom prst="roundRect">
            <a:avLst>
              <a:gd name="adj" fmla="val 12903"/>
            </a:avLst>
          </a:prstGeom>
          <a:solidFill>
            <a:srgbClr val="FFFFFF"/>
          </a:solidFill>
          <a:ln w="12700">
            <a:solidFill>
              <a:srgbClr val="DDE2EE"/>
            </a:solidFill>
            <a:prstDash val="solid"/>
          </a:ln>
        </p:spPr>
      </p:sp>
      <p:sp>
        <p:nvSpPr>
          <p:cNvPr id="24" name="Text 22"/>
          <p:cNvSpPr/>
          <p:nvPr/>
        </p:nvSpPr>
        <p:spPr>
          <a:xfrm>
            <a:off x="777240" y="3977640"/>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1  ·  500 accounts</a:t>
            </a:r>
            <a:endParaRPr lang="en-US" sz="1250" dirty="0"/>
          </a:p>
        </p:txBody>
      </p:sp>
      <p:sp>
        <p:nvSpPr>
          <p:cNvPr id="25" name="Text 23"/>
          <p:cNvSpPr/>
          <p:nvPr/>
        </p:nvSpPr>
        <p:spPr>
          <a:xfrm>
            <a:off x="3200400" y="3977640"/>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Sovereign and systemically regulated</a:t>
            </a:r>
            <a:endParaRPr lang="en-US" sz="1150" dirty="0"/>
          </a:p>
        </p:txBody>
      </p:sp>
      <p:sp>
        <p:nvSpPr>
          <p:cNvPr id="26" name="Text 24"/>
          <p:cNvSpPr/>
          <p:nvPr/>
        </p:nvSpPr>
        <p:spPr>
          <a:xfrm>
            <a:off x="5852160" y="3977640"/>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2.5M</a:t>
            </a:r>
            <a:endParaRPr lang="en-US" sz="1500" dirty="0"/>
          </a:p>
        </p:txBody>
      </p:sp>
      <p:sp>
        <p:nvSpPr>
          <p:cNvPr id="27" name="Shape 25"/>
          <p:cNvSpPr/>
          <p:nvPr/>
        </p:nvSpPr>
        <p:spPr>
          <a:xfrm>
            <a:off x="548640" y="4636008"/>
            <a:ext cx="6720840" cy="566928"/>
          </a:xfrm>
          <a:prstGeom prst="roundRect">
            <a:avLst>
              <a:gd name="adj" fmla="val 12903"/>
            </a:avLst>
          </a:prstGeom>
          <a:solidFill>
            <a:srgbClr val="F4F6FB"/>
          </a:solidFill>
          <a:ln w="12700">
            <a:solidFill>
              <a:srgbClr val="DDE2EE"/>
            </a:solidFill>
            <a:prstDash val="solid"/>
          </a:ln>
        </p:spPr>
      </p:sp>
      <p:sp>
        <p:nvSpPr>
          <p:cNvPr id="28" name="Text 26"/>
          <p:cNvSpPr/>
          <p:nvPr/>
        </p:nvSpPr>
        <p:spPr>
          <a:xfrm>
            <a:off x="777240" y="4636008"/>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2  ·  3,500 accounts</a:t>
            </a:r>
            <a:endParaRPr lang="en-US" sz="1250" dirty="0"/>
          </a:p>
        </p:txBody>
      </p:sp>
      <p:sp>
        <p:nvSpPr>
          <p:cNvPr id="29" name="Text 27"/>
          <p:cNvSpPr/>
          <p:nvPr/>
        </p:nvSpPr>
        <p:spPr>
          <a:xfrm>
            <a:off x="3200400" y="4636008"/>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Large enterprise, private deployment</a:t>
            </a:r>
            <a:endParaRPr lang="en-US" sz="1150" dirty="0"/>
          </a:p>
        </p:txBody>
      </p:sp>
      <p:sp>
        <p:nvSpPr>
          <p:cNvPr id="30" name="Text 28"/>
          <p:cNvSpPr/>
          <p:nvPr/>
        </p:nvSpPr>
        <p:spPr>
          <a:xfrm>
            <a:off x="5852160" y="4636008"/>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600K</a:t>
            </a:r>
            <a:endParaRPr lang="en-US" sz="1500" dirty="0"/>
          </a:p>
        </p:txBody>
      </p:sp>
      <p:sp>
        <p:nvSpPr>
          <p:cNvPr id="31" name="Shape 29"/>
          <p:cNvSpPr/>
          <p:nvPr/>
        </p:nvSpPr>
        <p:spPr>
          <a:xfrm>
            <a:off x="548640" y="5294376"/>
            <a:ext cx="6720840" cy="566928"/>
          </a:xfrm>
          <a:prstGeom prst="roundRect">
            <a:avLst>
              <a:gd name="adj" fmla="val 12903"/>
            </a:avLst>
          </a:prstGeom>
          <a:solidFill>
            <a:srgbClr val="FFFFFF"/>
          </a:solidFill>
          <a:ln w="12700">
            <a:solidFill>
              <a:srgbClr val="DDE2EE"/>
            </a:solidFill>
            <a:prstDash val="solid"/>
          </a:ln>
        </p:spPr>
      </p:sp>
      <p:sp>
        <p:nvSpPr>
          <p:cNvPr id="32" name="Text 30"/>
          <p:cNvSpPr/>
          <p:nvPr/>
        </p:nvSpPr>
        <p:spPr>
          <a:xfrm>
            <a:off x="777240" y="5294376"/>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3  ·  7,000 accounts</a:t>
            </a:r>
            <a:endParaRPr lang="en-US" sz="1250" dirty="0"/>
          </a:p>
        </p:txBody>
      </p:sp>
      <p:sp>
        <p:nvSpPr>
          <p:cNvPr id="33" name="Text 31"/>
          <p:cNvSpPr/>
          <p:nvPr/>
        </p:nvSpPr>
        <p:spPr>
          <a:xfrm>
            <a:off x="3200400" y="5294376"/>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Mid-market, hosted and hybrid</a:t>
            </a:r>
            <a:endParaRPr lang="en-US" sz="1150" dirty="0"/>
          </a:p>
        </p:txBody>
      </p:sp>
      <p:sp>
        <p:nvSpPr>
          <p:cNvPr id="34" name="Text 32"/>
          <p:cNvSpPr/>
          <p:nvPr/>
        </p:nvSpPr>
        <p:spPr>
          <a:xfrm>
            <a:off x="5852160" y="5294376"/>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150K</a:t>
            </a:r>
            <a:endParaRPr lang="en-US" sz="1500" dirty="0"/>
          </a:p>
        </p:txBody>
      </p:sp>
      <p:sp>
        <p:nvSpPr>
          <p:cNvPr id="35" name="Text 33"/>
          <p:cNvSpPr/>
          <p:nvPr/>
        </p:nvSpPr>
        <p:spPr>
          <a:xfrm>
            <a:off x="548640" y="5897880"/>
            <a:ext cx="6720840" cy="274320"/>
          </a:xfrm>
          <a:prstGeom prst="rect">
            <a:avLst/>
          </a:prstGeom>
          <a:noFill/>
          <a:ln/>
        </p:spPr>
        <p:txBody>
          <a:bodyPr wrap="square" lIns="0" tIns="0" rIns="0" bIns="0" rtlCol="0" anchor="ctr"/>
          <a:lstStyle/>
          <a:p>
            <a:pPr indent="0" marL="0">
              <a:buNone/>
            </a:pPr>
            <a:r>
              <a:rPr lang="en-US" sz="1150" i="1" dirty="0">
                <a:solidFill>
                  <a:srgbClr val="5A6480"/>
                </a:solidFill>
                <a:latin typeface="Calibri" pitchFamily="34" charset="0"/>
                <a:ea typeface="Calibri" pitchFamily="34" charset="-122"/>
                <a:cs typeface="Calibri" pitchFamily="34" charset="-120"/>
              </a:rPr>
              <a:t>Blended annual contract value: EUR 400K</a:t>
            </a:r>
            <a:endParaRPr lang="en-US" sz="1150" dirty="0"/>
          </a:p>
        </p:txBody>
      </p:sp>
      <p:sp>
        <p:nvSpPr>
          <p:cNvPr id="36" name="Shape 34"/>
          <p:cNvSpPr/>
          <p:nvPr/>
        </p:nvSpPr>
        <p:spPr>
          <a:xfrm>
            <a:off x="7635240" y="3566160"/>
            <a:ext cx="3520440" cy="2468880"/>
          </a:xfrm>
          <a:prstGeom prst="roundRect">
            <a:avLst>
              <a:gd name="adj" fmla="val 4444"/>
            </a:avLst>
          </a:prstGeom>
          <a:solidFill>
            <a:srgbClr val="00246B"/>
          </a:solidFill>
          <a:ln w="12700">
            <a:solidFill>
              <a:srgbClr val="333333"/>
            </a:solidFill>
            <a:prstDash val="solid"/>
          </a:ln>
        </p:spPr>
      </p:sp>
      <p:sp>
        <p:nvSpPr>
          <p:cNvPr id="37" name="Text 35"/>
          <p:cNvSpPr/>
          <p:nvPr/>
        </p:nvSpPr>
        <p:spPr>
          <a:xfrm>
            <a:off x="7909560" y="3730752"/>
            <a:ext cx="3017520" cy="274320"/>
          </a:xfrm>
          <a:prstGeom prst="rect">
            <a:avLst/>
          </a:prstGeom>
          <a:noFill/>
          <a:ln/>
        </p:spPr>
        <p:txBody>
          <a:bodyPr wrap="square" lIns="0" tIns="0" rIns="0" bIns="0" rtlCol="0" anchor="ctr"/>
          <a:lstStyle/>
          <a:p>
            <a:pPr indent="0" marL="0">
              <a:buNone/>
            </a:pPr>
            <a:r>
              <a:rPr lang="en-US" sz="1050" b="1" spc="120" kern="0" dirty="0">
                <a:solidFill>
                  <a:srgbClr val="FFCC00"/>
                </a:solidFill>
                <a:latin typeface="Calibri" pitchFamily="34" charset="0"/>
                <a:ea typeface="Calibri" pitchFamily="34" charset="-122"/>
                <a:cs typeface="Calibri" pitchFamily="34" charset="-120"/>
              </a:rPr>
              <a:t>TARGET SHARE BY 2030</a:t>
            </a:r>
            <a:endParaRPr lang="en-US" sz="1050" dirty="0"/>
          </a:p>
        </p:txBody>
      </p:sp>
      <p:sp>
        <p:nvSpPr>
          <p:cNvPr id="38" name="Text 36"/>
          <p:cNvSpPr/>
          <p:nvPr/>
        </p:nvSpPr>
        <p:spPr>
          <a:xfrm>
            <a:off x="7909560" y="4041648"/>
            <a:ext cx="301752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EUR 530M</a:t>
            </a:r>
            <a:endParaRPr lang="en-US" sz="3400" dirty="0"/>
          </a:p>
        </p:txBody>
      </p:sp>
      <p:sp>
        <p:nvSpPr>
          <p:cNvPr id="39" name="Text 37"/>
          <p:cNvSpPr/>
          <p:nvPr/>
        </p:nvSpPr>
        <p:spPr>
          <a:xfrm>
            <a:off x="7909560" y="4754880"/>
            <a:ext cx="3017520" cy="822960"/>
          </a:xfrm>
          <a:prstGeom prst="rect">
            <a:avLst/>
          </a:prstGeom>
          <a:noFill/>
          <a:ln/>
        </p:spPr>
        <p:txBody>
          <a:bodyPr wrap="square" lIns="0" tIns="0" rIns="0" bIns="0" rtlCol="0" anchor="ctr"/>
          <a:lstStyle/>
          <a:p>
            <a:pPr indent="0" marL="0">
              <a:lnSpc>
                <a:spcPts val="1700"/>
              </a:lnSpc>
              <a:buNone/>
            </a:pPr>
            <a:r>
              <a:rPr lang="en-US" sz="1200" dirty="0">
                <a:solidFill>
                  <a:srgbClr val="C9D4F0"/>
                </a:solidFill>
                <a:latin typeface="Calibri" pitchFamily="34" charset="0"/>
                <a:ea typeface="Calibri" pitchFamily="34" charset="-122"/>
                <a:cs typeface="Calibri" pitchFamily="34" charset="-120"/>
              </a:rPr>
              <a:t>annual revenue at 12% share of serviceable spend, or roughly 1,300 accounts at blended contract value.</a:t>
            </a:r>
            <a:endParaRPr lang="en-US" sz="1200" dirty="0"/>
          </a:p>
        </p:txBody>
      </p:sp>
      <p:sp>
        <p:nvSpPr>
          <p:cNvPr id="40" name="Text 38"/>
          <p:cNvSpPr/>
          <p:nvPr/>
        </p:nvSpPr>
        <p:spPr>
          <a:xfrm>
            <a:off x="7909560" y="5504688"/>
            <a:ext cx="3017520" cy="457200"/>
          </a:xfrm>
          <a:prstGeom prst="rect">
            <a:avLst/>
          </a:prstGeom>
          <a:noFill/>
          <a:ln/>
        </p:spPr>
        <p:txBody>
          <a:bodyPr wrap="square" lIns="0" tIns="0" rIns="0" bIns="0" rtlCol="0" anchor="ctr"/>
          <a:lstStyle/>
          <a:p>
            <a:pPr indent="0" marL="0">
              <a:lnSpc>
                <a:spcPts val="1400"/>
              </a:lnSpc>
              <a:buNone/>
            </a:pPr>
            <a:r>
              <a:rPr lang="en-US" sz="1050" i="1" dirty="0">
                <a:solidFill>
                  <a:srgbClr val="9FB2DE"/>
                </a:solidFill>
                <a:latin typeface="Calibri" pitchFamily="34" charset="0"/>
                <a:ea typeface="Calibri" pitchFamily="34" charset="-122"/>
                <a:cs typeface="Calibri" pitchFamily="34" charset="-120"/>
              </a:rPr>
              <a:t>Reconciles to top-down: EUR 4.4B is 20% of the EU share of the 2030 forecast.</a:t>
            </a:r>
            <a:endParaRPr lang="en-US" sz="1050" dirty="0"/>
          </a:p>
        </p:txBody>
      </p:sp>
      <p:sp>
        <p:nvSpPr>
          <p:cNvPr id="41" name="Text 39"/>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2" name="Text 40"/>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4 / 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THE WEDGE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Open for trust. Controlled for value.</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Openness is converted into an enterprise wedge: inspectable, composable, privately deployable models.</a:t>
            </a:r>
            <a:endParaRPr lang="en-US" sz="1450" dirty="0"/>
          </a:p>
        </p:txBody>
      </p:sp>
      <p:sp>
        <p:nvSpPr>
          <p:cNvPr id="7" name="Shape 5"/>
          <p:cNvSpPr/>
          <p:nvPr/>
        </p:nvSpPr>
        <p:spPr>
          <a:xfrm>
            <a:off x="548640" y="2011680"/>
            <a:ext cx="10607040" cy="1005840"/>
          </a:xfrm>
          <a:prstGeom prst="roundRect">
            <a:avLst>
              <a:gd name="adj" fmla="val 9091"/>
            </a:avLst>
          </a:prstGeom>
          <a:solidFill>
            <a:srgbClr val="F4F6FB"/>
          </a:solidFill>
          <a:ln w="12700">
            <a:solidFill>
              <a:srgbClr val="DDE2EE"/>
            </a:solidFill>
            <a:prstDash val="solid"/>
          </a:ln>
        </p:spPr>
      </p:sp>
      <p:sp>
        <p:nvSpPr>
          <p:cNvPr id="8" name="Shape 6"/>
          <p:cNvSpPr/>
          <p:nvPr/>
        </p:nvSpPr>
        <p:spPr>
          <a:xfrm>
            <a:off x="868680" y="2286000"/>
            <a:ext cx="457200" cy="457200"/>
          </a:xfrm>
          <a:prstGeom prst="ellipse">
            <a:avLst/>
          </a:prstGeom>
          <a:solidFill>
            <a:srgbClr val="003399"/>
          </a:solidFill>
          <a:ln w="12700">
            <a:solidFill>
              <a:srgbClr val="333333"/>
            </a:solidFill>
            <a:prstDash val="solid"/>
          </a:ln>
        </p:spPr>
      </p:sp>
      <p:sp>
        <p:nvSpPr>
          <p:cNvPr id="9" name="Text 7"/>
          <p:cNvSpPr/>
          <p:nvPr/>
        </p:nvSpPr>
        <p:spPr>
          <a:xfrm>
            <a:off x="868680" y="228600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554480" y="221284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Open models</a:t>
            </a:r>
            <a:endParaRPr lang="en-US" sz="1900" dirty="0"/>
          </a:p>
        </p:txBody>
      </p:sp>
      <p:sp>
        <p:nvSpPr>
          <p:cNvPr id="11" name="Text 9"/>
          <p:cNvSpPr/>
          <p:nvPr/>
        </p:nvSpPr>
        <p:spPr>
          <a:xfrm>
            <a:off x="4572000" y="221284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Developer reach and a hiring edge that closed labs cannot match on distribution.</a:t>
            </a:r>
            <a:endParaRPr lang="en-US" sz="1400" dirty="0"/>
          </a:p>
        </p:txBody>
      </p:sp>
      <p:sp>
        <p:nvSpPr>
          <p:cNvPr id="12" name="Shape 10"/>
          <p:cNvSpPr/>
          <p:nvPr/>
        </p:nvSpPr>
        <p:spPr>
          <a:xfrm>
            <a:off x="548640" y="3108960"/>
            <a:ext cx="10607040" cy="1005840"/>
          </a:xfrm>
          <a:prstGeom prst="roundRect">
            <a:avLst>
              <a:gd name="adj" fmla="val 9091"/>
            </a:avLst>
          </a:prstGeom>
          <a:solidFill>
            <a:srgbClr val="F4F6FB"/>
          </a:solidFill>
          <a:ln w="12700">
            <a:solidFill>
              <a:srgbClr val="DDE2EE"/>
            </a:solidFill>
            <a:prstDash val="solid"/>
          </a:ln>
        </p:spPr>
      </p:sp>
      <p:sp>
        <p:nvSpPr>
          <p:cNvPr id="13" name="Shape 11"/>
          <p:cNvSpPr/>
          <p:nvPr/>
        </p:nvSpPr>
        <p:spPr>
          <a:xfrm>
            <a:off x="868680" y="3383280"/>
            <a:ext cx="457200" cy="457200"/>
          </a:xfrm>
          <a:prstGeom prst="ellipse">
            <a:avLst/>
          </a:prstGeom>
          <a:solidFill>
            <a:srgbClr val="003399"/>
          </a:solidFill>
          <a:ln w="12700">
            <a:solidFill>
              <a:srgbClr val="333333"/>
            </a:solidFill>
            <a:prstDash val="solid"/>
          </a:ln>
        </p:spPr>
      </p:sp>
      <p:sp>
        <p:nvSpPr>
          <p:cNvPr id="14" name="Text 12"/>
          <p:cNvSpPr/>
          <p:nvPr/>
        </p:nvSpPr>
        <p:spPr>
          <a:xfrm>
            <a:off x="868680" y="338328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31012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White-box access</a:t>
            </a:r>
            <a:endParaRPr lang="en-US" sz="1900" dirty="0"/>
          </a:p>
        </p:txBody>
      </p:sp>
      <p:sp>
        <p:nvSpPr>
          <p:cNvPr id="16" name="Text 14"/>
          <p:cNvSpPr/>
          <p:nvPr/>
        </p:nvSpPr>
        <p:spPr>
          <a:xfrm>
            <a:off x="4572000" y="331012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Inspectable internals give enterprises the audit and assurance path they require.</a:t>
            </a:r>
            <a:endParaRPr lang="en-US" sz="1400" dirty="0"/>
          </a:p>
        </p:txBody>
      </p:sp>
      <p:sp>
        <p:nvSpPr>
          <p:cNvPr id="17" name="Shape 15"/>
          <p:cNvSpPr/>
          <p:nvPr/>
        </p:nvSpPr>
        <p:spPr>
          <a:xfrm>
            <a:off x="548640" y="4206240"/>
            <a:ext cx="10607040" cy="1005840"/>
          </a:xfrm>
          <a:prstGeom prst="roundRect">
            <a:avLst>
              <a:gd name="adj" fmla="val 9091"/>
            </a:avLst>
          </a:prstGeom>
          <a:solidFill>
            <a:srgbClr val="F4F6FB"/>
          </a:solidFill>
          <a:ln w="12700">
            <a:solidFill>
              <a:srgbClr val="DDE2EE"/>
            </a:solidFill>
            <a:prstDash val="solid"/>
          </a:ln>
        </p:spPr>
      </p:sp>
      <p:sp>
        <p:nvSpPr>
          <p:cNvPr id="18" name="Shape 16"/>
          <p:cNvSpPr/>
          <p:nvPr/>
        </p:nvSpPr>
        <p:spPr>
          <a:xfrm>
            <a:off x="868680" y="4480560"/>
            <a:ext cx="457200" cy="457200"/>
          </a:xfrm>
          <a:prstGeom prst="ellipse">
            <a:avLst/>
          </a:prstGeom>
          <a:solidFill>
            <a:srgbClr val="003399"/>
          </a:solidFill>
          <a:ln w="12700">
            <a:solidFill>
              <a:srgbClr val="333333"/>
            </a:solidFill>
            <a:prstDash val="solid"/>
          </a:ln>
        </p:spPr>
      </p:sp>
      <p:sp>
        <p:nvSpPr>
          <p:cNvPr id="19" name="Text 17"/>
          <p:cNvSpPr/>
          <p:nvPr/>
        </p:nvSpPr>
        <p:spPr>
          <a:xfrm>
            <a:off x="868680" y="448056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554480" y="440740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Private deployment</a:t>
            </a:r>
            <a:endParaRPr lang="en-US" sz="1900" dirty="0"/>
          </a:p>
        </p:txBody>
      </p:sp>
      <p:sp>
        <p:nvSpPr>
          <p:cNvPr id="21" name="Text 19"/>
          <p:cNvSpPr/>
          <p:nvPr/>
        </p:nvSpPr>
        <p:spPr>
          <a:xfrm>
            <a:off x="4572000" y="440740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Customer data stays under customer control, on-premise or on-device.</a:t>
            </a:r>
            <a:endParaRPr lang="en-US" sz="1400" dirty="0"/>
          </a:p>
        </p:txBody>
      </p:sp>
      <p:sp>
        <p:nvSpPr>
          <p:cNvPr id="22" name="Shape 20"/>
          <p:cNvSpPr/>
          <p:nvPr/>
        </p:nvSpPr>
        <p:spPr>
          <a:xfrm>
            <a:off x="548640" y="5440680"/>
            <a:ext cx="10607040" cy="566928"/>
          </a:xfrm>
          <a:prstGeom prst="roundRect">
            <a:avLst>
              <a:gd name="adj" fmla="val 16129"/>
            </a:avLst>
          </a:prstGeom>
          <a:solidFill>
            <a:srgbClr val="00246B"/>
          </a:solidFill>
          <a:ln w="12700">
            <a:solidFill>
              <a:srgbClr val="333333"/>
            </a:solidFill>
            <a:prstDash val="solid"/>
          </a:ln>
        </p:spPr>
      </p:sp>
      <p:sp>
        <p:nvSpPr>
          <p:cNvPr id="23" name="Text 21"/>
          <p:cNvSpPr/>
          <p:nvPr/>
        </p:nvSpPr>
        <p:spPr>
          <a:xfrm>
            <a:off x="822960" y="5440680"/>
            <a:ext cx="10058400"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wedge is not open versus closed. It is open where trust compounds, controlled where customers need value capture.</a:t>
            </a:r>
            <a:endParaRPr lang="en-US" sz="1400" dirty="0"/>
          </a:p>
        </p:txBody>
      </p:sp>
      <p:sp>
        <p:nvSpPr>
          <p:cNvPr id="24" name="Text 22"/>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5" name="Text 23"/>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5 / 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OPERATING MODEL</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operating model is a flywheel</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Company execution proves the wedge; policy compresses cycle time around every turn of the loop.</a:t>
            </a:r>
            <a:endParaRPr lang="en-US" sz="1450" dirty="0"/>
          </a:p>
        </p:txBody>
      </p:sp>
      <p:sp>
        <p:nvSpPr>
          <p:cNvPr id="7" name="Shape 5"/>
          <p:cNvSpPr/>
          <p:nvPr/>
        </p:nvSpPr>
        <p:spPr>
          <a:xfrm>
            <a:off x="548640" y="2377440"/>
            <a:ext cx="1956816" cy="2286000"/>
          </a:xfrm>
          <a:prstGeom prst="roundRect">
            <a:avLst>
              <a:gd name="adj" fmla="val 5607"/>
            </a:avLst>
          </a:prstGeom>
          <a:solidFill>
            <a:srgbClr val="FFFFFF"/>
          </a:solidFill>
          <a:ln w="12700">
            <a:solidFill>
              <a:srgbClr val="DDE2EE"/>
            </a:solidFill>
            <a:prstDash val="solid"/>
          </a:ln>
        </p:spPr>
      </p:sp>
      <p:sp>
        <p:nvSpPr>
          <p:cNvPr id="8" name="Shape 6"/>
          <p:cNvSpPr/>
          <p:nvPr/>
        </p:nvSpPr>
        <p:spPr>
          <a:xfrm>
            <a:off x="1252728" y="2651760"/>
            <a:ext cx="548640" cy="548640"/>
          </a:xfrm>
          <a:prstGeom prst="ellipse">
            <a:avLst/>
          </a:prstGeom>
          <a:solidFill>
            <a:srgbClr val="FFCC00"/>
          </a:solidFill>
          <a:ln w="12700">
            <a:solidFill>
              <a:srgbClr val="333333"/>
            </a:solidFill>
            <a:prstDash val="solid"/>
          </a:ln>
        </p:spPr>
      </p:sp>
      <p:sp>
        <p:nvSpPr>
          <p:cNvPr id="9" name="Text 7"/>
          <p:cNvSpPr/>
          <p:nvPr/>
        </p:nvSpPr>
        <p:spPr>
          <a:xfrm>
            <a:off x="1252728"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1</a:t>
            </a:r>
            <a:endParaRPr lang="en-US" sz="1900" dirty="0"/>
          </a:p>
        </p:txBody>
      </p:sp>
      <p:sp>
        <p:nvSpPr>
          <p:cNvPr id="10" name="Text 8"/>
          <p:cNvSpPr/>
          <p:nvPr/>
        </p:nvSpPr>
        <p:spPr>
          <a:xfrm>
            <a:off x="685800"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Talent</a:t>
            </a:r>
            <a:endParaRPr lang="en-US" sz="1800" dirty="0"/>
          </a:p>
        </p:txBody>
      </p:sp>
      <p:sp>
        <p:nvSpPr>
          <p:cNvPr id="11" name="Text 9"/>
          <p:cNvSpPr/>
          <p:nvPr/>
        </p:nvSpPr>
        <p:spPr>
          <a:xfrm>
            <a:off x="685800"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a rare AI team</a:t>
            </a:r>
            <a:endParaRPr lang="en-US" sz="1250" dirty="0"/>
          </a:p>
        </p:txBody>
      </p:sp>
      <p:sp>
        <p:nvSpPr>
          <p:cNvPr id="12" name="Shape 10"/>
          <p:cNvSpPr/>
          <p:nvPr/>
        </p:nvSpPr>
        <p:spPr>
          <a:xfrm>
            <a:off x="2532888" y="3364992"/>
            <a:ext cx="182880" cy="201168"/>
          </a:xfrm>
          <a:prstGeom prst="rightArrow">
            <a:avLst/>
          </a:prstGeom>
          <a:solidFill>
            <a:srgbClr val="003399"/>
          </a:solidFill>
          <a:ln w="12700">
            <a:solidFill>
              <a:srgbClr val="333333"/>
            </a:solidFill>
            <a:prstDash val="solid"/>
          </a:ln>
        </p:spPr>
      </p:sp>
      <p:sp>
        <p:nvSpPr>
          <p:cNvPr id="13" name="Shape 11"/>
          <p:cNvSpPr/>
          <p:nvPr/>
        </p:nvSpPr>
        <p:spPr>
          <a:xfrm>
            <a:off x="2761488" y="2377440"/>
            <a:ext cx="1956816" cy="2286000"/>
          </a:xfrm>
          <a:prstGeom prst="roundRect">
            <a:avLst>
              <a:gd name="adj" fmla="val 5607"/>
            </a:avLst>
          </a:prstGeom>
          <a:solidFill>
            <a:srgbClr val="F4F6FB"/>
          </a:solidFill>
          <a:ln w="12700">
            <a:solidFill>
              <a:srgbClr val="DDE2EE"/>
            </a:solidFill>
            <a:prstDash val="solid"/>
          </a:ln>
        </p:spPr>
      </p:sp>
      <p:sp>
        <p:nvSpPr>
          <p:cNvPr id="14" name="Shape 12"/>
          <p:cNvSpPr/>
          <p:nvPr/>
        </p:nvSpPr>
        <p:spPr>
          <a:xfrm>
            <a:off x="3465576" y="2651760"/>
            <a:ext cx="548640" cy="548640"/>
          </a:xfrm>
          <a:prstGeom prst="ellipse">
            <a:avLst/>
          </a:prstGeom>
          <a:solidFill>
            <a:srgbClr val="FFCC00"/>
          </a:solidFill>
          <a:ln w="12700">
            <a:solidFill>
              <a:srgbClr val="333333"/>
            </a:solidFill>
            <a:prstDash val="solid"/>
          </a:ln>
        </p:spPr>
      </p:sp>
      <p:sp>
        <p:nvSpPr>
          <p:cNvPr id="15" name="Text 13"/>
          <p:cNvSpPr/>
          <p:nvPr/>
        </p:nvSpPr>
        <p:spPr>
          <a:xfrm>
            <a:off x="3465576"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2</a:t>
            </a:r>
            <a:endParaRPr lang="en-US" sz="1900" dirty="0"/>
          </a:p>
        </p:txBody>
      </p:sp>
      <p:sp>
        <p:nvSpPr>
          <p:cNvPr id="16" name="Text 14"/>
          <p:cNvSpPr/>
          <p:nvPr/>
        </p:nvSpPr>
        <p:spPr>
          <a:xfrm>
            <a:off x="2898648"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Compute</a:t>
            </a:r>
            <a:endParaRPr lang="en-US" sz="1800" dirty="0"/>
          </a:p>
        </p:txBody>
      </p:sp>
      <p:sp>
        <p:nvSpPr>
          <p:cNvPr id="17" name="Text 15"/>
          <p:cNvSpPr/>
          <p:nvPr/>
        </p:nvSpPr>
        <p:spPr>
          <a:xfrm>
            <a:off x="2898648"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capacity and efficiency</a:t>
            </a:r>
            <a:endParaRPr lang="en-US" sz="1250" dirty="0"/>
          </a:p>
        </p:txBody>
      </p:sp>
      <p:sp>
        <p:nvSpPr>
          <p:cNvPr id="18" name="Shape 16"/>
          <p:cNvSpPr/>
          <p:nvPr/>
        </p:nvSpPr>
        <p:spPr>
          <a:xfrm>
            <a:off x="4745736" y="3364992"/>
            <a:ext cx="182880" cy="201168"/>
          </a:xfrm>
          <a:prstGeom prst="rightArrow">
            <a:avLst/>
          </a:prstGeom>
          <a:solidFill>
            <a:srgbClr val="003399"/>
          </a:solidFill>
          <a:ln w="12700">
            <a:solidFill>
              <a:srgbClr val="333333"/>
            </a:solidFill>
            <a:prstDash val="solid"/>
          </a:ln>
        </p:spPr>
      </p:sp>
      <p:sp>
        <p:nvSpPr>
          <p:cNvPr id="19" name="Shape 17"/>
          <p:cNvSpPr/>
          <p:nvPr/>
        </p:nvSpPr>
        <p:spPr>
          <a:xfrm>
            <a:off x="4974336" y="2377440"/>
            <a:ext cx="1956816" cy="2286000"/>
          </a:xfrm>
          <a:prstGeom prst="roundRect">
            <a:avLst>
              <a:gd name="adj" fmla="val 5607"/>
            </a:avLst>
          </a:prstGeom>
          <a:solidFill>
            <a:srgbClr val="FFFFFF"/>
          </a:solidFill>
          <a:ln w="12700">
            <a:solidFill>
              <a:srgbClr val="DDE2EE"/>
            </a:solidFill>
            <a:prstDash val="solid"/>
          </a:ln>
        </p:spPr>
      </p:sp>
      <p:sp>
        <p:nvSpPr>
          <p:cNvPr id="20" name="Shape 18"/>
          <p:cNvSpPr/>
          <p:nvPr/>
        </p:nvSpPr>
        <p:spPr>
          <a:xfrm>
            <a:off x="5678424" y="2651760"/>
            <a:ext cx="548640" cy="548640"/>
          </a:xfrm>
          <a:prstGeom prst="ellipse">
            <a:avLst/>
          </a:prstGeom>
          <a:solidFill>
            <a:srgbClr val="FFCC00"/>
          </a:solidFill>
          <a:ln w="12700">
            <a:solidFill>
              <a:srgbClr val="333333"/>
            </a:solidFill>
            <a:prstDash val="solid"/>
          </a:ln>
        </p:spPr>
      </p:sp>
      <p:sp>
        <p:nvSpPr>
          <p:cNvPr id="21" name="Text 19"/>
          <p:cNvSpPr/>
          <p:nvPr/>
        </p:nvSpPr>
        <p:spPr>
          <a:xfrm>
            <a:off x="5678424"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3</a:t>
            </a:r>
            <a:endParaRPr lang="en-US" sz="1900" dirty="0"/>
          </a:p>
        </p:txBody>
      </p:sp>
      <p:sp>
        <p:nvSpPr>
          <p:cNvPr id="22" name="Text 20"/>
          <p:cNvSpPr/>
          <p:nvPr/>
        </p:nvSpPr>
        <p:spPr>
          <a:xfrm>
            <a:off x="5111496"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Models</a:t>
            </a:r>
            <a:endParaRPr lang="en-US" sz="1800" dirty="0"/>
          </a:p>
        </p:txBody>
      </p:sp>
      <p:sp>
        <p:nvSpPr>
          <p:cNvPr id="23" name="Text 21"/>
          <p:cNvSpPr/>
          <p:nvPr/>
        </p:nvSpPr>
        <p:spPr>
          <a:xfrm>
            <a:off x="5111496"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open and controlled</a:t>
            </a:r>
            <a:endParaRPr lang="en-US" sz="1250" dirty="0"/>
          </a:p>
        </p:txBody>
      </p:sp>
      <p:sp>
        <p:nvSpPr>
          <p:cNvPr id="24" name="Shape 22"/>
          <p:cNvSpPr/>
          <p:nvPr/>
        </p:nvSpPr>
        <p:spPr>
          <a:xfrm>
            <a:off x="6958584" y="3364992"/>
            <a:ext cx="182880" cy="201168"/>
          </a:xfrm>
          <a:prstGeom prst="rightArrow">
            <a:avLst/>
          </a:prstGeom>
          <a:solidFill>
            <a:srgbClr val="003399"/>
          </a:solidFill>
          <a:ln w="12700">
            <a:solidFill>
              <a:srgbClr val="333333"/>
            </a:solidFill>
            <a:prstDash val="solid"/>
          </a:ln>
        </p:spPr>
      </p:sp>
      <p:sp>
        <p:nvSpPr>
          <p:cNvPr id="25" name="Shape 23"/>
          <p:cNvSpPr/>
          <p:nvPr/>
        </p:nvSpPr>
        <p:spPr>
          <a:xfrm>
            <a:off x="7187184" y="2377440"/>
            <a:ext cx="1956816" cy="2286000"/>
          </a:xfrm>
          <a:prstGeom prst="roundRect">
            <a:avLst>
              <a:gd name="adj" fmla="val 5607"/>
            </a:avLst>
          </a:prstGeom>
          <a:solidFill>
            <a:srgbClr val="F4F6FB"/>
          </a:solidFill>
          <a:ln w="12700">
            <a:solidFill>
              <a:srgbClr val="DDE2EE"/>
            </a:solidFill>
            <a:prstDash val="solid"/>
          </a:ln>
        </p:spPr>
      </p:sp>
      <p:sp>
        <p:nvSpPr>
          <p:cNvPr id="26" name="Shape 24"/>
          <p:cNvSpPr/>
          <p:nvPr/>
        </p:nvSpPr>
        <p:spPr>
          <a:xfrm>
            <a:off x="7891272" y="2651760"/>
            <a:ext cx="548640" cy="548640"/>
          </a:xfrm>
          <a:prstGeom prst="ellipse">
            <a:avLst/>
          </a:prstGeom>
          <a:solidFill>
            <a:srgbClr val="FFCC00"/>
          </a:solidFill>
          <a:ln w="12700">
            <a:solidFill>
              <a:srgbClr val="333333"/>
            </a:solidFill>
            <a:prstDash val="solid"/>
          </a:ln>
        </p:spPr>
      </p:sp>
      <p:sp>
        <p:nvSpPr>
          <p:cNvPr id="27" name="Text 25"/>
          <p:cNvSpPr/>
          <p:nvPr/>
        </p:nvSpPr>
        <p:spPr>
          <a:xfrm>
            <a:off x="7891272"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4</a:t>
            </a:r>
            <a:endParaRPr lang="en-US" sz="1900" dirty="0"/>
          </a:p>
        </p:txBody>
      </p:sp>
      <p:sp>
        <p:nvSpPr>
          <p:cNvPr id="28" name="Text 26"/>
          <p:cNvSpPr/>
          <p:nvPr/>
        </p:nvSpPr>
        <p:spPr>
          <a:xfrm>
            <a:off x="7324344"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Adoption</a:t>
            </a:r>
            <a:endParaRPr lang="en-US" sz="1800" dirty="0"/>
          </a:p>
        </p:txBody>
      </p:sp>
      <p:sp>
        <p:nvSpPr>
          <p:cNvPr id="29" name="Text 27"/>
          <p:cNvSpPr/>
          <p:nvPr/>
        </p:nvSpPr>
        <p:spPr>
          <a:xfrm>
            <a:off x="7324344"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public and enterprise</a:t>
            </a:r>
            <a:endParaRPr lang="en-US" sz="1250" dirty="0"/>
          </a:p>
        </p:txBody>
      </p:sp>
      <p:sp>
        <p:nvSpPr>
          <p:cNvPr id="30" name="Shape 28"/>
          <p:cNvSpPr/>
          <p:nvPr/>
        </p:nvSpPr>
        <p:spPr>
          <a:xfrm>
            <a:off x="9171432" y="3364992"/>
            <a:ext cx="182880" cy="201168"/>
          </a:xfrm>
          <a:prstGeom prst="rightArrow">
            <a:avLst/>
          </a:prstGeom>
          <a:solidFill>
            <a:srgbClr val="003399"/>
          </a:solidFill>
          <a:ln w="12700">
            <a:solidFill>
              <a:srgbClr val="333333"/>
            </a:solidFill>
            <a:prstDash val="solid"/>
          </a:ln>
        </p:spPr>
      </p:sp>
      <p:sp>
        <p:nvSpPr>
          <p:cNvPr id="31" name="Shape 29"/>
          <p:cNvSpPr/>
          <p:nvPr/>
        </p:nvSpPr>
        <p:spPr>
          <a:xfrm>
            <a:off x="9400032" y="2377440"/>
            <a:ext cx="1956816" cy="2286000"/>
          </a:xfrm>
          <a:prstGeom prst="roundRect">
            <a:avLst>
              <a:gd name="adj" fmla="val 5607"/>
            </a:avLst>
          </a:prstGeom>
          <a:solidFill>
            <a:srgbClr val="FFFFFF"/>
          </a:solidFill>
          <a:ln w="12700">
            <a:solidFill>
              <a:srgbClr val="DDE2EE"/>
            </a:solidFill>
            <a:prstDash val="solid"/>
          </a:ln>
        </p:spPr>
      </p:sp>
      <p:sp>
        <p:nvSpPr>
          <p:cNvPr id="32" name="Shape 30"/>
          <p:cNvSpPr/>
          <p:nvPr/>
        </p:nvSpPr>
        <p:spPr>
          <a:xfrm>
            <a:off x="10104120" y="2651760"/>
            <a:ext cx="548640" cy="548640"/>
          </a:xfrm>
          <a:prstGeom prst="ellipse">
            <a:avLst/>
          </a:prstGeom>
          <a:solidFill>
            <a:srgbClr val="FFCC00"/>
          </a:solidFill>
          <a:ln w="12700">
            <a:solidFill>
              <a:srgbClr val="333333"/>
            </a:solidFill>
            <a:prstDash val="solid"/>
          </a:ln>
        </p:spPr>
      </p:sp>
      <p:sp>
        <p:nvSpPr>
          <p:cNvPr id="33" name="Text 31"/>
          <p:cNvSpPr/>
          <p:nvPr/>
        </p:nvSpPr>
        <p:spPr>
          <a:xfrm>
            <a:off x="10104120"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5</a:t>
            </a:r>
            <a:endParaRPr lang="en-US" sz="1900" dirty="0"/>
          </a:p>
        </p:txBody>
      </p:sp>
      <p:sp>
        <p:nvSpPr>
          <p:cNvPr id="34" name="Text 32"/>
          <p:cNvSpPr/>
          <p:nvPr/>
        </p:nvSpPr>
        <p:spPr>
          <a:xfrm>
            <a:off x="9537192"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Feedback</a:t>
            </a:r>
            <a:endParaRPr lang="en-US" sz="1800" dirty="0"/>
          </a:p>
        </p:txBody>
      </p:sp>
      <p:sp>
        <p:nvSpPr>
          <p:cNvPr id="35" name="Text 33"/>
          <p:cNvSpPr/>
          <p:nvPr/>
        </p:nvSpPr>
        <p:spPr>
          <a:xfrm>
            <a:off x="9537192"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data and usage</a:t>
            </a:r>
            <a:endParaRPr lang="en-US" sz="1250" dirty="0"/>
          </a:p>
        </p:txBody>
      </p:sp>
      <p:sp>
        <p:nvSpPr>
          <p:cNvPr id="36" name="Shape 34"/>
          <p:cNvSpPr/>
          <p:nvPr/>
        </p:nvSpPr>
        <p:spPr>
          <a:xfrm>
            <a:off x="548640" y="4983480"/>
            <a:ext cx="10607040" cy="868680"/>
          </a:xfrm>
          <a:prstGeom prst="roundRect">
            <a:avLst>
              <a:gd name="adj" fmla="val 12632"/>
            </a:avLst>
          </a:prstGeom>
          <a:solidFill>
            <a:srgbClr val="003399"/>
          </a:solidFill>
          <a:ln w="12700">
            <a:solidFill>
              <a:srgbClr val="333333"/>
            </a:solidFill>
            <a:prstDash val="solid"/>
          </a:ln>
        </p:spPr>
      </p:sp>
      <p:sp>
        <p:nvSpPr>
          <p:cNvPr id="37" name="Text 35"/>
          <p:cNvSpPr/>
          <p:nvPr/>
        </p:nvSpPr>
        <p:spPr>
          <a:xfrm>
            <a:off x="868680" y="5120640"/>
            <a:ext cx="4754880" cy="320040"/>
          </a:xfrm>
          <a:prstGeom prst="rect">
            <a:avLst/>
          </a:prstGeom>
          <a:noFill/>
          <a:ln/>
        </p:spPr>
        <p:txBody>
          <a:bodyPr wrap="square" lIns="0" tIns="0" rIns="0" bIns="0" rtlCol="0" anchor="ctr"/>
          <a:lstStyle/>
          <a:p>
            <a:pPr indent="0" marL="0">
              <a:buNone/>
            </a:pPr>
            <a:r>
              <a:rPr lang="en-US" sz="1200" b="1" spc="120" kern="0" dirty="0">
                <a:solidFill>
                  <a:srgbClr val="FFCC00"/>
                </a:solidFill>
                <a:latin typeface="Calibri" pitchFamily="34" charset="0"/>
                <a:ea typeface="Calibri" pitchFamily="34" charset="-122"/>
                <a:cs typeface="Calibri" pitchFamily="34" charset="-120"/>
              </a:rPr>
              <a:t>Feedback returns to talent and compute</a:t>
            </a:r>
            <a:endParaRPr lang="en-US" sz="1200" dirty="0"/>
          </a:p>
        </p:txBody>
      </p:sp>
      <p:sp>
        <p:nvSpPr>
          <p:cNvPr id="38" name="Text 36"/>
          <p:cNvSpPr/>
          <p:nvPr/>
        </p:nvSpPr>
        <p:spPr>
          <a:xfrm>
            <a:off x="868680" y="5413248"/>
            <a:ext cx="969264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 policy job is to remove friction at every turn of the loop.</a:t>
            </a:r>
            <a:endParaRPr lang="en-US" sz="1450" dirty="0"/>
          </a:p>
        </p:txBody>
      </p:sp>
      <p:sp>
        <p:nvSpPr>
          <p:cNvPr id="39" name="Text 37"/>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0" name="Text 38"/>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6 / 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POLICY ARCHITECTURE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Four levers turn the wedge into a stack</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Policy here is not an appendix. It is go-to-market infrastructure for European AI.</a:t>
            </a:r>
            <a:endParaRPr lang="en-US" sz="1450" dirty="0"/>
          </a:p>
        </p:txBody>
      </p:sp>
      <p:sp>
        <p:nvSpPr>
          <p:cNvPr id="7" name="Shape 5"/>
          <p:cNvSpPr/>
          <p:nvPr/>
        </p:nvSpPr>
        <p:spPr>
          <a:xfrm>
            <a:off x="548640" y="2194560"/>
            <a:ext cx="2505456" cy="2788920"/>
          </a:xfrm>
          <a:prstGeom prst="roundRect">
            <a:avLst>
              <a:gd name="adj" fmla="val 4380"/>
            </a:avLst>
          </a:prstGeom>
          <a:solidFill>
            <a:srgbClr val="F4F6FB"/>
          </a:solidFill>
          <a:ln w="12700">
            <a:solidFill>
              <a:srgbClr val="DDE2EE"/>
            </a:solidFill>
            <a:prstDash val="solid"/>
          </a:ln>
        </p:spPr>
      </p:sp>
      <p:sp>
        <p:nvSpPr>
          <p:cNvPr id="8" name="Shape 6"/>
          <p:cNvSpPr/>
          <p:nvPr/>
        </p:nvSpPr>
        <p:spPr>
          <a:xfrm>
            <a:off x="822960" y="2487168"/>
            <a:ext cx="475488" cy="475488"/>
          </a:xfrm>
          <a:prstGeom prst="ellipse">
            <a:avLst/>
          </a:prstGeom>
          <a:solidFill>
            <a:srgbClr val="003399"/>
          </a:solidFill>
          <a:ln w="12700">
            <a:solidFill>
              <a:srgbClr val="333333"/>
            </a:solidFill>
            <a:prstDash val="solid"/>
          </a:ln>
        </p:spPr>
      </p:sp>
      <p:sp>
        <p:nvSpPr>
          <p:cNvPr id="9" name="Shape 7"/>
          <p:cNvSpPr/>
          <p:nvPr/>
        </p:nvSpPr>
        <p:spPr>
          <a:xfrm>
            <a:off x="932688" y="2596896"/>
            <a:ext cx="256032" cy="256032"/>
          </a:xfrm>
          <a:prstGeom prst="star5">
            <a:avLst/>
          </a:prstGeom>
          <a:solidFill>
            <a:srgbClr val="FFCC00"/>
          </a:solidFill>
          <a:ln w="12700">
            <a:solidFill>
              <a:srgbClr val="333333"/>
            </a:solidFill>
            <a:prstDash val="solid"/>
          </a:ln>
        </p:spPr>
      </p:sp>
      <p:sp>
        <p:nvSpPr>
          <p:cNvPr id="10" name="Text 8"/>
          <p:cNvSpPr/>
          <p:nvPr/>
        </p:nvSpPr>
        <p:spPr>
          <a:xfrm>
            <a:off x="822960"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Talent</a:t>
            </a:r>
            <a:endParaRPr lang="en-US" sz="2000" dirty="0"/>
          </a:p>
        </p:txBody>
      </p:sp>
      <p:sp>
        <p:nvSpPr>
          <p:cNvPr id="11" name="Text 9"/>
          <p:cNvSpPr/>
          <p:nvPr/>
        </p:nvSpPr>
        <p:spPr>
          <a:xfrm>
            <a:off x="841248"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talent visa</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PhD fund</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Researcher mobility</a:t>
            </a:r>
            <a:endParaRPr lang="en-US" sz="1300" dirty="0"/>
          </a:p>
        </p:txBody>
      </p:sp>
      <p:sp>
        <p:nvSpPr>
          <p:cNvPr id="12" name="Shape 10"/>
          <p:cNvSpPr/>
          <p:nvPr/>
        </p:nvSpPr>
        <p:spPr>
          <a:xfrm>
            <a:off x="3310128" y="2194560"/>
            <a:ext cx="2505456" cy="2788920"/>
          </a:xfrm>
          <a:prstGeom prst="roundRect">
            <a:avLst>
              <a:gd name="adj" fmla="val 4380"/>
            </a:avLst>
          </a:prstGeom>
          <a:solidFill>
            <a:srgbClr val="F4F6FB"/>
          </a:solidFill>
          <a:ln w="12700">
            <a:solidFill>
              <a:srgbClr val="DDE2EE"/>
            </a:solidFill>
            <a:prstDash val="solid"/>
          </a:ln>
        </p:spPr>
      </p:sp>
      <p:sp>
        <p:nvSpPr>
          <p:cNvPr id="13" name="Shape 11"/>
          <p:cNvSpPr/>
          <p:nvPr/>
        </p:nvSpPr>
        <p:spPr>
          <a:xfrm>
            <a:off x="3584448" y="2487168"/>
            <a:ext cx="475488" cy="475488"/>
          </a:xfrm>
          <a:prstGeom prst="ellipse">
            <a:avLst/>
          </a:prstGeom>
          <a:solidFill>
            <a:srgbClr val="003399"/>
          </a:solidFill>
          <a:ln w="12700">
            <a:solidFill>
              <a:srgbClr val="333333"/>
            </a:solidFill>
            <a:prstDash val="solid"/>
          </a:ln>
        </p:spPr>
      </p:sp>
      <p:sp>
        <p:nvSpPr>
          <p:cNvPr id="14" name="Shape 12"/>
          <p:cNvSpPr/>
          <p:nvPr/>
        </p:nvSpPr>
        <p:spPr>
          <a:xfrm>
            <a:off x="3694176" y="2596896"/>
            <a:ext cx="256032" cy="256032"/>
          </a:xfrm>
          <a:prstGeom prst="star5">
            <a:avLst/>
          </a:prstGeom>
          <a:solidFill>
            <a:srgbClr val="FFCC00"/>
          </a:solidFill>
          <a:ln w="12700">
            <a:solidFill>
              <a:srgbClr val="333333"/>
            </a:solidFill>
            <a:prstDash val="solid"/>
          </a:ln>
        </p:spPr>
      </p:sp>
      <p:sp>
        <p:nvSpPr>
          <p:cNvPr id="15" name="Text 13"/>
          <p:cNvSpPr/>
          <p:nvPr/>
        </p:nvSpPr>
        <p:spPr>
          <a:xfrm>
            <a:off x="3584448"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Market</a:t>
            </a:r>
            <a:endParaRPr lang="en-US" sz="2000" dirty="0"/>
          </a:p>
        </p:txBody>
      </p:sp>
      <p:sp>
        <p:nvSpPr>
          <p:cNvPr id="16" name="Text 14"/>
          <p:cNvSpPr/>
          <p:nvPr/>
        </p:nvSpPr>
        <p:spPr>
          <a:xfrm>
            <a:off x="3602736"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Single market operation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Capital access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ESOP alignment</a:t>
            </a:r>
            <a:endParaRPr lang="en-US" sz="1300" dirty="0"/>
          </a:p>
        </p:txBody>
      </p:sp>
      <p:sp>
        <p:nvSpPr>
          <p:cNvPr id="17" name="Shape 15"/>
          <p:cNvSpPr/>
          <p:nvPr/>
        </p:nvSpPr>
        <p:spPr>
          <a:xfrm>
            <a:off x="6071616" y="2194560"/>
            <a:ext cx="2505456" cy="2788920"/>
          </a:xfrm>
          <a:prstGeom prst="roundRect">
            <a:avLst>
              <a:gd name="adj" fmla="val 4380"/>
            </a:avLst>
          </a:prstGeom>
          <a:solidFill>
            <a:srgbClr val="F4F6FB"/>
          </a:solidFill>
          <a:ln w="12700">
            <a:solidFill>
              <a:srgbClr val="DDE2EE"/>
            </a:solidFill>
            <a:prstDash val="solid"/>
          </a:ln>
        </p:spPr>
      </p:sp>
      <p:sp>
        <p:nvSpPr>
          <p:cNvPr id="18" name="Shape 16"/>
          <p:cNvSpPr/>
          <p:nvPr/>
        </p:nvSpPr>
        <p:spPr>
          <a:xfrm>
            <a:off x="6345936" y="2487168"/>
            <a:ext cx="475488" cy="475488"/>
          </a:xfrm>
          <a:prstGeom prst="ellipse">
            <a:avLst/>
          </a:prstGeom>
          <a:solidFill>
            <a:srgbClr val="003399"/>
          </a:solidFill>
          <a:ln w="12700">
            <a:solidFill>
              <a:srgbClr val="333333"/>
            </a:solidFill>
            <a:prstDash val="solid"/>
          </a:ln>
        </p:spPr>
      </p:sp>
      <p:sp>
        <p:nvSpPr>
          <p:cNvPr id="19" name="Shape 17"/>
          <p:cNvSpPr/>
          <p:nvPr/>
        </p:nvSpPr>
        <p:spPr>
          <a:xfrm>
            <a:off x="6455664" y="2596896"/>
            <a:ext cx="256032" cy="256032"/>
          </a:xfrm>
          <a:prstGeom prst="star5">
            <a:avLst/>
          </a:prstGeom>
          <a:solidFill>
            <a:srgbClr val="FFCC00"/>
          </a:solidFill>
          <a:ln w="12700">
            <a:solidFill>
              <a:srgbClr val="333333"/>
            </a:solidFill>
            <a:prstDash val="solid"/>
          </a:ln>
        </p:spPr>
      </p:sp>
      <p:sp>
        <p:nvSpPr>
          <p:cNvPr id="20" name="Text 18"/>
          <p:cNvSpPr/>
          <p:nvPr/>
        </p:nvSpPr>
        <p:spPr>
          <a:xfrm>
            <a:off x="6345936"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Demand</a:t>
            </a:r>
            <a:endParaRPr lang="en-US" sz="2000" dirty="0"/>
          </a:p>
        </p:txBody>
      </p:sp>
      <p:sp>
        <p:nvSpPr>
          <p:cNvPr id="21" name="Text 19"/>
          <p:cNvSpPr/>
          <p:nvPr/>
        </p:nvSpPr>
        <p:spPr>
          <a:xfrm>
            <a:off x="6364224"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procurement</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SME adoption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sector leads</a:t>
            </a:r>
            <a:endParaRPr lang="en-US" sz="1300" dirty="0"/>
          </a:p>
        </p:txBody>
      </p:sp>
      <p:sp>
        <p:nvSpPr>
          <p:cNvPr id="22" name="Shape 20"/>
          <p:cNvSpPr/>
          <p:nvPr/>
        </p:nvSpPr>
        <p:spPr>
          <a:xfrm>
            <a:off x="8833104" y="2194560"/>
            <a:ext cx="2505456" cy="2788920"/>
          </a:xfrm>
          <a:prstGeom prst="roundRect">
            <a:avLst>
              <a:gd name="adj" fmla="val 4380"/>
            </a:avLst>
          </a:prstGeom>
          <a:solidFill>
            <a:srgbClr val="F4F6FB"/>
          </a:solidFill>
          <a:ln w="12700">
            <a:solidFill>
              <a:srgbClr val="DDE2EE"/>
            </a:solidFill>
            <a:prstDash val="solid"/>
          </a:ln>
        </p:spPr>
      </p:sp>
      <p:sp>
        <p:nvSpPr>
          <p:cNvPr id="23" name="Shape 21"/>
          <p:cNvSpPr/>
          <p:nvPr/>
        </p:nvSpPr>
        <p:spPr>
          <a:xfrm>
            <a:off x="9107424" y="2487168"/>
            <a:ext cx="475488" cy="475488"/>
          </a:xfrm>
          <a:prstGeom prst="ellipse">
            <a:avLst/>
          </a:prstGeom>
          <a:solidFill>
            <a:srgbClr val="003399"/>
          </a:solidFill>
          <a:ln w="12700">
            <a:solidFill>
              <a:srgbClr val="333333"/>
            </a:solidFill>
            <a:prstDash val="solid"/>
          </a:ln>
        </p:spPr>
      </p:sp>
      <p:sp>
        <p:nvSpPr>
          <p:cNvPr id="24" name="Shape 22"/>
          <p:cNvSpPr/>
          <p:nvPr/>
        </p:nvSpPr>
        <p:spPr>
          <a:xfrm>
            <a:off x="9217152" y="2596896"/>
            <a:ext cx="256032" cy="256032"/>
          </a:xfrm>
          <a:prstGeom prst="star5">
            <a:avLst/>
          </a:prstGeom>
          <a:solidFill>
            <a:srgbClr val="FFCC00"/>
          </a:solidFill>
          <a:ln w="12700">
            <a:solidFill>
              <a:srgbClr val="333333"/>
            </a:solidFill>
            <a:prstDash val="solid"/>
          </a:ln>
        </p:spPr>
      </p:sp>
      <p:sp>
        <p:nvSpPr>
          <p:cNvPr id="25" name="Text 23"/>
          <p:cNvSpPr/>
          <p:nvPr/>
        </p:nvSpPr>
        <p:spPr>
          <a:xfrm>
            <a:off x="9107424"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Stack</a:t>
            </a:r>
            <a:endParaRPr lang="en-US" sz="2000" dirty="0"/>
          </a:p>
        </p:txBody>
      </p:sp>
      <p:sp>
        <p:nvSpPr>
          <p:cNvPr id="26" name="Text 24"/>
          <p:cNvSpPr/>
          <p:nvPr/>
        </p:nvSpPr>
        <p:spPr>
          <a:xfrm>
            <a:off x="9125712"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Sovereign compute</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Data commons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infrastructure</a:t>
            </a:r>
            <a:endParaRPr lang="en-US" sz="1300" dirty="0"/>
          </a:p>
        </p:txBody>
      </p:sp>
      <p:sp>
        <p:nvSpPr>
          <p:cNvPr id="27" name="Shape 25"/>
          <p:cNvSpPr/>
          <p:nvPr/>
        </p:nvSpPr>
        <p:spPr>
          <a:xfrm>
            <a:off x="548640" y="5257800"/>
            <a:ext cx="10607040" cy="685800"/>
          </a:xfrm>
          <a:prstGeom prst="roundRect">
            <a:avLst>
              <a:gd name="adj" fmla="val 16000"/>
            </a:avLst>
          </a:prstGeom>
          <a:solidFill>
            <a:srgbClr val="00246B"/>
          </a:solidFill>
          <a:ln w="12700">
            <a:solidFill>
              <a:srgbClr val="333333"/>
            </a:solidFill>
            <a:prstDash val="solid"/>
          </a:ln>
        </p:spPr>
      </p:sp>
      <p:sp>
        <p:nvSpPr>
          <p:cNvPr id="28" name="Text 26"/>
          <p:cNvSpPr/>
          <p:nvPr/>
        </p:nvSpPr>
        <p:spPr>
          <a:xfrm>
            <a:off x="868680" y="5257800"/>
            <a:ext cx="5486400" cy="685800"/>
          </a:xfrm>
          <a:prstGeom prst="rect">
            <a:avLst/>
          </a:prstGeom>
          <a:noFill/>
          <a:ln/>
        </p:spPr>
        <p:txBody>
          <a:bodyPr wrap="square" lIns="0" tIns="0" rIns="0" bIns="0" rtlCol="0" anchor="ctr"/>
          <a:lstStyle/>
          <a:p>
            <a:pPr indent="0" marL="0">
              <a:buNone/>
            </a:pPr>
            <a:r>
              <a:rPr lang="en-US" sz="1700" b="1" spc="150" kern="0" dirty="0">
                <a:solidFill>
                  <a:srgbClr val="FFCC00"/>
                </a:solidFill>
                <a:latin typeface="Cambria" pitchFamily="34" charset="0"/>
                <a:ea typeface="Cambria" pitchFamily="34" charset="-122"/>
                <a:cs typeface="Cambria" pitchFamily="34" charset="-120"/>
              </a:rPr>
              <a:t>A DURABLE EUROPEAN AI STACK</a:t>
            </a:r>
            <a:endParaRPr lang="en-US" sz="1700" dirty="0"/>
          </a:p>
        </p:txBody>
      </p:sp>
      <p:sp>
        <p:nvSpPr>
          <p:cNvPr id="29" name="Text 27"/>
          <p:cNvSpPr/>
          <p:nvPr/>
        </p:nvSpPr>
        <p:spPr>
          <a:xfrm>
            <a:off x="6035040" y="5257800"/>
            <a:ext cx="4846320" cy="685800"/>
          </a:xfrm>
          <a:prstGeom prst="rect">
            <a:avLst/>
          </a:prstGeom>
          <a:noFill/>
          <a:ln/>
        </p:spPr>
        <p:txBody>
          <a:bodyPr wrap="square" lIns="0" tIns="0" rIns="0" bIns="0" rtlCol="0" anchor="ctr"/>
          <a:lstStyle/>
          <a:p>
            <a:pPr algn="r" indent="0" marL="0">
              <a:buNone/>
            </a:pPr>
            <a:r>
              <a:rPr lang="en-US" sz="1350" dirty="0">
                <a:solidFill>
                  <a:srgbClr val="FFFFFF"/>
                </a:solidFill>
                <a:latin typeface="Calibri" pitchFamily="34" charset="0"/>
                <a:ea typeface="Calibri" pitchFamily="34" charset="-122"/>
                <a:cs typeface="Calibri" pitchFamily="34" charset="-120"/>
              </a:rPr>
              <a:t>Talent  ·  Scale  ·  Adoption  ·  Infrastructure</a:t>
            </a:r>
            <a:endParaRPr lang="en-US" sz="1350" dirty="0"/>
          </a:p>
        </p:txBody>
      </p:sp>
      <p:sp>
        <p:nvSpPr>
          <p:cNvPr id="30" name="Text 28"/>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31" name="Text 29"/>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7 / 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10890504" y="146304"/>
            <a:ext cx="256032" cy="256032"/>
          </a:xfrm>
          <a:prstGeom prst="star5">
            <a:avLst/>
          </a:prstGeom>
          <a:solidFill>
            <a:srgbClr val="12459E"/>
          </a:solidFill>
          <a:ln w="12700">
            <a:solidFill>
              <a:srgbClr val="333333"/>
            </a:solidFill>
            <a:prstDash val="solid"/>
          </a:ln>
        </p:spPr>
      </p:sp>
      <p:sp>
        <p:nvSpPr>
          <p:cNvPr id="3" name="Shape 1"/>
          <p:cNvSpPr/>
          <p:nvPr/>
        </p:nvSpPr>
        <p:spPr>
          <a:xfrm>
            <a:off x="11324844" y="262685"/>
            <a:ext cx="256032" cy="256032"/>
          </a:xfrm>
          <a:prstGeom prst="star5">
            <a:avLst/>
          </a:prstGeom>
          <a:solidFill>
            <a:srgbClr val="12459E"/>
          </a:solidFill>
          <a:ln w="12700">
            <a:solidFill>
              <a:srgbClr val="333333"/>
            </a:solidFill>
            <a:prstDash val="solid"/>
          </a:ln>
        </p:spPr>
      </p:sp>
      <p:sp>
        <p:nvSpPr>
          <p:cNvPr id="4" name="Shape 2"/>
          <p:cNvSpPr/>
          <p:nvPr/>
        </p:nvSpPr>
        <p:spPr>
          <a:xfrm>
            <a:off x="11642803" y="580644"/>
            <a:ext cx="256032" cy="256032"/>
          </a:xfrm>
          <a:prstGeom prst="star5">
            <a:avLst/>
          </a:prstGeom>
          <a:solidFill>
            <a:srgbClr val="12459E"/>
          </a:solidFill>
          <a:ln w="12700">
            <a:solidFill>
              <a:srgbClr val="333333"/>
            </a:solidFill>
            <a:prstDash val="solid"/>
          </a:ln>
        </p:spPr>
      </p:sp>
      <p:sp>
        <p:nvSpPr>
          <p:cNvPr id="5" name="Shape 3"/>
          <p:cNvSpPr/>
          <p:nvPr/>
        </p:nvSpPr>
        <p:spPr>
          <a:xfrm>
            <a:off x="11759184" y="1014984"/>
            <a:ext cx="256032" cy="256032"/>
          </a:xfrm>
          <a:prstGeom prst="star5">
            <a:avLst/>
          </a:prstGeom>
          <a:solidFill>
            <a:srgbClr val="12459E"/>
          </a:solidFill>
          <a:ln w="12700">
            <a:solidFill>
              <a:srgbClr val="333333"/>
            </a:solidFill>
            <a:prstDash val="solid"/>
          </a:ln>
        </p:spPr>
      </p:sp>
      <p:sp>
        <p:nvSpPr>
          <p:cNvPr id="6" name="Shape 4"/>
          <p:cNvSpPr/>
          <p:nvPr/>
        </p:nvSpPr>
        <p:spPr>
          <a:xfrm>
            <a:off x="11642803" y="1449324"/>
            <a:ext cx="256032" cy="256032"/>
          </a:xfrm>
          <a:prstGeom prst="star5">
            <a:avLst/>
          </a:prstGeom>
          <a:solidFill>
            <a:srgbClr val="12459E"/>
          </a:solidFill>
          <a:ln w="12700">
            <a:solidFill>
              <a:srgbClr val="333333"/>
            </a:solidFill>
            <a:prstDash val="solid"/>
          </a:ln>
        </p:spPr>
      </p:sp>
      <p:sp>
        <p:nvSpPr>
          <p:cNvPr id="7" name="Shape 5"/>
          <p:cNvSpPr/>
          <p:nvPr/>
        </p:nvSpPr>
        <p:spPr>
          <a:xfrm>
            <a:off x="11324844" y="1767283"/>
            <a:ext cx="256032" cy="256032"/>
          </a:xfrm>
          <a:prstGeom prst="star5">
            <a:avLst/>
          </a:prstGeom>
          <a:solidFill>
            <a:srgbClr val="12459E"/>
          </a:solidFill>
          <a:ln w="12700">
            <a:solidFill>
              <a:srgbClr val="333333"/>
            </a:solidFill>
            <a:prstDash val="solid"/>
          </a:ln>
        </p:spPr>
      </p:sp>
      <p:sp>
        <p:nvSpPr>
          <p:cNvPr id="8" name="Shape 6"/>
          <p:cNvSpPr/>
          <p:nvPr/>
        </p:nvSpPr>
        <p:spPr>
          <a:xfrm>
            <a:off x="10890504" y="1883664"/>
            <a:ext cx="256032" cy="256032"/>
          </a:xfrm>
          <a:prstGeom prst="star5">
            <a:avLst/>
          </a:prstGeom>
          <a:solidFill>
            <a:srgbClr val="12459E"/>
          </a:solidFill>
          <a:ln w="12700">
            <a:solidFill>
              <a:srgbClr val="333333"/>
            </a:solidFill>
            <a:prstDash val="solid"/>
          </a:ln>
        </p:spPr>
      </p:sp>
      <p:sp>
        <p:nvSpPr>
          <p:cNvPr id="9" name="Shape 7"/>
          <p:cNvSpPr/>
          <p:nvPr/>
        </p:nvSpPr>
        <p:spPr>
          <a:xfrm>
            <a:off x="10456164" y="1767283"/>
            <a:ext cx="256032" cy="256032"/>
          </a:xfrm>
          <a:prstGeom prst="star5">
            <a:avLst/>
          </a:prstGeom>
          <a:solidFill>
            <a:srgbClr val="12459E"/>
          </a:solidFill>
          <a:ln w="12700">
            <a:solidFill>
              <a:srgbClr val="333333"/>
            </a:solidFill>
            <a:prstDash val="solid"/>
          </a:ln>
        </p:spPr>
      </p:sp>
      <p:sp>
        <p:nvSpPr>
          <p:cNvPr id="10" name="Shape 8"/>
          <p:cNvSpPr/>
          <p:nvPr/>
        </p:nvSpPr>
        <p:spPr>
          <a:xfrm>
            <a:off x="10138205" y="1449324"/>
            <a:ext cx="256032" cy="256032"/>
          </a:xfrm>
          <a:prstGeom prst="star5">
            <a:avLst/>
          </a:prstGeom>
          <a:solidFill>
            <a:srgbClr val="12459E"/>
          </a:solidFill>
          <a:ln w="12700">
            <a:solidFill>
              <a:srgbClr val="333333"/>
            </a:solidFill>
            <a:prstDash val="solid"/>
          </a:ln>
        </p:spPr>
      </p:sp>
      <p:sp>
        <p:nvSpPr>
          <p:cNvPr id="11" name="Shape 9"/>
          <p:cNvSpPr/>
          <p:nvPr/>
        </p:nvSpPr>
        <p:spPr>
          <a:xfrm>
            <a:off x="10021824" y="1014984"/>
            <a:ext cx="256032" cy="256032"/>
          </a:xfrm>
          <a:prstGeom prst="star5">
            <a:avLst/>
          </a:prstGeom>
          <a:solidFill>
            <a:srgbClr val="12459E"/>
          </a:solidFill>
          <a:ln w="12700">
            <a:solidFill>
              <a:srgbClr val="333333"/>
            </a:solidFill>
            <a:prstDash val="solid"/>
          </a:ln>
        </p:spPr>
      </p:sp>
      <p:sp>
        <p:nvSpPr>
          <p:cNvPr id="12" name="Shape 10"/>
          <p:cNvSpPr/>
          <p:nvPr/>
        </p:nvSpPr>
        <p:spPr>
          <a:xfrm>
            <a:off x="10138205" y="580644"/>
            <a:ext cx="256032" cy="256032"/>
          </a:xfrm>
          <a:prstGeom prst="star5">
            <a:avLst/>
          </a:prstGeom>
          <a:solidFill>
            <a:srgbClr val="12459E"/>
          </a:solidFill>
          <a:ln w="12700">
            <a:solidFill>
              <a:srgbClr val="333333"/>
            </a:solidFill>
            <a:prstDash val="solid"/>
          </a:ln>
        </p:spPr>
      </p:sp>
      <p:sp>
        <p:nvSpPr>
          <p:cNvPr id="13" name="Shape 11"/>
          <p:cNvSpPr/>
          <p:nvPr/>
        </p:nvSpPr>
        <p:spPr>
          <a:xfrm>
            <a:off x="10456164" y="262685"/>
            <a:ext cx="256032" cy="256032"/>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40080"/>
            <a:ext cx="1783080" cy="411480"/>
          </a:xfrm>
          <a:prstGeom prst="rect">
            <a:avLst/>
          </a:prstGeom>
        </p:spPr>
      </p:pic>
      <p:sp>
        <p:nvSpPr>
          <p:cNvPr id="15" name="Text 12"/>
          <p:cNvSpPr/>
          <p:nvPr/>
        </p:nvSpPr>
        <p:spPr>
          <a:xfrm>
            <a:off x="822960" y="1737360"/>
            <a:ext cx="73152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THE BOTTOM LINE</a:t>
            </a:r>
            <a:endParaRPr lang="en-US" sz="1200" dirty="0"/>
          </a:p>
        </p:txBody>
      </p:sp>
      <p:sp>
        <p:nvSpPr>
          <p:cNvPr id="16" name="Text 13"/>
          <p:cNvSpPr/>
          <p:nvPr/>
        </p:nvSpPr>
        <p:spPr>
          <a:xfrm>
            <a:off x="777240" y="2103120"/>
            <a:ext cx="8412480" cy="146304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Mistral is the product proof</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for a European AI stack.</a:t>
            </a:r>
            <a:endParaRPr lang="en-US" sz="3800" dirty="0"/>
          </a:p>
        </p:txBody>
      </p:sp>
      <p:sp>
        <p:nvSpPr>
          <p:cNvPr id="17" name="Shape 14"/>
          <p:cNvSpPr/>
          <p:nvPr/>
        </p:nvSpPr>
        <p:spPr>
          <a:xfrm>
            <a:off x="777240" y="3794760"/>
            <a:ext cx="4297680" cy="1463040"/>
          </a:xfrm>
          <a:prstGeom prst="roundRect">
            <a:avLst>
              <a:gd name="adj" fmla="val 7500"/>
            </a:avLst>
          </a:prstGeom>
          <a:solidFill>
            <a:srgbClr val="00246B"/>
          </a:solidFill>
          <a:ln w="12700">
            <a:solidFill>
              <a:srgbClr val="333333"/>
            </a:solidFill>
            <a:prstDash val="solid"/>
          </a:ln>
        </p:spPr>
      </p:sp>
      <p:sp>
        <p:nvSpPr>
          <p:cNvPr id="18" name="Text 15"/>
          <p:cNvSpPr/>
          <p:nvPr/>
        </p:nvSpPr>
        <p:spPr>
          <a:xfrm>
            <a:off x="109728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Company thesis</a:t>
            </a:r>
            <a:endParaRPr lang="en-US" sz="1800" dirty="0"/>
          </a:p>
        </p:txBody>
      </p:sp>
      <p:sp>
        <p:nvSpPr>
          <p:cNvPr id="19" name="Text 16"/>
          <p:cNvSpPr/>
          <p:nvPr/>
        </p:nvSpPr>
        <p:spPr>
          <a:xfrm>
            <a:off x="109728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Open, controllable frontier models that enterprises can inspect, deploy, and trust.</a:t>
            </a:r>
            <a:endParaRPr lang="en-US" sz="1300" dirty="0"/>
          </a:p>
        </p:txBody>
      </p:sp>
      <p:sp>
        <p:nvSpPr>
          <p:cNvPr id="20" name="Shape 17"/>
          <p:cNvSpPr/>
          <p:nvPr/>
        </p:nvSpPr>
        <p:spPr>
          <a:xfrm>
            <a:off x="5486400" y="3794760"/>
            <a:ext cx="4297680" cy="1463040"/>
          </a:xfrm>
          <a:prstGeom prst="roundRect">
            <a:avLst>
              <a:gd name="adj" fmla="val 7500"/>
            </a:avLst>
          </a:prstGeom>
          <a:solidFill>
            <a:srgbClr val="00246B"/>
          </a:solidFill>
          <a:ln w="12700">
            <a:solidFill>
              <a:srgbClr val="333333"/>
            </a:solidFill>
            <a:prstDash val="solid"/>
          </a:ln>
        </p:spPr>
      </p:sp>
      <p:sp>
        <p:nvSpPr>
          <p:cNvPr id="21" name="Text 18"/>
          <p:cNvSpPr/>
          <p:nvPr/>
        </p:nvSpPr>
        <p:spPr>
          <a:xfrm>
            <a:off x="580644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Policy thesis</a:t>
            </a:r>
            <a:endParaRPr lang="en-US" sz="1800" dirty="0"/>
          </a:p>
        </p:txBody>
      </p:sp>
      <p:sp>
        <p:nvSpPr>
          <p:cNvPr id="22" name="Text 19"/>
          <p:cNvSpPr/>
          <p:nvPr/>
        </p:nvSpPr>
        <p:spPr>
          <a:xfrm>
            <a:off x="580644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Talent, demand, compute, data, and capital held under European control.</a:t>
            </a:r>
            <a:endParaRPr lang="en-US" sz="1300" dirty="0"/>
          </a:p>
        </p:txBody>
      </p:sp>
      <p:sp>
        <p:nvSpPr>
          <p:cNvPr id="23" name="Text 20"/>
          <p:cNvSpPr/>
          <p:nvPr/>
        </p:nvSpPr>
        <p:spPr>
          <a:xfrm>
            <a:off x="777240" y="5623560"/>
            <a:ext cx="8595360" cy="685800"/>
          </a:xfrm>
          <a:prstGeom prst="rect">
            <a:avLst/>
          </a:prstGeom>
          <a:noFill/>
          <a:ln/>
        </p:spPr>
        <p:txBody>
          <a:bodyPr wrap="square" lIns="0" tIns="0" rIns="0" bIns="0" rtlCol="0" anchor="ctr"/>
          <a:lstStyle/>
          <a:p>
            <a:pPr indent="0" marL="0">
              <a:lnSpc>
                <a:spcPts val="2200"/>
              </a:lnSpc>
              <a:buNone/>
            </a:pPr>
            <a:r>
              <a:rPr lang="en-US" sz="1500" i="1" dirty="0">
                <a:solidFill>
                  <a:srgbClr val="FFFFFF"/>
                </a:solidFill>
                <a:latin typeface="Calibri" pitchFamily="34" charset="0"/>
                <a:ea typeface="Calibri" pitchFamily="34" charset="-122"/>
                <a:cs typeface="Calibri" pitchFamily="34" charset="-120"/>
              </a:rPr>
              <a:t>Winning the model layer is the company case. Turning that win into an enduring category advantage is the European 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ns2="http://purl.org/dc/terms/" xmlns:xsi="http://www.w3.org/2001/XMLSchema-instance">
  <dc:title>Mistral AI - EU Policy &amp; Company Thesis</dc:title>
  <dc:subject>EU Policy and European AI Sovereignty Company Thesis</dc:subject>
  <dc:creator>Shiv, Prospective PMM, Mistral Studio</dc:creator>
  <cp:lastModifiedBy>PptxGenJS</cp:lastModifiedBy>
  <cp:revision>1</cp:revision>
  <ns2:created xsi:type="dcterms:W3CDTF">2026-08-17T06:45:18Z</ns2:created>
  <ns2:modified xsi:type="dcterms:W3CDTF">2026-08-17T06:45:18Z</ns2:modified>
  <cp:keywords>mistral-ai, eu-policy, ai-sovereignty, thesis</cp:keywords>
</cp:coreProperties>
</file>