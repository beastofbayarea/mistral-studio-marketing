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thesis in two layers: the company strategy explains why Mistral can win the model layer; the policy agenda explains how that win compounds.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 is single and linear: control the model layer, feed the loop with adoption, and let the European stack make the position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market size first, then the constraints. The constraints make an open, controllable alternative commercially valuable rather than ideological.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funnel is the defensible part: enterprise counts and sector filters are verifiable, contract values are anchored to comparable enterprise software and infrastructure deals. Share assumption is the one number open to challenge, so lead with it rather than bury it. Note that the bottoms-up total independently lands on the same figure as the top-down forecast, which is the point of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last line hard. The positioning is deliberate asymmetry, not open-source advocacy.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is the bridge: it converts the company position into a policy agenda without changing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lever maps to a friction point in the loop: talent and compute feed supply, market and demand levers pull adoption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single sentence. Everything before it exists to make that sentence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399"/>
        </a:solidFill>
      </p:bgPr>
    </p:bg>
    <p:spTree>
      <p:nvGrpSpPr>
        <p:cNvPr id="1" name=""/>
        <p:cNvGrpSpPr/>
        <p:nvPr/>
      </p:nvGrpSpPr>
      <p:grpSpPr>
        <a:xfrm>
          <a:off x="0" y="0"/>
          <a:ext cx="0" cy="0"/>
          <a:chOff x="0" y="0"/>
          <a:chExt cx="0" cy="0"/>
        </a:xfrm>
      </p:grpSpPr>
      <p:sp>
        <p:nvSpPr>
          <p:cNvPr id="2" name="Shape 0"/>
          <p:cNvSpPr/>
          <p:nvPr/>
        </p:nvSpPr>
        <p:spPr>
          <a:xfrm>
            <a:off x="9939528" y="155448"/>
            <a:ext cx="420624" cy="420624"/>
          </a:xfrm>
          <a:prstGeom prst="star5">
            <a:avLst/>
          </a:prstGeom>
          <a:solidFill>
            <a:srgbClr val="12459E"/>
          </a:solidFill>
          <a:ln w="12700">
            <a:solidFill>
              <a:srgbClr val="333333"/>
            </a:solidFill>
            <a:prstDash val="solid"/>
          </a:ln>
        </p:spPr>
      </p:sp>
      <p:sp>
        <p:nvSpPr>
          <p:cNvPr id="3" name="Shape 1"/>
          <p:cNvSpPr/>
          <p:nvPr/>
        </p:nvSpPr>
        <p:spPr>
          <a:xfrm>
            <a:off x="10762488" y="375959"/>
            <a:ext cx="420624" cy="420624"/>
          </a:xfrm>
          <a:prstGeom prst="star5">
            <a:avLst/>
          </a:prstGeom>
          <a:solidFill>
            <a:srgbClr val="12459E"/>
          </a:solidFill>
          <a:ln w="12700">
            <a:solidFill>
              <a:srgbClr val="333333"/>
            </a:solidFill>
            <a:prstDash val="solid"/>
          </a:ln>
        </p:spPr>
      </p:sp>
      <p:sp>
        <p:nvSpPr>
          <p:cNvPr id="4" name="Shape 2"/>
          <p:cNvSpPr/>
          <p:nvPr/>
        </p:nvSpPr>
        <p:spPr>
          <a:xfrm>
            <a:off x="11364937" y="978408"/>
            <a:ext cx="420624" cy="420624"/>
          </a:xfrm>
          <a:prstGeom prst="star5">
            <a:avLst/>
          </a:prstGeom>
          <a:solidFill>
            <a:srgbClr val="12459E"/>
          </a:solidFill>
          <a:ln w="12700">
            <a:solidFill>
              <a:srgbClr val="333333"/>
            </a:solidFill>
            <a:prstDash val="solid"/>
          </a:ln>
        </p:spPr>
      </p:sp>
      <p:sp>
        <p:nvSpPr>
          <p:cNvPr id="5" name="Shape 3"/>
          <p:cNvSpPr/>
          <p:nvPr/>
        </p:nvSpPr>
        <p:spPr>
          <a:xfrm>
            <a:off x="11585448" y="1801368"/>
            <a:ext cx="420624" cy="420624"/>
          </a:xfrm>
          <a:prstGeom prst="star5">
            <a:avLst/>
          </a:prstGeom>
          <a:solidFill>
            <a:srgbClr val="12459E"/>
          </a:solidFill>
          <a:ln w="12700">
            <a:solidFill>
              <a:srgbClr val="333333"/>
            </a:solidFill>
            <a:prstDash val="solid"/>
          </a:ln>
        </p:spPr>
      </p:sp>
      <p:sp>
        <p:nvSpPr>
          <p:cNvPr id="6" name="Shape 4"/>
          <p:cNvSpPr/>
          <p:nvPr/>
        </p:nvSpPr>
        <p:spPr>
          <a:xfrm>
            <a:off x="11364937" y="2624328"/>
            <a:ext cx="420624" cy="420624"/>
          </a:xfrm>
          <a:prstGeom prst="star5">
            <a:avLst/>
          </a:prstGeom>
          <a:solidFill>
            <a:srgbClr val="12459E"/>
          </a:solidFill>
          <a:ln w="12700">
            <a:solidFill>
              <a:srgbClr val="333333"/>
            </a:solidFill>
            <a:prstDash val="solid"/>
          </a:ln>
        </p:spPr>
      </p:sp>
      <p:sp>
        <p:nvSpPr>
          <p:cNvPr id="7" name="Shape 5"/>
          <p:cNvSpPr/>
          <p:nvPr/>
        </p:nvSpPr>
        <p:spPr>
          <a:xfrm>
            <a:off x="10762488" y="3226777"/>
            <a:ext cx="420624" cy="420624"/>
          </a:xfrm>
          <a:prstGeom prst="star5">
            <a:avLst/>
          </a:prstGeom>
          <a:solidFill>
            <a:srgbClr val="12459E"/>
          </a:solidFill>
          <a:ln w="12700">
            <a:solidFill>
              <a:srgbClr val="333333"/>
            </a:solidFill>
            <a:prstDash val="solid"/>
          </a:ln>
        </p:spPr>
      </p:sp>
      <p:sp>
        <p:nvSpPr>
          <p:cNvPr id="8" name="Shape 6"/>
          <p:cNvSpPr/>
          <p:nvPr/>
        </p:nvSpPr>
        <p:spPr>
          <a:xfrm>
            <a:off x="9939528" y="3447288"/>
            <a:ext cx="420624" cy="420624"/>
          </a:xfrm>
          <a:prstGeom prst="star5">
            <a:avLst/>
          </a:prstGeom>
          <a:solidFill>
            <a:srgbClr val="12459E"/>
          </a:solidFill>
          <a:ln w="12700">
            <a:solidFill>
              <a:srgbClr val="333333"/>
            </a:solidFill>
            <a:prstDash val="solid"/>
          </a:ln>
        </p:spPr>
      </p:sp>
      <p:sp>
        <p:nvSpPr>
          <p:cNvPr id="9" name="Shape 7"/>
          <p:cNvSpPr/>
          <p:nvPr/>
        </p:nvSpPr>
        <p:spPr>
          <a:xfrm>
            <a:off x="9116568" y="3226777"/>
            <a:ext cx="420624" cy="420624"/>
          </a:xfrm>
          <a:prstGeom prst="star5">
            <a:avLst/>
          </a:prstGeom>
          <a:solidFill>
            <a:srgbClr val="12459E"/>
          </a:solidFill>
          <a:ln w="12700">
            <a:solidFill>
              <a:srgbClr val="333333"/>
            </a:solidFill>
            <a:prstDash val="solid"/>
          </a:ln>
        </p:spPr>
      </p:sp>
      <p:sp>
        <p:nvSpPr>
          <p:cNvPr id="10" name="Shape 8"/>
          <p:cNvSpPr/>
          <p:nvPr/>
        </p:nvSpPr>
        <p:spPr>
          <a:xfrm>
            <a:off x="8514119" y="2624328"/>
            <a:ext cx="420624" cy="420624"/>
          </a:xfrm>
          <a:prstGeom prst="star5">
            <a:avLst/>
          </a:prstGeom>
          <a:solidFill>
            <a:srgbClr val="12459E"/>
          </a:solidFill>
          <a:ln w="12700">
            <a:solidFill>
              <a:srgbClr val="333333"/>
            </a:solidFill>
            <a:prstDash val="solid"/>
          </a:ln>
        </p:spPr>
      </p:sp>
      <p:sp>
        <p:nvSpPr>
          <p:cNvPr id="11" name="Shape 9"/>
          <p:cNvSpPr/>
          <p:nvPr/>
        </p:nvSpPr>
        <p:spPr>
          <a:xfrm>
            <a:off x="8293608" y="1801368"/>
            <a:ext cx="420624" cy="420624"/>
          </a:xfrm>
          <a:prstGeom prst="star5">
            <a:avLst/>
          </a:prstGeom>
          <a:solidFill>
            <a:srgbClr val="12459E"/>
          </a:solidFill>
          <a:ln w="12700">
            <a:solidFill>
              <a:srgbClr val="333333"/>
            </a:solidFill>
            <a:prstDash val="solid"/>
          </a:ln>
        </p:spPr>
      </p:sp>
      <p:sp>
        <p:nvSpPr>
          <p:cNvPr id="12" name="Shape 10"/>
          <p:cNvSpPr/>
          <p:nvPr/>
        </p:nvSpPr>
        <p:spPr>
          <a:xfrm>
            <a:off x="8514119" y="978408"/>
            <a:ext cx="420624" cy="420624"/>
          </a:xfrm>
          <a:prstGeom prst="star5">
            <a:avLst/>
          </a:prstGeom>
          <a:solidFill>
            <a:srgbClr val="12459E"/>
          </a:solidFill>
          <a:ln w="12700">
            <a:solidFill>
              <a:srgbClr val="333333"/>
            </a:solidFill>
            <a:prstDash val="solid"/>
          </a:ln>
        </p:spPr>
      </p:sp>
      <p:sp>
        <p:nvSpPr>
          <p:cNvPr id="13" name="Shape 11"/>
          <p:cNvSpPr/>
          <p:nvPr/>
        </p:nvSpPr>
        <p:spPr>
          <a:xfrm>
            <a:off x="9116568" y="375959"/>
            <a:ext cx="420624" cy="420624"/>
          </a:xfrm>
          <a:prstGeom prst="star5">
            <a:avLst/>
          </a:prstGeom>
          <a:solidFill>
            <a:srgbClr val="12459E"/>
          </a:solidFill>
          <a:ln w="12700">
            <a:solidFill>
              <a:srgbClr val="333333"/>
            </a:solidFill>
            <a:prstDash val="solid"/>
          </a:ln>
        </p:spPr>
      </p:sp>
      <p:pic>
        <p:nvPicPr>
          <p:cNvPr id="14" name="Image 0" descr="preencoded.png">    </p:cNvPr>
          <p:cNvPicPr>
            <a:picLocks noChangeAspect="1"/>
          </p:cNvPicPr>
          <p:nvPr/>
        </p:nvPicPr>
        <p:blipFill>
          <a:blip r:embed="rId1"/>
          <a:stretch>
            <a:fillRect/>
          </a:stretch>
        </p:blipFill>
        <p:spPr>
          <a:xfrm>
            <a:off x="777240" y="685800"/>
            <a:ext cx="1984248" cy="457200"/>
          </a:xfrm>
          <a:prstGeom prst="rect">
            <a:avLst/>
          </a:prstGeom>
        </p:spPr>
      </p:pic>
      <p:sp>
        <p:nvSpPr>
          <p:cNvPr id="15" name="Text 12"/>
          <p:cNvSpPr/>
          <p:nvPr/>
        </p:nvSpPr>
        <p:spPr>
          <a:xfrm>
            <a:off x="822960" y="2057400"/>
            <a:ext cx="8229600" cy="274320"/>
          </a:xfrm>
          <a:prstGeom prst="rect">
            <a:avLst/>
          </a:prstGeom>
          <a:noFill/>
          <a:ln/>
        </p:spPr>
        <p:txBody>
          <a:bodyPr wrap="square" lIns="0" tIns="0" rIns="0" bIns="0" rtlCol="0" anchor="ctr"/>
          <a:lstStyle/>
          <a:p>
            <a:pPr indent="0" marL="0">
              <a:buNone/>
            </a:pPr>
            <a:r>
              <a:rPr lang="en-US" sz="1200" b="1" spc="300" kern="0" dirty="0">
                <a:solidFill>
                  <a:srgbClr val="FFCC00"/>
                </a:solidFill>
                <a:latin typeface="Calibri" pitchFamily="34" charset="0"/>
                <a:ea typeface="Calibri" pitchFamily="34" charset="-122"/>
                <a:cs typeface="Calibri" pitchFamily="34" charset="-120"/>
              </a:rPr>
              <a:t>COMPANY THESIS  ·  POLICY ARCHITECTURE</a:t>
            </a:r>
            <a:endParaRPr lang="en-US" sz="1200" dirty="0"/>
          </a:p>
        </p:txBody>
      </p:sp>
      <p:sp>
        <p:nvSpPr>
          <p:cNvPr id="16" name="Text 13"/>
          <p:cNvSpPr/>
          <p:nvPr/>
        </p:nvSpPr>
        <p:spPr>
          <a:xfrm>
            <a:off x="777240" y="2468880"/>
            <a:ext cx="7863840" cy="1737360"/>
          </a:xfrm>
          <a:prstGeom prst="rect">
            <a:avLst/>
          </a:prstGeom>
          <a:noFill/>
          <a:ln/>
        </p:spPr>
        <p:txBody>
          <a:bodyPr wrap="square" lIns="0" tIns="0" rIns="0" bIns="0" rtlCol="0" anchor="ctr"/>
          <a:lstStyle/>
          <a:p>
            <a:pPr indent="0" marL="0">
              <a:lnSpc>
                <a:spcPts val="5200"/>
              </a:lnSpc>
              <a:buNone/>
            </a:pPr>
            <a:r>
              <a:rPr lang="en-US" sz="4600" b="1" dirty="0">
                <a:solidFill>
                  <a:srgbClr val="FFFFFF"/>
                </a:solidFill>
                <a:latin typeface="Cambria" pitchFamily="34" charset="0"/>
                <a:ea typeface="Cambria" pitchFamily="34" charset="-122"/>
                <a:cs typeface="Cambria" pitchFamily="34" charset="-120"/>
              </a:rPr>
              <a:t>From model wedge to</a:t>
            </a:r>
            <a:endParaRPr lang="en-US" sz="4600" dirty="0"/>
          </a:p>
          <a:p>
            <a:pPr indent="0" marL="0">
              <a:lnSpc>
                <a:spcPts val="5200"/>
              </a:lnSpc>
              <a:buNone/>
            </a:pPr>
            <a:r>
              <a:rPr lang="en-US" sz="4600" b="1" dirty="0">
                <a:solidFill>
                  <a:srgbClr val="FFFFFF"/>
                </a:solidFill>
                <a:latin typeface="Cambria" pitchFamily="34" charset="0"/>
                <a:ea typeface="Cambria" pitchFamily="34" charset="-122"/>
                <a:cs typeface="Cambria" pitchFamily="34" charset="-120"/>
              </a:rPr>
              <a:t>European AI stack</a:t>
            </a:r>
            <a:endParaRPr lang="en-US" sz="4600" dirty="0"/>
          </a:p>
        </p:txBody>
      </p:sp>
      <p:sp>
        <p:nvSpPr>
          <p:cNvPr id="17" name="Text 14"/>
          <p:cNvSpPr/>
          <p:nvPr/>
        </p:nvSpPr>
        <p:spPr>
          <a:xfrm>
            <a:off x="777240" y="4617720"/>
            <a:ext cx="6949440" cy="914400"/>
          </a:xfrm>
          <a:prstGeom prst="rect">
            <a:avLst/>
          </a:prstGeom>
          <a:noFill/>
          <a:ln/>
        </p:spPr>
        <p:txBody>
          <a:bodyPr wrap="square" lIns="0" tIns="0" rIns="0" bIns="0" rtlCol="0" anchor="ctr"/>
          <a:lstStyle/>
          <a:p>
            <a:pPr indent="0" marL="0">
              <a:lnSpc>
                <a:spcPts val="2400"/>
              </a:lnSpc>
              <a:buNone/>
            </a:pPr>
            <a:r>
              <a:rPr lang="en-US" sz="1500" dirty="0">
                <a:solidFill>
                  <a:srgbClr val="C9D4F0"/>
                </a:solidFill>
                <a:latin typeface="Calibri" pitchFamily="34" charset="0"/>
                <a:ea typeface="Calibri" pitchFamily="34" charset="-122"/>
                <a:cs typeface="Calibri" pitchFamily="34" charset="-120"/>
              </a:rPr>
              <a:t>Why Mistral can win the model layer, and how Europe turns that win into a stack that compounds.</a:t>
            </a:r>
            <a:endParaRPr lang="en-US" sz="1500" dirty="0"/>
          </a:p>
        </p:txBody>
      </p:sp>
      <p:sp>
        <p:nvSpPr>
          <p:cNvPr id="18" name="Text 15"/>
          <p:cNvSpPr/>
          <p:nvPr/>
        </p:nvSpPr>
        <p:spPr>
          <a:xfrm>
            <a:off x="777240" y="5715000"/>
            <a:ext cx="2926080" cy="320040"/>
          </a:xfrm>
          <a:prstGeom prst="rect">
            <a:avLst/>
          </a:prstGeom>
          <a:noFill/>
          <a:ln/>
        </p:spPr>
        <p:txBody>
          <a:bodyPr wrap="square" lIns="0" tIns="0" rIns="0" bIns="0" rtlCol="0" anchor="ctr"/>
          <a:lstStyle/>
          <a:p>
            <a:pPr indent="0" marL="0">
              <a:buNone/>
            </a:pPr>
            <a:r>
              <a:rPr lang="en-US" sz="1250" b="1" dirty="0">
                <a:solidFill>
                  <a:srgbClr val="FFCC00"/>
                </a:solidFill>
                <a:latin typeface="Calibri" pitchFamily="34" charset="0"/>
                <a:ea typeface="Calibri" pitchFamily="34" charset="-122"/>
                <a:cs typeface="Calibri" pitchFamily="34" charset="-120"/>
              </a:rPr>
              <a:t>Win the model layer</a:t>
            </a:r>
            <a:endParaRPr lang="en-US" sz="1250" dirty="0"/>
          </a:p>
        </p:txBody>
      </p:sp>
      <p:sp>
        <p:nvSpPr>
          <p:cNvPr id="19" name="Text 16"/>
          <p:cNvSpPr/>
          <p:nvPr/>
        </p:nvSpPr>
        <p:spPr>
          <a:xfrm>
            <a:off x="3931920" y="5715000"/>
            <a:ext cx="2926080" cy="320040"/>
          </a:xfrm>
          <a:prstGeom prst="rect">
            <a:avLst/>
          </a:prstGeom>
          <a:noFill/>
          <a:ln/>
        </p:spPr>
        <p:txBody>
          <a:bodyPr wrap="square" lIns="0" tIns="0" rIns="0" bIns="0" rtlCol="0" anchor="ctr"/>
          <a:lstStyle/>
          <a:p>
            <a:pPr indent="0" marL="0">
              <a:buNone/>
            </a:pPr>
            <a:r>
              <a:rPr lang="en-US" sz="1250" b="1" dirty="0">
                <a:solidFill>
                  <a:srgbClr val="FFCC00"/>
                </a:solidFill>
                <a:latin typeface="Calibri" pitchFamily="34" charset="0"/>
                <a:ea typeface="Calibri" pitchFamily="34" charset="-122"/>
                <a:cs typeface="Calibri" pitchFamily="34" charset="-120"/>
              </a:rPr>
              <a:t>Make it durable</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75488"/>
            <a:ext cx="457200" cy="457200"/>
          </a:xfrm>
          <a:prstGeom prst="ellipse">
            <a:avLst/>
          </a:prstGeom>
          <a:solidFill>
            <a:srgbClr val="003399"/>
          </a:solidFill>
          <a:ln w="12700">
            <a:solidFill>
              <a:srgbClr val="333333"/>
            </a:solidFill>
            <a:prstDash val="solid"/>
          </a:ln>
        </p:spPr>
      </p:sp>
      <p:sp>
        <p:nvSpPr>
          <p:cNvPr id="3" name="Text 1"/>
          <p:cNvSpPr/>
          <p:nvPr/>
        </p:nvSpPr>
        <p:spPr>
          <a:xfrm>
            <a:off x="548640" y="475488"/>
            <a:ext cx="457200" cy="457200"/>
          </a:xfrm>
          <a:prstGeom prst="rect">
            <a:avLst/>
          </a:prstGeom>
          <a:noFill/>
          <a:ln/>
        </p:spPr>
        <p:txBody>
          <a:bodyPr wrap="square" lIns="0" tIns="0" rIns="0" bIns="0" rtlCol="0" anchor="ctr"/>
          <a:lstStyle/>
          <a:p>
            <a:pPr algn="ctr" indent="0" marL="0">
              <a:buNone/>
            </a:pPr>
            <a:r>
              <a:rPr lang="en-US" sz="1300" b="1" dirty="0">
                <a:solidFill>
                  <a:srgbClr val="FFCC00"/>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43000" y="502920"/>
            <a:ext cx="7315200" cy="256032"/>
          </a:xfrm>
          <a:prstGeom prst="rect">
            <a:avLst/>
          </a:prstGeom>
          <a:noFill/>
          <a:ln/>
        </p:spPr>
        <p:txBody>
          <a:bodyPr wrap="square" lIns="0" tIns="0" rIns="0" bIns="0" rtlCol="0" anchor="ctr"/>
          <a:lstStyle/>
          <a:p>
            <a:pPr indent="0" marL="0">
              <a:buNone/>
            </a:pPr>
            <a:r>
              <a:rPr lang="en-US" sz="1100" b="1" spc="200" kern="0" dirty="0">
                <a:solidFill>
                  <a:srgbClr val="003399"/>
                </a:solidFill>
                <a:latin typeface="Calibri" pitchFamily="34" charset="0"/>
                <a:ea typeface="Calibri" pitchFamily="34" charset="-122"/>
                <a:cs typeface="Calibri" pitchFamily="34" charset="-120"/>
              </a:rPr>
              <a:t>NARRATIVE SPINE</a:t>
            </a:r>
            <a:endParaRPr lang="en-US" sz="1100" dirty="0"/>
          </a:p>
        </p:txBody>
      </p:sp>
      <p:sp>
        <p:nvSpPr>
          <p:cNvPr id="5" name="Text 3"/>
          <p:cNvSpPr/>
          <p:nvPr/>
        </p:nvSpPr>
        <p:spPr>
          <a:xfrm>
            <a:off x="1133856" y="749808"/>
            <a:ext cx="9601200" cy="566928"/>
          </a:xfrm>
          <a:prstGeom prst="rect">
            <a:avLst/>
          </a:prstGeom>
          <a:noFill/>
          <a:ln/>
        </p:spPr>
        <p:txBody>
          <a:bodyPr wrap="square" lIns="0" tIns="0" rIns="0" bIns="0" rtlCol="0" anchor="ctr"/>
          <a:lstStyle/>
          <a:p>
            <a:pPr indent="0" marL="0">
              <a:buNone/>
            </a:pPr>
            <a:r>
              <a:rPr lang="en-US" sz="3200" b="1" dirty="0">
                <a:solidFill>
                  <a:srgbClr val="111A33"/>
                </a:solidFill>
                <a:latin typeface="Cambria" pitchFamily="34" charset="0"/>
                <a:ea typeface="Cambria" pitchFamily="34" charset="-122"/>
                <a:cs typeface="Cambria" pitchFamily="34" charset="-120"/>
              </a:rPr>
              <a:t>One thesis, two layers</a:t>
            </a:r>
            <a:endParaRPr lang="en-US" sz="3200" dirty="0"/>
          </a:p>
        </p:txBody>
      </p:sp>
      <p:sp>
        <p:nvSpPr>
          <p:cNvPr id="6" name="Text 4"/>
          <p:cNvSpPr/>
          <p:nvPr/>
        </p:nvSpPr>
        <p:spPr>
          <a:xfrm>
            <a:off x="1152144" y="1389888"/>
            <a:ext cx="9509760" cy="365760"/>
          </a:xfrm>
          <a:prstGeom prst="rect">
            <a:avLst/>
          </a:prstGeom>
          <a:noFill/>
          <a:ln/>
        </p:spPr>
        <p:txBody>
          <a:bodyPr wrap="square" lIns="0" tIns="0" rIns="0" bIns="0" rtlCol="0" anchor="ctr"/>
          <a:lstStyle/>
          <a:p>
            <a:pPr indent="0" marL="0">
              <a:buNone/>
            </a:pPr>
            <a:r>
              <a:rPr lang="en-US" sz="1450" i="1" dirty="0">
                <a:solidFill>
                  <a:srgbClr val="5A6480"/>
                </a:solidFill>
                <a:latin typeface="Calibri" pitchFamily="34" charset="0"/>
                <a:ea typeface="Calibri" pitchFamily="34" charset="-122"/>
                <a:cs typeface="Calibri" pitchFamily="34" charset="-120"/>
              </a:rPr>
              <a:t>The company layer explains why Mistral can win. The policy layer explains how Europe makes that win compound.</a:t>
            </a:r>
            <a:endParaRPr lang="en-US" sz="1450" dirty="0"/>
          </a:p>
        </p:txBody>
      </p:sp>
      <p:sp>
        <p:nvSpPr>
          <p:cNvPr id="7" name="Shape 5"/>
          <p:cNvSpPr/>
          <p:nvPr/>
        </p:nvSpPr>
        <p:spPr>
          <a:xfrm>
            <a:off x="548640" y="2148840"/>
            <a:ext cx="3429000" cy="2834640"/>
          </a:xfrm>
          <a:prstGeom prst="roundRect">
            <a:avLst>
              <a:gd name="adj" fmla="val 3871"/>
            </a:avLst>
          </a:prstGeom>
          <a:solidFill>
            <a:srgbClr val="F4F6FB"/>
          </a:solidFill>
          <a:ln w="12700">
            <a:solidFill>
              <a:srgbClr val="DDE2EE"/>
            </a:solidFill>
            <a:prstDash val="solid"/>
          </a:ln>
        </p:spPr>
      </p:sp>
      <p:sp>
        <p:nvSpPr>
          <p:cNvPr id="8" name="Shape 6"/>
          <p:cNvSpPr/>
          <p:nvPr/>
        </p:nvSpPr>
        <p:spPr>
          <a:xfrm>
            <a:off x="896112" y="2514600"/>
            <a:ext cx="566928" cy="566928"/>
          </a:xfrm>
          <a:prstGeom prst="ellipse">
            <a:avLst/>
          </a:prstGeom>
          <a:solidFill>
            <a:srgbClr val="FFCC00"/>
          </a:solidFill>
          <a:ln w="12700">
            <a:solidFill>
              <a:srgbClr val="333333"/>
            </a:solidFill>
            <a:prstDash val="solid"/>
          </a:ln>
        </p:spPr>
      </p:sp>
      <p:sp>
        <p:nvSpPr>
          <p:cNvPr id="9" name="Text 7"/>
          <p:cNvSpPr/>
          <p:nvPr/>
        </p:nvSpPr>
        <p:spPr>
          <a:xfrm>
            <a:off x="896112" y="2514600"/>
            <a:ext cx="566928" cy="566928"/>
          </a:xfrm>
          <a:prstGeom prst="rect">
            <a:avLst/>
          </a:prstGeom>
          <a:noFill/>
          <a:ln/>
        </p:spPr>
        <p:txBody>
          <a:bodyPr wrap="square" lIns="0" tIns="0" rIns="0" bIns="0" rtlCol="0" anchor="ctr"/>
          <a:lstStyle/>
          <a:p>
            <a:pPr algn="ctr" indent="0" marL="0">
              <a:buNone/>
            </a:pPr>
            <a:r>
              <a:rPr lang="en-US" sz="2000" b="1" dirty="0">
                <a:solidFill>
                  <a:srgbClr val="00246B"/>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896112" y="3246120"/>
            <a:ext cx="2743200" cy="365760"/>
          </a:xfrm>
          <a:prstGeom prst="rect">
            <a:avLst/>
          </a:prstGeom>
          <a:noFill/>
          <a:ln/>
        </p:spPr>
        <p:txBody>
          <a:bodyPr wrap="square" lIns="0" tIns="0" rIns="0" bIns="0" rtlCol="0" anchor="ctr"/>
          <a:lstStyle/>
          <a:p>
            <a:pPr indent="0" marL="0">
              <a:buNone/>
            </a:pPr>
            <a:r>
              <a:rPr lang="en-US" sz="1900" b="1" dirty="0">
                <a:solidFill>
                  <a:srgbClr val="003399"/>
                </a:solidFill>
                <a:latin typeface="Cambria" pitchFamily="34" charset="0"/>
                <a:ea typeface="Cambria" pitchFamily="34" charset="-122"/>
                <a:cs typeface="Cambria" pitchFamily="34" charset="-120"/>
              </a:rPr>
              <a:t>Company wedge</a:t>
            </a:r>
            <a:endParaRPr lang="en-US" sz="1900" dirty="0"/>
          </a:p>
        </p:txBody>
      </p:sp>
      <p:sp>
        <p:nvSpPr>
          <p:cNvPr id="11" name="Text 9"/>
          <p:cNvSpPr/>
          <p:nvPr/>
        </p:nvSpPr>
        <p:spPr>
          <a:xfrm>
            <a:off x="896112" y="3703320"/>
            <a:ext cx="2743200" cy="1143000"/>
          </a:xfrm>
          <a:prstGeom prst="rect">
            <a:avLst/>
          </a:prstGeom>
          <a:noFill/>
          <a:ln/>
        </p:spPr>
        <p:txBody>
          <a:bodyPr wrap="square" lIns="0" tIns="0" rIns="0" bIns="0" rtlCol="0" anchor="ctr"/>
          <a:lstStyle/>
          <a:p>
            <a:pPr indent="0" marL="0">
              <a:lnSpc>
                <a:spcPts val="2000"/>
              </a:lnSpc>
              <a:buNone/>
            </a:pPr>
            <a:r>
              <a:rPr lang="en-US" sz="1350" dirty="0">
                <a:solidFill>
                  <a:srgbClr val="5A6480"/>
                </a:solidFill>
                <a:latin typeface="Calibri" pitchFamily="34" charset="0"/>
                <a:ea typeface="Calibri" pitchFamily="34" charset="-122"/>
                <a:cs typeface="Calibri" pitchFamily="34" charset="-120"/>
              </a:rPr>
              <a:t>Open, inspectable, deployable models that enterprises can actually trust and control.</a:t>
            </a:r>
            <a:endParaRPr lang="en-US" sz="1350" dirty="0"/>
          </a:p>
        </p:txBody>
      </p:sp>
      <p:sp>
        <p:nvSpPr>
          <p:cNvPr id="12" name="Shape 10"/>
          <p:cNvSpPr/>
          <p:nvPr/>
        </p:nvSpPr>
        <p:spPr>
          <a:xfrm>
            <a:off x="4297680" y="2148840"/>
            <a:ext cx="3429000" cy="2834640"/>
          </a:xfrm>
          <a:prstGeom prst="roundRect">
            <a:avLst>
              <a:gd name="adj" fmla="val 3871"/>
            </a:avLst>
          </a:prstGeom>
          <a:solidFill>
            <a:srgbClr val="F4F6FB"/>
          </a:solidFill>
          <a:ln w="12700">
            <a:solidFill>
              <a:srgbClr val="DDE2EE"/>
            </a:solidFill>
            <a:prstDash val="solid"/>
          </a:ln>
        </p:spPr>
      </p:sp>
      <p:sp>
        <p:nvSpPr>
          <p:cNvPr id="13" name="Shape 11"/>
          <p:cNvSpPr/>
          <p:nvPr/>
        </p:nvSpPr>
        <p:spPr>
          <a:xfrm>
            <a:off x="4645152" y="2514600"/>
            <a:ext cx="566928" cy="566928"/>
          </a:xfrm>
          <a:prstGeom prst="ellipse">
            <a:avLst/>
          </a:prstGeom>
          <a:solidFill>
            <a:srgbClr val="FFCC00"/>
          </a:solidFill>
          <a:ln w="12700">
            <a:solidFill>
              <a:srgbClr val="333333"/>
            </a:solidFill>
            <a:prstDash val="solid"/>
          </a:ln>
        </p:spPr>
      </p:sp>
      <p:sp>
        <p:nvSpPr>
          <p:cNvPr id="14" name="Text 12"/>
          <p:cNvSpPr/>
          <p:nvPr/>
        </p:nvSpPr>
        <p:spPr>
          <a:xfrm>
            <a:off x="4645152" y="2514600"/>
            <a:ext cx="566928" cy="566928"/>
          </a:xfrm>
          <a:prstGeom prst="rect">
            <a:avLst/>
          </a:prstGeom>
          <a:noFill/>
          <a:ln/>
        </p:spPr>
        <p:txBody>
          <a:bodyPr wrap="square" lIns="0" tIns="0" rIns="0" bIns="0" rtlCol="0" anchor="ctr"/>
          <a:lstStyle/>
          <a:p>
            <a:pPr algn="ctr" indent="0" marL="0">
              <a:buNone/>
            </a:pPr>
            <a:r>
              <a:rPr lang="en-US" sz="2000" b="1" dirty="0">
                <a:solidFill>
                  <a:srgbClr val="00246B"/>
                </a:solidFill>
                <a:latin typeface="Cambria" pitchFamily="34" charset="0"/>
                <a:ea typeface="Cambria" pitchFamily="34" charset="-122"/>
                <a:cs typeface="Cambria" pitchFamily="34" charset="-120"/>
              </a:rPr>
              <a:t>2</a:t>
            </a:r>
            <a:endParaRPr lang="en-US" sz="2000" dirty="0"/>
          </a:p>
        </p:txBody>
      </p:sp>
      <p:sp>
        <p:nvSpPr>
          <p:cNvPr id="15" name="Text 13"/>
          <p:cNvSpPr/>
          <p:nvPr/>
        </p:nvSpPr>
        <p:spPr>
          <a:xfrm>
            <a:off x="4645152" y="3246120"/>
            <a:ext cx="2743200" cy="365760"/>
          </a:xfrm>
          <a:prstGeom prst="rect">
            <a:avLst/>
          </a:prstGeom>
          <a:noFill/>
          <a:ln/>
        </p:spPr>
        <p:txBody>
          <a:bodyPr wrap="square" lIns="0" tIns="0" rIns="0" bIns="0" rtlCol="0" anchor="ctr"/>
          <a:lstStyle/>
          <a:p>
            <a:pPr indent="0" marL="0">
              <a:buNone/>
            </a:pPr>
            <a:r>
              <a:rPr lang="en-US" sz="1900" b="1" dirty="0">
                <a:solidFill>
                  <a:srgbClr val="003399"/>
                </a:solidFill>
                <a:latin typeface="Cambria" pitchFamily="34" charset="0"/>
                <a:ea typeface="Cambria" pitchFamily="34" charset="-122"/>
                <a:cs typeface="Cambria" pitchFamily="34" charset="-120"/>
              </a:rPr>
              <a:t>Industrial loop</a:t>
            </a:r>
            <a:endParaRPr lang="en-US" sz="1900" dirty="0"/>
          </a:p>
        </p:txBody>
      </p:sp>
      <p:sp>
        <p:nvSpPr>
          <p:cNvPr id="16" name="Text 14"/>
          <p:cNvSpPr/>
          <p:nvPr/>
        </p:nvSpPr>
        <p:spPr>
          <a:xfrm>
            <a:off x="4645152" y="3703320"/>
            <a:ext cx="2743200" cy="1143000"/>
          </a:xfrm>
          <a:prstGeom prst="rect">
            <a:avLst/>
          </a:prstGeom>
          <a:noFill/>
          <a:ln/>
        </p:spPr>
        <p:txBody>
          <a:bodyPr wrap="square" lIns="0" tIns="0" rIns="0" bIns="0" rtlCol="0" anchor="ctr"/>
          <a:lstStyle/>
          <a:p>
            <a:pPr indent="0" marL="0">
              <a:lnSpc>
                <a:spcPts val="2000"/>
              </a:lnSpc>
              <a:buNone/>
            </a:pPr>
            <a:r>
              <a:rPr lang="en-US" sz="1350" dirty="0">
                <a:solidFill>
                  <a:srgbClr val="5A6480"/>
                </a:solidFill>
                <a:latin typeface="Calibri" pitchFamily="34" charset="0"/>
                <a:ea typeface="Calibri" pitchFamily="34" charset="-122"/>
                <a:cs typeface="Calibri" pitchFamily="34" charset="-120"/>
              </a:rPr>
              <a:t>Adoption generates data and usage feedback, which sharpens the next model generation.</a:t>
            </a:r>
            <a:endParaRPr lang="en-US" sz="1350" dirty="0"/>
          </a:p>
        </p:txBody>
      </p:sp>
      <p:sp>
        <p:nvSpPr>
          <p:cNvPr id="17" name="Shape 15"/>
          <p:cNvSpPr/>
          <p:nvPr/>
        </p:nvSpPr>
        <p:spPr>
          <a:xfrm>
            <a:off x="8046720" y="2148840"/>
            <a:ext cx="3429000" cy="2834640"/>
          </a:xfrm>
          <a:prstGeom prst="roundRect">
            <a:avLst>
              <a:gd name="adj" fmla="val 3871"/>
            </a:avLst>
          </a:prstGeom>
          <a:solidFill>
            <a:srgbClr val="F4F6FB"/>
          </a:solidFill>
          <a:ln w="12700">
            <a:solidFill>
              <a:srgbClr val="DDE2EE"/>
            </a:solidFill>
            <a:prstDash val="solid"/>
          </a:ln>
        </p:spPr>
      </p:sp>
      <p:sp>
        <p:nvSpPr>
          <p:cNvPr id="18" name="Shape 16"/>
          <p:cNvSpPr/>
          <p:nvPr/>
        </p:nvSpPr>
        <p:spPr>
          <a:xfrm>
            <a:off x="8394192" y="2514600"/>
            <a:ext cx="566928" cy="566928"/>
          </a:xfrm>
          <a:prstGeom prst="ellipse">
            <a:avLst/>
          </a:prstGeom>
          <a:solidFill>
            <a:srgbClr val="FFCC00"/>
          </a:solidFill>
          <a:ln w="12700">
            <a:solidFill>
              <a:srgbClr val="333333"/>
            </a:solidFill>
            <a:prstDash val="solid"/>
          </a:ln>
        </p:spPr>
      </p:sp>
      <p:sp>
        <p:nvSpPr>
          <p:cNvPr id="19" name="Text 17"/>
          <p:cNvSpPr/>
          <p:nvPr/>
        </p:nvSpPr>
        <p:spPr>
          <a:xfrm>
            <a:off x="8394192" y="2514600"/>
            <a:ext cx="566928" cy="566928"/>
          </a:xfrm>
          <a:prstGeom prst="rect">
            <a:avLst/>
          </a:prstGeom>
          <a:noFill/>
          <a:ln/>
        </p:spPr>
        <p:txBody>
          <a:bodyPr wrap="square" lIns="0" tIns="0" rIns="0" bIns="0" rtlCol="0" anchor="ctr"/>
          <a:lstStyle/>
          <a:p>
            <a:pPr algn="ctr" indent="0" marL="0">
              <a:buNone/>
            </a:pPr>
            <a:r>
              <a:rPr lang="en-US" sz="2000" b="1" dirty="0">
                <a:solidFill>
                  <a:srgbClr val="00246B"/>
                </a:solidFill>
                <a:latin typeface="Cambria" pitchFamily="34" charset="0"/>
                <a:ea typeface="Cambria" pitchFamily="34" charset="-122"/>
                <a:cs typeface="Cambria" pitchFamily="34" charset="-120"/>
              </a:rPr>
              <a:t>3</a:t>
            </a:r>
            <a:endParaRPr lang="en-US" sz="2000" dirty="0"/>
          </a:p>
        </p:txBody>
      </p:sp>
      <p:sp>
        <p:nvSpPr>
          <p:cNvPr id="20" name="Text 18"/>
          <p:cNvSpPr/>
          <p:nvPr/>
        </p:nvSpPr>
        <p:spPr>
          <a:xfrm>
            <a:off x="8394192" y="3246120"/>
            <a:ext cx="2743200" cy="365760"/>
          </a:xfrm>
          <a:prstGeom prst="rect">
            <a:avLst/>
          </a:prstGeom>
          <a:noFill/>
          <a:ln/>
        </p:spPr>
        <p:txBody>
          <a:bodyPr wrap="square" lIns="0" tIns="0" rIns="0" bIns="0" rtlCol="0" anchor="ctr"/>
          <a:lstStyle/>
          <a:p>
            <a:pPr indent="0" marL="0">
              <a:buNone/>
            </a:pPr>
            <a:r>
              <a:rPr lang="en-US" sz="1900" b="1" dirty="0">
                <a:solidFill>
                  <a:srgbClr val="003399"/>
                </a:solidFill>
                <a:latin typeface="Cambria" pitchFamily="34" charset="0"/>
                <a:ea typeface="Cambria" pitchFamily="34" charset="-122"/>
                <a:cs typeface="Cambria" pitchFamily="34" charset="-120"/>
              </a:rPr>
              <a:t>European stack</a:t>
            </a:r>
            <a:endParaRPr lang="en-US" sz="1900" dirty="0"/>
          </a:p>
        </p:txBody>
      </p:sp>
      <p:sp>
        <p:nvSpPr>
          <p:cNvPr id="21" name="Text 19"/>
          <p:cNvSpPr/>
          <p:nvPr/>
        </p:nvSpPr>
        <p:spPr>
          <a:xfrm>
            <a:off x="8394192" y="3703320"/>
            <a:ext cx="2743200" cy="1143000"/>
          </a:xfrm>
          <a:prstGeom prst="rect">
            <a:avLst/>
          </a:prstGeom>
          <a:noFill/>
          <a:ln/>
        </p:spPr>
        <p:txBody>
          <a:bodyPr wrap="square" lIns="0" tIns="0" rIns="0" bIns="0" rtlCol="0" anchor="ctr"/>
          <a:lstStyle/>
          <a:p>
            <a:pPr indent="0" marL="0">
              <a:lnSpc>
                <a:spcPts val="2000"/>
              </a:lnSpc>
              <a:buNone/>
            </a:pPr>
            <a:r>
              <a:rPr lang="en-US" sz="1350" dirty="0">
                <a:solidFill>
                  <a:srgbClr val="5A6480"/>
                </a:solidFill>
                <a:latin typeface="Calibri" pitchFamily="34" charset="0"/>
                <a:ea typeface="Calibri" pitchFamily="34" charset="-122"/>
                <a:cs typeface="Calibri" pitchFamily="34" charset="-120"/>
              </a:rPr>
              <a:t>Talent, compute, demand, and capital compound under European control.</a:t>
            </a:r>
            <a:endParaRPr lang="en-US" sz="1350" dirty="0"/>
          </a:p>
        </p:txBody>
      </p:sp>
      <p:sp>
        <p:nvSpPr>
          <p:cNvPr id="22" name="Text 20"/>
          <p:cNvSpPr/>
          <p:nvPr/>
        </p:nvSpPr>
        <p:spPr>
          <a:xfrm>
            <a:off x="548640" y="5257800"/>
            <a:ext cx="10607040" cy="457200"/>
          </a:xfrm>
          <a:prstGeom prst="rect">
            <a:avLst/>
          </a:prstGeom>
          <a:noFill/>
          <a:ln/>
        </p:spPr>
        <p:txBody>
          <a:bodyPr wrap="square" lIns="0" tIns="0" rIns="0" bIns="0" rtlCol="0" anchor="ctr"/>
          <a:lstStyle/>
          <a:p>
            <a:pPr algn="ctr" indent="0" marL="0">
              <a:buNone/>
            </a:pPr>
            <a:r>
              <a:rPr lang="en-US" sz="1800" b="1" i="1" dirty="0">
                <a:solidFill>
                  <a:srgbClr val="111A33"/>
                </a:solidFill>
                <a:latin typeface="Cambria" pitchFamily="34" charset="0"/>
                <a:ea typeface="Cambria" pitchFamily="34" charset="-122"/>
                <a:cs typeface="Cambria" pitchFamily="34" charset="-120"/>
              </a:rPr>
              <a:t>Model control becomes market architecture.</a:t>
            </a:r>
            <a:endParaRPr lang="en-US" sz="1800" dirty="0"/>
          </a:p>
        </p:txBody>
      </p:sp>
      <p:sp>
        <p:nvSpPr>
          <p:cNvPr id="23" name="Text 21"/>
          <p:cNvSpPr/>
          <p:nvPr/>
        </p:nvSpPr>
        <p:spPr>
          <a:xfrm>
            <a:off x="548640" y="6263640"/>
            <a:ext cx="7315200" cy="274320"/>
          </a:xfrm>
          <a:prstGeom prst="rect">
            <a:avLst/>
          </a:prstGeom>
          <a:noFill/>
          <a:ln/>
        </p:spPr>
        <p:txBody>
          <a:bodyPr wrap="square" lIns="0" tIns="0" rIns="0" bIns="0" rtlCol="0" anchor="ctr"/>
          <a:lstStyle/>
          <a:p>
            <a:pPr indent="0" marL="0">
              <a:buNone/>
            </a:pPr>
            <a:r>
              <a:rPr lang="en-US" sz="950" dirty="0">
                <a:solidFill>
                  <a:srgbClr val="5A6480"/>
                </a:solidFill>
                <a:latin typeface="Calibri" pitchFamily="34" charset="0"/>
                <a:ea typeface="Calibri" pitchFamily="34" charset="-122"/>
                <a:cs typeface="Calibri" pitchFamily="34" charset="-120"/>
              </a:rPr>
              <a:t>Mistral AI  |  Company thesis and European AI stack</a:t>
            </a:r>
            <a:endParaRPr lang="en-US" sz="950" dirty="0"/>
          </a:p>
        </p:txBody>
      </p:sp>
      <p:sp>
        <p:nvSpPr>
          <p:cNvPr id="24" name="Text 22"/>
          <p:cNvSpPr/>
          <p:nvPr/>
        </p:nvSpPr>
        <p:spPr>
          <a:xfrm>
            <a:off x="10241280" y="6263640"/>
            <a:ext cx="1371600" cy="274320"/>
          </a:xfrm>
          <a:prstGeom prst="rect">
            <a:avLst/>
          </a:prstGeom>
          <a:noFill/>
          <a:ln/>
        </p:spPr>
        <p:txBody>
          <a:bodyPr wrap="square" lIns="0" tIns="0" rIns="0" bIns="0" rtlCol="0" anchor="ctr"/>
          <a:lstStyle/>
          <a:p>
            <a:pPr algn="r" indent="0" marL="0">
              <a:buNone/>
            </a:pPr>
            <a:r>
              <a:rPr lang="en-US" sz="950" dirty="0">
                <a:solidFill>
                  <a:srgbClr val="5A6480"/>
                </a:solidFill>
                <a:latin typeface="Calibri" pitchFamily="34" charset="0"/>
                <a:ea typeface="Calibri" pitchFamily="34" charset="-122"/>
                <a:cs typeface="Calibri" pitchFamily="34" charset="-120"/>
              </a:rPr>
              <a:t>2 / 8</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75488"/>
            <a:ext cx="457200" cy="457200"/>
          </a:xfrm>
          <a:prstGeom prst="ellipse">
            <a:avLst/>
          </a:prstGeom>
          <a:solidFill>
            <a:srgbClr val="003399"/>
          </a:solidFill>
          <a:ln w="12700">
            <a:solidFill>
              <a:srgbClr val="333333"/>
            </a:solidFill>
            <a:prstDash val="solid"/>
          </a:ln>
        </p:spPr>
      </p:sp>
      <p:sp>
        <p:nvSpPr>
          <p:cNvPr id="3" name="Text 1"/>
          <p:cNvSpPr/>
          <p:nvPr/>
        </p:nvSpPr>
        <p:spPr>
          <a:xfrm>
            <a:off x="548640" y="475488"/>
            <a:ext cx="457200" cy="457200"/>
          </a:xfrm>
          <a:prstGeom prst="rect">
            <a:avLst/>
          </a:prstGeom>
          <a:noFill/>
          <a:ln/>
        </p:spPr>
        <p:txBody>
          <a:bodyPr wrap="square" lIns="0" tIns="0" rIns="0" bIns="0" rtlCol="0" anchor="ctr"/>
          <a:lstStyle/>
          <a:p>
            <a:pPr algn="ctr" indent="0" marL="0">
              <a:buNone/>
            </a:pPr>
            <a:r>
              <a:rPr lang="en-US" sz="1300" b="1" dirty="0">
                <a:solidFill>
                  <a:srgbClr val="FFCC00"/>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43000" y="502920"/>
            <a:ext cx="7315200" cy="256032"/>
          </a:xfrm>
          <a:prstGeom prst="rect">
            <a:avLst/>
          </a:prstGeom>
          <a:noFill/>
          <a:ln/>
        </p:spPr>
        <p:txBody>
          <a:bodyPr wrap="square" lIns="0" tIns="0" rIns="0" bIns="0" rtlCol="0" anchor="ctr"/>
          <a:lstStyle/>
          <a:p>
            <a:pPr indent="0" marL="0">
              <a:buNone/>
            </a:pPr>
            <a:r>
              <a:rPr lang="en-US" sz="1100" b="1" spc="200" kern="0" dirty="0">
                <a:solidFill>
                  <a:srgbClr val="003399"/>
                </a:solidFill>
                <a:latin typeface="Calibri" pitchFamily="34" charset="0"/>
                <a:ea typeface="Calibri" pitchFamily="34" charset="-122"/>
                <a:cs typeface="Calibri" pitchFamily="34" charset="-120"/>
              </a:rPr>
              <a:t>STRATEGIC PROBLEM</a:t>
            </a:r>
            <a:endParaRPr lang="en-US" sz="1100" dirty="0"/>
          </a:p>
        </p:txBody>
      </p:sp>
      <p:sp>
        <p:nvSpPr>
          <p:cNvPr id="5" name="Text 3"/>
          <p:cNvSpPr/>
          <p:nvPr/>
        </p:nvSpPr>
        <p:spPr>
          <a:xfrm>
            <a:off x="1133856" y="749808"/>
            <a:ext cx="9601200" cy="566928"/>
          </a:xfrm>
          <a:prstGeom prst="rect">
            <a:avLst/>
          </a:prstGeom>
          <a:noFill/>
          <a:ln/>
        </p:spPr>
        <p:txBody>
          <a:bodyPr wrap="square" lIns="0" tIns="0" rIns="0" bIns="0" rtlCol="0" anchor="ctr"/>
          <a:lstStyle/>
          <a:p>
            <a:pPr indent="0" marL="0">
              <a:buNone/>
            </a:pPr>
            <a:r>
              <a:rPr lang="en-US" sz="3200" b="1" dirty="0">
                <a:solidFill>
                  <a:srgbClr val="111A33"/>
                </a:solidFill>
                <a:latin typeface="Cambria" pitchFamily="34" charset="0"/>
                <a:ea typeface="Cambria" pitchFamily="34" charset="-122"/>
                <a:cs typeface="Cambria" pitchFamily="34" charset="-120"/>
              </a:rPr>
              <a:t>The model layer is the choke point</a:t>
            </a:r>
            <a:endParaRPr lang="en-US" sz="3200" dirty="0"/>
          </a:p>
        </p:txBody>
      </p:sp>
      <p:sp>
        <p:nvSpPr>
          <p:cNvPr id="6" name="Text 4"/>
          <p:cNvSpPr/>
          <p:nvPr/>
        </p:nvSpPr>
        <p:spPr>
          <a:xfrm>
            <a:off x="1152144" y="1389888"/>
            <a:ext cx="9509760" cy="365760"/>
          </a:xfrm>
          <a:prstGeom prst="rect">
            <a:avLst/>
          </a:prstGeom>
          <a:noFill/>
          <a:ln/>
        </p:spPr>
        <p:txBody>
          <a:bodyPr wrap="square" lIns="0" tIns="0" rIns="0" bIns="0" rtlCol="0" anchor="ctr"/>
          <a:lstStyle/>
          <a:p>
            <a:pPr indent="0" marL="0">
              <a:buNone/>
            </a:pPr>
            <a:r>
              <a:rPr lang="en-US" sz="1450" i="1" dirty="0">
                <a:solidFill>
                  <a:srgbClr val="5A6480"/>
                </a:solidFill>
                <a:latin typeface="Calibri" pitchFamily="34" charset="0"/>
                <a:ea typeface="Calibri" pitchFamily="34" charset="-122"/>
                <a:cs typeface="Calibri" pitchFamily="34" charset="-120"/>
              </a:rPr>
              <a:t>Value, trust, and autonomy concentrate where replication is hardest: models trained with scarce compute, data, and talent.</a:t>
            </a:r>
            <a:endParaRPr lang="en-US" sz="1450" dirty="0"/>
          </a:p>
        </p:txBody>
      </p:sp>
      <p:sp>
        <p:nvSpPr>
          <p:cNvPr id="7" name="Shape 5"/>
          <p:cNvSpPr/>
          <p:nvPr/>
        </p:nvSpPr>
        <p:spPr>
          <a:xfrm>
            <a:off x="548640" y="2103120"/>
            <a:ext cx="3429000" cy="1691640"/>
          </a:xfrm>
          <a:prstGeom prst="roundRect">
            <a:avLst>
              <a:gd name="adj" fmla="val 6486"/>
            </a:avLst>
          </a:prstGeom>
          <a:solidFill>
            <a:srgbClr val="003399"/>
          </a:solidFill>
          <a:ln w="12700">
            <a:solidFill>
              <a:srgbClr val="333333"/>
            </a:solidFill>
            <a:prstDash val="solid"/>
          </a:ln>
        </p:spPr>
      </p:sp>
      <p:sp>
        <p:nvSpPr>
          <p:cNvPr id="8" name="Text 6"/>
          <p:cNvSpPr/>
          <p:nvPr/>
        </p:nvSpPr>
        <p:spPr>
          <a:xfrm>
            <a:off x="868680" y="2286000"/>
            <a:ext cx="2788920" cy="868680"/>
          </a:xfrm>
          <a:prstGeom prst="rect">
            <a:avLst/>
          </a:prstGeom>
          <a:noFill/>
          <a:ln/>
        </p:spPr>
        <p:txBody>
          <a:bodyPr wrap="square" lIns="0" tIns="0" rIns="0" bIns="0" rtlCol="0" anchor="ctr"/>
          <a:lstStyle/>
          <a:p>
            <a:pPr indent="0" marL="0">
              <a:buNone/>
            </a:pPr>
            <a:r>
              <a:rPr lang="en-US" sz="4400" b="1" dirty="0">
                <a:solidFill>
                  <a:srgbClr val="FFCC00"/>
                </a:solidFill>
                <a:latin typeface="Cambria" pitchFamily="34" charset="0"/>
                <a:ea typeface="Cambria" pitchFamily="34" charset="-122"/>
                <a:cs typeface="Cambria" pitchFamily="34" charset="-120"/>
              </a:rPr>
              <a:t>$110B</a:t>
            </a:r>
            <a:endParaRPr lang="en-US" sz="4400" dirty="0"/>
          </a:p>
        </p:txBody>
      </p:sp>
      <p:sp>
        <p:nvSpPr>
          <p:cNvPr id="9" name="Text 7"/>
          <p:cNvSpPr/>
          <p:nvPr/>
        </p:nvSpPr>
        <p:spPr>
          <a:xfrm>
            <a:off x="868680" y="3154680"/>
            <a:ext cx="2788920" cy="502920"/>
          </a:xfrm>
          <a:prstGeom prst="rect">
            <a:avLst/>
          </a:prstGeom>
          <a:noFill/>
          <a:ln/>
        </p:spPr>
        <p:txBody>
          <a:bodyPr wrap="square" lIns="0" tIns="0" rIns="0" bIns="0" rtlCol="0" anchor="ctr"/>
          <a:lstStyle/>
          <a:p>
            <a:pPr indent="0" marL="0">
              <a:buNone/>
            </a:pPr>
            <a:r>
              <a:rPr lang="en-US" sz="1250" dirty="0">
                <a:solidFill>
                  <a:srgbClr val="C9D4F0"/>
                </a:solidFill>
                <a:latin typeface="Calibri" pitchFamily="34" charset="0"/>
                <a:ea typeface="Calibri" pitchFamily="34" charset="-122"/>
                <a:cs typeface="Calibri" pitchFamily="34" charset="-120"/>
              </a:rPr>
              <a:t>projected 2030 generative AI market</a:t>
            </a:r>
            <a:endParaRPr lang="en-US" sz="1250" dirty="0"/>
          </a:p>
        </p:txBody>
      </p:sp>
      <p:sp>
        <p:nvSpPr>
          <p:cNvPr id="10" name="Shape 8"/>
          <p:cNvSpPr/>
          <p:nvPr/>
        </p:nvSpPr>
        <p:spPr>
          <a:xfrm>
            <a:off x="4297680" y="2103120"/>
            <a:ext cx="3429000" cy="1691640"/>
          </a:xfrm>
          <a:prstGeom prst="roundRect">
            <a:avLst>
              <a:gd name="adj" fmla="val 6486"/>
            </a:avLst>
          </a:prstGeom>
          <a:solidFill>
            <a:srgbClr val="003399"/>
          </a:solidFill>
          <a:ln w="12700">
            <a:solidFill>
              <a:srgbClr val="333333"/>
            </a:solidFill>
            <a:prstDash val="solid"/>
          </a:ln>
        </p:spPr>
      </p:sp>
      <p:sp>
        <p:nvSpPr>
          <p:cNvPr id="11" name="Text 9"/>
          <p:cNvSpPr/>
          <p:nvPr/>
        </p:nvSpPr>
        <p:spPr>
          <a:xfrm>
            <a:off x="4617720" y="2286000"/>
            <a:ext cx="2788920" cy="868680"/>
          </a:xfrm>
          <a:prstGeom prst="rect">
            <a:avLst/>
          </a:prstGeom>
          <a:noFill/>
          <a:ln/>
        </p:spPr>
        <p:txBody>
          <a:bodyPr wrap="square" lIns="0" tIns="0" rIns="0" bIns="0" rtlCol="0" anchor="ctr"/>
          <a:lstStyle/>
          <a:p>
            <a:pPr indent="0" marL="0">
              <a:buNone/>
            </a:pPr>
            <a:r>
              <a:rPr lang="en-US" sz="4400" b="1" dirty="0">
                <a:solidFill>
                  <a:srgbClr val="FFCC00"/>
                </a:solidFill>
                <a:latin typeface="Cambria" pitchFamily="34" charset="0"/>
                <a:ea typeface="Cambria" pitchFamily="34" charset="-122"/>
                <a:cs typeface="Cambria" pitchFamily="34" charset="-120"/>
              </a:rPr>
              <a:t>35%</a:t>
            </a:r>
            <a:endParaRPr lang="en-US" sz="4400" dirty="0"/>
          </a:p>
        </p:txBody>
      </p:sp>
      <p:sp>
        <p:nvSpPr>
          <p:cNvPr id="12" name="Text 10"/>
          <p:cNvSpPr/>
          <p:nvPr/>
        </p:nvSpPr>
        <p:spPr>
          <a:xfrm>
            <a:off x="4617720" y="3154680"/>
            <a:ext cx="2788920" cy="502920"/>
          </a:xfrm>
          <a:prstGeom prst="rect">
            <a:avLst/>
          </a:prstGeom>
          <a:noFill/>
          <a:ln/>
        </p:spPr>
        <p:txBody>
          <a:bodyPr wrap="square" lIns="0" tIns="0" rIns="0" bIns="0" rtlCol="0" anchor="ctr"/>
          <a:lstStyle/>
          <a:p>
            <a:pPr indent="0" marL="0">
              <a:buNone/>
            </a:pPr>
            <a:r>
              <a:rPr lang="en-US" sz="1250" dirty="0">
                <a:solidFill>
                  <a:srgbClr val="C9D4F0"/>
                </a:solidFill>
                <a:latin typeface="Calibri" pitchFamily="34" charset="0"/>
                <a:ea typeface="Calibri" pitchFamily="34" charset="-122"/>
                <a:cs typeface="Calibri" pitchFamily="34" charset="-120"/>
              </a:rPr>
              <a:t>estimated annual market growth</a:t>
            </a:r>
            <a:endParaRPr lang="en-US" sz="1250" dirty="0"/>
          </a:p>
        </p:txBody>
      </p:sp>
      <p:sp>
        <p:nvSpPr>
          <p:cNvPr id="13" name="Shape 11"/>
          <p:cNvSpPr/>
          <p:nvPr/>
        </p:nvSpPr>
        <p:spPr>
          <a:xfrm>
            <a:off x="8046720" y="2103120"/>
            <a:ext cx="3429000" cy="1691640"/>
          </a:xfrm>
          <a:prstGeom prst="roundRect">
            <a:avLst>
              <a:gd name="adj" fmla="val 6486"/>
            </a:avLst>
          </a:prstGeom>
          <a:solidFill>
            <a:srgbClr val="003399"/>
          </a:solidFill>
          <a:ln w="12700">
            <a:solidFill>
              <a:srgbClr val="333333"/>
            </a:solidFill>
            <a:prstDash val="solid"/>
          </a:ln>
        </p:spPr>
      </p:sp>
      <p:sp>
        <p:nvSpPr>
          <p:cNvPr id="14" name="Text 12"/>
          <p:cNvSpPr/>
          <p:nvPr/>
        </p:nvSpPr>
        <p:spPr>
          <a:xfrm>
            <a:off x="8366760" y="2286000"/>
            <a:ext cx="2788920" cy="868680"/>
          </a:xfrm>
          <a:prstGeom prst="rect">
            <a:avLst/>
          </a:prstGeom>
          <a:noFill/>
          <a:ln/>
        </p:spPr>
        <p:txBody>
          <a:bodyPr wrap="square" lIns="0" tIns="0" rIns="0" bIns="0" rtlCol="0" anchor="ctr"/>
          <a:lstStyle/>
          <a:p>
            <a:pPr indent="0" marL="0">
              <a:buNone/>
            </a:pPr>
            <a:r>
              <a:rPr lang="en-US" sz="4400" b="1" dirty="0">
                <a:solidFill>
                  <a:srgbClr val="FFCC00"/>
                </a:solidFill>
                <a:latin typeface="Cambria" pitchFamily="34" charset="0"/>
                <a:ea typeface="Cambria" pitchFamily="34" charset="-122"/>
                <a:cs typeface="Cambria" pitchFamily="34" charset="-120"/>
              </a:rPr>
              <a:t>450M+</a:t>
            </a:r>
            <a:endParaRPr lang="en-US" sz="4400" dirty="0"/>
          </a:p>
        </p:txBody>
      </p:sp>
      <p:sp>
        <p:nvSpPr>
          <p:cNvPr id="15" name="Text 13"/>
          <p:cNvSpPr/>
          <p:nvPr/>
        </p:nvSpPr>
        <p:spPr>
          <a:xfrm>
            <a:off x="8366760" y="3154680"/>
            <a:ext cx="2788920" cy="502920"/>
          </a:xfrm>
          <a:prstGeom prst="rect">
            <a:avLst/>
          </a:prstGeom>
          <a:noFill/>
          <a:ln/>
        </p:spPr>
        <p:txBody>
          <a:bodyPr wrap="square" lIns="0" tIns="0" rIns="0" bIns="0" rtlCol="0" anchor="ctr"/>
          <a:lstStyle/>
          <a:p>
            <a:pPr indent="0" marL="0">
              <a:buNone/>
            </a:pPr>
            <a:r>
              <a:rPr lang="en-US" sz="1250" dirty="0">
                <a:solidFill>
                  <a:srgbClr val="C9D4F0"/>
                </a:solidFill>
                <a:latin typeface="Calibri" pitchFamily="34" charset="0"/>
                <a:ea typeface="Calibri" pitchFamily="34" charset="-122"/>
                <a:cs typeface="Calibri" pitchFamily="34" charset="-120"/>
              </a:rPr>
              <a:t>people in the EU single market</a:t>
            </a:r>
            <a:endParaRPr lang="en-US" sz="1250" dirty="0"/>
          </a:p>
        </p:txBody>
      </p:sp>
      <p:sp>
        <p:nvSpPr>
          <p:cNvPr id="16" name="Text 14"/>
          <p:cNvSpPr/>
          <p:nvPr/>
        </p:nvSpPr>
        <p:spPr>
          <a:xfrm>
            <a:off x="548640" y="4114800"/>
            <a:ext cx="7315200" cy="320040"/>
          </a:xfrm>
          <a:prstGeom prst="rect">
            <a:avLst/>
          </a:prstGeom>
          <a:noFill/>
          <a:ln/>
        </p:spPr>
        <p:txBody>
          <a:bodyPr wrap="square" lIns="0" tIns="0" rIns="0" bIns="0" rtlCol="0" anchor="ctr"/>
          <a:lstStyle/>
          <a:p>
            <a:pPr indent="0" marL="0">
              <a:buNone/>
            </a:pPr>
            <a:r>
              <a:rPr lang="en-US" sz="1200" b="1" spc="150" kern="0" dirty="0">
                <a:solidFill>
                  <a:srgbClr val="003399"/>
                </a:solidFill>
                <a:latin typeface="Calibri" pitchFamily="34" charset="0"/>
                <a:ea typeface="Calibri" pitchFamily="34" charset="-122"/>
                <a:cs typeface="Calibri" pitchFamily="34" charset="-120"/>
              </a:rPr>
              <a:t>Three structural constraints on closed stacks</a:t>
            </a:r>
            <a:endParaRPr lang="en-US" sz="1200" dirty="0"/>
          </a:p>
        </p:txBody>
      </p:sp>
      <p:sp>
        <p:nvSpPr>
          <p:cNvPr id="17" name="Shape 15"/>
          <p:cNvSpPr/>
          <p:nvPr/>
        </p:nvSpPr>
        <p:spPr>
          <a:xfrm>
            <a:off x="566928" y="4608576"/>
            <a:ext cx="146304" cy="146304"/>
          </a:xfrm>
          <a:prstGeom prst="ellipse">
            <a:avLst/>
          </a:prstGeom>
          <a:solidFill>
            <a:srgbClr val="FFCC00"/>
          </a:solidFill>
          <a:ln w="12700">
            <a:solidFill>
              <a:srgbClr val="333333"/>
            </a:solidFill>
            <a:prstDash val="solid"/>
          </a:ln>
        </p:spPr>
      </p:sp>
      <p:sp>
        <p:nvSpPr>
          <p:cNvPr id="18" name="Text 16"/>
          <p:cNvSpPr/>
          <p:nvPr/>
        </p:nvSpPr>
        <p:spPr>
          <a:xfrm>
            <a:off x="914400" y="4526280"/>
            <a:ext cx="10058400" cy="365760"/>
          </a:xfrm>
          <a:prstGeom prst="rect">
            <a:avLst/>
          </a:prstGeom>
          <a:noFill/>
          <a:ln/>
        </p:spPr>
        <p:txBody>
          <a:bodyPr wrap="square" lIns="0" tIns="0" rIns="0" bIns="0" rtlCol="0" anchor="ctr"/>
          <a:lstStyle/>
          <a:p>
            <a:pPr indent="0" marL="0">
              <a:buNone/>
            </a:pPr>
            <a:r>
              <a:rPr lang="en-US" sz="1450" dirty="0">
                <a:solidFill>
                  <a:srgbClr val="111A33"/>
                </a:solidFill>
                <a:latin typeface="Calibri" pitchFamily="34" charset="0"/>
                <a:ea typeface="Calibri" pitchFamily="34" charset="-122"/>
                <a:cs typeface="Calibri" pitchFamily="34" charset="-120"/>
              </a:rPr>
              <a:t>Closed APIs limit inspection and enterprise data control.</a:t>
            </a:r>
            <a:endParaRPr lang="en-US" sz="1450" dirty="0"/>
          </a:p>
        </p:txBody>
      </p:sp>
      <p:sp>
        <p:nvSpPr>
          <p:cNvPr id="19" name="Shape 17"/>
          <p:cNvSpPr/>
          <p:nvPr/>
        </p:nvSpPr>
        <p:spPr>
          <a:xfrm>
            <a:off x="566928" y="5111496"/>
            <a:ext cx="146304" cy="146304"/>
          </a:xfrm>
          <a:prstGeom prst="ellipse">
            <a:avLst/>
          </a:prstGeom>
          <a:solidFill>
            <a:srgbClr val="FFCC00"/>
          </a:solidFill>
          <a:ln w="12700">
            <a:solidFill>
              <a:srgbClr val="333333"/>
            </a:solidFill>
            <a:prstDash val="solid"/>
          </a:ln>
        </p:spPr>
      </p:sp>
      <p:sp>
        <p:nvSpPr>
          <p:cNvPr id="20" name="Text 18"/>
          <p:cNvSpPr/>
          <p:nvPr/>
        </p:nvSpPr>
        <p:spPr>
          <a:xfrm>
            <a:off x="914400" y="5029200"/>
            <a:ext cx="10058400" cy="365760"/>
          </a:xfrm>
          <a:prstGeom prst="rect">
            <a:avLst/>
          </a:prstGeom>
          <a:noFill/>
          <a:ln/>
        </p:spPr>
        <p:txBody>
          <a:bodyPr wrap="square" lIns="0" tIns="0" rIns="0" bIns="0" rtlCol="0" anchor="ctr"/>
          <a:lstStyle/>
          <a:p>
            <a:pPr indent="0" marL="0">
              <a:buNone/>
            </a:pPr>
            <a:r>
              <a:rPr lang="en-US" sz="1450" dirty="0">
                <a:solidFill>
                  <a:srgbClr val="111A33"/>
                </a:solidFill>
                <a:latin typeface="Calibri" pitchFamily="34" charset="0"/>
                <a:ea typeface="Calibri" pitchFamily="34" charset="-122"/>
                <a:cs typeface="Calibri" pitchFamily="34" charset="-120"/>
              </a:rPr>
              <a:t>Integration stays shallow when only text outputs are exposed.</a:t>
            </a:r>
            <a:endParaRPr lang="en-US" sz="1450" dirty="0"/>
          </a:p>
        </p:txBody>
      </p:sp>
      <p:sp>
        <p:nvSpPr>
          <p:cNvPr id="21" name="Shape 19"/>
          <p:cNvSpPr/>
          <p:nvPr/>
        </p:nvSpPr>
        <p:spPr>
          <a:xfrm>
            <a:off x="566928" y="5614416"/>
            <a:ext cx="146304" cy="146304"/>
          </a:xfrm>
          <a:prstGeom prst="ellipse">
            <a:avLst/>
          </a:prstGeom>
          <a:solidFill>
            <a:srgbClr val="FFCC00"/>
          </a:solidFill>
          <a:ln w="12700">
            <a:solidFill>
              <a:srgbClr val="333333"/>
            </a:solidFill>
            <a:prstDash val="solid"/>
          </a:ln>
        </p:spPr>
      </p:sp>
      <p:sp>
        <p:nvSpPr>
          <p:cNvPr id="22" name="Text 20"/>
          <p:cNvSpPr/>
          <p:nvPr/>
        </p:nvSpPr>
        <p:spPr>
          <a:xfrm>
            <a:off x="914400" y="5532120"/>
            <a:ext cx="10058400" cy="365760"/>
          </a:xfrm>
          <a:prstGeom prst="rect">
            <a:avLst/>
          </a:prstGeom>
          <a:noFill/>
          <a:ln/>
        </p:spPr>
        <p:txBody>
          <a:bodyPr wrap="square" lIns="0" tIns="0" rIns="0" bIns="0" rtlCol="0" anchor="ctr"/>
          <a:lstStyle/>
          <a:p>
            <a:pPr indent="0" marL="0">
              <a:buNone/>
            </a:pPr>
            <a:r>
              <a:rPr lang="en-US" sz="1450" dirty="0">
                <a:solidFill>
                  <a:srgbClr val="111A33"/>
                </a:solidFill>
                <a:latin typeface="Calibri" pitchFamily="34" charset="0"/>
                <a:ea typeface="Calibri" pitchFamily="34" charset="-122"/>
                <a:cs typeface="Calibri" pitchFamily="34" charset="-120"/>
              </a:rPr>
              <a:t>Foreign AI stacks create strategic and legal dependency.</a:t>
            </a:r>
            <a:endParaRPr lang="en-US" sz="1450" dirty="0"/>
          </a:p>
        </p:txBody>
      </p:sp>
      <p:sp>
        <p:nvSpPr>
          <p:cNvPr id="23" name="Text 21"/>
          <p:cNvSpPr/>
          <p:nvPr/>
        </p:nvSpPr>
        <p:spPr>
          <a:xfrm>
            <a:off x="548640" y="6263640"/>
            <a:ext cx="7315200" cy="274320"/>
          </a:xfrm>
          <a:prstGeom prst="rect">
            <a:avLst/>
          </a:prstGeom>
          <a:noFill/>
          <a:ln/>
        </p:spPr>
        <p:txBody>
          <a:bodyPr wrap="square" lIns="0" tIns="0" rIns="0" bIns="0" rtlCol="0" anchor="ctr"/>
          <a:lstStyle/>
          <a:p>
            <a:pPr indent="0" marL="0">
              <a:buNone/>
            </a:pPr>
            <a:r>
              <a:rPr lang="en-US" sz="950" dirty="0">
                <a:solidFill>
                  <a:srgbClr val="5A6480"/>
                </a:solidFill>
                <a:latin typeface="Calibri" pitchFamily="34" charset="0"/>
                <a:ea typeface="Calibri" pitchFamily="34" charset="-122"/>
                <a:cs typeface="Calibri" pitchFamily="34" charset="-120"/>
              </a:rPr>
              <a:t>Mistral AI  |  Company thesis and European AI stack</a:t>
            </a:r>
            <a:endParaRPr lang="en-US" sz="950" dirty="0"/>
          </a:p>
        </p:txBody>
      </p:sp>
      <p:sp>
        <p:nvSpPr>
          <p:cNvPr id="24" name="Text 22"/>
          <p:cNvSpPr/>
          <p:nvPr/>
        </p:nvSpPr>
        <p:spPr>
          <a:xfrm>
            <a:off x="10241280" y="6263640"/>
            <a:ext cx="1371600" cy="274320"/>
          </a:xfrm>
          <a:prstGeom prst="rect">
            <a:avLst/>
          </a:prstGeom>
          <a:noFill/>
          <a:ln/>
        </p:spPr>
        <p:txBody>
          <a:bodyPr wrap="square" lIns="0" tIns="0" rIns="0" bIns="0" rtlCol="0" anchor="ctr"/>
          <a:lstStyle/>
          <a:p>
            <a:pPr algn="r" indent="0" marL="0">
              <a:buNone/>
            </a:pPr>
            <a:r>
              <a:rPr lang="en-US" sz="950" dirty="0">
                <a:solidFill>
                  <a:srgbClr val="5A6480"/>
                </a:solidFill>
                <a:latin typeface="Calibri" pitchFamily="34" charset="0"/>
                <a:ea typeface="Calibri" pitchFamily="34" charset="-122"/>
                <a:cs typeface="Calibri" pitchFamily="34" charset="-120"/>
              </a:rPr>
              <a:t>3 / 8</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75488"/>
            <a:ext cx="457200" cy="457200"/>
          </a:xfrm>
          <a:prstGeom prst="ellipse">
            <a:avLst/>
          </a:prstGeom>
          <a:solidFill>
            <a:srgbClr val="003399"/>
          </a:solidFill>
          <a:ln w="12700">
            <a:solidFill>
              <a:srgbClr val="333333"/>
            </a:solidFill>
            <a:prstDash val="solid"/>
          </a:ln>
        </p:spPr>
      </p:sp>
      <p:sp>
        <p:nvSpPr>
          <p:cNvPr id="3" name="Text 1"/>
          <p:cNvSpPr/>
          <p:nvPr/>
        </p:nvSpPr>
        <p:spPr>
          <a:xfrm>
            <a:off x="548640" y="475488"/>
            <a:ext cx="457200" cy="457200"/>
          </a:xfrm>
          <a:prstGeom prst="rect">
            <a:avLst/>
          </a:prstGeom>
          <a:noFill/>
          <a:ln/>
        </p:spPr>
        <p:txBody>
          <a:bodyPr wrap="square" lIns="0" tIns="0" rIns="0" bIns="0" rtlCol="0" anchor="ctr"/>
          <a:lstStyle/>
          <a:p>
            <a:pPr algn="ctr" indent="0" marL="0">
              <a:buNone/>
            </a:pPr>
            <a:r>
              <a:rPr lang="en-US" sz="1300" b="1" dirty="0">
                <a:solidFill>
                  <a:srgbClr val="FFCC00"/>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43000" y="502920"/>
            <a:ext cx="7315200" cy="256032"/>
          </a:xfrm>
          <a:prstGeom prst="rect">
            <a:avLst/>
          </a:prstGeom>
          <a:noFill/>
          <a:ln/>
        </p:spPr>
        <p:txBody>
          <a:bodyPr wrap="square" lIns="0" tIns="0" rIns="0" bIns="0" rtlCol="0" anchor="ctr"/>
          <a:lstStyle/>
          <a:p>
            <a:pPr indent="0" marL="0">
              <a:buNone/>
            </a:pPr>
            <a:r>
              <a:rPr lang="en-US" sz="1100" b="1" spc="200" kern="0" dirty="0">
                <a:solidFill>
                  <a:srgbClr val="003399"/>
                </a:solidFill>
                <a:latin typeface="Calibri" pitchFamily="34" charset="0"/>
                <a:ea typeface="Calibri" pitchFamily="34" charset="-122"/>
                <a:cs typeface="Calibri" pitchFamily="34" charset="-120"/>
              </a:rPr>
              <a:t>MARKET SIZING</a:t>
            </a:r>
            <a:endParaRPr lang="en-US" sz="1100" dirty="0"/>
          </a:p>
        </p:txBody>
      </p:sp>
      <p:sp>
        <p:nvSpPr>
          <p:cNvPr id="5" name="Text 3"/>
          <p:cNvSpPr/>
          <p:nvPr/>
        </p:nvSpPr>
        <p:spPr>
          <a:xfrm>
            <a:off x="1133856" y="749808"/>
            <a:ext cx="9601200" cy="566928"/>
          </a:xfrm>
          <a:prstGeom prst="rect">
            <a:avLst/>
          </a:prstGeom>
          <a:noFill/>
          <a:ln/>
        </p:spPr>
        <p:txBody>
          <a:bodyPr wrap="square" lIns="0" tIns="0" rIns="0" bIns="0" rtlCol="0" anchor="ctr"/>
          <a:lstStyle/>
          <a:p>
            <a:pPr indent="0" marL="0">
              <a:buNone/>
            </a:pPr>
            <a:r>
              <a:rPr lang="en-US" sz="3200" b="1" dirty="0">
                <a:solidFill>
                  <a:srgbClr val="111A33"/>
                </a:solidFill>
                <a:latin typeface="Cambria" pitchFamily="34" charset="0"/>
                <a:ea typeface="Cambria" pitchFamily="34" charset="-122"/>
                <a:cs typeface="Cambria" pitchFamily="34" charset="-120"/>
              </a:rPr>
              <a:t>The addressable market, built from the bottom up</a:t>
            </a:r>
            <a:endParaRPr lang="en-US" sz="3200" dirty="0"/>
          </a:p>
        </p:txBody>
      </p:sp>
      <p:sp>
        <p:nvSpPr>
          <p:cNvPr id="6" name="Text 4"/>
          <p:cNvSpPr/>
          <p:nvPr/>
        </p:nvSpPr>
        <p:spPr>
          <a:xfrm>
            <a:off x="1152144" y="1389888"/>
            <a:ext cx="9509760" cy="365760"/>
          </a:xfrm>
          <a:prstGeom prst="rect">
            <a:avLst/>
          </a:prstGeom>
          <a:noFill/>
          <a:ln/>
        </p:spPr>
        <p:txBody>
          <a:bodyPr wrap="square" lIns="0" tIns="0" rIns="0" bIns="0" rtlCol="0" anchor="ctr"/>
          <a:lstStyle/>
          <a:p>
            <a:pPr indent="0" marL="0">
              <a:buNone/>
            </a:pPr>
            <a:r>
              <a:rPr lang="en-US" sz="1450" i="1" dirty="0">
                <a:solidFill>
                  <a:srgbClr val="5A6480"/>
                </a:solidFill>
                <a:latin typeface="Calibri" pitchFamily="34" charset="0"/>
                <a:ea typeface="Calibri" pitchFamily="34" charset="-122"/>
                <a:cs typeface="Calibri" pitchFamily="34" charset="-120"/>
              </a:rPr>
              <a:t>Top-down market forecasts do not underwrite a plan. Accounts, contract values, and share do.</a:t>
            </a:r>
            <a:endParaRPr lang="en-US" sz="1450" dirty="0"/>
          </a:p>
        </p:txBody>
      </p:sp>
      <p:sp>
        <p:nvSpPr>
          <p:cNvPr id="7" name="Shape 5"/>
          <p:cNvSpPr/>
          <p:nvPr/>
        </p:nvSpPr>
        <p:spPr>
          <a:xfrm>
            <a:off x="548640" y="1965960"/>
            <a:ext cx="2468880" cy="1371600"/>
          </a:xfrm>
          <a:prstGeom prst="roundRect">
            <a:avLst>
              <a:gd name="adj" fmla="val 6667"/>
            </a:avLst>
          </a:prstGeom>
          <a:solidFill>
            <a:srgbClr val="F4F6FB"/>
          </a:solidFill>
          <a:ln w="12700">
            <a:solidFill>
              <a:srgbClr val="DDE2EE"/>
            </a:solidFill>
            <a:prstDash val="solid"/>
          </a:ln>
        </p:spPr>
      </p:sp>
      <p:sp>
        <p:nvSpPr>
          <p:cNvPr id="8" name="Text 6"/>
          <p:cNvSpPr/>
          <p:nvPr/>
        </p:nvSpPr>
        <p:spPr>
          <a:xfrm>
            <a:off x="777240" y="2103120"/>
            <a:ext cx="2011680" cy="548640"/>
          </a:xfrm>
          <a:prstGeom prst="rect">
            <a:avLst/>
          </a:prstGeom>
          <a:noFill/>
          <a:ln/>
        </p:spPr>
        <p:txBody>
          <a:bodyPr wrap="square" lIns="0" tIns="0" rIns="0" bIns="0" rtlCol="0" anchor="ctr"/>
          <a:lstStyle/>
          <a:p>
            <a:pPr indent="0" marL="0">
              <a:buNone/>
            </a:pPr>
            <a:r>
              <a:rPr lang="en-US" sz="2800" b="1" dirty="0">
                <a:solidFill>
                  <a:srgbClr val="003399"/>
                </a:solidFill>
                <a:latin typeface="Cambria" pitchFamily="34" charset="0"/>
                <a:ea typeface="Cambria" pitchFamily="34" charset="-122"/>
                <a:cs typeface="Cambria" pitchFamily="34" charset="-120"/>
              </a:rPr>
              <a:t>45,000</a:t>
            </a:r>
            <a:endParaRPr lang="en-US" sz="2800" dirty="0"/>
          </a:p>
        </p:txBody>
      </p:sp>
      <p:sp>
        <p:nvSpPr>
          <p:cNvPr id="9" name="Text 7"/>
          <p:cNvSpPr/>
          <p:nvPr/>
        </p:nvSpPr>
        <p:spPr>
          <a:xfrm>
            <a:off x="777240" y="2670048"/>
            <a:ext cx="2057400" cy="603504"/>
          </a:xfrm>
          <a:prstGeom prst="rect">
            <a:avLst/>
          </a:prstGeom>
          <a:noFill/>
          <a:ln/>
        </p:spPr>
        <p:txBody>
          <a:bodyPr wrap="square" lIns="0" tIns="0" rIns="0" bIns="0" rtlCol="0" anchor="ctr"/>
          <a:lstStyle/>
          <a:p>
            <a:pPr indent="0" marL="0">
              <a:lnSpc>
                <a:spcPts val="1500"/>
              </a:lnSpc>
              <a:buNone/>
            </a:pPr>
            <a:r>
              <a:rPr lang="en-US" sz="1150" dirty="0">
                <a:solidFill>
                  <a:srgbClr val="5A6480"/>
                </a:solidFill>
                <a:latin typeface="Calibri" pitchFamily="34" charset="0"/>
                <a:ea typeface="Calibri" pitchFamily="34" charset="-122"/>
                <a:cs typeface="Calibri" pitchFamily="34" charset="-120"/>
              </a:rPr>
              <a:t>EU enterprises</a:t>
            </a:r>
            <a:endParaRPr lang="en-US" sz="1150" dirty="0"/>
          </a:p>
          <a:p>
            <a:pPr indent="0" marL="0">
              <a:lnSpc>
                <a:spcPts val="1500"/>
              </a:lnSpc>
              <a:buNone/>
            </a:pPr>
            <a:r>
              <a:rPr lang="en-US" sz="1150" dirty="0">
                <a:solidFill>
                  <a:srgbClr val="5A6480"/>
                </a:solidFill>
                <a:latin typeface="Calibri" pitchFamily="34" charset="0"/>
                <a:ea typeface="Calibri" pitchFamily="34" charset="-122"/>
                <a:cs typeface="Calibri" pitchFamily="34" charset="-120"/>
              </a:rPr>
              <a:t>over 250 employees</a:t>
            </a:r>
            <a:endParaRPr lang="en-US" sz="1150" dirty="0"/>
          </a:p>
        </p:txBody>
      </p:sp>
      <p:sp>
        <p:nvSpPr>
          <p:cNvPr id="10" name="Shape 8"/>
          <p:cNvSpPr/>
          <p:nvPr/>
        </p:nvSpPr>
        <p:spPr>
          <a:xfrm>
            <a:off x="3044952" y="2551176"/>
            <a:ext cx="182880" cy="201168"/>
          </a:xfrm>
          <a:prstGeom prst="rightArrow">
            <a:avLst/>
          </a:prstGeom>
          <a:solidFill>
            <a:srgbClr val="003399"/>
          </a:solidFill>
          <a:ln w="12700">
            <a:solidFill>
              <a:srgbClr val="333333"/>
            </a:solidFill>
            <a:prstDash val="solid"/>
          </a:ln>
        </p:spPr>
      </p:sp>
      <p:sp>
        <p:nvSpPr>
          <p:cNvPr id="11" name="Shape 9"/>
          <p:cNvSpPr/>
          <p:nvPr/>
        </p:nvSpPr>
        <p:spPr>
          <a:xfrm>
            <a:off x="3273552" y="1965960"/>
            <a:ext cx="2468880" cy="1371600"/>
          </a:xfrm>
          <a:prstGeom prst="roundRect">
            <a:avLst>
              <a:gd name="adj" fmla="val 6667"/>
            </a:avLst>
          </a:prstGeom>
          <a:solidFill>
            <a:srgbClr val="F4F6FB"/>
          </a:solidFill>
          <a:ln w="12700">
            <a:solidFill>
              <a:srgbClr val="DDE2EE"/>
            </a:solidFill>
            <a:prstDash val="solid"/>
          </a:ln>
        </p:spPr>
      </p:sp>
      <p:sp>
        <p:nvSpPr>
          <p:cNvPr id="12" name="Text 10"/>
          <p:cNvSpPr/>
          <p:nvPr/>
        </p:nvSpPr>
        <p:spPr>
          <a:xfrm>
            <a:off x="3502152" y="2103120"/>
            <a:ext cx="2011680" cy="548640"/>
          </a:xfrm>
          <a:prstGeom prst="rect">
            <a:avLst/>
          </a:prstGeom>
          <a:noFill/>
          <a:ln/>
        </p:spPr>
        <p:txBody>
          <a:bodyPr wrap="square" lIns="0" tIns="0" rIns="0" bIns="0" rtlCol="0" anchor="ctr"/>
          <a:lstStyle/>
          <a:p>
            <a:pPr indent="0" marL="0">
              <a:buNone/>
            </a:pPr>
            <a:r>
              <a:rPr lang="en-US" sz="2800" b="1" dirty="0">
                <a:solidFill>
                  <a:srgbClr val="003399"/>
                </a:solidFill>
                <a:latin typeface="Cambria" pitchFamily="34" charset="0"/>
                <a:ea typeface="Cambria" pitchFamily="34" charset="-122"/>
                <a:cs typeface="Cambria" pitchFamily="34" charset="-120"/>
              </a:rPr>
              <a:t>18,000</a:t>
            </a:r>
            <a:endParaRPr lang="en-US" sz="2800" dirty="0"/>
          </a:p>
        </p:txBody>
      </p:sp>
      <p:sp>
        <p:nvSpPr>
          <p:cNvPr id="13" name="Text 11"/>
          <p:cNvSpPr/>
          <p:nvPr/>
        </p:nvSpPr>
        <p:spPr>
          <a:xfrm>
            <a:off x="3502152" y="2670048"/>
            <a:ext cx="2057400" cy="603504"/>
          </a:xfrm>
          <a:prstGeom prst="rect">
            <a:avLst/>
          </a:prstGeom>
          <a:noFill/>
          <a:ln/>
        </p:spPr>
        <p:txBody>
          <a:bodyPr wrap="square" lIns="0" tIns="0" rIns="0" bIns="0" rtlCol="0" anchor="ctr"/>
          <a:lstStyle/>
          <a:p>
            <a:pPr indent="0" marL="0">
              <a:lnSpc>
                <a:spcPts val="1500"/>
              </a:lnSpc>
              <a:buNone/>
            </a:pPr>
            <a:r>
              <a:rPr lang="en-US" sz="1150" dirty="0">
                <a:solidFill>
                  <a:srgbClr val="5A6480"/>
                </a:solidFill>
                <a:latin typeface="Calibri" pitchFamily="34" charset="0"/>
                <a:ea typeface="Calibri" pitchFamily="34" charset="-122"/>
                <a:cs typeface="Calibri" pitchFamily="34" charset="-120"/>
              </a:rPr>
              <a:t>in regulated and</a:t>
            </a:r>
            <a:endParaRPr lang="en-US" sz="1150" dirty="0"/>
          </a:p>
          <a:p>
            <a:pPr indent="0" marL="0">
              <a:lnSpc>
                <a:spcPts val="1500"/>
              </a:lnSpc>
              <a:buNone/>
            </a:pPr>
            <a:r>
              <a:rPr lang="en-US" sz="1150" dirty="0">
                <a:solidFill>
                  <a:srgbClr val="5A6480"/>
                </a:solidFill>
                <a:latin typeface="Calibri" pitchFamily="34" charset="0"/>
                <a:ea typeface="Calibri" pitchFamily="34" charset="-122"/>
                <a:cs typeface="Calibri" pitchFamily="34" charset="-120"/>
              </a:rPr>
              <a:t>data-sensitive sectors</a:t>
            </a:r>
            <a:endParaRPr lang="en-US" sz="1150" dirty="0"/>
          </a:p>
        </p:txBody>
      </p:sp>
      <p:sp>
        <p:nvSpPr>
          <p:cNvPr id="14" name="Shape 12"/>
          <p:cNvSpPr/>
          <p:nvPr/>
        </p:nvSpPr>
        <p:spPr>
          <a:xfrm>
            <a:off x="5769864" y="2551176"/>
            <a:ext cx="182880" cy="201168"/>
          </a:xfrm>
          <a:prstGeom prst="rightArrow">
            <a:avLst/>
          </a:prstGeom>
          <a:solidFill>
            <a:srgbClr val="003399"/>
          </a:solidFill>
          <a:ln w="12700">
            <a:solidFill>
              <a:srgbClr val="333333"/>
            </a:solidFill>
            <a:prstDash val="solid"/>
          </a:ln>
        </p:spPr>
      </p:sp>
      <p:sp>
        <p:nvSpPr>
          <p:cNvPr id="15" name="Shape 13"/>
          <p:cNvSpPr/>
          <p:nvPr/>
        </p:nvSpPr>
        <p:spPr>
          <a:xfrm>
            <a:off x="5998464" y="1965960"/>
            <a:ext cx="2468880" cy="1371600"/>
          </a:xfrm>
          <a:prstGeom prst="roundRect">
            <a:avLst>
              <a:gd name="adj" fmla="val 6667"/>
            </a:avLst>
          </a:prstGeom>
          <a:solidFill>
            <a:srgbClr val="F4F6FB"/>
          </a:solidFill>
          <a:ln w="12700">
            <a:solidFill>
              <a:srgbClr val="DDE2EE"/>
            </a:solidFill>
            <a:prstDash val="solid"/>
          </a:ln>
        </p:spPr>
      </p:sp>
      <p:sp>
        <p:nvSpPr>
          <p:cNvPr id="16" name="Text 14"/>
          <p:cNvSpPr/>
          <p:nvPr/>
        </p:nvSpPr>
        <p:spPr>
          <a:xfrm>
            <a:off x="6227064" y="2103120"/>
            <a:ext cx="2011680" cy="548640"/>
          </a:xfrm>
          <a:prstGeom prst="rect">
            <a:avLst/>
          </a:prstGeom>
          <a:noFill/>
          <a:ln/>
        </p:spPr>
        <p:txBody>
          <a:bodyPr wrap="square" lIns="0" tIns="0" rIns="0" bIns="0" rtlCol="0" anchor="ctr"/>
          <a:lstStyle/>
          <a:p>
            <a:pPr indent="0" marL="0">
              <a:buNone/>
            </a:pPr>
            <a:r>
              <a:rPr lang="en-US" sz="2800" b="1" dirty="0">
                <a:solidFill>
                  <a:srgbClr val="003399"/>
                </a:solidFill>
                <a:latin typeface="Cambria" pitchFamily="34" charset="0"/>
                <a:ea typeface="Cambria" pitchFamily="34" charset="-122"/>
                <a:cs typeface="Cambria" pitchFamily="34" charset="-120"/>
              </a:rPr>
              <a:t>11,000</a:t>
            </a:r>
            <a:endParaRPr lang="en-US" sz="2800" dirty="0"/>
          </a:p>
        </p:txBody>
      </p:sp>
      <p:sp>
        <p:nvSpPr>
          <p:cNvPr id="17" name="Text 15"/>
          <p:cNvSpPr/>
          <p:nvPr/>
        </p:nvSpPr>
        <p:spPr>
          <a:xfrm>
            <a:off x="6227064" y="2670048"/>
            <a:ext cx="2057400" cy="603504"/>
          </a:xfrm>
          <a:prstGeom prst="rect">
            <a:avLst/>
          </a:prstGeom>
          <a:noFill/>
          <a:ln/>
        </p:spPr>
        <p:txBody>
          <a:bodyPr wrap="square" lIns="0" tIns="0" rIns="0" bIns="0" rtlCol="0" anchor="ctr"/>
          <a:lstStyle/>
          <a:p>
            <a:pPr indent="0" marL="0">
              <a:lnSpc>
                <a:spcPts val="1500"/>
              </a:lnSpc>
              <a:buNone/>
            </a:pPr>
            <a:r>
              <a:rPr lang="en-US" sz="1150" dirty="0">
                <a:solidFill>
                  <a:srgbClr val="5A6480"/>
                </a:solidFill>
                <a:latin typeface="Calibri" pitchFamily="34" charset="0"/>
                <a:ea typeface="Calibri" pitchFamily="34" charset="-122"/>
                <a:cs typeface="Calibri" pitchFamily="34" charset="-120"/>
              </a:rPr>
              <a:t>with deployment</a:t>
            </a:r>
            <a:endParaRPr lang="en-US" sz="1150" dirty="0"/>
          </a:p>
          <a:p>
            <a:pPr indent="0" marL="0">
              <a:lnSpc>
                <a:spcPts val="1500"/>
              </a:lnSpc>
              <a:buNone/>
            </a:pPr>
            <a:r>
              <a:rPr lang="en-US" sz="1150" dirty="0">
                <a:solidFill>
                  <a:srgbClr val="5A6480"/>
                </a:solidFill>
                <a:latin typeface="Calibri" pitchFamily="34" charset="0"/>
                <a:ea typeface="Calibri" pitchFamily="34" charset="-122"/>
                <a:cs typeface="Calibri" pitchFamily="34" charset="-120"/>
              </a:rPr>
              <a:t>capacity by 2030</a:t>
            </a:r>
            <a:endParaRPr lang="en-US" sz="1150" dirty="0"/>
          </a:p>
        </p:txBody>
      </p:sp>
      <p:sp>
        <p:nvSpPr>
          <p:cNvPr id="18" name="Shape 16"/>
          <p:cNvSpPr/>
          <p:nvPr/>
        </p:nvSpPr>
        <p:spPr>
          <a:xfrm>
            <a:off x="8494776" y="2551176"/>
            <a:ext cx="182880" cy="201168"/>
          </a:xfrm>
          <a:prstGeom prst="rightArrow">
            <a:avLst/>
          </a:prstGeom>
          <a:solidFill>
            <a:srgbClr val="003399"/>
          </a:solidFill>
          <a:ln w="12700">
            <a:solidFill>
              <a:srgbClr val="333333"/>
            </a:solidFill>
            <a:prstDash val="solid"/>
          </a:ln>
        </p:spPr>
      </p:sp>
      <p:sp>
        <p:nvSpPr>
          <p:cNvPr id="19" name="Shape 17"/>
          <p:cNvSpPr/>
          <p:nvPr/>
        </p:nvSpPr>
        <p:spPr>
          <a:xfrm>
            <a:off x="8723376" y="1965960"/>
            <a:ext cx="2468880" cy="1371600"/>
          </a:xfrm>
          <a:prstGeom prst="roundRect">
            <a:avLst>
              <a:gd name="adj" fmla="val 6667"/>
            </a:avLst>
          </a:prstGeom>
          <a:solidFill>
            <a:srgbClr val="003399"/>
          </a:solidFill>
          <a:ln w="12700">
            <a:solidFill>
              <a:srgbClr val="003399"/>
            </a:solidFill>
            <a:prstDash val="solid"/>
          </a:ln>
        </p:spPr>
      </p:sp>
      <p:sp>
        <p:nvSpPr>
          <p:cNvPr id="20" name="Text 18"/>
          <p:cNvSpPr/>
          <p:nvPr/>
        </p:nvSpPr>
        <p:spPr>
          <a:xfrm>
            <a:off x="8951976" y="2103120"/>
            <a:ext cx="2011680" cy="548640"/>
          </a:xfrm>
          <a:prstGeom prst="rect">
            <a:avLst/>
          </a:prstGeom>
          <a:noFill/>
          <a:ln/>
        </p:spPr>
        <p:txBody>
          <a:bodyPr wrap="square" lIns="0" tIns="0" rIns="0" bIns="0" rtlCol="0" anchor="ctr"/>
          <a:lstStyle/>
          <a:p>
            <a:pPr indent="0" marL="0">
              <a:buNone/>
            </a:pPr>
            <a:r>
              <a:rPr lang="en-US" sz="2600" b="1" dirty="0">
                <a:solidFill>
                  <a:srgbClr val="FFCC00"/>
                </a:solidFill>
                <a:latin typeface="Cambria" pitchFamily="34" charset="0"/>
                <a:ea typeface="Cambria" pitchFamily="34" charset="-122"/>
                <a:cs typeface="Cambria" pitchFamily="34" charset="-120"/>
              </a:rPr>
              <a:t>EUR 4.4B</a:t>
            </a:r>
            <a:endParaRPr lang="en-US" sz="2600" dirty="0"/>
          </a:p>
        </p:txBody>
      </p:sp>
      <p:sp>
        <p:nvSpPr>
          <p:cNvPr id="21" name="Text 19"/>
          <p:cNvSpPr/>
          <p:nvPr/>
        </p:nvSpPr>
        <p:spPr>
          <a:xfrm>
            <a:off x="8951976" y="2670048"/>
            <a:ext cx="2057400" cy="603504"/>
          </a:xfrm>
          <a:prstGeom prst="rect">
            <a:avLst/>
          </a:prstGeom>
          <a:noFill/>
          <a:ln/>
        </p:spPr>
        <p:txBody>
          <a:bodyPr wrap="square" lIns="0" tIns="0" rIns="0" bIns="0" rtlCol="0" anchor="ctr"/>
          <a:lstStyle/>
          <a:p>
            <a:pPr indent="0" marL="0">
              <a:lnSpc>
                <a:spcPts val="1500"/>
              </a:lnSpc>
              <a:buNone/>
            </a:pPr>
            <a:r>
              <a:rPr lang="en-US" sz="1150" dirty="0">
                <a:solidFill>
                  <a:srgbClr val="C9D4F0"/>
                </a:solidFill>
                <a:latin typeface="Calibri" pitchFamily="34" charset="0"/>
                <a:ea typeface="Calibri" pitchFamily="34" charset="-122"/>
                <a:cs typeface="Calibri" pitchFamily="34" charset="-120"/>
              </a:rPr>
              <a:t>annual serviceable</a:t>
            </a:r>
            <a:endParaRPr lang="en-US" sz="1150" dirty="0"/>
          </a:p>
          <a:p>
            <a:pPr indent="0" marL="0">
              <a:lnSpc>
                <a:spcPts val="1500"/>
              </a:lnSpc>
              <a:buNone/>
            </a:pPr>
            <a:r>
              <a:rPr lang="en-US" sz="1150" dirty="0">
                <a:solidFill>
                  <a:srgbClr val="C9D4F0"/>
                </a:solidFill>
                <a:latin typeface="Calibri" pitchFamily="34" charset="0"/>
                <a:ea typeface="Calibri" pitchFamily="34" charset="-122"/>
                <a:cs typeface="Calibri" pitchFamily="34" charset="-120"/>
              </a:rPr>
              <a:t>spend on the model layer</a:t>
            </a:r>
            <a:endParaRPr lang="en-US" sz="1150" dirty="0"/>
          </a:p>
        </p:txBody>
      </p:sp>
      <p:sp>
        <p:nvSpPr>
          <p:cNvPr id="22" name="Text 20"/>
          <p:cNvSpPr/>
          <p:nvPr/>
        </p:nvSpPr>
        <p:spPr>
          <a:xfrm>
            <a:off x="548640" y="3611880"/>
            <a:ext cx="5486400" cy="274320"/>
          </a:xfrm>
          <a:prstGeom prst="rect">
            <a:avLst/>
          </a:prstGeom>
          <a:noFill/>
          <a:ln/>
        </p:spPr>
        <p:txBody>
          <a:bodyPr wrap="square" lIns="0" tIns="0" rIns="0" bIns="0" rtlCol="0" anchor="ctr"/>
          <a:lstStyle/>
          <a:p>
            <a:pPr indent="0" marL="0">
              <a:buNone/>
            </a:pPr>
            <a:r>
              <a:rPr lang="en-US" sz="1100" b="1" spc="150" kern="0" dirty="0">
                <a:solidFill>
                  <a:srgbClr val="003399"/>
                </a:solidFill>
                <a:latin typeface="Calibri" pitchFamily="34" charset="0"/>
                <a:ea typeface="Calibri" pitchFamily="34" charset="-122"/>
                <a:cs typeface="Calibri" pitchFamily="34" charset="-120"/>
              </a:rPr>
              <a:t>CONTRACT VALUE BY SEGMENT</a:t>
            </a:r>
            <a:endParaRPr lang="en-US" sz="1100" dirty="0"/>
          </a:p>
        </p:txBody>
      </p:sp>
      <p:sp>
        <p:nvSpPr>
          <p:cNvPr id="23" name="Shape 21"/>
          <p:cNvSpPr/>
          <p:nvPr/>
        </p:nvSpPr>
        <p:spPr>
          <a:xfrm>
            <a:off x="548640" y="3977640"/>
            <a:ext cx="6720840" cy="566928"/>
          </a:xfrm>
          <a:prstGeom prst="roundRect">
            <a:avLst>
              <a:gd name="adj" fmla="val 12903"/>
            </a:avLst>
          </a:prstGeom>
          <a:solidFill>
            <a:srgbClr val="FFFFFF"/>
          </a:solidFill>
          <a:ln w="12700">
            <a:solidFill>
              <a:srgbClr val="DDE2EE"/>
            </a:solidFill>
            <a:prstDash val="solid"/>
          </a:ln>
        </p:spPr>
      </p:sp>
      <p:sp>
        <p:nvSpPr>
          <p:cNvPr id="24" name="Text 22"/>
          <p:cNvSpPr/>
          <p:nvPr/>
        </p:nvSpPr>
        <p:spPr>
          <a:xfrm>
            <a:off x="777240" y="3977640"/>
            <a:ext cx="2377440" cy="566928"/>
          </a:xfrm>
          <a:prstGeom prst="rect">
            <a:avLst/>
          </a:prstGeom>
          <a:noFill/>
          <a:ln/>
        </p:spPr>
        <p:txBody>
          <a:bodyPr wrap="square" lIns="0" tIns="0" rIns="0" bIns="0" rtlCol="0" anchor="ctr"/>
          <a:lstStyle/>
          <a:p>
            <a:pPr indent="0" marL="0">
              <a:buNone/>
            </a:pPr>
            <a:r>
              <a:rPr lang="en-US" sz="1250" b="1" dirty="0">
                <a:solidFill>
                  <a:srgbClr val="111A33"/>
                </a:solidFill>
                <a:latin typeface="Calibri" pitchFamily="34" charset="0"/>
                <a:ea typeface="Calibri" pitchFamily="34" charset="-122"/>
                <a:cs typeface="Calibri" pitchFamily="34" charset="-120"/>
              </a:rPr>
              <a:t>Tier 1  ·  500 accounts</a:t>
            </a:r>
            <a:endParaRPr lang="en-US" sz="1250" dirty="0"/>
          </a:p>
        </p:txBody>
      </p:sp>
      <p:sp>
        <p:nvSpPr>
          <p:cNvPr id="25" name="Text 23"/>
          <p:cNvSpPr/>
          <p:nvPr/>
        </p:nvSpPr>
        <p:spPr>
          <a:xfrm>
            <a:off x="3200400" y="3977640"/>
            <a:ext cx="2743200" cy="566928"/>
          </a:xfrm>
          <a:prstGeom prst="rect">
            <a:avLst/>
          </a:prstGeom>
          <a:noFill/>
          <a:ln/>
        </p:spPr>
        <p:txBody>
          <a:bodyPr wrap="square" lIns="0" tIns="0" rIns="0" bIns="0" rtlCol="0" anchor="ctr"/>
          <a:lstStyle/>
          <a:p>
            <a:pPr indent="0" marL="0">
              <a:buNone/>
            </a:pPr>
            <a:r>
              <a:rPr lang="en-US" sz="1150" dirty="0">
                <a:solidFill>
                  <a:srgbClr val="5A6480"/>
                </a:solidFill>
                <a:latin typeface="Calibri" pitchFamily="34" charset="0"/>
                <a:ea typeface="Calibri" pitchFamily="34" charset="-122"/>
                <a:cs typeface="Calibri" pitchFamily="34" charset="-120"/>
              </a:rPr>
              <a:t>Sovereign and systemically regulated</a:t>
            </a:r>
            <a:endParaRPr lang="en-US" sz="1150" dirty="0"/>
          </a:p>
        </p:txBody>
      </p:sp>
      <p:sp>
        <p:nvSpPr>
          <p:cNvPr id="26" name="Text 24"/>
          <p:cNvSpPr/>
          <p:nvPr/>
        </p:nvSpPr>
        <p:spPr>
          <a:xfrm>
            <a:off x="5852160" y="3977640"/>
            <a:ext cx="1188720" cy="566928"/>
          </a:xfrm>
          <a:prstGeom prst="rect">
            <a:avLst/>
          </a:prstGeom>
          <a:noFill/>
          <a:ln/>
        </p:spPr>
        <p:txBody>
          <a:bodyPr wrap="square" lIns="0" tIns="0" rIns="0" bIns="0" rtlCol="0" anchor="ctr"/>
          <a:lstStyle/>
          <a:p>
            <a:pPr algn="r" indent="0" marL="0">
              <a:buNone/>
            </a:pPr>
            <a:r>
              <a:rPr lang="en-US" sz="1500" b="1" dirty="0">
                <a:solidFill>
                  <a:srgbClr val="003399"/>
                </a:solidFill>
                <a:latin typeface="Cambria" pitchFamily="34" charset="0"/>
                <a:ea typeface="Cambria" pitchFamily="34" charset="-122"/>
                <a:cs typeface="Cambria" pitchFamily="34" charset="-120"/>
              </a:rPr>
              <a:t>EUR 2.5M</a:t>
            </a:r>
            <a:endParaRPr lang="en-US" sz="1500" dirty="0"/>
          </a:p>
        </p:txBody>
      </p:sp>
      <p:sp>
        <p:nvSpPr>
          <p:cNvPr id="27" name="Shape 25"/>
          <p:cNvSpPr/>
          <p:nvPr/>
        </p:nvSpPr>
        <p:spPr>
          <a:xfrm>
            <a:off x="548640" y="4636008"/>
            <a:ext cx="6720840" cy="566928"/>
          </a:xfrm>
          <a:prstGeom prst="roundRect">
            <a:avLst>
              <a:gd name="adj" fmla="val 12903"/>
            </a:avLst>
          </a:prstGeom>
          <a:solidFill>
            <a:srgbClr val="F4F6FB"/>
          </a:solidFill>
          <a:ln w="12700">
            <a:solidFill>
              <a:srgbClr val="DDE2EE"/>
            </a:solidFill>
            <a:prstDash val="solid"/>
          </a:ln>
        </p:spPr>
      </p:sp>
      <p:sp>
        <p:nvSpPr>
          <p:cNvPr id="28" name="Text 26"/>
          <p:cNvSpPr/>
          <p:nvPr/>
        </p:nvSpPr>
        <p:spPr>
          <a:xfrm>
            <a:off x="777240" y="4636008"/>
            <a:ext cx="2377440" cy="566928"/>
          </a:xfrm>
          <a:prstGeom prst="rect">
            <a:avLst/>
          </a:prstGeom>
          <a:noFill/>
          <a:ln/>
        </p:spPr>
        <p:txBody>
          <a:bodyPr wrap="square" lIns="0" tIns="0" rIns="0" bIns="0" rtlCol="0" anchor="ctr"/>
          <a:lstStyle/>
          <a:p>
            <a:pPr indent="0" marL="0">
              <a:buNone/>
            </a:pPr>
            <a:r>
              <a:rPr lang="en-US" sz="1250" b="1" dirty="0">
                <a:solidFill>
                  <a:srgbClr val="111A33"/>
                </a:solidFill>
                <a:latin typeface="Calibri" pitchFamily="34" charset="0"/>
                <a:ea typeface="Calibri" pitchFamily="34" charset="-122"/>
                <a:cs typeface="Calibri" pitchFamily="34" charset="-120"/>
              </a:rPr>
              <a:t>Tier 2  ·  3,500 accounts</a:t>
            </a:r>
            <a:endParaRPr lang="en-US" sz="1250" dirty="0"/>
          </a:p>
        </p:txBody>
      </p:sp>
      <p:sp>
        <p:nvSpPr>
          <p:cNvPr id="29" name="Text 27"/>
          <p:cNvSpPr/>
          <p:nvPr/>
        </p:nvSpPr>
        <p:spPr>
          <a:xfrm>
            <a:off x="3200400" y="4636008"/>
            <a:ext cx="2743200" cy="566928"/>
          </a:xfrm>
          <a:prstGeom prst="rect">
            <a:avLst/>
          </a:prstGeom>
          <a:noFill/>
          <a:ln/>
        </p:spPr>
        <p:txBody>
          <a:bodyPr wrap="square" lIns="0" tIns="0" rIns="0" bIns="0" rtlCol="0" anchor="ctr"/>
          <a:lstStyle/>
          <a:p>
            <a:pPr indent="0" marL="0">
              <a:buNone/>
            </a:pPr>
            <a:r>
              <a:rPr lang="en-US" sz="1150" dirty="0">
                <a:solidFill>
                  <a:srgbClr val="5A6480"/>
                </a:solidFill>
                <a:latin typeface="Calibri" pitchFamily="34" charset="0"/>
                <a:ea typeface="Calibri" pitchFamily="34" charset="-122"/>
                <a:cs typeface="Calibri" pitchFamily="34" charset="-120"/>
              </a:rPr>
              <a:t>Large enterprise, private deployment</a:t>
            </a:r>
            <a:endParaRPr lang="en-US" sz="1150" dirty="0"/>
          </a:p>
        </p:txBody>
      </p:sp>
      <p:sp>
        <p:nvSpPr>
          <p:cNvPr id="30" name="Text 28"/>
          <p:cNvSpPr/>
          <p:nvPr/>
        </p:nvSpPr>
        <p:spPr>
          <a:xfrm>
            <a:off x="5852160" y="4636008"/>
            <a:ext cx="1188720" cy="566928"/>
          </a:xfrm>
          <a:prstGeom prst="rect">
            <a:avLst/>
          </a:prstGeom>
          <a:noFill/>
          <a:ln/>
        </p:spPr>
        <p:txBody>
          <a:bodyPr wrap="square" lIns="0" tIns="0" rIns="0" bIns="0" rtlCol="0" anchor="ctr"/>
          <a:lstStyle/>
          <a:p>
            <a:pPr algn="r" indent="0" marL="0">
              <a:buNone/>
            </a:pPr>
            <a:r>
              <a:rPr lang="en-US" sz="1500" b="1" dirty="0">
                <a:solidFill>
                  <a:srgbClr val="003399"/>
                </a:solidFill>
                <a:latin typeface="Cambria" pitchFamily="34" charset="0"/>
                <a:ea typeface="Cambria" pitchFamily="34" charset="-122"/>
                <a:cs typeface="Cambria" pitchFamily="34" charset="-120"/>
              </a:rPr>
              <a:t>EUR 600K</a:t>
            </a:r>
            <a:endParaRPr lang="en-US" sz="1500" dirty="0"/>
          </a:p>
        </p:txBody>
      </p:sp>
      <p:sp>
        <p:nvSpPr>
          <p:cNvPr id="31" name="Shape 29"/>
          <p:cNvSpPr/>
          <p:nvPr/>
        </p:nvSpPr>
        <p:spPr>
          <a:xfrm>
            <a:off x="548640" y="5294376"/>
            <a:ext cx="6720840" cy="566928"/>
          </a:xfrm>
          <a:prstGeom prst="roundRect">
            <a:avLst>
              <a:gd name="adj" fmla="val 12903"/>
            </a:avLst>
          </a:prstGeom>
          <a:solidFill>
            <a:srgbClr val="FFFFFF"/>
          </a:solidFill>
          <a:ln w="12700">
            <a:solidFill>
              <a:srgbClr val="DDE2EE"/>
            </a:solidFill>
            <a:prstDash val="solid"/>
          </a:ln>
        </p:spPr>
      </p:sp>
      <p:sp>
        <p:nvSpPr>
          <p:cNvPr id="32" name="Text 30"/>
          <p:cNvSpPr/>
          <p:nvPr/>
        </p:nvSpPr>
        <p:spPr>
          <a:xfrm>
            <a:off x="777240" y="5294376"/>
            <a:ext cx="2377440" cy="566928"/>
          </a:xfrm>
          <a:prstGeom prst="rect">
            <a:avLst/>
          </a:prstGeom>
          <a:noFill/>
          <a:ln/>
        </p:spPr>
        <p:txBody>
          <a:bodyPr wrap="square" lIns="0" tIns="0" rIns="0" bIns="0" rtlCol="0" anchor="ctr"/>
          <a:lstStyle/>
          <a:p>
            <a:pPr indent="0" marL="0">
              <a:buNone/>
            </a:pPr>
            <a:r>
              <a:rPr lang="en-US" sz="1250" b="1" dirty="0">
                <a:solidFill>
                  <a:srgbClr val="111A33"/>
                </a:solidFill>
                <a:latin typeface="Calibri" pitchFamily="34" charset="0"/>
                <a:ea typeface="Calibri" pitchFamily="34" charset="-122"/>
                <a:cs typeface="Calibri" pitchFamily="34" charset="-120"/>
              </a:rPr>
              <a:t>Tier 3  ·  7,000 accounts</a:t>
            </a:r>
            <a:endParaRPr lang="en-US" sz="1250" dirty="0"/>
          </a:p>
        </p:txBody>
      </p:sp>
      <p:sp>
        <p:nvSpPr>
          <p:cNvPr id="33" name="Text 31"/>
          <p:cNvSpPr/>
          <p:nvPr/>
        </p:nvSpPr>
        <p:spPr>
          <a:xfrm>
            <a:off x="3200400" y="5294376"/>
            <a:ext cx="2743200" cy="566928"/>
          </a:xfrm>
          <a:prstGeom prst="rect">
            <a:avLst/>
          </a:prstGeom>
          <a:noFill/>
          <a:ln/>
        </p:spPr>
        <p:txBody>
          <a:bodyPr wrap="square" lIns="0" tIns="0" rIns="0" bIns="0" rtlCol="0" anchor="ctr"/>
          <a:lstStyle/>
          <a:p>
            <a:pPr indent="0" marL="0">
              <a:buNone/>
            </a:pPr>
            <a:r>
              <a:rPr lang="en-US" sz="1150" dirty="0">
                <a:solidFill>
                  <a:srgbClr val="5A6480"/>
                </a:solidFill>
                <a:latin typeface="Calibri" pitchFamily="34" charset="0"/>
                <a:ea typeface="Calibri" pitchFamily="34" charset="-122"/>
                <a:cs typeface="Calibri" pitchFamily="34" charset="-120"/>
              </a:rPr>
              <a:t>Mid-market, hosted and hybrid</a:t>
            </a:r>
            <a:endParaRPr lang="en-US" sz="1150" dirty="0"/>
          </a:p>
        </p:txBody>
      </p:sp>
      <p:sp>
        <p:nvSpPr>
          <p:cNvPr id="34" name="Text 32"/>
          <p:cNvSpPr/>
          <p:nvPr/>
        </p:nvSpPr>
        <p:spPr>
          <a:xfrm>
            <a:off x="5852160" y="5294376"/>
            <a:ext cx="1188720" cy="566928"/>
          </a:xfrm>
          <a:prstGeom prst="rect">
            <a:avLst/>
          </a:prstGeom>
          <a:noFill/>
          <a:ln/>
        </p:spPr>
        <p:txBody>
          <a:bodyPr wrap="square" lIns="0" tIns="0" rIns="0" bIns="0" rtlCol="0" anchor="ctr"/>
          <a:lstStyle/>
          <a:p>
            <a:pPr algn="r" indent="0" marL="0">
              <a:buNone/>
            </a:pPr>
            <a:r>
              <a:rPr lang="en-US" sz="1500" b="1" dirty="0">
                <a:solidFill>
                  <a:srgbClr val="003399"/>
                </a:solidFill>
                <a:latin typeface="Cambria" pitchFamily="34" charset="0"/>
                <a:ea typeface="Cambria" pitchFamily="34" charset="-122"/>
                <a:cs typeface="Cambria" pitchFamily="34" charset="-120"/>
              </a:rPr>
              <a:t>EUR 150K</a:t>
            </a:r>
            <a:endParaRPr lang="en-US" sz="1500" dirty="0"/>
          </a:p>
        </p:txBody>
      </p:sp>
      <p:sp>
        <p:nvSpPr>
          <p:cNvPr id="35" name="Text 33"/>
          <p:cNvSpPr/>
          <p:nvPr/>
        </p:nvSpPr>
        <p:spPr>
          <a:xfrm>
            <a:off x="548640" y="5897880"/>
            <a:ext cx="6720840" cy="274320"/>
          </a:xfrm>
          <a:prstGeom prst="rect">
            <a:avLst/>
          </a:prstGeom>
          <a:noFill/>
          <a:ln/>
        </p:spPr>
        <p:txBody>
          <a:bodyPr wrap="square" lIns="0" tIns="0" rIns="0" bIns="0" rtlCol="0" anchor="ctr"/>
          <a:lstStyle/>
          <a:p>
            <a:pPr indent="0" marL="0">
              <a:buNone/>
            </a:pPr>
            <a:r>
              <a:rPr lang="en-US" sz="1150" i="1" dirty="0">
                <a:solidFill>
                  <a:srgbClr val="5A6480"/>
                </a:solidFill>
                <a:latin typeface="Calibri" pitchFamily="34" charset="0"/>
                <a:ea typeface="Calibri" pitchFamily="34" charset="-122"/>
                <a:cs typeface="Calibri" pitchFamily="34" charset="-120"/>
              </a:rPr>
              <a:t>Blended annual contract value: EUR 400K</a:t>
            </a:r>
            <a:endParaRPr lang="en-US" sz="1150" dirty="0"/>
          </a:p>
        </p:txBody>
      </p:sp>
      <p:sp>
        <p:nvSpPr>
          <p:cNvPr id="36" name="Shape 34"/>
          <p:cNvSpPr/>
          <p:nvPr/>
        </p:nvSpPr>
        <p:spPr>
          <a:xfrm>
            <a:off x="7635240" y="3566160"/>
            <a:ext cx="3520440" cy="2468880"/>
          </a:xfrm>
          <a:prstGeom prst="roundRect">
            <a:avLst>
              <a:gd name="adj" fmla="val 4444"/>
            </a:avLst>
          </a:prstGeom>
          <a:solidFill>
            <a:srgbClr val="00246B"/>
          </a:solidFill>
          <a:ln w="12700">
            <a:solidFill>
              <a:srgbClr val="333333"/>
            </a:solidFill>
            <a:prstDash val="solid"/>
          </a:ln>
        </p:spPr>
      </p:sp>
      <p:sp>
        <p:nvSpPr>
          <p:cNvPr id="37" name="Text 35"/>
          <p:cNvSpPr/>
          <p:nvPr/>
        </p:nvSpPr>
        <p:spPr>
          <a:xfrm>
            <a:off x="7909560" y="3730752"/>
            <a:ext cx="3017520" cy="274320"/>
          </a:xfrm>
          <a:prstGeom prst="rect">
            <a:avLst/>
          </a:prstGeom>
          <a:noFill/>
          <a:ln/>
        </p:spPr>
        <p:txBody>
          <a:bodyPr wrap="square" lIns="0" tIns="0" rIns="0" bIns="0" rtlCol="0" anchor="ctr"/>
          <a:lstStyle/>
          <a:p>
            <a:pPr indent="0" marL="0">
              <a:buNone/>
            </a:pPr>
            <a:r>
              <a:rPr lang="en-US" sz="1050" b="1" spc="120" kern="0" dirty="0">
                <a:solidFill>
                  <a:srgbClr val="FFCC00"/>
                </a:solidFill>
                <a:latin typeface="Calibri" pitchFamily="34" charset="0"/>
                <a:ea typeface="Calibri" pitchFamily="34" charset="-122"/>
                <a:cs typeface="Calibri" pitchFamily="34" charset="-120"/>
              </a:rPr>
              <a:t>TARGET SHARE BY 2030</a:t>
            </a:r>
            <a:endParaRPr lang="en-US" sz="1050" dirty="0"/>
          </a:p>
        </p:txBody>
      </p:sp>
      <p:sp>
        <p:nvSpPr>
          <p:cNvPr id="38" name="Text 36"/>
          <p:cNvSpPr/>
          <p:nvPr/>
        </p:nvSpPr>
        <p:spPr>
          <a:xfrm>
            <a:off x="7909560" y="4041648"/>
            <a:ext cx="301752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EUR 530M</a:t>
            </a:r>
            <a:endParaRPr lang="en-US" sz="3400" dirty="0"/>
          </a:p>
        </p:txBody>
      </p:sp>
      <p:sp>
        <p:nvSpPr>
          <p:cNvPr id="39" name="Text 37"/>
          <p:cNvSpPr/>
          <p:nvPr/>
        </p:nvSpPr>
        <p:spPr>
          <a:xfrm>
            <a:off x="7909560" y="4754880"/>
            <a:ext cx="3017520" cy="822960"/>
          </a:xfrm>
          <a:prstGeom prst="rect">
            <a:avLst/>
          </a:prstGeom>
          <a:noFill/>
          <a:ln/>
        </p:spPr>
        <p:txBody>
          <a:bodyPr wrap="square" lIns="0" tIns="0" rIns="0" bIns="0" rtlCol="0" anchor="ctr"/>
          <a:lstStyle/>
          <a:p>
            <a:pPr indent="0" marL="0">
              <a:lnSpc>
                <a:spcPts val="1700"/>
              </a:lnSpc>
              <a:buNone/>
            </a:pPr>
            <a:r>
              <a:rPr lang="en-US" sz="1200" dirty="0">
                <a:solidFill>
                  <a:srgbClr val="C9D4F0"/>
                </a:solidFill>
                <a:latin typeface="Calibri" pitchFamily="34" charset="0"/>
                <a:ea typeface="Calibri" pitchFamily="34" charset="-122"/>
                <a:cs typeface="Calibri" pitchFamily="34" charset="-120"/>
              </a:rPr>
              <a:t>annual revenue at 12% share of serviceable spend, or roughly 1,300 accounts at blended contract value.</a:t>
            </a:r>
            <a:endParaRPr lang="en-US" sz="1200" dirty="0"/>
          </a:p>
        </p:txBody>
      </p:sp>
      <p:sp>
        <p:nvSpPr>
          <p:cNvPr id="40" name="Text 38"/>
          <p:cNvSpPr/>
          <p:nvPr/>
        </p:nvSpPr>
        <p:spPr>
          <a:xfrm>
            <a:off x="7909560" y="5504688"/>
            <a:ext cx="3017520" cy="457200"/>
          </a:xfrm>
          <a:prstGeom prst="rect">
            <a:avLst/>
          </a:prstGeom>
          <a:noFill/>
          <a:ln/>
        </p:spPr>
        <p:txBody>
          <a:bodyPr wrap="square" lIns="0" tIns="0" rIns="0" bIns="0" rtlCol="0" anchor="ctr"/>
          <a:lstStyle/>
          <a:p>
            <a:pPr indent="0" marL="0">
              <a:lnSpc>
                <a:spcPts val="1400"/>
              </a:lnSpc>
              <a:buNone/>
            </a:pPr>
            <a:r>
              <a:rPr lang="en-US" sz="1050" i="1" dirty="0">
                <a:solidFill>
                  <a:srgbClr val="9FB2DE"/>
                </a:solidFill>
                <a:latin typeface="Calibri" pitchFamily="34" charset="0"/>
                <a:ea typeface="Calibri" pitchFamily="34" charset="-122"/>
                <a:cs typeface="Calibri" pitchFamily="34" charset="-120"/>
              </a:rPr>
              <a:t>Reconciles to top-down: EUR 4.4B is 20% of the EU share of the 2030 forecast.</a:t>
            </a:r>
            <a:endParaRPr lang="en-US" sz="1050" dirty="0"/>
          </a:p>
        </p:txBody>
      </p:sp>
      <p:sp>
        <p:nvSpPr>
          <p:cNvPr id="41" name="Text 39"/>
          <p:cNvSpPr/>
          <p:nvPr/>
        </p:nvSpPr>
        <p:spPr>
          <a:xfrm>
            <a:off x="548640" y="6263640"/>
            <a:ext cx="7315200" cy="274320"/>
          </a:xfrm>
          <a:prstGeom prst="rect">
            <a:avLst/>
          </a:prstGeom>
          <a:noFill/>
          <a:ln/>
        </p:spPr>
        <p:txBody>
          <a:bodyPr wrap="square" lIns="0" tIns="0" rIns="0" bIns="0" rtlCol="0" anchor="ctr"/>
          <a:lstStyle/>
          <a:p>
            <a:pPr indent="0" marL="0">
              <a:buNone/>
            </a:pPr>
            <a:r>
              <a:rPr lang="en-US" sz="950" dirty="0">
                <a:solidFill>
                  <a:srgbClr val="5A6480"/>
                </a:solidFill>
                <a:latin typeface="Calibri" pitchFamily="34" charset="0"/>
                <a:ea typeface="Calibri" pitchFamily="34" charset="-122"/>
                <a:cs typeface="Calibri" pitchFamily="34" charset="-120"/>
              </a:rPr>
              <a:t>Mistral AI  |  Company thesis and European AI stack</a:t>
            </a:r>
            <a:endParaRPr lang="en-US" sz="950" dirty="0"/>
          </a:p>
        </p:txBody>
      </p:sp>
      <p:sp>
        <p:nvSpPr>
          <p:cNvPr id="42" name="Text 40"/>
          <p:cNvSpPr/>
          <p:nvPr/>
        </p:nvSpPr>
        <p:spPr>
          <a:xfrm>
            <a:off x="10241280" y="6263640"/>
            <a:ext cx="1371600" cy="274320"/>
          </a:xfrm>
          <a:prstGeom prst="rect">
            <a:avLst/>
          </a:prstGeom>
          <a:noFill/>
          <a:ln/>
        </p:spPr>
        <p:txBody>
          <a:bodyPr wrap="square" lIns="0" tIns="0" rIns="0" bIns="0" rtlCol="0" anchor="ctr"/>
          <a:lstStyle/>
          <a:p>
            <a:pPr algn="r" indent="0" marL="0">
              <a:buNone/>
            </a:pPr>
            <a:r>
              <a:rPr lang="en-US" sz="950" dirty="0">
                <a:solidFill>
                  <a:srgbClr val="5A6480"/>
                </a:solidFill>
                <a:latin typeface="Calibri" pitchFamily="34" charset="0"/>
                <a:ea typeface="Calibri" pitchFamily="34" charset="-122"/>
                <a:cs typeface="Calibri" pitchFamily="34" charset="-120"/>
              </a:rPr>
              <a:t>4 / 8</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75488"/>
            <a:ext cx="457200" cy="457200"/>
          </a:xfrm>
          <a:prstGeom prst="ellipse">
            <a:avLst/>
          </a:prstGeom>
          <a:solidFill>
            <a:srgbClr val="003399"/>
          </a:solidFill>
          <a:ln w="12700">
            <a:solidFill>
              <a:srgbClr val="333333"/>
            </a:solidFill>
            <a:prstDash val="solid"/>
          </a:ln>
        </p:spPr>
      </p:sp>
      <p:sp>
        <p:nvSpPr>
          <p:cNvPr id="3" name="Text 1"/>
          <p:cNvSpPr/>
          <p:nvPr/>
        </p:nvSpPr>
        <p:spPr>
          <a:xfrm>
            <a:off x="548640" y="475488"/>
            <a:ext cx="457200" cy="457200"/>
          </a:xfrm>
          <a:prstGeom prst="rect">
            <a:avLst/>
          </a:prstGeom>
          <a:noFill/>
          <a:ln/>
        </p:spPr>
        <p:txBody>
          <a:bodyPr wrap="square" lIns="0" tIns="0" rIns="0" bIns="0" rtlCol="0" anchor="ctr"/>
          <a:lstStyle/>
          <a:p>
            <a:pPr algn="ctr" indent="0" marL="0">
              <a:buNone/>
            </a:pPr>
            <a:r>
              <a:rPr lang="en-US" sz="1300" b="1" dirty="0">
                <a:solidFill>
                  <a:srgbClr val="FFCC00"/>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43000" y="502920"/>
            <a:ext cx="7315200" cy="256032"/>
          </a:xfrm>
          <a:prstGeom prst="rect">
            <a:avLst/>
          </a:prstGeom>
          <a:noFill/>
          <a:ln/>
        </p:spPr>
        <p:txBody>
          <a:bodyPr wrap="square" lIns="0" tIns="0" rIns="0" bIns="0" rtlCol="0" anchor="ctr"/>
          <a:lstStyle/>
          <a:p>
            <a:pPr indent="0" marL="0">
              <a:buNone/>
            </a:pPr>
            <a:r>
              <a:rPr lang="en-US" sz="1100" b="1" spc="200" kern="0" dirty="0">
                <a:solidFill>
                  <a:srgbClr val="003399"/>
                </a:solidFill>
                <a:latin typeface="Calibri" pitchFamily="34" charset="0"/>
                <a:ea typeface="Calibri" pitchFamily="34" charset="-122"/>
                <a:cs typeface="Calibri" pitchFamily="34" charset="-120"/>
              </a:rPr>
              <a:t>THE WEDGE</a:t>
            </a:r>
            <a:endParaRPr lang="en-US" sz="1100" dirty="0"/>
          </a:p>
        </p:txBody>
      </p:sp>
      <p:sp>
        <p:nvSpPr>
          <p:cNvPr id="5" name="Text 3"/>
          <p:cNvSpPr/>
          <p:nvPr/>
        </p:nvSpPr>
        <p:spPr>
          <a:xfrm>
            <a:off x="1133856" y="749808"/>
            <a:ext cx="9601200" cy="566928"/>
          </a:xfrm>
          <a:prstGeom prst="rect">
            <a:avLst/>
          </a:prstGeom>
          <a:noFill/>
          <a:ln/>
        </p:spPr>
        <p:txBody>
          <a:bodyPr wrap="square" lIns="0" tIns="0" rIns="0" bIns="0" rtlCol="0" anchor="ctr"/>
          <a:lstStyle/>
          <a:p>
            <a:pPr indent="0" marL="0">
              <a:buNone/>
            </a:pPr>
            <a:r>
              <a:rPr lang="en-US" sz="3200" b="1" dirty="0">
                <a:solidFill>
                  <a:srgbClr val="111A33"/>
                </a:solidFill>
                <a:latin typeface="Cambria" pitchFamily="34" charset="0"/>
                <a:ea typeface="Cambria" pitchFamily="34" charset="-122"/>
                <a:cs typeface="Cambria" pitchFamily="34" charset="-120"/>
              </a:rPr>
              <a:t>Open for trust. Controlled for value.</a:t>
            </a:r>
            <a:endParaRPr lang="en-US" sz="3200" dirty="0"/>
          </a:p>
        </p:txBody>
      </p:sp>
      <p:sp>
        <p:nvSpPr>
          <p:cNvPr id="6" name="Text 4"/>
          <p:cNvSpPr/>
          <p:nvPr/>
        </p:nvSpPr>
        <p:spPr>
          <a:xfrm>
            <a:off x="1152144" y="1389888"/>
            <a:ext cx="9509760" cy="365760"/>
          </a:xfrm>
          <a:prstGeom prst="rect">
            <a:avLst/>
          </a:prstGeom>
          <a:noFill/>
          <a:ln/>
        </p:spPr>
        <p:txBody>
          <a:bodyPr wrap="square" lIns="0" tIns="0" rIns="0" bIns="0" rtlCol="0" anchor="ctr"/>
          <a:lstStyle/>
          <a:p>
            <a:pPr indent="0" marL="0">
              <a:buNone/>
            </a:pPr>
            <a:r>
              <a:rPr lang="en-US" sz="1450" i="1" dirty="0">
                <a:solidFill>
                  <a:srgbClr val="5A6480"/>
                </a:solidFill>
                <a:latin typeface="Calibri" pitchFamily="34" charset="0"/>
                <a:ea typeface="Calibri" pitchFamily="34" charset="-122"/>
                <a:cs typeface="Calibri" pitchFamily="34" charset="-120"/>
              </a:rPr>
              <a:t>Openness is converted into an enterprise wedge: inspectable, composable, privately deployable models.</a:t>
            </a:r>
            <a:endParaRPr lang="en-US" sz="1450" dirty="0"/>
          </a:p>
        </p:txBody>
      </p:sp>
      <p:sp>
        <p:nvSpPr>
          <p:cNvPr id="7" name="Shape 5"/>
          <p:cNvSpPr/>
          <p:nvPr/>
        </p:nvSpPr>
        <p:spPr>
          <a:xfrm>
            <a:off x="548640" y="2011680"/>
            <a:ext cx="10607040" cy="1005840"/>
          </a:xfrm>
          <a:prstGeom prst="roundRect">
            <a:avLst>
              <a:gd name="adj" fmla="val 9091"/>
            </a:avLst>
          </a:prstGeom>
          <a:solidFill>
            <a:srgbClr val="F4F6FB"/>
          </a:solidFill>
          <a:ln w="12700">
            <a:solidFill>
              <a:srgbClr val="DDE2EE"/>
            </a:solidFill>
            <a:prstDash val="solid"/>
          </a:ln>
        </p:spPr>
      </p:sp>
      <p:sp>
        <p:nvSpPr>
          <p:cNvPr id="8" name="Shape 6"/>
          <p:cNvSpPr/>
          <p:nvPr/>
        </p:nvSpPr>
        <p:spPr>
          <a:xfrm>
            <a:off x="868680" y="2286000"/>
            <a:ext cx="457200" cy="457200"/>
          </a:xfrm>
          <a:prstGeom prst="ellipse">
            <a:avLst/>
          </a:prstGeom>
          <a:solidFill>
            <a:srgbClr val="003399"/>
          </a:solidFill>
          <a:ln w="12700">
            <a:solidFill>
              <a:srgbClr val="333333"/>
            </a:solidFill>
            <a:prstDash val="solid"/>
          </a:ln>
        </p:spPr>
      </p:sp>
      <p:sp>
        <p:nvSpPr>
          <p:cNvPr id="9" name="Text 7"/>
          <p:cNvSpPr/>
          <p:nvPr/>
        </p:nvSpPr>
        <p:spPr>
          <a:xfrm>
            <a:off x="868680" y="2286000"/>
            <a:ext cx="457200" cy="457200"/>
          </a:xfrm>
          <a:prstGeom prst="rect">
            <a:avLst/>
          </a:prstGeom>
          <a:noFill/>
          <a:ln/>
        </p:spPr>
        <p:txBody>
          <a:bodyPr wrap="square" lIns="0" tIns="0" rIns="0" bIns="0" rtlCol="0" anchor="ctr"/>
          <a:lstStyle/>
          <a:p>
            <a:pPr algn="ctr" indent="0" marL="0">
              <a:buNone/>
            </a:pPr>
            <a:r>
              <a:rPr lang="en-US" sz="1400" b="1" dirty="0">
                <a:solidFill>
                  <a:srgbClr val="FFCC00"/>
                </a:solidFill>
                <a:latin typeface="Calibri" pitchFamily="34" charset="0"/>
                <a:ea typeface="Calibri" pitchFamily="34" charset="-122"/>
                <a:cs typeface="Calibri" pitchFamily="34" charset="-120"/>
              </a:rPr>
              <a:t>1</a:t>
            </a:r>
            <a:endParaRPr lang="en-US" sz="1400" dirty="0"/>
          </a:p>
        </p:txBody>
      </p:sp>
      <p:sp>
        <p:nvSpPr>
          <p:cNvPr id="10" name="Text 8"/>
          <p:cNvSpPr/>
          <p:nvPr/>
        </p:nvSpPr>
        <p:spPr>
          <a:xfrm>
            <a:off x="1554480" y="2212848"/>
            <a:ext cx="2926080" cy="411480"/>
          </a:xfrm>
          <a:prstGeom prst="rect">
            <a:avLst/>
          </a:prstGeom>
          <a:noFill/>
          <a:ln/>
        </p:spPr>
        <p:txBody>
          <a:bodyPr wrap="square" lIns="0" tIns="0" rIns="0" bIns="0" rtlCol="0" anchor="ctr"/>
          <a:lstStyle/>
          <a:p>
            <a:pPr indent="0" marL="0">
              <a:buNone/>
            </a:pPr>
            <a:r>
              <a:rPr lang="en-US" sz="1900" b="1" dirty="0">
                <a:solidFill>
                  <a:srgbClr val="003399"/>
                </a:solidFill>
                <a:latin typeface="Cambria" pitchFamily="34" charset="0"/>
                <a:ea typeface="Cambria" pitchFamily="34" charset="-122"/>
                <a:cs typeface="Cambria" pitchFamily="34" charset="-120"/>
              </a:rPr>
              <a:t>Open models</a:t>
            </a:r>
            <a:endParaRPr lang="en-US" sz="1900" dirty="0"/>
          </a:p>
        </p:txBody>
      </p:sp>
      <p:sp>
        <p:nvSpPr>
          <p:cNvPr id="11" name="Text 9"/>
          <p:cNvSpPr/>
          <p:nvPr/>
        </p:nvSpPr>
        <p:spPr>
          <a:xfrm>
            <a:off x="4572000" y="2212848"/>
            <a:ext cx="6309360" cy="640080"/>
          </a:xfrm>
          <a:prstGeom prst="rect">
            <a:avLst/>
          </a:prstGeom>
          <a:noFill/>
          <a:ln/>
        </p:spPr>
        <p:txBody>
          <a:bodyPr wrap="square" lIns="0" tIns="0" rIns="0" bIns="0" rtlCol="0" anchor="ctr"/>
          <a:lstStyle/>
          <a:p>
            <a:pPr indent="0" marL="0">
              <a:lnSpc>
                <a:spcPts val="2000"/>
              </a:lnSpc>
              <a:buNone/>
            </a:pPr>
            <a:r>
              <a:rPr lang="en-US" sz="1400" dirty="0">
                <a:solidFill>
                  <a:srgbClr val="5A6480"/>
                </a:solidFill>
                <a:latin typeface="Calibri" pitchFamily="34" charset="0"/>
                <a:ea typeface="Calibri" pitchFamily="34" charset="-122"/>
                <a:cs typeface="Calibri" pitchFamily="34" charset="-120"/>
              </a:rPr>
              <a:t>Developer reach and a hiring edge that closed labs cannot match on distribution.</a:t>
            </a:r>
            <a:endParaRPr lang="en-US" sz="1400" dirty="0"/>
          </a:p>
        </p:txBody>
      </p:sp>
      <p:sp>
        <p:nvSpPr>
          <p:cNvPr id="12" name="Shape 10"/>
          <p:cNvSpPr/>
          <p:nvPr/>
        </p:nvSpPr>
        <p:spPr>
          <a:xfrm>
            <a:off x="548640" y="3108960"/>
            <a:ext cx="10607040" cy="1005840"/>
          </a:xfrm>
          <a:prstGeom prst="roundRect">
            <a:avLst>
              <a:gd name="adj" fmla="val 9091"/>
            </a:avLst>
          </a:prstGeom>
          <a:solidFill>
            <a:srgbClr val="F4F6FB"/>
          </a:solidFill>
          <a:ln w="12700">
            <a:solidFill>
              <a:srgbClr val="DDE2EE"/>
            </a:solidFill>
            <a:prstDash val="solid"/>
          </a:ln>
        </p:spPr>
      </p:sp>
      <p:sp>
        <p:nvSpPr>
          <p:cNvPr id="13" name="Shape 11"/>
          <p:cNvSpPr/>
          <p:nvPr/>
        </p:nvSpPr>
        <p:spPr>
          <a:xfrm>
            <a:off x="868680" y="3383280"/>
            <a:ext cx="457200" cy="457200"/>
          </a:xfrm>
          <a:prstGeom prst="ellipse">
            <a:avLst/>
          </a:prstGeom>
          <a:solidFill>
            <a:srgbClr val="003399"/>
          </a:solidFill>
          <a:ln w="12700">
            <a:solidFill>
              <a:srgbClr val="333333"/>
            </a:solidFill>
            <a:prstDash val="solid"/>
          </a:ln>
        </p:spPr>
      </p:sp>
      <p:sp>
        <p:nvSpPr>
          <p:cNvPr id="14" name="Text 12"/>
          <p:cNvSpPr/>
          <p:nvPr/>
        </p:nvSpPr>
        <p:spPr>
          <a:xfrm>
            <a:off x="868680" y="3383280"/>
            <a:ext cx="457200" cy="457200"/>
          </a:xfrm>
          <a:prstGeom prst="rect">
            <a:avLst/>
          </a:prstGeom>
          <a:noFill/>
          <a:ln/>
        </p:spPr>
        <p:txBody>
          <a:bodyPr wrap="square" lIns="0" tIns="0" rIns="0" bIns="0" rtlCol="0" anchor="ctr"/>
          <a:lstStyle/>
          <a:p>
            <a:pPr algn="ctr" indent="0" marL="0">
              <a:buNone/>
            </a:pPr>
            <a:r>
              <a:rPr lang="en-US" sz="1400" b="1" dirty="0">
                <a:solidFill>
                  <a:srgbClr val="FFCC00"/>
                </a:solidFill>
                <a:latin typeface="Calibri" pitchFamily="34" charset="0"/>
                <a:ea typeface="Calibri" pitchFamily="34" charset="-122"/>
                <a:cs typeface="Calibri" pitchFamily="34" charset="-120"/>
              </a:rPr>
              <a:t>2</a:t>
            </a:r>
            <a:endParaRPr lang="en-US" sz="1400" dirty="0"/>
          </a:p>
        </p:txBody>
      </p:sp>
      <p:sp>
        <p:nvSpPr>
          <p:cNvPr id="15" name="Text 13"/>
          <p:cNvSpPr/>
          <p:nvPr/>
        </p:nvSpPr>
        <p:spPr>
          <a:xfrm>
            <a:off x="1554480" y="3310128"/>
            <a:ext cx="2926080" cy="411480"/>
          </a:xfrm>
          <a:prstGeom prst="rect">
            <a:avLst/>
          </a:prstGeom>
          <a:noFill/>
          <a:ln/>
        </p:spPr>
        <p:txBody>
          <a:bodyPr wrap="square" lIns="0" tIns="0" rIns="0" bIns="0" rtlCol="0" anchor="ctr"/>
          <a:lstStyle/>
          <a:p>
            <a:pPr indent="0" marL="0">
              <a:buNone/>
            </a:pPr>
            <a:r>
              <a:rPr lang="en-US" sz="1900" b="1" dirty="0">
                <a:solidFill>
                  <a:srgbClr val="003399"/>
                </a:solidFill>
                <a:latin typeface="Cambria" pitchFamily="34" charset="0"/>
                <a:ea typeface="Cambria" pitchFamily="34" charset="-122"/>
                <a:cs typeface="Cambria" pitchFamily="34" charset="-120"/>
              </a:rPr>
              <a:t>White-box access</a:t>
            </a:r>
            <a:endParaRPr lang="en-US" sz="1900" dirty="0"/>
          </a:p>
        </p:txBody>
      </p:sp>
      <p:sp>
        <p:nvSpPr>
          <p:cNvPr id="16" name="Text 14"/>
          <p:cNvSpPr/>
          <p:nvPr/>
        </p:nvSpPr>
        <p:spPr>
          <a:xfrm>
            <a:off x="4572000" y="3310128"/>
            <a:ext cx="6309360" cy="640080"/>
          </a:xfrm>
          <a:prstGeom prst="rect">
            <a:avLst/>
          </a:prstGeom>
          <a:noFill/>
          <a:ln/>
        </p:spPr>
        <p:txBody>
          <a:bodyPr wrap="square" lIns="0" tIns="0" rIns="0" bIns="0" rtlCol="0" anchor="ctr"/>
          <a:lstStyle/>
          <a:p>
            <a:pPr indent="0" marL="0">
              <a:lnSpc>
                <a:spcPts val="2000"/>
              </a:lnSpc>
              <a:buNone/>
            </a:pPr>
            <a:r>
              <a:rPr lang="en-US" sz="1400" dirty="0">
                <a:solidFill>
                  <a:srgbClr val="5A6480"/>
                </a:solidFill>
                <a:latin typeface="Calibri" pitchFamily="34" charset="0"/>
                <a:ea typeface="Calibri" pitchFamily="34" charset="-122"/>
                <a:cs typeface="Calibri" pitchFamily="34" charset="-120"/>
              </a:rPr>
              <a:t>Inspectable internals give enterprises the audit and assurance path they require.</a:t>
            </a:r>
            <a:endParaRPr lang="en-US" sz="1400" dirty="0"/>
          </a:p>
        </p:txBody>
      </p:sp>
      <p:sp>
        <p:nvSpPr>
          <p:cNvPr id="17" name="Shape 15"/>
          <p:cNvSpPr/>
          <p:nvPr/>
        </p:nvSpPr>
        <p:spPr>
          <a:xfrm>
            <a:off x="548640" y="4206240"/>
            <a:ext cx="10607040" cy="1005840"/>
          </a:xfrm>
          <a:prstGeom prst="roundRect">
            <a:avLst>
              <a:gd name="adj" fmla="val 9091"/>
            </a:avLst>
          </a:prstGeom>
          <a:solidFill>
            <a:srgbClr val="F4F6FB"/>
          </a:solidFill>
          <a:ln w="12700">
            <a:solidFill>
              <a:srgbClr val="DDE2EE"/>
            </a:solidFill>
            <a:prstDash val="solid"/>
          </a:ln>
        </p:spPr>
      </p:sp>
      <p:sp>
        <p:nvSpPr>
          <p:cNvPr id="18" name="Shape 16"/>
          <p:cNvSpPr/>
          <p:nvPr/>
        </p:nvSpPr>
        <p:spPr>
          <a:xfrm>
            <a:off x="868680" y="4480560"/>
            <a:ext cx="457200" cy="457200"/>
          </a:xfrm>
          <a:prstGeom prst="ellipse">
            <a:avLst/>
          </a:prstGeom>
          <a:solidFill>
            <a:srgbClr val="003399"/>
          </a:solidFill>
          <a:ln w="12700">
            <a:solidFill>
              <a:srgbClr val="333333"/>
            </a:solidFill>
            <a:prstDash val="solid"/>
          </a:ln>
        </p:spPr>
      </p:sp>
      <p:sp>
        <p:nvSpPr>
          <p:cNvPr id="19" name="Text 17"/>
          <p:cNvSpPr/>
          <p:nvPr/>
        </p:nvSpPr>
        <p:spPr>
          <a:xfrm>
            <a:off x="868680" y="4480560"/>
            <a:ext cx="457200" cy="457200"/>
          </a:xfrm>
          <a:prstGeom prst="rect">
            <a:avLst/>
          </a:prstGeom>
          <a:noFill/>
          <a:ln/>
        </p:spPr>
        <p:txBody>
          <a:bodyPr wrap="square" lIns="0" tIns="0" rIns="0" bIns="0" rtlCol="0" anchor="ctr"/>
          <a:lstStyle/>
          <a:p>
            <a:pPr algn="ctr" indent="0" marL="0">
              <a:buNone/>
            </a:pPr>
            <a:r>
              <a:rPr lang="en-US" sz="1400" b="1" dirty="0">
                <a:solidFill>
                  <a:srgbClr val="FFCC00"/>
                </a:solidFill>
                <a:latin typeface="Calibri" pitchFamily="34" charset="0"/>
                <a:ea typeface="Calibri" pitchFamily="34" charset="-122"/>
                <a:cs typeface="Calibri" pitchFamily="34" charset="-120"/>
              </a:rPr>
              <a:t>3</a:t>
            </a:r>
            <a:endParaRPr lang="en-US" sz="1400" dirty="0"/>
          </a:p>
        </p:txBody>
      </p:sp>
      <p:sp>
        <p:nvSpPr>
          <p:cNvPr id="20" name="Text 18"/>
          <p:cNvSpPr/>
          <p:nvPr/>
        </p:nvSpPr>
        <p:spPr>
          <a:xfrm>
            <a:off x="1554480" y="4407408"/>
            <a:ext cx="2926080" cy="411480"/>
          </a:xfrm>
          <a:prstGeom prst="rect">
            <a:avLst/>
          </a:prstGeom>
          <a:noFill/>
          <a:ln/>
        </p:spPr>
        <p:txBody>
          <a:bodyPr wrap="square" lIns="0" tIns="0" rIns="0" bIns="0" rtlCol="0" anchor="ctr"/>
          <a:lstStyle/>
          <a:p>
            <a:pPr indent="0" marL="0">
              <a:buNone/>
            </a:pPr>
            <a:r>
              <a:rPr lang="en-US" sz="1900" b="1" dirty="0">
                <a:solidFill>
                  <a:srgbClr val="003399"/>
                </a:solidFill>
                <a:latin typeface="Cambria" pitchFamily="34" charset="0"/>
                <a:ea typeface="Cambria" pitchFamily="34" charset="-122"/>
                <a:cs typeface="Cambria" pitchFamily="34" charset="-120"/>
              </a:rPr>
              <a:t>Private deployment</a:t>
            </a:r>
            <a:endParaRPr lang="en-US" sz="1900" dirty="0"/>
          </a:p>
        </p:txBody>
      </p:sp>
      <p:sp>
        <p:nvSpPr>
          <p:cNvPr id="21" name="Text 19"/>
          <p:cNvSpPr/>
          <p:nvPr/>
        </p:nvSpPr>
        <p:spPr>
          <a:xfrm>
            <a:off x="4572000" y="4407408"/>
            <a:ext cx="6309360" cy="640080"/>
          </a:xfrm>
          <a:prstGeom prst="rect">
            <a:avLst/>
          </a:prstGeom>
          <a:noFill/>
          <a:ln/>
        </p:spPr>
        <p:txBody>
          <a:bodyPr wrap="square" lIns="0" tIns="0" rIns="0" bIns="0" rtlCol="0" anchor="ctr"/>
          <a:lstStyle/>
          <a:p>
            <a:pPr indent="0" marL="0">
              <a:lnSpc>
                <a:spcPts val="2000"/>
              </a:lnSpc>
              <a:buNone/>
            </a:pPr>
            <a:r>
              <a:rPr lang="en-US" sz="1400" dirty="0">
                <a:solidFill>
                  <a:srgbClr val="5A6480"/>
                </a:solidFill>
                <a:latin typeface="Calibri" pitchFamily="34" charset="0"/>
                <a:ea typeface="Calibri" pitchFamily="34" charset="-122"/>
                <a:cs typeface="Calibri" pitchFamily="34" charset="-120"/>
              </a:rPr>
              <a:t>Customer data stays under customer control, on-premise or on-device.</a:t>
            </a:r>
            <a:endParaRPr lang="en-US" sz="1400" dirty="0"/>
          </a:p>
        </p:txBody>
      </p:sp>
      <p:sp>
        <p:nvSpPr>
          <p:cNvPr id="22" name="Shape 20"/>
          <p:cNvSpPr/>
          <p:nvPr/>
        </p:nvSpPr>
        <p:spPr>
          <a:xfrm>
            <a:off x="548640" y="5440680"/>
            <a:ext cx="10607040" cy="566928"/>
          </a:xfrm>
          <a:prstGeom prst="roundRect">
            <a:avLst>
              <a:gd name="adj" fmla="val 16129"/>
            </a:avLst>
          </a:prstGeom>
          <a:solidFill>
            <a:srgbClr val="00246B"/>
          </a:solidFill>
          <a:ln w="12700">
            <a:solidFill>
              <a:srgbClr val="333333"/>
            </a:solidFill>
            <a:prstDash val="solid"/>
          </a:ln>
        </p:spPr>
      </p:sp>
      <p:sp>
        <p:nvSpPr>
          <p:cNvPr id="23" name="Text 21"/>
          <p:cNvSpPr/>
          <p:nvPr/>
        </p:nvSpPr>
        <p:spPr>
          <a:xfrm>
            <a:off x="822960" y="5440680"/>
            <a:ext cx="10058400" cy="56692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wedge is not open versus closed. It is open where trust compounds, controlled where customers need value capture.</a:t>
            </a:r>
            <a:endParaRPr lang="en-US" sz="1400" dirty="0"/>
          </a:p>
        </p:txBody>
      </p:sp>
      <p:sp>
        <p:nvSpPr>
          <p:cNvPr id="24" name="Text 22"/>
          <p:cNvSpPr/>
          <p:nvPr/>
        </p:nvSpPr>
        <p:spPr>
          <a:xfrm>
            <a:off x="548640" y="6263640"/>
            <a:ext cx="7315200" cy="274320"/>
          </a:xfrm>
          <a:prstGeom prst="rect">
            <a:avLst/>
          </a:prstGeom>
          <a:noFill/>
          <a:ln/>
        </p:spPr>
        <p:txBody>
          <a:bodyPr wrap="square" lIns="0" tIns="0" rIns="0" bIns="0" rtlCol="0" anchor="ctr"/>
          <a:lstStyle/>
          <a:p>
            <a:pPr indent="0" marL="0">
              <a:buNone/>
            </a:pPr>
            <a:r>
              <a:rPr lang="en-US" sz="950" dirty="0">
                <a:solidFill>
                  <a:srgbClr val="5A6480"/>
                </a:solidFill>
                <a:latin typeface="Calibri" pitchFamily="34" charset="0"/>
                <a:ea typeface="Calibri" pitchFamily="34" charset="-122"/>
                <a:cs typeface="Calibri" pitchFamily="34" charset="-120"/>
              </a:rPr>
              <a:t>Mistral AI  |  Company thesis and European AI stack</a:t>
            </a:r>
            <a:endParaRPr lang="en-US" sz="950" dirty="0"/>
          </a:p>
        </p:txBody>
      </p:sp>
      <p:sp>
        <p:nvSpPr>
          <p:cNvPr id="25" name="Text 23"/>
          <p:cNvSpPr/>
          <p:nvPr/>
        </p:nvSpPr>
        <p:spPr>
          <a:xfrm>
            <a:off x="10241280" y="6263640"/>
            <a:ext cx="1371600" cy="274320"/>
          </a:xfrm>
          <a:prstGeom prst="rect">
            <a:avLst/>
          </a:prstGeom>
          <a:noFill/>
          <a:ln/>
        </p:spPr>
        <p:txBody>
          <a:bodyPr wrap="square" lIns="0" tIns="0" rIns="0" bIns="0" rtlCol="0" anchor="ctr"/>
          <a:lstStyle/>
          <a:p>
            <a:pPr algn="r" indent="0" marL="0">
              <a:buNone/>
            </a:pPr>
            <a:r>
              <a:rPr lang="en-US" sz="950" dirty="0">
                <a:solidFill>
                  <a:srgbClr val="5A6480"/>
                </a:solidFill>
                <a:latin typeface="Calibri" pitchFamily="34" charset="0"/>
                <a:ea typeface="Calibri" pitchFamily="34" charset="-122"/>
                <a:cs typeface="Calibri" pitchFamily="34" charset="-120"/>
              </a:rPr>
              <a:t>5 / 8</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75488"/>
            <a:ext cx="457200" cy="457200"/>
          </a:xfrm>
          <a:prstGeom prst="ellipse">
            <a:avLst/>
          </a:prstGeom>
          <a:solidFill>
            <a:srgbClr val="003399"/>
          </a:solidFill>
          <a:ln w="12700">
            <a:solidFill>
              <a:srgbClr val="333333"/>
            </a:solidFill>
            <a:prstDash val="solid"/>
          </a:ln>
        </p:spPr>
      </p:sp>
      <p:sp>
        <p:nvSpPr>
          <p:cNvPr id="3" name="Text 1"/>
          <p:cNvSpPr/>
          <p:nvPr/>
        </p:nvSpPr>
        <p:spPr>
          <a:xfrm>
            <a:off x="548640" y="475488"/>
            <a:ext cx="457200" cy="457200"/>
          </a:xfrm>
          <a:prstGeom prst="rect">
            <a:avLst/>
          </a:prstGeom>
          <a:noFill/>
          <a:ln/>
        </p:spPr>
        <p:txBody>
          <a:bodyPr wrap="square" lIns="0" tIns="0" rIns="0" bIns="0" rtlCol="0" anchor="ctr"/>
          <a:lstStyle/>
          <a:p>
            <a:pPr algn="ctr" indent="0" marL="0">
              <a:buNone/>
            </a:pPr>
            <a:r>
              <a:rPr lang="en-US" sz="1300" b="1" dirty="0">
                <a:solidFill>
                  <a:srgbClr val="FFCC00"/>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43000" y="502920"/>
            <a:ext cx="7315200" cy="256032"/>
          </a:xfrm>
          <a:prstGeom prst="rect">
            <a:avLst/>
          </a:prstGeom>
          <a:noFill/>
          <a:ln/>
        </p:spPr>
        <p:txBody>
          <a:bodyPr wrap="square" lIns="0" tIns="0" rIns="0" bIns="0" rtlCol="0" anchor="ctr"/>
          <a:lstStyle/>
          <a:p>
            <a:pPr indent="0" marL="0">
              <a:buNone/>
            </a:pPr>
            <a:r>
              <a:rPr lang="en-US" sz="1100" b="1" spc="200" kern="0" dirty="0">
                <a:solidFill>
                  <a:srgbClr val="003399"/>
                </a:solidFill>
                <a:latin typeface="Calibri" pitchFamily="34" charset="0"/>
                <a:ea typeface="Calibri" pitchFamily="34" charset="-122"/>
                <a:cs typeface="Calibri" pitchFamily="34" charset="-120"/>
              </a:rPr>
              <a:t>OPERATING MODEL</a:t>
            </a:r>
            <a:endParaRPr lang="en-US" sz="1100" dirty="0"/>
          </a:p>
        </p:txBody>
      </p:sp>
      <p:sp>
        <p:nvSpPr>
          <p:cNvPr id="5" name="Text 3"/>
          <p:cNvSpPr/>
          <p:nvPr/>
        </p:nvSpPr>
        <p:spPr>
          <a:xfrm>
            <a:off x="1133856" y="749808"/>
            <a:ext cx="9601200" cy="566928"/>
          </a:xfrm>
          <a:prstGeom prst="rect">
            <a:avLst/>
          </a:prstGeom>
          <a:noFill/>
          <a:ln/>
        </p:spPr>
        <p:txBody>
          <a:bodyPr wrap="square" lIns="0" tIns="0" rIns="0" bIns="0" rtlCol="0" anchor="ctr"/>
          <a:lstStyle/>
          <a:p>
            <a:pPr indent="0" marL="0">
              <a:buNone/>
            </a:pPr>
            <a:r>
              <a:rPr lang="en-US" sz="3200" b="1" dirty="0">
                <a:solidFill>
                  <a:srgbClr val="111A33"/>
                </a:solidFill>
                <a:latin typeface="Cambria" pitchFamily="34" charset="0"/>
                <a:ea typeface="Cambria" pitchFamily="34" charset="-122"/>
                <a:cs typeface="Cambria" pitchFamily="34" charset="-120"/>
              </a:rPr>
              <a:t>The operating model is a flywheel</a:t>
            </a:r>
            <a:endParaRPr lang="en-US" sz="3200" dirty="0"/>
          </a:p>
        </p:txBody>
      </p:sp>
      <p:sp>
        <p:nvSpPr>
          <p:cNvPr id="6" name="Text 4"/>
          <p:cNvSpPr/>
          <p:nvPr/>
        </p:nvSpPr>
        <p:spPr>
          <a:xfrm>
            <a:off x="1152144" y="1389888"/>
            <a:ext cx="9509760" cy="365760"/>
          </a:xfrm>
          <a:prstGeom prst="rect">
            <a:avLst/>
          </a:prstGeom>
          <a:noFill/>
          <a:ln/>
        </p:spPr>
        <p:txBody>
          <a:bodyPr wrap="square" lIns="0" tIns="0" rIns="0" bIns="0" rtlCol="0" anchor="ctr"/>
          <a:lstStyle/>
          <a:p>
            <a:pPr indent="0" marL="0">
              <a:buNone/>
            </a:pPr>
            <a:r>
              <a:rPr lang="en-US" sz="1450" i="1" dirty="0">
                <a:solidFill>
                  <a:srgbClr val="5A6480"/>
                </a:solidFill>
                <a:latin typeface="Calibri" pitchFamily="34" charset="0"/>
                <a:ea typeface="Calibri" pitchFamily="34" charset="-122"/>
                <a:cs typeface="Calibri" pitchFamily="34" charset="-120"/>
              </a:rPr>
              <a:t>Company execution proves the wedge; policy compresses cycle time around every turn of the loop.</a:t>
            </a:r>
            <a:endParaRPr lang="en-US" sz="1450" dirty="0"/>
          </a:p>
        </p:txBody>
      </p:sp>
      <p:sp>
        <p:nvSpPr>
          <p:cNvPr id="7" name="Shape 5"/>
          <p:cNvSpPr/>
          <p:nvPr/>
        </p:nvSpPr>
        <p:spPr>
          <a:xfrm>
            <a:off x="548640" y="2377440"/>
            <a:ext cx="1956816" cy="2286000"/>
          </a:xfrm>
          <a:prstGeom prst="roundRect">
            <a:avLst>
              <a:gd name="adj" fmla="val 5607"/>
            </a:avLst>
          </a:prstGeom>
          <a:solidFill>
            <a:srgbClr val="FFFFFF"/>
          </a:solidFill>
          <a:ln w="12700">
            <a:solidFill>
              <a:srgbClr val="DDE2EE"/>
            </a:solidFill>
            <a:prstDash val="solid"/>
          </a:ln>
        </p:spPr>
      </p:sp>
      <p:sp>
        <p:nvSpPr>
          <p:cNvPr id="8" name="Shape 6"/>
          <p:cNvSpPr/>
          <p:nvPr/>
        </p:nvSpPr>
        <p:spPr>
          <a:xfrm>
            <a:off x="1252728" y="2651760"/>
            <a:ext cx="548640" cy="548640"/>
          </a:xfrm>
          <a:prstGeom prst="ellipse">
            <a:avLst/>
          </a:prstGeom>
          <a:solidFill>
            <a:srgbClr val="FFCC00"/>
          </a:solidFill>
          <a:ln w="12700">
            <a:solidFill>
              <a:srgbClr val="333333"/>
            </a:solidFill>
            <a:prstDash val="solid"/>
          </a:ln>
        </p:spPr>
      </p:sp>
      <p:sp>
        <p:nvSpPr>
          <p:cNvPr id="9" name="Text 7"/>
          <p:cNvSpPr/>
          <p:nvPr/>
        </p:nvSpPr>
        <p:spPr>
          <a:xfrm>
            <a:off x="1252728" y="2651760"/>
            <a:ext cx="548640" cy="548640"/>
          </a:xfrm>
          <a:prstGeom prst="rect">
            <a:avLst/>
          </a:prstGeom>
          <a:noFill/>
          <a:ln/>
        </p:spPr>
        <p:txBody>
          <a:bodyPr wrap="square" lIns="0" tIns="0" rIns="0" bIns="0" rtlCol="0" anchor="ctr"/>
          <a:lstStyle/>
          <a:p>
            <a:pPr algn="ctr" indent="0" marL="0">
              <a:buNone/>
            </a:pPr>
            <a:r>
              <a:rPr lang="en-US" sz="1900" b="1" dirty="0">
                <a:solidFill>
                  <a:srgbClr val="00246B"/>
                </a:solidFill>
                <a:latin typeface="Cambria" pitchFamily="34" charset="0"/>
                <a:ea typeface="Cambria" pitchFamily="34" charset="-122"/>
                <a:cs typeface="Cambria" pitchFamily="34" charset="-120"/>
              </a:rPr>
              <a:t>1</a:t>
            </a:r>
            <a:endParaRPr lang="en-US" sz="1900" dirty="0"/>
          </a:p>
        </p:txBody>
      </p:sp>
      <p:sp>
        <p:nvSpPr>
          <p:cNvPr id="10" name="Text 8"/>
          <p:cNvSpPr/>
          <p:nvPr/>
        </p:nvSpPr>
        <p:spPr>
          <a:xfrm>
            <a:off x="685800" y="3364992"/>
            <a:ext cx="1682496" cy="365760"/>
          </a:xfrm>
          <a:prstGeom prst="rect">
            <a:avLst/>
          </a:prstGeom>
          <a:noFill/>
          <a:ln/>
        </p:spPr>
        <p:txBody>
          <a:bodyPr wrap="square" lIns="0" tIns="0" rIns="0" bIns="0" rtlCol="0" anchor="ctr"/>
          <a:lstStyle/>
          <a:p>
            <a:pPr algn="ctr" indent="0" marL="0">
              <a:buNone/>
            </a:pPr>
            <a:r>
              <a:rPr lang="en-US" sz="1800" b="1" dirty="0">
                <a:solidFill>
                  <a:srgbClr val="003399"/>
                </a:solidFill>
                <a:latin typeface="Cambria" pitchFamily="34" charset="0"/>
                <a:ea typeface="Cambria" pitchFamily="34" charset="-122"/>
                <a:cs typeface="Cambria" pitchFamily="34" charset="-120"/>
              </a:rPr>
              <a:t>Talent</a:t>
            </a:r>
            <a:endParaRPr lang="en-US" sz="1800" dirty="0"/>
          </a:p>
        </p:txBody>
      </p:sp>
      <p:sp>
        <p:nvSpPr>
          <p:cNvPr id="11" name="Text 9"/>
          <p:cNvSpPr/>
          <p:nvPr/>
        </p:nvSpPr>
        <p:spPr>
          <a:xfrm>
            <a:off x="685800" y="3794760"/>
            <a:ext cx="1682496" cy="685800"/>
          </a:xfrm>
          <a:prstGeom prst="rect">
            <a:avLst/>
          </a:prstGeom>
          <a:noFill/>
          <a:ln/>
        </p:spPr>
        <p:txBody>
          <a:bodyPr wrap="square" lIns="0" tIns="0" rIns="0" bIns="0" rtlCol="0" anchor="ctr"/>
          <a:lstStyle/>
          <a:p>
            <a:pPr algn="ctr" indent="0" marL="0">
              <a:lnSpc>
                <a:spcPts val="1700"/>
              </a:lnSpc>
              <a:buNone/>
            </a:pPr>
            <a:r>
              <a:rPr lang="en-US" sz="1250" dirty="0">
                <a:solidFill>
                  <a:srgbClr val="5A6480"/>
                </a:solidFill>
                <a:latin typeface="Calibri" pitchFamily="34" charset="0"/>
                <a:ea typeface="Calibri" pitchFamily="34" charset="-122"/>
                <a:cs typeface="Calibri" pitchFamily="34" charset="-120"/>
              </a:rPr>
              <a:t>a rare AI team</a:t>
            </a:r>
            <a:endParaRPr lang="en-US" sz="1250" dirty="0"/>
          </a:p>
        </p:txBody>
      </p:sp>
      <p:sp>
        <p:nvSpPr>
          <p:cNvPr id="12" name="Shape 10"/>
          <p:cNvSpPr/>
          <p:nvPr/>
        </p:nvSpPr>
        <p:spPr>
          <a:xfrm>
            <a:off x="2532888" y="3364992"/>
            <a:ext cx="182880" cy="201168"/>
          </a:xfrm>
          <a:prstGeom prst="rightArrow">
            <a:avLst/>
          </a:prstGeom>
          <a:solidFill>
            <a:srgbClr val="003399"/>
          </a:solidFill>
          <a:ln w="12700">
            <a:solidFill>
              <a:srgbClr val="333333"/>
            </a:solidFill>
            <a:prstDash val="solid"/>
          </a:ln>
        </p:spPr>
      </p:sp>
      <p:sp>
        <p:nvSpPr>
          <p:cNvPr id="13" name="Shape 11"/>
          <p:cNvSpPr/>
          <p:nvPr/>
        </p:nvSpPr>
        <p:spPr>
          <a:xfrm>
            <a:off x="2761488" y="2377440"/>
            <a:ext cx="1956816" cy="2286000"/>
          </a:xfrm>
          <a:prstGeom prst="roundRect">
            <a:avLst>
              <a:gd name="adj" fmla="val 5607"/>
            </a:avLst>
          </a:prstGeom>
          <a:solidFill>
            <a:srgbClr val="F4F6FB"/>
          </a:solidFill>
          <a:ln w="12700">
            <a:solidFill>
              <a:srgbClr val="DDE2EE"/>
            </a:solidFill>
            <a:prstDash val="solid"/>
          </a:ln>
        </p:spPr>
      </p:sp>
      <p:sp>
        <p:nvSpPr>
          <p:cNvPr id="14" name="Shape 12"/>
          <p:cNvSpPr/>
          <p:nvPr/>
        </p:nvSpPr>
        <p:spPr>
          <a:xfrm>
            <a:off x="3465576" y="2651760"/>
            <a:ext cx="548640" cy="548640"/>
          </a:xfrm>
          <a:prstGeom prst="ellipse">
            <a:avLst/>
          </a:prstGeom>
          <a:solidFill>
            <a:srgbClr val="FFCC00"/>
          </a:solidFill>
          <a:ln w="12700">
            <a:solidFill>
              <a:srgbClr val="333333"/>
            </a:solidFill>
            <a:prstDash val="solid"/>
          </a:ln>
        </p:spPr>
      </p:sp>
      <p:sp>
        <p:nvSpPr>
          <p:cNvPr id="15" name="Text 13"/>
          <p:cNvSpPr/>
          <p:nvPr/>
        </p:nvSpPr>
        <p:spPr>
          <a:xfrm>
            <a:off x="3465576" y="2651760"/>
            <a:ext cx="548640" cy="548640"/>
          </a:xfrm>
          <a:prstGeom prst="rect">
            <a:avLst/>
          </a:prstGeom>
          <a:noFill/>
          <a:ln/>
        </p:spPr>
        <p:txBody>
          <a:bodyPr wrap="square" lIns="0" tIns="0" rIns="0" bIns="0" rtlCol="0" anchor="ctr"/>
          <a:lstStyle/>
          <a:p>
            <a:pPr algn="ctr" indent="0" marL="0">
              <a:buNone/>
            </a:pPr>
            <a:r>
              <a:rPr lang="en-US" sz="1900" b="1" dirty="0">
                <a:solidFill>
                  <a:srgbClr val="00246B"/>
                </a:solidFill>
                <a:latin typeface="Cambria" pitchFamily="34" charset="0"/>
                <a:ea typeface="Cambria" pitchFamily="34" charset="-122"/>
                <a:cs typeface="Cambria" pitchFamily="34" charset="-120"/>
              </a:rPr>
              <a:t>2</a:t>
            </a:r>
            <a:endParaRPr lang="en-US" sz="1900" dirty="0"/>
          </a:p>
        </p:txBody>
      </p:sp>
      <p:sp>
        <p:nvSpPr>
          <p:cNvPr id="16" name="Text 14"/>
          <p:cNvSpPr/>
          <p:nvPr/>
        </p:nvSpPr>
        <p:spPr>
          <a:xfrm>
            <a:off x="2898648" y="3364992"/>
            <a:ext cx="1682496" cy="365760"/>
          </a:xfrm>
          <a:prstGeom prst="rect">
            <a:avLst/>
          </a:prstGeom>
          <a:noFill/>
          <a:ln/>
        </p:spPr>
        <p:txBody>
          <a:bodyPr wrap="square" lIns="0" tIns="0" rIns="0" bIns="0" rtlCol="0" anchor="ctr"/>
          <a:lstStyle/>
          <a:p>
            <a:pPr algn="ctr" indent="0" marL="0">
              <a:buNone/>
            </a:pPr>
            <a:r>
              <a:rPr lang="en-US" sz="1800" b="1" dirty="0">
                <a:solidFill>
                  <a:srgbClr val="003399"/>
                </a:solidFill>
                <a:latin typeface="Cambria" pitchFamily="34" charset="0"/>
                <a:ea typeface="Cambria" pitchFamily="34" charset="-122"/>
                <a:cs typeface="Cambria" pitchFamily="34" charset="-120"/>
              </a:rPr>
              <a:t>Compute</a:t>
            </a:r>
            <a:endParaRPr lang="en-US" sz="1800" dirty="0"/>
          </a:p>
        </p:txBody>
      </p:sp>
      <p:sp>
        <p:nvSpPr>
          <p:cNvPr id="17" name="Text 15"/>
          <p:cNvSpPr/>
          <p:nvPr/>
        </p:nvSpPr>
        <p:spPr>
          <a:xfrm>
            <a:off x="2898648" y="3794760"/>
            <a:ext cx="1682496" cy="685800"/>
          </a:xfrm>
          <a:prstGeom prst="rect">
            <a:avLst/>
          </a:prstGeom>
          <a:noFill/>
          <a:ln/>
        </p:spPr>
        <p:txBody>
          <a:bodyPr wrap="square" lIns="0" tIns="0" rIns="0" bIns="0" rtlCol="0" anchor="ctr"/>
          <a:lstStyle/>
          <a:p>
            <a:pPr algn="ctr" indent="0" marL="0">
              <a:lnSpc>
                <a:spcPts val="1700"/>
              </a:lnSpc>
              <a:buNone/>
            </a:pPr>
            <a:r>
              <a:rPr lang="en-US" sz="1250" dirty="0">
                <a:solidFill>
                  <a:srgbClr val="5A6480"/>
                </a:solidFill>
                <a:latin typeface="Calibri" pitchFamily="34" charset="0"/>
                <a:ea typeface="Calibri" pitchFamily="34" charset="-122"/>
                <a:cs typeface="Calibri" pitchFamily="34" charset="-120"/>
              </a:rPr>
              <a:t>capacity and efficiency</a:t>
            </a:r>
            <a:endParaRPr lang="en-US" sz="1250" dirty="0"/>
          </a:p>
        </p:txBody>
      </p:sp>
      <p:sp>
        <p:nvSpPr>
          <p:cNvPr id="18" name="Shape 16"/>
          <p:cNvSpPr/>
          <p:nvPr/>
        </p:nvSpPr>
        <p:spPr>
          <a:xfrm>
            <a:off x="4745736" y="3364992"/>
            <a:ext cx="182880" cy="201168"/>
          </a:xfrm>
          <a:prstGeom prst="rightArrow">
            <a:avLst/>
          </a:prstGeom>
          <a:solidFill>
            <a:srgbClr val="003399"/>
          </a:solidFill>
          <a:ln w="12700">
            <a:solidFill>
              <a:srgbClr val="333333"/>
            </a:solidFill>
            <a:prstDash val="solid"/>
          </a:ln>
        </p:spPr>
      </p:sp>
      <p:sp>
        <p:nvSpPr>
          <p:cNvPr id="19" name="Shape 17"/>
          <p:cNvSpPr/>
          <p:nvPr/>
        </p:nvSpPr>
        <p:spPr>
          <a:xfrm>
            <a:off x="4974336" y="2377440"/>
            <a:ext cx="1956816" cy="2286000"/>
          </a:xfrm>
          <a:prstGeom prst="roundRect">
            <a:avLst>
              <a:gd name="adj" fmla="val 5607"/>
            </a:avLst>
          </a:prstGeom>
          <a:solidFill>
            <a:srgbClr val="FFFFFF"/>
          </a:solidFill>
          <a:ln w="12700">
            <a:solidFill>
              <a:srgbClr val="DDE2EE"/>
            </a:solidFill>
            <a:prstDash val="solid"/>
          </a:ln>
        </p:spPr>
      </p:sp>
      <p:sp>
        <p:nvSpPr>
          <p:cNvPr id="20" name="Shape 18"/>
          <p:cNvSpPr/>
          <p:nvPr/>
        </p:nvSpPr>
        <p:spPr>
          <a:xfrm>
            <a:off x="5678424" y="2651760"/>
            <a:ext cx="548640" cy="548640"/>
          </a:xfrm>
          <a:prstGeom prst="ellipse">
            <a:avLst/>
          </a:prstGeom>
          <a:solidFill>
            <a:srgbClr val="FFCC00"/>
          </a:solidFill>
          <a:ln w="12700">
            <a:solidFill>
              <a:srgbClr val="333333"/>
            </a:solidFill>
            <a:prstDash val="solid"/>
          </a:ln>
        </p:spPr>
      </p:sp>
      <p:sp>
        <p:nvSpPr>
          <p:cNvPr id="21" name="Text 19"/>
          <p:cNvSpPr/>
          <p:nvPr/>
        </p:nvSpPr>
        <p:spPr>
          <a:xfrm>
            <a:off x="5678424" y="2651760"/>
            <a:ext cx="548640" cy="548640"/>
          </a:xfrm>
          <a:prstGeom prst="rect">
            <a:avLst/>
          </a:prstGeom>
          <a:noFill/>
          <a:ln/>
        </p:spPr>
        <p:txBody>
          <a:bodyPr wrap="square" lIns="0" tIns="0" rIns="0" bIns="0" rtlCol="0" anchor="ctr"/>
          <a:lstStyle/>
          <a:p>
            <a:pPr algn="ctr" indent="0" marL="0">
              <a:buNone/>
            </a:pPr>
            <a:r>
              <a:rPr lang="en-US" sz="1900" b="1" dirty="0">
                <a:solidFill>
                  <a:srgbClr val="00246B"/>
                </a:solidFill>
                <a:latin typeface="Cambria" pitchFamily="34" charset="0"/>
                <a:ea typeface="Cambria" pitchFamily="34" charset="-122"/>
                <a:cs typeface="Cambria" pitchFamily="34" charset="-120"/>
              </a:rPr>
              <a:t>3</a:t>
            </a:r>
            <a:endParaRPr lang="en-US" sz="1900" dirty="0"/>
          </a:p>
        </p:txBody>
      </p:sp>
      <p:sp>
        <p:nvSpPr>
          <p:cNvPr id="22" name="Text 20"/>
          <p:cNvSpPr/>
          <p:nvPr/>
        </p:nvSpPr>
        <p:spPr>
          <a:xfrm>
            <a:off x="5111496" y="3364992"/>
            <a:ext cx="1682496" cy="365760"/>
          </a:xfrm>
          <a:prstGeom prst="rect">
            <a:avLst/>
          </a:prstGeom>
          <a:noFill/>
          <a:ln/>
        </p:spPr>
        <p:txBody>
          <a:bodyPr wrap="square" lIns="0" tIns="0" rIns="0" bIns="0" rtlCol="0" anchor="ctr"/>
          <a:lstStyle/>
          <a:p>
            <a:pPr algn="ctr" indent="0" marL="0">
              <a:buNone/>
            </a:pPr>
            <a:r>
              <a:rPr lang="en-US" sz="1800" b="1" dirty="0">
                <a:solidFill>
                  <a:srgbClr val="003399"/>
                </a:solidFill>
                <a:latin typeface="Cambria" pitchFamily="34" charset="0"/>
                <a:ea typeface="Cambria" pitchFamily="34" charset="-122"/>
                <a:cs typeface="Cambria" pitchFamily="34" charset="-120"/>
              </a:rPr>
              <a:t>Models</a:t>
            </a:r>
            <a:endParaRPr lang="en-US" sz="1800" dirty="0"/>
          </a:p>
        </p:txBody>
      </p:sp>
      <p:sp>
        <p:nvSpPr>
          <p:cNvPr id="23" name="Text 21"/>
          <p:cNvSpPr/>
          <p:nvPr/>
        </p:nvSpPr>
        <p:spPr>
          <a:xfrm>
            <a:off x="5111496" y="3794760"/>
            <a:ext cx="1682496" cy="685800"/>
          </a:xfrm>
          <a:prstGeom prst="rect">
            <a:avLst/>
          </a:prstGeom>
          <a:noFill/>
          <a:ln/>
        </p:spPr>
        <p:txBody>
          <a:bodyPr wrap="square" lIns="0" tIns="0" rIns="0" bIns="0" rtlCol="0" anchor="ctr"/>
          <a:lstStyle/>
          <a:p>
            <a:pPr algn="ctr" indent="0" marL="0">
              <a:lnSpc>
                <a:spcPts val="1700"/>
              </a:lnSpc>
              <a:buNone/>
            </a:pPr>
            <a:r>
              <a:rPr lang="en-US" sz="1250" dirty="0">
                <a:solidFill>
                  <a:srgbClr val="5A6480"/>
                </a:solidFill>
                <a:latin typeface="Calibri" pitchFamily="34" charset="0"/>
                <a:ea typeface="Calibri" pitchFamily="34" charset="-122"/>
                <a:cs typeface="Calibri" pitchFamily="34" charset="-120"/>
              </a:rPr>
              <a:t>open and controlled</a:t>
            </a:r>
            <a:endParaRPr lang="en-US" sz="1250" dirty="0"/>
          </a:p>
        </p:txBody>
      </p:sp>
      <p:sp>
        <p:nvSpPr>
          <p:cNvPr id="24" name="Shape 22"/>
          <p:cNvSpPr/>
          <p:nvPr/>
        </p:nvSpPr>
        <p:spPr>
          <a:xfrm>
            <a:off x="6958584" y="3364992"/>
            <a:ext cx="182880" cy="201168"/>
          </a:xfrm>
          <a:prstGeom prst="rightArrow">
            <a:avLst/>
          </a:prstGeom>
          <a:solidFill>
            <a:srgbClr val="003399"/>
          </a:solidFill>
          <a:ln w="12700">
            <a:solidFill>
              <a:srgbClr val="333333"/>
            </a:solidFill>
            <a:prstDash val="solid"/>
          </a:ln>
        </p:spPr>
      </p:sp>
      <p:sp>
        <p:nvSpPr>
          <p:cNvPr id="25" name="Shape 23"/>
          <p:cNvSpPr/>
          <p:nvPr/>
        </p:nvSpPr>
        <p:spPr>
          <a:xfrm>
            <a:off x="7187184" y="2377440"/>
            <a:ext cx="1956816" cy="2286000"/>
          </a:xfrm>
          <a:prstGeom prst="roundRect">
            <a:avLst>
              <a:gd name="adj" fmla="val 5607"/>
            </a:avLst>
          </a:prstGeom>
          <a:solidFill>
            <a:srgbClr val="F4F6FB"/>
          </a:solidFill>
          <a:ln w="12700">
            <a:solidFill>
              <a:srgbClr val="DDE2EE"/>
            </a:solidFill>
            <a:prstDash val="solid"/>
          </a:ln>
        </p:spPr>
      </p:sp>
      <p:sp>
        <p:nvSpPr>
          <p:cNvPr id="26" name="Shape 24"/>
          <p:cNvSpPr/>
          <p:nvPr/>
        </p:nvSpPr>
        <p:spPr>
          <a:xfrm>
            <a:off x="7891272" y="2651760"/>
            <a:ext cx="548640" cy="548640"/>
          </a:xfrm>
          <a:prstGeom prst="ellipse">
            <a:avLst/>
          </a:prstGeom>
          <a:solidFill>
            <a:srgbClr val="FFCC00"/>
          </a:solidFill>
          <a:ln w="12700">
            <a:solidFill>
              <a:srgbClr val="333333"/>
            </a:solidFill>
            <a:prstDash val="solid"/>
          </a:ln>
        </p:spPr>
      </p:sp>
      <p:sp>
        <p:nvSpPr>
          <p:cNvPr id="27" name="Text 25"/>
          <p:cNvSpPr/>
          <p:nvPr/>
        </p:nvSpPr>
        <p:spPr>
          <a:xfrm>
            <a:off x="7891272" y="2651760"/>
            <a:ext cx="548640" cy="548640"/>
          </a:xfrm>
          <a:prstGeom prst="rect">
            <a:avLst/>
          </a:prstGeom>
          <a:noFill/>
          <a:ln/>
        </p:spPr>
        <p:txBody>
          <a:bodyPr wrap="square" lIns="0" tIns="0" rIns="0" bIns="0" rtlCol="0" anchor="ctr"/>
          <a:lstStyle/>
          <a:p>
            <a:pPr algn="ctr" indent="0" marL="0">
              <a:buNone/>
            </a:pPr>
            <a:r>
              <a:rPr lang="en-US" sz="1900" b="1" dirty="0">
                <a:solidFill>
                  <a:srgbClr val="00246B"/>
                </a:solidFill>
                <a:latin typeface="Cambria" pitchFamily="34" charset="0"/>
                <a:ea typeface="Cambria" pitchFamily="34" charset="-122"/>
                <a:cs typeface="Cambria" pitchFamily="34" charset="-120"/>
              </a:rPr>
              <a:t>4</a:t>
            </a:r>
            <a:endParaRPr lang="en-US" sz="1900" dirty="0"/>
          </a:p>
        </p:txBody>
      </p:sp>
      <p:sp>
        <p:nvSpPr>
          <p:cNvPr id="28" name="Text 26"/>
          <p:cNvSpPr/>
          <p:nvPr/>
        </p:nvSpPr>
        <p:spPr>
          <a:xfrm>
            <a:off x="7324344" y="3364992"/>
            <a:ext cx="1682496" cy="365760"/>
          </a:xfrm>
          <a:prstGeom prst="rect">
            <a:avLst/>
          </a:prstGeom>
          <a:noFill/>
          <a:ln/>
        </p:spPr>
        <p:txBody>
          <a:bodyPr wrap="square" lIns="0" tIns="0" rIns="0" bIns="0" rtlCol="0" anchor="ctr"/>
          <a:lstStyle/>
          <a:p>
            <a:pPr algn="ctr" indent="0" marL="0">
              <a:buNone/>
            </a:pPr>
            <a:r>
              <a:rPr lang="en-US" sz="1800" b="1" dirty="0">
                <a:solidFill>
                  <a:srgbClr val="003399"/>
                </a:solidFill>
                <a:latin typeface="Cambria" pitchFamily="34" charset="0"/>
                <a:ea typeface="Cambria" pitchFamily="34" charset="-122"/>
                <a:cs typeface="Cambria" pitchFamily="34" charset="-120"/>
              </a:rPr>
              <a:t>Adoption</a:t>
            </a:r>
            <a:endParaRPr lang="en-US" sz="1800" dirty="0"/>
          </a:p>
        </p:txBody>
      </p:sp>
      <p:sp>
        <p:nvSpPr>
          <p:cNvPr id="29" name="Text 27"/>
          <p:cNvSpPr/>
          <p:nvPr/>
        </p:nvSpPr>
        <p:spPr>
          <a:xfrm>
            <a:off x="7324344" y="3794760"/>
            <a:ext cx="1682496" cy="685800"/>
          </a:xfrm>
          <a:prstGeom prst="rect">
            <a:avLst/>
          </a:prstGeom>
          <a:noFill/>
          <a:ln/>
        </p:spPr>
        <p:txBody>
          <a:bodyPr wrap="square" lIns="0" tIns="0" rIns="0" bIns="0" rtlCol="0" anchor="ctr"/>
          <a:lstStyle/>
          <a:p>
            <a:pPr algn="ctr" indent="0" marL="0">
              <a:lnSpc>
                <a:spcPts val="1700"/>
              </a:lnSpc>
              <a:buNone/>
            </a:pPr>
            <a:r>
              <a:rPr lang="en-US" sz="1250" dirty="0">
                <a:solidFill>
                  <a:srgbClr val="5A6480"/>
                </a:solidFill>
                <a:latin typeface="Calibri" pitchFamily="34" charset="0"/>
                <a:ea typeface="Calibri" pitchFamily="34" charset="-122"/>
                <a:cs typeface="Calibri" pitchFamily="34" charset="-120"/>
              </a:rPr>
              <a:t>public and enterprise</a:t>
            </a:r>
            <a:endParaRPr lang="en-US" sz="1250" dirty="0"/>
          </a:p>
        </p:txBody>
      </p:sp>
      <p:sp>
        <p:nvSpPr>
          <p:cNvPr id="30" name="Shape 28"/>
          <p:cNvSpPr/>
          <p:nvPr/>
        </p:nvSpPr>
        <p:spPr>
          <a:xfrm>
            <a:off x="9171432" y="3364992"/>
            <a:ext cx="182880" cy="201168"/>
          </a:xfrm>
          <a:prstGeom prst="rightArrow">
            <a:avLst/>
          </a:prstGeom>
          <a:solidFill>
            <a:srgbClr val="003399"/>
          </a:solidFill>
          <a:ln w="12700">
            <a:solidFill>
              <a:srgbClr val="333333"/>
            </a:solidFill>
            <a:prstDash val="solid"/>
          </a:ln>
        </p:spPr>
      </p:sp>
      <p:sp>
        <p:nvSpPr>
          <p:cNvPr id="31" name="Shape 29"/>
          <p:cNvSpPr/>
          <p:nvPr/>
        </p:nvSpPr>
        <p:spPr>
          <a:xfrm>
            <a:off x="9400032" y="2377440"/>
            <a:ext cx="1956816" cy="2286000"/>
          </a:xfrm>
          <a:prstGeom prst="roundRect">
            <a:avLst>
              <a:gd name="adj" fmla="val 5607"/>
            </a:avLst>
          </a:prstGeom>
          <a:solidFill>
            <a:srgbClr val="FFFFFF"/>
          </a:solidFill>
          <a:ln w="12700">
            <a:solidFill>
              <a:srgbClr val="DDE2EE"/>
            </a:solidFill>
            <a:prstDash val="solid"/>
          </a:ln>
        </p:spPr>
      </p:sp>
      <p:sp>
        <p:nvSpPr>
          <p:cNvPr id="32" name="Shape 30"/>
          <p:cNvSpPr/>
          <p:nvPr/>
        </p:nvSpPr>
        <p:spPr>
          <a:xfrm>
            <a:off x="10104120" y="2651760"/>
            <a:ext cx="548640" cy="548640"/>
          </a:xfrm>
          <a:prstGeom prst="ellipse">
            <a:avLst/>
          </a:prstGeom>
          <a:solidFill>
            <a:srgbClr val="FFCC00"/>
          </a:solidFill>
          <a:ln w="12700">
            <a:solidFill>
              <a:srgbClr val="333333"/>
            </a:solidFill>
            <a:prstDash val="solid"/>
          </a:ln>
        </p:spPr>
      </p:sp>
      <p:sp>
        <p:nvSpPr>
          <p:cNvPr id="33" name="Text 31"/>
          <p:cNvSpPr/>
          <p:nvPr/>
        </p:nvSpPr>
        <p:spPr>
          <a:xfrm>
            <a:off x="10104120" y="2651760"/>
            <a:ext cx="548640" cy="548640"/>
          </a:xfrm>
          <a:prstGeom prst="rect">
            <a:avLst/>
          </a:prstGeom>
          <a:noFill/>
          <a:ln/>
        </p:spPr>
        <p:txBody>
          <a:bodyPr wrap="square" lIns="0" tIns="0" rIns="0" bIns="0" rtlCol="0" anchor="ctr"/>
          <a:lstStyle/>
          <a:p>
            <a:pPr algn="ctr" indent="0" marL="0">
              <a:buNone/>
            </a:pPr>
            <a:r>
              <a:rPr lang="en-US" sz="1900" b="1" dirty="0">
                <a:solidFill>
                  <a:srgbClr val="00246B"/>
                </a:solidFill>
                <a:latin typeface="Cambria" pitchFamily="34" charset="0"/>
                <a:ea typeface="Cambria" pitchFamily="34" charset="-122"/>
                <a:cs typeface="Cambria" pitchFamily="34" charset="-120"/>
              </a:rPr>
              <a:t>5</a:t>
            </a:r>
            <a:endParaRPr lang="en-US" sz="1900" dirty="0"/>
          </a:p>
        </p:txBody>
      </p:sp>
      <p:sp>
        <p:nvSpPr>
          <p:cNvPr id="34" name="Text 32"/>
          <p:cNvSpPr/>
          <p:nvPr/>
        </p:nvSpPr>
        <p:spPr>
          <a:xfrm>
            <a:off x="9537192" y="3364992"/>
            <a:ext cx="1682496" cy="365760"/>
          </a:xfrm>
          <a:prstGeom prst="rect">
            <a:avLst/>
          </a:prstGeom>
          <a:noFill/>
          <a:ln/>
        </p:spPr>
        <p:txBody>
          <a:bodyPr wrap="square" lIns="0" tIns="0" rIns="0" bIns="0" rtlCol="0" anchor="ctr"/>
          <a:lstStyle/>
          <a:p>
            <a:pPr algn="ctr" indent="0" marL="0">
              <a:buNone/>
            </a:pPr>
            <a:r>
              <a:rPr lang="en-US" sz="1800" b="1" dirty="0">
                <a:solidFill>
                  <a:srgbClr val="003399"/>
                </a:solidFill>
                <a:latin typeface="Cambria" pitchFamily="34" charset="0"/>
                <a:ea typeface="Cambria" pitchFamily="34" charset="-122"/>
                <a:cs typeface="Cambria" pitchFamily="34" charset="-120"/>
              </a:rPr>
              <a:t>Feedback</a:t>
            </a:r>
            <a:endParaRPr lang="en-US" sz="1800" dirty="0"/>
          </a:p>
        </p:txBody>
      </p:sp>
      <p:sp>
        <p:nvSpPr>
          <p:cNvPr id="35" name="Text 33"/>
          <p:cNvSpPr/>
          <p:nvPr/>
        </p:nvSpPr>
        <p:spPr>
          <a:xfrm>
            <a:off x="9537192" y="3794760"/>
            <a:ext cx="1682496" cy="685800"/>
          </a:xfrm>
          <a:prstGeom prst="rect">
            <a:avLst/>
          </a:prstGeom>
          <a:noFill/>
          <a:ln/>
        </p:spPr>
        <p:txBody>
          <a:bodyPr wrap="square" lIns="0" tIns="0" rIns="0" bIns="0" rtlCol="0" anchor="ctr"/>
          <a:lstStyle/>
          <a:p>
            <a:pPr algn="ctr" indent="0" marL="0">
              <a:lnSpc>
                <a:spcPts val="1700"/>
              </a:lnSpc>
              <a:buNone/>
            </a:pPr>
            <a:r>
              <a:rPr lang="en-US" sz="1250" dirty="0">
                <a:solidFill>
                  <a:srgbClr val="5A6480"/>
                </a:solidFill>
                <a:latin typeface="Calibri" pitchFamily="34" charset="0"/>
                <a:ea typeface="Calibri" pitchFamily="34" charset="-122"/>
                <a:cs typeface="Calibri" pitchFamily="34" charset="-120"/>
              </a:rPr>
              <a:t>data and usage</a:t>
            </a:r>
            <a:endParaRPr lang="en-US" sz="1250" dirty="0"/>
          </a:p>
        </p:txBody>
      </p:sp>
      <p:sp>
        <p:nvSpPr>
          <p:cNvPr id="36" name="Shape 34"/>
          <p:cNvSpPr/>
          <p:nvPr/>
        </p:nvSpPr>
        <p:spPr>
          <a:xfrm>
            <a:off x="548640" y="4983480"/>
            <a:ext cx="10607040" cy="868680"/>
          </a:xfrm>
          <a:prstGeom prst="roundRect">
            <a:avLst>
              <a:gd name="adj" fmla="val 12632"/>
            </a:avLst>
          </a:prstGeom>
          <a:solidFill>
            <a:srgbClr val="003399"/>
          </a:solidFill>
          <a:ln w="12700">
            <a:solidFill>
              <a:srgbClr val="333333"/>
            </a:solidFill>
            <a:prstDash val="solid"/>
          </a:ln>
        </p:spPr>
      </p:sp>
      <p:sp>
        <p:nvSpPr>
          <p:cNvPr id="37" name="Text 35"/>
          <p:cNvSpPr/>
          <p:nvPr/>
        </p:nvSpPr>
        <p:spPr>
          <a:xfrm>
            <a:off x="868680" y="5120640"/>
            <a:ext cx="4754880" cy="320040"/>
          </a:xfrm>
          <a:prstGeom prst="rect">
            <a:avLst/>
          </a:prstGeom>
          <a:noFill/>
          <a:ln/>
        </p:spPr>
        <p:txBody>
          <a:bodyPr wrap="square" lIns="0" tIns="0" rIns="0" bIns="0" rtlCol="0" anchor="ctr"/>
          <a:lstStyle/>
          <a:p>
            <a:pPr indent="0" marL="0">
              <a:buNone/>
            </a:pPr>
            <a:r>
              <a:rPr lang="en-US" sz="1200" b="1" spc="120" kern="0" dirty="0">
                <a:solidFill>
                  <a:srgbClr val="FFCC00"/>
                </a:solidFill>
                <a:latin typeface="Calibri" pitchFamily="34" charset="0"/>
                <a:ea typeface="Calibri" pitchFamily="34" charset="-122"/>
                <a:cs typeface="Calibri" pitchFamily="34" charset="-120"/>
              </a:rPr>
              <a:t>Feedback returns to talent and compute</a:t>
            </a:r>
            <a:endParaRPr lang="en-US" sz="1200" dirty="0"/>
          </a:p>
        </p:txBody>
      </p:sp>
      <p:sp>
        <p:nvSpPr>
          <p:cNvPr id="38" name="Text 36"/>
          <p:cNvSpPr/>
          <p:nvPr/>
        </p:nvSpPr>
        <p:spPr>
          <a:xfrm>
            <a:off x="868680" y="5413248"/>
            <a:ext cx="9692640" cy="36576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The policy job is to remove friction at every turn of the loop.</a:t>
            </a:r>
            <a:endParaRPr lang="en-US" sz="1450" dirty="0"/>
          </a:p>
        </p:txBody>
      </p:sp>
      <p:sp>
        <p:nvSpPr>
          <p:cNvPr id="39" name="Text 37"/>
          <p:cNvSpPr/>
          <p:nvPr/>
        </p:nvSpPr>
        <p:spPr>
          <a:xfrm>
            <a:off x="548640" y="6263640"/>
            <a:ext cx="7315200" cy="274320"/>
          </a:xfrm>
          <a:prstGeom prst="rect">
            <a:avLst/>
          </a:prstGeom>
          <a:noFill/>
          <a:ln/>
        </p:spPr>
        <p:txBody>
          <a:bodyPr wrap="square" lIns="0" tIns="0" rIns="0" bIns="0" rtlCol="0" anchor="ctr"/>
          <a:lstStyle/>
          <a:p>
            <a:pPr indent="0" marL="0">
              <a:buNone/>
            </a:pPr>
            <a:r>
              <a:rPr lang="en-US" sz="950" dirty="0">
                <a:solidFill>
                  <a:srgbClr val="5A6480"/>
                </a:solidFill>
                <a:latin typeface="Calibri" pitchFamily="34" charset="0"/>
                <a:ea typeface="Calibri" pitchFamily="34" charset="-122"/>
                <a:cs typeface="Calibri" pitchFamily="34" charset="-120"/>
              </a:rPr>
              <a:t>Mistral AI  |  Company thesis and European AI stack</a:t>
            </a:r>
            <a:endParaRPr lang="en-US" sz="950" dirty="0"/>
          </a:p>
        </p:txBody>
      </p:sp>
      <p:sp>
        <p:nvSpPr>
          <p:cNvPr id="40" name="Text 38"/>
          <p:cNvSpPr/>
          <p:nvPr/>
        </p:nvSpPr>
        <p:spPr>
          <a:xfrm>
            <a:off x="10241280" y="6263640"/>
            <a:ext cx="1371600" cy="274320"/>
          </a:xfrm>
          <a:prstGeom prst="rect">
            <a:avLst/>
          </a:prstGeom>
          <a:noFill/>
          <a:ln/>
        </p:spPr>
        <p:txBody>
          <a:bodyPr wrap="square" lIns="0" tIns="0" rIns="0" bIns="0" rtlCol="0" anchor="ctr"/>
          <a:lstStyle/>
          <a:p>
            <a:pPr algn="r" indent="0" marL="0">
              <a:buNone/>
            </a:pPr>
            <a:r>
              <a:rPr lang="en-US" sz="950" dirty="0">
                <a:solidFill>
                  <a:srgbClr val="5A6480"/>
                </a:solidFill>
                <a:latin typeface="Calibri" pitchFamily="34" charset="0"/>
                <a:ea typeface="Calibri" pitchFamily="34" charset="-122"/>
                <a:cs typeface="Calibri" pitchFamily="34" charset="-120"/>
              </a:rPr>
              <a:t>6 / 8</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75488"/>
            <a:ext cx="457200" cy="457200"/>
          </a:xfrm>
          <a:prstGeom prst="ellipse">
            <a:avLst/>
          </a:prstGeom>
          <a:solidFill>
            <a:srgbClr val="003399"/>
          </a:solidFill>
          <a:ln w="12700">
            <a:solidFill>
              <a:srgbClr val="333333"/>
            </a:solidFill>
            <a:prstDash val="solid"/>
          </a:ln>
        </p:spPr>
      </p:sp>
      <p:sp>
        <p:nvSpPr>
          <p:cNvPr id="3" name="Text 1"/>
          <p:cNvSpPr/>
          <p:nvPr/>
        </p:nvSpPr>
        <p:spPr>
          <a:xfrm>
            <a:off x="548640" y="475488"/>
            <a:ext cx="457200" cy="457200"/>
          </a:xfrm>
          <a:prstGeom prst="rect">
            <a:avLst/>
          </a:prstGeom>
          <a:noFill/>
          <a:ln/>
        </p:spPr>
        <p:txBody>
          <a:bodyPr wrap="square" lIns="0" tIns="0" rIns="0" bIns="0" rtlCol="0" anchor="ctr"/>
          <a:lstStyle/>
          <a:p>
            <a:pPr algn="ctr" indent="0" marL="0">
              <a:buNone/>
            </a:pPr>
            <a:r>
              <a:rPr lang="en-US" sz="1300" b="1" dirty="0">
                <a:solidFill>
                  <a:srgbClr val="FFCC00"/>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43000" y="502920"/>
            <a:ext cx="7315200" cy="256032"/>
          </a:xfrm>
          <a:prstGeom prst="rect">
            <a:avLst/>
          </a:prstGeom>
          <a:noFill/>
          <a:ln/>
        </p:spPr>
        <p:txBody>
          <a:bodyPr wrap="square" lIns="0" tIns="0" rIns="0" bIns="0" rtlCol="0" anchor="ctr"/>
          <a:lstStyle/>
          <a:p>
            <a:pPr indent="0" marL="0">
              <a:buNone/>
            </a:pPr>
            <a:r>
              <a:rPr lang="en-US" sz="1100" b="1" spc="200" kern="0" dirty="0">
                <a:solidFill>
                  <a:srgbClr val="003399"/>
                </a:solidFill>
                <a:latin typeface="Calibri" pitchFamily="34" charset="0"/>
                <a:ea typeface="Calibri" pitchFamily="34" charset="-122"/>
                <a:cs typeface="Calibri" pitchFamily="34" charset="-120"/>
              </a:rPr>
              <a:t>POLICY ARCHITECTURE</a:t>
            </a:r>
            <a:endParaRPr lang="en-US" sz="1100" dirty="0"/>
          </a:p>
        </p:txBody>
      </p:sp>
      <p:sp>
        <p:nvSpPr>
          <p:cNvPr id="5" name="Text 3"/>
          <p:cNvSpPr/>
          <p:nvPr/>
        </p:nvSpPr>
        <p:spPr>
          <a:xfrm>
            <a:off x="1133856" y="749808"/>
            <a:ext cx="9601200" cy="566928"/>
          </a:xfrm>
          <a:prstGeom prst="rect">
            <a:avLst/>
          </a:prstGeom>
          <a:noFill/>
          <a:ln/>
        </p:spPr>
        <p:txBody>
          <a:bodyPr wrap="square" lIns="0" tIns="0" rIns="0" bIns="0" rtlCol="0" anchor="ctr"/>
          <a:lstStyle/>
          <a:p>
            <a:pPr indent="0" marL="0">
              <a:buNone/>
            </a:pPr>
            <a:r>
              <a:rPr lang="en-US" sz="3200" b="1" dirty="0">
                <a:solidFill>
                  <a:srgbClr val="111A33"/>
                </a:solidFill>
                <a:latin typeface="Cambria" pitchFamily="34" charset="0"/>
                <a:ea typeface="Cambria" pitchFamily="34" charset="-122"/>
                <a:cs typeface="Cambria" pitchFamily="34" charset="-120"/>
              </a:rPr>
              <a:t>Four levers turn the wedge into a stack</a:t>
            </a:r>
            <a:endParaRPr lang="en-US" sz="3200" dirty="0"/>
          </a:p>
        </p:txBody>
      </p:sp>
      <p:sp>
        <p:nvSpPr>
          <p:cNvPr id="6" name="Text 4"/>
          <p:cNvSpPr/>
          <p:nvPr/>
        </p:nvSpPr>
        <p:spPr>
          <a:xfrm>
            <a:off x="1152144" y="1389888"/>
            <a:ext cx="9509760" cy="365760"/>
          </a:xfrm>
          <a:prstGeom prst="rect">
            <a:avLst/>
          </a:prstGeom>
          <a:noFill/>
          <a:ln/>
        </p:spPr>
        <p:txBody>
          <a:bodyPr wrap="square" lIns="0" tIns="0" rIns="0" bIns="0" rtlCol="0" anchor="ctr"/>
          <a:lstStyle/>
          <a:p>
            <a:pPr indent="0" marL="0">
              <a:buNone/>
            </a:pPr>
            <a:r>
              <a:rPr lang="en-US" sz="1450" i="1" dirty="0">
                <a:solidFill>
                  <a:srgbClr val="5A6480"/>
                </a:solidFill>
                <a:latin typeface="Calibri" pitchFamily="34" charset="0"/>
                <a:ea typeface="Calibri" pitchFamily="34" charset="-122"/>
                <a:cs typeface="Calibri" pitchFamily="34" charset="-120"/>
              </a:rPr>
              <a:t>Policy here is not an appendix. It is go-to-market infrastructure for European AI.</a:t>
            </a:r>
            <a:endParaRPr lang="en-US" sz="1450" dirty="0"/>
          </a:p>
        </p:txBody>
      </p:sp>
      <p:sp>
        <p:nvSpPr>
          <p:cNvPr id="7" name="Shape 5"/>
          <p:cNvSpPr/>
          <p:nvPr/>
        </p:nvSpPr>
        <p:spPr>
          <a:xfrm>
            <a:off x="548640" y="2194560"/>
            <a:ext cx="2505456" cy="2788920"/>
          </a:xfrm>
          <a:prstGeom prst="roundRect">
            <a:avLst>
              <a:gd name="adj" fmla="val 4380"/>
            </a:avLst>
          </a:prstGeom>
          <a:solidFill>
            <a:srgbClr val="F4F6FB"/>
          </a:solidFill>
          <a:ln w="12700">
            <a:solidFill>
              <a:srgbClr val="DDE2EE"/>
            </a:solidFill>
            <a:prstDash val="solid"/>
          </a:ln>
        </p:spPr>
      </p:sp>
      <p:sp>
        <p:nvSpPr>
          <p:cNvPr id="8" name="Shape 6"/>
          <p:cNvSpPr/>
          <p:nvPr/>
        </p:nvSpPr>
        <p:spPr>
          <a:xfrm>
            <a:off x="822960" y="2487168"/>
            <a:ext cx="475488" cy="475488"/>
          </a:xfrm>
          <a:prstGeom prst="ellipse">
            <a:avLst/>
          </a:prstGeom>
          <a:solidFill>
            <a:srgbClr val="003399"/>
          </a:solidFill>
          <a:ln w="12700">
            <a:solidFill>
              <a:srgbClr val="333333"/>
            </a:solidFill>
            <a:prstDash val="solid"/>
          </a:ln>
        </p:spPr>
      </p:sp>
      <p:sp>
        <p:nvSpPr>
          <p:cNvPr id="9" name="Shape 7"/>
          <p:cNvSpPr/>
          <p:nvPr/>
        </p:nvSpPr>
        <p:spPr>
          <a:xfrm>
            <a:off x="932688" y="2596896"/>
            <a:ext cx="256032" cy="256032"/>
          </a:xfrm>
          <a:prstGeom prst="star5">
            <a:avLst/>
          </a:prstGeom>
          <a:solidFill>
            <a:srgbClr val="FFCC00"/>
          </a:solidFill>
          <a:ln w="12700">
            <a:solidFill>
              <a:srgbClr val="333333"/>
            </a:solidFill>
            <a:prstDash val="solid"/>
          </a:ln>
        </p:spPr>
      </p:sp>
      <p:sp>
        <p:nvSpPr>
          <p:cNvPr id="10" name="Text 8"/>
          <p:cNvSpPr/>
          <p:nvPr/>
        </p:nvSpPr>
        <p:spPr>
          <a:xfrm>
            <a:off x="822960" y="3127248"/>
            <a:ext cx="2011680" cy="384048"/>
          </a:xfrm>
          <a:prstGeom prst="rect">
            <a:avLst/>
          </a:prstGeom>
          <a:noFill/>
          <a:ln/>
        </p:spPr>
        <p:txBody>
          <a:bodyPr wrap="square" lIns="0" tIns="0" rIns="0" bIns="0" rtlCol="0" anchor="ctr"/>
          <a:lstStyle/>
          <a:p>
            <a:pPr indent="0" marL="0">
              <a:buNone/>
            </a:pPr>
            <a:r>
              <a:rPr lang="en-US" sz="2000" b="1" dirty="0">
                <a:solidFill>
                  <a:srgbClr val="003399"/>
                </a:solidFill>
                <a:latin typeface="Cambria" pitchFamily="34" charset="0"/>
                <a:ea typeface="Cambria" pitchFamily="34" charset="-122"/>
                <a:cs typeface="Cambria" pitchFamily="34" charset="-120"/>
              </a:rPr>
              <a:t>Talent</a:t>
            </a:r>
            <a:endParaRPr lang="en-US" sz="2000" dirty="0"/>
          </a:p>
        </p:txBody>
      </p:sp>
      <p:sp>
        <p:nvSpPr>
          <p:cNvPr id="11" name="Text 9"/>
          <p:cNvSpPr/>
          <p:nvPr/>
        </p:nvSpPr>
        <p:spPr>
          <a:xfrm>
            <a:off x="841248" y="3611880"/>
            <a:ext cx="2011680" cy="12344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AI talent visa</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PhD fund</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Researcher mobility</a:t>
            </a:r>
            <a:endParaRPr lang="en-US" sz="1300" dirty="0"/>
          </a:p>
        </p:txBody>
      </p:sp>
      <p:sp>
        <p:nvSpPr>
          <p:cNvPr id="12" name="Shape 10"/>
          <p:cNvSpPr/>
          <p:nvPr/>
        </p:nvSpPr>
        <p:spPr>
          <a:xfrm>
            <a:off x="3310128" y="2194560"/>
            <a:ext cx="2505456" cy="2788920"/>
          </a:xfrm>
          <a:prstGeom prst="roundRect">
            <a:avLst>
              <a:gd name="adj" fmla="val 4380"/>
            </a:avLst>
          </a:prstGeom>
          <a:solidFill>
            <a:srgbClr val="F4F6FB"/>
          </a:solidFill>
          <a:ln w="12700">
            <a:solidFill>
              <a:srgbClr val="DDE2EE"/>
            </a:solidFill>
            <a:prstDash val="solid"/>
          </a:ln>
        </p:spPr>
      </p:sp>
      <p:sp>
        <p:nvSpPr>
          <p:cNvPr id="13" name="Shape 11"/>
          <p:cNvSpPr/>
          <p:nvPr/>
        </p:nvSpPr>
        <p:spPr>
          <a:xfrm>
            <a:off x="3584448" y="2487168"/>
            <a:ext cx="475488" cy="475488"/>
          </a:xfrm>
          <a:prstGeom prst="ellipse">
            <a:avLst/>
          </a:prstGeom>
          <a:solidFill>
            <a:srgbClr val="003399"/>
          </a:solidFill>
          <a:ln w="12700">
            <a:solidFill>
              <a:srgbClr val="333333"/>
            </a:solidFill>
            <a:prstDash val="solid"/>
          </a:ln>
        </p:spPr>
      </p:sp>
      <p:sp>
        <p:nvSpPr>
          <p:cNvPr id="14" name="Shape 12"/>
          <p:cNvSpPr/>
          <p:nvPr/>
        </p:nvSpPr>
        <p:spPr>
          <a:xfrm>
            <a:off x="3694176" y="2596896"/>
            <a:ext cx="256032" cy="256032"/>
          </a:xfrm>
          <a:prstGeom prst="star5">
            <a:avLst/>
          </a:prstGeom>
          <a:solidFill>
            <a:srgbClr val="FFCC00"/>
          </a:solidFill>
          <a:ln w="12700">
            <a:solidFill>
              <a:srgbClr val="333333"/>
            </a:solidFill>
            <a:prstDash val="solid"/>
          </a:ln>
        </p:spPr>
      </p:sp>
      <p:sp>
        <p:nvSpPr>
          <p:cNvPr id="15" name="Text 13"/>
          <p:cNvSpPr/>
          <p:nvPr/>
        </p:nvSpPr>
        <p:spPr>
          <a:xfrm>
            <a:off x="3584448" y="3127248"/>
            <a:ext cx="2011680" cy="384048"/>
          </a:xfrm>
          <a:prstGeom prst="rect">
            <a:avLst/>
          </a:prstGeom>
          <a:noFill/>
          <a:ln/>
        </p:spPr>
        <p:txBody>
          <a:bodyPr wrap="square" lIns="0" tIns="0" rIns="0" bIns="0" rtlCol="0" anchor="ctr"/>
          <a:lstStyle/>
          <a:p>
            <a:pPr indent="0" marL="0">
              <a:buNone/>
            </a:pPr>
            <a:r>
              <a:rPr lang="en-US" sz="2000" b="1" dirty="0">
                <a:solidFill>
                  <a:srgbClr val="003399"/>
                </a:solidFill>
                <a:latin typeface="Cambria" pitchFamily="34" charset="0"/>
                <a:ea typeface="Cambria" pitchFamily="34" charset="-122"/>
                <a:cs typeface="Cambria" pitchFamily="34" charset="-120"/>
              </a:rPr>
              <a:t>Market</a:t>
            </a:r>
            <a:endParaRPr lang="en-US" sz="2000" dirty="0"/>
          </a:p>
        </p:txBody>
      </p:sp>
      <p:sp>
        <p:nvSpPr>
          <p:cNvPr id="16" name="Text 14"/>
          <p:cNvSpPr/>
          <p:nvPr/>
        </p:nvSpPr>
        <p:spPr>
          <a:xfrm>
            <a:off x="3602736" y="3611880"/>
            <a:ext cx="2011680" cy="12344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Single market operation</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Capital access</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ESOP alignment</a:t>
            </a:r>
            <a:endParaRPr lang="en-US" sz="1300" dirty="0"/>
          </a:p>
        </p:txBody>
      </p:sp>
      <p:sp>
        <p:nvSpPr>
          <p:cNvPr id="17" name="Shape 15"/>
          <p:cNvSpPr/>
          <p:nvPr/>
        </p:nvSpPr>
        <p:spPr>
          <a:xfrm>
            <a:off x="6071616" y="2194560"/>
            <a:ext cx="2505456" cy="2788920"/>
          </a:xfrm>
          <a:prstGeom prst="roundRect">
            <a:avLst>
              <a:gd name="adj" fmla="val 4380"/>
            </a:avLst>
          </a:prstGeom>
          <a:solidFill>
            <a:srgbClr val="F4F6FB"/>
          </a:solidFill>
          <a:ln w="12700">
            <a:solidFill>
              <a:srgbClr val="DDE2EE"/>
            </a:solidFill>
            <a:prstDash val="solid"/>
          </a:ln>
        </p:spPr>
      </p:sp>
      <p:sp>
        <p:nvSpPr>
          <p:cNvPr id="18" name="Shape 16"/>
          <p:cNvSpPr/>
          <p:nvPr/>
        </p:nvSpPr>
        <p:spPr>
          <a:xfrm>
            <a:off x="6345936" y="2487168"/>
            <a:ext cx="475488" cy="475488"/>
          </a:xfrm>
          <a:prstGeom prst="ellipse">
            <a:avLst/>
          </a:prstGeom>
          <a:solidFill>
            <a:srgbClr val="003399"/>
          </a:solidFill>
          <a:ln w="12700">
            <a:solidFill>
              <a:srgbClr val="333333"/>
            </a:solidFill>
            <a:prstDash val="solid"/>
          </a:ln>
        </p:spPr>
      </p:sp>
      <p:sp>
        <p:nvSpPr>
          <p:cNvPr id="19" name="Shape 17"/>
          <p:cNvSpPr/>
          <p:nvPr/>
        </p:nvSpPr>
        <p:spPr>
          <a:xfrm>
            <a:off x="6455664" y="2596896"/>
            <a:ext cx="256032" cy="256032"/>
          </a:xfrm>
          <a:prstGeom prst="star5">
            <a:avLst/>
          </a:prstGeom>
          <a:solidFill>
            <a:srgbClr val="FFCC00"/>
          </a:solidFill>
          <a:ln w="12700">
            <a:solidFill>
              <a:srgbClr val="333333"/>
            </a:solidFill>
            <a:prstDash val="solid"/>
          </a:ln>
        </p:spPr>
      </p:sp>
      <p:sp>
        <p:nvSpPr>
          <p:cNvPr id="20" name="Text 18"/>
          <p:cNvSpPr/>
          <p:nvPr/>
        </p:nvSpPr>
        <p:spPr>
          <a:xfrm>
            <a:off x="6345936" y="3127248"/>
            <a:ext cx="2011680" cy="384048"/>
          </a:xfrm>
          <a:prstGeom prst="rect">
            <a:avLst/>
          </a:prstGeom>
          <a:noFill/>
          <a:ln/>
        </p:spPr>
        <p:txBody>
          <a:bodyPr wrap="square" lIns="0" tIns="0" rIns="0" bIns="0" rtlCol="0" anchor="ctr"/>
          <a:lstStyle/>
          <a:p>
            <a:pPr indent="0" marL="0">
              <a:buNone/>
            </a:pPr>
            <a:r>
              <a:rPr lang="en-US" sz="2000" b="1" dirty="0">
                <a:solidFill>
                  <a:srgbClr val="003399"/>
                </a:solidFill>
                <a:latin typeface="Cambria" pitchFamily="34" charset="0"/>
                <a:ea typeface="Cambria" pitchFamily="34" charset="-122"/>
                <a:cs typeface="Cambria" pitchFamily="34" charset="-120"/>
              </a:rPr>
              <a:t>Demand</a:t>
            </a:r>
            <a:endParaRPr lang="en-US" sz="2000" dirty="0"/>
          </a:p>
        </p:txBody>
      </p:sp>
      <p:sp>
        <p:nvSpPr>
          <p:cNvPr id="21" name="Text 19"/>
          <p:cNvSpPr/>
          <p:nvPr/>
        </p:nvSpPr>
        <p:spPr>
          <a:xfrm>
            <a:off x="6364224" y="3611880"/>
            <a:ext cx="2011680" cy="12344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Public procurement</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SME adoption</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Public sector leads</a:t>
            </a:r>
            <a:endParaRPr lang="en-US" sz="1300" dirty="0"/>
          </a:p>
        </p:txBody>
      </p:sp>
      <p:sp>
        <p:nvSpPr>
          <p:cNvPr id="22" name="Shape 20"/>
          <p:cNvSpPr/>
          <p:nvPr/>
        </p:nvSpPr>
        <p:spPr>
          <a:xfrm>
            <a:off x="8833104" y="2194560"/>
            <a:ext cx="2505456" cy="2788920"/>
          </a:xfrm>
          <a:prstGeom prst="roundRect">
            <a:avLst>
              <a:gd name="adj" fmla="val 4380"/>
            </a:avLst>
          </a:prstGeom>
          <a:solidFill>
            <a:srgbClr val="F4F6FB"/>
          </a:solidFill>
          <a:ln w="12700">
            <a:solidFill>
              <a:srgbClr val="DDE2EE"/>
            </a:solidFill>
            <a:prstDash val="solid"/>
          </a:ln>
        </p:spPr>
      </p:sp>
      <p:sp>
        <p:nvSpPr>
          <p:cNvPr id="23" name="Shape 21"/>
          <p:cNvSpPr/>
          <p:nvPr/>
        </p:nvSpPr>
        <p:spPr>
          <a:xfrm>
            <a:off x="9107424" y="2487168"/>
            <a:ext cx="475488" cy="475488"/>
          </a:xfrm>
          <a:prstGeom prst="ellipse">
            <a:avLst/>
          </a:prstGeom>
          <a:solidFill>
            <a:srgbClr val="003399"/>
          </a:solidFill>
          <a:ln w="12700">
            <a:solidFill>
              <a:srgbClr val="333333"/>
            </a:solidFill>
            <a:prstDash val="solid"/>
          </a:ln>
        </p:spPr>
      </p:sp>
      <p:sp>
        <p:nvSpPr>
          <p:cNvPr id="24" name="Shape 22"/>
          <p:cNvSpPr/>
          <p:nvPr/>
        </p:nvSpPr>
        <p:spPr>
          <a:xfrm>
            <a:off x="9217152" y="2596896"/>
            <a:ext cx="256032" cy="256032"/>
          </a:xfrm>
          <a:prstGeom prst="star5">
            <a:avLst/>
          </a:prstGeom>
          <a:solidFill>
            <a:srgbClr val="FFCC00"/>
          </a:solidFill>
          <a:ln w="12700">
            <a:solidFill>
              <a:srgbClr val="333333"/>
            </a:solidFill>
            <a:prstDash val="solid"/>
          </a:ln>
        </p:spPr>
      </p:sp>
      <p:sp>
        <p:nvSpPr>
          <p:cNvPr id="25" name="Text 23"/>
          <p:cNvSpPr/>
          <p:nvPr/>
        </p:nvSpPr>
        <p:spPr>
          <a:xfrm>
            <a:off x="9107424" y="3127248"/>
            <a:ext cx="2011680" cy="384048"/>
          </a:xfrm>
          <a:prstGeom prst="rect">
            <a:avLst/>
          </a:prstGeom>
          <a:noFill/>
          <a:ln/>
        </p:spPr>
        <p:txBody>
          <a:bodyPr wrap="square" lIns="0" tIns="0" rIns="0" bIns="0" rtlCol="0" anchor="ctr"/>
          <a:lstStyle/>
          <a:p>
            <a:pPr indent="0" marL="0">
              <a:buNone/>
            </a:pPr>
            <a:r>
              <a:rPr lang="en-US" sz="2000" b="1" dirty="0">
                <a:solidFill>
                  <a:srgbClr val="003399"/>
                </a:solidFill>
                <a:latin typeface="Cambria" pitchFamily="34" charset="0"/>
                <a:ea typeface="Cambria" pitchFamily="34" charset="-122"/>
                <a:cs typeface="Cambria" pitchFamily="34" charset="-120"/>
              </a:rPr>
              <a:t>Stack</a:t>
            </a:r>
            <a:endParaRPr lang="en-US" sz="2000" dirty="0"/>
          </a:p>
        </p:txBody>
      </p:sp>
      <p:sp>
        <p:nvSpPr>
          <p:cNvPr id="26" name="Text 24"/>
          <p:cNvSpPr/>
          <p:nvPr/>
        </p:nvSpPr>
        <p:spPr>
          <a:xfrm>
            <a:off x="9125712" y="3611880"/>
            <a:ext cx="2011680" cy="12344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Sovereign compute</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Data commons</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AI infrastructure</a:t>
            </a:r>
            <a:endParaRPr lang="en-US" sz="1300" dirty="0"/>
          </a:p>
        </p:txBody>
      </p:sp>
      <p:sp>
        <p:nvSpPr>
          <p:cNvPr id="27" name="Shape 25"/>
          <p:cNvSpPr/>
          <p:nvPr/>
        </p:nvSpPr>
        <p:spPr>
          <a:xfrm>
            <a:off x="548640" y="5257800"/>
            <a:ext cx="10607040" cy="685800"/>
          </a:xfrm>
          <a:prstGeom prst="roundRect">
            <a:avLst>
              <a:gd name="adj" fmla="val 16000"/>
            </a:avLst>
          </a:prstGeom>
          <a:solidFill>
            <a:srgbClr val="00246B"/>
          </a:solidFill>
          <a:ln w="12700">
            <a:solidFill>
              <a:srgbClr val="333333"/>
            </a:solidFill>
            <a:prstDash val="solid"/>
          </a:ln>
        </p:spPr>
      </p:sp>
      <p:sp>
        <p:nvSpPr>
          <p:cNvPr id="28" name="Text 26"/>
          <p:cNvSpPr/>
          <p:nvPr/>
        </p:nvSpPr>
        <p:spPr>
          <a:xfrm>
            <a:off x="868680" y="5257800"/>
            <a:ext cx="5486400" cy="685800"/>
          </a:xfrm>
          <a:prstGeom prst="rect">
            <a:avLst/>
          </a:prstGeom>
          <a:noFill/>
          <a:ln/>
        </p:spPr>
        <p:txBody>
          <a:bodyPr wrap="square" lIns="0" tIns="0" rIns="0" bIns="0" rtlCol="0" anchor="ctr"/>
          <a:lstStyle/>
          <a:p>
            <a:pPr indent="0" marL="0">
              <a:buNone/>
            </a:pPr>
            <a:r>
              <a:rPr lang="en-US" sz="1700" b="1" spc="150" kern="0" dirty="0">
                <a:solidFill>
                  <a:srgbClr val="FFCC00"/>
                </a:solidFill>
                <a:latin typeface="Cambria" pitchFamily="34" charset="0"/>
                <a:ea typeface="Cambria" pitchFamily="34" charset="-122"/>
                <a:cs typeface="Cambria" pitchFamily="34" charset="-120"/>
              </a:rPr>
              <a:t>A DURABLE EUROPEAN AI STACK</a:t>
            </a:r>
            <a:endParaRPr lang="en-US" sz="1700" dirty="0"/>
          </a:p>
        </p:txBody>
      </p:sp>
      <p:sp>
        <p:nvSpPr>
          <p:cNvPr id="29" name="Text 27"/>
          <p:cNvSpPr/>
          <p:nvPr/>
        </p:nvSpPr>
        <p:spPr>
          <a:xfrm>
            <a:off x="6035040" y="5257800"/>
            <a:ext cx="4846320" cy="685800"/>
          </a:xfrm>
          <a:prstGeom prst="rect">
            <a:avLst/>
          </a:prstGeom>
          <a:noFill/>
          <a:ln/>
        </p:spPr>
        <p:txBody>
          <a:bodyPr wrap="square" lIns="0" tIns="0" rIns="0" bIns="0" rtlCol="0" anchor="ctr"/>
          <a:lstStyle/>
          <a:p>
            <a:pPr algn="r" indent="0" marL="0">
              <a:buNone/>
            </a:pPr>
            <a:r>
              <a:rPr lang="en-US" sz="1350" dirty="0">
                <a:solidFill>
                  <a:srgbClr val="FFFFFF"/>
                </a:solidFill>
                <a:latin typeface="Calibri" pitchFamily="34" charset="0"/>
                <a:ea typeface="Calibri" pitchFamily="34" charset="-122"/>
                <a:cs typeface="Calibri" pitchFamily="34" charset="-120"/>
              </a:rPr>
              <a:t>Talent  ·  Scale  ·  Adoption  ·  Infrastructure</a:t>
            </a:r>
            <a:endParaRPr lang="en-US" sz="1350" dirty="0"/>
          </a:p>
        </p:txBody>
      </p:sp>
      <p:sp>
        <p:nvSpPr>
          <p:cNvPr id="30" name="Text 28"/>
          <p:cNvSpPr/>
          <p:nvPr/>
        </p:nvSpPr>
        <p:spPr>
          <a:xfrm>
            <a:off x="548640" y="6263640"/>
            <a:ext cx="7315200" cy="274320"/>
          </a:xfrm>
          <a:prstGeom prst="rect">
            <a:avLst/>
          </a:prstGeom>
          <a:noFill/>
          <a:ln/>
        </p:spPr>
        <p:txBody>
          <a:bodyPr wrap="square" lIns="0" tIns="0" rIns="0" bIns="0" rtlCol="0" anchor="ctr"/>
          <a:lstStyle/>
          <a:p>
            <a:pPr indent="0" marL="0">
              <a:buNone/>
            </a:pPr>
            <a:r>
              <a:rPr lang="en-US" sz="950" dirty="0">
                <a:solidFill>
                  <a:srgbClr val="5A6480"/>
                </a:solidFill>
                <a:latin typeface="Calibri" pitchFamily="34" charset="0"/>
                <a:ea typeface="Calibri" pitchFamily="34" charset="-122"/>
                <a:cs typeface="Calibri" pitchFamily="34" charset="-120"/>
              </a:rPr>
              <a:t>Mistral AI  |  Company thesis and European AI stack</a:t>
            </a:r>
            <a:endParaRPr lang="en-US" sz="950" dirty="0"/>
          </a:p>
        </p:txBody>
      </p:sp>
      <p:sp>
        <p:nvSpPr>
          <p:cNvPr id="31" name="Text 29"/>
          <p:cNvSpPr/>
          <p:nvPr/>
        </p:nvSpPr>
        <p:spPr>
          <a:xfrm>
            <a:off x="10241280" y="6263640"/>
            <a:ext cx="1371600" cy="274320"/>
          </a:xfrm>
          <a:prstGeom prst="rect">
            <a:avLst/>
          </a:prstGeom>
          <a:noFill/>
          <a:ln/>
        </p:spPr>
        <p:txBody>
          <a:bodyPr wrap="square" lIns="0" tIns="0" rIns="0" bIns="0" rtlCol="0" anchor="ctr"/>
          <a:lstStyle/>
          <a:p>
            <a:pPr algn="r" indent="0" marL="0">
              <a:buNone/>
            </a:pPr>
            <a:r>
              <a:rPr lang="en-US" sz="950" dirty="0">
                <a:solidFill>
                  <a:srgbClr val="5A6480"/>
                </a:solidFill>
                <a:latin typeface="Calibri" pitchFamily="34" charset="0"/>
                <a:ea typeface="Calibri" pitchFamily="34" charset="-122"/>
                <a:cs typeface="Calibri" pitchFamily="34" charset="-120"/>
              </a:rPr>
              <a:t>7 / 8</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3399"/>
        </a:solidFill>
      </p:bgPr>
    </p:bg>
    <p:spTree>
      <p:nvGrpSpPr>
        <p:cNvPr id="1" name=""/>
        <p:cNvGrpSpPr/>
        <p:nvPr/>
      </p:nvGrpSpPr>
      <p:grpSpPr>
        <a:xfrm>
          <a:off x="0" y="0"/>
          <a:ext cx="0" cy="0"/>
          <a:chOff x="0" y="0"/>
          <a:chExt cx="0" cy="0"/>
        </a:xfrm>
      </p:grpSpPr>
      <p:sp>
        <p:nvSpPr>
          <p:cNvPr id="2" name="Shape 0"/>
          <p:cNvSpPr/>
          <p:nvPr/>
        </p:nvSpPr>
        <p:spPr>
          <a:xfrm>
            <a:off x="10890504" y="146304"/>
            <a:ext cx="256032" cy="256032"/>
          </a:xfrm>
          <a:prstGeom prst="star5">
            <a:avLst/>
          </a:prstGeom>
          <a:solidFill>
            <a:srgbClr val="12459E"/>
          </a:solidFill>
          <a:ln w="12700">
            <a:solidFill>
              <a:srgbClr val="333333"/>
            </a:solidFill>
            <a:prstDash val="solid"/>
          </a:ln>
        </p:spPr>
      </p:sp>
      <p:sp>
        <p:nvSpPr>
          <p:cNvPr id="3" name="Shape 1"/>
          <p:cNvSpPr/>
          <p:nvPr/>
        </p:nvSpPr>
        <p:spPr>
          <a:xfrm>
            <a:off x="11324844" y="262685"/>
            <a:ext cx="256032" cy="256032"/>
          </a:xfrm>
          <a:prstGeom prst="star5">
            <a:avLst/>
          </a:prstGeom>
          <a:solidFill>
            <a:srgbClr val="12459E"/>
          </a:solidFill>
          <a:ln w="12700">
            <a:solidFill>
              <a:srgbClr val="333333"/>
            </a:solidFill>
            <a:prstDash val="solid"/>
          </a:ln>
        </p:spPr>
      </p:sp>
      <p:sp>
        <p:nvSpPr>
          <p:cNvPr id="4" name="Shape 2"/>
          <p:cNvSpPr/>
          <p:nvPr/>
        </p:nvSpPr>
        <p:spPr>
          <a:xfrm>
            <a:off x="11642803" y="580644"/>
            <a:ext cx="256032" cy="256032"/>
          </a:xfrm>
          <a:prstGeom prst="star5">
            <a:avLst/>
          </a:prstGeom>
          <a:solidFill>
            <a:srgbClr val="12459E"/>
          </a:solidFill>
          <a:ln w="12700">
            <a:solidFill>
              <a:srgbClr val="333333"/>
            </a:solidFill>
            <a:prstDash val="solid"/>
          </a:ln>
        </p:spPr>
      </p:sp>
      <p:sp>
        <p:nvSpPr>
          <p:cNvPr id="5" name="Shape 3"/>
          <p:cNvSpPr/>
          <p:nvPr/>
        </p:nvSpPr>
        <p:spPr>
          <a:xfrm>
            <a:off x="11759184" y="1014984"/>
            <a:ext cx="256032" cy="256032"/>
          </a:xfrm>
          <a:prstGeom prst="star5">
            <a:avLst/>
          </a:prstGeom>
          <a:solidFill>
            <a:srgbClr val="12459E"/>
          </a:solidFill>
          <a:ln w="12700">
            <a:solidFill>
              <a:srgbClr val="333333"/>
            </a:solidFill>
            <a:prstDash val="solid"/>
          </a:ln>
        </p:spPr>
      </p:sp>
      <p:sp>
        <p:nvSpPr>
          <p:cNvPr id="6" name="Shape 4"/>
          <p:cNvSpPr/>
          <p:nvPr/>
        </p:nvSpPr>
        <p:spPr>
          <a:xfrm>
            <a:off x="11642803" y="1449324"/>
            <a:ext cx="256032" cy="256032"/>
          </a:xfrm>
          <a:prstGeom prst="star5">
            <a:avLst/>
          </a:prstGeom>
          <a:solidFill>
            <a:srgbClr val="12459E"/>
          </a:solidFill>
          <a:ln w="12700">
            <a:solidFill>
              <a:srgbClr val="333333"/>
            </a:solidFill>
            <a:prstDash val="solid"/>
          </a:ln>
        </p:spPr>
      </p:sp>
      <p:sp>
        <p:nvSpPr>
          <p:cNvPr id="7" name="Shape 5"/>
          <p:cNvSpPr/>
          <p:nvPr/>
        </p:nvSpPr>
        <p:spPr>
          <a:xfrm>
            <a:off x="11324844" y="1767283"/>
            <a:ext cx="256032" cy="256032"/>
          </a:xfrm>
          <a:prstGeom prst="star5">
            <a:avLst/>
          </a:prstGeom>
          <a:solidFill>
            <a:srgbClr val="12459E"/>
          </a:solidFill>
          <a:ln w="12700">
            <a:solidFill>
              <a:srgbClr val="333333"/>
            </a:solidFill>
            <a:prstDash val="solid"/>
          </a:ln>
        </p:spPr>
      </p:sp>
      <p:sp>
        <p:nvSpPr>
          <p:cNvPr id="8" name="Shape 6"/>
          <p:cNvSpPr/>
          <p:nvPr/>
        </p:nvSpPr>
        <p:spPr>
          <a:xfrm>
            <a:off x="10890504" y="1883664"/>
            <a:ext cx="256032" cy="256032"/>
          </a:xfrm>
          <a:prstGeom prst="star5">
            <a:avLst/>
          </a:prstGeom>
          <a:solidFill>
            <a:srgbClr val="12459E"/>
          </a:solidFill>
          <a:ln w="12700">
            <a:solidFill>
              <a:srgbClr val="333333"/>
            </a:solidFill>
            <a:prstDash val="solid"/>
          </a:ln>
        </p:spPr>
      </p:sp>
      <p:sp>
        <p:nvSpPr>
          <p:cNvPr id="9" name="Shape 7"/>
          <p:cNvSpPr/>
          <p:nvPr/>
        </p:nvSpPr>
        <p:spPr>
          <a:xfrm>
            <a:off x="10456164" y="1767283"/>
            <a:ext cx="256032" cy="256032"/>
          </a:xfrm>
          <a:prstGeom prst="star5">
            <a:avLst/>
          </a:prstGeom>
          <a:solidFill>
            <a:srgbClr val="12459E"/>
          </a:solidFill>
          <a:ln w="12700">
            <a:solidFill>
              <a:srgbClr val="333333"/>
            </a:solidFill>
            <a:prstDash val="solid"/>
          </a:ln>
        </p:spPr>
      </p:sp>
      <p:sp>
        <p:nvSpPr>
          <p:cNvPr id="10" name="Shape 8"/>
          <p:cNvSpPr/>
          <p:nvPr/>
        </p:nvSpPr>
        <p:spPr>
          <a:xfrm>
            <a:off x="10138205" y="1449324"/>
            <a:ext cx="256032" cy="256032"/>
          </a:xfrm>
          <a:prstGeom prst="star5">
            <a:avLst/>
          </a:prstGeom>
          <a:solidFill>
            <a:srgbClr val="12459E"/>
          </a:solidFill>
          <a:ln w="12700">
            <a:solidFill>
              <a:srgbClr val="333333"/>
            </a:solidFill>
            <a:prstDash val="solid"/>
          </a:ln>
        </p:spPr>
      </p:sp>
      <p:sp>
        <p:nvSpPr>
          <p:cNvPr id="11" name="Shape 9"/>
          <p:cNvSpPr/>
          <p:nvPr/>
        </p:nvSpPr>
        <p:spPr>
          <a:xfrm>
            <a:off x="10021824" y="1014984"/>
            <a:ext cx="256032" cy="256032"/>
          </a:xfrm>
          <a:prstGeom prst="star5">
            <a:avLst/>
          </a:prstGeom>
          <a:solidFill>
            <a:srgbClr val="12459E"/>
          </a:solidFill>
          <a:ln w="12700">
            <a:solidFill>
              <a:srgbClr val="333333"/>
            </a:solidFill>
            <a:prstDash val="solid"/>
          </a:ln>
        </p:spPr>
      </p:sp>
      <p:sp>
        <p:nvSpPr>
          <p:cNvPr id="12" name="Shape 10"/>
          <p:cNvSpPr/>
          <p:nvPr/>
        </p:nvSpPr>
        <p:spPr>
          <a:xfrm>
            <a:off x="10138205" y="580644"/>
            <a:ext cx="256032" cy="256032"/>
          </a:xfrm>
          <a:prstGeom prst="star5">
            <a:avLst/>
          </a:prstGeom>
          <a:solidFill>
            <a:srgbClr val="12459E"/>
          </a:solidFill>
          <a:ln w="12700">
            <a:solidFill>
              <a:srgbClr val="333333"/>
            </a:solidFill>
            <a:prstDash val="solid"/>
          </a:ln>
        </p:spPr>
      </p:sp>
      <p:sp>
        <p:nvSpPr>
          <p:cNvPr id="13" name="Shape 11"/>
          <p:cNvSpPr/>
          <p:nvPr/>
        </p:nvSpPr>
        <p:spPr>
          <a:xfrm>
            <a:off x="10456164" y="262685"/>
            <a:ext cx="256032" cy="256032"/>
          </a:xfrm>
          <a:prstGeom prst="star5">
            <a:avLst/>
          </a:prstGeom>
          <a:solidFill>
            <a:srgbClr val="12459E"/>
          </a:solidFill>
          <a:ln w="12700">
            <a:solidFill>
              <a:srgbClr val="333333"/>
            </a:solidFill>
            <a:prstDash val="solid"/>
          </a:ln>
        </p:spPr>
      </p:sp>
      <p:pic>
        <p:nvPicPr>
          <p:cNvPr id="14" name="Image 0" descr="preencoded.png">    </p:cNvPr>
          <p:cNvPicPr>
            <a:picLocks noChangeAspect="1"/>
          </p:cNvPicPr>
          <p:nvPr/>
        </p:nvPicPr>
        <p:blipFill>
          <a:blip r:embed="rId1"/>
          <a:stretch>
            <a:fillRect/>
          </a:stretch>
        </p:blipFill>
        <p:spPr>
          <a:xfrm>
            <a:off x="777240" y="640080"/>
            <a:ext cx="1783080" cy="411480"/>
          </a:xfrm>
          <a:prstGeom prst="rect">
            <a:avLst/>
          </a:prstGeom>
        </p:spPr>
      </p:pic>
      <p:sp>
        <p:nvSpPr>
          <p:cNvPr id="15" name="Text 12"/>
          <p:cNvSpPr/>
          <p:nvPr/>
        </p:nvSpPr>
        <p:spPr>
          <a:xfrm>
            <a:off x="822960" y="1737360"/>
            <a:ext cx="7315200" cy="274320"/>
          </a:xfrm>
          <a:prstGeom prst="rect">
            <a:avLst/>
          </a:prstGeom>
          <a:noFill/>
          <a:ln/>
        </p:spPr>
        <p:txBody>
          <a:bodyPr wrap="square" lIns="0" tIns="0" rIns="0" bIns="0" rtlCol="0" anchor="ctr"/>
          <a:lstStyle/>
          <a:p>
            <a:pPr indent="0" marL="0">
              <a:buNone/>
            </a:pPr>
            <a:r>
              <a:rPr lang="en-US" sz="1200" b="1" spc="300" kern="0" dirty="0">
                <a:solidFill>
                  <a:srgbClr val="FFCC00"/>
                </a:solidFill>
                <a:latin typeface="Calibri" pitchFamily="34" charset="0"/>
                <a:ea typeface="Calibri" pitchFamily="34" charset="-122"/>
                <a:cs typeface="Calibri" pitchFamily="34" charset="-120"/>
              </a:rPr>
              <a:t>THE BOTTOM LINE</a:t>
            </a:r>
            <a:endParaRPr lang="en-US" sz="1200" dirty="0"/>
          </a:p>
        </p:txBody>
      </p:sp>
      <p:sp>
        <p:nvSpPr>
          <p:cNvPr id="16" name="Text 13"/>
          <p:cNvSpPr/>
          <p:nvPr/>
        </p:nvSpPr>
        <p:spPr>
          <a:xfrm>
            <a:off x="777240" y="2103120"/>
            <a:ext cx="8412480" cy="1463040"/>
          </a:xfrm>
          <a:prstGeom prst="rect">
            <a:avLst/>
          </a:prstGeom>
          <a:noFill/>
          <a:ln/>
        </p:spPr>
        <p:txBody>
          <a:bodyPr wrap="square" lIns="0" tIns="0" rIns="0" bIns="0" rtlCol="0" anchor="ctr"/>
          <a:lstStyle/>
          <a:p>
            <a:pPr indent="0" marL="0">
              <a:lnSpc>
                <a:spcPts val="4600"/>
              </a:lnSpc>
              <a:buNone/>
            </a:pPr>
            <a:r>
              <a:rPr lang="en-US" sz="3800" b="1" dirty="0">
                <a:solidFill>
                  <a:srgbClr val="FFFFFF"/>
                </a:solidFill>
                <a:latin typeface="Cambria" pitchFamily="34" charset="0"/>
                <a:ea typeface="Cambria" pitchFamily="34" charset="-122"/>
                <a:cs typeface="Cambria" pitchFamily="34" charset="-120"/>
              </a:rPr>
              <a:t>Mistral is the product proof</a:t>
            </a:r>
            <a:endParaRPr lang="en-US" sz="3800" dirty="0"/>
          </a:p>
          <a:p>
            <a:pPr indent="0" marL="0">
              <a:lnSpc>
                <a:spcPts val="4600"/>
              </a:lnSpc>
              <a:buNone/>
            </a:pPr>
            <a:r>
              <a:rPr lang="en-US" sz="3800" b="1" dirty="0">
                <a:solidFill>
                  <a:srgbClr val="FFFFFF"/>
                </a:solidFill>
                <a:latin typeface="Cambria" pitchFamily="34" charset="0"/>
                <a:ea typeface="Cambria" pitchFamily="34" charset="-122"/>
                <a:cs typeface="Cambria" pitchFamily="34" charset="-120"/>
              </a:rPr>
              <a:t>for a European AI stack.</a:t>
            </a:r>
            <a:endParaRPr lang="en-US" sz="3800" dirty="0"/>
          </a:p>
        </p:txBody>
      </p:sp>
      <p:sp>
        <p:nvSpPr>
          <p:cNvPr id="17" name="Shape 14"/>
          <p:cNvSpPr/>
          <p:nvPr/>
        </p:nvSpPr>
        <p:spPr>
          <a:xfrm>
            <a:off x="777240" y="3794760"/>
            <a:ext cx="4297680" cy="1463040"/>
          </a:xfrm>
          <a:prstGeom prst="roundRect">
            <a:avLst>
              <a:gd name="adj" fmla="val 7500"/>
            </a:avLst>
          </a:prstGeom>
          <a:solidFill>
            <a:srgbClr val="00246B"/>
          </a:solidFill>
          <a:ln w="12700">
            <a:solidFill>
              <a:srgbClr val="333333"/>
            </a:solidFill>
            <a:prstDash val="solid"/>
          </a:ln>
        </p:spPr>
      </p:sp>
      <p:sp>
        <p:nvSpPr>
          <p:cNvPr id="18" name="Text 15"/>
          <p:cNvSpPr/>
          <p:nvPr/>
        </p:nvSpPr>
        <p:spPr>
          <a:xfrm>
            <a:off x="1097280" y="3977640"/>
            <a:ext cx="3657600" cy="365760"/>
          </a:xfrm>
          <a:prstGeom prst="rect">
            <a:avLst/>
          </a:prstGeom>
          <a:noFill/>
          <a:ln/>
        </p:spPr>
        <p:txBody>
          <a:bodyPr wrap="square" lIns="0" tIns="0" rIns="0" bIns="0" rtlCol="0" anchor="ctr"/>
          <a:lstStyle/>
          <a:p>
            <a:pPr indent="0" marL="0">
              <a:buNone/>
            </a:pPr>
            <a:r>
              <a:rPr lang="en-US" sz="1800" b="1" dirty="0">
                <a:solidFill>
                  <a:srgbClr val="FFCC00"/>
                </a:solidFill>
                <a:latin typeface="Cambria" pitchFamily="34" charset="0"/>
                <a:ea typeface="Cambria" pitchFamily="34" charset="-122"/>
                <a:cs typeface="Cambria" pitchFamily="34" charset="-120"/>
              </a:rPr>
              <a:t>Company thesis</a:t>
            </a:r>
            <a:endParaRPr lang="en-US" sz="1800" dirty="0"/>
          </a:p>
        </p:txBody>
      </p:sp>
      <p:sp>
        <p:nvSpPr>
          <p:cNvPr id="19" name="Text 16"/>
          <p:cNvSpPr/>
          <p:nvPr/>
        </p:nvSpPr>
        <p:spPr>
          <a:xfrm>
            <a:off x="1097280" y="4370832"/>
            <a:ext cx="3657600" cy="777240"/>
          </a:xfrm>
          <a:prstGeom prst="rect">
            <a:avLst/>
          </a:prstGeom>
          <a:noFill/>
          <a:ln/>
        </p:spPr>
        <p:txBody>
          <a:bodyPr wrap="square" lIns="0" tIns="0" rIns="0" bIns="0" rtlCol="0" anchor="ctr"/>
          <a:lstStyle/>
          <a:p>
            <a:pPr indent="0" marL="0">
              <a:lnSpc>
                <a:spcPts val="1900"/>
              </a:lnSpc>
              <a:buNone/>
            </a:pPr>
            <a:r>
              <a:rPr lang="en-US" sz="1300" dirty="0">
                <a:solidFill>
                  <a:srgbClr val="C9D4F0"/>
                </a:solidFill>
                <a:latin typeface="Calibri" pitchFamily="34" charset="0"/>
                <a:ea typeface="Calibri" pitchFamily="34" charset="-122"/>
                <a:cs typeface="Calibri" pitchFamily="34" charset="-120"/>
              </a:rPr>
              <a:t>Open, controllable frontier models that enterprises can inspect, deploy, and trust.</a:t>
            </a:r>
            <a:endParaRPr lang="en-US" sz="1300" dirty="0"/>
          </a:p>
        </p:txBody>
      </p:sp>
      <p:sp>
        <p:nvSpPr>
          <p:cNvPr id="20" name="Shape 17"/>
          <p:cNvSpPr/>
          <p:nvPr/>
        </p:nvSpPr>
        <p:spPr>
          <a:xfrm>
            <a:off x="5486400" y="3794760"/>
            <a:ext cx="4297680" cy="1463040"/>
          </a:xfrm>
          <a:prstGeom prst="roundRect">
            <a:avLst>
              <a:gd name="adj" fmla="val 7500"/>
            </a:avLst>
          </a:prstGeom>
          <a:solidFill>
            <a:srgbClr val="00246B"/>
          </a:solidFill>
          <a:ln w="12700">
            <a:solidFill>
              <a:srgbClr val="333333"/>
            </a:solidFill>
            <a:prstDash val="solid"/>
          </a:ln>
        </p:spPr>
      </p:sp>
      <p:sp>
        <p:nvSpPr>
          <p:cNvPr id="21" name="Text 18"/>
          <p:cNvSpPr/>
          <p:nvPr/>
        </p:nvSpPr>
        <p:spPr>
          <a:xfrm>
            <a:off x="5806440" y="3977640"/>
            <a:ext cx="3657600" cy="365760"/>
          </a:xfrm>
          <a:prstGeom prst="rect">
            <a:avLst/>
          </a:prstGeom>
          <a:noFill/>
          <a:ln/>
        </p:spPr>
        <p:txBody>
          <a:bodyPr wrap="square" lIns="0" tIns="0" rIns="0" bIns="0" rtlCol="0" anchor="ctr"/>
          <a:lstStyle/>
          <a:p>
            <a:pPr indent="0" marL="0">
              <a:buNone/>
            </a:pPr>
            <a:r>
              <a:rPr lang="en-US" sz="1800" b="1" dirty="0">
                <a:solidFill>
                  <a:srgbClr val="FFCC00"/>
                </a:solidFill>
                <a:latin typeface="Cambria" pitchFamily="34" charset="0"/>
                <a:ea typeface="Cambria" pitchFamily="34" charset="-122"/>
                <a:cs typeface="Cambria" pitchFamily="34" charset="-120"/>
              </a:rPr>
              <a:t>Policy thesis</a:t>
            </a:r>
            <a:endParaRPr lang="en-US" sz="1800" dirty="0"/>
          </a:p>
        </p:txBody>
      </p:sp>
      <p:sp>
        <p:nvSpPr>
          <p:cNvPr id="22" name="Text 19"/>
          <p:cNvSpPr/>
          <p:nvPr/>
        </p:nvSpPr>
        <p:spPr>
          <a:xfrm>
            <a:off x="5806440" y="4370832"/>
            <a:ext cx="3657600" cy="777240"/>
          </a:xfrm>
          <a:prstGeom prst="rect">
            <a:avLst/>
          </a:prstGeom>
          <a:noFill/>
          <a:ln/>
        </p:spPr>
        <p:txBody>
          <a:bodyPr wrap="square" lIns="0" tIns="0" rIns="0" bIns="0" rtlCol="0" anchor="ctr"/>
          <a:lstStyle/>
          <a:p>
            <a:pPr indent="0" marL="0">
              <a:lnSpc>
                <a:spcPts val="1900"/>
              </a:lnSpc>
              <a:buNone/>
            </a:pPr>
            <a:r>
              <a:rPr lang="en-US" sz="1300" dirty="0">
                <a:solidFill>
                  <a:srgbClr val="C9D4F0"/>
                </a:solidFill>
                <a:latin typeface="Calibri" pitchFamily="34" charset="0"/>
                <a:ea typeface="Calibri" pitchFamily="34" charset="-122"/>
                <a:cs typeface="Calibri" pitchFamily="34" charset="-120"/>
              </a:rPr>
              <a:t>Talent, demand, compute, data, and capital held under European control.</a:t>
            </a:r>
            <a:endParaRPr lang="en-US" sz="1300" dirty="0"/>
          </a:p>
        </p:txBody>
      </p:sp>
      <p:sp>
        <p:nvSpPr>
          <p:cNvPr id="23" name="Text 20"/>
          <p:cNvSpPr/>
          <p:nvPr/>
        </p:nvSpPr>
        <p:spPr>
          <a:xfrm>
            <a:off x="777240" y="5623560"/>
            <a:ext cx="8595360" cy="685800"/>
          </a:xfrm>
          <a:prstGeom prst="rect">
            <a:avLst/>
          </a:prstGeom>
          <a:noFill/>
          <a:ln/>
        </p:spPr>
        <p:txBody>
          <a:bodyPr wrap="square" lIns="0" tIns="0" rIns="0" bIns="0" rtlCol="0" anchor="ctr"/>
          <a:lstStyle/>
          <a:p>
            <a:pPr indent="0" marL="0">
              <a:lnSpc>
                <a:spcPts val="2200"/>
              </a:lnSpc>
              <a:buNone/>
            </a:pPr>
            <a:r>
              <a:rPr lang="en-US" sz="1500" i="1" dirty="0">
                <a:solidFill>
                  <a:srgbClr val="FFFFFF"/>
                </a:solidFill>
                <a:latin typeface="Calibri" pitchFamily="34" charset="0"/>
                <a:ea typeface="Calibri" pitchFamily="34" charset="-122"/>
                <a:cs typeface="Calibri" pitchFamily="34" charset="-120"/>
              </a:rPr>
              <a:t>Winning the model layer is the company case. Turning that win into an enduring category advantage is the European one.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ns2="http://purl.org/dc/terms/" xmlns:xsi="http://www.w3.org/2001/XMLSchema-instance">
  <dc:title>Mistral AI - EU Policy &amp; Company Thesis</dc:title>
  <dc:subject>EU Policy and European AI Sovereignty Company Thesis</dc:subject>
  <dc:creator>Mistral AI Product Marketing</dc:creator>
  <cp:lastModifiedBy>PptxGenJS</cp:lastModifiedBy>
  <cp:revision>1</cp:revision>
  <ns2:created xsi:type="dcterms:W3CDTF">2026-08-17T06:45:18Z</ns2:created>
  <ns2:modified xsi:type="dcterms:W3CDTF">2026-08-17T06:45:18Z</ns2:modified>
  <cp:keywords>mistral-ai, eu-policy, ai-sovereignty, thesis</cp:keywords>
</cp:coreProperties>
</file>