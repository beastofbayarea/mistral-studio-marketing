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8" r:id="rId3"/>
    <p:sldId id="260" r:id="rId4"/>
    <p:sldId id="259" r:id="rId5"/>
    <p:sldId id="264" r:id="rId6"/>
    <p:sldId id="263"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98" d="100"/>
          <a:sy n="98" d="100"/>
        </p:scale>
        <p:origin x="102" y="3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6528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thesis in two layers: the company strategy explains why Mistral can win the model layer; the policy agenda explains how that win compounds.</a:t>
            </a:r>
            <a:r>
              <a:rPr lang="en-US"/>
              <a:t> The arc is single and linear: control the model layer, feed the loop with adoption, and let the European stack make the position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market size first, then the constraints. The constraints make an open, controllable alternative commercially valuable rather than ideological.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last line hard. The positioning is deliberate asymmetry, not open-source advocacy.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funnel is the defensible part: enterprise counts and sector filters are verifiable, contract values are anchored to comparable enterprise software and infrastructure deals. Share assumption is the one number open to challenge, so lead with it rather than bury it. Note that the bottoms-up total independently lands on the same figure as the top-down forecast, which is the point of the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Policy is go-to-market infrastructure, not an appendix. Each lever removes friction at a specific turn of the loop: talent and stack feed supply, market and demand feed adoption. The loop is the bridge: it converts the company position into a policy agenda without changing the subject.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single sentence. Everything before it exists to make that sentence credible.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99"/>
        </a:solidFill>
        <a:effectLst/>
      </p:bgPr>
    </p:bg>
    <p:spTree>
      <p:nvGrpSpPr>
        <p:cNvPr id="1" name=""/>
        <p:cNvGrpSpPr/>
        <p:nvPr/>
      </p:nvGrpSpPr>
      <p:grpSpPr>
        <a:xfrm>
          <a:off x="0" y="0"/>
          <a:ext cx="0" cy="0"/>
          <a:chOff x="0" y="0"/>
          <a:chExt cx="0" cy="0"/>
        </a:xfrm>
      </p:grpSpPr>
      <p:sp>
        <p:nvSpPr>
          <p:cNvPr id="2" name="Shape 0"/>
          <p:cNvSpPr/>
          <p:nvPr/>
        </p:nvSpPr>
        <p:spPr>
          <a:xfrm>
            <a:off x="9939528" y="155448"/>
            <a:ext cx="420624" cy="420624"/>
          </a:xfrm>
          <a:prstGeom prst="star5">
            <a:avLst/>
          </a:prstGeom>
          <a:solidFill>
            <a:srgbClr val="12459E"/>
          </a:solidFill>
          <a:ln w="12700">
            <a:solidFill>
              <a:srgbClr val="333333"/>
            </a:solidFill>
            <a:prstDash val="solid"/>
          </a:ln>
        </p:spPr>
        <p:txBody>
          <a:bodyPr/>
          <a:lstStyle/>
          <a:p>
            <a:endParaRPr lang="en-US"/>
          </a:p>
        </p:txBody>
      </p:sp>
      <p:sp>
        <p:nvSpPr>
          <p:cNvPr id="3" name="Shape 1"/>
          <p:cNvSpPr/>
          <p:nvPr/>
        </p:nvSpPr>
        <p:spPr>
          <a:xfrm>
            <a:off x="10762488" y="375959"/>
            <a:ext cx="420624" cy="420624"/>
          </a:xfrm>
          <a:prstGeom prst="star5">
            <a:avLst/>
          </a:prstGeom>
          <a:solidFill>
            <a:srgbClr val="12459E"/>
          </a:solidFill>
          <a:ln w="12700">
            <a:solidFill>
              <a:srgbClr val="333333"/>
            </a:solidFill>
            <a:prstDash val="solid"/>
          </a:ln>
        </p:spPr>
        <p:txBody>
          <a:bodyPr/>
          <a:lstStyle/>
          <a:p>
            <a:endParaRPr lang="en-US"/>
          </a:p>
        </p:txBody>
      </p:sp>
      <p:sp>
        <p:nvSpPr>
          <p:cNvPr id="4" name="Shape 2"/>
          <p:cNvSpPr/>
          <p:nvPr/>
        </p:nvSpPr>
        <p:spPr>
          <a:xfrm>
            <a:off x="11364937" y="978408"/>
            <a:ext cx="420624" cy="420624"/>
          </a:xfrm>
          <a:prstGeom prst="star5">
            <a:avLst/>
          </a:prstGeom>
          <a:solidFill>
            <a:srgbClr val="12459E"/>
          </a:solidFill>
          <a:ln w="12700">
            <a:solidFill>
              <a:srgbClr val="333333"/>
            </a:solidFill>
            <a:prstDash val="solid"/>
          </a:ln>
        </p:spPr>
        <p:txBody>
          <a:bodyPr/>
          <a:lstStyle/>
          <a:p>
            <a:endParaRPr lang="en-US"/>
          </a:p>
        </p:txBody>
      </p:sp>
      <p:sp>
        <p:nvSpPr>
          <p:cNvPr id="5" name="Shape 3"/>
          <p:cNvSpPr/>
          <p:nvPr/>
        </p:nvSpPr>
        <p:spPr>
          <a:xfrm>
            <a:off x="11585448" y="1801368"/>
            <a:ext cx="420624" cy="420624"/>
          </a:xfrm>
          <a:prstGeom prst="star5">
            <a:avLst/>
          </a:prstGeom>
          <a:solidFill>
            <a:srgbClr val="12459E"/>
          </a:solidFill>
          <a:ln w="12700">
            <a:solidFill>
              <a:srgbClr val="333333"/>
            </a:solidFill>
            <a:prstDash val="solid"/>
          </a:ln>
        </p:spPr>
        <p:txBody>
          <a:bodyPr/>
          <a:lstStyle/>
          <a:p>
            <a:endParaRPr lang="en-US"/>
          </a:p>
        </p:txBody>
      </p:sp>
      <p:sp>
        <p:nvSpPr>
          <p:cNvPr id="6" name="Shape 4"/>
          <p:cNvSpPr/>
          <p:nvPr/>
        </p:nvSpPr>
        <p:spPr>
          <a:xfrm>
            <a:off x="11364937" y="2624328"/>
            <a:ext cx="420624" cy="420624"/>
          </a:xfrm>
          <a:prstGeom prst="star5">
            <a:avLst/>
          </a:prstGeom>
          <a:solidFill>
            <a:srgbClr val="12459E"/>
          </a:solidFill>
          <a:ln w="12700">
            <a:solidFill>
              <a:srgbClr val="333333"/>
            </a:solidFill>
            <a:prstDash val="solid"/>
          </a:ln>
        </p:spPr>
        <p:txBody>
          <a:bodyPr/>
          <a:lstStyle/>
          <a:p>
            <a:endParaRPr lang="en-US"/>
          </a:p>
        </p:txBody>
      </p:sp>
      <p:sp>
        <p:nvSpPr>
          <p:cNvPr id="7" name="Shape 5"/>
          <p:cNvSpPr/>
          <p:nvPr/>
        </p:nvSpPr>
        <p:spPr>
          <a:xfrm>
            <a:off x="10762488" y="3226777"/>
            <a:ext cx="420624" cy="420624"/>
          </a:xfrm>
          <a:prstGeom prst="star5">
            <a:avLst/>
          </a:prstGeom>
          <a:solidFill>
            <a:srgbClr val="12459E"/>
          </a:solidFill>
          <a:ln w="12700">
            <a:solidFill>
              <a:srgbClr val="333333"/>
            </a:solidFill>
            <a:prstDash val="solid"/>
          </a:ln>
        </p:spPr>
        <p:txBody>
          <a:bodyPr/>
          <a:lstStyle/>
          <a:p>
            <a:endParaRPr lang="en-US"/>
          </a:p>
        </p:txBody>
      </p:sp>
      <p:sp>
        <p:nvSpPr>
          <p:cNvPr id="8" name="Shape 6"/>
          <p:cNvSpPr/>
          <p:nvPr/>
        </p:nvSpPr>
        <p:spPr>
          <a:xfrm>
            <a:off x="9939528" y="3447288"/>
            <a:ext cx="420624" cy="420624"/>
          </a:xfrm>
          <a:prstGeom prst="star5">
            <a:avLst/>
          </a:prstGeom>
          <a:solidFill>
            <a:srgbClr val="12459E"/>
          </a:solidFill>
          <a:ln w="12700">
            <a:solidFill>
              <a:srgbClr val="333333"/>
            </a:solidFill>
            <a:prstDash val="solid"/>
          </a:ln>
        </p:spPr>
        <p:txBody>
          <a:bodyPr/>
          <a:lstStyle/>
          <a:p>
            <a:endParaRPr lang="en-US"/>
          </a:p>
        </p:txBody>
      </p:sp>
      <p:sp>
        <p:nvSpPr>
          <p:cNvPr id="9" name="Shape 7"/>
          <p:cNvSpPr/>
          <p:nvPr/>
        </p:nvSpPr>
        <p:spPr>
          <a:xfrm>
            <a:off x="9116568" y="3226777"/>
            <a:ext cx="420624" cy="420624"/>
          </a:xfrm>
          <a:prstGeom prst="star5">
            <a:avLst/>
          </a:prstGeom>
          <a:solidFill>
            <a:srgbClr val="12459E"/>
          </a:solidFill>
          <a:ln w="12700">
            <a:solidFill>
              <a:srgbClr val="333333"/>
            </a:solidFill>
            <a:prstDash val="solid"/>
          </a:ln>
        </p:spPr>
        <p:txBody>
          <a:bodyPr/>
          <a:lstStyle/>
          <a:p>
            <a:endParaRPr lang="en-US"/>
          </a:p>
        </p:txBody>
      </p:sp>
      <p:sp>
        <p:nvSpPr>
          <p:cNvPr id="10" name="Shape 8"/>
          <p:cNvSpPr/>
          <p:nvPr/>
        </p:nvSpPr>
        <p:spPr>
          <a:xfrm>
            <a:off x="8514119" y="2624328"/>
            <a:ext cx="420624" cy="420624"/>
          </a:xfrm>
          <a:prstGeom prst="star5">
            <a:avLst/>
          </a:prstGeom>
          <a:solidFill>
            <a:srgbClr val="12459E"/>
          </a:solidFill>
          <a:ln w="12700">
            <a:solidFill>
              <a:srgbClr val="333333"/>
            </a:solidFill>
            <a:prstDash val="solid"/>
          </a:ln>
        </p:spPr>
        <p:txBody>
          <a:bodyPr/>
          <a:lstStyle/>
          <a:p>
            <a:endParaRPr lang="en-US"/>
          </a:p>
        </p:txBody>
      </p:sp>
      <p:sp>
        <p:nvSpPr>
          <p:cNvPr id="11" name="Shape 9"/>
          <p:cNvSpPr/>
          <p:nvPr/>
        </p:nvSpPr>
        <p:spPr>
          <a:xfrm>
            <a:off x="8293608" y="1801368"/>
            <a:ext cx="420624" cy="420624"/>
          </a:xfrm>
          <a:prstGeom prst="star5">
            <a:avLst/>
          </a:prstGeom>
          <a:solidFill>
            <a:srgbClr val="12459E"/>
          </a:solidFill>
          <a:ln w="12700">
            <a:solidFill>
              <a:srgbClr val="333333"/>
            </a:solidFill>
            <a:prstDash val="solid"/>
          </a:ln>
        </p:spPr>
        <p:txBody>
          <a:bodyPr/>
          <a:lstStyle/>
          <a:p>
            <a:endParaRPr lang="en-US"/>
          </a:p>
        </p:txBody>
      </p:sp>
      <p:sp>
        <p:nvSpPr>
          <p:cNvPr id="12" name="Shape 10"/>
          <p:cNvSpPr/>
          <p:nvPr/>
        </p:nvSpPr>
        <p:spPr>
          <a:xfrm>
            <a:off x="8514119" y="978408"/>
            <a:ext cx="420624" cy="420624"/>
          </a:xfrm>
          <a:prstGeom prst="star5">
            <a:avLst/>
          </a:prstGeom>
          <a:solidFill>
            <a:srgbClr val="12459E"/>
          </a:solidFill>
          <a:ln w="12700">
            <a:solidFill>
              <a:srgbClr val="333333"/>
            </a:solidFill>
            <a:prstDash val="solid"/>
          </a:ln>
        </p:spPr>
        <p:txBody>
          <a:bodyPr/>
          <a:lstStyle/>
          <a:p>
            <a:endParaRPr lang="en-US"/>
          </a:p>
        </p:txBody>
      </p:sp>
      <p:sp>
        <p:nvSpPr>
          <p:cNvPr id="13" name="Shape 11"/>
          <p:cNvSpPr/>
          <p:nvPr/>
        </p:nvSpPr>
        <p:spPr>
          <a:xfrm>
            <a:off x="9116568" y="375959"/>
            <a:ext cx="420624" cy="420624"/>
          </a:xfrm>
          <a:prstGeom prst="star5">
            <a:avLst/>
          </a:prstGeom>
          <a:solidFill>
            <a:srgbClr val="12459E"/>
          </a:solidFill>
          <a:ln w="12700">
            <a:solidFill>
              <a:srgbClr val="333333"/>
            </a:solidFill>
            <a:prstDash val="solid"/>
          </a:ln>
        </p:spPr>
        <p:txBody>
          <a:bodyPr/>
          <a:lstStyle/>
          <a:p>
            <a:endParaRPr lang="en-US"/>
          </a:p>
        </p:txBody>
      </p:sp>
      <p:pic>
        <p:nvPicPr>
          <p:cNvPr id="14" name="Image 0" descr="preencoded.png"/>
          <p:cNvPicPr>
            <a:picLocks noChangeAspect="1"/>
          </p:cNvPicPr>
          <p:nvPr/>
        </p:nvPicPr>
        <p:blipFill>
          <a:blip r:embed="rId3"/>
          <a:stretch>
            <a:fillRect/>
          </a:stretch>
        </p:blipFill>
        <p:spPr>
          <a:xfrm>
            <a:off x="777240" y="685800"/>
            <a:ext cx="1984248" cy="457200"/>
          </a:xfrm>
          <a:prstGeom prst="rect">
            <a:avLst/>
          </a:prstGeom>
        </p:spPr>
      </p:pic>
      <p:sp>
        <p:nvSpPr>
          <p:cNvPr id="15" name="Kick"/>
          <p:cNvSpPr/>
          <p:nvPr/>
        </p:nvSpPr>
        <p:spPr>
          <a:xfrm>
            <a:off x="822960" y="1463040"/>
            <a:ext cx="8229600" cy="274320"/>
          </a:xfrm>
          <a:prstGeom prst="rect">
            <a:avLst/>
          </a:prstGeom>
          <a:noFill/>
          <a:ln/>
        </p:spPr>
        <p:txBody>
          <a:bodyPr wrap="square" lIns="0" tIns="0" rIns="0" bIns="0" rtlCol="0" anchor="ctr">
            <a:normAutofit/>
          </a:bodyPr>
          <a:lstStyle/>
          <a:p>
            <a:pPr marL="0" indent="0" algn="l">
              <a:buNone/>
            </a:pPr>
            <a:r>
              <a:rPr lang="en-US" sz="1150" b="1" kern="0" spc="250">
                <a:solidFill>
                  <a:srgbClr val="FFCC00"/>
                </a:solidFill>
                <a:latin typeface="Calibri" pitchFamily="34" charset="0"/>
                <a:ea typeface="Calibri" pitchFamily="34" charset="-122"/>
                <a:cs typeface="Calibri" pitchFamily="34" charset="-120"/>
              </a:rPr>
              <a:t>COMPANY THESIS  ·  POLICY ARCHITECTURE</a:t>
            </a:r>
          </a:p>
        </p:txBody>
      </p:sp>
      <p:sp>
        <p:nvSpPr>
          <p:cNvPr id="16" name="Title"/>
          <p:cNvSpPr/>
          <p:nvPr/>
        </p:nvSpPr>
        <p:spPr>
          <a:xfrm>
            <a:off x="777240" y="1874520"/>
            <a:ext cx="7863840" cy="1554480"/>
          </a:xfrm>
          <a:prstGeom prst="rect">
            <a:avLst/>
          </a:prstGeom>
          <a:noFill/>
          <a:ln/>
        </p:spPr>
        <p:txBody>
          <a:bodyPr wrap="square" lIns="0" tIns="0" rIns="0" bIns="0" rtlCol="0" anchor="t">
            <a:normAutofit/>
          </a:bodyPr>
          <a:lstStyle/>
          <a:p>
            <a:pPr marL="0" indent="0" algn="l">
              <a:buNone/>
            </a:pPr>
            <a:r>
              <a:rPr lang="en-US" sz="4000" b="1">
                <a:solidFill>
                  <a:srgbClr val="FFFFFF"/>
                </a:solidFill>
                <a:latin typeface="Cambria" pitchFamily="34" charset="0"/>
                <a:ea typeface="Cambria" pitchFamily="34" charset="-122"/>
                <a:cs typeface="Cambria" pitchFamily="34" charset="-120"/>
              </a:rPr>
              <a:t>From model wedge to</a:t>
            </a:r>
          </a:p>
          <a:p>
            <a:pPr marL="0" indent="0" algn="l">
              <a:buNone/>
            </a:pPr>
            <a:r>
              <a:rPr lang="en-US" sz="4000" b="1">
                <a:solidFill>
                  <a:srgbClr val="FFFFFF"/>
                </a:solidFill>
                <a:latin typeface="Cambria" pitchFamily="34" charset="0"/>
                <a:ea typeface="Cambria" pitchFamily="34" charset="-122"/>
                <a:cs typeface="Cambria" pitchFamily="34" charset="-120"/>
              </a:rPr>
              <a:t>European AI stack</a:t>
            </a:r>
          </a:p>
        </p:txBody>
      </p:sp>
      <p:sp>
        <p:nvSpPr>
          <p:cNvPr id="17" name="Sub"/>
          <p:cNvSpPr/>
          <p:nvPr/>
        </p:nvSpPr>
        <p:spPr>
          <a:xfrm>
            <a:off x="777240" y="3611880"/>
            <a:ext cx="7315200" cy="548640"/>
          </a:xfrm>
          <a:prstGeom prst="rect">
            <a:avLst/>
          </a:prstGeom>
          <a:noFill/>
          <a:ln/>
        </p:spPr>
        <p:txBody>
          <a:bodyPr wrap="square" lIns="0" tIns="0" rIns="0" bIns="0" rtlCol="0" anchor="t">
            <a:normAutofit/>
          </a:bodyPr>
          <a:lstStyle/>
          <a:p>
            <a:pPr marL="0" indent="0" algn="l">
              <a:buNone/>
            </a:pPr>
            <a:r>
              <a:rPr lang="en-US" sz="1500">
                <a:solidFill>
                  <a:srgbClr val="D9E1F5"/>
                </a:solidFill>
                <a:latin typeface="Calibri" pitchFamily="34" charset="0"/>
                <a:ea typeface="Calibri" pitchFamily="34" charset="-122"/>
                <a:cs typeface="Calibri" pitchFamily="34" charset="-120"/>
              </a:rPr>
              <a:t>Why Mistral can win the model layer, and how Europe turns that win into a stack that compounds.</a:t>
            </a:r>
          </a:p>
        </p:txBody>
      </p:sp>
      <p:sp>
        <p:nvSpPr>
          <p:cNvPr id="18" name="Rule"/>
          <p:cNvSpPr/>
          <p:nvPr/>
        </p:nvSpPr>
        <p:spPr>
          <a:xfrm>
            <a:off x="777240" y="4434840"/>
            <a:ext cx="2011680" cy="54864"/>
          </a:xfrm>
          <a:prstGeom prst="rect">
            <a:avLst/>
          </a:prstGeom>
          <a:solidFill>
            <a:srgbClr val="FFCC00"/>
          </a:solidFill>
          <a:ln/>
        </p:spPr>
        <p:txBody>
          <a:bodyPr/>
          <a:lstStyle/>
          <a:p>
            <a:endParaRPr lang="en-US"/>
          </a:p>
        </p:txBody>
      </p:sp>
      <p:sp>
        <p:nvSpPr>
          <p:cNvPr id="19" name="SpineK"/>
          <p:cNvSpPr/>
          <p:nvPr/>
        </p:nvSpPr>
        <p:spPr>
          <a:xfrm>
            <a:off x="777240" y="4754880"/>
            <a:ext cx="5486400" cy="256032"/>
          </a:xfrm>
          <a:prstGeom prst="rect">
            <a:avLst/>
          </a:prstGeom>
          <a:noFill/>
          <a:ln/>
        </p:spPr>
        <p:txBody>
          <a:bodyPr wrap="square" lIns="0" tIns="0" rIns="0" bIns="0" rtlCol="0" anchor="ctr">
            <a:normAutofit/>
          </a:bodyPr>
          <a:lstStyle/>
          <a:p>
            <a:pPr marL="0" indent="0" algn="l">
              <a:buNone/>
            </a:pPr>
            <a:r>
              <a:rPr lang="en-US" sz="1000" b="1" kern="0" spc="200">
                <a:solidFill>
                  <a:srgbClr val="FFCC00"/>
                </a:solidFill>
                <a:latin typeface="Calibri" pitchFamily="34" charset="0"/>
                <a:ea typeface="Calibri" pitchFamily="34" charset="-122"/>
                <a:cs typeface="Calibri" pitchFamily="34" charset="-120"/>
              </a:rPr>
              <a:t>ONE THESIS, TWO LAYERS</a:t>
            </a:r>
          </a:p>
        </p:txBody>
      </p:sp>
      <p:sp>
        <p:nvSpPr>
          <p:cNvPr id="20" name="SRule0"/>
          <p:cNvSpPr/>
          <p:nvPr/>
        </p:nvSpPr>
        <p:spPr>
          <a:xfrm>
            <a:off x="777240" y="5166360"/>
            <a:ext cx="45720" cy="1097280"/>
          </a:xfrm>
          <a:prstGeom prst="rect">
            <a:avLst/>
          </a:prstGeom>
          <a:solidFill>
            <a:srgbClr val="3A5A9E"/>
          </a:solidFill>
          <a:ln/>
        </p:spPr>
        <p:txBody>
          <a:bodyPr/>
          <a:lstStyle/>
          <a:p>
            <a:endParaRPr lang="en-US"/>
          </a:p>
        </p:txBody>
      </p:sp>
      <p:sp>
        <p:nvSpPr>
          <p:cNvPr id="21" name="SNum0"/>
          <p:cNvSpPr/>
          <p:nvPr/>
        </p:nvSpPr>
        <p:spPr>
          <a:xfrm>
            <a:off x="1033272" y="5166360"/>
            <a:ext cx="365760" cy="274320"/>
          </a:xfrm>
          <a:prstGeom prst="rect">
            <a:avLst/>
          </a:prstGeom>
          <a:noFill/>
          <a:ln/>
        </p:spPr>
        <p:txBody>
          <a:bodyPr wrap="square" lIns="0" tIns="0" rIns="0" bIns="0" rtlCol="0" anchor="ctr">
            <a:normAutofit/>
          </a:bodyPr>
          <a:lstStyle/>
          <a:p>
            <a:pPr marL="0" indent="0" algn="l">
              <a:buNone/>
            </a:pPr>
            <a:r>
              <a:rPr lang="en-US" sz="1300" b="1">
                <a:solidFill>
                  <a:srgbClr val="FFCC00"/>
                </a:solidFill>
                <a:latin typeface="Cambria" pitchFamily="34" charset="0"/>
                <a:ea typeface="Cambria" pitchFamily="34" charset="-122"/>
                <a:cs typeface="Cambria" pitchFamily="34" charset="-120"/>
              </a:rPr>
              <a:t>1</a:t>
            </a:r>
          </a:p>
        </p:txBody>
      </p:sp>
      <p:sp>
        <p:nvSpPr>
          <p:cNvPr id="22" name="SLab0"/>
          <p:cNvSpPr/>
          <p:nvPr/>
        </p:nvSpPr>
        <p:spPr>
          <a:xfrm>
            <a:off x="1463040" y="5166360"/>
            <a:ext cx="2560320" cy="274320"/>
          </a:xfrm>
          <a:prstGeom prst="rect">
            <a:avLst/>
          </a:prstGeom>
          <a:noFill/>
          <a:ln/>
        </p:spPr>
        <p:txBody>
          <a:bodyPr wrap="square" lIns="0" tIns="0" rIns="0" bIns="0" rtlCol="0" anchor="ctr">
            <a:normAutofit/>
          </a:bodyPr>
          <a:lstStyle/>
          <a:p>
            <a:pPr marL="0" indent="0" algn="l">
              <a:buNone/>
            </a:pPr>
            <a:r>
              <a:rPr lang="en-US" sz="1400" b="1">
                <a:solidFill>
                  <a:srgbClr val="FFFFFF"/>
                </a:solidFill>
                <a:latin typeface="Cambria" pitchFamily="34" charset="0"/>
                <a:ea typeface="Cambria" pitchFamily="34" charset="-122"/>
                <a:cs typeface="Cambria" pitchFamily="34" charset="-120"/>
              </a:rPr>
              <a:t>Company wedge</a:t>
            </a:r>
          </a:p>
        </p:txBody>
      </p:sp>
      <p:sp>
        <p:nvSpPr>
          <p:cNvPr id="23" name="SDesc0"/>
          <p:cNvSpPr/>
          <p:nvPr/>
        </p:nvSpPr>
        <p:spPr>
          <a:xfrm>
            <a:off x="1033272" y="5532120"/>
            <a:ext cx="3063240" cy="731520"/>
          </a:xfrm>
          <a:prstGeom prst="rect">
            <a:avLst/>
          </a:prstGeom>
          <a:noFill/>
          <a:ln/>
        </p:spPr>
        <p:txBody>
          <a:bodyPr wrap="square" lIns="0" tIns="0" rIns="0" bIns="0" rtlCol="0" anchor="t">
            <a:normAutofit/>
          </a:bodyPr>
          <a:lstStyle/>
          <a:p>
            <a:pPr marL="0" indent="0" algn="l">
              <a:buNone/>
            </a:pPr>
            <a:r>
              <a:rPr lang="en-US" sz="1100">
                <a:solidFill>
                  <a:srgbClr val="D9E1F5"/>
                </a:solidFill>
                <a:latin typeface="Calibri" pitchFamily="34" charset="0"/>
                <a:ea typeface="Calibri" pitchFamily="34" charset="-122"/>
                <a:cs typeface="Calibri" pitchFamily="34" charset="-120"/>
              </a:rPr>
              <a:t>Open, inspectable, deployable models enterprises can trust and control.</a:t>
            </a:r>
          </a:p>
        </p:txBody>
      </p:sp>
      <p:sp>
        <p:nvSpPr>
          <p:cNvPr id="24" name="SRule1"/>
          <p:cNvSpPr/>
          <p:nvPr/>
        </p:nvSpPr>
        <p:spPr>
          <a:xfrm>
            <a:off x="4389120" y="5166360"/>
            <a:ext cx="45720" cy="1097280"/>
          </a:xfrm>
          <a:prstGeom prst="rect">
            <a:avLst/>
          </a:prstGeom>
          <a:solidFill>
            <a:srgbClr val="3A5A9E"/>
          </a:solidFill>
          <a:ln/>
        </p:spPr>
        <p:txBody>
          <a:bodyPr/>
          <a:lstStyle/>
          <a:p>
            <a:endParaRPr lang="en-US"/>
          </a:p>
        </p:txBody>
      </p:sp>
      <p:sp>
        <p:nvSpPr>
          <p:cNvPr id="25" name="SNum1"/>
          <p:cNvSpPr/>
          <p:nvPr/>
        </p:nvSpPr>
        <p:spPr>
          <a:xfrm>
            <a:off x="4645152" y="5166360"/>
            <a:ext cx="365760" cy="274320"/>
          </a:xfrm>
          <a:prstGeom prst="rect">
            <a:avLst/>
          </a:prstGeom>
          <a:noFill/>
          <a:ln/>
        </p:spPr>
        <p:txBody>
          <a:bodyPr wrap="square" lIns="0" tIns="0" rIns="0" bIns="0" rtlCol="0" anchor="ctr">
            <a:normAutofit/>
          </a:bodyPr>
          <a:lstStyle/>
          <a:p>
            <a:pPr marL="0" indent="0" algn="l">
              <a:buNone/>
            </a:pPr>
            <a:r>
              <a:rPr lang="en-US" sz="1300" b="1">
                <a:solidFill>
                  <a:srgbClr val="FFCC00"/>
                </a:solidFill>
                <a:latin typeface="Cambria" pitchFamily="34" charset="0"/>
                <a:ea typeface="Cambria" pitchFamily="34" charset="-122"/>
                <a:cs typeface="Cambria" pitchFamily="34" charset="-120"/>
              </a:rPr>
              <a:t>2</a:t>
            </a:r>
          </a:p>
        </p:txBody>
      </p:sp>
      <p:sp>
        <p:nvSpPr>
          <p:cNvPr id="26" name="SLab1"/>
          <p:cNvSpPr/>
          <p:nvPr/>
        </p:nvSpPr>
        <p:spPr>
          <a:xfrm>
            <a:off x="5074920" y="5166360"/>
            <a:ext cx="2560320" cy="274320"/>
          </a:xfrm>
          <a:prstGeom prst="rect">
            <a:avLst/>
          </a:prstGeom>
          <a:noFill/>
          <a:ln/>
        </p:spPr>
        <p:txBody>
          <a:bodyPr wrap="square" lIns="0" tIns="0" rIns="0" bIns="0" rtlCol="0" anchor="ctr">
            <a:normAutofit/>
          </a:bodyPr>
          <a:lstStyle/>
          <a:p>
            <a:pPr marL="0" indent="0" algn="l">
              <a:buNone/>
            </a:pPr>
            <a:r>
              <a:rPr lang="en-US" sz="1400" b="1">
                <a:solidFill>
                  <a:srgbClr val="FFFFFF"/>
                </a:solidFill>
                <a:latin typeface="Cambria" pitchFamily="34" charset="0"/>
                <a:ea typeface="Cambria" pitchFamily="34" charset="-122"/>
                <a:cs typeface="Cambria" pitchFamily="34" charset="-120"/>
              </a:rPr>
              <a:t>Industrial loop</a:t>
            </a:r>
          </a:p>
        </p:txBody>
      </p:sp>
      <p:sp>
        <p:nvSpPr>
          <p:cNvPr id="27" name="SDesc1"/>
          <p:cNvSpPr/>
          <p:nvPr/>
        </p:nvSpPr>
        <p:spPr>
          <a:xfrm>
            <a:off x="4645152" y="5532120"/>
            <a:ext cx="3063240" cy="731520"/>
          </a:xfrm>
          <a:prstGeom prst="rect">
            <a:avLst/>
          </a:prstGeom>
          <a:noFill/>
          <a:ln/>
        </p:spPr>
        <p:txBody>
          <a:bodyPr wrap="square" lIns="0" tIns="0" rIns="0" bIns="0" rtlCol="0" anchor="t">
            <a:normAutofit/>
          </a:bodyPr>
          <a:lstStyle/>
          <a:p>
            <a:pPr marL="0" indent="0" algn="l">
              <a:buNone/>
            </a:pPr>
            <a:r>
              <a:rPr lang="en-US" sz="1100">
                <a:solidFill>
                  <a:srgbClr val="D9E1F5"/>
                </a:solidFill>
                <a:latin typeface="Calibri" pitchFamily="34" charset="0"/>
                <a:ea typeface="Calibri" pitchFamily="34" charset="-122"/>
                <a:cs typeface="Calibri" pitchFamily="34" charset="-120"/>
              </a:rPr>
              <a:t>Adoption generates data and usage feedback that sharpens the next model.</a:t>
            </a:r>
          </a:p>
        </p:txBody>
      </p:sp>
      <p:sp>
        <p:nvSpPr>
          <p:cNvPr id="28" name="SRule2"/>
          <p:cNvSpPr/>
          <p:nvPr/>
        </p:nvSpPr>
        <p:spPr>
          <a:xfrm>
            <a:off x="8001000" y="5166360"/>
            <a:ext cx="45720" cy="1097280"/>
          </a:xfrm>
          <a:prstGeom prst="rect">
            <a:avLst/>
          </a:prstGeom>
          <a:solidFill>
            <a:srgbClr val="3A5A9E"/>
          </a:solidFill>
          <a:ln/>
        </p:spPr>
        <p:txBody>
          <a:bodyPr/>
          <a:lstStyle/>
          <a:p>
            <a:endParaRPr lang="en-US"/>
          </a:p>
        </p:txBody>
      </p:sp>
      <p:sp>
        <p:nvSpPr>
          <p:cNvPr id="29" name="SNum2"/>
          <p:cNvSpPr/>
          <p:nvPr/>
        </p:nvSpPr>
        <p:spPr>
          <a:xfrm>
            <a:off x="8257032" y="5166360"/>
            <a:ext cx="365760" cy="274320"/>
          </a:xfrm>
          <a:prstGeom prst="rect">
            <a:avLst/>
          </a:prstGeom>
          <a:noFill/>
          <a:ln/>
        </p:spPr>
        <p:txBody>
          <a:bodyPr wrap="square" lIns="0" tIns="0" rIns="0" bIns="0" rtlCol="0" anchor="ctr">
            <a:normAutofit/>
          </a:bodyPr>
          <a:lstStyle/>
          <a:p>
            <a:pPr marL="0" indent="0" algn="l">
              <a:buNone/>
            </a:pPr>
            <a:r>
              <a:rPr lang="en-US" sz="1300" b="1">
                <a:solidFill>
                  <a:srgbClr val="FFCC00"/>
                </a:solidFill>
                <a:latin typeface="Cambria" pitchFamily="34" charset="0"/>
                <a:ea typeface="Cambria" pitchFamily="34" charset="-122"/>
                <a:cs typeface="Cambria" pitchFamily="34" charset="-120"/>
              </a:rPr>
              <a:t>3</a:t>
            </a:r>
          </a:p>
        </p:txBody>
      </p:sp>
      <p:sp>
        <p:nvSpPr>
          <p:cNvPr id="30" name="SLab2"/>
          <p:cNvSpPr/>
          <p:nvPr/>
        </p:nvSpPr>
        <p:spPr>
          <a:xfrm>
            <a:off x="8686800" y="5166360"/>
            <a:ext cx="2560320" cy="274320"/>
          </a:xfrm>
          <a:prstGeom prst="rect">
            <a:avLst/>
          </a:prstGeom>
          <a:noFill/>
          <a:ln/>
        </p:spPr>
        <p:txBody>
          <a:bodyPr wrap="square" lIns="0" tIns="0" rIns="0" bIns="0" rtlCol="0" anchor="ctr">
            <a:normAutofit/>
          </a:bodyPr>
          <a:lstStyle/>
          <a:p>
            <a:pPr marL="0" indent="0" algn="l">
              <a:buNone/>
            </a:pPr>
            <a:r>
              <a:rPr lang="en-US" sz="1400" b="1">
                <a:solidFill>
                  <a:srgbClr val="FFFFFF"/>
                </a:solidFill>
                <a:latin typeface="Cambria" pitchFamily="34" charset="0"/>
                <a:ea typeface="Cambria" pitchFamily="34" charset="-122"/>
                <a:cs typeface="Cambria" pitchFamily="34" charset="-120"/>
              </a:rPr>
              <a:t>European stack</a:t>
            </a:r>
          </a:p>
        </p:txBody>
      </p:sp>
      <p:sp>
        <p:nvSpPr>
          <p:cNvPr id="31" name="SDesc2"/>
          <p:cNvSpPr/>
          <p:nvPr/>
        </p:nvSpPr>
        <p:spPr>
          <a:xfrm>
            <a:off x="8257032" y="5532120"/>
            <a:ext cx="3063240" cy="731520"/>
          </a:xfrm>
          <a:prstGeom prst="rect">
            <a:avLst/>
          </a:prstGeom>
          <a:noFill/>
          <a:ln/>
        </p:spPr>
        <p:txBody>
          <a:bodyPr wrap="square" lIns="0" tIns="0" rIns="0" bIns="0" rtlCol="0" anchor="t">
            <a:normAutofit/>
          </a:bodyPr>
          <a:lstStyle/>
          <a:p>
            <a:pPr marL="0" indent="0" algn="l">
              <a:buNone/>
            </a:pPr>
            <a:r>
              <a:rPr lang="en-US" sz="1100">
                <a:solidFill>
                  <a:srgbClr val="D9E1F5"/>
                </a:solidFill>
                <a:latin typeface="Calibri" pitchFamily="34" charset="0"/>
                <a:ea typeface="Calibri" pitchFamily="34" charset="-122"/>
                <a:cs typeface="Calibri" pitchFamily="34" charset="-120"/>
              </a:rPr>
              <a:t>Talent, compute, demand, and capital compound under European control.</a:t>
            </a:r>
          </a:p>
        </p:txBody>
      </p:sp>
      <p:sp>
        <p:nvSpPr>
          <p:cNvPr id="32" name="Through"/>
          <p:cNvSpPr/>
          <p:nvPr/>
        </p:nvSpPr>
        <p:spPr>
          <a:xfrm>
            <a:off x="777240" y="6400800"/>
            <a:ext cx="10607040" cy="320040"/>
          </a:xfrm>
          <a:prstGeom prst="rect">
            <a:avLst/>
          </a:prstGeom>
          <a:noFill/>
          <a:ln/>
        </p:spPr>
        <p:txBody>
          <a:bodyPr wrap="square" lIns="0" tIns="0" rIns="0" bIns="0" rtlCol="0" anchor="ctr">
            <a:normAutofit/>
          </a:bodyPr>
          <a:lstStyle/>
          <a:p>
            <a:pPr marL="0" indent="0" algn="l">
              <a:buNone/>
            </a:pPr>
            <a:r>
              <a:rPr lang="en-US" sz="1300" b="1" i="1">
                <a:solidFill>
                  <a:srgbClr val="FFCC00"/>
                </a:solidFill>
                <a:latin typeface="Calibri" pitchFamily="34" charset="0"/>
                <a:ea typeface="Calibri" pitchFamily="34" charset="-122"/>
                <a:cs typeface="Calibri" pitchFamily="34" charset="-120"/>
              </a:rPr>
              <a:t>Model control becomes market architecture.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75488"/>
            <a:ext cx="457200" cy="457200"/>
          </a:xfrm>
          <a:prstGeom prst="ellipse">
            <a:avLst/>
          </a:prstGeom>
          <a:solidFill>
            <a:srgbClr val="003399"/>
          </a:solidFill>
          <a:ln w="12700">
            <a:solidFill>
              <a:srgbClr val="333333"/>
            </a:solidFill>
            <a:prstDash val="solid"/>
          </a:ln>
        </p:spPr>
        <p:txBody>
          <a:bodyPr/>
          <a:lstStyle/>
          <a:p>
            <a:endParaRPr lang="en-US"/>
          </a:p>
        </p:txBody>
      </p:sp>
      <p:sp>
        <p:nvSpPr>
          <p:cNvPr id="3" name="Text 1"/>
          <p:cNvSpPr/>
          <p:nvPr/>
        </p:nvSpPr>
        <p:spPr>
          <a:xfrm>
            <a:off x="548640" y="475488"/>
            <a:ext cx="457200" cy="457200"/>
          </a:xfrm>
          <a:prstGeom prst="rect">
            <a:avLst/>
          </a:prstGeom>
          <a:noFill/>
          <a:ln/>
        </p:spPr>
        <p:txBody>
          <a:bodyPr wrap="square" lIns="0" tIns="0" rIns="0" bIns="0" rtlCol="0" anchor="ctr"/>
          <a:lstStyle/>
          <a:p>
            <a:pPr marL="0" indent="0" algn="ctr">
              <a:buNone/>
            </a:pPr>
            <a:r>
              <a:rPr lang="en-US" sz="1300" b="1">
                <a:solidFill>
                  <a:srgbClr val="FFCC00"/>
                </a:solidFill>
                <a:latin typeface="Calibri" pitchFamily="34" charset="0"/>
                <a:ea typeface="Calibri" pitchFamily="34" charset="-122"/>
                <a:cs typeface="Calibri" pitchFamily="34" charset="-120"/>
              </a:rPr>
              <a:t>01</a:t>
            </a:r>
            <a:endParaRPr lang="en-US" sz="1300" dirty="0"/>
          </a:p>
        </p:txBody>
      </p:sp>
      <p:sp>
        <p:nvSpPr>
          <p:cNvPr id="4" name="Text 2"/>
          <p:cNvSpPr/>
          <p:nvPr/>
        </p:nvSpPr>
        <p:spPr>
          <a:xfrm>
            <a:off x="1143000" y="502920"/>
            <a:ext cx="7315200" cy="256032"/>
          </a:xfrm>
          <a:prstGeom prst="rect">
            <a:avLst/>
          </a:prstGeom>
          <a:noFill/>
          <a:ln/>
        </p:spPr>
        <p:txBody>
          <a:bodyPr wrap="square" lIns="0" tIns="0" rIns="0" bIns="0" rtlCol="0" anchor="ctr"/>
          <a:lstStyle/>
          <a:p>
            <a:pPr marL="0" indent="0">
              <a:buNone/>
            </a:pPr>
            <a:r>
              <a:rPr lang="en-US" sz="1100" b="1" kern="0" spc="200" dirty="0">
                <a:solidFill>
                  <a:srgbClr val="003399"/>
                </a:solidFill>
                <a:latin typeface="Calibri" pitchFamily="34" charset="0"/>
                <a:ea typeface="Calibri" pitchFamily="34" charset="-122"/>
                <a:cs typeface="Calibri" pitchFamily="34" charset="-120"/>
              </a:rPr>
              <a:t>STRATEGIC PROBLEM</a:t>
            </a:r>
            <a:endParaRPr lang="en-US" sz="1100" dirty="0"/>
          </a:p>
        </p:txBody>
      </p:sp>
      <p:sp>
        <p:nvSpPr>
          <p:cNvPr id="5" name="Text 3"/>
          <p:cNvSpPr/>
          <p:nvPr/>
        </p:nvSpPr>
        <p:spPr>
          <a:xfrm>
            <a:off x="1133856" y="749808"/>
            <a:ext cx="9601200" cy="566928"/>
          </a:xfrm>
          <a:prstGeom prst="rect">
            <a:avLst/>
          </a:prstGeom>
          <a:noFill/>
          <a:ln/>
        </p:spPr>
        <p:txBody>
          <a:bodyPr wrap="square" lIns="0" tIns="0" rIns="0" bIns="0" rtlCol="0" anchor="ctr"/>
          <a:lstStyle/>
          <a:p>
            <a:pPr marL="0" indent="0">
              <a:buNone/>
            </a:pPr>
            <a:r>
              <a:rPr lang="en-US" sz="3200" b="1" dirty="0">
                <a:solidFill>
                  <a:srgbClr val="111A33"/>
                </a:solidFill>
                <a:latin typeface="Cambria" pitchFamily="34" charset="0"/>
                <a:ea typeface="Cambria" pitchFamily="34" charset="-122"/>
                <a:cs typeface="Cambria" pitchFamily="34" charset="-120"/>
              </a:rPr>
              <a:t>The model layer is the choke point</a:t>
            </a:r>
            <a:endParaRPr lang="en-US" sz="3200" dirty="0"/>
          </a:p>
        </p:txBody>
      </p:sp>
      <p:sp>
        <p:nvSpPr>
          <p:cNvPr id="6" name="Text 4"/>
          <p:cNvSpPr/>
          <p:nvPr/>
        </p:nvSpPr>
        <p:spPr>
          <a:xfrm>
            <a:off x="1152144" y="1389888"/>
            <a:ext cx="9509760" cy="365760"/>
          </a:xfrm>
          <a:prstGeom prst="rect">
            <a:avLst/>
          </a:prstGeom>
          <a:noFill/>
          <a:ln/>
        </p:spPr>
        <p:txBody>
          <a:bodyPr wrap="square" lIns="0" tIns="0" rIns="0" bIns="0" rtlCol="0" anchor="ctr"/>
          <a:lstStyle/>
          <a:p>
            <a:pPr marL="0" indent="0">
              <a:buNone/>
            </a:pPr>
            <a:r>
              <a:rPr lang="en-US" sz="1450" i="1" dirty="0">
                <a:solidFill>
                  <a:srgbClr val="5A6480"/>
                </a:solidFill>
                <a:latin typeface="Calibri" pitchFamily="34" charset="0"/>
                <a:ea typeface="Calibri" pitchFamily="34" charset="-122"/>
                <a:cs typeface="Calibri" pitchFamily="34" charset="-120"/>
              </a:rPr>
              <a:t>Value, trust, and autonomy concentrate where replication is hardest: models trained with scarce compute, data, and talent.</a:t>
            </a:r>
            <a:endParaRPr lang="en-US" sz="1450" dirty="0"/>
          </a:p>
        </p:txBody>
      </p:sp>
      <p:sp>
        <p:nvSpPr>
          <p:cNvPr id="7" name="Shape 5"/>
          <p:cNvSpPr/>
          <p:nvPr/>
        </p:nvSpPr>
        <p:spPr>
          <a:xfrm>
            <a:off x="548640" y="2103120"/>
            <a:ext cx="3429000" cy="1691640"/>
          </a:xfrm>
          <a:prstGeom prst="roundRect">
            <a:avLst>
              <a:gd name="adj" fmla="val 6486"/>
            </a:avLst>
          </a:prstGeom>
          <a:solidFill>
            <a:srgbClr val="003399"/>
          </a:solidFill>
          <a:ln w="12700">
            <a:solidFill>
              <a:srgbClr val="333333"/>
            </a:solidFill>
            <a:prstDash val="solid"/>
          </a:ln>
        </p:spPr>
        <p:txBody>
          <a:bodyPr/>
          <a:lstStyle/>
          <a:p>
            <a:endParaRPr lang="en-US"/>
          </a:p>
        </p:txBody>
      </p:sp>
      <p:sp>
        <p:nvSpPr>
          <p:cNvPr id="8" name="Text 6"/>
          <p:cNvSpPr/>
          <p:nvPr/>
        </p:nvSpPr>
        <p:spPr>
          <a:xfrm>
            <a:off x="868680" y="2286000"/>
            <a:ext cx="2788920" cy="868680"/>
          </a:xfrm>
          <a:prstGeom prst="rect">
            <a:avLst/>
          </a:prstGeom>
          <a:noFill/>
          <a:ln/>
        </p:spPr>
        <p:txBody>
          <a:bodyPr wrap="square" lIns="0" tIns="0" rIns="0" bIns="0" rtlCol="0" anchor="ctr"/>
          <a:lstStyle/>
          <a:p>
            <a:pPr marL="0" indent="0">
              <a:buNone/>
            </a:pPr>
            <a:r>
              <a:rPr lang="en-US" sz="4400" b="1" dirty="0">
                <a:solidFill>
                  <a:srgbClr val="FFCC00"/>
                </a:solidFill>
                <a:latin typeface="Cambria" pitchFamily="34" charset="0"/>
                <a:ea typeface="Cambria" pitchFamily="34" charset="-122"/>
                <a:cs typeface="Cambria" pitchFamily="34" charset="-120"/>
              </a:rPr>
              <a:t>$110B</a:t>
            </a:r>
            <a:endParaRPr lang="en-US" sz="4400" dirty="0"/>
          </a:p>
        </p:txBody>
      </p:sp>
      <p:sp>
        <p:nvSpPr>
          <p:cNvPr id="9" name="Text 7"/>
          <p:cNvSpPr/>
          <p:nvPr/>
        </p:nvSpPr>
        <p:spPr>
          <a:xfrm>
            <a:off x="868680" y="3154680"/>
            <a:ext cx="2788920" cy="502920"/>
          </a:xfrm>
          <a:prstGeom prst="rect">
            <a:avLst/>
          </a:prstGeom>
          <a:noFill/>
          <a:ln/>
        </p:spPr>
        <p:txBody>
          <a:bodyPr wrap="square" lIns="0" tIns="0" rIns="0" bIns="0" rtlCol="0" anchor="ctr"/>
          <a:lstStyle/>
          <a:p>
            <a:pPr marL="0" indent="0">
              <a:buNone/>
            </a:pPr>
            <a:r>
              <a:rPr lang="en-US" sz="1250" dirty="0">
                <a:solidFill>
                  <a:srgbClr val="C9D4F0"/>
                </a:solidFill>
                <a:latin typeface="Calibri" pitchFamily="34" charset="0"/>
                <a:ea typeface="Calibri" pitchFamily="34" charset="-122"/>
                <a:cs typeface="Calibri" pitchFamily="34" charset="-120"/>
              </a:rPr>
              <a:t>projected 2030 generative AI market</a:t>
            </a:r>
            <a:endParaRPr lang="en-US" sz="1250" dirty="0"/>
          </a:p>
        </p:txBody>
      </p:sp>
      <p:sp>
        <p:nvSpPr>
          <p:cNvPr id="10" name="Shape 8"/>
          <p:cNvSpPr/>
          <p:nvPr/>
        </p:nvSpPr>
        <p:spPr>
          <a:xfrm>
            <a:off x="4297680" y="2103120"/>
            <a:ext cx="3429000" cy="1691640"/>
          </a:xfrm>
          <a:prstGeom prst="roundRect">
            <a:avLst>
              <a:gd name="adj" fmla="val 6486"/>
            </a:avLst>
          </a:prstGeom>
          <a:solidFill>
            <a:srgbClr val="003399"/>
          </a:solidFill>
          <a:ln w="12700">
            <a:solidFill>
              <a:srgbClr val="333333"/>
            </a:solidFill>
            <a:prstDash val="solid"/>
          </a:ln>
        </p:spPr>
        <p:txBody>
          <a:bodyPr/>
          <a:lstStyle/>
          <a:p>
            <a:endParaRPr lang="en-US"/>
          </a:p>
        </p:txBody>
      </p:sp>
      <p:sp>
        <p:nvSpPr>
          <p:cNvPr id="11" name="Text 9"/>
          <p:cNvSpPr/>
          <p:nvPr/>
        </p:nvSpPr>
        <p:spPr>
          <a:xfrm>
            <a:off x="4617720" y="2286000"/>
            <a:ext cx="2788920" cy="868680"/>
          </a:xfrm>
          <a:prstGeom prst="rect">
            <a:avLst/>
          </a:prstGeom>
          <a:noFill/>
          <a:ln/>
        </p:spPr>
        <p:txBody>
          <a:bodyPr wrap="square" lIns="0" tIns="0" rIns="0" bIns="0" rtlCol="0" anchor="ctr"/>
          <a:lstStyle/>
          <a:p>
            <a:pPr marL="0" indent="0">
              <a:buNone/>
            </a:pPr>
            <a:r>
              <a:rPr lang="en-US" sz="4400" b="1" dirty="0">
                <a:solidFill>
                  <a:srgbClr val="FFCC00"/>
                </a:solidFill>
                <a:latin typeface="Cambria" pitchFamily="34" charset="0"/>
                <a:ea typeface="Cambria" pitchFamily="34" charset="-122"/>
                <a:cs typeface="Cambria" pitchFamily="34" charset="-120"/>
              </a:rPr>
              <a:t>35%</a:t>
            </a:r>
            <a:endParaRPr lang="en-US" sz="4400" dirty="0"/>
          </a:p>
        </p:txBody>
      </p:sp>
      <p:sp>
        <p:nvSpPr>
          <p:cNvPr id="12" name="Text 10"/>
          <p:cNvSpPr/>
          <p:nvPr/>
        </p:nvSpPr>
        <p:spPr>
          <a:xfrm>
            <a:off x="4617720" y="3154680"/>
            <a:ext cx="2788920" cy="502920"/>
          </a:xfrm>
          <a:prstGeom prst="rect">
            <a:avLst/>
          </a:prstGeom>
          <a:noFill/>
          <a:ln/>
        </p:spPr>
        <p:txBody>
          <a:bodyPr wrap="square" lIns="0" tIns="0" rIns="0" bIns="0" rtlCol="0" anchor="ctr"/>
          <a:lstStyle/>
          <a:p>
            <a:pPr marL="0" indent="0">
              <a:buNone/>
            </a:pPr>
            <a:r>
              <a:rPr lang="en-US" sz="1250" dirty="0">
                <a:solidFill>
                  <a:srgbClr val="C9D4F0"/>
                </a:solidFill>
                <a:latin typeface="Calibri" pitchFamily="34" charset="0"/>
                <a:ea typeface="Calibri" pitchFamily="34" charset="-122"/>
                <a:cs typeface="Calibri" pitchFamily="34" charset="-120"/>
              </a:rPr>
              <a:t>estimated annual market growth</a:t>
            </a:r>
            <a:endParaRPr lang="en-US" sz="1250" dirty="0"/>
          </a:p>
        </p:txBody>
      </p:sp>
      <p:sp>
        <p:nvSpPr>
          <p:cNvPr id="13" name="Shape 11"/>
          <p:cNvSpPr/>
          <p:nvPr/>
        </p:nvSpPr>
        <p:spPr>
          <a:xfrm>
            <a:off x="8046720" y="2103120"/>
            <a:ext cx="3429000" cy="1691640"/>
          </a:xfrm>
          <a:prstGeom prst="roundRect">
            <a:avLst>
              <a:gd name="adj" fmla="val 6486"/>
            </a:avLst>
          </a:prstGeom>
          <a:solidFill>
            <a:srgbClr val="003399"/>
          </a:solidFill>
          <a:ln w="12700">
            <a:solidFill>
              <a:srgbClr val="333333"/>
            </a:solidFill>
            <a:prstDash val="solid"/>
          </a:ln>
        </p:spPr>
        <p:txBody>
          <a:bodyPr/>
          <a:lstStyle/>
          <a:p>
            <a:endParaRPr lang="en-US"/>
          </a:p>
        </p:txBody>
      </p:sp>
      <p:sp>
        <p:nvSpPr>
          <p:cNvPr id="14" name="Text 12"/>
          <p:cNvSpPr/>
          <p:nvPr/>
        </p:nvSpPr>
        <p:spPr>
          <a:xfrm>
            <a:off x="8366760" y="2286000"/>
            <a:ext cx="2788920" cy="868680"/>
          </a:xfrm>
          <a:prstGeom prst="rect">
            <a:avLst/>
          </a:prstGeom>
          <a:noFill/>
          <a:ln/>
        </p:spPr>
        <p:txBody>
          <a:bodyPr wrap="square" lIns="0" tIns="0" rIns="0" bIns="0" rtlCol="0" anchor="ctr"/>
          <a:lstStyle/>
          <a:p>
            <a:pPr marL="0" indent="0">
              <a:buNone/>
            </a:pPr>
            <a:r>
              <a:rPr lang="en-US" sz="4400" b="1" dirty="0">
                <a:solidFill>
                  <a:srgbClr val="FFCC00"/>
                </a:solidFill>
                <a:latin typeface="Cambria" pitchFamily="34" charset="0"/>
                <a:ea typeface="Cambria" pitchFamily="34" charset="-122"/>
                <a:cs typeface="Cambria" pitchFamily="34" charset="-120"/>
              </a:rPr>
              <a:t>450M+</a:t>
            </a:r>
            <a:endParaRPr lang="en-US" sz="4400" dirty="0"/>
          </a:p>
        </p:txBody>
      </p:sp>
      <p:sp>
        <p:nvSpPr>
          <p:cNvPr id="15" name="Text 13"/>
          <p:cNvSpPr/>
          <p:nvPr/>
        </p:nvSpPr>
        <p:spPr>
          <a:xfrm>
            <a:off x="8366760" y="3154680"/>
            <a:ext cx="2788920" cy="502920"/>
          </a:xfrm>
          <a:prstGeom prst="rect">
            <a:avLst/>
          </a:prstGeom>
          <a:noFill/>
          <a:ln/>
        </p:spPr>
        <p:txBody>
          <a:bodyPr wrap="square" lIns="0" tIns="0" rIns="0" bIns="0" rtlCol="0" anchor="ctr"/>
          <a:lstStyle/>
          <a:p>
            <a:pPr marL="0" indent="0">
              <a:buNone/>
            </a:pPr>
            <a:r>
              <a:rPr lang="en-US" sz="1250" dirty="0">
                <a:solidFill>
                  <a:srgbClr val="C9D4F0"/>
                </a:solidFill>
                <a:latin typeface="Calibri" pitchFamily="34" charset="0"/>
                <a:ea typeface="Calibri" pitchFamily="34" charset="-122"/>
                <a:cs typeface="Calibri" pitchFamily="34" charset="-120"/>
              </a:rPr>
              <a:t>people in the EU single market</a:t>
            </a:r>
            <a:endParaRPr lang="en-US" sz="1250" dirty="0"/>
          </a:p>
        </p:txBody>
      </p:sp>
      <p:sp>
        <p:nvSpPr>
          <p:cNvPr id="16" name="Text 14"/>
          <p:cNvSpPr/>
          <p:nvPr/>
        </p:nvSpPr>
        <p:spPr>
          <a:xfrm>
            <a:off x="548640" y="4114800"/>
            <a:ext cx="7315200" cy="320040"/>
          </a:xfrm>
          <a:prstGeom prst="rect">
            <a:avLst/>
          </a:prstGeom>
          <a:noFill/>
          <a:ln/>
        </p:spPr>
        <p:txBody>
          <a:bodyPr wrap="square" lIns="0" tIns="0" rIns="0" bIns="0" rtlCol="0" anchor="ctr"/>
          <a:lstStyle/>
          <a:p>
            <a:pPr marL="0" indent="0">
              <a:buNone/>
            </a:pPr>
            <a:r>
              <a:rPr lang="en-US" sz="1200" b="1" kern="0" spc="150" dirty="0">
                <a:solidFill>
                  <a:srgbClr val="003399"/>
                </a:solidFill>
                <a:latin typeface="Calibri" pitchFamily="34" charset="0"/>
                <a:ea typeface="Calibri" pitchFamily="34" charset="-122"/>
                <a:cs typeface="Calibri" pitchFamily="34" charset="-120"/>
              </a:rPr>
              <a:t>Three structural constraints on closed stacks</a:t>
            </a:r>
            <a:endParaRPr lang="en-US" sz="1200" dirty="0"/>
          </a:p>
        </p:txBody>
      </p:sp>
      <p:sp>
        <p:nvSpPr>
          <p:cNvPr id="17" name="Shape 15"/>
          <p:cNvSpPr/>
          <p:nvPr/>
        </p:nvSpPr>
        <p:spPr>
          <a:xfrm>
            <a:off x="566928" y="4608576"/>
            <a:ext cx="146304" cy="146304"/>
          </a:xfrm>
          <a:prstGeom prst="ellipse">
            <a:avLst/>
          </a:prstGeom>
          <a:solidFill>
            <a:srgbClr val="FFCC00"/>
          </a:solidFill>
          <a:ln w="12700">
            <a:solidFill>
              <a:srgbClr val="333333"/>
            </a:solidFill>
            <a:prstDash val="solid"/>
          </a:ln>
        </p:spPr>
        <p:txBody>
          <a:bodyPr/>
          <a:lstStyle/>
          <a:p>
            <a:endParaRPr lang="en-US"/>
          </a:p>
        </p:txBody>
      </p:sp>
      <p:sp>
        <p:nvSpPr>
          <p:cNvPr id="18" name="Text 16"/>
          <p:cNvSpPr/>
          <p:nvPr/>
        </p:nvSpPr>
        <p:spPr>
          <a:xfrm>
            <a:off x="914400" y="4526280"/>
            <a:ext cx="10058400" cy="365760"/>
          </a:xfrm>
          <a:prstGeom prst="rect">
            <a:avLst/>
          </a:prstGeom>
          <a:noFill/>
          <a:ln/>
        </p:spPr>
        <p:txBody>
          <a:bodyPr wrap="square" lIns="0" tIns="0" rIns="0" bIns="0" rtlCol="0" anchor="ctr"/>
          <a:lstStyle/>
          <a:p>
            <a:pPr marL="0" indent="0">
              <a:buNone/>
            </a:pPr>
            <a:r>
              <a:rPr lang="en-US" sz="1450" dirty="0">
                <a:solidFill>
                  <a:srgbClr val="111A33"/>
                </a:solidFill>
                <a:latin typeface="Calibri" pitchFamily="34" charset="0"/>
                <a:ea typeface="Calibri" pitchFamily="34" charset="-122"/>
                <a:cs typeface="Calibri" pitchFamily="34" charset="-120"/>
              </a:rPr>
              <a:t>Closed APIs limit inspection and enterprise data control.</a:t>
            </a:r>
            <a:endParaRPr lang="en-US" sz="1450" dirty="0"/>
          </a:p>
        </p:txBody>
      </p:sp>
      <p:sp>
        <p:nvSpPr>
          <p:cNvPr id="19" name="Shape 17"/>
          <p:cNvSpPr/>
          <p:nvPr/>
        </p:nvSpPr>
        <p:spPr>
          <a:xfrm>
            <a:off x="566928" y="5111496"/>
            <a:ext cx="146304" cy="146304"/>
          </a:xfrm>
          <a:prstGeom prst="ellipse">
            <a:avLst/>
          </a:prstGeom>
          <a:solidFill>
            <a:srgbClr val="FFCC00"/>
          </a:solidFill>
          <a:ln w="12700">
            <a:solidFill>
              <a:srgbClr val="333333"/>
            </a:solidFill>
            <a:prstDash val="solid"/>
          </a:ln>
        </p:spPr>
        <p:txBody>
          <a:bodyPr/>
          <a:lstStyle/>
          <a:p>
            <a:endParaRPr lang="en-US"/>
          </a:p>
        </p:txBody>
      </p:sp>
      <p:sp>
        <p:nvSpPr>
          <p:cNvPr id="20" name="Text 18"/>
          <p:cNvSpPr/>
          <p:nvPr/>
        </p:nvSpPr>
        <p:spPr>
          <a:xfrm>
            <a:off x="914400" y="5029200"/>
            <a:ext cx="10058400" cy="365760"/>
          </a:xfrm>
          <a:prstGeom prst="rect">
            <a:avLst/>
          </a:prstGeom>
          <a:noFill/>
          <a:ln/>
        </p:spPr>
        <p:txBody>
          <a:bodyPr wrap="square" lIns="0" tIns="0" rIns="0" bIns="0" rtlCol="0" anchor="ctr"/>
          <a:lstStyle/>
          <a:p>
            <a:pPr marL="0" indent="0">
              <a:buNone/>
            </a:pPr>
            <a:r>
              <a:rPr lang="en-US" sz="1450" dirty="0">
                <a:solidFill>
                  <a:srgbClr val="111A33"/>
                </a:solidFill>
                <a:latin typeface="Calibri" pitchFamily="34" charset="0"/>
                <a:ea typeface="Calibri" pitchFamily="34" charset="-122"/>
                <a:cs typeface="Calibri" pitchFamily="34" charset="-120"/>
              </a:rPr>
              <a:t>Integration stays shallow when only text outputs are exposed.</a:t>
            </a:r>
            <a:endParaRPr lang="en-US" sz="1450" dirty="0"/>
          </a:p>
        </p:txBody>
      </p:sp>
      <p:sp>
        <p:nvSpPr>
          <p:cNvPr id="21" name="Shape 19"/>
          <p:cNvSpPr/>
          <p:nvPr/>
        </p:nvSpPr>
        <p:spPr>
          <a:xfrm>
            <a:off x="566928" y="5614416"/>
            <a:ext cx="146304" cy="146304"/>
          </a:xfrm>
          <a:prstGeom prst="ellipse">
            <a:avLst/>
          </a:prstGeom>
          <a:solidFill>
            <a:srgbClr val="FFCC00"/>
          </a:solidFill>
          <a:ln w="12700">
            <a:solidFill>
              <a:srgbClr val="333333"/>
            </a:solidFill>
            <a:prstDash val="solid"/>
          </a:ln>
        </p:spPr>
        <p:txBody>
          <a:bodyPr/>
          <a:lstStyle/>
          <a:p>
            <a:endParaRPr lang="en-US"/>
          </a:p>
        </p:txBody>
      </p:sp>
      <p:sp>
        <p:nvSpPr>
          <p:cNvPr id="22" name="Text 20"/>
          <p:cNvSpPr/>
          <p:nvPr/>
        </p:nvSpPr>
        <p:spPr>
          <a:xfrm>
            <a:off x="914400" y="5532120"/>
            <a:ext cx="10058400" cy="365760"/>
          </a:xfrm>
          <a:prstGeom prst="rect">
            <a:avLst/>
          </a:prstGeom>
          <a:noFill/>
          <a:ln/>
        </p:spPr>
        <p:txBody>
          <a:bodyPr wrap="square" lIns="0" tIns="0" rIns="0" bIns="0" rtlCol="0" anchor="ctr"/>
          <a:lstStyle/>
          <a:p>
            <a:pPr marL="0" indent="0">
              <a:buNone/>
            </a:pPr>
            <a:r>
              <a:rPr lang="en-US" sz="1450" dirty="0">
                <a:solidFill>
                  <a:srgbClr val="111A33"/>
                </a:solidFill>
                <a:latin typeface="Calibri" pitchFamily="34" charset="0"/>
                <a:ea typeface="Calibri" pitchFamily="34" charset="-122"/>
                <a:cs typeface="Calibri" pitchFamily="34" charset="-120"/>
              </a:rPr>
              <a:t>Foreign AI stacks create strategic and legal dependency.</a:t>
            </a:r>
            <a:endParaRPr lang="en-US" sz="1450" dirty="0"/>
          </a:p>
        </p:txBody>
      </p:sp>
      <p:sp>
        <p:nvSpPr>
          <p:cNvPr id="23" name="Text 21"/>
          <p:cNvSpPr/>
          <p:nvPr/>
        </p:nvSpPr>
        <p:spPr>
          <a:xfrm>
            <a:off x="548640" y="6263640"/>
            <a:ext cx="7315200" cy="274320"/>
          </a:xfrm>
          <a:prstGeom prst="rect">
            <a:avLst/>
          </a:prstGeom>
          <a:noFill/>
          <a:ln/>
        </p:spPr>
        <p:txBody>
          <a:bodyPr wrap="square" lIns="0" tIns="0" rIns="0" bIns="0" rtlCol="0" anchor="ctr"/>
          <a:lstStyle/>
          <a:p>
            <a:pPr marL="0" indent="0">
              <a:buNone/>
            </a:pPr>
            <a:r>
              <a:rPr lang="en-US" sz="950" dirty="0">
                <a:solidFill>
                  <a:srgbClr val="5A6480"/>
                </a:solidFill>
                <a:latin typeface="Calibri" pitchFamily="34" charset="0"/>
                <a:ea typeface="Calibri" pitchFamily="34" charset="-122"/>
                <a:cs typeface="Calibri" pitchFamily="34" charset="-120"/>
              </a:rPr>
              <a:t>Mistral AI  |  Company thesis and European AI stack</a:t>
            </a:r>
            <a:endParaRPr lang="en-US" sz="950" dirty="0"/>
          </a:p>
        </p:txBody>
      </p:sp>
      <p:sp>
        <p:nvSpPr>
          <p:cNvPr id="24" name="Text 22"/>
          <p:cNvSpPr/>
          <p:nvPr/>
        </p:nvSpPr>
        <p:spPr>
          <a:xfrm>
            <a:off x="10241280" y="6263640"/>
            <a:ext cx="1371600" cy="274320"/>
          </a:xfrm>
          <a:prstGeom prst="rect">
            <a:avLst/>
          </a:prstGeom>
          <a:noFill/>
          <a:ln/>
        </p:spPr>
        <p:txBody>
          <a:bodyPr wrap="square" lIns="0" tIns="0" rIns="0" bIns="0" rtlCol="0" anchor="ctr"/>
          <a:lstStyle/>
          <a:p>
            <a:pPr marL="0" indent="0" algn="r">
              <a:buNone/>
            </a:pPr>
            <a:r>
              <a:rPr lang="en-US" sz="950">
                <a:solidFill>
                  <a:srgbClr val="5A6480"/>
                </a:solidFill>
                <a:latin typeface="Calibri" pitchFamily="34" charset="0"/>
                <a:ea typeface="Calibri" pitchFamily="34" charset="-122"/>
                <a:cs typeface="Calibri" pitchFamily="34" charset="-120"/>
              </a:rPr>
              <a:t>2 </a:t>
            </a:r>
            <a:r>
              <a:rPr lang="en-US" sz="950" dirty="0">
                <a:solidFill>
                  <a:srgbClr val="5A6480"/>
                </a:solidFill>
                <a:latin typeface="Calibri" pitchFamily="34" charset="0"/>
                <a:ea typeface="Calibri" pitchFamily="34" charset="-122"/>
                <a:cs typeface="Calibri" pitchFamily="34" charset="-120"/>
              </a:rPr>
              <a:t>/ </a:t>
            </a:r>
            <a:r>
              <a:rPr lang="en-US" sz="950">
                <a:solidFill>
                  <a:srgbClr val="5A648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75488"/>
            <a:ext cx="457200" cy="457200"/>
          </a:xfrm>
          <a:prstGeom prst="ellipse">
            <a:avLst/>
          </a:prstGeom>
          <a:solidFill>
            <a:srgbClr val="003399"/>
          </a:solidFill>
          <a:ln w="12700">
            <a:solidFill>
              <a:srgbClr val="333333"/>
            </a:solidFill>
            <a:prstDash val="solid"/>
          </a:ln>
        </p:spPr>
        <p:txBody>
          <a:bodyPr/>
          <a:lstStyle/>
          <a:p>
            <a:endParaRPr lang="en-US"/>
          </a:p>
        </p:txBody>
      </p:sp>
      <p:sp>
        <p:nvSpPr>
          <p:cNvPr id="3" name="Text 1"/>
          <p:cNvSpPr/>
          <p:nvPr/>
        </p:nvSpPr>
        <p:spPr>
          <a:xfrm>
            <a:off x="548640" y="475488"/>
            <a:ext cx="457200" cy="457200"/>
          </a:xfrm>
          <a:prstGeom prst="rect">
            <a:avLst/>
          </a:prstGeom>
          <a:noFill/>
          <a:ln/>
        </p:spPr>
        <p:txBody>
          <a:bodyPr wrap="square" lIns="0" tIns="0" rIns="0" bIns="0" rtlCol="0" anchor="ctr"/>
          <a:lstStyle/>
          <a:p>
            <a:pPr marL="0" indent="0" algn="ctr">
              <a:buNone/>
            </a:pPr>
            <a:r>
              <a:rPr lang="en-US" sz="1300" b="1">
                <a:solidFill>
                  <a:srgbClr val="FFCC00"/>
                </a:solidFill>
                <a:latin typeface="Calibri" pitchFamily="34" charset="0"/>
                <a:ea typeface="Calibri" pitchFamily="34" charset="-122"/>
                <a:cs typeface="Calibri" pitchFamily="34" charset="-120"/>
              </a:rPr>
              <a:t>02</a:t>
            </a:r>
            <a:endParaRPr lang="en-US" sz="1300" dirty="0"/>
          </a:p>
        </p:txBody>
      </p:sp>
      <p:sp>
        <p:nvSpPr>
          <p:cNvPr id="4" name="Text 2"/>
          <p:cNvSpPr/>
          <p:nvPr/>
        </p:nvSpPr>
        <p:spPr>
          <a:xfrm>
            <a:off x="1143000" y="502920"/>
            <a:ext cx="7315200" cy="256032"/>
          </a:xfrm>
          <a:prstGeom prst="rect">
            <a:avLst/>
          </a:prstGeom>
          <a:noFill/>
          <a:ln/>
        </p:spPr>
        <p:txBody>
          <a:bodyPr wrap="square" lIns="0" tIns="0" rIns="0" bIns="0" rtlCol="0" anchor="ctr"/>
          <a:lstStyle/>
          <a:p>
            <a:pPr marL="0" indent="0">
              <a:buNone/>
            </a:pPr>
            <a:r>
              <a:rPr lang="en-US" sz="1100" b="1" kern="0" spc="200" dirty="0">
                <a:solidFill>
                  <a:srgbClr val="003399"/>
                </a:solidFill>
                <a:latin typeface="Calibri" pitchFamily="34" charset="0"/>
                <a:ea typeface="Calibri" pitchFamily="34" charset="-122"/>
                <a:cs typeface="Calibri" pitchFamily="34" charset="-120"/>
              </a:rPr>
              <a:t>THE WEDGE</a:t>
            </a:r>
            <a:endParaRPr lang="en-US" sz="1100" dirty="0"/>
          </a:p>
        </p:txBody>
      </p:sp>
      <p:sp>
        <p:nvSpPr>
          <p:cNvPr id="5" name="Text 3"/>
          <p:cNvSpPr/>
          <p:nvPr/>
        </p:nvSpPr>
        <p:spPr>
          <a:xfrm>
            <a:off x="1133856" y="749808"/>
            <a:ext cx="9601200" cy="566928"/>
          </a:xfrm>
          <a:prstGeom prst="rect">
            <a:avLst/>
          </a:prstGeom>
          <a:noFill/>
          <a:ln/>
        </p:spPr>
        <p:txBody>
          <a:bodyPr wrap="square" lIns="0" tIns="0" rIns="0" bIns="0" rtlCol="0" anchor="ctr"/>
          <a:lstStyle/>
          <a:p>
            <a:pPr marL="0" indent="0">
              <a:buNone/>
            </a:pPr>
            <a:r>
              <a:rPr lang="en-US" sz="3200" b="1" dirty="0">
                <a:solidFill>
                  <a:srgbClr val="111A33"/>
                </a:solidFill>
                <a:latin typeface="Cambria" pitchFamily="34" charset="0"/>
                <a:ea typeface="Cambria" pitchFamily="34" charset="-122"/>
                <a:cs typeface="Cambria" pitchFamily="34" charset="-120"/>
              </a:rPr>
              <a:t>Open for trust. Controlled for value.</a:t>
            </a:r>
            <a:endParaRPr lang="en-US" sz="3200" dirty="0"/>
          </a:p>
        </p:txBody>
      </p:sp>
      <p:sp>
        <p:nvSpPr>
          <p:cNvPr id="6" name="Text 4"/>
          <p:cNvSpPr/>
          <p:nvPr/>
        </p:nvSpPr>
        <p:spPr>
          <a:xfrm>
            <a:off x="1152144" y="1389888"/>
            <a:ext cx="9509760" cy="365760"/>
          </a:xfrm>
          <a:prstGeom prst="rect">
            <a:avLst/>
          </a:prstGeom>
          <a:noFill/>
          <a:ln/>
        </p:spPr>
        <p:txBody>
          <a:bodyPr wrap="square" lIns="0" tIns="0" rIns="0" bIns="0" rtlCol="0" anchor="ctr"/>
          <a:lstStyle/>
          <a:p>
            <a:pPr marL="0" indent="0">
              <a:buNone/>
            </a:pPr>
            <a:r>
              <a:rPr lang="en-US" sz="1450" i="1" dirty="0">
                <a:solidFill>
                  <a:srgbClr val="5A6480"/>
                </a:solidFill>
                <a:latin typeface="Calibri" pitchFamily="34" charset="0"/>
                <a:ea typeface="Calibri" pitchFamily="34" charset="-122"/>
                <a:cs typeface="Calibri" pitchFamily="34" charset="-120"/>
              </a:rPr>
              <a:t>Openness is converted into an enterprise wedge: inspectable, composable, privately deployable models.</a:t>
            </a:r>
            <a:endParaRPr lang="en-US" sz="1450" dirty="0"/>
          </a:p>
        </p:txBody>
      </p:sp>
      <p:sp>
        <p:nvSpPr>
          <p:cNvPr id="7" name="Shape 5"/>
          <p:cNvSpPr/>
          <p:nvPr/>
        </p:nvSpPr>
        <p:spPr>
          <a:xfrm>
            <a:off x="548640" y="2011680"/>
            <a:ext cx="10607040" cy="1005840"/>
          </a:xfrm>
          <a:prstGeom prst="roundRect">
            <a:avLst>
              <a:gd name="adj" fmla="val 9091"/>
            </a:avLst>
          </a:prstGeom>
          <a:solidFill>
            <a:srgbClr val="F4F6FB"/>
          </a:solidFill>
          <a:ln w="12700">
            <a:solidFill>
              <a:srgbClr val="DDE2EE"/>
            </a:solidFill>
            <a:prstDash val="solid"/>
          </a:ln>
        </p:spPr>
        <p:txBody>
          <a:bodyPr/>
          <a:lstStyle/>
          <a:p>
            <a:endParaRPr lang="en-US"/>
          </a:p>
        </p:txBody>
      </p:sp>
      <p:sp>
        <p:nvSpPr>
          <p:cNvPr id="8" name="Shape 6"/>
          <p:cNvSpPr/>
          <p:nvPr/>
        </p:nvSpPr>
        <p:spPr>
          <a:xfrm>
            <a:off x="868680" y="2286000"/>
            <a:ext cx="457200" cy="457200"/>
          </a:xfrm>
          <a:prstGeom prst="ellipse">
            <a:avLst/>
          </a:prstGeom>
          <a:solidFill>
            <a:srgbClr val="003399"/>
          </a:solidFill>
          <a:ln w="12700">
            <a:solidFill>
              <a:srgbClr val="333333"/>
            </a:solidFill>
            <a:prstDash val="solid"/>
          </a:ln>
        </p:spPr>
        <p:txBody>
          <a:bodyPr/>
          <a:lstStyle/>
          <a:p>
            <a:endParaRPr lang="en-US"/>
          </a:p>
        </p:txBody>
      </p:sp>
      <p:sp>
        <p:nvSpPr>
          <p:cNvPr id="9" name="Text 7"/>
          <p:cNvSpPr/>
          <p:nvPr/>
        </p:nvSpPr>
        <p:spPr>
          <a:xfrm>
            <a:off x="868680" y="2286000"/>
            <a:ext cx="457200" cy="457200"/>
          </a:xfrm>
          <a:prstGeom prst="rect">
            <a:avLst/>
          </a:prstGeom>
          <a:noFill/>
          <a:ln/>
        </p:spPr>
        <p:txBody>
          <a:bodyPr wrap="square" lIns="0" tIns="0" rIns="0" bIns="0" rtlCol="0" anchor="ctr"/>
          <a:lstStyle/>
          <a:p>
            <a:pPr marL="0" indent="0" algn="ctr">
              <a:buNone/>
            </a:pPr>
            <a:r>
              <a:rPr lang="en-US" sz="1400" b="1" dirty="0">
                <a:solidFill>
                  <a:srgbClr val="FFCC00"/>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554480" y="2212848"/>
            <a:ext cx="2926080" cy="411480"/>
          </a:xfrm>
          <a:prstGeom prst="rect">
            <a:avLst/>
          </a:prstGeom>
          <a:noFill/>
          <a:ln/>
        </p:spPr>
        <p:txBody>
          <a:bodyPr wrap="square" lIns="0" tIns="0" rIns="0" bIns="0" rtlCol="0" anchor="ctr"/>
          <a:lstStyle/>
          <a:p>
            <a:pPr marL="0" indent="0">
              <a:buNone/>
            </a:pPr>
            <a:r>
              <a:rPr lang="en-US" sz="1900" b="1" dirty="0">
                <a:solidFill>
                  <a:srgbClr val="003399"/>
                </a:solidFill>
                <a:latin typeface="Cambria" pitchFamily="34" charset="0"/>
                <a:ea typeface="Cambria" pitchFamily="34" charset="-122"/>
                <a:cs typeface="Cambria" pitchFamily="34" charset="-120"/>
              </a:rPr>
              <a:t>Open models</a:t>
            </a:r>
            <a:endParaRPr lang="en-US" sz="1900" dirty="0"/>
          </a:p>
        </p:txBody>
      </p:sp>
      <p:sp>
        <p:nvSpPr>
          <p:cNvPr id="11" name="Text 9"/>
          <p:cNvSpPr/>
          <p:nvPr/>
        </p:nvSpPr>
        <p:spPr>
          <a:xfrm>
            <a:off x="4114800" y="2212848"/>
            <a:ext cx="6766560" cy="640080"/>
          </a:xfrm>
          <a:prstGeom prst="rect">
            <a:avLst/>
          </a:prstGeom>
          <a:noFill/>
          <a:ln/>
        </p:spPr>
        <p:txBody>
          <a:bodyPr wrap="square" lIns="0" tIns="0" rIns="0" bIns="0" rtlCol="0" anchor="ctr"/>
          <a:lstStyle/>
          <a:p>
            <a:pPr marL="0" indent="0">
              <a:lnSpc>
                <a:spcPts val="2000"/>
              </a:lnSpc>
              <a:buNone/>
            </a:pPr>
            <a:r>
              <a:rPr lang="en-US" sz="1400" dirty="0">
                <a:solidFill>
                  <a:srgbClr val="5A6480"/>
                </a:solidFill>
                <a:latin typeface="Calibri" pitchFamily="34" charset="0"/>
                <a:ea typeface="Calibri" pitchFamily="34" charset="-122"/>
                <a:cs typeface="Calibri" pitchFamily="34" charset="-120"/>
              </a:rPr>
              <a:t>Developer reach and a hiring edge that closed labs cannot match on distribution.</a:t>
            </a:r>
            <a:endParaRPr lang="en-US" sz="1400" dirty="0"/>
          </a:p>
        </p:txBody>
      </p:sp>
      <p:sp>
        <p:nvSpPr>
          <p:cNvPr id="12" name="Shape 10"/>
          <p:cNvSpPr/>
          <p:nvPr/>
        </p:nvSpPr>
        <p:spPr>
          <a:xfrm>
            <a:off x="548640" y="3108960"/>
            <a:ext cx="10607040" cy="1005840"/>
          </a:xfrm>
          <a:prstGeom prst="roundRect">
            <a:avLst>
              <a:gd name="adj" fmla="val 9091"/>
            </a:avLst>
          </a:prstGeom>
          <a:solidFill>
            <a:srgbClr val="F4F6FB"/>
          </a:solidFill>
          <a:ln w="12700">
            <a:solidFill>
              <a:srgbClr val="DDE2EE"/>
            </a:solidFill>
            <a:prstDash val="solid"/>
          </a:ln>
        </p:spPr>
        <p:txBody>
          <a:bodyPr/>
          <a:lstStyle/>
          <a:p>
            <a:endParaRPr lang="en-US"/>
          </a:p>
        </p:txBody>
      </p:sp>
      <p:sp>
        <p:nvSpPr>
          <p:cNvPr id="13" name="Shape 11"/>
          <p:cNvSpPr/>
          <p:nvPr/>
        </p:nvSpPr>
        <p:spPr>
          <a:xfrm>
            <a:off x="868680" y="3383280"/>
            <a:ext cx="457200" cy="457200"/>
          </a:xfrm>
          <a:prstGeom prst="ellipse">
            <a:avLst/>
          </a:prstGeom>
          <a:solidFill>
            <a:srgbClr val="003399"/>
          </a:solidFill>
          <a:ln w="12700">
            <a:solidFill>
              <a:srgbClr val="333333"/>
            </a:solidFill>
            <a:prstDash val="solid"/>
          </a:ln>
        </p:spPr>
        <p:txBody>
          <a:bodyPr/>
          <a:lstStyle/>
          <a:p>
            <a:endParaRPr lang="en-US"/>
          </a:p>
        </p:txBody>
      </p:sp>
      <p:sp>
        <p:nvSpPr>
          <p:cNvPr id="14" name="Text 12"/>
          <p:cNvSpPr/>
          <p:nvPr/>
        </p:nvSpPr>
        <p:spPr>
          <a:xfrm>
            <a:off x="868680" y="3383280"/>
            <a:ext cx="457200" cy="457200"/>
          </a:xfrm>
          <a:prstGeom prst="rect">
            <a:avLst/>
          </a:prstGeom>
          <a:noFill/>
          <a:ln/>
        </p:spPr>
        <p:txBody>
          <a:bodyPr wrap="square" lIns="0" tIns="0" rIns="0" bIns="0" rtlCol="0" anchor="ctr"/>
          <a:lstStyle/>
          <a:p>
            <a:pPr marL="0" indent="0" algn="ctr">
              <a:buNone/>
            </a:pPr>
            <a:r>
              <a:rPr lang="en-US" sz="1400" b="1" dirty="0">
                <a:solidFill>
                  <a:srgbClr val="FFCC00"/>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1554480" y="3310128"/>
            <a:ext cx="2926080" cy="411480"/>
          </a:xfrm>
          <a:prstGeom prst="rect">
            <a:avLst/>
          </a:prstGeom>
          <a:noFill/>
          <a:ln/>
        </p:spPr>
        <p:txBody>
          <a:bodyPr wrap="square" lIns="0" tIns="0" rIns="0" bIns="0" rtlCol="0" anchor="ctr"/>
          <a:lstStyle/>
          <a:p>
            <a:pPr marL="0" indent="0">
              <a:buNone/>
            </a:pPr>
            <a:r>
              <a:rPr lang="en-US" sz="1900" b="1" dirty="0">
                <a:solidFill>
                  <a:srgbClr val="003399"/>
                </a:solidFill>
                <a:latin typeface="Cambria" pitchFamily="34" charset="0"/>
                <a:ea typeface="Cambria" pitchFamily="34" charset="-122"/>
                <a:cs typeface="Cambria" pitchFamily="34" charset="-120"/>
              </a:rPr>
              <a:t>White-box access</a:t>
            </a:r>
            <a:endParaRPr lang="en-US" sz="1900" dirty="0"/>
          </a:p>
        </p:txBody>
      </p:sp>
      <p:sp>
        <p:nvSpPr>
          <p:cNvPr id="16" name="Text 14"/>
          <p:cNvSpPr/>
          <p:nvPr/>
        </p:nvSpPr>
        <p:spPr>
          <a:xfrm>
            <a:off x="4114800" y="3310128"/>
            <a:ext cx="6766560" cy="640080"/>
          </a:xfrm>
          <a:prstGeom prst="rect">
            <a:avLst/>
          </a:prstGeom>
          <a:noFill/>
          <a:ln/>
        </p:spPr>
        <p:txBody>
          <a:bodyPr wrap="square" lIns="0" tIns="0" rIns="0" bIns="0" rtlCol="0" anchor="ctr"/>
          <a:lstStyle/>
          <a:p>
            <a:pPr marL="0" indent="0">
              <a:lnSpc>
                <a:spcPts val="2000"/>
              </a:lnSpc>
              <a:buNone/>
            </a:pPr>
            <a:r>
              <a:rPr lang="en-US" sz="1400" dirty="0">
                <a:solidFill>
                  <a:srgbClr val="5A6480"/>
                </a:solidFill>
                <a:latin typeface="Calibri" pitchFamily="34" charset="0"/>
                <a:ea typeface="Calibri" pitchFamily="34" charset="-122"/>
                <a:cs typeface="Calibri" pitchFamily="34" charset="-120"/>
              </a:rPr>
              <a:t>Inspectable internals give enterprises the audit and assurance path they require.</a:t>
            </a:r>
            <a:endParaRPr lang="en-US" sz="1400" dirty="0"/>
          </a:p>
        </p:txBody>
      </p:sp>
      <p:sp>
        <p:nvSpPr>
          <p:cNvPr id="17" name="Shape 15"/>
          <p:cNvSpPr/>
          <p:nvPr/>
        </p:nvSpPr>
        <p:spPr>
          <a:xfrm>
            <a:off x="548640" y="4206240"/>
            <a:ext cx="10607040" cy="1005840"/>
          </a:xfrm>
          <a:prstGeom prst="roundRect">
            <a:avLst>
              <a:gd name="adj" fmla="val 9091"/>
            </a:avLst>
          </a:prstGeom>
          <a:solidFill>
            <a:srgbClr val="F4F6FB"/>
          </a:solidFill>
          <a:ln w="12700">
            <a:solidFill>
              <a:srgbClr val="DDE2EE"/>
            </a:solidFill>
            <a:prstDash val="solid"/>
          </a:ln>
        </p:spPr>
        <p:txBody>
          <a:bodyPr/>
          <a:lstStyle/>
          <a:p>
            <a:endParaRPr lang="en-US"/>
          </a:p>
        </p:txBody>
      </p:sp>
      <p:sp>
        <p:nvSpPr>
          <p:cNvPr id="18" name="Shape 16"/>
          <p:cNvSpPr/>
          <p:nvPr/>
        </p:nvSpPr>
        <p:spPr>
          <a:xfrm>
            <a:off x="868680" y="4480560"/>
            <a:ext cx="457200" cy="457200"/>
          </a:xfrm>
          <a:prstGeom prst="ellipse">
            <a:avLst/>
          </a:prstGeom>
          <a:solidFill>
            <a:srgbClr val="003399"/>
          </a:solidFill>
          <a:ln w="12700">
            <a:solidFill>
              <a:srgbClr val="333333"/>
            </a:solidFill>
            <a:prstDash val="solid"/>
          </a:ln>
        </p:spPr>
        <p:txBody>
          <a:bodyPr/>
          <a:lstStyle/>
          <a:p>
            <a:endParaRPr lang="en-US"/>
          </a:p>
        </p:txBody>
      </p:sp>
      <p:sp>
        <p:nvSpPr>
          <p:cNvPr id="19" name="Text 17"/>
          <p:cNvSpPr/>
          <p:nvPr/>
        </p:nvSpPr>
        <p:spPr>
          <a:xfrm>
            <a:off x="868680" y="4480560"/>
            <a:ext cx="457200" cy="457200"/>
          </a:xfrm>
          <a:prstGeom prst="rect">
            <a:avLst/>
          </a:prstGeom>
          <a:noFill/>
          <a:ln/>
        </p:spPr>
        <p:txBody>
          <a:bodyPr wrap="square" lIns="0" tIns="0" rIns="0" bIns="0" rtlCol="0" anchor="ctr"/>
          <a:lstStyle/>
          <a:p>
            <a:pPr marL="0" indent="0" algn="ctr">
              <a:buNone/>
            </a:pPr>
            <a:r>
              <a:rPr lang="en-US" sz="1400" b="1" dirty="0">
                <a:solidFill>
                  <a:srgbClr val="FFCC00"/>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1554480" y="4407408"/>
            <a:ext cx="2926080" cy="411480"/>
          </a:xfrm>
          <a:prstGeom prst="rect">
            <a:avLst/>
          </a:prstGeom>
          <a:noFill/>
          <a:ln/>
        </p:spPr>
        <p:txBody>
          <a:bodyPr wrap="square" lIns="0" tIns="0" rIns="0" bIns="0" rtlCol="0" anchor="ctr"/>
          <a:lstStyle/>
          <a:p>
            <a:pPr marL="0" indent="0">
              <a:buNone/>
            </a:pPr>
            <a:r>
              <a:rPr lang="en-US" sz="1900" b="1" dirty="0">
                <a:solidFill>
                  <a:srgbClr val="003399"/>
                </a:solidFill>
                <a:latin typeface="Cambria" pitchFamily="34" charset="0"/>
                <a:ea typeface="Cambria" pitchFamily="34" charset="-122"/>
                <a:cs typeface="Cambria" pitchFamily="34" charset="-120"/>
              </a:rPr>
              <a:t>Private deployment</a:t>
            </a:r>
            <a:endParaRPr lang="en-US" sz="1900" dirty="0"/>
          </a:p>
        </p:txBody>
      </p:sp>
      <p:sp>
        <p:nvSpPr>
          <p:cNvPr id="21" name="Text 19"/>
          <p:cNvSpPr/>
          <p:nvPr/>
        </p:nvSpPr>
        <p:spPr>
          <a:xfrm>
            <a:off x="4114800" y="4407408"/>
            <a:ext cx="6766560" cy="640080"/>
          </a:xfrm>
          <a:prstGeom prst="rect">
            <a:avLst/>
          </a:prstGeom>
          <a:noFill/>
          <a:ln/>
        </p:spPr>
        <p:txBody>
          <a:bodyPr wrap="square" lIns="0" tIns="0" rIns="0" bIns="0" rtlCol="0" anchor="ctr"/>
          <a:lstStyle/>
          <a:p>
            <a:pPr marL="0" indent="0">
              <a:lnSpc>
                <a:spcPts val="2000"/>
              </a:lnSpc>
              <a:buNone/>
            </a:pPr>
            <a:r>
              <a:rPr lang="en-US" sz="1400" dirty="0">
                <a:solidFill>
                  <a:srgbClr val="5A6480"/>
                </a:solidFill>
                <a:latin typeface="Calibri" pitchFamily="34" charset="0"/>
                <a:ea typeface="Calibri" pitchFamily="34" charset="-122"/>
                <a:cs typeface="Calibri" pitchFamily="34" charset="-120"/>
              </a:rPr>
              <a:t>Customer data stays under customer control, on-premise or on-device.</a:t>
            </a:r>
            <a:endParaRPr lang="en-US" sz="1400" dirty="0"/>
          </a:p>
        </p:txBody>
      </p:sp>
      <p:sp>
        <p:nvSpPr>
          <p:cNvPr id="22" name="Shape 20"/>
          <p:cNvSpPr/>
          <p:nvPr/>
        </p:nvSpPr>
        <p:spPr>
          <a:xfrm>
            <a:off x="548640" y="5440680"/>
            <a:ext cx="10607040" cy="566928"/>
          </a:xfrm>
          <a:prstGeom prst="roundRect">
            <a:avLst>
              <a:gd name="adj" fmla="val 16129"/>
            </a:avLst>
          </a:prstGeom>
          <a:solidFill>
            <a:srgbClr val="00246B"/>
          </a:solidFill>
          <a:ln w="12700">
            <a:solidFill>
              <a:srgbClr val="333333"/>
            </a:solidFill>
            <a:prstDash val="solid"/>
          </a:ln>
        </p:spPr>
        <p:txBody>
          <a:bodyPr/>
          <a:lstStyle/>
          <a:p>
            <a:endParaRPr lang="en-US"/>
          </a:p>
        </p:txBody>
      </p:sp>
      <p:sp>
        <p:nvSpPr>
          <p:cNvPr id="23" name="Text 21"/>
          <p:cNvSpPr/>
          <p:nvPr/>
        </p:nvSpPr>
        <p:spPr>
          <a:xfrm>
            <a:off x="822960" y="5440680"/>
            <a:ext cx="10058400" cy="56692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wedge is not open versus closed. It is open where trust compounds, controlled where customers need value capture.</a:t>
            </a:r>
            <a:endParaRPr lang="en-US" sz="1400" dirty="0"/>
          </a:p>
        </p:txBody>
      </p:sp>
      <p:sp>
        <p:nvSpPr>
          <p:cNvPr id="24" name="Text 22"/>
          <p:cNvSpPr/>
          <p:nvPr/>
        </p:nvSpPr>
        <p:spPr>
          <a:xfrm>
            <a:off x="548640" y="6263640"/>
            <a:ext cx="7315200" cy="274320"/>
          </a:xfrm>
          <a:prstGeom prst="rect">
            <a:avLst/>
          </a:prstGeom>
          <a:noFill/>
          <a:ln/>
        </p:spPr>
        <p:txBody>
          <a:bodyPr wrap="square" lIns="0" tIns="0" rIns="0" bIns="0" rtlCol="0" anchor="ctr"/>
          <a:lstStyle/>
          <a:p>
            <a:pPr marL="0" indent="0">
              <a:buNone/>
            </a:pPr>
            <a:r>
              <a:rPr lang="en-US" sz="950" dirty="0">
                <a:solidFill>
                  <a:srgbClr val="5A6480"/>
                </a:solidFill>
                <a:latin typeface="Calibri" pitchFamily="34" charset="0"/>
                <a:ea typeface="Calibri" pitchFamily="34" charset="-122"/>
                <a:cs typeface="Calibri" pitchFamily="34" charset="-120"/>
              </a:rPr>
              <a:t>Mistral AI  |  Company thesis and European AI stack</a:t>
            </a:r>
            <a:endParaRPr lang="en-US" sz="950" dirty="0"/>
          </a:p>
        </p:txBody>
      </p:sp>
      <p:sp>
        <p:nvSpPr>
          <p:cNvPr id="25" name="Text 23"/>
          <p:cNvSpPr/>
          <p:nvPr/>
        </p:nvSpPr>
        <p:spPr>
          <a:xfrm>
            <a:off x="10241280" y="6263640"/>
            <a:ext cx="1371600" cy="274320"/>
          </a:xfrm>
          <a:prstGeom prst="rect">
            <a:avLst/>
          </a:prstGeom>
          <a:noFill/>
          <a:ln/>
        </p:spPr>
        <p:txBody>
          <a:bodyPr wrap="square" lIns="0" tIns="0" rIns="0" bIns="0" rtlCol="0" anchor="ctr"/>
          <a:lstStyle/>
          <a:p>
            <a:pPr marL="0" indent="0" algn="r">
              <a:buNone/>
            </a:pPr>
            <a:r>
              <a:rPr lang="en-US" sz="950">
                <a:solidFill>
                  <a:srgbClr val="5A6480"/>
                </a:solidFill>
                <a:latin typeface="Calibri" pitchFamily="34" charset="0"/>
                <a:ea typeface="Calibri" pitchFamily="34" charset="-122"/>
                <a:cs typeface="Calibri" pitchFamily="34" charset="-120"/>
              </a:rPr>
              <a:t>3 </a:t>
            </a:r>
            <a:r>
              <a:rPr lang="en-US" sz="950" dirty="0">
                <a:solidFill>
                  <a:srgbClr val="5A6480"/>
                </a:solidFill>
                <a:latin typeface="Calibri" pitchFamily="34" charset="0"/>
                <a:ea typeface="Calibri" pitchFamily="34" charset="-122"/>
                <a:cs typeface="Calibri" pitchFamily="34" charset="-120"/>
              </a:rPr>
              <a:t>/ </a:t>
            </a:r>
            <a:r>
              <a:rPr lang="en-US" sz="950">
                <a:solidFill>
                  <a:srgbClr val="5A648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75488"/>
            <a:ext cx="457200" cy="457200"/>
          </a:xfrm>
          <a:prstGeom prst="ellipse">
            <a:avLst/>
          </a:prstGeom>
          <a:solidFill>
            <a:srgbClr val="003399"/>
          </a:solidFill>
          <a:ln w="12700">
            <a:solidFill>
              <a:srgbClr val="333333"/>
            </a:solidFill>
            <a:prstDash val="solid"/>
          </a:ln>
        </p:spPr>
        <p:txBody>
          <a:bodyPr/>
          <a:lstStyle/>
          <a:p>
            <a:endParaRPr lang="en-US"/>
          </a:p>
        </p:txBody>
      </p:sp>
      <p:sp>
        <p:nvSpPr>
          <p:cNvPr id="3" name="Text 1"/>
          <p:cNvSpPr/>
          <p:nvPr/>
        </p:nvSpPr>
        <p:spPr>
          <a:xfrm>
            <a:off x="548640" y="475488"/>
            <a:ext cx="457200" cy="457200"/>
          </a:xfrm>
          <a:prstGeom prst="rect">
            <a:avLst/>
          </a:prstGeom>
          <a:noFill/>
          <a:ln/>
        </p:spPr>
        <p:txBody>
          <a:bodyPr wrap="square" lIns="0" tIns="0" rIns="0" bIns="0" rtlCol="0" anchor="ctr"/>
          <a:lstStyle/>
          <a:p>
            <a:pPr marL="0" indent="0" algn="ctr">
              <a:buNone/>
            </a:pPr>
            <a:r>
              <a:rPr lang="en-US" sz="1300" b="1">
                <a:solidFill>
                  <a:srgbClr val="FFCC00"/>
                </a:solidFill>
                <a:latin typeface="Calibri" pitchFamily="34" charset="0"/>
                <a:ea typeface="Calibri" pitchFamily="34" charset="-122"/>
                <a:cs typeface="Calibri" pitchFamily="34" charset="-120"/>
              </a:rPr>
              <a:t>03</a:t>
            </a:r>
            <a:endParaRPr lang="en-US" sz="1300" dirty="0"/>
          </a:p>
        </p:txBody>
      </p:sp>
      <p:sp>
        <p:nvSpPr>
          <p:cNvPr id="4" name="Text 2"/>
          <p:cNvSpPr/>
          <p:nvPr/>
        </p:nvSpPr>
        <p:spPr>
          <a:xfrm>
            <a:off x="1143000" y="502920"/>
            <a:ext cx="7315200" cy="256032"/>
          </a:xfrm>
          <a:prstGeom prst="rect">
            <a:avLst/>
          </a:prstGeom>
          <a:noFill/>
          <a:ln/>
        </p:spPr>
        <p:txBody>
          <a:bodyPr wrap="square" lIns="0" tIns="0" rIns="0" bIns="0" rtlCol="0" anchor="ctr"/>
          <a:lstStyle/>
          <a:p>
            <a:pPr marL="0" indent="0">
              <a:buNone/>
            </a:pPr>
            <a:r>
              <a:rPr lang="en-US" sz="1100" b="1" kern="0" spc="200" dirty="0">
                <a:solidFill>
                  <a:srgbClr val="003399"/>
                </a:solidFill>
                <a:latin typeface="Calibri" pitchFamily="34" charset="0"/>
                <a:ea typeface="Calibri" pitchFamily="34" charset="-122"/>
                <a:cs typeface="Calibri" pitchFamily="34" charset="-120"/>
              </a:rPr>
              <a:t>MARKET SIZING</a:t>
            </a:r>
            <a:endParaRPr lang="en-US" sz="1100" dirty="0"/>
          </a:p>
        </p:txBody>
      </p:sp>
      <p:sp>
        <p:nvSpPr>
          <p:cNvPr id="5" name="Text 3"/>
          <p:cNvSpPr/>
          <p:nvPr/>
        </p:nvSpPr>
        <p:spPr>
          <a:xfrm>
            <a:off x="1133856" y="749808"/>
            <a:ext cx="9601200" cy="566928"/>
          </a:xfrm>
          <a:prstGeom prst="rect">
            <a:avLst/>
          </a:prstGeom>
          <a:noFill/>
          <a:ln/>
        </p:spPr>
        <p:txBody>
          <a:bodyPr wrap="square" lIns="0" tIns="0" rIns="0" bIns="0" rtlCol="0" anchor="ctr"/>
          <a:lstStyle/>
          <a:p>
            <a:pPr marL="0" indent="0">
              <a:buNone/>
            </a:pPr>
            <a:r>
              <a:rPr lang="en-US" sz="3200" b="1" dirty="0">
                <a:solidFill>
                  <a:srgbClr val="111A33"/>
                </a:solidFill>
                <a:latin typeface="Cambria" pitchFamily="34" charset="0"/>
                <a:ea typeface="Cambria" pitchFamily="34" charset="-122"/>
                <a:cs typeface="Cambria" pitchFamily="34" charset="-120"/>
              </a:rPr>
              <a:t>The addressable market, built from the bottom up</a:t>
            </a:r>
            <a:endParaRPr lang="en-US" sz="3200" dirty="0"/>
          </a:p>
        </p:txBody>
      </p:sp>
      <p:sp>
        <p:nvSpPr>
          <p:cNvPr id="6" name="Text 4"/>
          <p:cNvSpPr/>
          <p:nvPr/>
        </p:nvSpPr>
        <p:spPr>
          <a:xfrm>
            <a:off x="1152144" y="1389888"/>
            <a:ext cx="9509760" cy="365760"/>
          </a:xfrm>
          <a:prstGeom prst="rect">
            <a:avLst/>
          </a:prstGeom>
          <a:noFill/>
          <a:ln/>
        </p:spPr>
        <p:txBody>
          <a:bodyPr wrap="square" lIns="0" tIns="0" rIns="0" bIns="0" rtlCol="0" anchor="ctr"/>
          <a:lstStyle/>
          <a:p>
            <a:pPr marL="0" indent="0">
              <a:buNone/>
            </a:pPr>
            <a:r>
              <a:rPr lang="en-US" sz="1450" i="1" dirty="0">
                <a:solidFill>
                  <a:srgbClr val="5A6480"/>
                </a:solidFill>
                <a:latin typeface="Calibri" pitchFamily="34" charset="0"/>
                <a:ea typeface="Calibri" pitchFamily="34" charset="-122"/>
                <a:cs typeface="Calibri" pitchFamily="34" charset="-120"/>
              </a:rPr>
              <a:t>Top-down market forecasts do not underwrite a plan. Accounts, contract values, and share do.</a:t>
            </a:r>
            <a:endParaRPr lang="en-US" sz="1450" dirty="0"/>
          </a:p>
        </p:txBody>
      </p:sp>
      <p:sp>
        <p:nvSpPr>
          <p:cNvPr id="7" name="CapL"/>
          <p:cNvSpPr/>
          <p:nvPr/>
        </p:nvSpPr>
        <p:spPr>
          <a:xfrm>
            <a:off x="548640" y="1783080"/>
            <a:ext cx="5120640" cy="256032"/>
          </a:xfrm>
          <a:prstGeom prst="rect">
            <a:avLst/>
          </a:prstGeom>
          <a:noFill/>
          <a:ln/>
        </p:spPr>
        <p:txBody>
          <a:bodyPr wrap="square" lIns="0" tIns="0" rIns="0" bIns="0" rtlCol="0" anchor="ctr">
            <a:normAutofit/>
          </a:bodyPr>
          <a:lstStyle/>
          <a:p>
            <a:pPr marL="0" indent="0" algn="l">
              <a:buNone/>
            </a:pPr>
            <a:r>
              <a:rPr lang="en-US" sz="900" b="1" kern="0" spc="180">
                <a:solidFill>
                  <a:srgbClr val="5A6480"/>
                </a:solidFill>
                <a:latin typeface="Calibri" pitchFamily="34" charset="0"/>
                <a:ea typeface="Calibri" pitchFamily="34" charset="-122"/>
                <a:cs typeface="Calibri" pitchFamily="34" charset="-120"/>
              </a:rPr>
              <a:t>BOTTOM-UP FUNNEL</a:t>
            </a:r>
          </a:p>
        </p:txBody>
      </p:sp>
      <p:sp>
        <p:nvSpPr>
          <p:cNvPr id="8" name="FBar0"/>
          <p:cNvSpPr/>
          <p:nvPr/>
        </p:nvSpPr>
        <p:spPr>
          <a:xfrm>
            <a:off x="548640" y="2148840"/>
            <a:ext cx="5257800" cy="603504"/>
          </a:xfrm>
          <a:prstGeom prst="roundRect">
            <a:avLst>
              <a:gd name="adj" fmla="val 12000"/>
            </a:avLst>
          </a:prstGeom>
          <a:solidFill>
            <a:srgbClr val="F2F5FB"/>
          </a:solidFill>
          <a:ln/>
        </p:spPr>
        <p:txBody>
          <a:bodyPr/>
          <a:lstStyle/>
          <a:p>
            <a:endParaRPr lang="en-US"/>
          </a:p>
        </p:txBody>
      </p:sp>
      <p:sp>
        <p:nvSpPr>
          <p:cNvPr id="9" name="FNum0"/>
          <p:cNvSpPr/>
          <p:nvPr/>
        </p:nvSpPr>
        <p:spPr>
          <a:xfrm>
            <a:off x="822960" y="2148840"/>
            <a:ext cx="1417320" cy="603504"/>
          </a:xfrm>
          <a:prstGeom prst="rect">
            <a:avLst/>
          </a:prstGeom>
          <a:noFill/>
          <a:ln/>
        </p:spPr>
        <p:txBody>
          <a:bodyPr wrap="square" lIns="0" tIns="0" rIns="0" bIns="0" rtlCol="0" anchor="ctr">
            <a:normAutofit/>
          </a:bodyPr>
          <a:lstStyle/>
          <a:p>
            <a:pPr marL="0" indent="0" algn="l">
              <a:buNone/>
            </a:pPr>
            <a:r>
              <a:rPr lang="en-US" sz="1500" b="1">
                <a:solidFill>
                  <a:srgbClr val="003399"/>
                </a:solidFill>
                <a:latin typeface="Cambria" pitchFamily="34" charset="0"/>
                <a:ea typeface="Cambria" pitchFamily="34" charset="-122"/>
                <a:cs typeface="Cambria" pitchFamily="34" charset="-120"/>
              </a:rPr>
              <a:t>45,000</a:t>
            </a:r>
          </a:p>
        </p:txBody>
      </p:sp>
      <p:sp>
        <p:nvSpPr>
          <p:cNvPr id="10" name="FCap0"/>
          <p:cNvSpPr/>
          <p:nvPr/>
        </p:nvSpPr>
        <p:spPr>
          <a:xfrm>
            <a:off x="2331720" y="2148840"/>
            <a:ext cx="3200400" cy="603504"/>
          </a:xfrm>
          <a:prstGeom prst="rect">
            <a:avLst/>
          </a:prstGeom>
          <a:noFill/>
          <a:ln/>
        </p:spPr>
        <p:txBody>
          <a:bodyPr wrap="square" lIns="0" tIns="0" rIns="0" bIns="0" rtlCol="0" anchor="ctr">
            <a:normAutofit/>
          </a:bodyPr>
          <a:lstStyle/>
          <a:p>
            <a:pPr marL="0" indent="0" algn="l">
              <a:buNone/>
            </a:pPr>
            <a:r>
              <a:rPr lang="en-US" sz="1000">
                <a:solidFill>
                  <a:srgbClr val="5A6480"/>
                </a:solidFill>
                <a:latin typeface="Calibri" pitchFamily="34" charset="0"/>
                <a:ea typeface="Calibri" pitchFamily="34" charset="-122"/>
                <a:cs typeface="Calibri" pitchFamily="34" charset="-120"/>
              </a:rPr>
              <a:t>EU enterprises over 250 employees</a:t>
            </a:r>
          </a:p>
        </p:txBody>
      </p:sp>
      <p:sp>
        <p:nvSpPr>
          <p:cNvPr id="11" name="FBar1"/>
          <p:cNvSpPr/>
          <p:nvPr/>
        </p:nvSpPr>
        <p:spPr>
          <a:xfrm>
            <a:off x="800100" y="2862072"/>
            <a:ext cx="4754880" cy="603504"/>
          </a:xfrm>
          <a:prstGeom prst="roundRect">
            <a:avLst>
              <a:gd name="adj" fmla="val 12000"/>
            </a:avLst>
          </a:prstGeom>
          <a:solidFill>
            <a:srgbClr val="F2F5FB"/>
          </a:solidFill>
          <a:ln/>
        </p:spPr>
        <p:txBody>
          <a:bodyPr/>
          <a:lstStyle/>
          <a:p>
            <a:endParaRPr lang="en-US"/>
          </a:p>
        </p:txBody>
      </p:sp>
      <p:sp>
        <p:nvSpPr>
          <p:cNvPr id="12" name="FNum1"/>
          <p:cNvSpPr/>
          <p:nvPr/>
        </p:nvSpPr>
        <p:spPr>
          <a:xfrm>
            <a:off x="1074420" y="2862072"/>
            <a:ext cx="1417320" cy="603504"/>
          </a:xfrm>
          <a:prstGeom prst="rect">
            <a:avLst/>
          </a:prstGeom>
          <a:noFill/>
          <a:ln/>
        </p:spPr>
        <p:txBody>
          <a:bodyPr wrap="square" lIns="0" tIns="0" rIns="0" bIns="0" rtlCol="0" anchor="ctr">
            <a:normAutofit/>
          </a:bodyPr>
          <a:lstStyle/>
          <a:p>
            <a:pPr marL="0" indent="0" algn="l">
              <a:buNone/>
            </a:pPr>
            <a:r>
              <a:rPr lang="en-US" sz="1500" b="1">
                <a:solidFill>
                  <a:srgbClr val="003399"/>
                </a:solidFill>
                <a:latin typeface="Cambria" pitchFamily="34" charset="0"/>
                <a:ea typeface="Cambria" pitchFamily="34" charset="-122"/>
                <a:cs typeface="Cambria" pitchFamily="34" charset="-120"/>
              </a:rPr>
              <a:t>18,000</a:t>
            </a:r>
          </a:p>
        </p:txBody>
      </p:sp>
      <p:sp>
        <p:nvSpPr>
          <p:cNvPr id="13" name="FCap1"/>
          <p:cNvSpPr/>
          <p:nvPr/>
        </p:nvSpPr>
        <p:spPr>
          <a:xfrm>
            <a:off x="2583180" y="2862072"/>
            <a:ext cx="2697480" cy="603504"/>
          </a:xfrm>
          <a:prstGeom prst="rect">
            <a:avLst/>
          </a:prstGeom>
          <a:noFill/>
          <a:ln/>
        </p:spPr>
        <p:txBody>
          <a:bodyPr wrap="square" lIns="0" tIns="0" rIns="0" bIns="0" rtlCol="0" anchor="ctr">
            <a:normAutofit/>
          </a:bodyPr>
          <a:lstStyle/>
          <a:p>
            <a:pPr marL="0" indent="0" algn="l">
              <a:buNone/>
            </a:pPr>
            <a:r>
              <a:rPr lang="en-US" sz="1000">
                <a:solidFill>
                  <a:srgbClr val="5A6480"/>
                </a:solidFill>
                <a:latin typeface="Calibri" pitchFamily="34" charset="0"/>
                <a:ea typeface="Calibri" pitchFamily="34" charset="-122"/>
                <a:cs typeface="Calibri" pitchFamily="34" charset="-120"/>
              </a:rPr>
              <a:t>in regulated and data-sensitive sectors</a:t>
            </a:r>
          </a:p>
        </p:txBody>
      </p:sp>
      <p:sp>
        <p:nvSpPr>
          <p:cNvPr id="14" name="FBar2"/>
          <p:cNvSpPr/>
          <p:nvPr/>
        </p:nvSpPr>
        <p:spPr>
          <a:xfrm>
            <a:off x="1051560" y="3575304"/>
            <a:ext cx="4251960" cy="603504"/>
          </a:xfrm>
          <a:prstGeom prst="roundRect">
            <a:avLst>
              <a:gd name="adj" fmla="val 12000"/>
            </a:avLst>
          </a:prstGeom>
          <a:solidFill>
            <a:srgbClr val="F2F5FB"/>
          </a:solidFill>
          <a:ln/>
        </p:spPr>
        <p:txBody>
          <a:bodyPr/>
          <a:lstStyle/>
          <a:p>
            <a:endParaRPr lang="en-US"/>
          </a:p>
        </p:txBody>
      </p:sp>
      <p:sp>
        <p:nvSpPr>
          <p:cNvPr id="15" name="FNum2"/>
          <p:cNvSpPr/>
          <p:nvPr/>
        </p:nvSpPr>
        <p:spPr>
          <a:xfrm>
            <a:off x="1325880" y="3575304"/>
            <a:ext cx="1417320" cy="603504"/>
          </a:xfrm>
          <a:prstGeom prst="rect">
            <a:avLst/>
          </a:prstGeom>
          <a:noFill/>
          <a:ln/>
        </p:spPr>
        <p:txBody>
          <a:bodyPr wrap="square" lIns="0" tIns="0" rIns="0" bIns="0" rtlCol="0" anchor="ctr">
            <a:normAutofit/>
          </a:bodyPr>
          <a:lstStyle/>
          <a:p>
            <a:pPr marL="0" indent="0" algn="l">
              <a:buNone/>
            </a:pPr>
            <a:r>
              <a:rPr lang="en-US" sz="1500" b="1">
                <a:solidFill>
                  <a:srgbClr val="003399"/>
                </a:solidFill>
                <a:latin typeface="Cambria" pitchFamily="34" charset="0"/>
                <a:ea typeface="Cambria" pitchFamily="34" charset="-122"/>
                <a:cs typeface="Cambria" pitchFamily="34" charset="-120"/>
              </a:rPr>
              <a:t>11,000</a:t>
            </a:r>
          </a:p>
        </p:txBody>
      </p:sp>
      <p:sp>
        <p:nvSpPr>
          <p:cNvPr id="16" name="FCap2"/>
          <p:cNvSpPr/>
          <p:nvPr/>
        </p:nvSpPr>
        <p:spPr>
          <a:xfrm>
            <a:off x="2834640" y="3575304"/>
            <a:ext cx="2194560" cy="603504"/>
          </a:xfrm>
          <a:prstGeom prst="rect">
            <a:avLst/>
          </a:prstGeom>
          <a:noFill/>
          <a:ln/>
        </p:spPr>
        <p:txBody>
          <a:bodyPr wrap="square" lIns="0" tIns="0" rIns="0" bIns="0" rtlCol="0" anchor="ctr">
            <a:normAutofit/>
          </a:bodyPr>
          <a:lstStyle/>
          <a:p>
            <a:pPr marL="0" indent="0" algn="l">
              <a:buNone/>
            </a:pPr>
            <a:r>
              <a:rPr lang="en-US" sz="1000">
                <a:solidFill>
                  <a:srgbClr val="5A6480"/>
                </a:solidFill>
                <a:latin typeface="Calibri" pitchFamily="34" charset="0"/>
                <a:ea typeface="Calibri" pitchFamily="34" charset="-122"/>
                <a:cs typeface="Calibri" pitchFamily="34" charset="-120"/>
              </a:rPr>
              <a:t>with deployment capacity by 2030</a:t>
            </a:r>
          </a:p>
        </p:txBody>
      </p:sp>
      <p:sp>
        <p:nvSpPr>
          <p:cNvPr id="17" name="FBar3"/>
          <p:cNvSpPr/>
          <p:nvPr/>
        </p:nvSpPr>
        <p:spPr>
          <a:xfrm>
            <a:off x="1303020" y="4288536"/>
            <a:ext cx="3749040" cy="603504"/>
          </a:xfrm>
          <a:prstGeom prst="roundRect">
            <a:avLst>
              <a:gd name="adj" fmla="val 12000"/>
            </a:avLst>
          </a:prstGeom>
          <a:solidFill>
            <a:srgbClr val="003399"/>
          </a:solidFill>
          <a:ln/>
        </p:spPr>
        <p:txBody>
          <a:bodyPr/>
          <a:lstStyle/>
          <a:p>
            <a:endParaRPr lang="en-US"/>
          </a:p>
        </p:txBody>
      </p:sp>
      <p:sp>
        <p:nvSpPr>
          <p:cNvPr id="18" name="FNum3"/>
          <p:cNvSpPr/>
          <p:nvPr/>
        </p:nvSpPr>
        <p:spPr>
          <a:xfrm>
            <a:off x="1577340" y="4288536"/>
            <a:ext cx="1417320" cy="603504"/>
          </a:xfrm>
          <a:prstGeom prst="rect">
            <a:avLst/>
          </a:prstGeom>
          <a:noFill/>
          <a:ln/>
        </p:spPr>
        <p:txBody>
          <a:bodyPr wrap="square" lIns="0" tIns="0" rIns="0" bIns="0" rtlCol="0" anchor="ctr">
            <a:normAutofit/>
          </a:bodyPr>
          <a:lstStyle/>
          <a:p>
            <a:pPr marL="0" indent="0" algn="l">
              <a:buNone/>
            </a:pPr>
            <a:r>
              <a:rPr lang="en-US" sz="1400" b="1">
                <a:solidFill>
                  <a:srgbClr val="FFCC00"/>
                </a:solidFill>
                <a:latin typeface="Cambria" pitchFamily="34" charset="0"/>
                <a:ea typeface="Cambria" pitchFamily="34" charset="-122"/>
                <a:cs typeface="Cambria" pitchFamily="34" charset="-120"/>
              </a:rPr>
              <a:t>EUR 4.4B</a:t>
            </a:r>
          </a:p>
        </p:txBody>
      </p:sp>
      <p:sp>
        <p:nvSpPr>
          <p:cNvPr id="19" name="FCap3"/>
          <p:cNvSpPr/>
          <p:nvPr/>
        </p:nvSpPr>
        <p:spPr>
          <a:xfrm>
            <a:off x="3086100" y="4288536"/>
            <a:ext cx="1691640" cy="603504"/>
          </a:xfrm>
          <a:prstGeom prst="rect">
            <a:avLst/>
          </a:prstGeom>
          <a:noFill/>
          <a:ln/>
        </p:spPr>
        <p:txBody>
          <a:bodyPr wrap="square" lIns="0" tIns="0" rIns="0" bIns="0" rtlCol="0" anchor="ctr">
            <a:normAutofit/>
          </a:bodyPr>
          <a:lstStyle/>
          <a:p>
            <a:pPr marL="0" indent="0" algn="l">
              <a:buNone/>
            </a:pPr>
            <a:r>
              <a:rPr lang="en-US" sz="1000">
                <a:solidFill>
                  <a:srgbClr val="D9E1F5"/>
                </a:solidFill>
                <a:latin typeface="Calibri" pitchFamily="34" charset="0"/>
                <a:ea typeface="Calibri" pitchFamily="34" charset="-122"/>
                <a:cs typeface="Calibri" pitchFamily="34" charset="-120"/>
              </a:rPr>
              <a:t>annual serviceable spend on the model layer</a:t>
            </a:r>
          </a:p>
        </p:txBody>
      </p:sp>
      <p:sp>
        <p:nvSpPr>
          <p:cNvPr id="20" name="CapR"/>
          <p:cNvSpPr/>
          <p:nvPr/>
        </p:nvSpPr>
        <p:spPr>
          <a:xfrm>
            <a:off x="6309360" y="1783080"/>
            <a:ext cx="4846320" cy="256032"/>
          </a:xfrm>
          <a:prstGeom prst="rect">
            <a:avLst/>
          </a:prstGeom>
          <a:noFill/>
          <a:ln/>
        </p:spPr>
        <p:txBody>
          <a:bodyPr wrap="square" lIns="0" tIns="0" rIns="0" bIns="0" rtlCol="0" anchor="ctr">
            <a:normAutofit/>
          </a:bodyPr>
          <a:lstStyle/>
          <a:p>
            <a:pPr marL="0" indent="0" algn="l">
              <a:buNone/>
            </a:pPr>
            <a:r>
              <a:rPr lang="en-US" sz="900" b="1" kern="0" spc="180">
                <a:solidFill>
                  <a:srgbClr val="5A6480"/>
                </a:solidFill>
                <a:latin typeface="Calibri" pitchFamily="34" charset="0"/>
                <a:ea typeface="Calibri" pitchFamily="34" charset="-122"/>
                <a:cs typeface="Calibri" pitchFamily="34" charset="-120"/>
              </a:rPr>
              <a:t>CONTRACT VALUE BY SEGMENT</a:t>
            </a:r>
          </a:p>
        </p:txBody>
      </p:sp>
      <p:sp>
        <p:nvSpPr>
          <p:cNvPr id="21" name="TRow0"/>
          <p:cNvSpPr/>
          <p:nvPr/>
        </p:nvSpPr>
        <p:spPr>
          <a:xfrm>
            <a:off x="6309360" y="2148840"/>
            <a:ext cx="4846320" cy="676656"/>
          </a:xfrm>
          <a:prstGeom prst="roundRect">
            <a:avLst>
              <a:gd name="adj" fmla="val 12000"/>
            </a:avLst>
          </a:prstGeom>
          <a:solidFill>
            <a:srgbClr val="F2F5FB"/>
          </a:solidFill>
          <a:ln/>
        </p:spPr>
        <p:txBody>
          <a:bodyPr/>
          <a:lstStyle/>
          <a:p>
            <a:endParaRPr lang="en-US"/>
          </a:p>
        </p:txBody>
      </p:sp>
      <p:sp>
        <p:nvSpPr>
          <p:cNvPr id="22" name="TAcc0"/>
          <p:cNvSpPr/>
          <p:nvPr/>
        </p:nvSpPr>
        <p:spPr>
          <a:xfrm>
            <a:off x="6309360" y="2148840"/>
            <a:ext cx="64008" cy="676656"/>
          </a:xfrm>
          <a:prstGeom prst="rect">
            <a:avLst/>
          </a:prstGeom>
          <a:solidFill>
            <a:srgbClr val="003399"/>
          </a:solidFill>
          <a:ln/>
        </p:spPr>
        <p:txBody>
          <a:bodyPr/>
          <a:lstStyle/>
          <a:p>
            <a:endParaRPr lang="en-US"/>
          </a:p>
        </p:txBody>
      </p:sp>
      <p:sp>
        <p:nvSpPr>
          <p:cNvPr id="23" name="TLab0"/>
          <p:cNvSpPr/>
          <p:nvPr/>
        </p:nvSpPr>
        <p:spPr>
          <a:xfrm>
            <a:off x="6629400" y="2185416"/>
            <a:ext cx="2103120" cy="292608"/>
          </a:xfrm>
          <a:prstGeom prst="rect">
            <a:avLst/>
          </a:prstGeom>
          <a:noFill/>
          <a:ln/>
        </p:spPr>
        <p:txBody>
          <a:bodyPr wrap="square" lIns="0" tIns="0" rIns="0" bIns="0" rtlCol="0" anchor="ctr">
            <a:normAutofit/>
          </a:bodyPr>
          <a:lstStyle/>
          <a:p>
            <a:pPr marL="0" indent="0" algn="l">
              <a:buNone/>
            </a:pPr>
            <a:r>
              <a:rPr lang="en-US" sz="1150" b="1">
                <a:solidFill>
                  <a:srgbClr val="111A33"/>
                </a:solidFill>
                <a:latin typeface="Calibri" pitchFamily="34" charset="0"/>
                <a:ea typeface="Calibri" pitchFamily="34" charset="-122"/>
                <a:cs typeface="Calibri" pitchFamily="34" charset="-120"/>
              </a:rPr>
              <a:t>Tier 1  ·  500 accounts</a:t>
            </a:r>
          </a:p>
        </p:txBody>
      </p:sp>
      <p:sp>
        <p:nvSpPr>
          <p:cNvPr id="24" name="TDsc0"/>
          <p:cNvSpPr/>
          <p:nvPr/>
        </p:nvSpPr>
        <p:spPr>
          <a:xfrm>
            <a:off x="6629400" y="2496312"/>
            <a:ext cx="2926080" cy="274320"/>
          </a:xfrm>
          <a:prstGeom prst="rect">
            <a:avLst/>
          </a:prstGeom>
          <a:noFill/>
          <a:ln/>
        </p:spPr>
        <p:txBody>
          <a:bodyPr wrap="square" lIns="0" tIns="0" rIns="0" bIns="0" rtlCol="0" anchor="ctr">
            <a:normAutofit/>
          </a:bodyPr>
          <a:lstStyle/>
          <a:p>
            <a:pPr marL="0" indent="0" algn="l">
              <a:buNone/>
            </a:pPr>
            <a:r>
              <a:rPr lang="en-US" sz="1000">
                <a:solidFill>
                  <a:srgbClr val="5A6480"/>
                </a:solidFill>
                <a:latin typeface="Calibri" pitchFamily="34" charset="0"/>
                <a:ea typeface="Calibri" pitchFamily="34" charset="-122"/>
                <a:cs typeface="Calibri" pitchFamily="34" charset="-120"/>
              </a:rPr>
              <a:t>Sovereign and systemically regulated</a:t>
            </a:r>
          </a:p>
        </p:txBody>
      </p:sp>
      <p:sp>
        <p:nvSpPr>
          <p:cNvPr id="25" name="TVal0"/>
          <p:cNvSpPr/>
          <p:nvPr/>
        </p:nvSpPr>
        <p:spPr>
          <a:xfrm>
            <a:off x="9509760" y="2148840"/>
            <a:ext cx="1371600" cy="676656"/>
          </a:xfrm>
          <a:prstGeom prst="rect">
            <a:avLst/>
          </a:prstGeom>
          <a:noFill/>
          <a:ln/>
        </p:spPr>
        <p:txBody>
          <a:bodyPr wrap="square" lIns="0" tIns="0" rIns="0" bIns="0" rtlCol="0" anchor="ctr">
            <a:normAutofit/>
          </a:bodyPr>
          <a:lstStyle/>
          <a:p>
            <a:pPr marL="0" indent="0" algn="r">
              <a:buNone/>
            </a:pPr>
            <a:r>
              <a:rPr lang="en-US" sz="1400" b="1">
                <a:solidFill>
                  <a:srgbClr val="003399"/>
                </a:solidFill>
                <a:latin typeface="Cambria" pitchFamily="34" charset="0"/>
                <a:ea typeface="Cambria" pitchFamily="34" charset="-122"/>
                <a:cs typeface="Cambria" pitchFamily="34" charset="-120"/>
              </a:rPr>
              <a:t>EUR 2.5M</a:t>
            </a:r>
          </a:p>
        </p:txBody>
      </p:sp>
      <p:sp>
        <p:nvSpPr>
          <p:cNvPr id="26" name="TRow1"/>
          <p:cNvSpPr/>
          <p:nvPr/>
        </p:nvSpPr>
        <p:spPr>
          <a:xfrm>
            <a:off x="6309360" y="2935224"/>
            <a:ext cx="4846320" cy="676656"/>
          </a:xfrm>
          <a:prstGeom prst="roundRect">
            <a:avLst>
              <a:gd name="adj" fmla="val 12000"/>
            </a:avLst>
          </a:prstGeom>
          <a:solidFill>
            <a:srgbClr val="F2F5FB"/>
          </a:solidFill>
          <a:ln/>
        </p:spPr>
        <p:txBody>
          <a:bodyPr/>
          <a:lstStyle/>
          <a:p>
            <a:endParaRPr lang="en-US"/>
          </a:p>
        </p:txBody>
      </p:sp>
      <p:sp>
        <p:nvSpPr>
          <p:cNvPr id="27" name="TAcc1"/>
          <p:cNvSpPr/>
          <p:nvPr/>
        </p:nvSpPr>
        <p:spPr>
          <a:xfrm>
            <a:off x="6309360" y="2935224"/>
            <a:ext cx="64008" cy="676656"/>
          </a:xfrm>
          <a:prstGeom prst="rect">
            <a:avLst/>
          </a:prstGeom>
          <a:solidFill>
            <a:srgbClr val="003399"/>
          </a:solidFill>
          <a:ln/>
        </p:spPr>
        <p:txBody>
          <a:bodyPr/>
          <a:lstStyle/>
          <a:p>
            <a:endParaRPr lang="en-US"/>
          </a:p>
        </p:txBody>
      </p:sp>
      <p:sp>
        <p:nvSpPr>
          <p:cNvPr id="28" name="TLab1"/>
          <p:cNvSpPr/>
          <p:nvPr/>
        </p:nvSpPr>
        <p:spPr>
          <a:xfrm>
            <a:off x="6629400" y="2971800"/>
            <a:ext cx="2103120" cy="292608"/>
          </a:xfrm>
          <a:prstGeom prst="rect">
            <a:avLst/>
          </a:prstGeom>
          <a:noFill/>
          <a:ln/>
        </p:spPr>
        <p:txBody>
          <a:bodyPr wrap="square" lIns="0" tIns="0" rIns="0" bIns="0" rtlCol="0" anchor="ctr">
            <a:normAutofit/>
          </a:bodyPr>
          <a:lstStyle/>
          <a:p>
            <a:pPr marL="0" indent="0" algn="l">
              <a:buNone/>
            </a:pPr>
            <a:r>
              <a:rPr lang="en-US" sz="1150" b="1">
                <a:solidFill>
                  <a:srgbClr val="111A33"/>
                </a:solidFill>
                <a:latin typeface="Calibri" pitchFamily="34" charset="0"/>
                <a:ea typeface="Calibri" pitchFamily="34" charset="-122"/>
                <a:cs typeface="Calibri" pitchFamily="34" charset="-120"/>
              </a:rPr>
              <a:t>Tier 2  ·  3,500 accounts</a:t>
            </a:r>
          </a:p>
        </p:txBody>
      </p:sp>
      <p:sp>
        <p:nvSpPr>
          <p:cNvPr id="29" name="TDsc1"/>
          <p:cNvSpPr/>
          <p:nvPr/>
        </p:nvSpPr>
        <p:spPr>
          <a:xfrm>
            <a:off x="6629400" y="3282696"/>
            <a:ext cx="2926080" cy="274320"/>
          </a:xfrm>
          <a:prstGeom prst="rect">
            <a:avLst/>
          </a:prstGeom>
          <a:noFill/>
          <a:ln/>
        </p:spPr>
        <p:txBody>
          <a:bodyPr wrap="square" lIns="0" tIns="0" rIns="0" bIns="0" rtlCol="0" anchor="ctr">
            <a:normAutofit/>
          </a:bodyPr>
          <a:lstStyle/>
          <a:p>
            <a:pPr marL="0" indent="0" algn="l">
              <a:buNone/>
            </a:pPr>
            <a:r>
              <a:rPr lang="en-US" sz="1000">
                <a:solidFill>
                  <a:srgbClr val="5A6480"/>
                </a:solidFill>
                <a:latin typeface="Calibri" pitchFamily="34" charset="0"/>
                <a:ea typeface="Calibri" pitchFamily="34" charset="-122"/>
                <a:cs typeface="Calibri" pitchFamily="34" charset="-120"/>
              </a:rPr>
              <a:t>Large enterprise, private deployment</a:t>
            </a:r>
          </a:p>
        </p:txBody>
      </p:sp>
      <p:sp>
        <p:nvSpPr>
          <p:cNvPr id="30" name="TVal1"/>
          <p:cNvSpPr/>
          <p:nvPr/>
        </p:nvSpPr>
        <p:spPr>
          <a:xfrm>
            <a:off x="9509760" y="2935224"/>
            <a:ext cx="1371600" cy="676656"/>
          </a:xfrm>
          <a:prstGeom prst="rect">
            <a:avLst/>
          </a:prstGeom>
          <a:noFill/>
          <a:ln/>
        </p:spPr>
        <p:txBody>
          <a:bodyPr wrap="square" lIns="0" tIns="0" rIns="0" bIns="0" rtlCol="0" anchor="ctr">
            <a:normAutofit/>
          </a:bodyPr>
          <a:lstStyle/>
          <a:p>
            <a:pPr marL="0" indent="0" algn="r">
              <a:buNone/>
            </a:pPr>
            <a:r>
              <a:rPr lang="en-US" sz="1400" b="1">
                <a:solidFill>
                  <a:srgbClr val="003399"/>
                </a:solidFill>
                <a:latin typeface="Cambria" pitchFamily="34" charset="0"/>
                <a:ea typeface="Cambria" pitchFamily="34" charset="-122"/>
                <a:cs typeface="Cambria" pitchFamily="34" charset="-120"/>
              </a:rPr>
              <a:t>EUR 600K</a:t>
            </a:r>
          </a:p>
        </p:txBody>
      </p:sp>
      <p:sp>
        <p:nvSpPr>
          <p:cNvPr id="31" name="TRow2"/>
          <p:cNvSpPr/>
          <p:nvPr/>
        </p:nvSpPr>
        <p:spPr>
          <a:xfrm>
            <a:off x="6309360" y="3721608"/>
            <a:ext cx="4846320" cy="676656"/>
          </a:xfrm>
          <a:prstGeom prst="roundRect">
            <a:avLst>
              <a:gd name="adj" fmla="val 12000"/>
            </a:avLst>
          </a:prstGeom>
          <a:solidFill>
            <a:srgbClr val="F2F5FB"/>
          </a:solidFill>
          <a:ln/>
        </p:spPr>
        <p:txBody>
          <a:bodyPr/>
          <a:lstStyle/>
          <a:p>
            <a:endParaRPr lang="en-US"/>
          </a:p>
        </p:txBody>
      </p:sp>
      <p:sp>
        <p:nvSpPr>
          <p:cNvPr id="32" name="TAcc2"/>
          <p:cNvSpPr/>
          <p:nvPr/>
        </p:nvSpPr>
        <p:spPr>
          <a:xfrm>
            <a:off x="6309360" y="3721608"/>
            <a:ext cx="64008" cy="676656"/>
          </a:xfrm>
          <a:prstGeom prst="rect">
            <a:avLst/>
          </a:prstGeom>
          <a:solidFill>
            <a:srgbClr val="003399"/>
          </a:solidFill>
          <a:ln/>
        </p:spPr>
        <p:txBody>
          <a:bodyPr/>
          <a:lstStyle/>
          <a:p>
            <a:endParaRPr lang="en-US"/>
          </a:p>
        </p:txBody>
      </p:sp>
      <p:sp>
        <p:nvSpPr>
          <p:cNvPr id="33" name="TLab2"/>
          <p:cNvSpPr/>
          <p:nvPr/>
        </p:nvSpPr>
        <p:spPr>
          <a:xfrm>
            <a:off x="6629400" y="3758184"/>
            <a:ext cx="2103120" cy="292608"/>
          </a:xfrm>
          <a:prstGeom prst="rect">
            <a:avLst/>
          </a:prstGeom>
          <a:noFill/>
          <a:ln/>
        </p:spPr>
        <p:txBody>
          <a:bodyPr wrap="square" lIns="0" tIns="0" rIns="0" bIns="0" rtlCol="0" anchor="ctr">
            <a:normAutofit/>
          </a:bodyPr>
          <a:lstStyle/>
          <a:p>
            <a:pPr marL="0" indent="0" algn="l">
              <a:buNone/>
            </a:pPr>
            <a:r>
              <a:rPr lang="en-US" sz="1150" b="1">
                <a:solidFill>
                  <a:srgbClr val="111A33"/>
                </a:solidFill>
                <a:latin typeface="Calibri" pitchFamily="34" charset="0"/>
                <a:ea typeface="Calibri" pitchFamily="34" charset="-122"/>
                <a:cs typeface="Calibri" pitchFamily="34" charset="-120"/>
              </a:rPr>
              <a:t>Tier 3  ·  7,000 accounts</a:t>
            </a:r>
          </a:p>
        </p:txBody>
      </p:sp>
      <p:sp>
        <p:nvSpPr>
          <p:cNvPr id="34" name="TDsc2"/>
          <p:cNvSpPr/>
          <p:nvPr/>
        </p:nvSpPr>
        <p:spPr>
          <a:xfrm>
            <a:off x="6629400" y="4069080"/>
            <a:ext cx="2926080" cy="274320"/>
          </a:xfrm>
          <a:prstGeom prst="rect">
            <a:avLst/>
          </a:prstGeom>
          <a:noFill/>
          <a:ln/>
        </p:spPr>
        <p:txBody>
          <a:bodyPr wrap="square" lIns="0" tIns="0" rIns="0" bIns="0" rtlCol="0" anchor="ctr">
            <a:normAutofit/>
          </a:bodyPr>
          <a:lstStyle/>
          <a:p>
            <a:pPr marL="0" indent="0" algn="l">
              <a:buNone/>
            </a:pPr>
            <a:r>
              <a:rPr lang="en-US" sz="1000">
                <a:solidFill>
                  <a:srgbClr val="5A6480"/>
                </a:solidFill>
                <a:latin typeface="Calibri" pitchFamily="34" charset="0"/>
                <a:ea typeface="Calibri" pitchFamily="34" charset="-122"/>
                <a:cs typeface="Calibri" pitchFamily="34" charset="-120"/>
              </a:rPr>
              <a:t>Mid-market, hosted and hybrid</a:t>
            </a:r>
          </a:p>
        </p:txBody>
      </p:sp>
      <p:sp>
        <p:nvSpPr>
          <p:cNvPr id="35" name="TVal2"/>
          <p:cNvSpPr/>
          <p:nvPr/>
        </p:nvSpPr>
        <p:spPr>
          <a:xfrm>
            <a:off x="9509760" y="3721608"/>
            <a:ext cx="1371600" cy="676656"/>
          </a:xfrm>
          <a:prstGeom prst="rect">
            <a:avLst/>
          </a:prstGeom>
          <a:noFill/>
          <a:ln/>
        </p:spPr>
        <p:txBody>
          <a:bodyPr wrap="square" lIns="0" tIns="0" rIns="0" bIns="0" rtlCol="0" anchor="ctr">
            <a:normAutofit/>
          </a:bodyPr>
          <a:lstStyle/>
          <a:p>
            <a:pPr marL="0" indent="0" algn="r">
              <a:buNone/>
            </a:pPr>
            <a:r>
              <a:rPr lang="en-US" sz="1400" b="1">
                <a:solidFill>
                  <a:srgbClr val="003399"/>
                </a:solidFill>
                <a:latin typeface="Cambria" pitchFamily="34" charset="0"/>
                <a:ea typeface="Cambria" pitchFamily="34" charset="-122"/>
                <a:cs typeface="Cambria" pitchFamily="34" charset="-120"/>
              </a:rPr>
              <a:t>EUR 150K</a:t>
            </a:r>
          </a:p>
        </p:txBody>
      </p:sp>
      <p:sp>
        <p:nvSpPr>
          <p:cNvPr id="36" name="Blend"/>
          <p:cNvSpPr/>
          <p:nvPr/>
        </p:nvSpPr>
        <p:spPr>
          <a:xfrm>
            <a:off x="6309360" y="4572000"/>
            <a:ext cx="4846320" cy="274320"/>
          </a:xfrm>
          <a:prstGeom prst="rect">
            <a:avLst/>
          </a:prstGeom>
          <a:noFill/>
          <a:ln/>
        </p:spPr>
        <p:txBody>
          <a:bodyPr wrap="square" lIns="0" tIns="0" rIns="0" bIns="0" rtlCol="0" anchor="ctr">
            <a:normAutofit/>
          </a:bodyPr>
          <a:lstStyle/>
          <a:p>
            <a:pPr marL="0" indent="0" algn="l">
              <a:buNone/>
            </a:pPr>
            <a:r>
              <a:rPr lang="en-US" sz="1050" i="1">
                <a:solidFill>
                  <a:srgbClr val="5A6480"/>
                </a:solidFill>
                <a:latin typeface="Calibri" pitchFamily="34" charset="0"/>
                <a:ea typeface="Calibri" pitchFamily="34" charset="-122"/>
                <a:cs typeface="Calibri" pitchFamily="34" charset="-120"/>
              </a:rPr>
              <a:t>Blended annual contract value: EUR 400K</a:t>
            </a:r>
          </a:p>
        </p:txBody>
      </p:sp>
      <p:sp>
        <p:nvSpPr>
          <p:cNvPr id="37" name="Band"/>
          <p:cNvSpPr/>
          <p:nvPr/>
        </p:nvSpPr>
        <p:spPr>
          <a:xfrm>
            <a:off x="548640" y="5029200"/>
            <a:ext cx="10607040" cy="960120"/>
          </a:xfrm>
          <a:prstGeom prst="roundRect">
            <a:avLst>
              <a:gd name="adj" fmla="val 12000"/>
            </a:avLst>
          </a:prstGeom>
          <a:solidFill>
            <a:srgbClr val="00246B"/>
          </a:solidFill>
          <a:ln/>
        </p:spPr>
        <p:txBody>
          <a:bodyPr/>
          <a:lstStyle/>
          <a:p>
            <a:endParaRPr lang="en-US"/>
          </a:p>
        </p:txBody>
      </p:sp>
      <p:sp>
        <p:nvSpPr>
          <p:cNvPr id="38" name="BandK"/>
          <p:cNvSpPr/>
          <p:nvPr/>
        </p:nvSpPr>
        <p:spPr>
          <a:xfrm>
            <a:off x="914400" y="5193792"/>
            <a:ext cx="2743200" cy="237744"/>
          </a:xfrm>
          <a:prstGeom prst="rect">
            <a:avLst/>
          </a:prstGeom>
          <a:noFill/>
          <a:ln/>
        </p:spPr>
        <p:txBody>
          <a:bodyPr wrap="square" lIns="0" tIns="0" rIns="0" bIns="0" rtlCol="0" anchor="ctr">
            <a:normAutofit/>
          </a:bodyPr>
          <a:lstStyle/>
          <a:p>
            <a:pPr marL="0" indent="0" algn="l">
              <a:buNone/>
            </a:pPr>
            <a:r>
              <a:rPr lang="en-US" sz="900" b="1" kern="0" spc="180">
                <a:solidFill>
                  <a:srgbClr val="FFCC00"/>
                </a:solidFill>
                <a:latin typeface="Calibri" pitchFamily="34" charset="0"/>
                <a:ea typeface="Calibri" pitchFamily="34" charset="-122"/>
                <a:cs typeface="Calibri" pitchFamily="34" charset="-120"/>
              </a:rPr>
              <a:t>TARGET SHARE BY 2030</a:t>
            </a:r>
          </a:p>
        </p:txBody>
      </p:sp>
      <p:sp>
        <p:nvSpPr>
          <p:cNvPr id="39" name="BandV"/>
          <p:cNvSpPr/>
          <p:nvPr/>
        </p:nvSpPr>
        <p:spPr>
          <a:xfrm>
            <a:off x="914400" y="5440680"/>
            <a:ext cx="2743200" cy="457200"/>
          </a:xfrm>
          <a:prstGeom prst="rect">
            <a:avLst/>
          </a:prstGeom>
          <a:noFill/>
          <a:ln/>
        </p:spPr>
        <p:txBody>
          <a:bodyPr wrap="square" lIns="0" tIns="0" rIns="0" bIns="0" rtlCol="0" anchor="ctr">
            <a:normAutofit/>
          </a:bodyPr>
          <a:lstStyle/>
          <a:p>
            <a:pPr marL="0" indent="0" algn="l">
              <a:buNone/>
            </a:pPr>
            <a:r>
              <a:rPr lang="en-US" sz="2600" b="1">
                <a:solidFill>
                  <a:srgbClr val="FFFFFF"/>
                </a:solidFill>
                <a:latin typeface="Cambria" pitchFamily="34" charset="0"/>
                <a:ea typeface="Cambria" pitchFamily="34" charset="-122"/>
                <a:cs typeface="Cambria" pitchFamily="34" charset="-120"/>
              </a:rPr>
              <a:t>EUR 530M</a:t>
            </a:r>
          </a:p>
        </p:txBody>
      </p:sp>
      <p:sp>
        <p:nvSpPr>
          <p:cNvPr id="40" name="BandR"/>
          <p:cNvSpPr/>
          <p:nvPr/>
        </p:nvSpPr>
        <p:spPr>
          <a:xfrm>
            <a:off x="3977640" y="5230368"/>
            <a:ext cx="27432" cy="548640"/>
          </a:xfrm>
          <a:prstGeom prst="rect">
            <a:avLst/>
          </a:prstGeom>
          <a:solidFill>
            <a:srgbClr val="3A5A9E"/>
          </a:solidFill>
          <a:ln/>
        </p:spPr>
        <p:txBody>
          <a:bodyPr/>
          <a:lstStyle/>
          <a:p>
            <a:endParaRPr lang="en-US"/>
          </a:p>
        </p:txBody>
      </p:sp>
      <p:sp>
        <p:nvSpPr>
          <p:cNvPr id="41" name="BandT"/>
          <p:cNvSpPr/>
          <p:nvPr/>
        </p:nvSpPr>
        <p:spPr>
          <a:xfrm>
            <a:off x="4343400" y="5212080"/>
            <a:ext cx="6492240" cy="320040"/>
          </a:xfrm>
          <a:prstGeom prst="rect">
            <a:avLst/>
          </a:prstGeom>
          <a:noFill/>
          <a:ln/>
        </p:spPr>
        <p:txBody>
          <a:bodyPr wrap="square" lIns="0" tIns="0" rIns="0" bIns="0" rtlCol="0" anchor="t">
            <a:normAutofit/>
          </a:bodyPr>
          <a:lstStyle/>
          <a:p>
            <a:pPr marL="0" indent="0" algn="l">
              <a:buNone/>
            </a:pPr>
            <a:r>
              <a:rPr lang="en-US" sz="1100">
                <a:solidFill>
                  <a:srgbClr val="FFFFFF"/>
                </a:solidFill>
                <a:latin typeface="Calibri" pitchFamily="34" charset="0"/>
                <a:ea typeface="Calibri" pitchFamily="34" charset="-122"/>
                <a:cs typeface="Calibri" pitchFamily="34" charset="-120"/>
              </a:rPr>
              <a:t>Annual revenue at 12% share of serviceable spend, or roughly 1,300 accounts at blended contract value.</a:t>
            </a:r>
          </a:p>
        </p:txBody>
      </p:sp>
      <p:sp>
        <p:nvSpPr>
          <p:cNvPr id="42" name="BandT2"/>
          <p:cNvSpPr/>
          <p:nvPr/>
        </p:nvSpPr>
        <p:spPr>
          <a:xfrm>
            <a:off x="4343400" y="5596128"/>
            <a:ext cx="6492240" cy="274320"/>
          </a:xfrm>
          <a:prstGeom prst="rect">
            <a:avLst/>
          </a:prstGeom>
          <a:noFill/>
          <a:ln/>
        </p:spPr>
        <p:txBody>
          <a:bodyPr wrap="square" lIns="0" tIns="0" rIns="0" bIns="0" rtlCol="0" anchor="t">
            <a:normAutofit/>
          </a:bodyPr>
          <a:lstStyle/>
          <a:p>
            <a:pPr marL="0" indent="0" algn="l">
              <a:buNone/>
            </a:pPr>
            <a:r>
              <a:rPr lang="en-US" sz="1000" i="1">
                <a:solidFill>
                  <a:srgbClr val="D9E1F5"/>
                </a:solidFill>
                <a:latin typeface="Calibri" pitchFamily="34" charset="0"/>
                <a:ea typeface="Calibri" pitchFamily="34" charset="-122"/>
                <a:cs typeface="Calibri" pitchFamily="34" charset="-120"/>
              </a:rPr>
              <a:t>Reconciles to top-down: EUR 4.4B is 20% of the EU share of the 2030 forecast.</a:t>
            </a:r>
          </a:p>
        </p:txBody>
      </p:sp>
      <p:sp>
        <p:nvSpPr>
          <p:cNvPr id="43" name="Text 39"/>
          <p:cNvSpPr/>
          <p:nvPr/>
        </p:nvSpPr>
        <p:spPr>
          <a:xfrm>
            <a:off x="548640" y="6263640"/>
            <a:ext cx="7315200" cy="274320"/>
          </a:xfrm>
          <a:prstGeom prst="rect">
            <a:avLst/>
          </a:prstGeom>
          <a:noFill/>
          <a:ln/>
        </p:spPr>
        <p:txBody>
          <a:bodyPr wrap="square" lIns="0" tIns="0" rIns="0" bIns="0" rtlCol="0" anchor="ctr"/>
          <a:lstStyle/>
          <a:p>
            <a:pPr marL="0" indent="0">
              <a:buNone/>
            </a:pPr>
            <a:r>
              <a:rPr lang="en-US" sz="950">
                <a:solidFill>
                  <a:srgbClr val="5A6480"/>
                </a:solidFill>
                <a:latin typeface="Calibri" pitchFamily="34" charset="0"/>
                <a:ea typeface="Calibri" pitchFamily="34" charset="-122"/>
                <a:cs typeface="Calibri" pitchFamily="34" charset="-120"/>
              </a:rPr>
              <a:t>Mistral AI  |  Company thesis and European AI stack</a:t>
            </a:r>
            <a:endParaRPr lang="en-US" sz="950"/>
          </a:p>
        </p:txBody>
      </p:sp>
      <p:sp>
        <p:nvSpPr>
          <p:cNvPr id="44" name="Text 40"/>
          <p:cNvSpPr/>
          <p:nvPr/>
        </p:nvSpPr>
        <p:spPr>
          <a:xfrm>
            <a:off x="10241280" y="6263640"/>
            <a:ext cx="1371600" cy="274320"/>
          </a:xfrm>
          <a:prstGeom prst="rect">
            <a:avLst/>
          </a:prstGeom>
          <a:noFill/>
          <a:ln/>
        </p:spPr>
        <p:txBody>
          <a:bodyPr wrap="square" lIns="0" tIns="0" rIns="0" bIns="0" rtlCol="0" anchor="ctr"/>
          <a:lstStyle/>
          <a:p>
            <a:pPr marL="0" indent="0" algn="r">
              <a:buNone/>
            </a:pPr>
            <a:r>
              <a:rPr lang="en-US" sz="950">
                <a:solidFill>
                  <a:srgbClr val="5A6480"/>
                </a:solidFill>
                <a:latin typeface="Calibri" pitchFamily="34" charset="0"/>
                <a:ea typeface="Calibri" pitchFamily="34" charset="-122"/>
                <a:cs typeface="Calibri" pitchFamily="34" charset="-120"/>
              </a:rPr>
              <a:t>4 / 6</a:t>
            </a:r>
            <a:endParaRPr lang="en-US" sz="9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75488"/>
            <a:ext cx="457200" cy="457200"/>
          </a:xfrm>
          <a:prstGeom prst="ellipse">
            <a:avLst/>
          </a:prstGeom>
          <a:solidFill>
            <a:srgbClr val="003399"/>
          </a:solidFill>
          <a:ln w="12700">
            <a:solidFill>
              <a:srgbClr val="333333"/>
            </a:solidFill>
            <a:prstDash val="solid"/>
          </a:ln>
        </p:spPr>
        <p:txBody>
          <a:bodyPr/>
          <a:lstStyle/>
          <a:p>
            <a:endParaRPr lang="en-US"/>
          </a:p>
        </p:txBody>
      </p:sp>
      <p:sp>
        <p:nvSpPr>
          <p:cNvPr id="3" name="Text 1"/>
          <p:cNvSpPr/>
          <p:nvPr/>
        </p:nvSpPr>
        <p:spPr>
          <a:xfrm>
            <a:off x="548640" y="475488"/>
            <a:ext cx="457200" cy="457200"/>
          </a:xfrm>
          <a:prstGeom prst="rect">
            <a:avLst/>
          </a:prstGeom>
          <a:noFill/>
          <a:ln/>
        </p:spPr>
        <p:txBody>
          <a:bodyPr wrap="square" lIns="0" tIns="0" rIns="0" bIns="0" rtlCol="0" anchor="ctr"/>
          <a:lstStyle/>
          <a:p>
            <a:pPr marL="0" indent="0" algn="ctr">
              <a:buNone/>
            </a:pPr>
            <a:r>
              <a:rPr lang="en-US" sz="1300" b="1">
                <a:solidFill>
                  <a:srgbClr val="FFCC00"/>
                </a:solidFill>
                <a:latin typeface="Calibri" pitchFamily="34" charset="0"/>
                <a:ea typeface="Calibri" pitchFamily="34" charset="-122"/>
                <a:cs typeface="Calibri" pitchFamily="34" charset="-120"/>
              </a:rPr>
              <a:t>04</a:t>
            </a:r>
            <a:endParaRPr lang="en-US" sz="1300"/>
          </a:p>
        </p:txBody>
      </p:sp>
      <p:sp>
        <p:nvSpPr>
          <p:cNvPr id="4" name="Text 2"/>
          <p:cNvSpPr/>
          <p:nvPr/>
        </p:nvSpPr>
        <p:spPr>
          <a:xfrm>
            <a:off x="1143000" y="502920"/>
            <a:ext cx="7315200" cy="256032"/>
          </a:xfrm>
          <a:prstGeom prst="rect">
            <a:avLst/>
          </a:prstGeom>
          <a:noFill/>
          <a:ln/>
        </p:spPr>
        <p:txBody>
          <a:bodyPr wrap="square" lIns="0" tIns="0" rIns="0" bIns="0" rtlCol="0" anchor="ctr"/>
          <a:lstStyle/>
          <a:p>
            <a:pPr marL="0" indent="0">
              <a:buNone/>
            </a:pPr>
            <a:r>
              <a:rPr lang="en-US" sz="1100" b="1" kern="0" spc="200">
                <a:solidFill>
                  <a:srgbClr val="003399"/>
                </a:solidFill>
                <a:latin typeface="Calibri" pitchFamily="34" charset="0"/>
                <a:ea typeface="Calibri" pitchFamily="34" charset="-122"/>
                <a:cs typeface="Calibri" pitchFamily="34" charset="-120"/>
              </a:rPr>
              <a:t>OPERATING MODEL AND POLICY</a:t>
            </a:r>
            <a:endParaRPr lang="en-US" sz="1100"/>
          </a:p>
        </p:txBody>
      </p:sp>
      <p:sp>
        <p:nvSpPr>
          <p:cNvPr id="5" name="Text 3"/>
          <p:cNvSpPr/>
          <p:nvPr/>
        </p:nvSpPr>
        <p:spPr>
          <a:xfrm>
            <a:off x="1133856" y="749808"/>
            <a:ext cx="9601200" cy="566928"/>
          </a:xfrm>
          <a:prstGeom prst="rect">
            <a:avLst/>
          </a:prstGeom>
          <a:noFill/>
          <a:ln/>
        </p:spPr>
        <p:txBody>
          <a:bodyPr wrap="square" lIns="0" tIns="0" rIns="0" bIns="0" rtlCol="0" anchor="ctr"/>
          <a:lstStyle/>
          <a:p>
            <a:pPr marL="0" indent="0">
              <a:buNone/>
            </a:pPr>
            <a:r>
              <a:rPr lang="en-US" sz="3200" b="1">
                <a:solidFill>
                  <a:srgbClr val="111A33"/>
                </a:solidFill>
                <a:latin typeface="Cambria" pitchFamily="34" charset="0"/>
                <a:ea typeface="Cambria" pitchFamily="34" charset="-122"/>
                <a:cs typeface="Cambria" pitchFamily="34" charset="-120"/>
              </a:rPr>
              <a:t>The flywheel turns; four levers compress it</a:t>
            </a:r>
            <a:endParaRPr lang="en-US" sz="3200"/>
          </a:p>
        </p:txBody>
      </p:sp>
      <p:sp>
        <p:nvSpPr>
          <p:cNvPr id="6" name="Text 4"/>
          <p:cNvSpPr/>
          <p:nvPr/>
        </p:nvSpPr>
        <p:spPr>
          <a:xfrm>
            <a:off x="1152144" y="1389888"/>
            <a:ext cx="9509760" cy="365760"/>
          </a:xfrm>
          <a:prstGeom prst="rect">
            <a:avLst/>
          </a:prstGeom>
          <a:noFill/>
          <a:ln/>
        </p:spPr>
        <p:txBody>
          <a:bodyPr wrap="square" lIns="0" tIns="0" rIns="0" bIns="0" rtlCol="0" anchor="ctr"/>
          <a:lstStyle/>
          <a:p>
            <a:pPr marL="0" indent="0">
              <a:buNone/>
            </a:pPr>
            <a:r>
              <a:rPr lang="en-US" sz="1450" i="1">
                <a:solidFill>
                  <a:srgbClr val="5A6480"/>
                </a:solidFill>
                <a:latin typeface="Calibri" pitchFamily="34" charset="0"/>
                <a:ea typeface="Calibri" pitchFamily="34" charset="-122"/>
                <a:cs typeface="Calibri" pitchFamily="34" charset="-120"/>
              </a:rPr>
              <a:t>Company execution proves the wedge; policy is the go-to-market infrastructure around every turn of the loop.</a:t>
            </a:r>
            <a:endParaRPr lang="en-US" sz="1450"/>
          </a:p>
        </p:txBody>
      </p:sp>
      <p:sp>
        <p:nvSpPr>
          <p:cNvPr id="7" name="CapL"/>
          <p:cNvSpPr/>
          <p:nvPr/>
        </p:nvSpPr>
        <p:spPr>
          <a:xfrm>
            <a:off x="548640" y="1719072"/>
            <a:ext cx="4023360" cy="237744"/>
          </a:xfrm>
          <a:prstGeom prst="rect">
            <a:avLst/>
          </a:prstGeom>
          <a:noFill/>
          <a:ln/>
        </p:spPr>
        <p:txBody>
          <a:bodyPr wrap="square" lIns="0" tIns="0" rIns="0" bIns="0" rtlCol="0" anchor="ctr">
            <a:normAutofit/>
          </a:bodyPr>
          <a:lstStyle/>
          <a:p>
            <a:pPr marL="0" indent="0" algn="l">
              <a:buNone/>
            </a:pPr>
            <a:r>
              <a:rPr lang="en-US" sz="900" b="1" kern="0" spc="180">
                <a:solidFill>
                  <a:srgbClr val="5A6480"/>
                </a:solidFill>
                <a:latin typeface="Calibri" pitchFamily="34" charset="0"/>
                <a:ea typeface="Calibri" pitchFamily="34" charset="-122"/>
                <a:cs typeface="Calibri" pitchFamily="34" charset="-120"/>
              </a:rPr>
              <a:t>THE OPERATING LOOP</a:t>
            </a:r>
          </a:p>
        </p:txBody>
      </p:sp>
      <p:sp>
        <p:nvSpPr>
          <p:cNvPr id="8" name="Ring"/>
          <p:cNvSpPr/>
          <p:nvPr/>
        </p:nvSpPr>
        <p:spPr>
          <a:xfrm>
            <a:off x="1600200" y="2514600"/>
            <a:ext cx="2468880" cy="2468880"/>
          </a:xfrm>
          <a:prstGeom prst="ellipse">
            <a:avLst/>
          </a:prstGeom>
          <a:noFill/>
          <a:ln w="22225">
            <a:solidFill>
              <a:srgbClr val="D6DEEF"/>
            </a:solidFill>
            <a:prstDash val="solid"/>
          </a:ln>
        </p:spPr>
        <p:txBody>
          <a:bodyPr/>
          <a:lstStyle/>
          <a:p>
            <a:endParaRPr lang="en-US"/>
          </a:p>
        </p:txBody>
      </p:sp>
      <p:sp>
        <p:nvSpPr>
          <p:cNvPr id="9" name="Node0"/>
          <p:cNvSpPr/>
          <p:nvPr/>
        </p:nvSpPr>
        <p:spPr>
          <a:xfrm>
            <a:off x="2606040" y="2286000"/>
            <a:ext cx="457200" cy="457200"/>
          </a:xfrm>
          <a:prstGeom prst="ellipse">
            <a:avLst/>
          </a:prstGeom>
          <a:solidFill>
            <a:srgbClr val="003399"/>
          </a:solidFill>
          <a:ln/>
        </p:spPr>
        <p:txBody>
          <a:bodyPr/>
          <a:lstStyle/>
          <a:p>
            <a:endParaRPr lang="en-US"/>
          </a:p>
        </p:txBody>
      </p:sp>
      <p:sp>
        <p:nvSpPr>
          <p:cNvPr id="10" name="NodeNum0"/>
          <p:cNvSpPr/>
          <p:nvPr/>
        </p:nvSpPr>
        <p:spPr>
          <a:xfrm>
            <a:off x="2606040" y="2286000"/>
            <a:ext cx="457200" cy="457200"/>
          </a:xfrm>
          <a:prstGeom prst="rect">
            <a:avLst/>
          </a:prstGeom>
          <a:noFill/>
          <a:ln/>
        </p:spPr>
        <p:txBody>
          <a:bodyPr wrap="square" lIns="0" tIns="0" rIns="0" bIns="0" rtlCol="0" anchor="ctr">
            <a:normAutofit/>
          </a:bodyPr>
          <a:lstStyle/>
          <a:p>
            <a:pPr marL="0" indent="0" algn="ctr">
              <a:buNone/>
            </a:pPr>
            <a:r>
              <a:rPr lang="en-US" sz="1050" b="1">
                <a:solidFill>
                  <a:srgbClr val="FFCC00"/>
                </a:solidFill>
                <a:latin typeface="Calibri" pitchFamily="34" charset="0"/>
                <a:ea typeface="Calibri" pitchFamily="34" charset="-122"/>
                <a:cs typeface="Calibri" pitchFamily="34" charset="-120"/>
              </a:rPr>
              <a:t>1</a:t>
            </a:r>
          </a:p>
        </p:txBody>
      </p:sp>
      <p:sp>
        <p:nvSpPr>
          <p:cNvPr id="11" name="NodeLab0"/>
          <p:cNvSpPr/>
          <p:nvPr/>
        </p:nvSpPr>
        <p:spPr>
          <a:xfrm>
            <a:off x="2194560" y="1883664"/>
            <a:ext cx="1280160" cy="256032"/>
          </a:xfrm>
          <a:prstGeom prst="rect">
            <a:avLst/>
          </a:prstGeom>
          <a:noFill/>
          <a:ln/>
        </p:spPr>
        <p:txBody>
          <a:bodyPr wrap="square" lIns="0" tIns="0" rIns="0" bIns="0" rtlCol="0" anchor="ctr">
            <a:normAutofit/>
          </a:bodyPr>
          <a:lstStyle/>
          <a:p>
            <a:pPr marL="0" indent="0" algn="ctr">
              <a:buNone/>
            </a:pPr>
            <a:r>
              <a:rPr lang="en-US" sz="1100" b="1">
                <a:solidFill>
                  <a:srgbClr val="111A33"/>
                </a:solidFill>
                <a:latin typeface="Cambria" pitchFamily="34" charset="0"/>
                <a:ea typeface="Cambria" pitchFamily="34" charset="-122"/>
                <a:cs typeface="Cambria" pitchFamily="34" charset="-120"/>
              </a:rPr>
              <a:t>Talent</a:t>
            </a:r>
          </a:p>
        </p:txBody>
      </p:sp>
      <p:sp>
        <p:nvSpPr>
          <p:cNvPr id="12" name="Arrow0"/>
          <p:cNvSpPr/>
          <p:nvPr/>
        </p:nvSpPr>
        <p:spPr>
          <a:xfrm rot="7560000">
            <a:off x="3459642" y="2649773"/>
            <a:ext cx="201168" cy="201168"/>
          </a:xfrm>
          <a:prstGeom prst="triangle">
            <a:avLst/>
          </a:prstGeom>
          <a:solidFill>
            <a:srgbClr val="FFCC00"/>
          </a:solidFill>
          <a:ln/>
        </p:spPr>
        <p:txBody>
          <a:bodyPr/>
          <a:lstStyle/>
          <a:p>
            <a:endParaRPr lang="en-US"/>
          </a:p>
        </p:txBody>
      </p:sp>
      <p:sp>
        <p:nvSpPr>
          <p:cNvPr id="13" name="Node1"/>
          <p:cNvSpPr/>
          <p:nvPr/>
        </p:nvSpPr>
        <p:spPr>
          <a:xfrm>
            <a:off x="3780062" y="3138977"/>
            <a:ext cx="457200" cy="457200"/>
          </a:xfrm>
          <a:prstGeom prst="ellipse">
            <a:avLst/>
          </a:prstGeom>
          <a:solidFill>
            <a:srgbClr val="003399"/>
          </a:solidFill>
          <a:ln/>
        </p:spPr>
        <p:txBody>
          <a:bodyPr/>
          <a:lstStyle/>
          <a:p>
            <a:endParaRPr lang="en-US"/>
          </a:p>
        </p:txBody>
      </p:sp>
      <p:sp>
        <p:nvSpPr>
          <p:cNvPr id="14" name="NodeNum1"/>
          <p:cNvSpPr/>
          <p:nvPr/>
        </p:nvSpPr>
        <p:spPr>
          <a:xfrm>
            <a:off x="3780062" y="3138977"/>
            <a:ext cx="457200" cy="457200"/>
          </a:xfrm>
          <a:prstGeom prst="rect">
            <a:avLst/>
          </a:prstGeom>
          <a:noFill/>
          <a:ln/>
        </p:spPr>
        <p:txBody>
          <a:bodyPr wrap="square" lIns="0" tIns="0" rIns="0" bIns="0" rtlCol="0" anchor="ctr">
            <a:normAutofit/>
          </a:bodyPr>
          <a:lstStyle/>
          <a:p>
            <a:pPr marL="0" indent="0" algn="ctr">
              <a:buNone/>
            </a:pPr>
            <a:r>
              <a:rPr lang="en-US" sz="1050" b="1">
                <a:solidFill>
                  <a:srgbClr val="FFCC00"/>
                </a:solidFill>
                <a:latin typeface="Calibri" pitchFamily="34" charset="0"/>
                <a:ea typeface="Calibri" pitchFamily="34" charset="-122"/>
                <a:cs typeface="Calibri" pitchFamily="34" charset="-120"/>
              </a:rPr>
              <a:t>2</a:t>
            </a:r>
          </a:p>
        </p:txBody>
      </p:sp>
      <p:sp>
        <p:nvSpPr>
          <p:cNvPr id="15" name="NodeLab1"/>
          <p:cNvSpPr/>
          <p:nvPr/>
        </p:nvSpPr>
        <p:spPr>
          <a:xfrm>
            <a:off x="4349808" y="3084150"/>
            <a:ext cx="1280160" cy="256032"/>
          </a:xfrm>
          <a:prstGeom prst="rect">
            <a:avLst/>
          </a:prstGeom>
          <a:noFill/>
          <a:ln/>
        </p:spPr>
        <p:txBody>
          <a:bodyPr wrap="square" lIns="0" tIns="0" rIns="0" bIns="0" rtlCol="0" anchor="ctr">
            <a:normAutofit/>
          </a:bodyPr>
          <a:lstStyle/>
          <a:p>
            <a:pPr marL="0" indent="0" algn="ctr">
              <a:buNone/>
            </a:pPr>
            <a:r>
              <a:rPr lang="en-US" sz="1100" b="1">
                <a:solidFill>
                  <a:srgbClr val="111A33"/>
                </a:solidFill>
                <a:latin typeface="Cambria" pitchFamily="34" charset="0"/>
                <a:ea typeface="Cambria" pitchFamily="34" charset="-122"/>
                <a:cs typeface="Cambria" pitchFamily="34" charset="-120"/>
              </a:rPr>
              <a:t>Compute</a:t>
            </a:r>
          </a:p>
        </p:txBody>
      </p:sp>
      <p:sp>
        <p:nvSpPr>
          <p:cNvPr id="16" name="Arrow1"/>
          <p:cNvSpPr/>
          <p:nvPr/>
        </p:nvSpPr>
        <p:spPr>
          <a:xfrm rot="11880000">
            <a:off x="3908078" y="4029919"/>
            <a:ext cx="201168" cy="201168"/>
          </a:xfrm>
          <a:prstGeom prst="triangle">
            <a:avLst/>
          </a:prstGeom>
          <a:solidFill>
            <a:srgbClr val="FFCC00"/>
          </a:solidFill>
          <a:ln/>
        </p:spPr>
        <p:txBody>
          <a:bodyPr/>
          <a:lstStyle/>
          <a:p>
            <a:endParaRPr lang="en-US"/>
          </a:p>
        </p:txBody>
      </p:sp>
      <p:sp>
        <p:nvSpPr>
          <p:cNvPr id="17" name="Node2"/>
          <p:cNvSpPr/>
          <p:nvPr/>
        </p:nvSpPr>
        <p:spPr>
          <a:xfrm>
            <a:off x="3331626" y="4519123"/>
            <a:ext cx="457200" cy="457200"/>
          </a:xfrm>
          <a:prstGeom prst="ellipse">
            <a:avLst/>
          </a:prstGeom>
          <a:solidFill>
            <a:srgbClr val="003399"/>
          </a:solidFill>
          <a:ln/>
        </p:spPr>
        <p:txBody>
          <a:bodyPr/>
          <a:lstStyle/>
          <a:p>
            <a:endParaRPr lang="en-US"/>
          </a:p>
        </p:txBody>
      </p:sp>
      <p:sp>
        <p:nvSpPr>
          <p:cNvPr id="18" name="NodeNum2"/>
          <p:cNvSpPr/>
          <p:nvPr/>
        </p:nvSpPr>
        <p:spPr>
          <a:xfrm>
            <a:off x="3331626" y="4519123"/>
            <a:ext cx="457200" cy="457200"/>
          </a:xfrm>
          <a:prstGeom prst="rect">
            <a:avLst/>
          </a:prstGeom>
          <a:noFill/>
          <a:ln/>
        </p:spPr>
        <p:txBody>
          <a:bodyPr wrap="square" lIns="0" tIns="0" rIns="0" bIns="0" rtlCol="0" anchor="ctr">
            <a:normAutofit/>
          </a:bodyPr>
          <a:lstStyle/>
          <a:p>
            <a:pPr marL="0" indent="0" algn="ctr">
              <a:buNone/>
            </a:pPr>
            <a:r>
              <a:rPr lang="en-US" sz="1050" b="1">
                <a:solidFill>
                  <a:srgbClr val="FFCC00"/>
                </a:solidFill>
                <a:latin typeface="Calibri" pitchFamily="34" charset="0"/>
                <a:ea typeface="Calibri" pitchFamily="34" charset="-122"/>
                <a:cs typeface="Calibri" pitchFamily="34" charset="-120"/>
              </a:rPr>
              <a:t>3</a:t>
            </a:r>
          </a:p>
        </p:txBody>
      </p:sp>
      <p:sp>
        <p:nvSpPr>
          <p:cNvPr id="19" name="NodeLab2"/>
          <p:cNvSpPr/>
          <p:nvPr/>
        </p:nvSpPr>
        <p:spPr>
          <a:xfrm>
            <a:off x="3215755" y="5026578"/>
            <a:ext cx="1280160" cy="256032"/>
          </a:xfrm>
          <a:prstGeom prst="rect">
            <a:avLst/>
          </a:prstGeom>
          <a:noFill/>
          <a:ln/>
        </p:spPr>
        <p:txBody>
          <a:bodyPr wrap="square" lIns="0" tIns="0" rIns="0" bIns="0" rtlCol="0" anchor="ctr">
            <a:normAutofit/>
          </a:bodyPr>
          <a:lstStyle/>
          <a:p>
            <a:pPr marL="0" indent="0" algn="ctr">
              <a:buNone/>
            </a:pPr>
            <a:r>
              <a:rPr lang="en-US" sz="1100" b="1">
                <a:solidFill>
                  <a:srgbClr val="111A33"/>
                </a:solidFill>
                <a:latin typeface="Cambria" pitchFamily="34" charset="0"/>
                <a:ea typeface="Cambria" pitchFamily="34" charset="-122"/>
                <a:cs typeface="Cambria" pitchFamily="34" charset="-120"/>
              </a:rPr>
              <a:t>Models</a:t>
            </a:r>
          </a:p>
        </p:txBody>
      </p:sp>
      <p:sp>
        <p:nvSpPr>
          <p:cNvPr id="20" name="Arrow2"/>
          <p:cNvSpPr/>
          <p:nvPr/>
        </p:nvSpPr>
        <p:spPr>
          <a:xfrm rot="16200000">
            <a:off x="2734056" y="4882896"/>
            <a:ext cx="201168" cy="201168"/>
          </a:xfrm>
          <a:prstGeom prst="triangle">
            <a:avLst/>
          </a:prstGeom>
          <a:solidFill>
            <a:srgbClr val="FFCC00"/>
          </a:solidFill>
          <a:ln/>
        </p:spPr>
        <p:txBody>
          <a:bodyPr/>
          <a:lstStyle/>
          <a:p>
            <a:endParaRPr lang="en-US"/>
          </a:p>
        </p:txBody>
      </p:sp>
      <p:sp>
        <p:nvSpPr>
          <p:cNvPr id="21" name="Node3"/>
          <p:cNvSpPr/>
          <p:nvPr/>
        </p:nvSpPr>
        <p:spPr>
          <a:xfrm>
            <a:off x="1880454" y="4519123"/>
            <a:ext cx="457200" cy="457200"/>
          </a:xfrm>
          <a:prstGeom prst="ellipse">
            <a:avLst/>
          </a:prstGeom>
          <a:solidFill>
            <a:srgbClr val="003399"/>
          </a:solidFill>
          <a:ln/>
        </p:spPr>
        <p:txBody>
          <a:bodyPr/>
          <a:lstStyle/>
          <a:p>
            <a:endParaRPr lang="en-US"/>
          </a:p>
        </p:txBody>
      </p:sp>
      <p:sp>
        <p:nvSpPr>
          <p:cNvPr id="22" name="NodeNum3"/>
          <p:cNvSpPr/>
          <p:nvPr/>
        </p:nvSpPr>
        <p:spPr>
          <a:xfrm>
            <a:off x="1880454" y="4519123"/>
            <a:ext cx="457200" cy="457200"/>
          </a:xfrm>
          <a:prstGeom prst="rect">
            <a:avLst/>
          </a:prstGeom>
          <a:noFill/>
          <a:ln/>
        </p:spPr>
        <p:txBody>
          <a:bodyPr wrap="square" lIns="0" tIns="0" rIns="0" bIns="0" rtlCol="0" anchor="ctr">
            <a:normAutofit/>
          </a:bodyPr>
          <a:lstStyle/>
          <a:p>
            <a:pPr marL="0" indent="0" algn="ctr">
              <a:buNone/>
            </a:pPr>
            <a:r>
              <a:rPr lang="en-US" sz="1050" b="1">
                <a:solidFill>
                  <a:srgbClr val="FFCC00"/>
                </a:solidFill>
                <a:latin typeface="Calibri" pitchFamily="34" charset="0"/>
                <a:ea typeface="Calibri" pitchFamily="34" charset="-122"/>
                <a:cs typeface="Calibri" pitchFamily="34" charset="-120"/>
              </a:rPr>
              <a:t>4</a:t>
            </a:r>
          </a:p>
        </p:txBody>
      </p:sp>
      <p:sp>
        <p:nvSpPr>
          <p:cNvPr id="23" name="NodeLab3"/>
          <p:cNvSpPr/>
          <p:nvPr/>
        </p:nvSpPr>
        <p:spPr>
          <a:xfrm>
            <a:off x="1173365" y="5026578"/>
            <a:ext cx="1280160" cy="256032"/>
          </a:xfrm>
          <a:prstGeom prst="rect">
            <a:avLst/>
          </a:prstGeom>
          <a:noFill/>
          <a:ln/>
        </p:spPr>
        <p:txBody>
          <a:bodyPr wrap="square" lIns="0" tIns="0" rIns="0" bIns="0" rtlCol="0" anchor="ctr">
            <a:normAutofit/>
          </a:bodyPr>
          <a:lstStyle/>
          <a:p>
            <a:pPr marL="0" indent="0" algn="ctr">
              <a:buNone/>
            </a:pPr>
            <a:r>
              <a:rPr lang="en-US" sz="1100" b="1">
                <a:solidFill>
                  <a:srgbClr val="111A33"/>
                </a:solidFill>
                <a:latin typeface="Cambria" pitchFamily="34" charset="0"/>
                <a:ea typeface="Cambria" pitchFamily="34" charset="-122"/>
                <a:cs typeface="Cambria" pitchFamily="34" charset="-120"/>
              </a:rPr>
              <a:t>Adoption</a:t>
            </a:r>
          </a:p>
        </p:txBody>
      </p:sp>
      <p:sp>
        <p:nvSpPr>
          <p:cNvPr id="24" name="Arrow3"/>
          <p:cNvSpPr/>
          <p:nvPr/>
        </p:nvSpPr>
        <p:spPr>
          <a:xfrm rot="20520000">
            <a:off x="1560034" y="4029919"/>
            <a:ext cx="201168" cy="201168"/>
          </a:xfrm>
          <a:prstGeom prst="triangle">
            <a:avLst/>
          </a:prstGeom>
          <a:solidFill>
            <a:srgbClr val="FFCC00"/>
          </a:solidFill>
          <a:ln/>
        </p:spPr>
        <p:txBody>
          <a:bodyPr/>
          <a:lstStyle/>
          <a:p>
            <a:endParaRPr lang="en-US"/>
          </a:p>
        </p:txBody>
      </p:sp>
      <p:sp>
        <p:nvSpPr>
          <p:cNvPr id="25" name="Node4"/>
          <p:cNvSpPr/>
          <p:nvPr/>
        </p:nvSpPr>
        <p:spPr>
          <a:xfrm>
            <a:off x="1432018" y="3138977"/>
            <a:ext cx="457200" cy="457200"/>
          </a:xfrm>
          <a:prstGeom prst="ellipse">
            <a:avLst/>
          </a:prstGeom>
          <a:solidFill>
            <a:srgbClr val="003399"/>
          </a:solidFill>
          <a:ln/>
        </p:spPr>
        <p:txBody>
          <a:bodyPr/>
          <a:lstStyle/>
          <a:p>
            <a:endParaRPr lang="en-US"/>
          </a:p>
        </p:txBody>
      </p:sp>
      <p:sp>
        <p:nvSpPr>
          <p:cNvPr id="26" name="NodeNum4"/>
          <p:cNvSpPr/>
          <p:nvPr/>
        </p:nvSpPr>
        <p:spPr>
          <a:xfrm>
            <a:off x="1432018" y="3138977"/>
            <a:ext cx="457200" cy="457200"/>
          </a:xfrm>
          <a:prstGeom prst="rect">
            <a:avLst/>
          </a:prstGeom>
          <a:noFill/>
          <a:ln/>
        </p:spPr>
        <p:txBody>
          <a:bodyPr wrap="square" lIns="0" tIns="0" rIns="0" bIns="0" rtlCol="0" anchor="ctr">
            <a:normAutofit/>
          </a:bodyPr>
          <a:lstStyle/>
          <a:p>
            <a:pPr marL="0" indent="0" algn="ctr">
              <a:buNone/>
            </a:pPr>
            <a:r>
              <a:rPr lang="en-US" sz="1050" b="1">
                <a:solidFill>
                  <a:srgbClr val="FFCC00"/>
                </a:solidFill>
                <a:latin typeface="Calibri" pitchFamily="34" charset="0"/>
                <a:ea typeface="Calibri" pitchFamily="34" charset="-122"/>
                <a:cs typeface="Calibri" pitchFamily="34" charset="-120"/>
              </a:rPr>
              <a:t>5</a:t>
            </a:r>
          </a:p>
        </p:txBody>
      </p:sp>
      <p:sp>
        <p:nvSpPr>
          <p:cNvPr id="27" name="NodeLab4"/>
          <p:cNvSpPr/>
          <p:nvPr/>
        </p:nvSpPr>
        <p:spPr>
          <a:xfrm>
            <a:off x="39312" y="3084150"/>
            <a:ext cx="1280160" cy="256032"/>
          </a:xfrm>
          <a:prstGeom prst="rect">
            <a:avLst/>
          </a:prstGeom>
          <a:noFill/>
          <a:ln/>
        </p:spPr>
        <p:txBody>
          <a:bodyPr wrap="square" lIns="0" tIns="0" rIns="0" bIns="0" rtlCol="0" anchor="ctr">
            <a:normAutofit/>
          </a:bodyPr>
          <a:lstStyle/>
          <a:p>
            <a:pPr marL="0" indent="0" algn="ctr">
              <a:buNone/>
            </a:pPr>
            <a:r>
              <a:rPr lang="en-US" sz="1100" b="1">
                <a:solidFill>
                  <a:srgbClr val="111A33"/>
                </a:solidFill>
                <a:latin typeface="Cambria" pitchFamily="34" charset="0"/>
                <a:ea typeface="Cambria" pitchFamily="34" charset="-122"/>
                <a:cs typeface="Cambria" pitchFamily="34" charset="-120"/>
              </a:rPr>
              <a:t>Feedback</a:t>
            </a:r>
          </a:p>
        </p:txBody>
      </p:sp>
      <p:sp>
        <p:nvSpPr>
          <p:cNvPr id="28" name="Arrow4"/>
          <p:cNvSpPr/>
          <p:nvPr/>
        </p:nvSpPr>
        <p:spPr>
          <a:xfrm rot="3240000">
            <a:off x="2008470" y="2649773"/>
            <a:ext cx="201168" cy="201168"/>
          </a:xfrm>
          <a:prstGeom prst="triangle">
            <a:avLst/>
          </a:prstGeom>
          <a:solidFill>
            <a:srgbClr val="FFCC00"/>
          </a:solidFill>
          <a:ln/>
        </p:spPr>
        <p:txBody>
          <a:bodyPr/>
          <a:lstStyle/>
          <a:p>
            <a:endParaRPr lang="en-US"/>
          </a:p>
        </p:txBody>
      </p:sp>
      <p:sp>
        <p:nvSpPr>
          <p:cNvPr id="29" name="HubTxt"/>
          <p:cNvSpPr/>
          <p:nvPr/>
        </p:nvSpPr>
        <p:spPr>
          <a:xfrm>
            <a:off x="2148840" y="3529584"/>
            <a:ext cx="1371600" cy="438912"/>
          </a:xfrm>
          <a:prstGeom prst="rect">
            <a:avLst/>
          </a:prstGeom>
          <a:noFill/>
          <a:ln/>
        </p:spPr>
        <p:txBody>
          <a:bodyPr wrap="square" lIns="0" tIns="0" rIns="0" bIns="0" rtlCol="0" anchor="ctr">
            <a:normAutofit/>
          </a:bodyPr>
          <a:lstStyle/>
          <a:p>
            <a:pPr marL="0" indent="0" algn="ctr">
              <a:buNone/>
            </a:pPr>
            <a:r>
              <a:rPr lang="en-US" sz="950" b="1">
                <a:solidFill>
                  <a:srgbClr val="111A33"/>
                </a:solidFill>
                <a:latin typeface="Calibri" pitchFamily="34" charset="0"/>
                <a:ea typeface="Calibri" pitchFamily="34" charset="-122"/>
                <a:cs typeface="Calibri" pitchFamily="34" charset="-120"/>
              </a:rPr>
              <a:t>Feedback compounds</a:t>
            </a:r>
          </a:p>
        </p:txBody>
      </p:sp>
      <p:sp>
        <p:nvSpPr>
          <p:cNvPr id="30" name="CapR"/>
          <p:cNvSpPr/>
          <p:nvPr/>
        </p:nvSpPr>
        <p:spPr>
          <a:xfrm>
            <a:off x="5349240" y="1783080"/>
            <a:ext cx="5806440" cy="256032"/>
          </a:xfrm>
          <a:prstGeom prst="rect">
            <a:avLst/>
          </a:prstGeom>
          <a:noFill/>
          <a:ln/>
        </p:spPr>
        <p:txBody>
          <a:bodyPr wrap="square" lIns="0" tIns="0" rIns="0" bIns="0" rtlCol="0" anchor="ctr">
            <a:normAutofit/>
          </a:bodyPr>
          <a:lstStyle/>
          <a:p>
            <a:pPr marL="0" indent="0" algn="l">
              <a:buNone/>
            </a:pPr>
            <a:r>
              <a:rPr lang="en-US" sz="900" b="1" kern="0" spc="180">
                <a:solidFill>
                  <a:srgbClr val="5A6480"/>
                </a:solidFill>
                <a:latin typeface="Calibri" pitchFamily="34" charset="0"/>
                <a:ea typeface="Calibri" pitchFamily="34" charset="-122"/>
                <a:cs typeface="Calibri" pitchFamily="34" charset="-120"/>
              </a:rPr>
              <a:t>FOUR POLICY LEVERS</a:t>
            </a:r>
          </a:p>
        </p:txBody>
      </p:sp>
      <p:sp>
        <p:nvSpPr>
          <p:cNvPr id="31" name="LBar0"/>
          <p:cNvSpPr/>
          <p:nvPr/>
        </p:nvSpPr>
        <p:spPr>
          <a:xfrm>
            <a:off x="5349240" y="2194560"/>
            <a:ext cx="1691640" cy="676656"/>
          </a:xfrm>
          <a:prstGeom prst="roundRect">
            <a:avLst>
              <a:gd name="adj" fmla="val 12000"/>
            </a:avLst>
          </a:prstGeom>
          <a:solidFill>
            <a:srgbClr val="003399"/>
          </a:solidFill>
          <a:ln/>
        </p:spPr>
        <p:txBody>
          <a:bodyPr/>
          <a:lstStyle/>
          <a:p>
            <a:endParaRPr lang="en-US"/>
          </a:p>
        </p:txBody>
      </p:sp>
      <p:sp>
        <p:nvSpPr>
          <p:cNvPr id="32" name="LLab0"/>
          <p:cNvSpPr/>
          <p:nvPr/>
        </p:nvSpPr>
        <p:spPr>
          <a:xfrm>
            <a:off x="5349240" y="2194560"/>
            <a:ext cx="1691640" cy="676656"/>
          </a:xfrm>
          <a:prstGeom prst="rect">
            <a:avLst/>
          </a:prstGeom>
          <a:noFill/>
          <a:ln/>
        </p:spPr>
        <p:txBody>
          <a:bodyPr wrap="square" lIns="0" tIns="0" rIns="0" bIns="0" rtlCol="0" anchor="ctr">
            <a:normAutofit/>
          </a:bodyPr>
          <a:lstStyle/>
          <a:p>
            <a:pPr marL="0" indent="0" algn="ctr">
              <a:buNone/>
            </a:pPr>
            <a:r>
              <a:rPr lang="en-US" sz="1400" b="1">
                <a:solidFill>
                  <a:srgbClr val="FFFFFF"/>
                </a:solidFill>
                <a:latin typeface="Cambria" pitchFamily="34" charset="0"/>
                <a:ea typeface="Cambria" pitchFamily="34" charset="-122"/>
                <a:cs typeface="Cambria" pitchFamily="34" charset="-120"/>
              </a:rPr>
              <a:t>Talent</a:t>
            </a:r>
          </a:p>
        </p:txBody>
      </p:sp>
      <p:sp>
        <p:nvSpPr>
          <p:cNvPr id="33" name="Chip0"/>
          <p:cNvSpPr/>
          <p:nvPr/>
        </p:nvSpPr>
        <p:spPr>
          <a:xfrm>
            <a:off x="7269480" y="2194560"/>
            <a:ext cx="3886200" cy="676656"/>
          </a:xfrm>
          <a:prstGeom prst="roundRect">
            <a:avLst>
              <a:gd name="adj" fmla="val 12000"/>
            </a:avLst>
          </a:prstGeom>
          <a:solidFill>
            <a:srgbClr val="F2F5FB"/>
          </a:solidFill>
          <a:ln/>
        </p:spPr>
        <p:txBody>
          <a:bodyPr/>
          <a:lstStyle/>
          <a:p>
            <a:endParaRPr lang="en-US"/>
          </a:p>
        </p:txBody>
      </p:sp>
      <p:sp>
        <p:nvSpPr>
          <p:cNvPr id="34" name="ChipT0"/>
          <p:cNvSpPr/>
          <p:nvPr/>
        </p:nvSpPr>
        <p:spPr>
          <a:xfrm>
            <a:off x="7498080" y="2194560"/>
            <a:ext cx="3474720" cy="676656"/>
          </a:xfrm>
          <a:prstGeom prst="rect">
            <a:avLst/>
          </a:prstGeom>
          <a:noFill/>
          <a:ln/>
        </p:spPr>
        <p:txBody>
          <a:bodyPr wrap="square" lIns="0" tIns="0" rIns="0" bIns="0" rtlCol="0" anchor="ctr">
            <a:normAutofit/>
          </a:bodyPr>
          <a:lstStyle/>
          <a:p>
            <a:pPr marL="0" indent="0" algn="l">
              <a:buNone/>
            </a:pPr>
            <a:r>
              <a:rPr lang="en-US" sz="1050">
                <a:solidFill>
                  <a:srgbClr val="111A33"/>
                </a:solidFill>
                <a:latin typeface="Calibri" pitchFamily="34" charset="0"/>
                <a:ea typeface="Calibri" pitchFamily="34" charset="-122"/>
                <a:cs typeface="Calibri" pitchFamily="34" charset="-120"/>
              </a:rPr>
              <a:t>AI talent visa  ·  PhD fund  ·  Researcher mobility</a:t>
            </a:r>
          </a:p>
        </p:txBody>
      </p:sp>
      <p:sp>
        <p:nvSpPr>
          <p:cNvPr id="35" name="LBar1"/>
          <p:cNvSpPr/>
          <p:nvPr/>
        </p:nvSpPr>
        <p:spPr>
          <a:xfrm>
            <a:off x="5349240" y="2999232"/>
            <a:ext cx="1691640" cy="676656"/>
          </a:xfrm>
          <a:prstGeom prst="roundRect">
            <a:avLst>
              <a:gd name="adj" fmla="val 12000"/>
            </a:avLst>
          </a:prstGeom>
          <a:solidFill>
            <a:srgbClr val="003399"/>
          </a:solidFill>
          <a:ln/>
        </p:spPr>
        <p:txBody>
          <a:bodyPr/>
          <a:lstStyle/>
          <a:p>
            <a:endParaRPr lang="en-US"/>
          </a:p>
        </p:txBody>
      </p:sp>
      <p:sp>
        <p:nvSpPr>
          <p:cNvPr id="36" name="LLab1"/>
          <p:cNvSpPr/>
          <p:nvPr/>
        </p:nvSpPr>
        <p:spPr>
          <a:xfrm>
            <a:off x="5349240" y="2999232"/>
            <a:ext cx="1691640" cy="676656"/>
          </a:xfrm>
          <a:prstGeom prst="rect">
            <a:avLst/>
          </a:prstGeom>
          <a:noFill/>
          <a:ln/>
        </p:spPr>
        <p:txBody>
          <a:bodyPr wrap="square" lIns="0" tIns="0" rIns="0" bIns="0" rtlCol="0" anchor="ctr">
            <a:normAutofit/>
          </a:bodyPr>
          <a:lstStyle/>
          <a:p>
            <a:pPr marL="0" indent="0" algn="ctr">
              <a:buNone/>
            </a:pPr>
            <a:r>
              <a:rPr lang="en-US" sz="1400" b="1">
                <a:solidFill>
                  <a:srgbClr val="FFFFFF"/>
                </a:solidFill>
                <a:latin typeface="Cambria" pitchFamily="34" charset="0"/>
                <a:ea typeface="Cambria" pitchFamily="34" charset="-122"/>
                <a:cs typeface="Cambria" pitchFamily="34" charset="-120"/>
              </a:rPr>
              <a:t>Market</a:t>
            </a:r>
          </a:p>
        </p:txBody>
      </p:sp>
      <p:sp>
        <p:nvSpPr>
          <p:cNvPr id="37" name="Chip1"/>
          <p:cNvSpPr/>
          <p:nvPr/>
        </p:nvSpPr>
        <p:spPr>
          <a:xfrm>
            <a:off x="7269480" y="2999232"/>
            <a:ext cx="3886200" cy="676656"/>
          </a:xfrm>
          <a:prstGeom prst="roundRect">
            <a:avLst>
              <a:gd name="adj" fmla="val 12000"/>
            </a:avLst>
          </a:prstGeom>
          <a:solidFill>
            <a:srgbClr val="F2F5FB"/>
          </a:solidFill>
          <a:ln/>
        </p:spPr>
        <p:txBody>
          <a:bodyPr/>
          <a:lstStyle/>
          <a:p>
            <a:endParaRPr lang="en-US"/>
          </a:p>
        </p:txBody>
      </p:sp>
      <p:sp>
        <p:nvSpPr>
          <p:cNvPr id="38" name="ChipT1"/>
          <p:cNvSpPr/>
          <p:nvPr/>
        </p:nvSpPr>
        <p:spPr>
          <a:xfrm>
            <a:off x="7498080" y="2999232"/>
            <a:ext cx="3474720" cy="676656"/>
          </a:xfrm>
          <a:prstGeom prst="rect">
            <a:avLst/>
          </a:prstGeom>
          <a:noFill/>
          <a:ln/>
        </p:spPr>
        <p:txBody>
          <a:bodyPr wrap="square" lIns="0" tIns="0" rIns="0" bIns="0" rtlCol="0" anchor="ctr">
            <a:normAutofit/>
          </a:bodyPr>
          <a:lstStyle/>
          <a:p>
            <a:pPr marL="0" indent="0" algn="l">
              <a:buNone/>
            </a:pPr>
            <a:r>
              <a:rPr lang="en-US" sz="1050">
                <a:solidFill>
                  <a:srgbClr val="111A33"/>
                </a:solidFill>
                <a:latin typeface="Calibri" pitchFamily="34" charset="0"/>
                <a:ea typeface="Calibri" pitchFamily="34" charset="-122"/>
                <a:cs typeface="Calibri" pitchFamily="34" charset="-120"/>
              </a:rPr>
              <a:t>Single market operation  ·  Capital access  ·  ESOP alignment</a:t>
            </a:r>
          </a:p>
        </p:txBody>
      </p:sp>
      <p:sp>
        <p:nvSpPr>
          <p:cNvPr id="39" name="LBar2"/>
          <p:cNvSpPr/>
          <p:nvPr/>
        </p:nvSpPr>
        <p:spPr>
          <a:xfrm>
            <a:off x="5349240" y="3803904"/>
            <a:ext cx="1691640" cy="676656"/>
          </a:xfrm>
          <a:prstGeom prst="roundRect">
            <a:avLst>
              <a:gd name="adj" fmla="val 12000"/>
            </a:avLst>
          </a:prstGeom>
          <a:solidFill>
            <a:srgbClr val="003399"/>
          </a:solidFill>
          <a:ln/>
        </p:spPr>
        <p:txBody>
          <a:bodyPr/>
          <a:lstStyle/>
          <a:p>
            <a:endParaRPr lang="en-US"/>
          </a:p>
        </p:txBody>
      </p:sp>
      <p:sp>
        <p:nvSpPr>
          <p:cNvPr id="40" name="LLab2"/>
          <p:cNvSpPr/>
          <p:nvPr/>
        </p:nvSpPr>
        <p:spPr>
          <a:xfrm>
            <a:off x="5349240" y="3803904"/>
            <a:ext cx="1691640" cy="676656"/>
          </a:xfrm>
          <a:prstGeom prst="rect">
            <a:avLst/>
          </a:prstGeom>
          <a:noFill/>
          <a:ln/>
        </p:spPr>
        <p:txBody>
          <a:bodyPr wrap="square" lIns="0" tIns="0" rIns="0" bIns="0" rtlCol="0" anchor="ctr">
            <a:normAutofit/>
          </a:bodyPr>
          <a:lstStyle/>
          <a:p>
            <a:pPr marL="0" indent="0" algn="ctr">
              <a:buNone/>
            </a:pPr>
            <a:r>
              <a:rPr lang="en-US" sz="1400" b="1">
                <a:solidFill>
                  <a:srgbClr val="FFFFFF"/>
                </a:solidFill>
                <a:latin typeface="Cambria" pitchFamily="34" charset="0"/>
                <a:ea typeface="Cambria" pitchFamily="34" charset="-122"/>
                <a:cs typeface="Cambria" pitchFamily="34" charset="-120"/>
              </a:rPr>
              <a:t>Demand</a:t>
            </a:r>
          </a:p>
        </p:txBody>
      </p:sp>
      <p:sp>
        <p:nvSpPr>
          <p:cNvPr id="41" name="Chip2"/>
          <p:cNvSpPr/>
          <p:nvPr/>
        </p:nvSpPr>
        <p:spPr>
          <a:xfrm>
            <a:off x="7269480" y="3803904"/>
            <a:ext cx="3886200" cy="676656"/>
          </a:xfrm>
          <a:prstGeom prst="roundRect">
            <a:avLst>
              <a:gd name="adj" fmla="val 12000"/>
            </a:avLst>
          </a:prstGeom>
          <a:solidFill>
            <a:srgbClr val="F2F5FB"/>
          </a:solidFill>
          <a:ln/>
        </p:spPr>
        <p:txBody>
          <a:bodyPr/>
          <a:lstStyle/>
          <a:p>
            <a:endParaRPr lang="en-US"/>
          </a:p>
        </p:txBody>
      </p:sp>
      <p:sp>
        <p:nvSpPr>
          <p:cNvPr id="42" name="ChipT2"/>
          <p:cNvSpPr/>
          <p:nvPr/>
        </p:nvSpPr>
        <p:spPr>
          <a:xfrm>
            <a:off x="7498080" y="3803904"/>
            <a:ext cx="3474720" cy="676656"/>
          </a:xfrm>
          <a:prstGeom prst="rect">
            <a:avLst/>
          </a:prstGeom>
          <a:noFill/>
          <a:ln/>
        </p:spPr>
        <p:txBody>
          <a:bodyPr wrap="square" lIns="0" tIns="0" rIns="0" bIns="0" rtlCol="0" anchor="ctr">
            <a:normAutofit/>
          </a:bodyPr>
          <a:lstStyle/>
          <a:p>
            <a:pPr marL="0" indent="0" algn="l">
              <a:buNone/>
            </a:pPr>
            <a:r>
              <a:rPr lang="en-US" sz="1050">
                <a:solidFill>
                  <a:srgbClr val="111A33"/>
                </a:solidFill>
                <a:latin typeface="Calibri" pitchFamily="34" charset="0"/>
                <a:ea typeface="Calibri" pitchFamily="34" charset="-122"/>
                <a:cs typeface="Calibri" pitchFamily="34" charset="-120"/>
              </a:rPr>
              <a:t>Public procurement  ·  SME adoption  ·  Public sector leads</a:t>
            </a:r>
          </a:p>
        </p:txBody>
      </p:sp>
      <p:sp>
        <p:nvSpPr>
          <p:cNvPr id="43" name="LBar3"/>
          <p:cNvSpPr/>
          <p:nvPr/>
        </p:nvSpPr>
        <p:spPr>
          <a:xfrm>
            <a:off x="5349240" y="4608576"/>
            <a:ext cx="1691640" cy="676656"/>
          </a:xfrm>
          <a:prstGeom prst="roundRect">
            <a:avLst>
              <a:gd name="adj" fmla="val 12000"/>
            </a:avLst>
          </a:prstGeom>
          <a:solidFill>
            <a:srgbClr val="003399"/>
          </a:solidFill>
          <a:ln/>
        </p:spPr>
        <p:txBody>
          <a:bodyPr/>
          <a:lstStyle/>
          <a:p>
            <a:endParaRPr lang="en-US"/>
          </a:p>
        </p:txBody>
      </p:sp>
      <p:sp>
        <p:nvSpPr>
          <p:cNvPr id="44" name="LLab3"/>
          <p:cNvSpPr/>
          <p:nvPr/>
        </p:nvSpPr>
        <p:spPr>
          <a:xfrm>
            <a:off x="5349240" y="4608576"/>
            <a:ext cx="1691640" cy="676656"/>
          </a:xfrm>
          <a:prstGeom prst="rect">
            <a:avLst/>
          </a:prstGeom>
          <a:noFill/>
          <a:ln/>
        </p:spPr>
        <p:txBody>
          <a:bodyPr wrap="square" lIns="0" tIns="0" rIns="0" bIns="0" rtlCol="0" anchor="ctr">
            <a:normAutofit/>
          </a:bodyPr>
          <a:lstStyle/>
          <a:p>
            <a:pPr marL="0" indent="0" algn="ctr">
              <a:buNone/>
            </a:pPr>
            <a:r>
              <a:rPr lang="en-US" sz="1400" b="1">
                <a:solidFill>
                  <a:srgbClr val="FFFFFF"/>
                </a:solidFill>
                <a:latin typeface="Cambria" pitchFamily="34" charset="0"/>
                <a:ea typeface="Cambria" pitchFamily="34" charset="-122"/>
                <a:cs typeface="Cambria" pitchFamily="34" charset="-120"/>
              </a:rPr>
              <a:t>Stack</a:t>
            </a:r>
          </a:p>
        </p:txBody>
      </p:sp>
      <p:sp>
        <p:nvSpPr>
          <p:cNvPr id="45" name="Chip3"/>
          <p:cNvSpPr/>
          <p:nvPr/>
        </p:nvSpPr>
        <p:spPr>
          <a:xfrm>
            <a:off x="7269480" y="4608576"/>
            <a:ext cx="3886200" cy="676656"/>
          </a:xfrm>
          <a:prstGeom prst="roundRect">
            <a:avLst>
              <a:gd name="adj" fmla="val 12000"/>
            </a:avLst>
          </a:prstGeom>
          <a:solidFill>
            <a:srgbClr val="F2F5FB"/>
          </a:solidFill>
          <a:ln/>
        </p:spPr>
        <p:txBody>
          <a:bodyPr/>
          <a:lstStyle/>
          <a:p>
            <a:endParaRPr lang="en-US"/>
          </a:p>
        </p:txBody>
      </p:sp>
      <p:sp>
        <p:nvSpPr>
          <p:cNvPr id="46" name="ChipT3"/>
          <p:cNvSpPr/>
          <p:nvPr/>
        </p:nvSpPr>
        <p:spPr>
          <a:xfrm>
            <a:off x="7498080" y="4608576"/>
            <a:ext cx="3474720" cy="676656"/>
          </a:xfrm>
          <a:prstGeom prst="rect">
            <a:avLst/>
          </a:prstGeom>
          <a:noFill/>
          <a:ln/>
        </p:spPr>
        <p:txBody>
          <a:bodyPr wrap="square" lIns="0" tIns="0" rIns="0" bIns="0" rtlCol="0" anchor="ctr">
            <a:normAutofit/>
          </a:bodyPr>
          <a:lstStyle/>
          <a:p>
            <a:pPr marL="0" indent="0" algn="l">
              <a:buNone/>
            </a:pPr>
            <a:r>
              <a:rPr lang="en-US" sz="1050">
                <a:solidFill>
                  <a:srgbClr val="111A33"/>
                </a:solidFill>
                <a:latin typeface="Calibri" pitchFamily="34" charset="0"/>
                <a:ea typeface="Calibri" pitchFamily="34" charset="-122"/>
                <a:cs typeface="Calibri" pitchFamily="34" charset="-120"/>
              </a:rPr>
              <a:t>Sovereign compute  ·  Data commons  ·  AI infrastructure</a:t>
            </a:r>
          </a:p>
        </p:txBody>
      </p:sp>
      <p:sp>
        <p:nvSpPr>
          <p:cNvPr id="47" name="Bar"/>
          <p:cNvSpPr/>
          <p:nvPr/>
        </p:nvSpPr>
        <p:spPr>
          <a:xfrm>
            <a:off x="548640" y="5669280"/>
            <a:ext cx="10607040" cy="502920"/>
          </a:xfrm>
          <a:prstGeom prst="roundRect">
            <a:avLst>
              <a:gd name="adj" fmla="val 12000"/>
            </a:avLst>
          </a:prstGeom>
          <a:solidFill>
            <a:srgbClr val="00246B"/>
          </a:solidFill>
          <a:ln/>
        </p:spPr>
        <p:txBody>
          <a:bodyPr/>
          <a:lstStyle/>
          <a:p>
            <a:endParaRPr lang="en-US"/>
          </a:p>
        </p:txBody>
      </p:sp>
      <p:sp>
        <p:nvSpPr>
          <p:cNvPr id="48" name="BarL"/>
          <p:cNvSpPr/>
          <p:nvPr/>
        </p:nvSpPr>
        <p:spPr>
          <a:xfrm>
            <a:off x="914400" y="5669280"/>
            <a:ext cx="5669280" cy="502920"/>
          </a:xfrm>
          <a:prstGeom prst="rect">
            <a:avLst/>
          </a:prstGeom>
          <a:noFill/>
          <a:ln/>
        </p:spPr>
        <p:txBody>
          <a:bodyPr wrap="square" lIns="0" tIns="0" rIns="0" bIns="0" rtlCol="0" anchor="ctr">
            <a:normAutofit/>
          </a:bodyPr>
          <a:lstStyle/>
          <a:p>
            <a:pPr marL="0" indent="0" algn="l">
              <a:buNone/>
            </a:pPr>
            <a:r>
              <a:rPr lang="en-US" sz="1250" b="1" kern="0" spc="120">
                <a:solidFill>
                  <a:srgbClr val="FFCC00"/>
                </a:solidFill>
                <a:latin typeface="Cambria" pitchFamily="34" charset="0"/>
                <a:ea typeface="Cambria" pitchFamily="34" charset="-122"/>
                <a:cs typeface="Cambria" pitchFamily="34" charset="-120"/>
              </a:rPr>
              <a:t>POLICY REMOVES FRICTION AT EVERY TURN</a:t>
            </a:r>
          </a:p>
        </p:txBody>
      </p:sp>
      <p:sp>
        <p:nvSpPr>
          <p:cNvPr id="49" name="BarR"/>
          <p:cNvSpPr/>
          <p:nvPr/>
        </p:nvSpPr>
        <p:spPr>
          <a:xfrm>
            <a:off x="6766560" y="5669280"/>
            <a:ext cx="4023360" cy="502920"/>
          </a:xfrm>
          <a:prstGeom prst="rect">
            <a:avLst/>
          </a:prstGeom>
          <a:noFill/>
          <a:ln/>
        </p:spPr>
        <p:txBody>
          <a:bodyPr wrap="square" lIns="0" tIns="0" rIns="0" bIns="0" rtlCol="0" anchor="ctr">
            <a:normAutofit/>
          </a:bodyPr>
          <a:lstStyle/>
          <a:p>
            <a:pPr marL="0" indent="0" algn="r">
              <a:buNone/>
            </a:pPr>
            <a:r>
              <a:rPr lang="en-US" sz="1150">
                <a:solidFill>
                  <a:srgbClr val="FFFFFF"/>
                </a:solidFill>
                <a:latin typeface="Calibri" pitchFamily="34" charset="0"/>
                <a:ea typeface="Calibri" pitchFamily="34" charset="-122"/>
                <a:cs typeface="Calibri" pitchFamily="34" charset="-120"/>
              </a:rPr>
              <a:t>A durable European AI stack</a:t>
            </a:r>
          </a:p>
        </p:txBody>
      </p:sp>
      <p:sp>
        <p:nvSpPr>
          <p:cNvPr id="50" name="Text 37"/>
          <p:cNvSpPr/>
          <p:nvPr/>
        </p:nvSpPr>
        <p:spPr>
          <a:xfrm>
            <a:off x="548640" y="6263640"/>
            <a:ext cx="7315200" cy="274320"/>
          </a:xfrm>
          <a:prstGeom prst="rect">
            <a:avLst/>
          </a:prstGeom>
          <a:noFill/>
          <a:ln/>
        </p:spPr>
        <p:txBody>
          <a:bodyPr wrap="square" lIns="0" tIns="0" rIns="0" bIns="0" rtlCol="0" anchor="ctr"/>
          <a:lstStyle/>
          <a:p>
            <a:pPr marL="0" indent="0">
              <a:buNone/>
            </a:pPr>
            <a:r>
              <a:rPr lang="en-US" sz="950">
                <a:solidFill>
                  <a:srgbClr val="5A6480"/>
                </a:solidFill>
                <a:latin typeface="Calibri" pitchFamily="34" charset="0"/>
                <a:ea typeface="Calibri" pitchFamily="34" charset="-122"/>
                <a:cs typeface="Calibri" pitchFamily="34" charset="-120"/>
              </a:rPr>
              <a:t>Mistral AI  |  Company thesis and European AI stack</a:t>
            </a:r>
            <a:endParaRPr lang="en-US" sz="950"/>
          </a:p>
        </p:txBody>
      </p:sp>
      <p:sp>
        <p:nvSpPr>
          <p:cNvPr id="51" name="Text 38"/>
          <p:cNvSpPr/>
          <p:nvPr/>
        </p:nvSpPr>
        <p:spPr>
          <a:xfrm>
            <a:off x="10241280" y="6263640"/>
            <a:ext cx="1371600" cy="274320"/>
          </a:xfrm>
          <a:prstGeom prst="rect">
            <a:avLst/>
          </a:prstGeom>
          <a:noFill/>
          <a:ln/>
        </p:spPr>
        <p:txBody>
          <a:bodyPr wrap="square" lIns="0" tIns="0" rIns="0" bIns="0" rtlCol="0" anchor="ctr"/>
          <a:lstStyle/>
          <a:p>
            <a:pPr marL="0" indent="0" algn="r">
              <a:buNone/>
            </a:pPr>
            <a:r>
              <a:rPr lang="en-US" sz="950">
                <a:solidFill>
                  <a:srgbClr val="5A6480"/>
                </a:solidFill>
                <a:latin typeface="Calibri" pitchFamily="34" charset="0"/>
                <a:ea typeface="Calibri" pitchFamily="34" charset="-122"/>
                <a:cs typeface="Calibri" pitchFamily="34" charset="-120"/>
              </a:rPr>
              <a:t>5 / 6</a:t>
            </a:r>
            <a:endParaRPr lang="en-US" sz="950"/>
          </a:p>
        </p:txBody>
      </p:sp>
    </p:spTree>
    <p:extLst>
      <p:ext uri="{BB962C8B-B14F-4D97-AF65-F5344CB8AC3E}">
        <p14:creationId xmlns:p14="http://schemas.microsoft.com/office/powerpoint/2010/main" val="2147166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003399"/>
        </a:solidFill>
        <a:effectLst/>
      </p:bgPr>
    </p:bg>
    <p:spTree>
      <p:nvGrpSpPr>
        <p:cNvPr id="1" name=""/>
        <p:cNvGrpSpPr/>
        <p:nvPr/>
      </p:nvGrpSpPr>
      <p:grpSpPr>
        <a:xfrm>
          <a:off x="0" y="0"/>
          <a:ext cx="0" cy="0"/>
          <a:chOff x="0" y="0"/>
          <a:chExt cx="0" cy="0"/>
        </a:xfrm>
      </p:grpSpPr>
      <p:sp>
        <p:nvSpPr>
          <p:cNvPr id="2" name="Shape 0"/>
          <p:cNvSpPr/>
          <p:nvPr/>
        </p:nvSpPr>
        <p:spPr>
          <a:xfrm>
            <a:off x="10890504" y="146304"/>
            <a:ext cx="256032" cy="256032"/>
          </a:xfrm>
          <a:prstGeom prst="star5">
            <a:avLst/>
          </a:prstGeom>
          <a:solidFill>
            <a:srgbClr val="12459E"/>
          </a:solidFill>
          <a:ln w="12700">
            <a:solidFill>
              <a:srgbClr val="333333"/>
            </a:solidFill>
            <a:prstDash val="solid"/>
          </a:ln>
        </p:spPr>
        <p:txBody>
          <a:bodyPr/>
          <a:lstStyle/>
          <a:p>
            <a:endParaRPr lang="en-US"/>
          </a:p>
        </p:txBody>
      </p:sp>
      <p:sp>
        <p:nvSpPr>
          <p:cNvPr id="3" name="Shape 1"/>
          <p:cNvSpPr/>
          <p:nvPr/>
        </p:nvSpPr>
        <p:spPr>
          <a:xfrm>
            <a:off x="11324844" y="262685"/>
            <a:ext cx="256032" cy="256032"/>
          </a:xfrm>
          <a:prstGeom prst="star5">
            <a:avLst/>
          </a:prstGeom>
          <a:solidFill>
            <a:srgbClr val="12459E"/>
          </a:solidFill>
          <a:ln w="12700">
            <a:solidFill>
              <a:srgbClr val="333333"/>
            </a:solidFill>
            <a:prstDash val="solid"/>
          </a:ln>
        </p:spPr>
        <p:txBody>
          <a:bodyPr/>
          <a:lstStyle/>
          <a:p>
            <a:endParaRPr lang="en-US"/>
          </a:p>
        </p:txBody>
      </p:sp>
      <p:sp>
        <p:nvSpPr>
          <p:cNvPr id="4" name="Shape 2"/>
          <p:cNvSpPr/>
          <p:nvPr/>
        </p:nvSpPr>
        <p:spPr>
          <a:xfrm>
            <a:off x="11642803" y="580644"/>
            <a:ext cx="256032" cy="256032"/>
          </a:xfrm>
          <a:prstGeom prst="star5">
            <a:avLst/>
          </a:prstGeom>
          <a:solidFill>
            <a:srgbClr val="12459E"/>
          </a:solidFill>
          <a:ln w="12700">
            <a:solidFill>
              <a:srgbClr val="333333"/>
            </a:solidFill>
            <a:prstDash val="solid"/>
          </a:ln>
        </p:spPr>
        <p:txBody>
          <a:bodyPr/>
          <a:lstStyle/>
          <a:p>
            <a:endParaRPr lang="en-US"/>
          </a:p>
        </p:txBody>
      </p:sp>
      <p:sp>
        <p:nvSpPr>
          <p:cNvPr id="5" name="Shape 3"/>
          <p:cNvSpPr/>
          <p:nvPr/>
        </p:nvSpPr>
        <p:spPr>
          <a:xfrm>
            <a:off x="11759184" y="1014984"/>
            <a:ext cx="256032" cy="256032"/>
          </a:xfrm>
          <a:prstGeom prst="star5">
            <a:avLst/>
          </a:prstGeom>
          <a:solidFill>
            <a:srgbClr val="12459E"/>
          </a:solidFill>
          <a:ln w="12700">
            <a:solidFill>
              <a:srgbClr val="333333"/>
            </a:solidFill>
            <a:prstDash val="solid"/>
          </a:ln>
        </p:spPr>
        <p:txBody>
          <a:bodyPr/>
          <a:lstStyle/>
          <a:p>
            <a:endParaRPr lang="en-US"/>
          </a:p>
        </p:txBody>
      </p:sp>
      <p:sp>
        <p:nvSpPr>
          <p:cNvPr id="6" name="Shape 4"/>
          <p:cNvSpPr/>
          <p:nvPr/>
        </p:nvSpPr>
        <p:spPr>
          <a:xfrm>
            <a:off x="11642803" y="1449324"/>
            <a:ext cx="256032" cy="256032"/>
          </a:xfrm>
          <a:prstGeom prst="star5">
            <a:avLst/>
          </a:prstGeom>
          <a:solidFill>
            <a:srgbClr val="12459E"/>
          </a:solidFill>
          <a:ln w="12700">
            <a:solidFill>
              <a:srgbClr val="333333"/>
            </a:solidFill>
            <a:prstDash val="solid"/>
          </a:ln>
        </p:spPr>
        <p:txBody>
          <a:bodyPr/>
          <a:lstStyle/>
          <a:p>
            <a:endParaRPr lang="en-US"/>
          </a:p>
        </p:txBody>
      </p:sp>
      <p:sp>
        <p:nvSpPr>
          <p:cNvPr id="7" name="Shape 5"/>
          <p:cNvSpPr/>
          <p:nvPr/>
        </p:nvSpPr>
        <p:spPr>
          <a:xfrm>
            <a:off x="11324844" y="1767283"/>
            <a:ext cx="256032" cy="256032"/>
          </a:xfrm>
          <a:prstGeom prst="star5">
            <a:avLst/>
          </a:prstGeom>
          <a:solidFill>
            <a:srgbClr val="12459E"/>
          </a:solidFill>
          <a:ln w="12700">
            <a:solidFill>
              <a:srgbClr val="333333"/>
            </a:solidFill>
            <a:prstDash val="solid"/>
          </a:ln>
        </p:spPr>
        <p:txBody>
          <a:bodyPr/>
          <a:lstStyle/>
          <a:p>
            <a:endParaRPr lang="en-US"/>
          </a:p>
        </p:txBody>
      </p:sp>
      <p:sp>
        <p:nvSpPr>
          <p:cNvPr id="8" name="Shape 6"/>
          <p:cNvSpPr/>
          <p:nvPr/>
        </p:nvSpPr>
        <p:spPr>
          <a:xfrm>
            <a:off x="10890504" y="1883664"/>
            <a:ext cx="256032" cy="256032"/>
          </a:xfrm>
          <a:prstGeom prst="star5">
            <a:avLst/>
          </a:prstGeom>
          <a:solidFill>
            <a:srgbClr val="12459E"/>
          </a:solidFill>
          <a:ln w="12700">
            <a:solidFill>
              <a:srgbClr val="333333"/>
            </a:solidFill>
            <a:prstDash val="solid"/>
          </a:ln>
        </p:spPr>
        <p:txBody>
          <a:bodyPr/>
          <a:lstStyle/>
          <a:p>
            <a:endParaRPr lang="en-US"/>
          </a:p>
        </p:txBody>
      </p:sp>
      <p:sp>
        <p:nvSpPr>
          <p:cNvPr id="9" name="Shape 7"/>
          <p:cNvSpPr/>
          <p:nvPr/>
        </p:nvSpPr>
        <p:spPr>
          <a:xfrm>
            <a:off x="10456164" y="1767283"/>
            <a:ext cx="256032" cy="256032"/>
          </a:xfrm>
          <a:prstGeom prst="star5">
            <a:avLst/>
          </a:prstGeom>
          <a:solidFill>
            <a:srgbClr val="12459E"/>
          </a:solidFill>
          <a:ln w="12700">
            <a:solidFill>
              <a:srgbClr val="333333"/>
            </a:solidFill>
            <a:prstDash val="solid"/>
          </a:ln>
        </p:spPr>
        <p:txBody>
          <a:bodyPr/>
          <a:lstStyle/>
          <a:p>
            <a:endParaRPr lang="en-US"/>
          </a:p>
        </p:txBody>
      </p:sp>
      <p:sp>
        <p:nvSpPr>
          <p:cNvPr id="10" name="Shape 8"/>
          <p:cNvSpPr/>
          <p:nvPr/>
        </p:nvSpPr>
        <p:spPr>
          <a:xfrm>
            <a:off x="10138205" y="1449324"/>
            <a:ext cx="256032" cy="256032"/>
          </a:xfrm>
          <a:prstGeom prst="star5">
            <a:avLst/>
          </a:prstGeom>
          <a:solidFill>
            <a:srgbClr val="12459E"/>
          </a:solidFill>
          <a:ln w="12700">
            <a:solidFill>
              <a:srgbClr val="333333"/>
            </a:solidFill>
            <a:prstDash val="solid"/>
          </a:ln>
        </p:spPr>
        <p:txBody>
          <a:bodyPr/>
          <a:lstStyle/>
          <a:p>
            <a:endParaRPr lang="en-US"/>
          </a:p>
        </p:txBody>
      </p:sp>
      <p:sp>
        <p:nvSpPr>
          <p:cNvPr id="11" name="Shape 9"/>
          <p:cNvSpPr/>
          <p:nvPr/>
        </p:nvSpPr>
        <p:spPr>
          <a:xfrm>
            <a:off x="10021824" y="1014984"/>
            <a:ext cx="256032" cy="256032"/>
          </a:xfrm>
          <a:prstGeom prst="star5">
            <a:avLst/>
          </a:prstGeom>
          <a:solidFill>
            <a:srgbClr val="12459E"/>
          </a:solidFill>
          <a:ln w="12700">
            <a:solidFill>
              <a:srgbClr val="333333"/>
            </a:solidFill>
            <a:prstDash val="solid"/>
          </a:ln>
        </p:spPr>
        <p:txBody>
          <a:bodyPr/>
          <a:lstStyle/>
          <a:p>
            <a:endParaRPr lang="en-US"/>
          </a:p>
        </p:txBody>
      </p:sp>
      <p:sp>
        <p:nvSpPr>
          <p:cNvPr id="12" name="Shape 10"/>
          <p:cNvSpPr/>
          <p:nvPr/>
        </p:nvSpPr>
        <p:spPr>
          <a:xfrm>
            <a:off x="10138205" y="580644"/>
            <a:ext cx="256032" cy="256032"/>
          </a:xfrm>
          <a:prstGeom prst="star5">
            <a:avLst/>
          </a:prstGeom>
          <a:solidFill>
            <a:srgbClr val="12459E"/>
          </a:solidFill>
          <a:ln w="12700">
            <a:solidFill>
              <a:srgbClr val="333333"/>
            </a:solidFill>
            <a:prstDash val="solid"/>
          </a:ln>
        </p:spPr>
        <p:txBody>
          <a:bodyPr/>
          <a:lstStyle/>
          <a:p>
            <a:endParaRPr lang="en-US"/>
          </a:p>
        </p:txBody>
      </p:sp>
      <p:sp>
        <p:nvSpPr>
          <p:cNvPr id="13" name="Shape 11"/>
          <p:cNvSpPr/>
          <p:nvPr/>
        </p:nvSpPr>
        <p:spPr>
          <a:xfrm>
            <a:off x="10456164" y="262685"/>
            <a:ext cx="256032" cy="256032"/>
          </a:xfrm>
          <a:prstGeom prst="star5">
            <a:avLst/>
          </a:prstGeom>
          <a:solidFill>
            <a:srgbClr val="12459E"/>
          </a:solidFill>
          <a:ln w="12700">
            <a:solidFill>
              <a:srgbClr val="333333"/>
            </a:solidFill>
            <a:prstDash val="solid"/>
          </a:ln>
        </p:spPr>
        <p:txBody>
          <a:bodyPr/>
          <a:lstStyle/>
          <a:p>
            <a:endParaRPr lang="en-US"/>
          </a:p>
        </p:txBody>
      </p:sp>
      <p:pic>
        <p:nvPicPr>
          <p:cNvPr id="14" name="Image 0" descr="preencoded.png"/>
          <p:cNvPicPr>
            <a:picLocks noChangeAspect="1"/>
          </p:cNvPicPr>
          <p:nvPr/>
        </p:nvPicPr>
        <p:blipFill>
          <a:blip r:embed="rId3"/>
          <a:stretch>
            <a:fillRect/>
          </a:stretch>
        </p:blipFill>
        <p:spPr>
          <a:xfrm>
            <a:off x="777240" y="640080"/>
            <a:ext cx="1783080" cy="411480"/>
          </a:xfrm>
          <a:prstGeom prst="rect">
            <a:avLst/>
          </a:prstGeom>
        </p:spPr>
      </p:pic>
      <p:sp>
        <p:nvSpPr>
          <p:cNvPr id="15" name="Kick"/>
          <p:cNvSpPr/>
          <p:nvPr/>
        </p:nvSpPr>
        <p:spPr>
          <a:xfrm>
            <a:off x="822960" y="1600200"/>
            <a:ext cx="7315200" cy="274320"/>
          </a:xfrm>
          <a:prstGeom prst="rect">
            <a:avLst/>
          </a:prstGeom>
          <a:noFill/>
          <a:ln/>
        </p:spPr>
        <p:txBody>
          <a:bodyPr wrap="square" lIns="0" tIns="0" rIns="0" bIns="0" rtlCol="0" anchor="ctr">
            <a:normAutofit/>
          </a:bodyPr>
          <a:lstStyle/>
          <a:p>
            <a:pPr marL="0" indent="0" algn="l">
              <a:buNone/>
            </a:pPr>
            <a:r>
              <a:rPr lang="en-US" sz="1100" b="1" kern="0" spc="250">
                <a:solidFill>
                  <a:srgbClr val="FFCC00"/>
                </a:solidFill>
                <a:latin typeface="Calibri" pitchFamily="34" charset="0"/>
                <a:ea typeface="Calibri" pitchFamily="34" charset="-122"/>
                <a:cs typeface="Calibri" pitchFamily="34" charset="-120"/>
              </a:rPr>
              <a:t>THE BOTTOM LINE</a:t>
            </a:r>
          </a:p>
        </p:txBody>
      </p:sp>
      <p:sp>
        <p:nvSpPr>
          <p:cNvPr id="16" name="Head"/>
          <p:cNvSpPr/>
          <p:nvPr/>
        </p:nvSpPr>
        <p:spPr>
          <a:xfrm>
            <a:off x="777240" y="2011680"/>
            <a:ext cx="9692640" cy="1691640"/>
          </a:xfrm>
          <a:prstGeom prst="rect">
            <a:avLst/>
          </a:prstGeom>
          <a:noFill/>
          <a:ln/>
        </p:spPr>
        <p:txBody>
          <a:bodyPr wrap="square" lIns="0" tIns="0" rIns="0" bIns="0" rtlCol="0" anchor="t">
            <a:normAutofit/>
          </a:bodyPr>
          <a:lstStyle/>
          <a:p>
            <a:pPr marL="0" indent="0" algn="l">
              <a:buNone/>
            </a:pPr>
            <a:r>
              <a:rPr lang="en-US" sz="4000" b="1">
                <a:solidFill>
                  <a:srgbClr val="FFFFFF"/>
                </a:solidFill>
                <a:latin typeface="Cambria" pitchFamily="34" charset="0"/>
                <a:ea typeface="Cambria" pitchFamily="34" charset="-122"/>
                <a:cs typeface="Cambria" pitchFamily="34" charset="-120"/>
              </a:rPr>
              <a:t>Mistral is the product proof</a:t>
            </a:r>
          </a:p>
          <a:p>
            <a:pPr marL="0" indent="0" algn="l">
              <a:buNone/>
            </a:pPr>
            <a:r>
              <a:rPr lang="en-US" sz="4000" b="1">
                <a:solidFill>
                  <a:srgbClr val="FFFFFF"/>
                </a:solidFill>
                <a:latin typeface="Cambria" pitchFamily="34" charset="0"/>
                <a:ea typeface="Cambria" pitchFamily="34" charset="-122"/>
                <a:cs typeface="Cambria" pitchFamily="34" charset="-120"/>
              </a:rPr>
              <a:t>for a European AI stack.</a:t>
            </a:r>
          </a:p>
        </p:txBody>
      </p:sp>
      <p:sp>
        <p:nvSpPr>
          <p:cNvPr id="17" name="Rule"/>
          <p:cNvSpPr/>
          <p:nvPr/>
        </p:nvSpPr>
        <p:spPr>
          <a:xfrm>
            <a:off x="822960" y="3520440"/>
            <a:ext cx="2011680" cy="54864"/>
          </a:xfrm>
          <a:prstGeom prst="rect">
            <a:avLst/>
          </a:prstGeom>
          <a:solidFill>
            <a:srgbClr val="FFCC00"/>
          </a:solidFill>
          <a:ln/>
        </p:spPr>
        <p:txBody>
          <a:bodyPr/>
          <a:lstStyle/>
          <a:p>
            <a:endParaRPr lang="en-US"/>
          </a:p>
        </p:txBody>
      </p:sp>
      <p:sp>
        <p:nvSpPr>
          <p:cNvPr id="18" name="CRule0"/>
          <p:cNvSpPr/>
          <p:nvPr/>
        </p:nvSpPr>
        <p:spPr>
          <a:xfrm>
            <a:off x="822960" y="3931920"/>
            <a:ext cx="45720" cy="960120"/>
          </a:xfrm>
          <a:prstGeom prst="rect">
            <a:avLst/>
          </a:prstGeom>
          <a:solidFill>
            <a:srgbClr val="3A5A9E"/>
          </a:solidFill>
          <a:ln/>
        </p:spPr>
        <p:txBody>
          <a:bodyPr/>
          <a:lstStyle/>
          <a:p>
            <a:endParaRPr lang="en-US"/>
          </a:p>
        </p:txBody>
      </p:sp>
      <p:sp>
        <p:nvSpPr>
          <p:cNvPr id="19" name="CLab0"/>
          <p:cNvSpPr/>
          <p:nvPr/>
        </p:nvSpPr>
        <p:spPr>
          <a:xfrm>
            <a:off x="1097280" y="3959352"/>
            <a:ext cx="4023360" cy="256032"/>
          </a:xfrm>
          <a:prstGeom prst="rect">
            <a:avLst/>
          </a:prstGeom>
          <a:noFill/>
          <a:ln/>
        </p:spPr>
        <p:txBody>
          <a:bodyPr wrap="square" lIns="0" tIns="0" rIns="0" bIns="0" rtlCol="0" anchor="ctr">
            <a:normAutofit/>
          </a:bodyPr>
          <a:lstStyle/>
          <a:p>
            <a:pPr marL="0" indent="0" algn="l">
              <a:buNone/>
            </a:pPr>
            <a:r>
              <a:rPr lang="en-US" sz="1000" b="1" kern="0" spc="180">
                <a:solidFill>
                  <a:srgbClr val="FFCC00"/>
                </a:solidFill>
                <a:latin typeface="Calibri" pitchFamily="34" charset="0"/>
                <a:ea typeface="Calibri" pitchFamily="34" charset="-122"/>
                <a:cs typeface="Calibri" pitchFamily="34" charset="-120"/>
              </a:rPr>
              <a:t>COMPANY THESIS</a:t>
            </a:r>
          </a:p>
        </p:txBody>
      </p:sp>
      <p:sp>
        <p:nvSpPr>
          <p:cNvPr id="20" name="CBody0"/>
          <p:cNvSpPr/>
          <p:nvPr/>
        </p:nvSpPr>
        <p:spPr>
          <a:xfrm>
            <a:off x="1097280" y="4297680"/>
            <a:ext cx="4023360" cy="640080"/>
          </a:xfrm>
          <a:prstGeom prst="rect">
            <a:avLst/>
          </a:prstGeom>
          <a:noFill/>
          <a:ln/>
        </p:spPr>
        <p:txBody>
          <a:bodyPr wrap="square" lIns="0" tIns="0" rIns="0" bIns="0" rtlCol="0" anchor="t">
            <a:normAutofit/>
          </a:bodyPr>
          <a:lstStyle/>
          <a:p>
            <a:pPr marL="0" indent="0" algn="l">
              <a:buNone/>
            </a:pPr>
            <a:r>
              <a:rPr lang="en-US" sz="1250">
                <a:solidFill>
                  <a:srgbClr val="D9E1F5"/>
                </a:solidFill>
                <a:latin typeface="Calibri" pitchFamily="34" charset="0"/>
                <a:ea typeface="Calibri" pitchFamily="34" charset="-122"/>
                <a:cs typeface="Calibri" pitchFamily="34" charset="-120"/>
              </a:rPr>
              <a:t>Open, controllable frontier models that enterprises can inspect, deploy, and trust.</a:t>
            </a:r>
          </a:p>
        </p:txBody>
      </p:sp>
      <p:sp>
        <p:nvSpPr>
          <p:cNvPr id="21" name="CRule1"/>
          <p:cNvSpPr/>
          <p:nvPr/>
        </p:nvSpPr>
        <p:spPr>
          <a:xfrm>
            <a:off x="5852160" y="3931920"/>
            <a:ext cx="45720" cy="960120"/>
          </a:xfrm>
          <a:prstGeom prst="rect">
            <a:avLst/>
          </a:prstGeom>
          <a:solidFill>
            <a:srgbClr val="3A5A9E"/>
          </a:solidFill>
          <a:ln/>
        </p:spPr>
        <p:txBody>
          <a:bodyPr/>
          <a:lstStyle/>
          <a:p>
            <a:endParaRPr lang="en-US"/>
          </a:p>
        </p:txBody>
      </p:sp>
      <p:sp>
        <p:nvSpPr>
          <p:cNvPr id="22" name="CLab1"/>
          <p:cNvSpPr/>
          <p:nvPr/>
        </p:nvSpPr>
        <p:spPr>
          <a:xfrm>
            <a:off x="6126480" y="3959352"/>
            <a:ext cx="4023360" cy="256032"/>
          </a:xfrm>
          <a:prstGeom prst="rect">
            <a:avLst/>
          </a:prstGeom>
          <a:noFill/>
          <a:ln/>
        </p:spPr>
        <p:txBody>
          <a:bodyPr wrap="square" lIns="0" tIns="0" rIns="0" bIns="0" rtlCol="0" anchor="ctr">
            <a:normAutofit/>
          </a:bodyPr>
          <a:lstStyle/>
          <a:p>
            <a:pPr marL="0" indent="0" algn="l">
              <a:buNone/>
            </a:pPr>
            <a:r>
              <a:rPr lang="en-US" sz="1000" b="1" kern="0" spc="180">
                <a:solidFill>
                  <a:srgbClr val="FFCC00"/>
                </a:solidFill>
                <a:latin typeface="Calibri" pitchFamily="34" charset="0"/>
                <a:ea typeface="Calibri" pitchFamily="34" charset="-122"/>
                <a:cs typeface="Calibri" pitchFamily="34" charset="-120"/>
              </a:rPr>
              <a:t>POLICY THESIS</a:t>
            </a:r>
          </a:p>
        </p:txBody>
      </p:sp>
      <p:sp>
        <p:nvSpPr>
          <p:cNvPr id="23" name="CBody1"/>
          <p:cNvSpPr/>
          <p:nvPr/>
        </p:nvSpPr>
        <p:spPr>
          <a:xfrm>
            <a:off x="6126480" y="4297680"/>
            <a:ext cx="4023360" cy="640080"/>
          </a:xfrm>
          <a:prstGeom prst="rect">
            <a:avLst/>
          </a:prstGeom>
          <a:noFill/>
          <a:ln/>
        </p:spPr>
        <p:txBody>
          <a:bodyPr wrap="square" lIns="0" tIns="0" rIns="0" bIns="0" rtlCol="0" anchor="t">
            <a:normAutofit/>
          </a:bodyPr>
          <a:lstStyle/>
          <a:p>
            <a:pPr marL="0" indent="0" algn="l">
              <a:buNone/>
            </a:pPr>
            <a:r>
              <a:rPr lang="en-US" sz="1250">
                <a:solidFill>
                  <a:srgbClr val="D9E1F5"/>
                </a:solidFill>
                <a:latin typeface="Calibri" pitchFamily="34" charset="0"/>
                <a:ea typeface="Calibri" pitchFamily="34" charset="-122"/>
                <a:cs typeface="Calibri" pitchFamily="34" charset="-120"/>
              </a:rPr>
              <a:t>Talent, demand, compute, data, and capital held under European control.</a:t>
            </a:r>
          </a:p>
        </p:txBody>
      </p:sp>
      <p:sp>
        <p:nvSpPr>
          <p:cNvPr id="24" name="Close"/>
          <p:cNvSpPr/>
          <p:nvPr/>
        </p:nvSpPr>
        <p:spPr>
          <a:xfrm>
            <a:off x="822960" y="5486400"/>
            <a:ext cx="9692640" cy="411480"/>
          </a:xfrm>
          <a:prstGeom prst="rect">
            <a:avLst/>
          </a:prstGeom>
          <a:noFill/>
          <a:ln/>
        </p:spPr>
        <p:txBody>
          <a:bodyPr wrap="square" lIns="0" tIns="0" rIns="0" bIns="0" rtlCol="0" anchor="ctr">
            <a:normAutofit/>
          </a:bodyPr>
          <a:lstStyle/>
          <a:p>
            <a:pPr marL="0" indent="0" algn="l">
              <a:buNone/>
            </a:pPr>
            <a:r>
              <a:rPr lang="en-US" sz="1300" b="1">
                <a:solidFill>
                  <a:srgbClr val="FFFFFF"/>
                </a:solidFill>
                <a:latin typeface="Calibri" pitchFamily="34" charset="0"/>
                <a:ea typeface="Calibri" pitchFamily="34" charset="-122"/>
                <a:cs typeface="Calibri" pitchFamily="34" charset="-120"/>
              </a:rPr>
              <a:t>Winning the model layer is the company case. Turning that win into an enduring category advantage is the European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877</Words>
  <Application>Microsoft Office PowerPoint</Application>
  <PresentationFormat>Widescreen</PresentationFormat>
  <Paragraphs>126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Mistral AI - EU Policy &amp; Company Thesis</dc:title>
  <dc:subject>EU Policy and European AI Sovereignty Company Thesis</dc:subject>
  <dc:creator>Shiv, Prospective PMM, Mistral Studio</dc:creator>
  <cp:keywords>mistral-ai, eu-policy, ai-sovereignty, thesis</cp:keywords>
  <cp:lastModifiedBy>Shivam Singh</cp:lastModifiedBy>
  <cp:revision>14</cp:revision>
  <dcterms:created xsi:type="dcterms:W3CDTF">2026-08-17T06:45:18Z</dcterms:created>
  <dcterms:modified xsi:type="dcterms:W3CDTF">2026-08-17T09:05:54Z</dcterms:modified>
</cp:coreProperties>
</file>