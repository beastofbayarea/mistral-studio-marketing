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extract/ppt/media/image-1-1.jpg">    </p:cNvPr>
          <p:cNvPicPr>
            <a:picLocks noChangeAspect="1"/>
          </p:cNvPicPr>
          <p:nvPr/>
        </p:nvPicPr>
        <p:blipFill>
          <a:blip r:embed="rId1"/>
          <a:srcRect l="24950" r="24950" t="0" b="0"/>
          <a:stretch/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1206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MISTRAL STUDIO</a:t>
            </a:r>
            <a:endParaRPr lang="en-US" sz="570" dirty="0"/>
          </a:p>
        </p:txBody>
      </p:sp>
      <p:sp>
        <p:nvSpPr>
          <p:cNvPr id="4" name="Text 1"/>
          <p:cNvSpPr/>
          <p:nvPr/>
        </p:nvSpPr>
        <p:spPr>
          <a:xfrm>
            <a:off x="502920" y="1225296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&amp;</a:t>
            </a:r>
            <a:endParaRPr lang="en-US" sz="2250" dirty="0"/>
          </a:p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commercialization plan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02920" y="2331720"/>
            <a:ext cx="384048" cy="0"/>
          </a:xfrm>
          <a:prstGeom prst="line">
            <a:avLst/>
          </a:prstGeom>
          <a:noFill/>
          <a:ln w="17780">
            <a:solidFill>
              <a:srgbClr val="FF3D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27432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B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plan to price, sell, contract, bill, deploy and support Studio at launch.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342900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8C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and operational scope only; market, audience, positioning, messaging and proof sit in the PMM deck.</a:t>
            </a:r>
            <a:endParaRPr lang="en-US" sz="730" dirty="0"/>
          </a:p>
        </p:txBody>
      </p:sp>
      <p:sp>
        <p:nvSpPr>
          <p:cNvPr id="8" name="Shape 5"/>
          <p:cNvSpPr/>
          <p:nvPr/>
        </p:nvSpPr>
        <p:spPr>
          <a:xfrm>
            <a:off x="0" y="6647688"/>
            <a:ext cx="6080760" cy="210312"/>
          </a:xfrm>
          <a:prstGeom prst="rect">
            <a:avLst/>
          </a:prstGeom>
          <a:solidFill>
            <a:srgbClr val="090910"/>
          </a:solidFill>
          <a:ln w="12700">
            <a:solidFill>
              <a:srgbClr val="09091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327648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6D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2026-08-16</a:t>
            </a:r>
            <a:endParaRPr lang="en-US" sz="540" dirty="0"/>
          </a:p>
        </p:txBody>
      </p:sp>
      <p:sp>
        <p:nvSpPr>
          <p:cNvPr id="10" name="Text 7"/>
          <p:cNvSpPr/>
          <p:nvPr/>
        </p:nvSpPr>
        <p:spPr>
          <a:xfrm>
            <a:off x="11612880" y="63276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5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CHARTER  •  COMMERCIAL SCOPE  •  DECISION RIGHTS</a:t>
            </a:r>
            <a:endParaRPr lang="en-US" sz="570" dirty="0"/>
          </a:p>
        </p:txBody>
      </p:sp>
      <p:sp>
        <p:nvSpPr>
          <p:cNvPr id="3" name="Text 1"/>
          <p:cNvSpPr/>
          <p:nvPr/>
        </p:nvSpPr>
        <p:spPr>
          <a:xfrm>
            <a:off x="475488" y="4389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0A0B0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launch must deliver — and what must be ready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83210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D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concise deck now keeps the original operating charter, commercial scope, scorecard and executive decision rights together.</a:t>
            </a:r>
            <a:endParaRPr lang="en-US" sz="710" dirty="0"/>
          </a:p>
        </p:txBody>
      </p:sp>
      <p:sp>
        <p:nvSpPr>
          <p:cNvPr id="5" name="Shape 3"/>
          <p:cNvSpPr/>
          <p:nvPr/>
        </p:nvSpPr>
        <p:spPr>
          <a:xfrm>
            <a:off x="475488" y="1088136"/>
            <a:ext cx="11018520" cy="0"/>
          </a:xfrm>
          <a:prstGeom prst="line">
            <a:avLst/>
          </a:prstGeom>
          <a:noFill/>
          <a:ln w="7620">
            <a:solidFill>
              <a:srgbClr val="FF3D00">
                <a:alpha val="85000"/>
              </a:srgbClr>
            </a:solidFill>
            <a:prstDash val="solid"/>
          </a:ln>
        </p:spPr>
      </p:sp>
      <p:pic>
        <p:nvPicPr>
          <p:cNvPr id="6" name="Image 0" descr="/mnt/data/pptx_extract/ppt/media/image-2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0312" y="237744"/>
            <a:ext cx="109728" cy="1097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47688"/>
            <a:ext cx="12192000" cy="210312"/>
          </a:xfrm>
          <a:prstGeom prst="rect">
            <a:avLst/>
          </a:prstGeom>
          <a:solidFill>
            <a:srgbClr val="0A0B0D"/>
          </a:solidFill>
          <a:ln w="12700">
            <a:solidFill>
              <a:srgbClr val="0A0B0D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8912" y="6428232"/>
            <a:ext cx="146304" cy="27432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637336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" dirty="0">
                <a:solidFill>
                  <a:srgbClr val="6D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Mistral Studio  •  Launch &amp; commercialization plan</a:t>
            </a:r>
            <a:endParaRPr lang="en-US" sz="490" dirty="0"/>
          </a:p>
        </p:txBody>
      </p:sp>
      <p:sp>
        <p:nvSpPr>
          <p:cNvPr id="10" name="Text 7"/>
          <p:cNvSpPr/>
          <p:nvPr/>
        </p:nvSpPr>
        <p:spPr>
          <a:xfrm>
            <a:off x="11612880" y="63276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520" dirty="0"/>
          </a:p>
        </p:txBody>
      </p:sp>
      <p:sp>
        <p:nvSpPr>
          <p:cNvPr id="11" name="Text 8"/>
          <p:cNvSpPr/>
          <p:nvPr/>
        </p:nvSpPr>
        <p:spPr>
          <a:xfrm>
            <a:off x="530352" y="122529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CHARTER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603504" y="1664208"/>
            <a:ext cx="4233672" cy="274320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Studio buyable on every route, deployable in production within 30 days of contract, and operable at launch-day scale.</a:t>
            </a:r>
            <a:endParaRPr lang="en-US" sz="690" dirty="0"/>
          </a:p>
        </p:txBody>
      </p:sp>
      <p:sp>
        <p:nvSpPr>
          <p:cNvPr id="13" name="Shape 10"/>
          <p:cNvSpPr/>
          <p:nvPr/>
        </p:nvSpPr>
        <p:spPr>
          <a:xfrm>
            <a:off x="530352" y="1435608"/>
            <a:ext cx="32004" cy="530352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149961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540" dirty="0"/>
          </a:p>
        </p:txBody>
      </p:sp>
      <p:sp>
        <p:nvSpPr>
          <p:cNvPr id="15" name="Text 12"/>
          <p:cNvSpPr/>
          <p:nvPr/>
        </p:nvSpPr>
        <p:spPr>
          <a:xfrm>
            <a:off x="603504" y="2304288"/>
            <a:ext cx="4233672" cy="274320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Pricing, packaging, offer architecture, routes to market, commercial motion, billing, legal, support, marketplace readiness and docs.</a:t>
            </a:r>
            <a:endParaRPr lang="en-US" sz="690" dirty="0"/>
          </a:p>
        </p:txBody>
      </p:sp>
      <p:sp>
        <p:nvSpPr>
          <p:cNvPr id="16" name="Shape 13"/>
          <p:cNvSpPr/>
          <p:nvPr/>
        </p:nvSpPr>
        <p:spPr>
          <a:xfrm>
            <a:off x="530352" y="2075688"/>
            <a:ext cx="32004" cy="530352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213969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8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540" dirty="0"/>
          </a:p>
        </p:txBody>
      </p:sp>
      <p:sp>
        <p:nvSpPr>
          <p:cNvPr id="18" name="Text 15"/>
          <p:cNvSpPr/>
          <p:nvPr/>
        </p:nvSpPr>
        <p:spPr>
          <a:xfrm>
            <a:off x="603504" y="2944368"/>
            <a:ext cx="4233672" cy="274320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Trial-to-paid at plan; ten production workloads live; committed spend across Serverless, Dedicated and Self-hosted.</a:t>
            </a:r>
            <a:endParaRPr lang="en-US" sz="690" dirty="0"/>
          </a:p>
        </p:txBody>
      </p:sp>
      <p:sp>
        <p:nvSpPr>
          <p:cNvPr id="19" name="Shape 16"/>
          <p:cNvSpPr/>
          <p:nvPr/>
        </p:nvSpPr>
        <p:spPr>
          <a:xfrm>
            <a:off x="530352" y="2715768"/>
            <a:ext cx="32004" cy="530352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277977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CRITERIA</a:t>
            </a:r>
            <a:endParaRPr lang="en-US" sz="540" dirty="0"/>
          </a:p>
        </p:txBody>
      </p:sp>
      <p:sp>
        <p:nvSpPr>
          <p:cNvPr id="21" name="Text 18"/>
          <p:cNvSpPr/>
          <p:nvPr/>
        </p:nvSpPr>
        <p:spPr>
          <a:xfrm>
            <a:off x="530352" y="3557016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COMMERCIALIZABLE CAPABILITY BASE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603504" y="4014216"/>
            <a:ext cx="4233672" cy="530352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Deploy: serverless, dedicated, self-hosted  •  Meter: usage per model call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Provision: workspaces + API keys  •  Govern: RBAC, SSO, audit logs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Support: SLA tiers + escalation</a:t>
            </a:r>
            <a:endParaRPr lang="en-US" sz="620" dirty="0"/>
          </a:p>
        </p:txBody>
      </p:sp>
      <p:sp>
        <p:nvSpPr>
          <p:cNvPr id="23" name="Shape 20"/>
          <p:cNvSpPr/>
          <p:nvPr/>
        </p:nvSpPr>
        <p:spPr>
          <a:xfrm>
            <a:off x="530352" y="3785616"/>
            <a:ext cx="32004" cy="786384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3849624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8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/ METER / PROVISION / GOVERN / SUPPORT</a:t>
            </a:r>
            <a:endParaRPr lang="en-US" sz="540" dirty="0"/>
          </a:p>
        </p:txBody>
      </p:sp>
      <p:sp>
        <p:nvSpPr>
          <p:cNvPr id="25" name="Text 22"/>
          <p:cNvSpPr/>
          <p:nvPr/>
        </p:nvSpPr>
        <p:spPr>
          <a:xfrm>
            <a:off x="530352" y="470916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SCORECARD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603504" y="5166360"/>
            <a:ext cx="676656" cy="502920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Trial-to-paid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POV-to-contract</a:t>
            </a:r>
            <a:endParaRPr lang="en-US" sz="520" dirty="0"/>
          </a:p>
        </p:txBody>
      </p:sp>
      <p:sp>
        <p:nvSpPr>
          <p:cNvPr id="27" name="Shape 24"/>
          <p:cNvSpPr/>
          <p:nvPr/>
        </p:nvSpPr>
        <p:spPr>
          <a:xfrm>
            <a:off x="530352" y="4937760"/>
            <a:ext cx="32004" cy="758952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" y="5001768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</a:t>
            </a:r>
            <a:endParaRPr lang="en-US" sz="540" dirty="0"/>
          </a:p>
        </p:txBody>
      </p:sp>
      <p:sp>
        <p:nvSpPr>
          <p:cNvPr id="29" name="Text 26"/>
          <p:cNvSpPr/>
          <p:nvPr/>
        </p:nvSpPr>
        <p:spPr>
          <a:xfrm>
            <a:off x="1499616" y="5166360"/>
            <a:ext cx="676656" cy="502920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ACV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Committed spend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</a:t>
            </a:r>
            <a:endParaRPr lang="en-US" sz="520" dirty="0"/>
          </a:p>
        </p:txBody>
      </p:sp>
      <p:sp>
        <p:nvSpPr>
          <p:cNvPr id="30" name="Shape 27"/>
          <p:cNvSpPr/>
          <p:nvPr/>
        </p:nvSpPr>
        <p:spPr>
          <a:xfrm>
            <a:off x="1426464" y="4937760"/>
            <a:ext cx="32004" cy="758952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517904" y="5001768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8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540" dirty="0"/>
          </a:p>
        </p:txBody>
      </p:sp>
      <p:sp>
        <p:nvSpPr>
          <p:cNvPr id="32" name="Text 29"/>
          <p:cNvSpPr/>
          <p:nvPr/>
        </p:nvSpPr>
        <p:spPr>
          <a:xfrm>
            <a:off x="2395728" y="5166360"/>
            <a:ext cx="676656" cy="502920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to contract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to production</a:t>
            </a:r>
            <a:endParaRPr lang="en-US" sz="520" dirty="0"/>
          </a:p>
        </p:txBody>
      </p:sp>
      <p:sp>
        <p:nvSpPr>
          <p:cNvPr id="33" name="Shape 30"/>
          <p:cNvSpPr/>
          <p:nvPr/>
        </p:nvSpPr>
        <p:spPr>
          <a:xfrm>
            <a:off x="2322576" y="4937760"/>
            <a:ext cx="32004" cy="758952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414016" y="5001768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VELOCITY</a:t>
            </a:r>
            <a:endParaRPr lang="en-US" sz="540" dirty="0"/>
          </a:p>
        </p:txBody>
      </p:sp>
      <p:sp>
        <p:nvSpPr>
          <p:cNvPr id="35" name="Text 32"/>
          <p:cNvSpPr/>
          <p:nvPr/>
        </p:nvSpPr>
        <p:spPr>
          <a:xfrm>
            <a:off x="3291840" y="5166360"/>
            <a:ext cx="676656" cy="502920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mix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 contribution</a:t>
            </a:r>
            <a:endParaRPr lang="en-US" sz="520" dirty="0"/>
          </a:p>
        </p:txBody>
      </p:sp>
      <p:sp>
        <p:nvSpPr>
          <p:cNvPr id="36" name="Shape 33"/>
          <p:cNvSpPr/>
          <p:nvPr/>
        </p:nvSpPr>
        <p:spPr>
          <a:xfrm>
            <a:off x="3218688" y="4937760"/>
            <a:ext cx="32004" cy="758952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310128" y="5001768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8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</a:t>
            </a:r>
            <a:endParaRPr lang="en-US" sz="540" dirty="0"/>
          </a:p>
        </p:txBody>
      </p:sp>
      <p:sp>
        <p:nvSpPr>
          <p:cNvPr id="38" name="Text 35"/>
          <p:cNvSpPr/>
          <p:nvPr/>
        </p:nvSpPr>
        <p:spPr>
          <a:xfrm>
            <a:off x="4187952" y="5166360"/>
            <a:ext cx="676656" cy="502920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workloads</a:t>
            </a:r>
            <a:endParaRPr lang="en-US" sz="520" dirty="0"/>
          </a:p>
          <a:p>
            <a:pPr indent="0" marL="0">
              <a:buNone/>
            </a:pPr>
            <a:r>
              <a:rPr lang="en-US" sz="52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Paying teams</a:t>
            </a:r>
            <a:endParaRPr lang="en-US" sz="520" dirty="0"/>
          </a:p>
        </p:txBody>
      </p:sp>
      <p:sp>
        <p:nvSpPr>
          <p:cNvPr id="39" name="Shape 36"/>
          <p:cNvSpPr/>
          <p:nvPr/>
        </p:nvSpPr>
        <p:spPr>
          <a:xfrm>
            <a:off x="4114800" y="4937760"/>
            <a:ext cx="32004" cy="758952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206240" y="5001768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540" dirty="0"/>
          </a:p>
        </p:txBody>
      </p:sp>
      <p:sp>
        <p:nvSpPr>
          <p:cNvPr id="41" name="Text 38"/>
          <p:cNvSpPr/>
          <p:nvPr/>
        </p:nvSpPr>
        <p:spPr>
          <a:xfrm>
            <a:off x="5349240" y="1280160"/>
            <a:ext cx="5989320" cy="274320"/>
          </a:xfrm>
          <a:prstGeom prst="rect">
            <a:avLst/>
          </a:prstGeom>
          <a:solidFill>
            <a:srgbClr val="0A0B0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 decisions, one DRI each</a:t>
            </a:r>
            <a:endParaRPr lang="en-US" sz="1420" dirty="0"/>
          </a:p>
        </p:txBody>
      </p:sp>
      <p:sp>
        <p:nvSpPr>
          <p:cNvPr id="42" name="Text 39"/>
          <p:cNvSpPr/>
          <p:nvPr/>
        </p:nvSpPr>
        <p:spPr>
          <a:xfrm>
            <a:off x="5349240" y="16642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b="1" dirty="0">
                <a:solidFill>
                  <a:srgbClr val="FFB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520" dirty="0"/>
          </a:p>
        </p:txBody>
      </p:sp>
      <p:sp>
        <p:nvSpPr>
          <p:cNvPr id="43" name="Text 40"/>
          <p:cNvSpPr/>
          <p:nvPr/>
        </p:nvSpPr>
        <p:spPr>
          <a:xfrm>
            <a:off x="8055864" y="16642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b="1" dirty="0">
                <a:solidFill>
                  <a:srgbClr val="FFB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</a:t>
            </a:r>
            <a:endParaRPr lang="en-US" sz="520" dirty="0"/>
          </a:p>
        </p:txBody>
      </p:sp>
      <p:sp>
        <p:nvSpPr>
          <p:cNvPr id="44" name="Text 41"/>
          <p:cNvSpPr/>
          <p:nvPr/>
        </p:nvSpPr>
        <p:spPr>
          <a:xfrm>
            <a:off x="9345168" y="166420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b="1" dirty="0">
                <a:solidFill>
                  <a:srgbClr val="FFB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</a:t>
            </a:r>
            <a:endParaRPr lang="en-US" sz="520" dirty="0"/>
          </a:p>
        </p:txBody>
      </p:sp>
      <p:sp>
        <p:nvSpPr>
          <p:cNvPr id="45" name="Text 42"/>
          <p:cNvSpPr/>
          <p:nvPr/>
        </p:nvSpPr>
        <p:spPr>
          <a:xfrm>
            <a:off x="9994392" y="16642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b="1" dirty="0">
                <a:solidFill>
                  <a:srgbClr val="FFB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520" dirty="0"/>
          </a:p>
        </p:txBody>
      </p:sp>
      <p:sp>
        <p:nvSpPr>
          <p:cNvPr id="46" name="Text 43"/>
          <p:cNvSpPr/>
          <p:nvPr/>
        </p:nvSpPr>
        <p:spPr>
          <a:xfrm>
            <a:off x="5349240" y="1920240"/>
            <a:ext cx="26517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+ headcount</a:t>
            </a:r>
            <a:endParaRPr lang="en-US" sz="680" dirty="0"/>
          </a:p>
        </p:txBody>
      </p:sp>
      <p:sp>
        <p:nvSpPr>
          <p:cNvPr id="47" name="Text 44"/>
          <p:cNvSpPr/>
          <p:nvPr/>
        </p:nvSpPr>
        <p:spPr>
          <a:xfrm>
            <a:off x="8055864" y="1920240"/>
            <a:ext cx="123444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CFO</a:t>
            </a:r>
            <a:endParaRPr lang="en-US" sz="680" dirty="0"/>
          </a:p>
        </p:txBody>
      </p:sp>
      <p:sp>
        <p:nvSpPr>
          <p:cNvPr id="48" name="Text 45"/>
          <p:cNvSpPr/>
          <p:nvPr/>
        </p:nvSpPr>
        <p:spPr>
          <a:xfrm>
            <a:off x="9345168" y="1920240"/>
            <a:ext cx="5943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T−6</a:t>
            </a:r>
            <a:endParaRPr lang="en-US" sz="680" dirty="0"/>
          </a:p>
        </p:txBody>
      </p:sp>
      <p:sp>
        <p:nvSpPr>
          <p:cNvPr id="49" name="Text 46"/>
          <p:cNvSpPr/>
          <p:nvPr/>
        </p:nvSpPr>
        <p:spPr>
          <a:xfrm>
            <a:off x="9994392" y="1920240"/>
            <a:ext cx="10515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review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5349240" y="2231136"/>
            <a:ext cx="26517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+ commit targets</a:t>
            </a:r>
            <a:endParaRPr lang="en-US" sz="680" dirty="0"/>
          </a:p>
        </p:txBody>
      </p:sp>
      <p:sp>
        <p:nvSpPr>
          <p:cNvPr id="51" name="Text 48"/>
          <p:cNvSpPr/>
          <p:nvPr/>
        </p:nvSpPr>
        <p:spPr>
          <a:xfrm>
            <a:off x="8055864" y="2231136"/>
            <a:ext cx="123444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</a:t>
            </a:r>
            <a:endParaRPr lang="en-US" sz="680" dirty="0"/>
          </a:p>
        </p:txBody>
      </p:sp>
      <p:sp>
        <p:nvSpPr>
          <p:cNvPr id="52" name="Text 49"/>
          <p:cNvSpPr/>
          <p:nvPr/>
        </p:nvSpPr>
        <p:spPr>
          <a:xfrm>
            <a:off x="9345168" y="2231136"/>
            <a:ext cx="5943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T−5</a:t>
            </a:r>
            <a:endParaRPr lang="en-US" sz="680" dirty="0"/>
          </a:p>
        </p:txBody>
      </p:sp>
      <p:sp>
        <p:nvSpPr>
          <p:cNvPr id="53" name="Text 50"/>
          <p:cNvSpPr/>
          <p:nvPr/>
        </p:nvSpPr>
        <p:spPr>
          <a:xfrm>
            <a:off x="9994392" y="2231136"/>
            <a:ext cx="10515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680" dirty="0"/>
          </a:p>
        </p:txBody>
      </p:sp>
      <p:sp>
        <p:nvSpPr>
          <p:cNvPr id="54" name="Text 51"/>
          <p:cNvSpPr/>
          <p:nvPr/>
        </p:nvSpPr>
        <p:spPr>
          <a:xfrm>
            <a:off x="5349240" y="2542032"/>
            <a:ext cx="26517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tier + GA date</a:t>
            </a:r>
            <a:endParaRPr lang="en-US" sz="680" dirty="0"/>
          </a:p>
        </p:txBody>
      </p:sp>
      <p:sp>
        <p:nvSpPr>
          <p:cNvPr id="55" name="Text 52"/>
          <p:cNvSpPr/>
          <p:nvPr/>
        </p:nvSpPr>
        <p:spPr>
          <a:xfrm>
            <a:off x="8055864" y="2542032"/>
            <a:ext cx="123444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VP Product</a:t>
            </a:r>
            <a:endParaRPr lang="en-US" sz="680" dirty="0"/>
          </a:p>
        </p:txBody>
      </p:sp>
      <p:sp>
        <p:nvSpPr>
          <p:cNvPr id="56" name="Text 53"/>
          <p:cNvSpPr/>
          <p:nvPr/>
        </p:nvSpPr>
        <p:spPr>
          <a:xfrm>
            <a:off x="9345168" y="2542032"/>
            <a:ext cx="5943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T−8</a:t>
            </a:r>
            <a:endParaRPr lang="en-US" sz="680" dirty="0"/>
          </a:p>
        </p:txBody>
      </p:sp>
      <p:sp>
        <p:nvSpPr>
          <p:cNvPr id="57" name="Text 54"/>
          <p:cNvSpPr/>
          <p:nvPr/>
        </p:nvSpPr>
        <p:spPr>
          <a:xfrm>
            <a:off x="9994392" y="2542032"/>
            <a:ext cx="10515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</a:t>
            </a:r>
            <a:endParaRPr lang="en-US" sz="680" dirty="0"/>
          </a:p>
        </p:txBody>
      </p:sp>
      <p:sp>
        <p:nvSpPr>
          <p:cNvPr id="58" name="Text 55"/>
          <p:cNvSpPr/>
          <p:nvPr/>
        </p:nvSpPr>
        <p:spPr>
          <a:xfrm>
            <a:off x="5349240" y="2852928"/>
            <a:ext cx="26517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+ packaging</a:t>
            </a:r>
            <a:endParaRPr lang="en-US" sz="680" dirty="0"/>
          </a:p>
        </p:txBody>
      </p:sp>
      <p:sp>
        <p:nvSpPr>
          <p:cNvPr id="59" name="Text 56"/>
          <p:cNvSpPr/>
          <p:nvPr/>
        </p:nvSpPr>
        <p:spPr>
          <a:xfrm>
            <a:off x="8055864" y="2852928"/>
            <a:ext cx="123444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CFO + CRO</a:t>
            </a:r>
            <a:endParaRPr lang="en-US" sz="680" dirty="0"/>
          </a:p>
        </p:txBody>
      </p:sp>
      <p:sp>
        <p:nvSpPr>
          <p:cNvPr id="60" name="Text 57"/>
          <p:cNvSpPr/>
          <p:nvPr/>
        </p:nvSpPr>
        <p:spPr>
          <a:xfrm>
            <a:off x="9345168" y="2852928"/>
            <a:ext cx="5943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T−6</a:t>
            </a:r>
            <a:endParaRPr lang="en-US" sz="680" dirty="0"/>
          </a:p>
        </p:txBody>
      </p:sp>
      <p:sp>
        <p:nvSpPr>
          <p:cNvPr id="61" name="Text 58"/>
          <p:cNvSpPr/>
          <p:nvPr/>
        </p:nvSpPr>
        <p:spPr>
          <a:xfrm>
            <a:off x="9994392" y="2852928"/>
            <a:ext cx="10515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review</a:t>
            </a:r>
            <a:endParaRPr lang="en-US" sz="680" dirty="0"/>
          </a:p>
        </p:txBody>
      </p:sp>
      <p:sp>
        <p:nvSpPr>
          <p:cNvPr id="62" name="Text 59"/>
          <p:cNvSpPr/>
          <p:nvPr/>
        </p:nvSpPr>
        <p:spPr>
          <a:xfrm>
            <a:off x="5349240" y="3163824"/>
            <a:ext cx="26517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+ support model</a:t>
            </a:r>
            <a:endParaRPr lang="en-US" sz="680" dirty="0"/>
          </a:p>
        </p:txBody>
      </p:sp>
      <p:sp>
        <p:nvSpPr>
          <p:cNvPr id="63" name="Text 60"/>
          <p:cNvSpPr/>
          <p:nvPr/>
        </p:nvSpPr>
        <p:spPr>
          <a:xfrm>
            <a:off x="8055864" y="3163824"/>
            <a:ext cx="123444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VP Engineering</a:t>
            </a:r>
            <a:endParaRPr lang="en-US" sz="680" dirty="0"/>
          </a:p>
        </p:txBody>
      </p:sp>
      <p:sp>
        <p:nvSpPr>
          <p:cNvPr id="64" name="Text 61"/>
          <p:cNvSpPr/>
          <p:nvPr/>
        </p:nvSpPr>
        <p:spPr>
          <a:xfrm>
            <a:off x="9345168" y="3163824"/>
            <a:ext cx="5943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T−5</a:t>
            </a:r>
            <a:endParaRPr lang="en-US" sz="680" dirty="0"/>
          </a:p>
        </p:txBody>
      </p:sp>
      <p:sp>
        <p:nvSpPr>
          <p:cNvPr id="65" name="Text 62"/>
          <p:cNvSpPr/>
          <p:nvPr/>
        </p:nvSpPr>
        <p:spPr>
          <a:xfrm>
            <a:off x="9994392" y="3163824"/>
            <a:ext cx="10515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680" dirty="0"/>
          </a:p>
        </p:txBody>
      </p:sp>
      <p:sp>
        <p:nvSpPr>
          <p:cNvPr id="66" name="Text 63"/>
          <p:cNvSpPr/>
          <p:nvPr/>
        </p:nvSpPr>
        <p:spPr>
          <a:xfrm>
            <a:off x="5349240" y="3474720"/>
            <a:ext cx="26517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+ marketplace terms</a:t>
            </a:r>
            <a:endParaRPr lang="en-US" sz="680" dirty="0"/>
          </a:p>
        </p:txBody>
      </p:sp>
      <p:sp>
        <p:nvSpPr>
          <p:cNvPr id="67" name="Text 64"/>
          <p:cNvSpPr/>
          <p:nvPr/>
        </p:nvSpPr>
        <p:spPr>
          <a:xfrm>
            <a:off x="8055864" y="3474720"/>
            <a:ext cx="123444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</a:t>
            </a:r>
            <a:endParaRPr lang="en-US" sz="680" dirty="0"/>
          </a:p>
        </p:txBody>
      </p:sp>
      <p:sp>
        <p:nvSpPr>
          <p:cNvPr id="68" name="Text 65"/>
          <p:cNvSpPr/>
          <p:nvPr/>
        </p:nvSpPr>
        <p:spPr>
          <a:xfrm>
            <a:off x="9345168" y="3474720"/>
            <a:ext cx="5943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T−4</a:t>
            </a:r>
            <a:endParaRPr lang="en-US" sz="680" dirty="0"/>
          </a:p>
        </p:txBody>
      </p:sp>
      <p:sp>
        <p:nvSpPr>
          <p:cNvPr id="69" name="Text 66"/>
          <p:cNvSpPr/>
          <p:nvPr/>
        </p:nvSpPr>
        <p:spPr>
          <a:xfrm>
            <a:off x="9994392" y="3474720"/>
            <a:ext cx="1051560" cy="237744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254" tIns="381" rIns="381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680" dirty="0"/>
          </a:p>
        </p:txBody>
      </p:sp>
      <p:sp>
        <p:nvSpPr>
          <p:cNvPr id="70" name="Text 67"/>
          <p:cNvSpPr/>
          <p:nvPr/>
        </p:nvSpPr>
        <p:spPr>
          <a:xfrm>
            <a:off x="5349240" y="40050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B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standard</a:t>
            </a:r>
            <a:endParaRPr lang="en-US" sz="600" dirty="0"/>
          </a:p>
        </p:txBody>
      </p:sp>
      <p:sp>
        <p:nvSpPr>
          <p:cNvPr id="71" name="Text 68"/>
          <p:cNvSpPr/>
          <p:nvPr/>
        </p:nvSpPr>
        <p:spPr>
          <a:xfrm>
            <a:off x="5349240" y="4224528"/>
            <a:ext cx="5989320" cy="457200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762" tIns="1524" rIns="1524" bIns="762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8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launch-critical decision has an owner, due date and current status before the critical path begins.</a:t>
            </a:r>
            <a:endParaRPr lang="en-US" sz="760" dirty="0"/>
          </a:p>
        </p:txBody>
      </p:sp>
      <p:sp>
        <p:nvSpPr>
          <p:cNvPr id="72" name="Text 69"/>
          <p:cNvSpPr/>
          <p:nvPr/>
        </p:nvSpPr>
        <p:spPr>
          <a:xfrm>
            <a:off x="5349240" y="5193792"/>
            <a:ext cx="5989320" cy="384048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762" tIns="1524" rIns="1524" bIns="762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ASK  Clear every decision by T−4; anything still amber escalates to the launch steering group.</a:t>
            </a:r>
            <a:endParaRPr lang="en-US" sz="6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ROUTES TO MARKET  •  COMMERCIAL MOTION</a:t>
            </a:r>
            <a:endParaRPr lang="en-US" sz="570" dirty="0"/>
          </a:p>
        </p:txBody>
      </p:sp>
      <p:sp>
        <p:nvSpPr>
          <p:cNvPr id="3" name="Text 1"/>
          <p:cNvSpPr/>
          <p:nvPr/>
        </p:nvSpPr>
        <p:spPr>
          <a:xfrm>
            <a:off x="475488" y="4389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0A0B0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routes, one commercial spine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83210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D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Buying vehicle determines entry; every route advances through gated handoffs from qualification to expansion.</a:t>
            </a:r>
            <a:endParaRPr lang="en-US" sz="710" dirty="0"/>
          </a:p>
        </p:txBody>
      </p:sp>
      <p:sp>
        <p:nvSpPr>
          <p:cNvPr id="5" name="Shape 3"/>
          <p:cNvSpPr/>
          <p:nvPr/>
        </p:nvSpPr>
        <p:spPr>
          <a:xfrm>
            <a:off x="475488" y="1088136"/>
            <a:ext cx="11018520" cy="0"/>
          </a:xfrm>
          <a:prstGeom prst="line">
            <a:avLst/>
          </a:prstGeom>
          <a:noFill/>
          <a:ln w="7620">
            <a:solidFill>
              <a:srgbClr val="FF3D00">
                <a:alpha val="85000"/>
              </a:srgbClr>
            </a:solidFill>
            <a:prstDash val="solid"/>
          </a:ln>
        </p:spPr>
      </p:sp>
      <p:pic>
        <p:nvPicPr>
          <p:cNvPr id="6" name="Image 0" descr="/mnt/data/pptx_extract/ppt/media/image-2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0312" y="237744"/>
            <a:ext cx="109728" cy="1097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47688"/>
            <a:ext cx="12192000" cy="210312"/>
          </a:xfrm>
          <a:prstGeom prst="rect">
            <a:avLst/>
          </a:prstGeom>
          <a:solidFill>
            <a:srgbClr val="0A0B0D"/>
          </a:solidFill>
          <a:ln w="12700">
            <a:solidFill>
              <a:srgbClr val="0A0B0D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8912" y="6428232"/>
            <a:ext cx="146304" cy="27432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637336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" dirty="0">
                <a:solidFill>
                  <a:srgbClr val="6D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Mistral Studio  •  Launch &amp; commercialization plan</a:t>
            </a:r>
            <a:endParaRPr lang="en-US" sz="490" dirty="0"/>
          </a:p>
        </p:txBody>
      </p:sp>
      <p:sp>
        <p:nvSpPr>
          <p:cNvPr id="10" name="Text 7"/>
          <p:cNvSpPr/>
          <p:nvPr/>
        </p:nvSpPr>
        <p:spPr>
          <a:xfrm>
            <a:off x="11612880" y="63276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520" dirty="0"/>
          </a:p>
        </p:txBody>
      </p:sp>
      <p:sp>
        <p:nvSpPr>
          <p:cNvPr id="11" name="Text 8"/>
          <p:cNvSpPr/>
          <p:nvPr/>
        </p:nvSpPr>
        <p:spPr>
          <a:xfrm>
            <a:off x="530352" y="1243584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ROUTES AND ROUTE OF RECORD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530352" y="1444752"/>
            <a:ext cx="1417320" cy="201168"/>
          </a:xfrm>
          <a:prstGeom prst="rect">
            <a:avLst/>
          </a:prstGeom>
          <a:solidFill>
            <a:srgbClr val="F2E6D9"/>
          </a:solidFill>
          <a:ln/>
        </p:spPr>
        <p:txBody>
          <a:bodyPr wrap="square" lIns="508" tIns="635" rIns="635" bIns="508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</a:t>
            </a:r>
            <a:endParaRPr lang="en-US" sz="580" dirty="0"/>
          </a:p>
        </p:txBody>
      </p:sp>
      <p:sp>
        <p:nvSpPr>
          <p:cNvPr id="13" name="Text 10"/>
          <p:cNvSpPr/>
          <p:nvPr/>
        </p:nvSpPr>
        <p:spPr>
          <a:xfrm>
            <a:off x="2020824" y="1444752"/>
            <a:ext cx="2331720" cy="201168"/>
          </a:xfrm>
          <a:prstGeom prst="rect">
            <a:avLst/>
          </a:prstGeom>
          <a:solidFill>
            <a:srgbClr val="F2E6D9"/>
          </a:solidFill>
          <a:ln/>
        </p:spPr>
        <p:txBody>
          <a:bodyPr wrap="square" lIns="508" tIns="635" rIns="635" bIns="508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ENTERS THERE</a:t>
            </a:r>
            <a:endParaRPr lang="en-US" sz="580" dirty="0"/>
          </a:p>
        </p:txBody>
      </p:sp>
      <p:sp>
        <p:nvSpPr>
          <p:cNvPr id="14" name="Text 11"/>
          <p:cNvSpPr/>
          <p:nvPr/>
        </p:nvSpPr>
        <p:spPr>
          <a:xfrm>
            <a:off x="4425696" y="1444752"/>
            <a:ext cx="2148840" cy="201168"/>
          </a:xfrm>
          <a:prstGeom prst="rect">
            <a:avLst/>
          </a:prstGeom>
          <a:solidFill>
            <a:srgbClr val="F2E6D9"/>
          </a:solidFill>
          <a:ln/>
        </p:spPr>
        <p:txBody>
          <a:bodyPr wrap="square" lIns="508" tIns="635" rIns="635" bIns="508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IS RUN</a:t>
            </a:r>
            <a:endParaRPr lang="en-US" sz="580" dirty="0"/>
          </a:p>
        </p:txBody>
      </p:sp>
      <p:sp>
        <p:nvSpPr>
          <p:cNvPr id="15" name="Text 12"/>
          <p:cNvSpPr/>
          <p:nvPr/>
        </p:nvSpPr>
        <p:spPr>
          <a:xfrm>
            <a:off x="6647688" y="1444752"/>
            <a:ext cx="2651760" cy="201168"/>
          </a:xfrm>
          <a:prstGeom prst="rect">
            <a:avLst/>
          </a:prstGeom>
          <a:solidFill>
            <a:srgbClr val="F2E6D9"/>
          </a:solidFill>
          <a:ln/>
        </p:spPr>
        <p:txBody>
          <a:bodyPr wrap="square" lIns="508" tIns="635" rIns="635" bIns="508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RULE</a:t>
            </a:r>
            <a:endParaRPr lang="en-US" sz="580" dirty="0"/>
          </a:p>
        </p:txBody>
      </p:sp>
      <p:sp>
        <p:nvSpPr>
          <p:cNvPr id="16" name="Text 13"/>
          <p:cNvSpPr/>
          <p:nvPr/>
        </p:nvSpPr>
        <p:spPr>
          <a:xfrm>
            <a:off x="530352" y="1737360"/>
            <a:ext cx="1417320" cy="365760"/>
          </a:xfrm>
          <a:prstGeom prst="rect">
            <a:avLst/>
          </a:prstGeom>
          <a:solidFill>
            <a:srgbClr val="FDF7EF"/>
          </a:solidFill>
          <a:ln w="3810">
            <a:solidFill>
              <a:srgbClr val="E9D9CB"/>
            </a:solidFill>
          </a:ln>
        </p:spPr>
        <p:txBody>
          <a:bodyPr wrap="square" lIns="508" tIns="762" rIns="762" bIns="508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Self-serve</a:t>
            </a:r>
            <a:endParaRPr lang="en-US" sz="730" dirty="0"/>
          </a:p>
        </p:txBody>
      </p:sp>
      <p:sp>
        <p:nvSpPr>
          <p:cNvPr id="17" name="Text 14"/>
          <p:cNvSpPr/>
          <p:nvPr/>
        </p:nvSpPr>
        <p:spPr>
          <a:xfrm>
            <a:off x="2020824" y="1737360"/>
            <a:ext cx="2331720" cy="365760"/>
          </a:xfrm>
          <a:prstGeom prst="rect">
            <a:avLst/>
          </a:prstGeom>
          <a:solidFill>
            <a:srgbClr val="FDF7EF"/>
          </a:solidFill>
          <a:ln w="3810">
            <a:solidFill>
              <a:srgbClr val="E9D9CB"/>
            </a:solidFill>
          </a:ln>
        </p:spPr>
        <p:txBody>
          <a:bodyPr wrap="square" lIns="508" tIns="762" rIns="762" bIns="508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Developers and small teams; card or PAYG, no sales contact</a:t>
            </a:r>
            <a:endParaRPr lang="en-US" sz="670" dirty="0"/>
          </a:p>
        </p:txBody>
      </p:sp>
      <p:sp>
        <p:nvSpPr>
          <p:cNvPr id="18" name="Text 15"/>
          <p:cNvSpPr/>
          <p:nvPr/>
        </p:nvSpPr>
        <p:spPr>
          <a:xfrm>
            <a:off x="4425696" y="1737360"/>
            <a:ext cx="2148840" cy="365760"/>
          </a:xfrm>
          <a:prstGeom prst="rect">
            <a:avLst/>
          </a:prstGeom>
          <a:solidFill>
            <a:srgbClr val="FDF7EF"/>
          </a:solidFill>
          <a:ln w="3810">
            <a:solidFill>
              <a:srgbClr val="E9D9CB"/>
            </a:solidFill>
          </a:ln>
        </p:spPr>
        <p:txBody>
          <a:bodyPr wrap="square" lIns="508" tIns="762" rIns="762" bIns="508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Product-led; Growth owns funnel, Sales engages above threshold</a:t>
            </a:r>
            <a:endParaRPr lang="en-US" sz="670" dirty="0"/>
          </a:p>
        </p:txBody>
      </p:sp>
      <p:sp>
        <p:nvSpPr>
          <p:cNvPr id="19" name="Text 16"/>
          <p:cNvSpPr/>
          <p:nvPr/>
        </p:nvSpPr>
        <p:spPr>
          <a:xfrm>
            <a:off x="6647688" y="1737360"/>
            <a:ext cx="2651760" cy="365760"/>
          </a:xfrm>
          <a:prstGeom prst="rect">
            <a:avLst/>
          </a:prstGeom>
          <a:solidFill>
            <a:srgbClr val="FDF7EF"/>
          </a:solidFill>
          <a:ln w="3810">
            <a:solidFill>
              <a:srgbClr val="E9D9CB"/>
            </a:solidFill>
          </a:ln>
        </p:spPr>
        <p:txBody>
          <a:bodyPr wrap="square" lIns="508" tIns="762" rIns="762" bIns="508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below enterprise spend threshold</a:t>
            </a:r>
            <a:endParaRPr lang="en-US" sz="670" dirty="0"/>
          </a:p>
        </p:txBody>
      </p:sp>
      <p:sp>
        <p:nvSpPr>
          <p:cNvPr id="20" name="Text 17"/>
          <p:cNvSpPr/>
          <p:nvPr/>
        </p:nvSpPr>
        <p:spPr>
          <a:xfrm>
            <a:off x="530352" y="2176272"/>
            <a:ext cx="1417320" cy="365760"/>
          </a:xfrm>
          <a:prstGeom prst="rect">
            <a:avLst/>
          </a:prstGeom>
          <a:solidFill>
            <a:srgbClr val="FBF3EA"/>
          </a:solidFill>
          <a:ln w="3810">
            <a:solidFill>
              <a:srgbClr val="E9D9CB"/>
            </a:solidFill>
          </a:ln>
        </p:spPr>
        <p:txBody>
          <a:bodyPr wrap="square" lIns="508" tIns="762" rIns="762" bIns="508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enterprise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2020824" y="2176272"/>
            <a:ext cx="2331720" cy="365760"/>
          </a:xfrm>
          <a:prstGeom prst="rect">
            <a:avLst/>
          </a:prstGeom>
          <a:solidFill>
            <a:srgbClr val="FBF3EA"/>
          </a:solidFill>
          <a:ln w="3810">
            <a:solidFill>
              <a:srgbClr val="E9D9CB"/>
            </a:solidFill>
          </a:ln>
        </p:spPr>
        <p:txBody>
          <a:bodyPr wrap="square" lIns="508" tIns="762" rIns="762" bIns="508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platform teams; committed capacity, custom terms</a:t>
            </a:r>
            <a:endParaRPr lang="en-US" sz="670" dirty="0"/>
          </a:p>
        </p:txBody>
      </p:sp>
      <p:sp>
        <p:nvSpPr>
          <p:cNvPr id="22" name="Text 19"/>
          <p:cNvSpPr/>
          <p:nvPr/>
        </p:nvSpPr>
        <p:spPr>
          <a:xfrm>
            <a:off x="4425696" y="2176272"/>
            <a:ext cx="2148840" cy="365760"/>
          </a:xfrm>
          <a:prstGeom prst="rect">
            <a:avLst/>
          </a:prstGeom>
          <a:solidFill>
            <a:srgbClr val="FBF3EA"/>
          </a:solidFill>
          <a:ln w="3810">
            <a:solidFill>
              <a:srgbClr val="E9D9CB"/>
            </a:solidFill>
          </a:ln>
        </p:spPr>
        <p:txBody>
          <a:bodyPr wrap="square" lIns="508" tIns="762" rIns="762" bIns="508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Sales-led; AE + SE own POV to contract; Finance approves terms</a:t>
            </a:r>
            <a:endParaRPr lang="en-US" sz="670" dirty="0"/>
          </a:p>
        </p:txBody>
      </p:sp>
      <p:sp>
        <p:nvSpPr>
          <p:cNvPr id="23" name="Text 20"/>
          <p:cNvSpPr/>
          <p:nvPr/>
        </p:nvSpPr>
        <p:spPr>
          <a:xfrm>
            <a:off x="6647688" y="2176272"/>
            <a:ext cx="2651760" cy="365760"/>
          </a:xfrm>
          <a:prstGeom prst="rect">
            <a:avLst/>
          </a:prstGeom>
          <a:solidFill>
            <a:srgbClr val="FBF3EA"/>
          </a:solidFill>
          <a:ln w="3810">
            <a:solidFill>
              <a:srgbClr val="E9D9CB"/>
            </a:solidFill>
          </a:ln>
        </p:spPr>
        <p:txBody>
          <a:bodyPr wrap="square" lIns="508" tIns="762" rIns="762" bIns="508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above enterprise threshold</a:t>
            </a:r>
            <a:endParaRPr lang="en-US" sz="670" dirty="0"/>
          </a:p>
        </p:txBody>
      </p:sp>
      <p:sp>
        <p:nvSpPr>
          <p:cNvPr id="24" name="Text 21"/>
          <p:cNvSpPr/>
          <p:nvPr/>
        </p:nvSpPr>
        <p:spPr>
          <a:xfrm>
            <a:off x="530352" y="2615184"/>
            <a:ext cx="1417320" cy="365760"/>
          </a:xfrm>
          <a:prstGeom prst="rect">
            <a:avLst/>
          </a:prstGeom>
          <a:solidFill>
            <a:srgbClr val="FDF7EF"/>
          </a:solidFill>
          <a:ln w="3810">
            <a:solidFill>
              <a:srgbClr val="E9D9CB"/>
            </a:solidFill>
          </a:ln>
        </p:spPr>
        <p:txBody>
          <a:bodyPr wrap="square" lIns="508" tIns="762" rIns="762" bIns="508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marketplace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2020824" y="2615184"/>
            <a:ext cx="2331720" cy="365760"/>
          </a:xfrm>
          <a:prstGeom prst="rect">
            <a:avLst/>
          </a:prstGeom>
          <a:solidFill>
            <a:srgbClr val="FDF7EF"/>
          </a:solidFill>
          <a:ln w="3810">
            <a:solidFill>
              <a:srgbClr val="E9D9CB"/>
            </a:solidFill>
          </a:ln>
        </p:spPr>
        <p:txBody>
          <a:bodyPr wrap="square" lIns="508" tIns="762" rIns="762" bIns="508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Cloud-committed buyers; private offers retire cloud spend</a:t>
            </a:r>
            <a:endParaRPr lang="en-US" sz="670" dirty="0"/>
          </a:p>
        </p:txBody>
      </p:sp>
      <p:sp>
        <p:nvSpPr>
          <p:cNvPr id="26" name="Text 23"/>
          <p:cNvSpPr/>
          <p:nvPr/>
        </p:nvSpPr>
        <p:spPr>
          <a:xfrm>
            <a:off x="4425696" y="2615184"/>
            <a:ext cx="2148840" cy="365760"/>
          </a:xfrm>
          <a:prstGeom prst="rect">
            <a:avLst/>
          </a:prstGeom>
          <a:solidFill>
            <a:srgbClr val="FDF7EF"/>
          </a:solidFill>
          <a:ln w="3810">
            <a:solidFill>
              <a:srgbClr val="E9D9CB"/>
            </a:solidFill>
          </a:ln>
        </p:spPr>
        <p:txBody>
          <a:bodyPr wrap="square" lIns="508" tIns="762" rIns="762" bIns="508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Co-sell; Alliances own listings and private offers</a:t>
            </a:r>
            <a:endParaRPr lang="en-US" sz="670" dirty="0"/>
          </a:p>
        </p:txBody>
      </p:sp>
      <p:sp>
        <p:nvSpPr>
          <p:cNvPr id="27" name="Text 24"/>
          <p:cNvSpPr/>
          <p:nvPr/>
        </p:nvSpPr>
        <p:spPr>
          <a:xfrm>
            <a:off x="6647688" y="2615184"/>
            <a:ext cx="2651760" cy="365760"/>
          </a:xfrm>
          <a:prstGeom prst="rect">
            <a:avLst/>
          </a:prstGeom>
          <a:solidFill>
            <a:srgbClr val="FDF7EF"/>
          </a:solidFill>
          <a:ln w="3810">
            <a:solidFill>
              <a:srgbClr val="E9D9CB"/>
            </a:solidFill>
          </a:ln>
        </p:spPr>
        <p:txBody>
          <a:bodyPr wrap="square" lIns="508" tIns="762" rIns="762" bIns="508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 cloud commitment applies</a:t>
            </a:r>
            <a:endParaRPr lang="en-US" sz="670" dirty="0"/>
          </a:p>
        </p:txBody>
      </p:sp>
      <p:sp>
        <p:nvSpPr>
          <p:cNvPr id="28" name="Text 25"/>
          <p:cNvSpPr/>
          <p:nvPr/>
        </p:nvSpPr>
        <p:spPr>
          <a:xfrm>
            <a:off x="530352" y="3054096"/>
            <a:ext cx="1417320" cy="365760"/>
          </a:xfrm>
          <a:prstGeom prst="rect">
            <a:avLst/>
          </a:prstGeom>
          <a:solidFill>
            <a:srgbClr val="FBF3EA"/>
          </a:solidFill>
          <a:ln w="3810">
            <a:solidFill>
              <a:srgbClr val="E9D9CB"/>
            </a:solidFill>
          </a:ln>
        </p:spPr>
        <p:txBody>
          <a:bodyPr wrap="square" lIns="508" tIns="762" rIns="762" bIns="508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/ SIs</a:t>
            </a:r>
            <a:endParaRPr lang="en-US" sz="730" dirty="0"/>
          </a:p>
        </p:txBody>
      </p:sp>
      <p:sp>
        <p:nvSpPr>
          <p:cNvPr id="29" name="Text 26"/>
          <p:cNvSpPr/>
          <p:nvPr/>
        </p:nvSpPr>
        <p:spPr>
          <a:xfrm>
            <a:off x="2020824" y="3054096"/>
            <a:ext cx="2331720" cy="365760"/>
          </a:xfrm>
          <a:prstGeom prst="rect">
            <a:avLst/>
          </a:prstGeom>
          <a:solidFill>
            <a:srgbClr val="FBF3EA"/>
          </a:solidFill>
          <a:ln w="3810">
            <a:solidFill>
              <a:srgbClr val="E9D9CB"/>
            </a:solidFill>
          </a:ln>
        </p:spPr>
        <p:txBody>
          <a:bodyPr wrap="square" lIns="508" tIns="762" rIns="762" bIns="508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Regulated and delivery-led accounts; co-sell and implementation</a:t>
            </a:r>
            <a:endParaRPr lang="en-US" sz="670" dirty="0"/>
          </a:p>
        </p:txBody>
      </p:sp>
      <p:sp>
        <p:nvSpPr>
          <p:cNvPr id="30" name="Text 27"/>
          <p:cNvSpPr/>
          <p:nvPr/>
        </p:nvSpPr>
        <p:spPr>
          <a:xfrm>
            <a:off x="4425696" y="3054096"/>
            <a:ext cx="2148840" cy="365760"/>
          </a:xfrm>
          <a:prstGeom prst="rect">
            <a:avLst/>
          </a:prstGeom>
          <a:solidFill>
            <a:srgbClr val="FBF3EA"/>
          </a:solidFill>
          <a:ln w="3810">
            <a:solidFill>
              <a:srgbClr val="E9D9CB"/>
            </a:solidFill>
          </a:ln>
        </p:spPr>
        <p:txBody>
          <a:bodyPr wrap="square" lIns="508" tIns="762" rIns="762" bIns="508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Co-sell; partners deliver deployment with SE support</a:t>
            </a:r>
            <a:endParaRPr lang="en-US" sz="670" dirty="0"/>
          </a:p>
        </p:txBody>
      </p:sp>
      <p:sp>
        <p:nvSpPr>
          <p:cNvPr id="31" name="Text 28"/>
          <p:cNvSpPr/>
          <p:nvPr/>
        </p:nvSpPr>
        <p:spPr>
          <a:xfrm>
            <a:off x="6647688" y="3054096"/>
            <a:ext cx="2651760" cy="365760"/>
          </a:xfrm>
          <a:prstGeom prst="rect">
            <a:avLst/>
          </a:prstGeom>
          <a:solidFill>
            <a:srgbClr val="FBF3EA"/>
          </a:solidFill>
          <a:ln w="3810">
            <a:solidFill>
              <a:srgbClr val="E9D9CB"/>
            </a:solidFill>
          </a:ln>
        </p:spPr>
        <p:txBody>
          <a:bodyPr wrap="square" lIns="508" tIns="762" rIns="762" bIns="508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 delivery capacity decides</a:t>
            </a:r>
            <a:endParaRPr lang="en-US" sz="670" dirty="0"/>
          </a:p>
        </p:txBody>
      </p:sp>
      <p:sp>
        <p:nvSpPr>
          <p:cNvPr id="32" name="Text 29"/>
          <p:cNvSpPr/>
          <p:nvPr/>
        </p:nvSpPr>
        <p:spPr>
          <a:xfrm>
            <a:off x="530352" y="370332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COMMERCIAL SPINE</a:t>
            </a:r>
            <a:endParaRPr lang="en-US" sz="550" dirty="0"/>
          </a:p>
        </p:txBody>
      </p:sp>
      <p:sp>
        <p:nvSpPr>
          <p:cNvPr id="33" name="Text 30"/>
          <p:cNvSpPr/>
          <p:nvPr/>
        </p:nvSpPr>
        <p:spPr>
          <a:xfrm>
            <a:off x="530352" y="4023360"/>
            <a:ext cx="2084832" cy="960120"/>
          </a:xfrm>
          <a:prstGeom prst="rect">
            <a:avLst/>
          </a:prstGeom>
          <a:solidFill>
            <a:srgbClr val="FDF7EF"/>
          </a:solidFill>
          <a:ln w="6350">
            <a:solidFill>
              <a:srgbClr val="E9D9CB"/>
            </a:solidFill>
          </a:ln>
        </p:spPr>
        <p:txBody>
          <a:bodyPr wrap="square" lIns="889" tIns="1016" rIns="1016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Qualify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Workspace active + first workflow run; use case, budget and deployment need confirmed.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• Growth • Sales</a:t>
            </a:r>
            <a:endParaRPr lang="en-US" sz="690" dirty="0"/>
          </a:p>
        </p:txBody>
      </p:sp>
      <p:sp>
        <p:nvSpPr>
          <p:cNvPr id="34" name="Shape 31"/>
          <p:cNvSpPr/>
          <p:nvPr/>
        </p:nvSpPr>
        <p:spPr>
          <a:xfrm>
            <a:off x="530352" y="4023360"/>
            <a:ext cx="2084832" cy="45720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3504" y="4123944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QUALIFY</a:t>
            </a:r>
            <a:endParaRPr lang="en-US" sz="570" dirty="0"/>
          </a:p>
        </p:txBody>
      </p:sp>
      <p:sp>
        <p:nvSpPr>
          <p:cNvPr id="36" name="Text 33"/>
          <p:cNvSpPr/>
          <p:nvPr/>
        </p:nvSpPr>
        <p:spPr>
          <a:xfrm>
            <a:off x="2706624" y="4023360"/>
            <a:ext cx="2084832" cy="960120"/>
          </a:xfrm>
          <a:prstGeom prst="rect">
            <a:avLst/>
          </a:prstGeom>
          <a:solidFill>
            <a:srgbClr val="FDF7EF"/>
          </a:solidFill>
          <a:ln w="6350">
            <a:solidFill>
              <a:srgbClr val="E9D9CB"/>
            </a:solidFill>
          </a:ln>
        </p:spPr>
        <p:txBody>
          <a:bodyPr wrap="square" lIns="889" tIns="1016" rIns="1016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POV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POV scope with success criteria, data access and dated exit decision.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• SE • Product</a:t>
            </a:r>
            <a:endParaRPr lang="en-US" sz="690" dirty="0"/>
          </a:p>
        </p:txBody>
      </p:sp>
      <p:sp>
        <p:nvSpPr>
          <p:cNvPr id="37" name="Shape 34"/>
          <p:cNvSpPr/>
          <p:nvPr/>
        </p:nvSpPr>
        <p:spPr>
          <a:xfrm>
            <a:off x="2706624" y="4023360"/>
            <a:ext cx="2084832" cy="45720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779776" y="4123944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POV</a:t>
            </a:r>
            <a:endParaRPr lang="en-US" sz="570" dirty="0"/>
          </a:p>
        </p:txBody>
      </p:sp>
      <p:sp>
        <p:nvSpPr>
          <p:cNvPr id="39" name="Text 36"/>
          <p:cNvSpPr/>
          <p:nvPr/>
        </p:nvSpPr>
        <p:spPr>
          <a:xfrm>
            <a:off x="4882896" y="4023360"/>
            <a:ext cx="2084832" cy="960120"/>
          </a:xfrm>
          <a:prstGeom prst="rect">
            <a:avLst/>
          </a:prstGeom>
          <a:solidFill>
            <a:srgbClr val="FDF7EF"/>
          </a:solidFill>
          <a:ln w="6350">
            <a:solidFill>
              <a:srgbClr val="E9D9CB"/>
            </a:solidFill>
          </a:ln>
        </p:spPr>
        <p:txBody>
          <a:bodyPr wrap="square" lIns="889" tIns="1016" rIns="1016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POV criteria met; pricing and terms approved; security review cleared.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• Finance • Legal</a:t>
            </a:r>
            <a:endParaRPr lang="en-US" sz="690" dirty="0"/>
          </a:p>
        </p:txBody>
      </p:sp>
      <p:sp>
        <p:nvSpPr>
          <p:cNvPr id="40" name="Shape 37"/>
          <p:cNvSpPr/>
          <p:nvPr/>
        </p:nvSpPr>
        <p:spPr>
          <a:xfrm>
            <a:off x="4882896" y="4023360"/>
            <a:ext cx="2084832" cy="45720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956048" y="4123944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b="1" dirty="0">
                <a:solidFill>
                  <a:srgbClr val="FF8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</a:t>
            </a:r>
            <a:endParaRPr lang="en-US" sz="570" dirty="0"/>
          </a:p>
        </p:txBody>
      </p:sp>
      <p:sp>
        <p:nvSpPr>
          <p:cNvPr id="42" name="Text 39"/>
          <p:cNvSpPr/>
          <p:nvPr/>
        </p:nvSpPr>
        <p:spPr>
          <a:xfrm>
            <a:off x="7059168" y="4023360"/>
            <a:ext cx="2084832" cy="960120"/>
          </a:xfrm>
          <a:prstGeom prst="rect">
            <a:avLst/>
          </a:prstGeom>
          <a:solidFill>
            <a:srgbClr val="FDF7EF"/>
          </a:solidFill>
          <a:ln w="6350">
            <a:solidFill>
              <a:srgbClr val="E9D9CB"/>
            </a:solidFill>
          </a:ln>
        </p:spPr>
        <p:txBody>
          <a:bodyPr wrap="square" lIns="889" tIns="1016" rIns="1016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workload live on agreed SLA and deployment path.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• SE • Product</a:t>
            </a:r>
            <a:endParaRPr lang="en-US" sz="690" dirty="0"/>
          </a:p>
        </p:txBody>
      </p:sp>
      <p:sp>
        <p:nvSpPr>
          <p:cNvPr id="43" name="Shape 40"/>
          <p:cNvSpPr/>
          <p:nvPr/>
        </p:nvSpPr>
        <p:spPr>
          <a:xfrm>
            <a:off x="7059168" y="4023360"/>
            <a:ext cx="2084832" cy="45720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132320" y="4123944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b="1" dirty="0">
                <a:solidFill>
                  <a:srgbClr val="FF8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570" dirty="0"/>
          </a:p>
        </p:txBody>
      </p:sp>
      <p:sp>
        <p:nvSpPr>
          <p:cNvPr id="45" name="Text 42"/>
          <p:cNvSpPr/>
          <p:nvPr/>
        </p:nvSpPr>
        <p:spPr>
          <a:xfrm>
            <a:off x="9235440" y="4023360"/>
            <a:ext cx="2084832" cy="960120"/>
          </a:xfrm>
          <a:prstGeom prst="rect">
            <a:avLst/>
          </a:prstGeom>
          <a:solidFill>
            <a:srgbClr val="FDF7EF"/>
          </a:solidFill>
          <a:ln w="6350">
            <a:solidFill>
              <a:srgbClr val="E9D9CB"/>
            </a:solidFill>
          </a:ln>
        </p:spPr>
        <p:txBody>
          <a:bodyPr wrap="square" lIns="889" tIns="1016" rIns="1016" bIns="762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use case and commit uplift tied to production proof.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• SE • Finance</a:t>
            </a:r>
            <a:endParaRPr lang="en-US" sz="690" dirty="0"/>
          </a:p>
        </p:txBody>
      </p:sp>
      <p:sp>
        <p:nvSpPr>
          <p:cNvPr id="46" name="Shape 43"/>
          <p:cNvSpPr/>
          <p:nvPr/>
        </p:nvSpPr>
        <p:spPr>
          <a:xfrm>
            <a:off x="9235440" y="4023360"/>
            <a:ext cx="2084832" cy="45720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308592" y="4123944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b="1" dirty="0">
                <a:solidFill>
                  <a:srgbClr val="FF8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</a:t>
            </a:r>
            <a:endParaRPr lang="en-US" sz="570" dirty="0"/>
          </a:p>
        </p:txBody>
      </p:sp>
      <p:sp>
        <p:nvSpPr>
          <p:cNvPr id="48" name="Text 45"/>
          <p:cNvSpPr/>
          <p:nvPr/>
        </p:nvSpPr>
        <p:spPr>
          <a:xfrm>
            <a:off x="530352" y="5340096"/>
            <a:ext cx="10789920" cy="384048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762" tIns="1524" rIns="1524" bIns="762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RULE  No POV without a signed scope; no contract without met POV criteria; no expansion without a production workload running.</a:t>
            </a:r>
            <a:endParaRPr lang="en-US" sz="6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PRICING  •  PACKAGING  •  COMMERCIAL TERMS</a:t>
            </a:r>
            <a:endParaRPr lang="en-US" sz="570" dirty="0"/>
          </a:p>
        </p:txBody>
      </p:sp>
      <p:sp>
        <p:nvSpPr>
          <p:cNvPr id="3" name="Text 1"/>
          <p:cNvSpPr/>
          <p:nvPr/>
        </p:nvSpPr>
        <p:spPr>
          <a:xfrm>
            <a:off x="475488" y="4389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0A0B0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tiers, one meter, one commercial rulebook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83210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D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is free or metered; commitment and deployment control define the paid tiers and contract mechanics.</a:t>
            </a:r>
            <a:endParaRPr lang="en-US" sz="710" dirty="0"/>
          </a:p>
        </p:txBody>
      </p:sp>
      <p:sp>
        <p:nvSpPr>
          <p:cNvPr id="5" name="Shape 3"/>
          <p:cNvSpPr/>
          <p:nvPr/>
        </p:nvSpPr>
        <p:spPr>
          <a:xfrm>
            <a:off x="475488" y="1088136"/>
            <a:ext cx="11018520" cy="0"/>
          </a:xfrm>
          <a:prstGeom prst="line">
            <a:avLst/>
          </a:prstGeom>
          <a:noFill/>
          <a:ln w="7620">
            <a:solidFill>
              <a:srgbClr val="FF3D00">
                <a:alpha val="85000"/>
              </a:srgbClr>
            </a:solidFill>
            <a:prstDash val="solid"/>
          </a:ln>
        </p:spPr>
      </p:sp>
      <p:pic>
        <p:nvPicPr>
          <p:cNvPr id="6" name="Image 0" descr="/mnt/data/pptx_extract/ppt/media/image-2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0312" y="237744"/>
            <a:ext cx="109728" cy="1097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47688"/>
            <a:ext cx="12192000" cy="210312"/>
          </a:xfrm>
          <a:prstGeom prst="rect">
            <a:avLst/>
          </a:prstGeom>
          <a:solidFill>
            <a:srgbClr val="0A0B0D"/>
          </a:solidFill>
          <a:ln w="12700">
            <a:solidFill>
              <a:srgbClr val="0A0B0D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8912" y="6428232"/>
            <a:ext cx="146304" cy="27432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637336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" dirty="0">
                <a:solidFill>
                  <a:srgbClr val="6D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Mistral Studio  •  Launch &amp; commercialization plan</a:t>
            </a:r>
            <a:endParaRPr lang="en-US" sz="490" dirty="0"/>
          </a:p>
        </p:txBody>
      </p:sp>
      <p:sp>
        <p:nvSpPr>
          <p:cNvPr id="10" name="Text 7"/>
          <p:cNvSpPr/>
          <p:nvPr/>
        </p:nvSpPr>
        <p:spPr>
          <a:xfrm>
            <a:off x="11612880" y="63276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520" dirty="0"/>
          </a:p>
        </p:txBody>
      </p:sp>
      <p:sp>
        <p:nvSpPr>
          <p:cNvPr id="11" name="Text 8"/>
          <p:cNvSpPr/>
          <p:nvPr/>
        </p:nvSpPr>
        <p:spPr>
          <a:xfrm>
            <a:off x="530352" y="1216152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+ USAGE RATES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603504" y="1645920"/>
            <a:ext cx="3319272" cy="182880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$1.50 in • $7.50 out per 1M tokens</a:t>
            </a:r>
            <a:endParaRPr lang="en-US" sz="660" dirty="0"/>
          </a:p>
        </p:txBody>
      </p:sp>
      <p:sp>
        <p:nvSpPr>
          <p:cNvPr id="13" name="Shape 10"/>
          <p:cNvSpPr/>
          <p:nvPr/>
        </p:nvSpPr>
        <p:spPr>
          <a:xfrm>
            <a:off x="530352" y="1417320"/>
            <a:ext cx="32004" cy="438912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148132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MISTRAL MEDIUM 3.5</a:t>
            </a:r>
            <a:endParaRPr lang="en-US" sz="540" dirty="0"/>
          </a:p>
        </p:txBody>
      </p:sp>
      <p:sp>
        <p:nvSpPr>
          <p:cNvPr id="15" name="Text 12"/>
          <p:cNvSpPr/>
          <p:nvPr/>
        </p:nvSpPr>
        <p:spPr>
          <a:xfrm>
            <a:off x="4206240" y="1645920"/>
            <a:ext cx="3319272" cy="182880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$0.15 in • $0.60 out per 1M tokens</a:t>
            </a:r>
            <a:endParaRPr lang="en-US" sz="660" dirty="0"/>
          </a:p>
        </p:txBody>
      </p:sp>
      <p:sp>
        <p:nvSpPr>
          <p:cNvPr id="16" name="Shape 13"/>
          <p:cNvSpPr/>
          <p:nvPr/>
        </p:nvSpPr>
        <p:spPr>
          <a:xfrm>
            <a:off x="4133088" y="1417320"/>
            <a:ext cx="32004" cy="438912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24528" y="148132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8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MISTRAL SMALL 4</a:t>
            </a:r>
            <a:endParaRPr lang="en-US" sz="540" dirty="0"/>
          </a:p>
        </p:txBody>
      </p:sp>
      <p:sp>
        <p:nvSpPr>
          <p:cNvPr id="18" name="Text 15"/>
          <p:cNvSpPr/>
          <p:nvPr/>
        </p:nvSpPr>
        <p:spPr>
          <a:xfrm>
            <a:off x="7808976" y="1645920"/>
            <a:ext cx="3319272" cy="182880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Workspace credits; 30-day POV credits for qualified enterprise</a:t>
            </a:r>
            <a:endParaRPr lang="en-US" sz="660" dirty="0"/>
          </a:p>
        </p:txBody>
      </p:sp>
      <p:sp>
        <p:nvSpPr>
          <p:cNvPr id="19" name="Shape 16"/>
          <p:cNvSpPr/>
          <p:nvPr/>
        </p:nvSpPr>
        <p:spPr>
          <a:xfrm>
            <a:off x="7735824" y="1417320"/>
            <a:ext cx="32004" cy="438912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27264" y="148132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TIER + TRIAL</a:t>
            </a:r>
            <a:endParaRPr lang="en-US" sz="540" dirty="0"/>
          </a:p>
        </p:txBody>
      </p:sp>
      <p:sp>
        <p:nvSpPr>
          <p:cNvPr id="21" name="Text 18"/>
          <p:cNvSpPr/>
          <p:nvPr/>
        </p:nvSpPr>
        <p:spPr>
          <a:xfrm>
            <a:off x="530352" y="202996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PACKAGING TIERS AND SKU MECHANICS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530352" y="2350008"/>
            <a:ext cx="3429000" cy="2240280"/>
          </a:xfrm>
          <a:prstGeom prst="rect">
            <a:avLst/>
          </a:prstGeom>
          <a:solidFill>
            <a:srgbClr val="FDF7EF"/>
          </a:solidFill>
          <a:ln w="6350">
            <a:solidFill>
              <a:srgbClr val="E9D9CB"/>
            </a:solidFill>
          </a:ln>
        </p:spPr>
        <p:txBody>
          <a:bodyPr wrap="square" lIns="1397" tIns="1778" rIns="1778" bIns="1016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SERVERLESS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as you go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Self-serve workspace and API; no commitment; card or invoice.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Serverless usage SKU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Metered tokens and pages; no minimum; monthly invoice.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Upgrade when committed spend justifies dedicated capacity.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30352" y="2258568"/>
            <a:ext cx="3429000" cy="64008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33088" y="2350008"/>
            <a:ext cx="3429000" cy="2240280"/>
          </a:xfrm>
          <a:prstGeom prst="rect">
            <a:avLst/>
          </a:prstGeom>
          <a:solidFill>
            <a:srgbClr val="FDF7EF"/>
          </a:solidFill>
          <a:ln w="6350">
            <a:solidFill>
              <a:srgbClr val="E9D9CB"/>
            </a:solidFill>
          </a:ln>
        </p:spPr>
        <p:txBody>
          <a:bodyPr wrap="square" lIns="1397" tIns="1778" rIns="1778" bIns="1016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Committed capacity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Reserved throughput; in-region inference; annual commitment with drawdown.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capacity SKU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Reserved throughput units; 12–36 month committed spend; overage at list.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Discounts tiered by commitment and term; beyond band needs Finance + CRO.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133088" y="2258568"/>
            <a:ext cx="3429000" cy="64008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35824" y="2350008"/>
            <a:ext cx="3429000" cy="2240280"/>
          </a:xfrm>
          <a:prstGeom prst="rect">
            <a:avLst/>
          </a:prstGeom>
          <a:solidFill>
            <a:srgbClr val="FDF7EF"/>
          </a:solidFill>
          <a:ln w="6350">
            <a:solidFill>
              <a:srgbClr val="E9D9CB"/>
            </a:solidFill>
          </a:ln>
        </p:spPr>
        <p:txBody>
          <a:bodyPr wrap="square" lIns="1397" tIns="1778" rIns="1778" bIns="1016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SELF-HOSTED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Suite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VPC or on-prem; licensed per environment; private offer via marketplaces.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Self-hosted suite SKU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Per-environment license plus support subscription.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offers retire AWS, Azure or GCP cloud commitment.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7735824" y="2258568"/>
            <a:ext cx="3429000" cy="64008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0352" y="4773168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ADD-ONS AND COMMERCIAL APPROVAL POINTS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603504" y="5221224"/>
            <a:ext cx="3319272" cy="274320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support • Document AI volume • extended retention</a:t>
            </a:r>
            <a:endParaRPr lang="en-US" sz="660" dirty="0"/>
          </a:p>
        </p:txBody>
      </p:sp>
      <p:sp>
        <p:nvSpPr>
          <p:cNvPr id="30" name="Shape 27"/>
          <p:cNvSpPr/>
          <p:nvPr/>
        </p:nvSpPr>
        <p:spPr>
          <a:xfrm>
            <a:off x="530352" y="4992624"/>
            <a:ext cx="32004" cy="530352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" y="5056632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ADD-ON SKUS</a:t>
            </a:r>
            <a:endParaRPr lang="en-US" sz="540" dirty="0"/>
          </a:p>
        </p:txBody>
      </p:sp>
      <p:sp>
        <p:nvSpPr>
          <p:cNvPr id="32" name="Text 29"/>
          <p:cNvSpPr/>
          <p:nvPr/>
        </p:nvSpPr>
        <p:spPr>
          <a:xfrm>
            <a:off x="4206240" y="5221224"/>
            <a:ext cx="3319272" cy="274320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Tiers change deployment location and commitment, not core features.</a:t>
            </a:r>
            <a:endParaRPr lang="en-US" sz="660" dirty="0"/>
          </a:p>
        </p:txBody>
      </p:sp>
      <p:sp>
        <p:nvSpPr>
          <p:cNvPr id="33" name="Shape 30"/>
          <p:cNvSpPr/>
          <p:nvPr/>
        </p:nvSpPr>
        <p:spPr>
          <a:xfrm>
            <a:off x="4133088" y="4992624"/>
            <a:ext cx="32004" cy="530352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224528" y="5056632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8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PRINCIPLE</a:t>
            </a:r>
            <a:endParaRPr lang="en-US" sz="540" dirty="0"/>
          </a:p>
        </p:txBody>
      </p:sp>
      <p:sp>
        <p:nvSpPr>
          <p:cNvPr id="35" name="Text 32"/>
          <p:cNvSpPr/>
          <p:nvPr/>
        </p:nvSpPr>
        <p:spPr>
          <a:xfrm>
            <a:off x="7808976" y="5221224"/>
            <a:ext cx="3319272" cy="274320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Identity, residency and audit evidence must be ready for security review.</a:t>
            </a:r>
            <a:endParaRPr lang="en-US" sz="660" dirty="0"/>
          </a:p>
        </p:txBody>
      </p:sp>
      <p:sp>
        <p:nvSpPr>
          <p:cNvPr id="36" name="Shape 33"/>
          <p:cNvSpPr/>
          <p:nvPr/>
        </p:nvSpPr>
        <p:spPr>
          <a:xfrm>
            <a:off x="7735824" y="4992624"/>
            <a:ext cx="32004" cy="530352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27264" y="5056632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ASSURANCE</a:t>
            </a:r>
            <a:endParaRPr lang="en-US" sz="540" dirty="0"/>
          </a:p>
        </p:txBody>
      </p:sp>
      <p:sp>
        <p:nvSpPr>
          <p:cNvPr id="38" name="Text 35"/>
          <p:cNvSpPr/>
          <p:nvPr/>
        </p:nvSpPr>
        <p:spPr>
          <a:xfrm>
            <a:off x="530352" y="5650992"/>
            <a:ext cx="10789920" cy="347472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762" tIns="1524" rIns="1524" bIns="762" rtlCol="0" anchor="ctr">
            <a:normAutofit/>
          </a:bodyPr>
          <a:lstStyle/>
          <a:p>
            <a:pPr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RULEBOOK  One usage meter across all tiers and routes; launch pricing, free-tier limits, discount bands and marketplace dates require final approval.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LAUNCH READINESS  •  CRITICAL PATH  •  GATES</a:t>
            </a:r>
            <a:endParaRPr lang="en-US" sz="570" dirty="0"/>
          </a:p>
        </p:txBody>
      </p:sp>
      <p:sp>
        <p:nvSpPr>
          <p:cNvPr id="3" name="Text 1"/>
          <p:cNvSpPr/>
          <p:nvPr/>
        </p:nvSpPr>
        <p:spPr>
          <a:xfrm>
            <a:off x="475488" y="4389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0A0B0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operational timeline, one gate checklist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83210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D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concise deck now carries both the original readiness timeline and the full launch gate standard.</a:t>
            </a:r>
            <a:endParaRPr lang="en-US" sz="710" dirty="0"/>
          </a:p>
        </p:txBody>
      </p:sp>
      <p:sp>
        <p:nvSpPr>
          <p:cNvPr id="5" name="Shape 3"/>
          <p:cNvSpPr/>
          <p:nvPr/>
        </p:nvSpPr>
        <p:spPr>
          <a:xfrm>
            <a:off x="475488" y="1088136"/>
            <a:ext cx="11018520" cy="0"/>
          </a:xfrm>
          <a:prstGeom prst="line">
            <a:avLst/>
          </a:prstGeom>
          <a:noFill/>
          <a:ln w="7620">
            <a:solidFill>
              <a:srgbClr val="FF3D00">
                <a:alpha val="85000"/>
              </a:srgbClr>
            </a:solidFill>
            <a:prstDash val="solid"/>
          </a:ln>
        </p:spPr>
      </p:sp>
      <p:pic>
        <p:nvPicPr>
          <p:cNvPr id="6" name="Image 0" descr="/mnt/data/pptx_extract/ppt/media/image-2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0312" y="237744"/>
            <a:ext cx="109728" cy="1097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47688"/>
            <a:ext cx="12192000" cy="210312"/>
          </a:xfrm>
          <a:prstGeom prst="rect">
            <a:avLst/>
          </a:prstGeom>
          <a:solidFill>
            <a:srgbClr val="0A0B0D"/>
          </a:solidFill>
          <a:ln w="12700">
            <a:solidFill>
              <a:srgbClr val="0A0B0D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8912" y="6428232"/>
            <a:ext cx="146304" cy="27432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637336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" dirty="0">
                <a:solidFill>
                  <a:srgbClr val="6D6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Mistral Studio  •  Launch &amp; commercialization plan</a:t>
            </a:r>
            <a:endParaRPr lang="en-US" sz="490" dirty="0"/>
          </a:p>
        </p:txBody>
      </p:sp>
      <p:sp>
        <p:nvSpPr>
          <p:cNvPr id="10" name="Text 7"/>
          <p:cNvSpPr/>
          <p:nvPr/>
        </p:nvSpPr>
        <p:spPr>
          <a:xfrm>
            <a:off x="11612880" y="63276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b="1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520" dirty="0"/>
          </a:p>
        </p:txBody>
      </p:sp>
      <p:sp>
        <p:nvSpPr>
          <p:cNvPr id="11" name="Text 8"/>
          <p:cNvSpPr/>
          <p:nvPr/>
        </p:nvSpPr>
        <p:spPr>
          <a:xfrm>
            <a:off x="530352" y="120700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READINESS TIMELINE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530352" y="1536192"/>
            <a:ext cx="2587752" cy="1965960"/>
          </a:xfrm>
          <a:prstGeom prst="rect">
            <a:avLst/>
          </a:prstGeom>
          <a:solidFill>
            <a:srgbClr val="FDF7EF"/>
          </a:solidFill>
          <a:ln w="6350">
            <a:solidFill>
              <a:srgbClr val="E9D9CB"/>
            </a:solidFill>
          </a:ln>
        </p:spPr>
        <p:txBody>
          <a:bodyPr wrap="square" lIns="1270" tIns="1524" rIns="1524" bIns="1016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T−8 → T−5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+ prove</a:t>
            </a:r>
            <a:endParaRPr lang="en-US" sz="725" dirty="0"/>
          </a:p>
          <a:p>
            <a:pPr indent="0" marL="0">
              <a:buNone/>
            </a:pP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freeze and GA criteria set; scale and SLA testing; metering and billing build; legal terms drafted.</a:t>
            </a:r>
            <a:endParaRPr lang="en-US" sz="725" dirty="0"/>
          </a:p>
          <a:p>
            <a:pPr indent="0" marL="0">
              <a:buNone/>
            </a:pP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• Engineering • Finance • Legal</a:t>
            </a:r>
            <a:endParaRPr lang="en-US" sz="725" dirty="0"/>
          </a:p>
        </p:txBody>
      </p:sp>
      <p:sp>
        <p:nvSpPr>
          <p:cNvPr id="13" name="Shape 10"/>
          <p:cNvSpPr/>
          <p:nvPr/>
        </p:nvSpPr>
        <p:spPr>
          <a:xfrm>
            <a:off x="530352" y="1444752"/>
            <a:ext cx="2587752" cy="64008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36976" y="1536192"/>
            <a:ext cx="2587752" cy="1965960"/>
          </a:xfrm>
          <a:prstGeom prst="rect">
            <a:avLst/>
          </a:prstGeom>
          <a:solidFill>
            <a:srgbClr val="FDF7EF"/>
          </a:solidFill>
          <a:ln w="6350">
            <a:solidFill>
              <a:srgbClr val="E9D9CB"/>
            </a:solidFill>
          </a:ln>
        </p:spPr>
        <p:txBody>
          <a:bodyPr wrap="square" lIns="1270" tIns="1524" rIns="1524" bIns="1016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T−4 → T−1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 + approve</a:t>
            </a:r>
            <a:endParaRPr lang="en-US" sz="725" dirty="0"/>
          </a:p>
          <a:p>
            <a:pPr indent="0" marL="0">
              <a:buNone/>
            </a:pP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Provisioning and invoicing tested end to end; security review closed; marketplace listings submitted; docs staged.</a:t>
            </a:r>
            <a:endParaRPr lang="en-US" sz="725" dirty="0"/>
          </a:p>
          <a:p>
            <a:pPr indent="0" marL="0">
              <a:buNone/>
            </a:pP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 Ops • Security • Alliances • Docs</a:t>
            </a:r>
            <a:endParaRPr lang="en-US" sz="725" dirty="0"/>
          </a:p>
        </p:txBody>
      </p:sp>
      <p:sp>
        <p:nvSpPr>
          <p:cNvPr id="15" name="Shape 12"/>
          <p:cNvSpPr/>
          <p:nvPr/>
        </p:nvSpPr>
        <p:spPr>
          <a:xfrm>
            <a:off x="3236976" y="1444752"/>
            <a:ext cx="2587752" cy="64008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1536192"/>
            <a:ext cx="2587752" cy="1965960"/>
          </a:xfrm>
          <a:prstGeom prst="rect">
            <a:avLst/>
          </a:prstGeom>
          <a:solidFill>
            <a:srgbClr val="FDF7EF"/>
          </a:solidFill>
          <a:ln w="6350">
            <a:solidFill>
              <a:srgbClr val="E9D9CB"/>
            </a:solidFill>
          </a:ln>
        </p:spPr>
        <p:txBody>
          <a:bodyPr wrap="square" lIns="1270" tIns="1524" rIns="1524" bIns="1016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week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 live</a:t>
            </a:r>
            <a:endParaRPr lang="en-US" sz="725" dirty="0"/>
          </a:p>
          <a:p>
            <a:pPr indent="0" marL="0">
              <a:buNone/>
            </a:pP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 build shipped; pricing live; marketplace offers published; support rota and escalation paths active.</a:t>
            </a:r>
            <a:endParaRPr lang="en-US" sz="725" dirty="0"/>
          </a:p>
          <a:p>
            <a:pPr indent="0" marL="0">
              <a:buNone/>
            </a:pP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• Support • Alliances</a:t>
            </a:r>
            <a:endParaRPr lang="en-US" sz="725" dirty="0"/>
          </a:p>
        </p:txBody>
      </p:sp>
      <p:sp>
        <p:nvSpPr>
          <p:cNvPr id="17" name="Shape 14"/>
          <p:cNvSpPr/>
          <p:nvPr/>
        </p:nvSpPr>
        <p:spPr>
          <a:xfrm>
            <a:off x="5943600" y="1444752"/>
            <a:ext cx="2587752" cy="64008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50224" y="1536192"/>
            <a:ext cx="2587752" cy="1965960"/>
          </a:xfrm>
          <a:prstGeom prst="rect">
            <a:avLst/>
          </a:prstGeom>
          <a:solidFill>
            <a:srgbClr val="FDF7EF"/>
          </a:solidFill>
          <a:ln w="6350">
            <a:solidFill>
              <a:srgbClr val="E9D9CB"/>
            </a:solidFill>
          </a:ln>
        </p:spPr>
        <p:txBody>
          <a:bodyPr wrap="square" lIns="1270" tIns="1524" rIns="1524" bIns="1016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T+1 → T+8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+ prove</a:t>
            </a:r>
            <a:endParaRPr lang="en-US" sz="725" dirty="0"/>
          </a:p>
          <a:p>
            <a:pPr indent="0" marL="0">
              <a:buNone/>
            </a:pP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POVs converted to contracts; first workloads into production; billing accuracy and support load monitored.</a:t>
            </a:r>
            <a:endParaRPr lang="en-US" sz="725" dirty="0"/>
          </a:p>
          <a:p>
            <a:pPr indent="0" marL="0">
              <a:buNone/>
            </a:pP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• CS • Finance • Engineering</a:t>
            </a:r>
            <a:endParaRPr lang="en-US" sz="725" dirty="0"/>
          </a:p>
        </p:txBody>
      </p:sp>
      <p:sp>
        <p:nvSpPr>
          <p:cNvPr id="19" name="Shape 16"/>
          <p:cNvSpPr/>
          <p:nvPr/>
        </p:nvSpPr>
        <p:spPr>
          <a:xfrm>
            <a:off x="8650224" y="1444752"/>
            <a:ext cx="2587752" cy="64008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" y="377647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GATE CHECKLIST</a:t>
            </a:r>
            <a:endParaRPr lang="en-US" sz="550" dirty="0"/>
          </a:p>
        </p:txBody>
      </p:sp>
      <p:sp>
        <p:nvSpPr>
          <p:cNvPr id="21" name="Shape 18"/>
          <p:cNvSpPr/>
          <p:nvPr/>
        </p:nvSpPr>
        <p:spPr>
          <a:xfrm>
            <a:off x="530352" y="4005072"/>
            <a:ext cx="2587752" cy="457200"/>
          </a:xfrm>
          <a:prstGeom prst="rect">
            <a:avLst/>
          </a:prstGeom>
          <a:solidFill>
            <a:srgbClr val="FDF7EF"/>
          </a:solidFill>
          <a:ln w="5080">
            <a:solidFill>
              <a:srgbClr val="E9D9C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0352" y="4005072"/>
            <a:ext cx="2587752" cy="50292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" y="4096512"/>
            <a:ext cx="2441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480" dirty="0"/>
          </a:p>
        </p:txBody>
      </p:sp>
      <p:sp>
        <p:nvSpPr>
          <p:cNvPr id="24" name="Text 21"/>
          <p:cNvSpPr/>
          <p:nvPr/>
        </p:nvSpPr>
        <p:spPr>
          <a:xfrm>
            <a:off x="603504" y="4261104"/>
            <a:ext cx="2441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 criteria met and signed off</a:t>
            </a:r>
            <a:endParaRPr lang="en-US" sz="540" dirty="0"/>
          </a:p>
        </p:txBody>
      </p:sp>
      <p:sp>
        <p:nvSpPr>
          <p:cNvPr id="25" name="Shape 22"/>
          <p:cNvSpPr/>
          <p:nvPr/>
        </p:nvSpPr>
        <p:spPr>
          <a:xfrm>
            <a:off x="3236976" y="4005072"/>
            <a:ext cx="2587752" cy="457200"/>
          </a:xfrm>
          <a:prstGeom prst="rect">
            <a:avLst/>
          </a:prstGeom>
          <a:solidFill>
            <a:srgbClr val="FDF7EF"/>
          </a:solidFill>
          <a:ln w="5080">
            <a:solidFill>
              <a:srgbClr val="E9D9C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36976" y="4005072"/>
            <a:ext cx="2587752" cy="50292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10128" y="4096512"/>
            <a:ext cx="2441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b="1" dirty="0">
                <a:solidFill>
                  <a:srgbClr val="FF8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</a:t>
            </a:r>
            <a:endParaRPr lang="en-US" sz="480" dirty="0"/>
          </a:p>
        </p:txBody>
      </p:sp>
      <p:sp>
        <p:nvSpPr>
          <p:cNvPr id="28" name="Text 25"/>
          <p:cNvSpPr/>
          <p:nvPr/>
        </p:nvSpPr>
        <p:spPr>
          <a:xfrm>
            <a:off x="3310128" y="4261104"/>
            <a:ext cx="2441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and packaging approved</a:t>
            </a:r>
            <a:endParaRPr lang="en-US" sz="540" dirty="0"/>
          </a:p>
        </p:txBody>
      </p:sp>
      <p:sp>
        <p:nvSpPr>
          <p:cNvPr id="29" name="Shape 26"/>
          <p:cNvSpPr/>
          <p:nvPr/>
        </p:nvSpPr>
        <p:spPr>
          <a:xfrm>
            <a:off x="5943600" y="4005072"/>
            <a:ext cx="2587752" cy="457200"/>
          </a:xfrm>
          <a:prstGeom prst="rect">
            <a:avLst/>
          </a:prstGeom>
          <a:solidFill>
            <a:srgbClr val="FDF7EF"/>
          </a:solidFill>
          <a:ln w="5080">
            <a:solidFill>
              <a:srgbClr val="E9D9C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43600" y="4005072"/>
            <a:ext cx="2587752" cy="50292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16752" y="4096512"/>
            <a:ext cx="2441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</a:t>
            </a:r>
            <a:endParaRPr lang="en-US" sz="480" dirty="0"/>
          </a:p>
        </p:txBody>
      </p:sp>
      <p:sp>
        <p:nvSpPr>
          <p:cNvPr id="32" name="Text 29"/>
          <p:cNvSpPr/>
          <p:nvPr/>
        </p:nvSpPr>
        <p:spPr>
          <a:xfrm>
            <a:off x="6016752" y="4261104"/>
            <a:ext cx="2441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Metering, provisioning and invoicing live</a:t>
            </a:r>
            <a:endParaRPr lang="en-US" sz="540" dirty="0"/>
          </a:p>
        </p:txBody>
      </p:sp>
      <p:sp>
        <p:nvSpPr>
          <p:cNvPr id="33" name="Shape 30"/>
          <p:cNvSpPr/>
          <p:nvPr/>
        </p:nvSpPr>
        <p:spPr>
          <a:xfrm>
            <a:off x="8650224" y="4005072"/>
            <a:ext cx="2587752" cy="457200"/>
          </a:xfrm>
          <a:prstGeom prst="rect">
            <a:avLst/>
          </a:prstGeom>
          <a:solidFill>
            <a:srgbClr val="FDF7EF"/>
          </a:solidFill>
          <a:ln w="5080">
            <a:solidFill>
              <a:srgbClr val="E9D9C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650224" y="4005072"/>
            <a:ext cx="2587752" cy="50292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723376" y="4096512"/>
            <a:ext cx="2441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b="1" dirty="0">
                <a:solidFill>
                  <a:srgbClr val="FF8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</a:t>
            </a:r>
            <a:endParaRPr lang="en-US" sz="480" dirty="0"/>
          </a:p>
        </p:txBody>
      </p:sp>
      <p:sp>
        <p:nvSpPr>
          <p:cNvPr id="36" name="Text 33"/>
          <p:cNvSpPr/>
          <p:nvPr/>
        </p:nvSpPr>
        <p:spPr>
          <a:xfrm>
            <a:off x="8723376" y="4261104"/>
            <a:ext cx="2441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Terms, DPA and security approved</a:t>
            </a:r>
            <a:endParaRPr lang="en-US" sz="540" dirty="0"/>
          </a:p>
        </p:txBody>
      </p:sp>
      <p:sp>
        <p:nvSpPr>
          <p:cNvPr id="37" name="Shape 34"/>
          <p:cNvSpPr/>
          <p:nvPr/>
        </p:nvSpPr>
        <p:spPr>
          <a:xfrm>
            <a:off x="530352" y="4553712"/>
            <a:ext cx="2587752" cy="457200"/>
          </a:xfrm>
          <a:prstGeom prst="rect">
            <a:avLst/>
          </a:prstGeom>
          <a:solidFill>
            <a:srgbClr val="FDF7EF"/>
          </a:solidFill>
          <a:ln w="5080">
            <a:solidFill>
              <a:srgbClr val="E9D9C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30352" y="4553712"/>
            <a:ext cx="2587752" cy="50292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3504" y="4645152"/>
            <a:ext cx="2441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</a:t>
            </a:r>
            <a:endParaRPr lang="en-US" sz="480" dirty="0"/>
          </a:p>
        </p:txBody>
      </p:sp>
      <p:sp>
        <p:nvSpPr>
          <p:cNvPr id="40" name="Text 37"/>
          <p:cNvSpPr/>
          <p:nvPr/>
        </p:nvSpPr>
        <p:spPr>
          <a:xfrm>
            <a:off x="603504" y="4809744"/>
            <a:ext cx="2441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Offers live and transactable</a:t>
            </a:r>
            <a:endParaRPr lang="en-US" sz="540" dirty="0"/>
          </a:p>
        </p:txBody>
      </p:sp>
      <p:sp>
        <p:nvSpPr>
          <p:cNvPr id="41" name="Shape 38"/>
          <p:cNvSpPr/>
          <p:nvPr/>
        </p:nvSpPr>
        <p:spPr>
          <a:xfrm>
            <a:off x="3236976" y="4553712"/>
            <a:ext cx="2587752" cy="457200"/>
          </a:xfrm>
          <a:prstGeom prst="rect">
            <a:avLst/>
          </a:prstGeom>
          <a:solidFill>
            <a:srgbClr val="FDF7EF"/>
          </a:solidFill>
          <a:ln w="5080">
            <a:solidFill>
              <a:srgbClr val="E9D9C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236976" y="4553712"/>
            <a:ext cx="2587752" cy="50292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310128" y="4645152"/>
            <a:ext cx="2441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b="1" dirty="0">
                <a:solidFill>
                  <a:srgbClr val="FF8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480" dirty="0"/>
          </a:p>
        </p:txBody>
      </p:sp>
      <p:sp>
        <p:nvSpPr>
          <p:cNvPr id="44" name="Text 41"/>
          <p:cNvSpPr/>
          <p:nvPr/>
        </p:nvSpPr>
        <p:spPr>
          <a:xfrm>
            <a:off x="3310128" y="4809744"/>
            <a:ext cx="2441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targets, escalation and rota staffed</a:t>
            </a:r>
            <a:endParaRPr lang="en-US" sz="540" dirty="0"/>
          </a:p>
        </p:txBody>
      </p:sp>
      <p:sp>
        <p:nvSpPr>
          <p:cNvPr id="45" name="Shape 42"/>
          <p:cNvSpPr/>
          <p:nvPr/>
        </p:nvSpPr>
        <p:spPr>
          <a:xfrm>
            <a:off x="5943600" y="4553712"/>
            <a:ext cx="2587752" cy="457200"/>
          </a:xfrm>
          <a:prstGeom prst="rect">
            <a:avLst/>
          </a:prstGeom>
          <a:solidFill>
            <a:srgbClr val="FDF7EF"/>
          </a:solidFill>
          <a:ln w="5080">
            <a:solidFill>
              <a:srgbClr val="E9D9C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943600" y="4553712"/>
            <a:ext cx="2587752" cy="50292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016752" y="4645152"/>
            <a:ext cx="2441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</a:t>
            </a:r>
            <a:endParaRPr lang="en-US" sz="480" dirty="0"/>
          </a:p>
        </p:txBody>
      </p:sp>
      <p:sp>
        <p:nvSpPr>
          <p:cNvPr id="48" name="Text 45"/>
          <p:cNvSpPr/>
          <p:nvPr/>
        </p:nvSpPr>
        <p:spPr>
          <a:xfrm>
            <a:off x="6016752" y="4809744"/>
            <a:ext cx="2441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Quickstart, API reference and deployment guides published</a:t>
            </a:r>
            <a:endParaRPr lang="en-US" sz="540" dirty="0"/>
          </a:p>
        </p:txBody>
      </p:sp>
      <p:sp>
        <p:nvSpPr>
          <p:cNvPr id="49" name="Shape 46"/>
          <p:cNvSpPr/>
          <p:nvPr/>
        </p:nvSpPr>
        <p:spPr>
          <a:xfrm>
            <a:off x="8650224" y="4553712"/>
            <a:ext cx="2587752" cy="457200"/>
          </a:xfrm>
          <a:prstGeom prst="rect">
            <a:avLst/>
          </a:prstGeom>
          <a:solidFill>
            <a:srgbClr val="FDF7EF"/>
          </a:solidFill>
          <a:ln w="5080">
            <a:solidFill>
              <a:srgbClr val="E9D9C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650224" y="4553712"/>
            <a:ext cx="2587752" cy="50292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723376" y="4645152"/>
            <a:ext cx="2441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b="1" dirty="0">
                <a:solidFill>
                  <a:srgbClr val="FF8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+ CS</a:t>
            </a:r>
            <a:endParaRPr lang="en-US" sz="480" dirty="0"/>
          </a:p>
        </p:txBody>
      </p:sp>
      <p:sp>
        <p:nvSpPr>
          <p:cNvPr id="52" name="Text 49"/>
          <p:cNvSpPr/>
          <p:nvPr/>
        </p:nvSpPr>
        <p:spPr>
          <a:xfrm>
            <a:off x="8723376" y="4809744"/>
            <a:ext cx="2441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Quoting, approval paths and onboarding runbooks live</a:t>
            </a:r>
            <a:endParaRPr lang="en-US" sz="540" dirty="0"/>
          </a:p>
        </p:txBody>
      </p:sp>
      <p:sp>
        <p:nvSpPr>
          <p:cNvPr id="53" name="Text 50"/>
          <p:cNvSpPr/>
          <p:nvPr/>
        </p:nvSpPr>
        <p:spPr>
          <a:xfrm>
            <a:off x="530352" y="521208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PATH</a:t>
            </a:r>
            <a:endParaRPr lang="en-US" sz="550" dirty="0"/>
          </a:p>
        </p:txBody>
      </p:sp>
      <p:sp>
        <p:nvSpPr>
          <p:cNvPr id="54" name="Text 51"/>
          <p:cNvSpPr/>
          <p:nvPr/>
        </p:nvSpPr>
        <p:spPr>
          <a:xfrm>
            <a:off x="603504" y="5660136"/>
            <a:ext cx="3319272" cy="292608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 offers cannot list without metering; contracts cannot sign without provisioning and invoicing tested end to end.</a:t>
            </a:r>
            <a:endParaRPr lang="en-US" sz="610" dirty="0"/>
          </a:p>
        </p:txBody>
      </p:sp>
      <p:sp>
        <p:nvSpPr>
          <p:cNvPr id="55" name="Shape 52"/>
          <p:cNvSpPr/>
          <p:nvPr/>
        </p:nvSpPr>
        <p:spPr>
          <a:xfrm>
            <a:off x="530352" y="5431536"/>
            <a:ext cx="32004" cy="548640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21792" y="549554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 + PROVISIONING</a:t>
            </a:r>
            <a:endParaRPr lang="en-US" sz="540" dirty="0"/>
          </a:p>
        </p:txBody>
      </p:sp>
      <p:sp>
        <p:nvSpPr>
          <p:cNvPr id="57" name="Text 54"/>
          <p:cNvSpPr/>
          <p:nvPr/>
        </p:nvSpPr>
        <p:spPr>
          <a:xfrm>
            <a:off x="4206240" y="5660136"/>
            <a:ext cx="3319272" cy="292608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Terms, DPA and security review must be approved before contracts or private offers go live.</a:t>
            </a:r>
            <a:endParaRPr lang="en-US" sz="610" dirty="0"/>
          </a:p>
        </p:txBody>
      </p:sp>
      <p:sp>
        <p:nvSpPr>
          <p:cNvPr id="58" name="Shape 55"/>
          <p:cNvSpPr/>
          <p:nvPr/>
        </p:nvSpPr>
        <p:spPr>
          <a:xfrm>
            <a:off x="4133088" y="5431536"/>
            <a:ext cx="32004" cy="548640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>
                <a:alpha val="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224528" y="549554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8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+ SECURITY</a:t>
            </a:r>
            <a:endParaRPr lang="en-US" sz="540" dirty="0"/>
          </a:p>
        </p:txBody>
      </p:sp>
      <p:sp>
        <p:nvSpPr>
          <p:cNvPr id="60" name="Text 57"/>
          <p:cNvSpPr/>
          <p:nvPr/>
        </p:nvSpPr>
        <p:spPr>
          <a:xfrm>
            <a:off x="7808976" y="5660136"/>
            <a:ext cx="3319272" cy="292608"/>
          </a:xfrm>
          <a:prstGeom prst="rect">
            <a:avLst/>
          </a:prstGeom>
          <a:solidFill>
            <a:srgbClr val="FDF7EF"/>
          </a:solidFill>
          <a:ln>
            <a:solidFill>
              <a:srgbClr val="FDF7EF">
                <a:alpha val="0"/>
              </a:srgbClr>
            </a:solidFill>
          </a:ln>
        </p:spPr>
        <p:txBody>
          <a:bodyPr wrap="square" lIns="0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0A0B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gate has a named owner and green / amber / red status; any red at T−1 moves the date.</a:t>
            </a:r>
            <a:endParaRPr lang="en-US" sz="610" dirty="0"/>
          </a:p>
        </p:txBody>
      </p:sp>
      <p:sp>
        <p:nvSpPr>
          <p:cNvPr id="61" name="Shape 58"/>
          <p:cNvSpPr/>
          <p:nvPr/>
        </p:nvSpPr>
        <p:spPr>
          <a:xfrm>
            <a:off x="7735824" y="5431536"/>
            <a:ext cx="32004" cy="548640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>
                <a:alpha val="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827264" y="549554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FF3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RULE</a:t>
            </a:r>
            <a:endParaRPr lang="en-US" sz="540" dirty="0"/>
          </a:p>
        </p:txBody>
      </p:sp>
      <p:sp>
        <p:nvSpPr>
          <p:cNvPr id="63" name="Text 60"/>
          <p:cNvSpPr/>
          <p:nvPr/>
        </p:nvSpPr>
        <p:spPr>
          <a:xfrm>
            <a:off x="530352" y="6035040"/>
            <a:ext cx="10789920" cy="274320"/>
          </a:xfrm>
          <a:prstGeom prst="rect">
            <a:avLst/>
          </a:prstGeom>
          <a:solidFill>
            <a:srgbClr val="0A0B0D"/>
          </a:solidFill>
          <a:ln>
            <a:solidFill>
              <a:srgbClr val="0A0B0D">
                <a:alpha val="0"/>
              </a:srgbClr>
            </a:solidFill>
          </a:ln>
        </p:spPr>
        <p:txBody>
          <a:bodyPr wrap="square" lIns="762" tIns="1524" rIns="1524" bIns="762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RULE  Launch only after billing, provisioning, legal terms, marketplace readiness, support rota, sales/CS runbooks and docs are all green.</a:t>
            </a:r>
            <a:endParaRPr lang="en-US" sz="5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Mistral Studio Launch and Commercialization Plan</dc:title>
  <dc:subject>Mistral Studio Launch and Commercialization Plan</dc:subject>
  <dc:creator>OpenAI</dc:creator>
  <cp:lastModifiedBy>OpenAI</cp:lastModifiedBy>
  <cp:revision>1</cp:revision>
  <dcterms:created xsi:type="dcterms:W3CDTF">2026-08-17T12:43:14Z</dcterms:created>
  <dcterms:modified xsi:type="dcterms:W3CDTF">2026-08-17T12:43:14Z</dcterms:modified>
</cp:coreProperties>
</file>