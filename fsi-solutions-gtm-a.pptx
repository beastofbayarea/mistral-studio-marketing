
<file path=[Content_Types].xml><?xml version="1.0" encoding="utf-8"?>
<Types xmlns="http://schemas.openxmlformats.org/package/2006/content-types"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9"/>
  </p:notesMasterIdLst>
  <p:sldIdLst>
    <p:sldId id="284" r:id="rId2"/>
    <p:sldId id="259" r:id="rId3"/>
    <p:sldId id="279" r:id="rId4"/>
    <p:sldId id="289" r:id="rId5"/>
    <p:sldId id="291" r:id="rId6"/>
    <p:sldId id="287" r:id="rId7"/>
    <p:sldId id="290" r:id="rId8"/>
  </p:sldIdLst>
  <p:sldSz cx="12192000" cy="6858000"/>
  <p:notesSz cx="6858000" cy="9144000"/>
  <p:embeddedFontLst>
    <p:embeddedFont>
      <p:font typeface="Tiny5" panose="02000000000000000000" pitchFamily="2" charset="0"/>
      <p:regular r:id="rId10"/>
      <p:bold r:id="rId10"/>
    </p:embeddedFont>
  </p:embeddedFont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76820" autoAdjust="0"/>
  </p:normalViewPr>
  <p:slideViewPr>
    <p:cSldViewPr snapToGrid="0" snapToObjects="1">
      <p:cViewPr varScale="1">
        <p:scale>
          <a:sx n="85" d="100"/>
          <a:sy n="85" d="100"/>
        </p:scale>
        <p:origin x="5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odttf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4747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https://mistral.ai/partners/ | https://news.microsoft.com/source/2026/07/21/microsoft-and-mistral-expand-strategic-partnership-to-give-enterprises-and-regulated-industries-frontier-ai-they-can-control/ | https://www.tcs.com/who-we-are/newsroom/press-release/tcs-partners-mistral-first-global-systems-integrator-enterprises-worldwide | https://www.quantexa.com/partner-program/ | https://www.fenergo.com/ai-agents | https://www.temenos.com/press_release/temenos-launches-embedded-ai-capabilities-to-help-banks-move-faster/ | https://www.lseg.com/en/risk-intelligence | https://complyadvantage.com/partnerships/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Mistral company monogram — slide 2" descr="Mistral AI company mono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182880"/>
            <a:ext cx="347472" cy="347472"/>
          </a:xfrm>
          <a:prstGeom prst="rect">
            <a:avLst/>
          </a:prstGeom>
          <a:ln/>
        </p:spPr>
      </p:pic>
      <p:sp>
        <p:nvSpPr>
          <p:cNvPr id="8901" name="FootTxt"/>
          <p:cNvSpPr txBox="1"/>
          <p:nvPr/>
        </p:nvSpPr>
        <p:spPr>
          <a:xfrm>
            <a:off x="612648" y="6620000"/>
            <a:ext cx="4005072" cy="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0" spc="60">
                <a:solidFill>
                  <a:srgbClr val="5A554B"/>
                </a:solidFill>
                <a:latin typeface="Arial"/>
                <a:cs typeface="Arial"/>
              </a:rPr>
              <a:t>SHIV  ·  PMM CANDIDATE  ·  18 AUG 2026</a:t>
            </a:r>
          </a:p>
        </p:txBody>
      </p:sp>
      <p:sp>
        <p:nvSpPr>
          <p:cNvPr id="8902" name="FootPg"/>
          <p:cNvSpPr txBox="1"/>
          <p:nvPr/>
        </p:nvSpPr>
        <p:spPr>
          <a:xfrm>
            <a:off x="11237976" y="6620000"/>
            <a:ext cx="347472" cy="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200" b="0" spc="0">
                <a:solidFill>
                  <a:srgbClr val="5A554B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8903" name="Rectangle 8902"/>
          <p:cNvSpPr/>
          <p:nvPr/>
        </p:nvSpPr>
        <p:spPr>
          <a:xfrm>
            <a:off x="612648" y="265176"/>
            <a:ext cx="64008" cy="621792"/>
          </a:xfrm>
          <a:prstGeom prst="rect">
            <a:avLst/>
          </a:prstGeom>
          <a:solidFill>
            <a:srgbClr val="FA5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04" name="TextBox 8903"/>
          <p:cNvSpPr txBox="1"/>
          <p:nvPr/>
        </p:nvSpPr>
        <p:spPr>
          <a:xfrm>
            <a:off x="841248" y="64008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STRATEGY</a:t>
            </a:r>
          </a:p>
        </p:txBody>
      </p:sp>
      <p:sp>
        <p:nvSpPr>
          <p:cNvPr id="8905" name="TextBox 8904"/>
          <p:cNvSpPr txBox="1"/>
          <p:nvPr/>
        </p:nvSpPr>
        <p:spPr>
          <a:xfrm>
            <a:off x="841248" y="283464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61623"/>
                </a:solidFill>
                <a:latin typeface="Tiny5"/>
              </a:rPr>
              <a:t>SERVICES- LED FSI MOTION</a:t>
            </a:r>
          </a:p>
        </p:txBody>
      </p:sp>
      <p:sp>
        <p:nvSpPr>
          <p:cNvPr id="8906" name="TextBox 8905"/>
          <p:cNvSpPr txBox="1"/>
          <p:nvPr/>
        </p:nvSpPr>
        <p:spPr>
          <a:xfrm>
            <a:off x="841248" y="98755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554B"/>
                </a:solidFill>
                <a:latin typeface="Arial"/>
              </a:rPr>
              <a:t>One repeatable motion turns account proof into scalable evidence.</a:t>
            </a:r>
          </a:p>
        </p:txBody>
      </p:sp>
      <p:sp>
        <p:nvSpPr>
          <p:cNvPr id="8907" name="Rectangle 8906"/>
          <p:cNvSpPr/>
          <p:nvPr/>
        </p:nvSpPr>
        <p:spPr>
          <a:xfrm>
            <a:off x="612648" y="6547104"/>
            <a:ext cx="11109960" cy="127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08" name="Rectangle 8907"/>
          <p:cNvSpPr/>
          <p:nvPr/>
        </p:nvSpPr>
        <p:spPr>
          <a:xfrm>
            <a:off x="841248" y="1572768"/>
            <a:ext cx="2505456" cy="438912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09" name="TextBox 8908"/>
          <p:cNvSpPr txBox="1"/>
          <p:nvPr/>
        </p:nvSpPr>
        <p:spPr>
          <a:xfrm>
            <a:off x="978408" y="1572768"/>
            <a:ext cx="38404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8910" name="TextBox 8909"/>
          <p:cNvSpPr txBox="1"/>
          <p:nvPr/>
        </p:nvSpPr>
        <p:spPr>
          <a:xfrm>
            <a:off x="1389888" y="1572768"/>
            <a:ext cx="184708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FOCUS KEY ACCOUNTS</a:t>
            </a:r>
          </a:p>
        </p:txBody>
      </p:sp>
      <p:sp>
        <p:nvSpPr>
          <p:cNvPr id="8911" name="TextBox 8910"/>
          <p:cNvSpPr txBox="1"/>
          <p:nvPr/>
        </p:nvSpPr>
        <p:spPr>
          <a:xfrm>
            <a:off x="978408" y="2194560"/>
            <a:ext cx="2231136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23"/>
                </a:solidFill>
                <a:latin typeface="Arial"/>
              </a:rPr>
              <a:t>Discovery play · Trigger, sponsor, workflow, baseline, next decision.</a:t>
            </a:r>
          </a:p>
        </p:txBody>
      </p:sp>
      <p:sp>
        <p:nvSpPr>
          <p:cNvPr id="8912" name="TextBox 8911"/>
          <p:cNvSpPr txBox="1"/>
          <p:nvPr/>
        </p:nvSpPr>
        <p:spPr>
          <a:xfrm>
            <a:off x="3364992" y="1682496"/>
            <a:ext cx="1280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E3604"/>
                </a:solidFill>
                <a:latin typeface="Arial"/>
              </a:rPr>
              <a:t>→</a:t>
            </a:r>
          </a:p>
        </p:txBody>
      </p:sp>
      <p:sp>
        <p:nvSpPr>
          <p:cNvPr id="8913" name="Rectangle 8912"/>
          <p:cNvSpPr/>
          <p:nvPr/>
        </p:nvSpPr>
        <p:spPr>
          <a:xfrm>
            <a:off x="3511296" y="1572768"/>
            <a:ext cx="2505456" cy="438912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14" name="TextBox 8913"/>
          <p:cNvSpPr txBox="1"/>
          <p:nvPr/>
        </p:nvSpPr>
        <p:spPr>
          <a:xfrm>
            <a:off x="3648456" y="1572768"/>
            <a:ext cx="38404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8915" name="TextBox 8914"/>
          <p:cNvSpPr txBox="1"/>
          <p:nvPr/>
        </p:nvSpPr>
        <p:spPr>
          <a:xfrm>
            <a:off x="4059936" y="1572768"/>
            <a:ext cx="184708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SHAPE THE EXECUTIVE CASE</a:t>
            </a:r>
          </a:p>
        </p:txBody>
      </p:sp>
      <p:sp>
        <p:nvSpPr>
          <p:cNvPr id="8916" name="TextBox 8915"/>
          <p:cNvSpPr txBox="1"/>
          <p:nvPr/>
        </p:nvSpPr>
        <p:spPr>
          <a:xfrm>
            <a:off x="3648456" y="2194560"/>
            <a:ext cx="2231136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23"/>
                </a:solidFill>
                <a:latin typeface="Arial"/>
              </a:rPr>
              <a:t>Persona value story · CIO, CISO, Risk and operator value in their language.</a:t>
            </a:r>
          </a:p>
        </p:txBody>
      </p:sp>
      <p:sp>
        <p:nvSpPr>
          <p:cNvPr id="8917" name="TextBox 8916"/>
          <p:cNvSpPr txBox="1"/>
          <p:nvPr/>
        </p:nvSpPr>
        <p:spPr>
          <a:xfrm>
            <a:off x="6035040" y="1682496"/>
            <a:ext cx="1280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E3604"/>
                </a:solidFill>
                <a:latin typeface="Arial"/>
              </a:rPr>
              <a:t>→</a:t>
            </a:r>
          </a:p>
        </p:txBody>
      </p:sp>
      <p:sp>
        <p:nvSpPr>
          <p:cNvPr id="8918" name="Rectangle 8917"/>
          <p:cNvSpPr/>
          <p:nvPr/>
        </p:nvSpPr>
        <p:spPr>
          <a:xfrm>
            <a:off x="6181344" y="1572768"/>
            <a:ext cx="2505456" cy="438912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19" name="TextBox 8918"/>
          <p:cNvSpPr txBox="1"/>
          <p:nvPr/>
        </p:nvSpPr>
        <p:spPr>
          <a:xfrm>
            <a:off x="6318504" y="1572768"/>
            <a:ext cx="38404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8920" name="TextBox 8919"/>
          <p:cNvSpPr txBox="1"/>
          <p:nvPr/>
        </p:nvSpPr>
        <p:spPr>
          <a:xfrm>
            <a:off x="6729984" y="1572768"/>
            <a:ext cx="184708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PROVE WITH DELIVERY</a:t>
            </a:r>
          </a:p>
        </p:txBody>
      </p:sp>
      <p:sp>
        <p:nvSpPr>
          <p:cNvPr id="8921" name="TextBox 8920"/>
          <p:cNvSpPr txBox="1"/>
          <p:nvPr/>
        </p:nvSpPr>
        <p:spPr>
          <a:xfrm>
            <a:off x="6318504" y="2194560"/>
            <a:ext cx="2231136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23"/>
                </a:solidFill>
                <a:latin typeface="Arial"/>
              </a:rPr>
              <a:t>Solution play · Problem, architecture, proof and evaluation offer.</a:t>
            </a:r>
          </a:p>
        </p:txBody>
      </p:sp>
      <p:sp>
        <p:nvSpPr>
          <p:cNvPr id="8922" name="TextBox 8921"/>
          <p:cNvSpPr txBox="1"/>
          <p:nvPr/>
        </p:nvSpPr>
        <p:spPr>
          <a:xfrm>
            <a:off x="8705088" y="1682496"/>
            <a:ext cx="1280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E3604"/>
                </a:solidFill>
                <a:latin typeface="Arial"/>
              </a:rPr>
              <a:t>→</a:t>
            </a:r>
          </a:p>
        </p:txBody>
      </p:sp>
      <p:sp>
        <p:nvSpPr>
          <p:cNvPr id="8923" name="Rectangle 8922"/>
          <p:cNvSpPr/>
          <p:nvPr/>
        </p:nvSpPr>
        <p:spPr>
          <a:xfrm>
            <a:off x="8851392" y="1572768"/>
            <a:ext cx="2505456" cy="438912"/>
          </a:xfrm>
          <a:prstGeom prst="rect">
            <a:avLst/>
          </a:prstGeom>
          <a:solidFill>
            <a:srgbClr val="FA5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24" name="TextBox 8923"/>
          <p:cNvSpPr txBox="1"/>
          <p:nvPr/>
        </p:nvSpPr>
        <p:spPr>
          <a:xfrm>
            <a:off x="8988552" y="1572768"/>
            <a:ext cx="38404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623"/>
                </a:solidFill>
                <a:latin typeface="Arial"/>
              </a:rPr>
              <a:t>04</a:t>
            </a:r>
          </a:p>
        </p:txBody>
      </p:sp>
      <p:sp>
        <p:nvSpPr>
          <p:cNvPr id="8925" name="TextBox 8924"/>
          <p:cNvSpPr txBox="1"/>
          <p:nvPr/>
        </p:nvSpPr>
        <p:spPr>
          <a:xfrm>
            <a:off x="9400032" y="1572768"/>
            <a:ext cx="184708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SCALE FROM EVIDENCE</a:t>
            </a:r>
          </a:p>
        </p:txBody>
      </p:sp>
      <p:sp>
        <p:nvSpPr>
          <p:cNvPr id="8926" name="TextBox 8925"/>
          <p:cNvSpPr txBox="1"/>
          <p:nvPr/>
        </p:nvSpPr>
        <p:spPr>
          <a:xfrm>
            <a:off x="8988552" y="2194560"/>
            <a:ext cx="2231136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E3604"/>
                </a:solidFill>
                <a:latin typeface="Arial"/>
              </a:rPr>
              <a:t>Expansion play · Adjacent workload, new buyer, commercial step.</a:t>
            </a:r>
          </a:p>
        </p:txBody>
      </p:sp>
      <p:sp>
        <p:nvSpPr>
          <p:cNvPr id="8927" name="Rectangle 8926"/>
          <p:cNvSpPr/>
          <p:nvPr/>
        </p:nvSpPr>
        <p:spPr>
          <a:xfrm>
            <a:off x="841248" y="3456432"/>
            <a:ext cx="10515600" cy="127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28" name="Rectangle 8927"/>
          <p:cNvSpPr/>
          <p:nvPr/>
        </p:nvSpPr>
        <p:spPr>
          <a:xfrm>
            <a:off x="841248" y="3822191"/>
            <a:ext cx="10515600" cy="1353312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29" name="TextBox 8928"/>
          <p:cNvSpPr txBox="1"/>
          <p:nvPr/>
        </p:nvSpPr>
        <p:spPr>
          <a:xfrm>
            <a:off x="1078992" y="4005072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A500E"/>
                </a:solidFill>
                <a:latin typeface="Arial"/>
              </a:rPr>
              <a:t>WHY IT COMPOUNDS</a:t>
            </a:r>
          </a:p>
        </p:txBody>
      </p:sp>
      <p:sp>
        <p:nvSpPr>
          <p:cNvPr id="8930" name="TextBox 8929"/>
          <p:cNvSpPr txBox="1"/>
          <p:nvPr/>
        </p:nvSpPr>
        <p:spPr>
          <a:xfrm>
            <a:off x="1078992" y="4370832"/>
            <a:ext cx="374903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Turn wins into references.</a:t>
            </a:r>
          </a:p>
        </p:txBody>
      </p:sp>
      <p:sp>
        <p:nvSpPr>
          <p:cNvPr id="8931" name="TextBox 8930"/>
          <p:cNvSpPr txBox="1"/>
          <p:nvPr/>
        </p:nvSpPr>
        <p:spPr>
          <a:xfrm>
            <a:off x="5577840" y="4160520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FOCUS  →  CASE  →  PROOF  →  SCALE</a:t>
            </a:r>
          </a:p>
        </p:txBody>
      </p:sp>
      <p:sp>
        <p:nvSpPr>
          <p:cNvPr id="8932" name="TextBox 8931"/>
          <p:cNvSpPr txBox="1"/>
          <p:nvPr/>
        </p:nvSpPr>
        <p:spPr>
          <a:xfrm>
            <a:off x="5577840" y="4599432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0C0"/>
                </a:solidFill>
                <a:latin typeface="Arial"/>
              </a:rPr>
              <a:t>Evidence compounds across accounts.</a:t>
            </a:r>
          </a:p>
        </p:txBody>
      </p:sp>
    </p:spTree>
    <p:extLst>
      <p:ext uri="{BB962C8B-B14F-4D97-AF65-F5344CB8AC3E}">
        <p14:creationId xmlns:p14="http://schemas.microsoft.com/office/powerpoint/2010/main" val="3576942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Mistral company monogram — slide 4" descr="Mistral AI company mono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182880"/>
            <a:ext cx="347472" cy="347472"/>
          </a:xfrm>
          <a:prstGeom prst="rect">
            <a:avLst/>
          </a:prstGeom>
          <a:ln/>
        </p:spPr>
      </p:pic>
      <p:sp>
        <p:nvSpPr>
          <p:cNvPr id="8901" name="FootTxt"/>
          <p:cNvSpPr txBox="1"/>
          <p:nvPr/>
        </p:nvSpPr>
        <p:spPr>
          <a:xfrm>
            <a:off x="612648" y="6620000"/>
            <a:ext cx="4005072" cy="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0" spc="60">
                <a:solidFill>
                  <a:srgbClr val="5A554B"/>
                </a:solidFill>
                <a:latin typeface="Arial"/>
                <a:cs typeface="Arial"/>
              </a:rPr>
              <a:t>SHIV  ·  PMM CANDIDATE  ·  18 AUG 2026</a:t>
            </a:r>
          </a:p>
        </p:txBody>
      </p:sp>
      <p:sp>
        <p:nvSpPr>
          <p:cNvPr id="8902" name="FootPg"/>
          <p:cNvSpPr txBox="1"/>
          <p:nvPr/>
        </p:nvSpPr>
        <p:spPr>
          <a:xfrm>
            <a:off x="11237976" y="6620000"/>
            <a:ext cx="347472" cy="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200" b="0" spc="0">
                <a:solidFill>
                  <a:srgbClr val="5A554B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903" name="Rectangle 8902"/>
          <p:cNvSpPr/>
          <p:nvPr/>
        </p:nvSpPr>
        <p:spPr>
          <a:xfrm>
            <a:off x="612648" y="265176"/>
            <a:ext cx="64008" cy="621792"/>
          </a:xfrm>
          <a:prstGeom prst="rect">
            <a:avLst/>
          </a:prstGeom>
          <a:solidFill>
            <a:srgbClr val="FA5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04" name="TextBox 8903"/>
          <p:cNvSpPr txBox="1"/>
          <p:nvPr/>
        </p:nvSpPr>
        <p:spPr>
          <a:xfrm>
            <a:off x="841248" y="64008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MARKET LOGIC | CUSTOMER PAIN POINTS | PORTFOLIO</a:t>
            </a:r>
          </a:p>
        </p:txBody>
      </p:sp>
      <p:sp>
        <p:nvSpPr>
          <p:cNvPr id="8905" name="TextBox 8904"/>
          <p:cNvSpPr txBox="1"/>
          <p:nvPr/>
        </p:nvSpPr>
        <p:spPr>
          <a:xfrm>
            <a:off x="841248" y="283464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61623"/>
                </a:solidFill>
                <a:latin typeface="Tiny5"/>
              </a:rPr>
              <a:t>START WHERE THE PROBLEM IS SHARPEST</a:t>
            </a:r>
          </a:p>
        </p:txBody>
      </p:sp>
      <p:sp>
        <p:nvSpPr>
          <p:cNvPr id="8906" name="TextBox 8905"/>
          <p:cNvSpPr txBox="1"/>
          <p:nvPr/>
        </p:nvSpPr>
        <p:spPr>
          <a:xfrm>
            <a:off x="841248" y="98755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554B"/>
                </a:solidFill>
                <a:latin typeface="Arial"/>
              </a:rPr>
              <a:t>Give sellers something they can take almost directly into a target account — no rebuild per deal.</a:t>
            </a:r>
          </a:p>
        </p:txBody>
      </p:sp>
      <p:sp>
        <p:nvSpPr>
          <p:cNvPr id="8907" name="Rectangle 8906"/>
          <p:cNvSpPr/>
          <p:nvPr/>
        </p:nvSpPr>
        <p:spPr>
          <a:xfrm>
            <a:off x="612648" y="6547104"/>
            <a:ext cx="11109960" cy="127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08" name="Rectangle 8907"/>
          <p:cNvSpPr/>
          <p:nvPr/>
        </p:nvSpPr>
        <p:spPr>
          <a:xfrm>
            <a:off x="841248" y="1444752"/>
            <a:ext cx="4069080" cy="393192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09" name="TextBox 8908"/>
          <p:cNvSpPr txBox="1"/>
          <p:nvPr/>
        </p:nvSpPr>
        <p:spPr>
          <a:xfrm>
            <a:off x="1060704" y="1444752"/>
            <a:ext cx="283464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WHY FSI FIRST</a:t>
            </a:r>
          </a:p>
        </p:txBody>
      </p:sp>
      <p:sp>
        <p:nvSpPr>
          <p:cNvPr id="8910" name="Rectangle 8909"/>
          <p:cNvSpPr/>
          <p:nvPr/>
        </p:nvSpPr>
        <p:spPr>
          <a:xfrm>
            <a:off x="3557016" y="1444752"/>
            <a:ext cx="1353312" cy="393192"/>
          </a:xfrm>
          <a:prstGeom prst="rect">
            <a:avLst/>
          </a:prstGeom>
          <a:solidFill>
            <a:srgbClr val="FA5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11" name="TextBox 8910"/>
          <p:cNvSpPr txBox="1"/>
          <p:nvPr/>
        </p:nvSpPr>
        <p:spPr>
          <a:xfrm>
            <a:off x="3611880" y="1444752"/>
            <a:ext cx="1243584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1623"/>
                </a:solidFill>
                <a:latin typeface="Arial"/>
              </a:rPr>
              <a:t>4 CONDITIONS</a:t>
            </a:r>
          </a:p>
        </p:txBody>
      </p:sp>
      <p:sp>
        <p:nvSpPr>
          <p:cNvPr id="8912" name="TextBox 8911"/>
          <p:cNvSpPr txBox="1"/>
          <p:nvPr/>
        </p:nvSpPr>
        <p:spPr>
          <a:xfrm>
            <a:off x="1060704" y="1993392"/>
            <a:ext cx="320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E3604"/>
                </a:solidFill>
                <a:latin typeface="Arial"/>
              </a:rPr>
              <a:t>01</a:t>
            </a:r>
          </a:p>
        </p:txBody>
      </p:sp>
      <p:sp>
        <p:nvSpPr>
          <p:cNvPr id="8913" name="TextBox 8912"/>
          <p:cNvSpPr txBox="1"/>
          <p:nvPr/>
        </p:nvSpPr>
        <p:spPr>
          <a:xfrm>
            <a:off x="1426464" y="1993392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Sensitive data</a:t>
            </a:r>
          </a:p>
        </p:txBody>
      </p:sp>
      <p:sp>
        <p:nvSpPr>
          <p:cNvPr id="8914" name="TextBox 8913"/>
          <p:cNvSpPr txBox="1"/>
          <p:nvPr/>
        </p:nvSpPr>
        <p:spPr>
          <a:xfrm>
            <a:off x="1426464" y="2286000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554B"/>
                </a:solidFill>
                <a:latin typeface="Arial"/>
              </a:rPr>
              <a:t>Customer, transaction, credit, investment and internal data.</a:t>
            </a:r>
          </a:p>
        </p:txBody>
      </p:sp>
      <p:sp>
        <p:nvSpPr>
          <p:cNvPr id="8915" name="Rectangle 8914"/>
          <p:cNvSpPr/>
          <p:nvPr/>
        </p:nvSpPr>
        <p:spPr>
          <a:xfrm>
            <a:off x="1060704" y="2697480"/>
            <a:ext cx="3611880" cy="127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16" name="TextBox 8915"/>
          <p:cNvSpPr txBox="1"/>
          <p:nvPr/>
        </p:nvSpPr>
        <p:spPr>
          <a:xfrm>
            <a:off x="1060704" y="2798064"/>
            <a:ext cx="320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E3604"/>
                </a:solidFill>
                <a:latin typeface="Arial"/>
              </a:rPr>
              <a:t>02</a:t>
            </a:r>
          </a:p>
        </p:txBody>
      </p:sp>
      <p:sp>
        <p:nvSpPr>
          <p:cNvPr id="8917" name="TextBox 8916"/>
          <p:cNvSpPr txBox="1"/>
          <p:nvPr/>
        </p:nvSpPr>
        <p:spPr>
          <a:xfrm>
            <a:off x="1426464" y="2798064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Governance burden</a:t>
            </a:r>
          </a:p>
        </p:txBody>
      </p:sp>
      <p:sp>
        <p:nvSpPr>
          <p:cNvPr id="8918" name="TextBox 8917"/>
          <p:cNvSpPr txBox="1"/>
          <p:nvPr/>
        </p:nvSpPr>
        <p:spPr>
          <a:xfrm>
            <a:off x="1426464" y="3090672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554B"/>
                </a:solidFill>
                <a:latin typeface="Arial"/>
              </a:rPr>
              <a:t>Security, Legal, Model Risk, Compliance and Audit shape approval.</a:t>
            </a:r>
          </a:p>
        </p:txBody>
      </p:sp>
      <p:sp>
        <p:nvSpPr>
          <p:cNvPr id="8919" name="Rectangle 8918"/>
          <p:cNvSpPr/>
          <p:nvPr/>
        </p:nvSpPr>
        <p:spPr>
          <a:xfrm>
            <a:off x="1060704" y="3502152"/>
            <a:ext cx="3611880" cy="127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20" name="TextBox 8919"/>
          <p:cNvSpPr txBox="1"/>
          <p:nvPr/>
        </p:nvSpPr>
        <p:spPr>
          <a:xfrm>
            <a:off x="1060704" y="3602736"/>
            <a:ext cx="320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E3604"/>
                </a:solidFill>
                <a:latin typeface="Arial"/>
              </a:rPr>
              <a:t>03</a:t>
            </a:r>
          </a:p>
        </p:txBody>
      </p:sp>
      <p:sp>
        <p:nvSpPr>
          <p:cNvPr id="8921" name="TextBox 8920"/>
          <p:cNvSpPr txBox="1"/>
          <p:nvPr/>
        </p:nvSpPr>
        <p:spPr>
          <a:xfrm>
            <a:off x="1426464" y="3602736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Document intensity</a:t>
            </a:r>
          </a:p>
        </p:txBody>
      </p:sp>
      <p:sp>
        <p:nvSpPr>
          <p:cNvPr id="8922" name="TextBox 8921"/>
          <p:cNvSpPr txBox="1"/>
          <p:nvPr/>
        </p:nvSpPr>
        <p:spPr>
          <a:xfrm>
            <a:off x="1426464" y="3895344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554B"/>
                </a:solidFill>
                <a:latin typeface="Arial"/>
              </a:rPr>
              <a:t>Filings, credit files, diligence packs and policies remain document-heavy.</a:t>
            </a:r>
          </a:p>
        </p:txBody>
      </p:sp>
      <p:sp>
        <p:nvSpPr>
          <p:cNvPr id="8923" name="Rectangle 8922"/>
          <p:cNvSpPr/>
          <p:nvPr/>
        </p:nvSpPr>
        <p:spPr>
          <a:xfrm>
            <a:off x="1060704" y="4306824"/>
            <a:ext cx="3611880" cy="127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24" name="TextBox 8923"/>
          <p:cNvSpPr txBox="1"/>
          <p:nvPr/>
        </p:nvSpPr>
        <p:spPr>
          <a:xfrm>
            <a:off x="1060704" y="4407408"/>
            <a:ext cx="320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E3604"/>
                </a:solidFill>
                <a:latin typeface="Arial"/>
              </a:rPr>
              <a:t>04</a:t>
            </a:r>
          </a:p>
        </p:txBody>
      </p:sp>
      <p:sp>
        <p:nvSpPr>
          <p:cNvPr id="8925" name="TextBox 8924"/>
          <p:cNvSpPr txBox="1"/>
          <p:nvPr/>
        </p:nvSpPr>
        <p:spPr>
          <a:xfrm>
            <a:off x="1426464" y="4407408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Multi-model + geography</a:t>
            </a:r>
          </a:p>
        </p:txBody>
      </p:sp>
      <p:sp>
        <p:nvSpPr>
          <p:cNvPr id="8926" name="TextBox 8925"/>
          <p:cNvSpPr txBox="1"/>
          <p:nvPr/>
        </p:nvSpPr>
        <p:spPr>
          <a:xfrm>
            <a:off x="1426464" y="4700016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554B"/>
                </a:solidFill>
                <a:latin typeface="Arial"/>
              </a:rPr>
              <a:t>Mistral sits inside a multi-model estate; rules vary by market.</a:t>
            </a:r>
          </a:p>
        </p:txBody>
      </p:sp>
      <p:sp>
        <p:nvSpPr>
          <p:cNvPr id="8927" name="Rectangle 8926"/>
          <p:cNvSpPr/>
          <p:nvPr/>
        </p:nvSpPr>
        <p:spPr>
          <a:xfrm>
            <a:off x="5212080" y="1444752"/>
            <a:ext cx="6144768" cy="393192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28" name="TextBox 8927"/>
          <p:cNvSpPr txBox="1"/>
          <p:nvPr/>
        </p:nvSpPr>
        <p:spPr>
          <a:xfrm>
            <a:off x="5431536" y="1444752"/>
            <a:ext cx="443484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P0 ANCHOR</a:t>
            </a:r>
          </a:p>
        </p:txBody>
      </p:sp>
      <p:sp>
        <p:nvSpPr>
          <p:cNvPr id="8929" name="Rectangle 8928"/>
          <p:cNvSpPr/>
          <p:nvPr/>
        </p:nvSpPr>
        <p:spPr>
          <a:xfrm>
            <a:off x="10040112" y="1444752"/>
            <a:ext cx="1316736" cy="393192"/>
          </a:xfrm>
          <a:prstGeom prst="rect">
            <a:avLst/>
          </a:prstGeom>
          <a:solidFill>
            <a:srgbClr val="FA5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30" name="TextBox 8929"/>
          <p:cNvSpPr txBox="1"/>
          <p:nvPr/>
        </p:nvSpPr>
        <p:spPr>
          <a:xfrm>
            <a:off x="10094976" y="1444752"/>
            <a:ext cx="1207008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623"/>
                </a:solidFill>
                <a:latin typeface="Arial"/>
              </a:rPr>
              <a:t>P0 PLAY</a:t>
            </a:r>
          </a:p>
        </p:txBody>
      </p:sp>
      <p:sp>
        <p:nvSpPr>
          <p:cNvPr id="8931" name="TextBox 8930"/>
          <p:cNvSpPr txBox="1"/>
          <p:nvPr/>
        </p:nvSpPr>
        <p:spPr>
          <a:xfrm>
            <a:off x="5431536" y="1965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1623"/>
                </a:solidFill>
                <a:latin typeface="Arial"/>
              </a:rPr>
              <a:t>Controlled AI for Regulated Workflows</a:t>
            </a:r>
          </a:p>
        </p:txBody>
      </p:sp>
      <p:sp>
        <p:nvSpPr>
          <p:cNvPr id="8932" name="TextBox 8931"/>
          <p:cNvSpPr txBox="1"/>
          <p:nvPr/>
        </p:nvSpPr>
        <p:spPr>
          <a:xfrm>
            <a:off x="5431536" y="2359152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BUYER</a:t>
            </a:r>
          </a:p>
        </p:txBody>
      </p:sp>
      <p:sp>
        <p:nvSpPr>
          <p:cNvPr id="8933" name="TextBox 8932"/>
          <p:cNvSpPr txBox="1"/>
          <p:nvPr/>
        </p:nvSpPr>
        <p:spPr>
          <a:xfrm>
            <a:off x="6620256" y="2359152"/>
            <a:ext cx="4416552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23"/>
                </a:solidFill>
                <a:latin typeface="Arial"/>
              </a:rPr>
              <a:t>CRO / CCO / CISO / CIO</a:t>
            </a:r>
          </a:p>
        </p:txBody>
      </p:sp>
      <p:sp>
        <p:nvSpPr>
          <p:cNvPr id="8934" name="TextBox 8933"/>
          <p:cNvSpPr txBox="1"/>
          <p:nvPr/>
        </p:nvSpPr>
        <p:spPr>
          <a:xfrm>
            <a:off x="5431536" y="2706624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WORKFLOWS</a:t>
            </a:r>
          </a:p>
        </p:txBody>
      </p:sp>
      <p:sp>
        <p:nvSpPr>
          <p:cNvPr id="8935" name="TextBox 8934"/>
          <p:cNvSpPr txBox="1"/>
          <p:nvPr/>
        </p:nvSpPr>
        <p:spPr>
          <a:xfrm>
            <a:off x="6620256" y="2706624"/>
            <a:ext cx="4416552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23"/>
                </a:solidFill>
                <a:latin typeface="Arial"/>
              </a:rPr>
              <a:t>KYC, AML, credit, policy</a:t>
            </a:r>
          </a:p>
        </p:txBody>
      </p:sp>
      <p:sp>
        <p:nvSpPr>
          <p:cNvPr id="8936" name="TextBox 8935"/>
          <p:cNvSpPr txBox="1"/>
          <p:nvPr/>
        </p:nvSpPr>
        <p:spPr>
          <a:xfrm>
            <a:off x="5431536" y="3054096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WIN</a:t>
            </a:r>
          </a:p>
        </p:txBody>
      </p:sp>
      <p:sp>
        <p:nvSpPr>
          <p:cNvPr id="8937" name="TextBox 8936"/>
          <p:cNvSpPr txBox="1"/>
          <p:nvPr/>
        </p:nvSpPr>
        <p:spPr>
          <a:xfrm>
            <a:off x="6620256" y="3054096"/>
            <a:ext cx="4416552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23"/>
                </a:solidFill>
                <a:latin typeface="Arial"/>
              </a:rPr>
              <a:t>Deployment control + customization + approval evidence</a:t>
            </a:r>
          </a:p>
        </p:txBody>
      </p:sp>
      <p:sp>
        <p:nvSpPr>
          <p:cNvPr id="8938" name="Rectangle 8937"/>
          <p:cNvSpPr/>
          <p:nvPr/>
        </p:nvSpPr>
        <p:spPr>
          <a:xfrm>
            <a:off x="5212080" y="3502152"/>
            <a:ext cx="6144768" cy="393192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39" name="TextBox 8938"/>
          <p:cNvSpPr txBox="1"/>
          <p:nvPr/>
        </p:nvSpPr>
        <p:spPr>
          <a:xfrm>
            <a:off x="5431536" y="3502152"/>
            <a:ext cx="443484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P0 TECHNICAL WEDGE</a:t>
            </a:r>
          </a:p>
        </p:txBody>
      </p:sp>
      <p:sp>
        <p:nvSpPr>
          <p:cNvPr id="8940" name="Rectangle 8939"/>
          <p:cNvSpPr/>
          <p:nvPr/>
        </p:nvSpPr>
        <p:spPr>
          <a:xfrm>
            <a:off x="10040112" y="3502152"/>
            <a:ext cx="1316736" cy="393192"/>
          </a:xfrm>
          <a:prstGeom prst="rect">
            <a:avLst/>
          </a:prstGeom>
          <a:solidFill>
            <a:srgbClr val="FA5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41" name="TextBox 8940"/>
          <p:cNvSpPr txBox="1"/>
          <p:nvPr/>
        </p:nvSpPr>
        <p:spPr>
          <a:xfrm>
            <a:off x="10094976" y="3502152"/>
            <a:ext cx="1207008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623"/>
                </a:solidFill>
                <a:latin typeface="Arial"/>
              </a:rPr>
              <a:t>P0 PLAY</a:t>
            </a:r>
          </a:p>
        </p:txBody>
      </p:sp>
      <p:sp>
        <p:nvSpPr>
          <p:cNvPr id="8942" name="TextBox 8941"/>
          <p:cNvSpPr txBox="1"/>
          <p:nvPr/>
        </p:nvSpPr>
        <p:spPr>
          <a:xfrm>
            <a:off x="5431536" y="40233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1623"/>
                </a:solidFill>
                <a:latin typeface="Arial"/>
              </a:rPr>
              <a:t>Financial Intelligence &amp; Document Automation</a:t>
            </a:r>
          </a:p>
        </p:txBody>
      </p:sp>
      <p:sp>
        <p:nvSpPr>
          <p:cNvPr id="8943" name="TextBox 8942"/>
          <p:cNvSpPr txBox="1"/>
          <p:nvPr/>
        </p:nvSpPr>
        <p:spPr>
          <a:xfrm>
            <a:off x="5431536" y="4416552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BUYER</a:t>
            </a:r>
          </a:p>
        </p:txBody>
      </p:sp>
      <p:sp>
        <p:nvSpPr>
          <p:cNvPr id="8944" name="TextBox 8943"/>
          <p:cNvSpPr txBox="1"/>
          <p:nvPr/>
        </p:nvSpPr>
        <p:spPr>
          <a:xfrm>
            <a:off x="6620256" y="4416552"/>
            <a:ext cx="4416552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23"/>
                </a:solidFill>
                <a:latin typeface="Arial"/>
              </a:rPr>
              <a:t>CIO / Research / Credit / PE</a:t>
            </a:r>
          </a:p>
        </p:txBody>
      </p:sp>
      <p:sp>
        <p:nvSpPr>
          <p:cNvPr id="8945" name="TextBox 8944"/>
          <p:cNvSpPr txBox="1"/>
          <p:nvPr/>
        </p:nvSpPr>
        <p:spPr>
          <a:xfrm>
            <a:off x="5431536" y="4764024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WORKFLOWS</a:t>
            </a:r>
          </a:p>
        </p:txBody>
      </p:sp>
      <p:sp>
        <p:nvSpPr>
          <p:cNvPr id="8946" name="TextBox 8945"/>
          <p:cNvSpPr txBox="1"/>
          <p:nvPr/>
        </p:nvSpPr>
        <p:spPr>
          <a:xfrm>
            <a:off x="6620256" y="4764024"/>
            <a:ext cx="4416552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23"/>
                </a:solidFill>
                <a:latin typeface="Arial"/>
              </a:rPr>
              <a:t>Extraction, diligence, filings</a:t>
            </a:r>
          </a:p>
        </p:txBody>
      </p:sp>
      <p:sp>
        <p:nvSpPr>
          <p:cNvPr id="8947" name="TextBox 8946"/>
          <p:cNvSpPr txBox="1"/>
          <p:nvPr/>
        </p:nvSpPr>
        <p:spPr>
          <a:xfrm>
            <a:off x="5431536" y="5111496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WIN</a:t>
            </a:r>
          </a:p>
        </p:txBody>
      </p:sp>
      <p:sp>
        <p:nvSpPr>
          <p:cNvPr id="8948" name="TextBox 8947"/>
          <p:cNvSpPr txBox="1"/>
          <p:nvPr/>
        </p:nvSpPr>
        <p:spPr>
          <a:xfrm>
            <a:off x="6620256" y="5111496"/>
            <a:ext cx="4416552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23"/>
                </a:solidFill>
                <a:latin typeface="Arial"/>
              </a:rPr>
              <a:t>Document intelligence + traceability + workflow fit</a:t>
            </a:r>
          </a:p>
        </p:txBody>
      </p:sp>
      <p:sp>
        <p:nvSpPr>
          <p:cNvPr id="8949" name="Rectangle 8948"/>
          <p:cNvSpPr/>
          <p:nvPr/>
        </p:nvSpPr>
        <p:spPr>
          <a:xfrm>
            <a:off x="841248" y="5413248"/>
            <a:ext cx="10515600" cy="310896"/>
          </a:xfrm>
          <a:prstGeom prst="rect">
            <a:avLst/>
          </a:prstGeom>
          <a:solidFill>
            <a:srgbClr val="FE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50" name="TextBox 8949"/>
          <p:cNvSpPr txBox="1"/>
          <p:nvPr/>
        </p:nvSpPr>
        <p:spPr>
          <a:xfrm>
            <a:off x="1060704" y="5413248"/>
            <a:ext cx="1007668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E3604"/>
                </a:solidFill>
                <a:latin typeface="Arial"/>
              </a:rPr>
              <a:t>EVERY PLAY SHIPS WITH · PACKAGED ONCE, REUSED PER ACCOUNT</a:t>
            </a:r>
          </a:p>
        </p:txBody>
      </p:sp>
      <p:sp>
        <p:nvSpPr>
          <p:cNvPr id="8951" name="TextBox 8950"/>
          <p:cNvSpPr txBox="1"/>
          <p:nvPr/>
        </p:nvSpPr>
        <p:spPr>
          <a:xfrm>
            <a:off x="841248" y="5888736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1623"/>
                </a:solidFill>
                <a:latin typeface="Arial"/>
              </a:rPr>
              <a:t>PROBLEM</a:t>
            </a:r>
          </a:p>
        </p:txBody>
      </p:sp>
      <p:sp>
        <p:nvSpPr>
          <p:cNvPr id="8952" name="TextBox 8951"/>
          <p:cNvSpPr txBox="1"/>
          <p:nvPr/>
        </p:nvSpPr>
        <p:spPr>
          <a:xfrm>
            <a:off x="2185416" y="5879592"/>
            <a:ext cx="1554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→</a:t>
            </a:r>
          </a:p>
        </p:txBody>
      </p:sp>
      <p:sp>
        <p:nvSpPr>
          <p:cNvPr id="8953" name="TextBox 8952"/>
          <p:cNvSpPr txBox="1"/>
          <p:nvPr/>
        </p:nvSpPr>
        <p:spPr>
          <a:xfrm>
            <a:off x="2340864" y="5888736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1623"/>
                </a:solidFill>
                <a:latin typeface="Arial"/>
              </a:rPr>
              <a:t>WHY WE WIN</a:t>
            </a:r>
          </a:p>
        </p:txBody>
      </p:sp>
      <p:sp>
        <p:nvSpPr>
          <p:cNvPr id="8954" name="TextBox 8953"/>
          <p:cNvSpPr txBox="1"/>
          <p:nvPr/>
        </p:nvSpPr>
        <p:spPr>
          <a:xfrm>
            <a:off x="3685032" y="5879592"/>
            <a:ext cx="1554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→</a:t>
            </a:r>
          </a:p>
        </p:txBody>
      </p:sp>
      <p:sp>
        <p:nvSpPr>
          <p:cNvPr id="8955" name="TextBox 8954"/>
          <p:cNvSpPr txBox="1"/>
          <p:nvPr/>
        </p:nvSpPr>
        <p:spPr>
          <a:xfrm>
            <a:off x="3840480" y="5888736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1623"/>
                </a:solidFill>
                <a:latin typeface="Arial"/>
              </a:rPr>
              <a:t>DEMO</a:t>
            </a:r>
          </a:p>
        </p:txBody>
      </p:sp>
      <p:sp>
        <p:nvSpPr>
          <p:cNvPr id="8956" name="TextBox 8955"/>
          <p:cNvSpPr txBox="1"/>
          <p:nvPr/>
        </p:nvSpPr>
        <p:spPr>
          <a:xfrm>
            <a:off x="5184648" y="5879592"/>
            <a:ext cx="1554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→</a:t>
            </a:r>
          </a:p>
        </p:txBody>
      </p:sp>
      <p:sp>
        <p:nvSpPr>
          <p:cNvPr id="8957" name="TextBox 8956"/>
          <p:cNvSpPr txBox="1"/>
          <p:nvPr/>
        </p:nvSpPr>
        <p:spPr>
          <a:xfrm>
            <a:off x="5340096" y="5888736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1623"/>
                </a:solidFill>
                <a:latin typeface="Arial"/>
              </a:rPr>
              <a:t>ROI MODEL</a:t>
            </a:r>
          </a:p>
        </p:txBody>
      </p:sp>
      <p:sp>
        <p:nvSpPr>
          <p:cNvPr id="8958" name="TextBox 8957"/>
          <p:cNvSpPr txBox="1"/>
          <p:nvPr/>
        </p:nvSpPr>
        <p:spPr>
          <a:xfrm>
            <a:off x="6684264" y="5879592"/>
            <a:ext cx="1554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→</a:t>
            </a:r>
          </a:p>
        </p:txBody>
      </p:sp>
      <p:sp>
        <p:nvSpPr>
          <p:cNvPr id="8959" name="TextBox 8958"/>
          <p:cNvSpPr txBox="1"/>
          <p:nvPr/>
        </p:nvSpPr>
        <p:spPr>
          <a:xfrm>
            <a:off x="6839712" y="5888736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1623"/>
                </a:solidFill>
                <a:latin typeface="Arial"/>
              </a:rPr>
              <a:t>OBJECTIONS</a:t>
            </a:r>
          </a:p>
        </p:txBody>
      </p:sp>
      <p:sp>
        <p:nvSpPr>
          <p:cNvPr id="8960" name="TextBox 8959"/>
          <p:cNvSpPr txBox="1"/>
          <p:nvPr/>
        </p:nvSpPr>
        <p:spPr>
          <a:xfrm>
            <a:off x="8183879" y="5879592"/>
            <a:ext cx="1554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→</a:t>
            </a:r>
          </a:p>
        </p:txBody>
      </p:sp>
      <p:sp>
        <p:nvSpPr>
          <p:cNvPr id="8961" name="TextBox 8960"/>
          <p:cNvSpPr txBox="1"/>
          <p:nvPr/>
        </p:nvSpPr>
        <p:spPr>
          <a:xfrm>
            <a:off x="8339327" y="5888736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1623"/>
                </a:solidFill>
                <a:latin typeface="Arial"/>
              </a:rPr>
              <a:t>EVAL OFFER</a:t>
            </a:r>
          </a:p>
        </p:txBody>
      </p:sp>
      <p:sp>
        <p:nvSpPr>
          <p:cNvPr id="8962" name="TextBox 8961"/>
          <p:cNvSpPr txBox="1"/>
          <p:nvPr/>
        </p:nvSpPr>
        <p:spPr>
          <a:xfrm>
            <a:off x="9683496" y="5879592"/>
            <a:ext cx="1554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→</a:t>
            </a:r>
          </a:p>
        </p:txBody>
      </p:sp>
      <p:sp>
        <p:nvSpPr>
          <p:cNvPr id="8963" name="TextBox 8962"/>
          <p:cNvSpPr txBox="1"/>
          <p:nvPr/>
        </p:nvSpPr>
        <p:spPr>
          <a:xfrm>
            <a:off x="9838944" y="5888736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A500E"/>
                </a:solidFill>
                <a:latin typeface="Arial"/>
              </a:rPr>
              <a:t>PROOF PACK</a:t>
            </a:r>
          </a:p>
        </p:txBody>
      </p:sp>
    </p:spTree>
    <p:extLst>
      <p:ext uri="{BB962C8B-B14F-4D97-AF65-F5344CB8AC3E}">
        <p14:creationId xmlns:p14="http://schemas.microsoft.com/office/powerpoint/2010/main" val="676782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Mistral company monogram — slide 9" descr="Mistral AI company mono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182880"/>
            <a:ext cx="347472" cy="347472"/>
          </a:xfrm>
          <a:prstGeom prst="rect">
            <a:avLst/>
          </a:prstGeom>
          <a:ln/>
        </p:spPr>
      </p:pic>
      <p:sp>
        <p:nvSpPr>
          <p:cNvPr id="8901" name="FootTxt"/>
          <p:cNvSpPr txBox="1"/>
          <p:nvPr/>
        </p:nvSpPr>
        <p:spPr>
          <a:xfrm>
            <a:off x="612648" y="6620000"/>
            <a:ext cx="4005072" cy="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0" spc="60">
                <a:solidFill>
                  <a:srgbClr val="5A554B"/>
                </a:solidFill>
                <a:latin typeface="Arial"/>
                <a:cs typeface="Arial"/>
              </a:rPr>
              <a:t>SHIV  ·  PMM CANDIDATE  ·  18 AUG 2026</a:t>
            </a:r>
          </a:p>
        </p:txBody>
      </p:sp>
      <p:sp>
        <p:nvSpPr>
          <p:cNvPr id="8902" name="FootPg"/>
          <p:cNvSpPr txBox="1"/>
          <p:nvPr/>
        </p:nvSpPr>
        <p:spPr>
          <a:xfrm>
            <a:off x="11237976" y="6620000"/>
            <a:ext cx="347472" cy="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200" b="0" spc="0">
                <a:solidFill>
                  <a:srgbClr val="5A554B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8903" name="Rectangle 8902"/>
          <p:cNvSpPr/>
          <p:nvPr/>
        </p:nvSpPr>
        <p:spPr>
          <a:xfrm>
            <a:off x="612648" y="265176"/>
            <a:ext cx="64008" cy="621792"/>
          </a:xfrm>
          <a:prstGeom prst="rect">
            <a:avLst/>
          </a:prstGeom>
          <a:solidFill>
            <a:srgbClr val="FA5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04" name="TextBox 8903"/>
          <p:cNvSpPr txBox="1"/>
          <p:nvPr/>
        </p:nvSpPr>
        <p:spPr>
          <a:xfrm>
            <a:off x="841248" y="64008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MESSAGE LOCALIZATION + PERSONA VALUE</a:t>
            </a:r>
          </a:p>
        </p:txBody>
      </p:sp>
      <p:sp>
        <p:nvSpPr>
          <p:cNvPr id="8905" name="TextBox 8904"/>
          <p:cNvSpPr txBox="1"/>
          <p:nvPr/>
        </p:nvSpPr>
        <p:spPr>
          <a:xfrm>
            <a:off x="841248" y="283464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61623"/>
                </a:solidFill>
                <a:latin typeface="Tiny5"/>
              </a:rPr>
              <a:t>SAME THESIS. ONLY THE LEAD MESSAGE CHANGES.</a:t>
            </a:r>
          </a:p>
        </p:txBody>
      </p:sp>
      <p:sp>
        <p:nvSpPr>
          <p:cNvPr id="8906" name="TextBox 8905"/>
          <p:cNvSpPr txBox="1"/>
          <p:nvPr/>
        </p:nvSpPr>
        <p:spPr>
          <a:xfrm>
            <a:off x="841248" y="98755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554B"/>
                </a:solidFill>
                <a:latin typeface="Arial"/>
              </a:rPr>
              <a:t>Bring the proof that answers their objection.</a:t>
            </a:r>
          </a:p>
        </p:txBody>
      </p:sp>
      <p:sp>
        <p:nvSpPr>
          <p:cNvPr id="8907" name="Rectangle 8906"/>
          <p:cNvSpPr/>
          <p:nvPr/>
        </p:nvSpPr>
        <p:spPr>
          <a:xfrm>
            <a:off x="612648" y="6547104"/>
            <a:ext cx="11109960" cy="127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08" name="Rectangle 8907"/>
          <p:cNvSpPr/>
          <p:nvPr/>
        </p:nvSpPr>
        <p:spPr>
          <a:xfrm>
            <a:off x="841248" y="1408176"/>
            <a:ext cx="10515600" cy="329184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09" name="TextBox 8908"/>
          <p:cNvSpPr txBox="1"/>
          <p:nvPr/>
        </p:nvSpPr>
        <p:spPr>
          <a:xfrm>
            <a:off x="1060704" y="1408176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01  WHICH MARKET?</a:t>
            </a:r>
          </a:p>
        </p:txBody>
      </p:sp>
      <p:sp>
        <p:nvSpPr>
          <p:cNvPr id="8910" name="TextBox 8909"/>
          <p:cNvSpPr txBox="1"/>
          <p:nvPr/>
        </p:nvSpPr>
        <p:spPr>
          <a:xfrm>
            <a:off x="9308592" y="1408176"/>
            <a:ext cx="18105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A500E"/>
                </a:solidFill>
                <a:latin typeface="Arial"/>
              </a:rPr>
              <a:t>5 MARKETS</a:t>
            </a:r>
          </a:p>
        </p:txBody>
      </p:sp>
      <p:sp>
        <p:nvSpPr>
          <p:cNvPr id="8911" name="TextBox 8910"/>
          <p:cNvSpPr txBox="1"/>
          <p:nvPr/>
        </p:nvSpPr>
        <p:spPr>
          <a:xfrm>
            <a:off x="1024128" y="184708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EU / EEA</a:t>
            </a:r>
          </a:p>
        </p:txBody>
      </p:sp>
      <p:sp>
        <p:nvSpPr>
          <p:cNvPr id="8912" name="TextBox 8911"/>
          <p:cNvSpPr txBox="1"/>
          <p:nvPr/>
        </p:nvSpPr>
        <p:spPr>
          <a:xfrm>
            <a:off x="987552" y="2103120"/>
            <a:ext cx="18105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Control + strategic autonomy</a:t>
            </a:r>
          </a:p>
        </p:txBody>
      </p:sp>
      <p:sp>
        <p:nvSpPr>
          <p:cNvPr id="8913" name="TextBox 8912"/>
          <p:cNvSpPr txBox="1"/>
          <p:nvPr/>
        </p:nvSpPr>
        <p:spPr>
          <a:xfrm>
            <a:off x="987552" y="2542032"/>
            <a:ext cx="18105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54B"/>
                </a:solidFill>
                <a:latin typeface="Arial"/>
              </a:rPr>
              <a:t>Do not imply DORA mandates self-hosting.</a:t>
            </a:r>
          </a:p>
        </p:txBody>
      </p:sp>
      <p:sp>
        <p:nvSpPr>
          <p:cNvPr id="8914" name="Rectangle 8913"/>
          <p:cNvSpPr/>
          <p:nvPr/>
        </p:nvSpPr>
        <p:spPr>
          <a:xfrm>
            <a:off x="2944368" y="1847088"/>
            <a:ext cx="9144" cy="118872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15" name="TextBox 8914"/>
          <p:cNvSpPr txBox="1"/>
          <p:nvPr/>
        </p:nvSpPr>
        <p:spPr>
          <a:xfrm>
            <a:off x="3127248" y="184708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UK</a:t>
            </a:r>
          </a:p>
        </p:txBody>
      </p:sp>
      <p:sp>
        <p:nvSpPr>
          <p:cNvPr id="8916" name="TextBox 8915"/>
          <p:cNvSpPr txBox="1"/>
          <p:nvPr/>
        </p:nvSpPr>
        <p:spPr>
          <a:xfrm>
            <a:off x="3090672" y="2103120"/>
            <a:ext cx="18105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Financial intelligence + accountability</a:t>
            </a:r>
          </a:p>
        </p:txBody>
      </p:sp>
      <p:sp>
        <p:nvSpPr>
          <p:cNvPr id="8917" name="TextBox 8916"/>
          <p:cNvSpPr txBox="1"/>
          <p:nvPr/>
        </p:nvSpPr>
        <p:spPr>
          <a:xfrm>
            <a:off x="3090672" y="2542032"/>
            <a:ext cx="18105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54B"/>
                </a:solidFill>
                <a:latin typeface="Arial"/>
              </a:rPr>
              <a:t>Lead with HSBC proof.</a:t>
            </a:r>
          </a:p>
        </p:txBody>
      </p:sp>
      <p:sp>
        <p:nvSpPr>
          <p:cNvPr id="8918" name="Rectangle 8917"/>
          <p:cNvSpPr/>
          <p:nvPr/>
        </p:nvSpPr>
        <p:spPr>
          <a:xfrm>
            <a:off x="5047488" y="1847088"/>
            <a:ext cx="9144" cy="118872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19" name="TextBox 8918"/>
          <p:cNvSpPr txBox="1"/>
          <p:nvPr/>
        </p:nvSpPr>
        <p:spPr>
          <a:xfrm>
            <a:off x="5230368" y="184708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NORTH AMERICA</a:t>
            </a:r>
          </a:p>
        </p:txBody>
      </p:sp>
      <p:sp>
        <p:nvSpPr>
          <p:cNvPr id="8920" name="TextBox 8919"/>
          <p:cNvSpPr txBox="1"/>
          <p:nvPr/>
        </p:nvSpPr>
        <p:spPr>
          <a:xfrm>
            <a:off x="5193792" y="2103120"/>
            <a:ext cx="18105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Documents + coexistence</a:t>
            </a:r>
          </a:p>
        </p:txBody>
      </p:sp>
      <p:sp>
        <p:nvSpPr>
          <p:cNvPr id="8921" name="TextBox 8920"/>
          <p:cNvSpPr txBox="1"/>
          <p:nvPr/>
        </p:nvSpPr>
        <p:spPr>
          <a:xfrm>
            <a:off x="5193792" y="2542032"/>
            <a:ext cx="18105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54B"/>
                </a:solidFill>
                <a:latin typeface="Arial"/>
              </a:rPr>
              <a:t>Avoid importing EU regulatory language.</a:t>
            </a:r>
          </a:p>
        </p:txBody>
      </p:sp>
      <p:sp>
        <p:nvSpPr>
          <p:cNvPr id="8922" name="Rectangle 8921"/>
          <p:cNvSpPr/>
          <p:nvPr/>
        </p:nvSpPr>
        <p:spPr>
          <a:xfrm>
            <a:off x="7150607" y="1847088"/>
            <a:ext cx="9144" cy="118872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23" name="TextBox 8922"/>
          <p:cNvSpPr txBox="1"/>
          <p:nvPr/>
        </p:nvSpPr>
        <p:spPr>
          <a:xfrm>
            <a:off x="7333488" y="184708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APAC</a:t>
            </a:r>
          </a:p>
        </p:txBody>
      </p:sp>
      <p:sp>
        <p:nvSpPr>
          <p:cNvPr id="8924" name="TextBox 8923"/>
          <p:cNvSpPr txBox="1"/>
          <p:nvPr/>
        </p:nvSpPr>
        <p:spPr>
          <a:xfrm>
            <a:off x="7296912" y="2103120"/>
            <a:ext cx="18105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Multilingual + deployment choice</a:t>
            </a:r>
          </a:p>
        </p:txBody>
      </p:sp>
      <p:sp>
        <p:nvSpPr>
          <p:cNvPr id="8925" name="TextBox 8924"/>
          <p:cNvSpPr txBox="1"/>
          <p:nvPr/>
        </p:nvSpPr>
        <p:spPr>
          <a:xfrm>
            <a:off x="7296912" y="2542032"/>
            <a:ext cx="18105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54B"/>
                </a:solidFill>
                <a:latin typeface="Arial"/>
              </a:rPr>
              <a:t>Target sophisticated multi-model banks.</a:t>
            </a:r>
          </a:p>
        </p:txBody>
      </p:sp>
      <p:sp>
        <p:nvSpPr>
          <p:cNvPr id="8926" name="Rectangle 8925"/>
          <p:cNvSpPr/>
          <p:nvPr/>
        </p:nvSpPr>
        <p:spPr>
          <a:xfrm>
            <a:off x="9253728" y="1847088"/>
            <a:ext cx="9144" cy="118872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27" name="TextBox 8926"/>
          <p:cNvSpPr txBox="1"/>
          <p:nvPr/>
        </p:nvSpPr>
        <p:spPr>
          <a:xfrm>
            <a:off x="9436607" y="184708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SWITZERLAND</a:t>
            </a:r>
          </a:p>
        </p:txBody>
      </p:sp>
      <p:sp>
        <p:nvSpPr>
          <p:cNvPr id="8928" name="TextBox 8927"/>
          <p:cNvSpPr txBox="1"/>
          <p:nvPr/>
        </p:nvSpPr>
        <p:spPr>
          <a:xfrm>
            <a:off x="9400032" y="2103120"/>
            <a:ext cx="18105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Confidentiality + control</a:t>
            </a:r>
          </a:p>
        </p:txBody>
      </p:sp>
      <p:sp>
        <p:nvSpPr>
          <p:cNvPr id="8929" name="TextBox 8928"/>
          <p:cNvSpPr txBox="1"/>
          <p:nvPr/>
        </p:nvSpPr>
        <p:spPr>
          <a:xfrm>
            <a:off x="9400032" y="2542032"/>
            <a:ext cx="18105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54B"/>
                </a:solidFill>
                <a:latin typeface="Arial"/>
              </a:rPr>
              <a:t>Use insurance proof; validate wealth claims.</a:t>
            </a:r>
          </a:p>
        </p:txBody>
      </p:sp>
      <p:sp>
        <p:nvSpPr>
          <p:cNvPr id="8930" name="Rectangle 8929"/>
          <p:cNvSpPr/>
          <p:nvPr/>
        </p:nvSpPr>
        <p:spPr>
          <a:xfrm>
            <a:off x="841248" y="3081528"/>
            <a:ext cx="10515600" cy="329184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31" name="TextBox 8930"/>
          <p:cNvSpPr txBox="1"/>
          <p:nvPr/>
        </p:nvSpPr>
        <p:spPr>
          <a:xfrm>
            <a:off x="1060704" y="3081528"/>
            <a:ext cx="32461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02  WHICH SUB-VERTICAL?</a:t>
            </a:r>
          </a:p>
        </p:txBody>
      </p:sp>
      <p:sp>
        <p:nvSpPr>
          <p:cNvPr id="8932" name="TextBox 8931"/>
          <p:cNvSpPr txBox="1"/>
          <p:nvPr/>
        </p:nvSpPr>
        <p:spPr>
          <a:xfrm>
            <a:off x="8796528" y="3081528"/>
            <a:ext cx="232257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A500E"/>
                </a:solidFill>
                <a:latin typeface="Arial"/>
              </a:rPr>
              <a:t>5 SUB-VERTICALS</a:t>
            </a:r>
          </a:p>
        </p:txBody>
      </p:sp>
      <p:sp>
        <p:nvSpPr>
          <p:cNvPr id="8933" name="TextBox 8932"/>
          <p:cNvSpPr txBox="1"/>
          <p:nvPr/>
        </p:nvSpPr>
        <p:spPr>
          <a:xfrm>
            <a:off x="978408" y="357530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PRIVATE MARKETS</a:t>
            </a:r>
          </a:p>
        </p:txBody>
      </p:sp>
      <p:sp>
        <p:nvSpPr>
          <p:cNvPr id="8934" name="TextBox 8933"/>
          <p:cNvSpPr txBox="1"/>
          <p:nvPr/>
        </p:nvSpPr>
        <p:spPr>
          <a:xfrm>
            <a:off x="978408" y="38862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Deal-document intelligence</a:t>
            </a:r>
          </a:p>
        </p:txBody>
      </p:sp>
      <p:sp>
        <p:nvSpPr>
          <p:cNvPr id="8935" name="TextBox 8934"/>
          <p:cNvSpPr txBox="1"/>
          <p:nvPr/>
        </p:nvSpPr>
        <p:spPr>
          <a:xfrm>
            <a:off x="3081527" y="357530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COMMERCIAL BANKING</a:t>
            </a:r>
          </a:p>
        </p:txBody>
      </p:sp>
      <p:sp>
        <p:nvSpPr>
          <p:cNvPr id="8936" name="TextBox 8935"/>
          <p:cNvSpPr txBox="1"/>
          <p:nvPr/>
        </p:nvSpPr>
        <p:spPr>
          <a:xfrm>
            <a:off x="3081527" y="38862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Credit / lending workflows</a:t>
            </a:r>
          </a:p>
        </p:txBody>
      </p:sp>
      <p:sp>
        <p:nvSpPr>
          <p:cNvPr id="8937" name="TextBox 8936"/>
          <p:cNvSpPr txBox="1"/>
          <p:nvPr/>
        </p:nvSpPr>
        <p:spPr>
          <a:xfrm>
            <a:off x="5184648" y="357530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FINANCIAL CRIME</a:t>
            </a:r>
          </a:p>
        </p:txBody>
      </p:sp>
      <p:sp>
        <p:nvSpPr>
          <p:cNvPr id="8938" name="TextBox 8937"/>
          <p:cNvSpPr txBox="1"/>
          <p:nvPr/>
        </p:nvSpPr>
        <p:spPr>
          <a:xfrm>
            <a:off x="5184648" y="38862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KYC / AML investigation support</a:t>
            </a:r>
          </a:p>
        </p:txBody>
      </p:sp>
      <p:sp>
        <p:nvSpPr>
          <p:cNvPr id="8939" name="TextBox 8938"/>
          <p:cNvSpPr txBox="1"/>
          <p:nvPr/>
        </p:nvSpPr>
        <p:spPr>
          <a:xfrm>
            <a:off x="7287768" y="357530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WEALTH</a:t>
            </a:r>
          </a:p>
        </p:txBody>
      </p:sp>
      <p:sp>
        <p:nvSpPr>
          <p:cNvPr id="8940" name="TextBox 8939"/>
          <p:cNvSpPr txBox="1"/>
          <p:nvPr/>
        </p:nvSpPr>
        <p:spPr>
          <a:xfrm>
            <a:off x="7287768" y="38862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Advisor / research intelligence</a:t>
            </a:r>
          </a:p>
        </p:txBody>
      </p:sp>
      <p:sp>
        <p:nvSpPr>
          <p:cNvPr id="8941" name="TextBox 8940"/>
          <p:cNvSpPr txBox="1"/>
          <p:nvPr/>
        </p:nvSpPr>
        <p:spPr>
          <a:xfrm>
            <a:off x="9390888" y="357530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INSURANCE</a:t>
            </a:r>
          </a:p>
        </p:txBody>
      </p:sp>
      <p:sp>
        <p:nvSpPr>
          <p:cNvPr id="8942" name="TextBox 8941"/>
          <p:cNvSpPr txBox="1"/>
          <p:nvPr/>
        </p:nvSpPr>
        <p:spPr>
          <a:xfrm>
            <a:off x="9390888" y="38862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Controlled documents / workflows</a:t>
            </a:r>
          </a:p>
        </p:txBody>
      </p:sp>
      <p:sp>
        <p:nvSpPr>
          <p:cNvPr id="8943" name="Rectangle 8942"/>
          <p:cNvSpPr/>
          <p:nvPr/>
        </p:nvSpPr>
        <p:spPr>
          <a:xfrm>
            <a:off x="841248" y="4617720"/>
            <a:ext cx="10515600" cy="329184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44" name="TextBox 8943"/>
          <p:cNvSpPr txBox="1"/>
          <p:nvPr/>
        </p:nvSpPr>
        <p:spPr>
          <a:xfrm>
            <a:off x="1060704" y="4617720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03  WHICH BUYER?</a:t>
            </a:r>
          </a:p>
        </p:txBody>
      </p:sp>
      <p:sp>
        <p:nvSpPr>
          <p:cNvPr id="8945" name="TextBox 8944"/>
          <p:cNvSpPr txBox="1"/>
          <p:nvPr/>
        </p:nvSpPr>
        <p:spPr>
          <a:xfrm>
            <a:off x="9070848" y="4617720"/>
            <a:ext cx="204825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A500E"/>
                </a:solidFill>
                <a:latin typeface="Arial"/>
              </a:rPr>
              <a:t>3 BUYER TESTS</a:t>
            </a:r>
          </a:p>
        </p:txBody>
      </p:sp>
      <p:sp>
        <p:nvSpPr>
          <p:cNvPr id="8946" name="TextBox 8945"/>
          <p:cNvSpPr txBox="1"/>
          <p:nvPr/>
        </p:nvSpPr>
        <p:spPr>
          <a:xfrm>
            <a:off x="1060704" y="5166360"/>
            <a:ext cx="3072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E3604"/>
                </a:solidFill>
                <a:latin typeface="Arial"/>
              </a:rPr>
              <a:t>01  CIO</a:t>
            </a:r>
          </a:p>
        </p:txBody>
      </p:sp>
      <p:sp>
        <p:nvSpPr>
          <p:cNvPr id="8947" name="TextBox 8946"/>
          <p:cNvSpPr txBox="1"/>
          <p:nvPr/>
        </p:nvSpPr>
        <p:spPr>
          <a:xfrm>
            <a:off x="1060704" y="5504688"/>
            <a:ext cx="307238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554B"/>
                </a:solidFill>
                <a:latin typeface="Arial"/>
              </a:rPr>
              <a:t>Architecture, integration and technology fit inside the existing estate.</a:t>
            </a:r>
          </a:p>
        </p:txBody>
      </p:sp>
      <p:sp>
        <p:nvSpPr>
          <p:cNvPr id="8948" name="TextBox 8947"/>
          <p:cNvSpPr txBox="1"/>
          <p:nvPr/>
        </p:nvSpPr>
        <p:spPr>
          <a:xfrm>
            <a:off x="4443984" y="5166360"/>
            <a:ext cx="3072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E3604"/>
                </a:solidFill>
                <a:latin typeface="Arial"/>
              </a:rPr>
              <a:t>02  CISO / RISK</a:t>
            </a:r>
          </a:p>
        </p:txBody>
      </p:sp>
      <p:sp>
        <p:nvSpPr>
          <p:cNvPr id="8949" name="TextBox 8948"/>
          <p:cNvSpPr txBox="1"/>
          <p:nvPr/>
        </p:nvSpPr>
        <p:spPr>
          <a:xfrm>
            <a:off x="4443984" y="5504688"/>
            <a:ext cx="307238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554B"/>
                </a:solidFill>
                <a:latin typeface="Arial"/>
              </a:rPr>
              <a:t>Security, control and governance evidence that survives review.</a:t>
            </a:r>
          </a:p>
        </p:txBody>
      </p:sp>
      <p:sp>
        <p:nvSpPr>
          <p:cNvPr id="8950" name="TextBox 8949"/>
          <p:cNvSpPr txBox="1"/>
          <p:nvPr/>
        </p:nvSpPr>
        <p:spPr>
          <a:xfrm>
            <a:off x="7827264" y="5166360"/>
            <a:ext cx="3072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E3604"/>
                </a:solidFill>
                <a:latin typeface="Arial"/>
              </a:rPr>
              <a:t>03  DEFAULT</a:t>
            </a:r>
          </a:p>
        </p:txBody>
      </p:sp>
      <p:sp>
        <p:nvSpPr>
          <p:cNvPr id="8951" name="TextBox 8950"/>
          <p:cNvSpPr txBox="1"/>
          <p:nvPr/>
        </p:nvSpPr>
        <p:spPr>
          <a:xfrm>
            <a:off x="7827264" y="5504688"/>
            <a:ext cx="307238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554B"/>
                </a:solidFill>
                <a:latin typeface="Arial"/>
              </a:rPr>
              <a:t>ROI, workflow improvement and measurable business value.</a:t>
            </a:r>
          </a:p>
        </p:txBody>
      </p:sp>
    </p:spTree>
    <p:extLst>
      <p:ext uri="{BB962C8B-B14F-4D97-AF65-F5344CB8AC3E}">
        <p14:creationId xmlns:p14="http://schemas.microsoft.com/office/powerpoint/2010/main" val="2253563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Mistral company monogram — slide 5" descr="Mistral AI company mono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182880"/>
            <a:ext cx="347472" cy="347472"/>
          </a:xfrm>
          <a:prstGeom prst="rect">
            <a:avLst/>
          </a:prstGeom>
          <a:ln/>
        </p:spPr>
      </p:pic>
      <p:sp>
        <p:nvSpPr>
          <p:cNvPr id="8901" name="FootTxt"/>
          <p:cNvSpPr txBox="1"/>
          <p:nvPr/>
        </p:nvSpPr>
        <p:spPr>
          <a:xfrm>
            <a:off x="612648" y="6620000"/>
            <a:ext cx="4005072" cy="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0" spc="60">
                <a:solidFill>
                  <a:srgbClr val="5A554B"/>
                </a:solidFill>
                <a:latin typeface="Arial"/>
                <a:cs typeface="Arial"/>
              </a:rPr>
              <a:t>SHIV  ·  PMM CANDIDATE  ·  18 AUG 2026</a:t>
            </a:r>
          </a:p>
        </p:txBody>
      </p:sp>
      <p:sp>
        <p:nvSpPr>
          <p:cNvPr id="8902" name="FootPg"/>
          <p:cNvSpPr txBox="1"/>
          <p:nvPr/>
        </p:nvSpPr>
        <p:spPr>
          <a:xfrm>
            <a:off x="11237976" y="6620000"/>
            <a:ext cx="347472" cy="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200" b="0" spc="0">
                <a:solidFill>
                  <a:srgbClr val="5A554B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8903" name="Rectangle 8902"/>
          <p:cNvSpPr/>
          <p:nvPr/>
        </p:nvSpPr>
        <p:spPr>
          <a:xfrm>
            <a:off x="612648" y="265176"/>
            <a:ext cx="64008" cy="621792"/>
          </a:xfrm>
          <a:prstGeom prst="rect">
            <a:avLst/>
          </a:prstGeom>
          <a:solidFill>
            <a:srgbClr val="FA5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04" name="TextBox 8903"/>
          <p:cNvSpPr txBox="1"/>
          <p:nvPr/>
        </p:nvSpPr>
        <p:spPr>
          <a:xfrm>
            <a:off x="841248" y="64008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OPERATING SYSTEM</a:t>
            </a:r>
          </a:p>
        </p:txBody>
      </p:sp>
      <p:sp>
        <p:nvSpPr>
          <p:cNvPr id="8905" name="TextBox 8904"/>
          <p:cNvSpPr txBox="1"/>
          <p:nvPr/>
        </p:nvSpPr>
        <p:spPr>
          <a:xfrm>
            <a:off x="841248" y="283464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61623"/>
                </a:solidFill>
                <a:latin typeface="Tiny5"/>
              </a:rPr>
              <a:t>CLOSED FIELD LOOP</a:t>
            </a:r>
          </a:p>
        </p:txBody>
      </p:sp>
      <p:sp>
        <p:nvSpPr>
          <p:cNvPr id="8906" name="TextBox 8905"/>
          <p:cNvSpPr txBox="1"/>
          <p:nvPr/>
        </p:nvSpPr>
        <p:spPr>
          <a:xfrm>
            <a:off x="841248" y="98755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554B"/>
                </a:solidFill>
                <a:latin typeface="Arial"/>
              </a:rPr>
              <a:t>Capture signals, turn repetition into a decision, and measure whether the field moves.</a:t>
            </a:r>
          </a:p>
        </p:txBody>
      </p:sp>
      <p:sp>
        <p:nvSpPr>
          <p:cNvPr id="8907" name="Rectangle 8906"/>
          <p:cNvSpPr/>
          <p:nvPr/>
        </p:nvSpPr>
        <p:spPr>
          <a:xfrm>
            <a:off x="612648" y="6547104"/>
            <a:ext cx="11109960" cy="127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08" name="Rectangle 8907"/>
          <p:cNvSpPr/>
          <p:nvPr/>
        </p:nvSpPr>
        <p:spPr>
          <a:xfrm>
            <a:off x="841248" y="1408176"/>
            <a:ext cx="4892040" cy="365760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09" name="TextBox 8908"/>
          <p:cNvSpPr txBox="1"/>
          <p:nvPr/>
        </p:nvSpPr>
        <p:spPr>
          <a:xfrm>
            <a:off x="1060704" y="1408176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THE LOOP</a:t>
            </a:r>
          </a:p>
        </p:txBody>
      </p:sp>
      <p:sp>
        <p:nvSpPr>
          <p:cNvPr id="8910" name="Rectangle 8909"/>
          <p:cNvSpPr/>
          <p:nvPr/>
        </p:nvSpPr>
        <p:spPr>
          <a:xfrm>
            <a:off x="1060704" y="1975104"/>
            <a:ext cx="2029968" cy="512064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11" name="TextBox 8910"/>
          <p:cNvSpPr txBox="1"/>
          <p:nvPr/>
        </p:nvSpPr>
        <p:spPr>
          <a:xfrm>
            <a:off x="1179576" y="1975104"/>
            <a:ext cx="31089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A500E"/>
                </a:solidFill>
                <a:latin typeface="Arial"/>
              </a:rPr>
              <a:t>01</a:t>
            </a:r>
          </a:p>
        </p:txBody>
      </p:sp>
      <p:sp>
        <p:nvSpPr>
          <p:cNvPr id="8912" name="TextBox 8911"/>
          <p:cNvSpPr txBox="1"/>
          <p:nvPr/>
        </p:nvSpPr>
        <p:spPr>
          <a:xfrm>
            <a:off x="1499616" y="1975104"/>
            <a:ext cx="14630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FIELD SIGNAL</a:t>
            </a:r>
          </a:p>
        </p:txBody>
      </p:sp>
      <p:sp>
        <p:nvSpPr>
          <p:cNvPr id="8913" name="Rectangle 8912"/>
          <p:cNvSpPr/>
          <p:nvPr/>
        </p:nvSpPr>
        <p:spPr>
          <a:xfrm>
            <a:off x="3319272" y="1975104"/>
            <a:ext cx="2029968" cy="512064"/>
          </a:xfrm>
          <a:prstGeom prst="rect">
            <a:avLst/>
          </a:prstGeom>
          <a:solidFill>
            <a:srgbClr val="FE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14" name="TextBox 8913"/>
          <p:cNvSpPr txBox="1"/>
          <p:nvPr/>
        </p:nvSpPr>
        <p:spPr>
          <a:xfrm>
            <a:off x="3438144" y="1975104"/>
            <a:ext cx="31089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E3604"/>
                </a:solidFill>
                <a:latin typeface="Arial"/>
              </a:rPr>
              <a:t>02</a:t>
            </a:r>
          </a:p>
        </p:txBody>
      </p:sp>
      <p:sp>
        <p:nvSpPr>
          <p:cNvPr id="8915" name="TextBox 8914"/>
          <p:cNvSpPr txBox="1"/>
          <p:nvPr/>
        </p:nvSpPr>
        <p:spPr>
          <a:xfrm>
            <a:off x="3758183" y="1975104"/>
            <a:ext cx="14630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1623"/>
                </a:solidFill>
                <a:latin typeface="Arial"/>
              </a:rPr>
              <a:t>PMM PATTERN</a:t>
            </a:r>
          </a:p>
        </p:txBody>
      </p:sp>
      <p:sp>
        <p:nvSpPr>
          <p:cNvPr id="8916" name="Rectangle 8915"/>
          <p:cNvSpPr/>
          <p:nvPr/>
        </p:nvSpPr>
        <p:spPr>
          <a:xfrm>
            <a:off x="1060704" y="2642616"/>
            <a:ext cx="2029968" cy="512064"/>
          </a:xfrm>
          <a:prstGeom prst="rect">
            <a:avLst/>
          </a:prstGeom>
          <a:solidFill>
            <a:srgbClr val="FE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17" name="TextBox 8916"/>
          <p:cNvSpPr txBox="1"/>
          <p:nvPr/>
        </p:nvSpPr>
        <p:spPr>
          <a:xfrm>
            <a:off x="1179576" y="2642616"/>
            <a:ext cx="31089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E3604"/>
                </a:solidFill>
                <a:latin typeface="Arial"/>
              </a:rPr>
              <a:t>04</a:t>
            </a:r>
          </a:p>
        </p:txBody>
      </p:sp>
      <p:sp>
        <p:nvSpPr>
          <p:cNvPr id="8918" name="TextBox 8917"/>
          <p:cNvSpPr txBox="1"/>
          <p:nvPr/>
        </p:nvSpPr>
        <p:spPr>
          <a:xfrm>
            <a:off x="1499616" y="2642616"/>
            <a:ext cx="14630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1623"/>
                </a:solidFill>
                <a:latin typeface="Arial"/>
              </a:rPr>
              <a:t>FIELD UPDATE</a:t>
            </a:r>
          </a:p>
        </p:txBody>
      </p:sp>
      <p:sp>
        <p:nvSpPr>
          <p:cNvPr id="8919" name="Rectangle 8918"/>
          <p:cNvSpPr/>
          <p:nvPr/>
        </p:nvSpPr>
        <p:spPr>
          <a:xfrm>
            <a:off x="3319272" y="2642616"/>
            <a:ext cx="2029968" cy="512064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20" name="TextBox 8919"/>
          <p:cNvSpPr txBox="1"/>
          <p:nvPr/>
        </p:nvSpPr>
        <p:spPr>
          <a:xfrm>
            <a:off x="3438144" y="2642616"/>
            <a:ext cx="31089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A500E"/>
                </a:solidFill>
                <a:latin typeface="Arial"/>
              </a:rPr>
              <a:t>03</a:t>
            </a:r>
          </a:p>
        </p:txBody>
      </p:sp>
      <p:sp>
        <p:nvSpPr>
          <p:cNvPr id="8921" name="TextBox 8920"/>
          <p:cNvSpPr txBox="1"/>
          <p:nvPr/>
        </p:nvSpPr>
        <p:spPr>
          <a:xfrm>
            <a:off x="3758183" y="2642616"/>
            <a:ext cx="14630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PRODUCT / SERVICES DECISION</a:t>
            </a:r>
          </a:p>
        </p:txBody>
      </p:sp>
      <p:sp>
        <p:nvSpPr>
          <p:cNvPr id="8922" name="Rectangle 8921"/>
          <p:cNvSpPr/>
          <p:nvPr/>
        </p:nvSpPr>
        <p:spPr>
          <a:xfrm>
            <a:off x="1060704" y="3401568"/>
            <a:ext cx="4453128" cy="969264"/>
          </a:xfrm>
          <a:prstGeom prst="rect">
            <a:avLst/>
          </a:prstGeom>
          <a:solidFill>
            <a:srgbClr val="FE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23" name="TextBox 8922"/>
          <p:cNvSpPr txBox="1"/>
          <p:nvPr/>
        </p:nvSpPr>
        <p:spPr>
          <a:xfrm>
            <a:off x="1280160" y="3547872"/>
            <a:ext cx="10972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E3604"/>
                </a:solidFill>
                <a:latin typeface="Arial"/>
              </a:rPr>
              <a:t>ACT ON
PATTERNS</a:t>
            </a:r>
          </a:p>
        </p:txBody>
      </p:sp>
      <p:sp>
        <p:nvSpPr>
          <p:cNvPr id="8924" name="TextBox 8923"/>
          <p:cNvSpPr txBox="1"/>
          <p:nvPr/>
        </p:nvSpPr>
        <p:spPr>
          <a:xfrm>
            <a:off x="2487168" y="3547872"/>
            <a:ext cx="273405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23"/>
                </a:solidFill>
                <a:latin typeface="Arial"/>
              </a:rPr>
              <a:t>One account creates a note. Repeated signals change the message, play, partner route or roadmap input.</a:t>
            </a:r>
          </a:p>
        </p:txBody>
      </p:sp>
      <p:sp>
        <p:nvSpPr>
          <p:cNvPr id="8925" name="Rectangle 8924"/>
          <p:cNvSpPr/>
          <p:nvPr/>
        </p:nvSpPr>
        <p:spPr>
          <a:xfrm>
            <a:off x="841248" y="4590288"/>
            <a:ext cx="4892040" cy="365760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26" name="TextBox 8925"/>
          <p:cNvSpPr txBox="1"/>
          <p:nvPr/>
        </p:nvSpPr>
        <p:spPr>
          <a:xfrm>
            <a:off x="1060704" y="459028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MEASURE</a:t>
            </a:r>
          </a:p>
        </p:txBody>
      </p:sp>
      <p:sp>
        <p:nvSpPr>
          <p:cNvPr id="8927" name="TextBox 8926"/>
          <p:cNvSpPr txBox="1"/>
          <p:nvPr/>
        </p:nvSpPr>
        <p:spPr>
          <a:xfrm>
            <a:off x="4297680" y="4590288"/>
            <a:ext cx="11978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A500E"/>
                </a:solidFill>
                <a:latin typeface="Arial"/>
              </a:rPr>
              <a:t>SCOREBOARD</a:t>
            </a:r>
          </a:p>
        </p:txBody>
      </p:sp>
      <p:sp>
        <p:nvSpPr>
          <p:cNvPr id="8928" name="TextBox 8927"/>
          <p:cNvSpPr txBox="1"/>
          <p:nvPr/>
        </p:nvSpPr>
        <p:spPr>
          <a:xfrm>
            <a:off x="1060704" y="5212080"/>
            <a:ext cx="2029968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DEAL VELOCITY</a:t>
            </a:r>
          </a:p>
        </p:txBody>
      </p:sp>
      <p:sp>
        <p:nvSpPr>
          <p:cNvPr id="8929" name="TextBox 8928"/>
          <p:cNvSpPr txBox="1"/>
          <p:nvPr/>
        </p:nvSpPr>
        <p:spPr>
          <a:xfrm>
            <a:off x="1060704" y="5468112"/>
            <a:ext cx="20299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54B"/>
                </a:solidFill>
                <a:latin typeface="Arial"/>
              </a:rPr>
              <a:t>Days from qualified pursuit to next decision</a:t>
            </a:r>
          </a:p>
        </p:txBody>
      </p:sp>
      <p:sp>
        <p:nvSpPr>
          <p:cNvPr id="8930" name="TextBox 8929"/>
          <p:cNvSpPr txBox="1"/>
          <p:nvPr/>
        </p:nvSpPr>
        <p:spPr>
          <a:xfrm>
            <a:off x="3328415" y="5212080"/>
            <a:ext cx="2029968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PIPELINE INFLUENCED</a:t>
            </a:r>
          </a:p>
        </p:txBody>
      </p:sp>
      <p:sp>
        <p:nvSpPr>
          <p:cNvPr id="8931" name="TextBox 8930"/>
          <p:cNvSpPr txBox="1"/>
          <p:nvPr/>
        </p:nvSpPr>
        <p:spPr>
          <a:xfrm>
            <a:off x="3328415" y="5468112"/>
            <a:ext cx="20299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54B"/>
                </a:solidFill>
                <a:latin typeface="Arial"/>
              </a:rPr>
              <a:t>Qualified amount with PMM touch and progression</a:t>
            </a:r>
          </a:p>
        </p:txBody>
      </p:sp>
      <p:sp>
        <p:nvSpPr>
          <p:cNvPr id="8932" name="TextBox 8931"/>
          <p:cNvSpPr txBox="1"/>
          <p:nvPr/>
        </p:nvSpPr>
        <p:spPr>
          <a:xfrm>
            <a:off x="1060704" y="5815584"/>
            <a:ext cx="2029968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EXPANSION</a:t>
            </a:r>
          </a:p>
        </p:txBody>
      </p:sp>
      <p:sp>
        <p:nvSpPr>
          <p:cNvPr id="8933" name="TextBox 8932"/>
          <p:cNvSpPr txBox="1"/>
          <p:nvPr/>
        </p:nvSpPr>
        <p:spPr>
          <a:xfrm>
            <a:off x="1060704" y="6071616"/>
            <a:ext cx="20299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54B"/>
                </a:solidFill>
                <a:latin typeface="Arial"/>
              </a:rPr>
              <a:t>Revenue, workloads and buying centers added</a:t>
            </a:r>
          </a:p>
        </p:txBody>
      </p:sp>
      <p:sp>
        <p:nvSpPr>
          <p:cNvPr id="8934" name="TextBox 8933"/>
          <p:cNvSpPr txBox="1"/>
          <p:nvPr/>
        </p:nvSpPr>
        <p:spPr>
          <a:xfrm>
            <a:off x="3328415" y="5815584"/>
            <a:ext cx="2029968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NEW LOGOS</a:t>
            </a:r>
          </a:p>
        </p:txBody>
      </p:sp>
      <p:sp>
        <p:nvSpPr>
          <p:cNvPr id="8935" name="TextBox 8934"/>
          <p:cNvSpPr txBox="1"/>
          <p:nvPr/>
        </p:nvSpPr>
        <p:spPr>
          <a:xfrm>
            <a:off x="3328415" y="6071616"/>
            <a:ext cx="20299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54B"/>
                </a:solidFill>
                <a:latin typeface="Arial"/>
              </a:rPr>
              <a:t>Strategic wins with a reference path</a:t>
            </a:r>
          </a:p>
        </p:txBody>
      </p:sp>
      <p:sp>
        <p:nvSpPr>
          <p:cNvPr id="8936" name="Rectangle 8935"/>
          <p:cNvSpPr/>
          <p:nvPr/>
        </p:nvSpPr>
        <p:spPr>
          <a:xfrm>
            <a:off x="5989320" y="1408176"/>
            <a:ext cx="5367528" cy="365760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37" name="TextBox 8936"/>
          <p:cNvSpPr txBox="1"/>
          <p:nvPr/>
        </p:nvSpPr>
        <p:spPr>
          <a:xfrm>
            <a:off x="6208776" y="1408176"/>
            <a:ext cx="492861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CAPTURE FIVE SIGNALS</a:t>
            </a:r>
          </a:p>
        </p:txBody>
      </p:sp>
      <p:sp>
        <p:nvSpPr>
          <p:cNvPr id="8938" name="Rectangle 8937"/>
          <p:cNvSpPr/>
          <p:nvPr/>
        </p:nvSpPr>
        <p:spPr>
          <a:xfrm>
            <a:off x="6208776" y="1938528"/>
            <a:ext cx="502920" cy="566928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39" name="TextBox 8938"/>
          <p:cNvSpPr txBox="1"/>
          <p:nvPr/>
        </p:nvSpPr>
        <p:spPr>
          <a:xfrm>
            <a:off x="6208776" y="1938528"/>
            <a:ext cx="502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8940" name="TextBox 8939"/>
          <p:cNvSpPr txBox="1"/>
          <p:nvPr/>
        </p:nvSpPr>
        <p:spPr>
          <a:xfrm>
            <a:off x="6931152" y="1938528"/>
            <a:ext cx="4160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Deal movement</a:t>
            </a:r>
          </a:p>
        </p:txBody>
      </p:sp>
      <p:sp>
        <p:nvSpPr>
          <p:cNvPr id="8941" name="TextBox 8940"/>
          <p:cNvSpPr txBox="1"/>
          <p:nvPr/>
        </p:nvSpPr>
        <p:spPr>
          <a:xfrm>
            <a:off x="6931152" y="2231136"/>
            <a:ext cx="41605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554B"/>
                </a:solidFill>
                <a:latin typeface="Arial"/>
              </a:rPr>
              <a:t>stage, stall, next decision, executive owner</a:t>
            </a:r>
          </a:p>
        </p:txBody>
      </p:sp>
      <p:sp>
        <p:nvSpPr>
          <p:cNvPr id="8942" name="Rectangle 8941"/>
          <p:cNvSpPr/>
          <p:nvPr/>
        </p:nvSpPr>
        <p:spPr>
          <a:xfrm>
            <a:off x="6931152" y="2615184"/>
            <a:ext cx="4160520" cy="127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43" name="Rectangle 8942"/>
          <p:cNvSpPr/>
          <p:nvPr/>
        </p:nvSpPr>
        <p:spPr>
          <a:xfrm>
            <a:off x="6208776" y="2770632"/>
            <a:ext cx="502920" cy="566928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44" name="TextBox 8943"/>
          <p:cNvSpPr txBox="1"/>
          <p:nvPr/>
        </p:nvSpPr>
        <p:spPr>
          <a:xfrm>
            <a:off x="6208776" y="2770632"/>
            <a:ext cx="502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8945" name="TextBox 8944"/>
          <p:cNvSpPr txBox="1"/>
          <p:nvPr/>
        </p:nvSpPr>
        <p:spPr>
          <a:xfrm>
            <a:off x="6931152" y="2770632"/>
            <a:ext cx="4160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Persona friction</a:t>
            </a:r>
          </a:p>
        </p:txBody>
      </p:sp>
      <p:sp>
        <p:nvSpPr>
          <p:cNvPr id="8946" name="TextBox 8945"/>
          <p:cNvSpPr txBox="1"/>
          <p:nvPr/>
        </p:nvSpPr>
        <p:spPr>
          <a:xfrm>
            <a:off x="6931152" y="3063240"/>
            <a:ext cx="41605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554B"/>
                </a:solidFill>
                <a:latin typeface="Arial"/>
              </a:rPr>
              <a:t>objections by CIO, CISO, Risk, owner and operator</a:t>
            </a:r>
          </a:p>
        </p:txBody>
      </p:sp>
      <p:sp>
        <p:nvSpPr>
          <p:cNvPr id="8947" name="Rectangle 8946"/>
          <p:cNvSpPr/>
          <p:nvPr/>
        </p:nvSpPr>
        <p:spPr>
          <a:xfrm>
            <a:off x="6931152" y="3447288"/>
            <a:ext cx="4160520" cy="127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48" name="Rectangle 8947"/>
          <p:cNvSpPr/>
          <p:nvPr/>
        </p:nvSpPr>
        <p:spPr>
          <a:xfrm>
            <a:off x="6208776" y="3602736"/>
            <a:ext cx="502920" cy="566928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49" name="TextBox 8948"/>
          <p:cNvSpPr txBox="1"/>
          <p:nvPr/>
        </p:nvSpPr>
        <p:spPr>
          <a:xfrm>
            <a:off x="6208776" y="3602736"/>
            <a:ext cx="502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8950" name="TextBox 8949"/>
          <p:cNvSpPr txBox="1"/>
          <p:nvPr/>
        </p:nvSpPr>
        <p:spPr>
          <a:xfrm>
            <a:off x="6931152" y="3602736"/>
            <a:ext cx="4160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Evaluation evidence</a:t>
            </a:r>
          </a:p>
        </p:txBody>
      </p:sp>
      <p:sp>
        <p:nvSpPr>
          <p:cNvPr id="8951" name="TextBox 8950"/>
          <p:cNvSpPr txBox="1"/>
          <p:nvPr/>
        </p:nvSpPr>
        <p:spPr>
          <a:xfrm>
            <a:off x="6931152" y="3895344"/>
            <a:ext cx="41605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554B"/>
                </a:solidFill>
                <a:latin typeface="Arial"/>
              </a:rPr>
              <a:t>baseline, threshold, failure mode, requested proof</a:t>
            </a:r>
          </a:p>
        </p:txBody>
      </p:sp>
      <p:sp>
        <p:nvSpPr>
          <p:cNvPr id="8952" name="Rectangle 8951"/>
          <p:cNvSpPr/>
          <p:nvPr/>
        </p:nvSpPr>
        <p:spPr>
          <a:xfrm>
            <a:off x="6931152" y="4279392"/>
            <a:ext cx="4160520" cy="127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53" name="Rectangle 8952"/>
          <p:cNvSpPr/>
          <p:nvPr/>
        </p:nvSpPr>
        <p:spPr>
          <a:xfrm>
            <a:off x="6208776" y="4434840"/>
            <a:ext cx="502920" cy="566928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54" name="TextBox 8953"/>
          <p:cNvSpPr txBox="1"/>
          <p:nvPr/>
        </p:nvSpPr>
        <p:spPr>
          <a:xfrm>
            <a:off x="6208776" y="4434840"/>
            <a:ext cx="502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8955" name="TextBox 8954"/>
          <p:cNvSpPr txBox="1"/>
          <p:nvPr/>
        </p:nvSpPr>
        <p:spPr>
          <a:xfrm>
            <a:off x="6931152" y="4434840"/>
            <a:ext cx="4160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Delivery constraint</a:t>
            </a:r>
          </a:p>
        </p:txBody>
      </p:sp>
      <p:sp>
        <p:nvSpPr>
          <p:cNvPr id="8956" name="TextBox 8955"/>
          <p:cNvSpPr txBox="1"/>
          <p:nvPr/>
        </p:nvSpPr>
        <p:spPr>
          <a:xfrm>
            <a:off x="6931152" y="4727448"/>
            <a:ext cx="41605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554B"/>
                </a:solidFill>
                <a:latin typeface="Arial"/>
              </a:rPr>
              <a:t>skills, capacity, architecture, partner dependency</a:t>
            </a:r>
          </a:p>
        </p:txBody>
      </p:sp>
      <p:sp>
        <p:nvSpPr>
          <p:cNvPr id="8957" name="Rectangle 8956"/>
          <p:cNvSpPr/>
          <p:nvPr/>
        </p:nvSpPr>
        <p:spPr>
          <a:xfrm>
            <a:off x="6931152" y="5111496"/>
            <a:ext cx="4160520" cy="127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58" name="Rectangle 8957"/>
          <p:cNvSpPr/>
          <p:nvPr/>
        </p:nvSpPr>
        <p:spPr>
          <a:xfrm>
            <a:off x="6208776" y="5266944"/>
            <a:ext cx="502920" cy="566928"/>
          </a:xfrm>
          <a:prstGeom prst="rect">
            <a:avLst/>
          </a:prstGeom>
          <a:solidFill>
            <a:srgbClr val="FA5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59" name="TextBox 8958"/>
          <p:cNvSpPr txBox="1"/>
          <p:nvPr/>
        </p:nvSpPr>
        <p:spPr>
          <a:xfrm>
            <a:off x="6208776" y="5266944"/>
            <a:ext cx="502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05</a:t>
            </a:r>
          </a:p>
        </p:txBody>
      </p:sp>
      <p:sp>
        <p:nvSpPr>
          <p:cNvPr id="8960" name="TextBox 8959"/>
          <p:cNvSpPr txBox="1"/>
          <p:nvPr/>
        </p:nvSpPr>
        <p:spPr>
          <a:xfrm>
            <a:off x="6931152" y="5266944"/>
            <a:ext cx="4160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Expansion trigger</a:t>
            </a:r>
          </a:p>
        </p:txBody>
      </p:sp>
      <p:sp>
        <p:nvSpPr>
          <p:cNvPr id="8961" name="TextBox 8960"/>
          <p:cNvSpPr txBox="1"/>
          <p:nvPr/>
        </p:nvSpPr>
        <p:spPr>
          <a:xfrm>
            <a:off x="6931152" y="5559552"/>
            <a:ext cx="41605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554B"/>
                </a:solidFill>
                <a:latin typeface="Arial"/>
              </a:rPr>
              <a:t>adoption, adjacent workload, buyer and budget path</a:t>
            </a:r>
          </a:p>
        </p:txBody>
      </p:sp>
    </p:spTree>
    <p:extLst>
      <p:ext uri="{BB962C8B-B14F-4D97-AF65-F5344CB8AC3E}">
        <p14:creationId xmlns:p14="http://schemas.microsoft.com/office/powerpoint/2010/main" val="172811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Mistral company monogram — slide 2" descr="Mistral AI company mono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182880"/>
            <a:ext cx="347472" cy="347472"/>
          </a:xfrm>
          <a:prstGeom prst="rect">
            <a:avLst/>
          </a:prstGeom>
          <a:ln/>
        </p:spPr>
      </p:pic>
      <p:sp>
        <p:nvSpPr>
          <p:cNvPr id="8901" name="FootTxt"/>
          <p:cNvSpPr txBox="1"/>
          <p:nvPr/>
        </p:nvSpPr>
        <p:spPr>
          <a:xfrm>
            <a:off x="612648" y="6620000"/>
            <a:ext cx="4005072" cy="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0" spc="60">
                <a:solidFill>
                  <a:srgbClr val="5A554B"/>
                </a:solidFill>
                <a:latin typeface="Arial"/>
                <a:cs typeface="Arial"/>
              </a:rPr>
              <a:t>SHIV  ·  PMM CANDIDATE  ·  18 AUG 2026</a:t>
            </a:r>
          </a:p>
        </p:txBody>
      </p:sp>
      <p:sp>
        <p:nvSpPr>
          <p:cNvPr id="8902" name="FootPg"/>
          <p:cNvSpPr txBox="1"/>
          <p:nvPr/>
        </p:nvSpPr>
        <p:spPr>
          <a:xfrm>
            <a:off x="11237976" y="6620000"/>
            <a:ext cx="347472" cy="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200" b="0" spc="0">
                <a:solidFill>
                  <a:srgbClr val="5A554B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8903" name="Rectangle 8902"/>
          <p:cNvSpPr/>
          <p:nvPr/>
        </p:nvSpPr>
        <p:spPr>
          <a:xfrm>
            <a:off x="612648" y="265176"/>
            <a:ext cx="64008" cy="621792"/>
          </a:xfrm>
          <a:prstGeom prst="rect">
            <a:avLst/>
          </a:prstGeom>
          <a:solidFill>
            <a:srgbClr val="FA5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04" name="TextBox 8903"/>
          <p:cNvSpPr txBox="1"/>
          <p:nvPr/>
        </p:nvSpPr>
        <p:spPr>
          <a:xfrm>
            <a:off x="841248" y="64008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THE ASK</a:t>
            </a:r>
          </a:p>
        </p:txBody>
      </p:sp>
      <p:sp>
        <p:nvSpPr>
          <p:cNvPr id="8905" name="TextBox 8904"/>
          <p:cNvSpPr txBox="1"/>
          <p:nvPr/>
        </p:nvSpPr>
        <p:spPr>
          <a:xfrm>
            <a:off x="841248" y="283464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61623"/>
                </a:solidFill>
                <a:latin typeface="Tiny5"/>
              </a:rPr>
              <a:t>START THE FIRST 90 DAYS</a:t>
            </a:r>
          </a:p>
        </p:txBody>
      </p:sp>
      <p:sp>
        <p:nvSpPr>
          <p:cNvPr id="8906" name="TextBox 8905"/>
          <p:cNvSpPr txBox="1"/>
          <p:nvPr/>
        </p:nvSpPr>
        <p:spPr>
          <a:xfrm>
            <a:off x="841248" y="98755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554B"/>
                </a:solidFill>
                <a:latin typeface="Arial"/>
              </a:rPr>
              <a:t>Four decisions turn the strategy into account-level evidence.</a:t>
            </a:r>
          </a:p>
        </p:txBody>
      </p:sp>
      <p:sp>
        <p:nvSpPr>
          <p:cNvPr id="8907" name="Rectangle 8906"/>
          <p:cNvSpPr/>
          <p:nvPr/>
        </p:nvSpPr>
        <p:spPr>
          <a:xfrm>
            <a:off x="612648" y="6547104"/>
            <a:ext cx="11109960" cy="127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08" name="Rectangle 8907"/>
          <p:cNvSpPr/>
          <p:nvPr/>
        </p:nvSpPr>
        <p:spPr>
          <a:xfrm>
            <a:off x="841248" y="1444752"/>
            <a:ext cx="10515600" cy="932688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09" name="TextBox 8908"/>
          <p:cNvSpPr txBox="1"/>
          <p:nvPr/>
        </p:nvSpPr>
        <p:spPr>
          <a:xfrm>
            <a:off x="1078992" y="1645920"/>
            <a:ext cx="1188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A500E"/>
                </a:solidFill>
                <a:latin typeface="Arial"/>
              </a:rPr>
              <a:t>WHAT I NEED</a:t>
            </a:r>
          </a:p>
        </p:txBody>
      </p:sp>
      <p:sp>
        <p:nvSpPr>
          <p:cNvPr id="8910" name="TextBox 8909"/>
          <p:cNvSpPr txBox="1"/>
          <p:nvPr/>
        </p:nvSpPr>
        <p:spPr>
          <a:xfrm>
            <a:off x="2487168" y="1600200"/>
            <a:ext cx="818387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Two FSI lighthouse accounts, access to the field, and a standing PMM–product review.</a:t>
            </a:r>
          </a:p>
        </p:txBody>
      </p:sp>
      <p:sp>
        <p:nvSpPr>
          <p:cNvPr id="8911" name="Rectangle 8910"/>
          <p:cNvSpPr/>
          <p:nvPr/>
        </p:nvSpPr>
        <p:spPr>
          <a:xfrm>
            <a:off x="1307592" y="2990088"/>
            <a:ext cx="9555480" cy="381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12" name="Rectangle 8911"/>
          <p:cNvSpPr/>
          <p:nvPr/>
        </p:nvSpPr>
        <p:spPr>
          <a:xfrm>
            <a:off x="841248" y="2688336"/>
            <a:ext cx="658368" cy="658368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13" name="TextBox 8912"/>
          <p:cNvSpPr txBox="1"/>
          <p:nvPr/>
        </p:nvSpPr>
        <p:spPr>
          <a:xfrm>
            <a:off x="841248" y="2688336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8914" name="TextBox 8913"/>
          <p:cNvSpPr txBox="1"/>
          <p:nvPr/>
        </p:nvSpPr>
        <p:spPr>
          <a:xfrm>
            <a:off x="841248" y="35844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AGREE THE TARGET LIST</a:t>
            </a:r>
          </a:p>
        </p:txBody>
      </p:sp>
      <p:sp>
        <p:nvSpPr>
          <p:cNvPr id="8915" name="TextBox 8914"/>
          <p:cNvSpPr txBox="1"/>
          <p:nvPr/>
        </p:nvSpPr>
        <p:spPr>
          <a:xfrm>
            <a:off x="841248" y="4005072"/>
            <a:ext cx="2359152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E3604"/>
                </a:solidFill>
                <a:latin typeface="Arial"/>
              </a:rPr>
              <a:t>Week 2 · Lock five FSI accounts and the sponsor in each.</a:t>
            </a:r>
          </a:p>
        </p:txBody>
      </p:sp>
      <p:sp>
        <p:nvSpPr>
          <p:cNvPr id="8916" name="Rectangle 8915"/>
          <p:cNvSpPr/>
          <p:nvPr/>
        </p:nvSpPr>
        <p:spPr>
          <a:xfrm>
            <a:off x="3511296" y="2688336"/>
            <a:ext cx="658368" cy="658368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17" name="TextBox 8916"/>
          <p:cNvSpPr txBox="1"/>
          <p:nvPr/>
        </p:nvSpPr>
        <p:spPr>
          <a:xfrm>
            <a:off x="3511296" y="2688336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8918" name="TextBox 8917"/>
          <p:cNvSpPr txBox="1"/>
          <p:nvPr/>
        </p:nvSpPr>
        <p:spPr>
          <a:xfrm>
            <a:off x="3511296" y="35844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SHIP THE P0 PLAY</a:t>
            </a:r>
          </a:p>
        </p:txBody>
      </p:sp>
      <p:sp>
        <p:nvSpPr>
          <p:cNvPr id="8919" name="TextBox 8918"/>
          <p:cNvSpPr txBox="1"/>
          <p:nvPr/>
        </p:nvSpPr>
        <p:spPr>
          <a:xfrm>
            <a:off x="3511296" y="4005072"/>
            <a:ext cx="2359152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E3604"/>
                </a:solidFill>
                <a:latin typeface="Arial"/>
              </a:rPr>
              <a:t>Week 6 · Controlled AI for regulated workflows, packaged end to end.</a:t>
            </a:r>
          </a:p>
        </p:txBody>
      </p:sp>
      <p:sp>
        <p:nvSpPr>
          <p:cNvPr id="8920" name="Rectangle 8919"/>
          <p:cNvSpPr/>
          <p:nvPr/>
        </p:nvSpPr>
        <p:spPr>
          <a:xfrm>
            <a:off x="6181344" y="2688336"/>
            <a:ext cx="658368" cy="658368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21" name="TextBox 8920"/>
          <p:cNvSpPr txBox="1"/>
          <p:nvPr/>
        </p:nvSpPr>
        <p:spPr>
          <a:xfrm>
            <a:off x="6181344" y="2688336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8922" name="TextBox 8921"/>
          <p:cNvSpPr txBox="1"/>
          <p:nvPr/>
        </p:nvSpPr>
        <p:spPr>
          <a:xfrm>
            <a:off x="6181344" y="35844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RUN TWO EVALUATIONS</a:t>
            </a:r>
          </a:p>
        </p:txBody>
      </p:sp>
      <p:sp>
        <p:nvSpPr>
          <p:cNvPr id="8923" name="TextBox 8922"/>
          <p:cNvSpPr txBox="1"/>
          <p:nvPr/>
        </p:nvSpPr>
        <p:spPr>
          <a:xfrm>
            <a:off x="6181344" y="4005072"/>
            <a:ext cx="2359152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E3604"/>
                </a:solidFill>
                <a:latin typeface="Arial"/>
              </a:rPr>
              <a:t>Week 10 · Live proof in two accounts with a measured baseline.</a:t>
            </a:r>
          </a:p>
        </p:txBody>
      </p:sp>
      <p:sp>
        <p:nvSpPr>
          <p:cNvPr id="8924" name="Rectangle 8923"/>
          <p:cNvSpPr/>
          <p:nvPr/>
        </p:nvSpPr>
        <p:spPr>
          <a:xfrm>
            <a:off x="8851392" y="2688336"/>
            <a:ext cx="658368" cy="658368"/>
          </a:xfrm>
          <a:prstGeom prst="rect">
            <a:avLst/>
          </a:prstGeom>
          <a:solidFill>
            <a:srgbClr val="FA5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25" name="TextBox 8924"/>
          <p:cNvSpPr txBox="1"/>
          <p:nvPr/>
        </p:nvSpPr>
        <p:spPr>
          <a:xfrm>
            <a:off x="8851392" y="2688336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1623"/>
                </a:solidFill>
                <a:latin typeface="Arial"/>
              </a:rPr>
              <a:t>04</a:t>
            </a:r>
          </a:p>
        </p:txBody>
      </p:sp>
      <p:sp>
        <p:nvSpPr>
          <p:cNvPr id="8926" name="TextBox 8925"/>
          <p:cNvSpPr txBox="1"/>
          <p:nvPr/>
        </p:nvSpPr>
        <p:spPr>
          <a:xfrm>
            <a:off x="8851392" y="35844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REVIEW AND DECIDE</a:t>
            </a:r>
          </a:p>
        </p:txBody>
      </p:sp>
      <p:sp>
        <p:nvSpPr>
          <p:cNvPr id="8927" name="TextBox 8926"/>
          <p:cNvSpPr txBox="1"/>
          <p:nvPr/>
        </p:nvSpPr>
        <p:spPr>
          <a:xfrm>
            <a:off x="8851392" y="4005072"/>
            <a:ext cx="2359152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23"/>
                </a:solidFill>
                <a:latin typeface="Arial"/>
              </a:rPr>
              <a:t>Week 12 · Evidence review, then commit to scale or reshape.</a:t>
            </a:r>
          </a:p>
        </p:txBody>
      </p:sp>
      <p:sp>
        <p:nvSpPr>
          <p:cNvPr id="8928" name="Rectangle 8927"/>
          <p:cNvSpPr/>
          <p:nvPr/>
        </p:nvSpPr>
        <p:spPr>
          <a:xfrm>
            <a:off x="841248" y="5175504"/>
            <a:ext cx="10515600" cy="621792"/>
          </a:xfrm>
          <a:prstGeom prst="rect">
            <a:avLst/>
          </a:prstGeom>
          <a:solidFill>
            <a:srgbClr val="FE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29" name="TextBox 8928"/>
          <p:cNvSpPr txBox="1"/>
          <p:nvPr/>
        </p:nvSpPr>
        <p:spPr>
          <a:xfrm>
            <a:off x="1060704" y="5175504"/>
            <a:ext cx="10076688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E3604"/>
                </a:solidFill>
                <a:latin typeface="Arial"/>
              </a:rPr>
              <a:t>WEEK 2  →  WEEK 6  →  WEEK 10  →  WEEK 12</a:t>
            </a:r>
          </a:p>
        </p:txBody>
      </p:sp>
    </p:spTree>
    <p:extLst>
      <p:ext uri="{BB962C8B-B14F-4D97-AF65-F5344CB8AC3E}">
        <p14:creationId xmlns:p14="http://schemas.microsoft.com/office/powerpoint/2010/main" val="1813535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182880"/>
            <a:ext cx="347472" cy="347472"/>
          </a:xfrm>
          <a:prstGeom prst="rect">
            <a:avLst/>
          </a:prstGeom>
        </p:spPr>
      </p:pic>
      <p:sp>
        <p:nvSpPr>
          <p:cNvPr id="8901" name="FootTxt"/>
          <p:cNvSpPr txBox="1"/>
          <p:nvPr/>
        </p:nvSpPr>
        <p:spPr>
          <a:xfrm>
            <a:off x="612648" y="6620000"/>
            <a:ext cx="4005072" cy="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0" spc="60">
                <a:solidFill>
                  <a:srgbClr val="5A554B"/>
                </a:solidFill>
                <a:latin typeface="Arial"/>
                <a:cs typeface="Arial"/>
              </a:rPr>
              <a:t>SHIV  ·  PMM CANDIDATE  ·  18 AUG 2026</a:t>
            </a:r>
          </a:p>
        </p:txBody>
      </p:sp>
      <p:sp>
        <p:nvSpPr>
          <p:cNvPr id="8902" name="FootPg"/>
          <p:cNvSpPr txBox="1"/>
          <p:nvPr/>
        </p:nvSpPr>
        <p:spPr>
          <a:xfrm>
            <a:off x="11237976" y="6620000"/>
            <a:ext cx="347472" cy="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en-US"/>
              <a:t>6</a:t>
            </a:r>
          </a:p>
        </p:txBody>
      </p:sp>
      <p:sp>
        <p:nvSpPr>
          <p:cNvPr id="8903" name="Rectangle 8902"/>
          <p:cNvSpPr/>
          <p:nvPr/>
        </p:nvSpPr>
        <p:spPr>
          <a:xfrm>
            <a:off x="612648" y="265176"/>
            <a:ext cx="64008" cy="621792"/>
          </a:xfrm>
          <a:prstGeom prst="rect">
            <a:avLst/>
          </a:prstGeom>
          <a:solidFill>
            <a:srgbClr val="FA5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04" name="TextBox 8903"/>
          <p:cNvSpPr txBox="1"/>
          <p:nvPr/>
        </p:nvSpPr>
        <p:spPr>
          <a:xfrm>
            <a:off x="841248" y="64008"/>
            <a:ext cx="6126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APPENDIX | PARTNER-LED EXPANSION</a:t>
            </a:r>
          </a:p>
        </p:txBody>
      </p:sp>
      <p:sp>
        <p:nvSpPr>
          <p:cNvPr id="8905" name="TextBox 8904"/>
          <p:cNvSpPr txBox="1"/>
          <p:nvPr/>
        </p:nvSpPr>
        <p:spPr>
          <a:xfrm>
            <a:off x="841248" y="283464"/>
            <a:ext cx="10515600" cy="477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3100" b="1">
                <a:solidFill>
                  <a:srgbClr val="161623"/>
                </a:solidFill>
                <a:latin typeface="Tiny5"/>
              </a:rPr>
              <a:t>ONE PROOF BECOMES BORROWED REACH</a:t>
            </a:r>
          </a:p>
        </p:txBody>
      </p:sp>
      <p:sp>
        <p:nvSpPr>
          <p:cNvPr id="8906" name="TextBox 8905"/>
          <p:cNvSpPr txBox="1"/>
          <p:nvPr/>
        </p:nvSpPr>
        <p:spPr>
          <a:xfrm>
            <a:off x="841248" y="987552"/>
            <a:ext cx="10515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554B"/>
                </a:solidFill>
                <a:latin typeface="Arial"/>
              </a:rPr>
              <a:t>Remove the blocker</a:t>
            </a:r>
            <a:r>
              <a:rPr lang="en-US" sz="1400" b="0">
                <a:solidFill>
                  <a:srgbClr val="5A554B"/>
                </a:solidFill>
                <a:latin typeface="Arial"/>
              </a:rPr>
              <a:t>,</a:t>
            </a:r>
            <a:r>
              <a:rPr sz="1400" b="0">
                <a:solidFill>
                  <a:srgbClr val="5A554B"/>
                </a:solidFill>
                <a:latin typeface="Arial"/>
              </a:rPr>
              <a:t> package the evidence</a:t>
            </a:r>
            <a:r>
              <a:rPr lang="en-US" sz="1400" b="0">
                <a:solidFill>
                  <a:srgbClr val="5A554B"/>
                </a:solidFill>
                <a:latin typeface="Arial"/>
              </a:rPr>
              <a:t>, then let</a:t>
            </a:r>
            <a:r>
              <a:rPr sz="1400" b="0">
                <a:solidFill>
                  <a:srgbClr val="5A554B"/>
                </a:solidFill>
                <a:latin typeface="Arial"/>
              </a:rPr>
              <a:t> partners </a:t>
            </a:r>
            <a:r>
              <a:rPr lang="en-US" sz="1400" b="0">
                <a:solidFill>
                  <a:srgbClr val="5A554B"/>
                </a:solidFill>
                <a:latin typeface="Arial"/>
              </a:rPr>
              <a:t>repeat</a:t>
            </a:r>
            <a:r>
              <a:rPr sz="1400" b="0">
                <a:solidFill>
                  <a:srgbClr val="5A554B"/>
                </a:solidFill>
                <a:latin typeface="Arial"/>
              </a:rPr>
              <a:t> it.</a:t>
            </a:r>
          </a:p>
        </p:txBody>
      </p:sp>
      <p:sp>
        <p:nvSpPr>
          <p:cNvPr id="8907" name="Rectangle 8906"/>
          <p:cNvSpPr/>
          <p:nvPr/>
        </p:nvSpPr>
        <p:spPr>
          <a:xfrm>
            <a:off x="841248" y="1408176"/>
            <a:ext cx="8942832" cy="438912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08" name="TextBox 8907"/>
          <p:cNvSpPr txBox="1"/>
          <p:nvPr/>
        </p:nvSpPr>
        <p:spPr>
          <a:xfrm>
            <a:off x="1024128" y="1408176"/>
            <a:ext cx="857707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ACCOUNT MAP   →   PILOT   →   PACKAGE   →   CO-SELL   →   ENABLE</a:t>
            </a:r>
          </a:p>
        </p:txBody>
      </p:sp>
      <p:sp>
        <p:nvSpPr>
          <p:cNvPr id="8909" name="Rectangle 8908"/>
          <p:cNvSpPr/>
          <p:nvPr/>
        </p:nvSpPr>
        <p:spPr>
          <a:xfrm>
            <a:off x="9784080" y="1408176"/>
            <a:ext cx="1572768" cy="438912"/>
          </a:xfrm>
          <a:prstGeom prst="rect">
            <a:avLst/>
          </a:prstGeom>
          <a:solidFill>
            <a:srgbClr val="FA5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10" name="TextBox 8909"/>
          <p:cNvSpPr txBox="1"/>
          <p:nvPr/>
        </p:nvSpPr>
        <p:spPr>
          <a:xfrm>
            <a:off x="9838944" y="1408176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REPEAT</a:t>
            </a:r>
          </a:p>
        </p:txBody>
      </p:sp>
      <p:sp>
        <p:nvSpPr>
          <p:cNvPr id="8911" name="Rectangle 8910"/>
          <p:cNvSpPr/>
          <p:nvPr/>
        </p:nvSpPr>
        <p:spPr>
          <a:xfrm>
            <a:off x="612648" y="6547104"/>
            <a:ext cx="11109960" cy="127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12" name="Rectangle 8911"/>
          <p:cNvSpPr>
            <a:spLocks/>
          </p:cNvSpPr>
          <p:nvPr/>
        </p:nvSpPr>
        <p:spPr>
          <a:xfrm>
            <a:off x="841248" y="2011680"/>
            <a:ext cx="6272784" cy="393192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13" name="TextBox 8912"/>
          <p:cNvSpPr txBox="1">
            <a:spLocks/>
          </p:cNvSpPr>
          <p:nvPr/>
        </p:nvSpPr>
        <p:spPr>
          <a:xfrm>
            <a:off x="1060704" y="2011680"/>
            <a:ext cx="44805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PRIORITY PARTNER PROOFS</a:t>
            </a:r>
          </a:p>
        </p:txBody>
      </p:sp>
      <p:sp>
        <p:nvSpPr>
          <p:cNvPr id="8914" name="Rectangle 8913"/>
          <p:cNvSpPr>
            <a:spLocks/>
          </p:cNvSpPr>
          <p:nvPr/>
        </p:nvSpPr>
        <p:spPr>
          <a:xfrm>
            <a:off x="6053328" y="2011680"/>
            <a:ext cx="1060704" cy="393192"/>
          </a:xfrm>
          <a:prstGeom prst="rect">
            <a:avLst/>
          </a:prstGeom>
          <a:solidFill>
            <a:srgbClr val="FA5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15" name="TextBox 8914"/>
          <p:cNvSpPr txBox="1">
            <a:spLocks/>
          </p:cNvSpPr>
          <p:nvPr/>
        </p:nvSpPr>
        <p:spPr>
          <a:xfrm>
            <a:off x="6108192" y="2011680"/>
            <a:ext cx="95097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61623"/>
                </a:solidFill>
                <a:latin typeface="Arial"/>
              </a:rPr>
              <a:t>ROUTE</a:t>
            </a:r>
          </a:p>
        </p:txBody>
      </p:sp>
      <p:sp>
        <p:nvSpPr>
          <p:cNvPr id="8916" name="Rectangle 8915"/>
          <p:cNvSpPr>
            <a:spLocks/>
          </p:cNvSpPr>
          <p:nvPr/>
        </p:nvSpPr>
        <p:spPr>
          <a:xfrm>
            <a:off x="7315200" y="2011680"/>
            <a:ext cx="4041648" cy="393192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17" name="TextBox 8916"/>
          <p:cNvSpPr txBox="1"/>
          <p:nvPr/>
        </p:nvSpPr>
        <p:spPr>
          <a:xfrm>
            <a:off x="7534656" y="2100554"/>
            <a:ext cx="3602736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HOW THE WIN COMPOUNDS</a:t>
            </a:r>
          </a:p>
        </p:txBody>
      </p:sp>
      <p:sp>
        <p:nvSpPr>
          <p:cNvPr id="8918" name="TextBox 8917"/>
          <p:cNvSpPr txBox="1"/>
          <p:nvPr/>
        </p:nvSpPr>
        <p:spPr>
          <a:xfrm>
            <a:off x="1060704" y="2542032"/>
            <a:ext cx="31089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AE3604"/>
                </a:solidFill>
                <a:latin typeface="Arial"/>
              </a:rPr>
              <a:t>01</a:t>
            </a:r>
          </a:p>
        </p:txBody>
      </p:sp>
      <p:sp>
        <p:nvSpPr>
          <p:cNvPr id="8919" name="TextBox 8918"/>
          <p:cNvSpPr txBox="1"/>
          <p:nvPr/>
        </p:nvSpPr>
        <p:spPr>
          <a:xfrm>
            <a:off x="1463040" y="2542032"/>
            <a:ext cx="43159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161623"/>
                </a:solidFill>
                <a:latin typeface="Arial"/>
              </a:rPr>
              <a:t>QUANTEXA</a:t>
            </a:r>
          </a:p>
        </p:txBody>
      </p:sp>
      <p:sp>
        <p:nvSpPr>
          <p:cNvPr id="8920" name="TextBox 8919"/>
          <p:cNvSpPr txBox="1"/>
          <p:nvPr/>
        </p:nvSpPr>
        <p:spPr>
          <a:xfrm>
            <a:off x="5797296" y="2542032"/>
            <a:ext cx="10972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200" b="1">
                <a:solidFill>
                  <a:srgbClr val="AE3604"/>
                </a:solidFill>
                <a:latin typeface="Arial"/>
              </a:rPr>
              <a:t>EMBED</a:t>
            </a:r>
          </a:p>
        </p:txBody>
      </p:sp>
      <p:sp>
        <p:nvSpPr>
          <p:cNvPr id="8921" name="TextBox 8920"/>
          <p:cNvSpPr txBox="1"/>
          <p:nvPr/>
        </p:nvSpPr>
        <p:spPr>
          <a:xfrm>
            <a:off x="1463040" y="2816351"/>
            <a:ext cx="543153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61623"/>
                </a:solidFill>
                <a:latin typeface="Arial"/>
              </a:rPr>
              <a:t>Financial-crime workflow</a:t>
            </a:r>
          </a:p>
        </p:txBody>
      </p:sp>
      <p:sp>
        <p:nvSpPr>
          <p:cNvPr id="8922" name="TextBox 8921"/>
          <p:cNvSpPr txBox="1">
            <a:spLocks/>
          </p:cNvSpPr>
          <p:nvPr/>
        </p:nvSpPr>
        <p:spPr>
          <a:xfrm>
            <a:off x="1463040" y="3063239"/>
            <a:ext cx="5431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5A554B"/>
                </a:solidFill>
                <a:latin typeface="Arial"/>
              </a:rPr>
              <a:t>First proof · one agent at a mutual bank</a:t>
            </a:r>
          </a:p>
        </p:txBody>
      </p:sp>
      <p:sp>
        <p:nvSpPr>
          <p:cNvPr id="8923" name="Rectangle 8922"/>
          <p:cNvSpPr>
            <a:spLocks/>
          </p:cNvSpPr>
          <p:nvPr/>
        </p:nvSpPr>
        <p:spPr>
          <a:xfrm>
            <a:off x="1060704" y="3328415"/>
            <a:ext cx="5833872" cy="127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24" name="TextBox 8923"/>
          <p:cNvSpPr txBox="1"/>
          <p:nvPr/>
        </p:nvSpPr>
        <p:spPr>
          <a:xfrm>
            <a:off x="1060704" y="3401568"/>
            <a:ext cx="31089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AE3604"/>
                </a:solidFill>
                <a:latin typeface="Arial"/>
              </a:rPr>
              <a:t>02</a:t>
            </a:r>
          </a:p>
        </p:txBody>
      </p:sp>
      <p:sp>
        <p:nvSpPr>
          <p:cNvPr id="8925" name="TextBox 8924"/>
          <p:cNvSpPr txBox="1"/>
          <p:nvPr/>
        </p:nvSpPr>
        <p:spPr>
          <a:xfrm>
            <a:off x="1463040" y="3401568"/>
            <a:ext cx="43159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161623"/>
                </a:solidFill>
                <a:latin typeface="Arial"/>
              </a:rPr>
              <a:t>LSEG RISK INTELLIGENCE</a:t>
            </a:r>
          </a:p>
        </p:txBody>
      </p:sp>
      <p:sp>
        <p:nvSpPr>
          <p:cNvPr id="8926" name="TextBox 8925"/>
          <p:cNvSpPr txBox="1"/>
          <p:nvPr/>
        </p:nvSpPr>
        <p:spPr>
          <a:xfrm>
            <a:off x="5797296" y="3401568"/>
            <a:ext cx="10972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200" b="1">
                <a:solidFill>
                  <a:srgbClr val="AE3604"/>
                </a:solidFill>
                <a:latin typeface="Arial"/>
              </a:rPr>
              <a:t>DISTRIBUTE</a:t>
            </a:r>
          </a:p>
        </p:txBody>
      </p:sp>
      <p:sp>
        <p:nvSpPr>
          <p:cNvPr id="8927" name="TextBox 8926"/>
          <p:cNvSpPr txBox="1"/>
          <p:nvPr/>
        </p:nvSpPr>
        <p:spPr>
          <a:xfrm>
            <a:off x="1463040" y="3675887"/>
            <a:ext cx="543153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61623"/>
                </a:solidFill>
                <a:latin typeface="Arial"/>
              </a:rPr>
              <a:t>Trusted data for investigations</a:t>
            </a:r>
          </a:p>
        </p:txBody>
      </p:sp>
      <p:sp>
        <p:nvSpPr>
          <p:cNvPr id="8928" name="TextBox 8927"/>
          <p:cNvSpPr txBox="1">
            <a:spLocks/>
          </p:cNvSpPr>
          <p:nvPr/>
        </p:nvSpPr>
        <p:spPr>
          <a:xfrm>
            <a:off x="1463040" y="3922776"/>
            <a:ext cx="5431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5A554B"/>
                </a:solidFill>
                <a:latin typeface="Arial"/>
              </a:rPr>
              <a:t>First proof · one World-Check case summary</a:t>
            </a:r>
          </a:p>
        </p:txBody>
      </p:sp>
      <p:sp>
        <p:nvSpPr>
          <p:cNvPr id="8929" name="Rectangle 8928"/>
          <p:cNvSpPr>
            <a:spLocks/>
          </p:cNvSpPr>
          <p:nvPr/>
        </p:nvSpPr>
        <p:spPr>
          <a:xfrm>
            <a:off x="1060704" y="4187952"/>
            <a:ext cx="5833872" cy="127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30" name="TextBox 8929"/>
          <p:cNvSpPr txBox="1"/>
          <p:nvPr/>
        </p:nvSpPr>
        <p:spPr>
          <a:xfrm>
            <a:off x="1060704" y="4261104"/>
            <a:ext cx="31089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AE3604"/>
                </a:solidFill>
                <a:latin typeface="Arial"/>
              </a:rPr>
              <a:t>03</a:t>
            </a:r>
          </a:p>
        </p:txBody>
      </p:sp>
      <p:sp>
        <p:nvSpPr>
          <p:cNvPr id="8931" name="TextBox 8930"/>
          <p:cNvSpPr txBox="1"/>
          <p:nvPr/>
        </p:nvSpPr>
        <p:spPr>
          <a:xfrm>
            <a:off x="1463040" y="4261104"/>
            <a:ext cx="43159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161623"/>
                </a:solidFill>
                <a:latin typeface="Arial"/>
              </a:rPr>
              <a:t>FENERGO</a:t>
            </a:r>
          </a:p>
        </p:txBody>
      </p:sp>
      <p:sp>
        <p:nvSpPr>
          <p:cNvPr id="8932" name="TextBox 8931"/>
          <p:cNvSpPr txBox="1"/>
          <p:nvPr/>
        </p:nvSpPr>
        <p:spPr>
          <a:xfrm>
            <a:off x="5797296" y="4261104"/>
            <a:ext cx="10972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200" b="1">
                <a:solidFill>
                  <a:srgbClr val="AE3604"/>
                </a:solidFill>
                <a:latin typeface="Arial"/>
              </a:rPr>
              <a:t>EMBED</a:t>
            </a:r>
          </a:p>
        </p:txBody>
      </p:sp>
      <p:sp>
        <p:nvSpPr>
          <p:cNvPr id="8933" name="TextBox 8932"/>
          <p:cNvSpPr txBox="1"/>
          <p:nvPr/>
        </p:nvSpPr>
        <p:spPr>
          <a:xfrm>
            <a:off x="1463040" y="4535424"/>
            <a:ext cx="543153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61623"/>
                </a:solidFill>
                <a:latin typeface="Arial"/>
              </a:rPr>
              <a:t>Controlled KYC document intelligence</a:t>
            </a:r>
          </a:p>
        </p:txBody>
      </p:sp>
      <p:sp>
        <p:nvSpPr>
          <p:cNvPr id="8934" name="TextBox 8933"/>
          <p:cNvSpPr txBox="1">
            <a:spLocks/>
          </p:cNvSpPr>
          <p:nvPr/>
        </p:nvSpPr>
        <p:spPr>
          <a:xfrm>
            <a:off x="1463040" y="4782312"/>
            <a:ext cx="5431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5A554B"/>
                </a:solidFill>
                <a:latin typeface="Arial"/>
              </a:rPr>
              <a:t>First proof · connect one KYC workflow</a:t>
            </a:r>
          </a:p>
        </p:txBody>
      </p:sp>
      <p:sp>
        <p:nvSpPr>
          <p:cNvPr id="8935" name="Rectangle 8934"/>
          <p:cNvSpPr>
            <a:spLocks/>
          </p:cNvSpPr>
          <p:nvPr/>
        </p:nvSpPr>
        <p:spPr>
          <a:xfrm>
            <a:off x="1060704" y="5047488"/>
            <a:ext cx="5833872" cy="127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36" name="TextBox 8935"/>
          <p:cNvSpPr txBox="1"/>
          <p:nvPr/>
        </p:nvSpPr>
        <p:spPr>
          <a:xfrm>
            <a:off x="1060704" y="5120640"/>
            <a:ext cx="31089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AE3604"/>
                </a:solidFill>
                <a:latin typeface="Arial"/>
              </a:rPr>
              <a:t>04</a:t>
            </a:r>
          </a:p>
        </p:txBody>
      </p:sp>
      <p:sp>
        <p:nvSpPr>
          <p:cNvPr id="8937" name="TextBox 8936"/>
          <p:cNvSpPr txBox="1"/>
          <p:nvPr/>
        </p:nvSpPr>
        <p:spPr>
          <a:xfrm>
            <a:off x="1463040" y="5120640"/>
            <a:ext cx="43159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161623"/>
                </a:solidFill>
                <a:latin typeface="Arial"/>
              </a:rPr>
              <a:t>COMPLYADVANTAGE</a:t>
            </a:r>
          </a:p>
        </p:txBody>
      </p:sp>
      <p:sp>
        <p:nvSpPr>
          <p:cNvPr id="8938" name="TextBox 8937"/>
          <p:cNvSpPr txBox="1"/>
          <p:nvPr/>
        </p:nvSpPr>
        <p:spPr>
          <a:xfrm>
            <a:off x="5797296" y="5120640"/>
            <a:ext cx="10972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200" b="1">
                <a:solidFill>
                  <a:srgbClr val="AE3604"/>
                </a:solidFill>
                <a:latin typeface="Arial"/>
              </a:rPr>
              <a:t>EMBED</a:t>
            </a:r>
          </a:p>
        </p:txBody>
      </p:sp>
      <p:sp>
        <p:nvSpPr>
          <p:cNvPr id="8939" name="TextBox 8938"/>
          <p:cNvSpPr txBox="1"/>
          <p:nvPr/>
        </p:nvSpPr>
        <p:spPr>
          <a:xfrm>
            <a:off x="1463040" y="5394959"/>
            <a:ext cx="543153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61623"/>
                </a:solidFill>
                <a:latin typeface="Arial"/>
              </a:rPr>
              <a:t>AML workflow integration</a:t>
            </a:r>
          </a:p>
        </p:txBody>
      </p:sp>
      <p:sp>
        <p:nvSpPr>
          <p:cNvPr id="8940" name="TextBox 8939"/>
          <p:cNvSpPr txBox="1">
            <a:spLocks/>
          </p:cNvSpPr>
          <p:nvPr/>
        </p:nvSpPr>
        <p:spPr>
          <a:xfrm>
            <a:off x="1463040" y="5641848"/>
            <a:ext cx="5431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5A554B"/>
                </a:solidFill>
                <a:latin typeface="Arial"/>
              </a:rPr>
              <a:t>First proof · connect one measurable AML workflow</a:t>
            </a:r>
          </a:p>
        </p:txBody>
      </p:sp>
      <p:sp>
        <p:nvSpPr>
          <p:cNvPr id="8941" name="Rectangle 8940"/>
          <p:cNvSpPr>
            <a:spLocks/>
          </p:cNvSpPr>
          <p:nvPr/>
        </p:nvSpPr>
        <p:spPr>
          <a:xfrm>
            <a:off x="7534656" y="2542032"/>
            <a:ext cx="1298448" cy="320040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42" name="TextBox 8941"/>
          <p:cNvSpPr txBox="1"/>
          <p:nvPr/>
        </p:nvSpPr>
        <p:spPr>
          <a:xfrm>
            <a:off x="7589520" y="2602024"/>
            <a:ext cx="11887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00" b="1">
                <a:solidFill>
                  <a:srgbClr val="FFFFFF"/>
                </a:solidFill>
                <a:latin typeface="Arial"/>
              </a:rPr>
              <a:t>EXPAND</a:t>
            </a:r>
          </a:p>
        </p:txBody>
      </p:sp>
      <p:sp>
        <p:nvSpPr>
          <p:cNvPr id="8943" name="TextBox 8942"/>
          <p:cNvSpPr txBox="1"/>
          <p:nvPr/>
        </p:nvSpPr>
        <p:spPr>
          <a:xfrm>
            <a:off x="8979408" y="254203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61623"/>
                </a:solidFill>
                <a:latin typeface="Arial"/>
              </a:rPr>
              <a:t>Own accounts</a:t>
            </a:r>
          </a:p>
        </p:txBody>
      </p:sp>
      <p:sp>
        <p:nvSpPr>
          <p:cNvPr id="8944" name="TextBox 8943"/>
          <p:cNvSpPr txBox="1">
            <a:spLocks/>
          </p:cNvSpPr>
          <p:nvPr/>
        </p:nvSpPr>
        <p:spPr>
          <a:xfrm>
            <a:off x="8979408" y="2816351"/>
            <a:ext cx="2157984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5A554B"/>
                </a:solidFill>
                <a:latin typeface="Arial"/>
              </a:rPr>
              <a:t>BNP Paribas · Swiss Re</a:t>
            </a:r>
          </a:p>
        </p:txBody>
      </p:sp>
      <p:sp>
        <p:nvSpPr>
          <p:cNvPr id="8945" name="Rectangle 8944"/>
          <p:cNvSpPr/>
          <p:nvPr/>
        </p:nvSpPr>
        <p:spPr>
          <a:xfrm>
            <a:off x="7534656" y="3264408"/>
            <a:ext cx="3602736" cy="127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46" name="Rectangle 8945"/>
          <p:cNvSpPr>
            <a:spLocks/>
          </p:cNvSpPr>
          <p:nvPr/>
        </p:nvSpPr>
        <p:spPr>
          <a:xfrm>
            <a:off x="7534656" y="3355848"/>
            <a:ext cx="1298448" cy="320040"/>
          </a:xfrm>
          <a:prstGeom prst="rect">
            <a:avLst/>
          </a:prstGeom>
          <a:solidFill>
            <a:srgbClr val="FA5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47" name="TextBox 8946"/>
          <p:cNvSpPr txBox="1"/>
          <p:nvPr/>
        </p:nvSpPr>
        <p:spPr>
          <a:xfrm>
            <a:off x="7589520" y="3415840"/>
            <a:ext cx="11887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00" b="1">
                <a:solidFill>
                  <a:srgbClr val="161623"/>
                </a:solidFill>
                <a:latin typeface="Arial"/>
              </a:rPr>
              <a:t>EMBED</a:t>
            </a:r>
          </a:p>
        </p:txBody>
      </p:sp>
      <p:sp>
        <p:nvSpPr>
          <p:cNvPr id="8948" name="TextBox 8947"/>
          <p:cNvSpPr txBox="1"/>
          <p:nvPr/>
        </p:nvSpPr>
        <p:spPr>
          <a:xfrm>
            <a:off x="8979408" y="3355848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61623"/>
                </a:solidFill>
                <a:latin typeface="Arial"/>
              </a:rPr>
              <a:t>Partner software</a:t>
            </a:r>
          </a:p>
        </p:txBody>
      </p:sp>
      <p:sp>
        <p:nvSpPr>
          <p:cNvPr id="8949" name="TextBox 8948"/>
          <p:cNvSpPr txBox="1">
            <a:spLocks/>
          </p:cNvSpPr>
          <p:nvPr/>
        </p:nvSpPr>
        <p:spPr>
          <a:xfrm>
            <a:off x="8979408" y="3630168"/>
            <a:ext cx="2157984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5A554B"/>
                </a:solidFill>
                <a:latin typeface="Arial"/>
              </a:rPr>
              <a:t>Quantexa · Fenergo · ComplyAdvantage</a:t>
            </a:r>
          </a:p>
        </p:txBody>
      </p:sp>
      <p:sp>
        <p:nvSpPr>
          <p:cNvPr id="8950" name="Rectangle 8949"/>
          <p:cNvSpPr/>
          <p:nvPr/>
        </p:nvSpPr>
        <p:spPr>
          <a:xfrm>
            <a:off x="7534656" y="4078224"/>
            <a:ext cx="3602736" cy="127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51" name="Rectangle 8950"/>
          <p:cNvSpPr>
            <a:spLocks/>
          </p:cNvSpPr>
          <p:nvPr/>
        </p:nvSpPr>
        <p:spPr>
          <a:xfrm>
            <a:off x="7534656" y="4169663"/>
            <a:ext cx="1298448" cy="320040"/>
          </a:xfrm>
          <a:prstGeom prst="rect">
            <a:avLst/>
          </a:prstGeom>
          <a:solidFill>
            <a:srgbClr val="FA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52" name="TextBox 8951"/>
          <p:cNvSpPr txBox="1"/>
          <p:nvPr/>
        </p:nvSpPr>
        <p:spPr>
          <a:xfrm>
            <a:off x="7589520" y="4229655"/>
            <a:ext cx="11887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00" b="1">
                <a:solidFill>
                  <a:srgbClr val="161623"/>
                </a:solidFill>
                <a:latin typeface="Arial"/>
              </a:rPr>
              <a:t>DISTRIBUTE</a:t>
            </a:r>
          </a:p>
        </p:txBody>
      </p:sp>
      <p:sp>
        <p:nvSpPr>
          <p:cNvPr id="8953" name="TextBox 8952"/>
          <p:cNvSpPr txBox="1"/>
          <p:nvPr/>
        </p:nvSpPr>
        <p:spPr>
          <a:xfrm>
            <a:off x="8979408" y="4169663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61623"/>
                </a:solidFill>
                <a:latin typeface="Arial"/>
              </a:rPr>
              <a:t>Industry platforms</a:t>
            </a:r>
          </a:p>
        </p:txBody>
      </p:sp>
      <p:sp>
        <p:nvSpPr>
          <p:cNvPr id="8954" name="TextBox 8953"/>
          <p:cNvSpPr txBox="1">
            <a:spLocks/>
          </p:cNvSpPr>
          <p:nvPr/>
        </p:nvSpPr>
        <p:spPr>
          <a:xfrm>
            <a:off x="8979408" y="4443983"/>
            <a:ext cx="2157984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5A554B"/>
                </a:solidFill>
                <a:latin typeface="Arial"/>
              </a:rPr>
              <a:t>Visa · LSEG</a:t>
            </a:r>
          </a:p>
        </p:txBody>
      </p:sp>
      <p:sp>
        <p:nvSpPr>
          <p:cNvPr id="8955" name="Rectangle 8954"/>
          <p:cNvSpPr/>
          <p:nvPr/>
        </p:nvSpPr>
        <p:spPr>
          <a:xfrm>
            <a:off x="7534656" y="4892040"/>
            <a:ext cx="3602736" cy="127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56" name="Rectangle 8955"/>
          <p:cNvSpPr>
            <a:spLocks/>
          </p:cNvSpPr>
          <p:nvPr/>
        </p:nvSpPr>
        <p:spPr>
          <a:xfrm>
            <a:off x="7534656" y="4983479"/>
            <a:ext cx="1298448" cy="320040"/>
          </a:xfrm>
          <a:prstGeom prst="rect">
            <a:avLst/>
          </a:prstGeom>
          <a:solidFill>
            <a:srgbClr val="FA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57" name="TextBox 8956"/>
          <p:cNvSpPr txBox="1"/>
          <p:nvPr/>
        </p:nvSpPr>
        <p:spPr>
          <a:xfrm>
            <a:off x="7589520" y="5043471"/>
            <a:ext cx="11887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00" b="1">
                <a:solidFill>
                  <a:srgbClr val="161623"/>
                </a:solidFill>
                <a:latin typeface="Arial"/>
              </a:rPr>
              <a:t>MULTIPLY</a:t>
            </a:r>
          </a:p>
        </p:txBody>
      </p:sp>
      <p:sp>
        <p:nvSpPr>
          <p:cNvPr id="8958" name="TextBox 8957"/>
          <p:cNvSpPr txBox="1"/>
          <p:nvPr/>
        </p:nvSpPr>
        <p:spPr>
          <a:xfrm>
            <a:off x="8979408" y="4983479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61623"/>
                </a:solidFill>
                <a:latin typeface="Arial"/>
              </a:rPr>
              <a:t>Portfolios</a:t>
            </a:r>
          </a:p>
        </p:txBody>
      </p:sp>
      <p:sp>
        <p:nvSpPr>
          <p:cNvPr id="8959" name="TextBox 8958"/>
          <p:cNvSpPr txBox="1"/>
          <p:nvPr/>
        </p:nvSpPr>
        <p:spPr>
          <a:xfrm>
            <a:off x="8979408" y="5257799"/>
            <a:ext cx="215798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5A554B"/>
                </a:solidFill>
                <a:latin typeface="Arial"/>
              </a:rPr>
              <a:t>EQT · Partners Group</a:t>
            </a:r>
          </a:p>
        </p:txBody>
      </p:sp>
      <p:sp>
        <p:nvSpPr>
          <p:cNvPr id="8960" name="TextBox 8959"/>
          <p:cNvSpPr txBox="1">
            <a:spLocks/>
          </p:cNvSpPr>
          <p:nvPr/>
        </p:nvSpPr>
        <p:spPr>
          <a:xfrm>
            <a:off x="7534656" y="5897880"/>
            <a:ext cx="36027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0" b="1">
                <a:solidFill>
                  <a:srgbClr val="AE3604"/>
                </a:solidFill>
                <a:latin typeface="Arial"/>
              </a:rPr>
              <a:t>DIRECT REACH  →  BORROWED REACH</a:t>
            </a:r>
          </a:p>
        </p:txBody>
      </p:sp>
      <p:sp>
        <p:nvSpPr>
          <p:cNvPr id="8961" name="Rectangle 8960"/>
          <p:cNvSpPr/>
          <p:nvPr/>
        </p:nvSpPr>
        <p:spPr>
          <a:xfrm>
            <a:off x="7534656" y="6153912"/>
            <a:ext cx="3602736" cy="25400"/>
          </a:xfrm>
          <a:prstGeom prst="rect">
            <a:avLst/>
          </a:prstGeom>
          <a:solidFill>
            <a:srgbClr val="FA5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Mistral company monogram" descr="Mistral AI company mono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182880"/>
            <a:ext cx="347472" cy="347472"/>
          </a:xfrm>
          <a:prstGeom prst="rect">
            <a:avLst/>
          </a:prstGeom>
          <a:ln/>
        </p:spPr>
      </p:pic>
      <p:sp>
        <p:nvSpPr>
          <p:cNvPr id="8901" name="FootTxt"/>
          <p:cNvSpPr txBox="1"/>
          <p:nvPr/>
        </p:nvSpPr>
        <p:spPr>
          <a:xfrm>
            <a:off x="612648" y="6620000"/>
            <a:ext cx="4005072" cy="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0" spc="60">
                <a:solidFill>
                  <a:srgbClr val="5A554B"/>
                </a:solidFill>
                <a:latin typeface="Arial"/>
                <a:cs typeface="Arial"/>
              </a:rPr>
              <a:t>SHIV  ·  PMM CANDIDATE  ·  18 AUG 2026</a:t>
            </a:r>
          </a:p>
        </p:txBody>
      </p:sp>
      <p:sp>
        <p:nvSpPr>
          <p:cNvPr id="8902" name="FootPg"/>
          <p:cNvSpPr txBox="1"/>
          <p:nvPr/>
        </p:nvSpPr>
        <p:spPr>
          <a:xfrm>
            <a:off x="11237976" y="6620000"/>
            <a:ext cx="347472" cy="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en-US" sz="1200">
                <a:solidFill>
                  <a:srgbClr val="5A554B"/>
                </a:solidFill>
                <a:latin typeface="Arial"/>
              </a:rPr>
              <a:t>7</a:t>
            </a:r>
          </a:p>
        </p:txBody>
      </p:sp>
      <p:sp>
        <p:nvSpPr>
          <p:cNvPr id="8903" name="Rectangle 8902"/>
          <p:cNvSpPr/>
          <p:nvPr/>
        </p:nvSpPr>
        <p:spPr>
          <a:xfrm>
            <a:off x="612648" y="265176"/>
            <a:ext cx="64008" cy="621792"/>
          </a:xfrm>
          <a:prstGeom prst="rect">
            <a:avLst/>
          </a:prstGeom>
          <a:solidFill>
            <a:srgbClr val="FA5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04" name="TextBox 8903"/>
          <p:cNvSpPr txBox="1"/>
          <p:nvPr/>
        </p:nvSpPr>
        <p:spPr>
          <a:xfrm>
            <a:off x="841248" y="64008"/>
            <a:ext cx="6126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APPENDIX | INDUSTRY MOTIONS</a:t>
            </a:r>
          </a:p>
        </p:txBody>
      </p:sp>
      <p:sp>
        <p:nvSpPr>
          <p:cNvPr id="8905" name="TextBox 8904"/>
          <p:cNvSpPr txBox="1"/>
          <p:nvPr/>
        </p:nvSpPr>
        <p:spPr>
          <a:xfrm>
            <a:off x="841248" y="283464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61623"/>
                </a:solidFill>
                <a:latin typeface="Tiny5"/>
              </a:rPr>
              <a:t>FOUR SECTORS. ONE REPEATABLE MOTION.</a:t>
            </a:r>
          </a:p>
        </p:txBody>
      </p:sp>
      <p:sp>
        <p:nvSpPr>
          <p:cNvPr id="8906" name="TextBox 8905"/>
          <p:cNvSpPr txBox="1"/>
          <p:nvPr/>
        </p:nvSpPr>
        <p:spPr>
          <a:xfrm>
            <a:off x="841248" y="98755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554B"/>
                </a:solidFill>
                <a:latin typeface="Arial"/>
              </a:rPr>
              <a:t>Lead with the operating outcome; answer the dependency objection in the same breath.</a:t>
            </a:r>
          </a:p>
        </p:txBody>
      </p:sp>
      <p:sp>
        <p:nvSpPr>
          <p:cNvPr id="8907" name="Rectangle 8906"/>
          <p:cNvSpPr/>
          <p:nvPr/>
        </p:nvSpPr>
        <p:spPr>
          <a:xfrm>
            <a:off x="841248" y="1408176"/>
            <a:ext cx="8942832" cy="438912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08" name="TextBox 8907"/>
          <p:cNvSpPr txBox="1"/>
          <p:nvPr/>
        </p:nvSpPr>
        <p:spPr>
          <a:xfrm>
            <a:off x="1024128" y="1408176"/>
            <a:ext cx="857707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PROVE THE OUTCOME   →   PACKAGE THE PATTERN   →   REUSE THE EVIDENCE</a:t>
            </a:r>
          </a:p>
        </p:txBody>
      </p:sp>
      <p:sp>
        <p:nvSpPr>
          <p:cNvPr id="8909" name="Rectangle 8908"/>
          <p:cNvSpPr/>
          <p:nvPr/>
        </p:nvSpPr>
        <p:spPr>
          <a:xfrm>
            <a:off x="9784080" y="1408176"/>
            <a:ext cx="1572768" cy="438912"/>
          </a:xfrm>
          <a:prstGeom prst="rect">
            <a:avLst/>
          </a:prstGeom>
          <a:solidFill>
            <a:srgbClr val="FA5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10" name="TextBox 8909"/>
          <p:cNvSpPr txBox="1"/>
          <p:nvPr/>
        </p:nvSpPr>
        <p:spPr>
          <a:xfrm>
            <a:off x="9838944" y="1408176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23"/>
                </a:solidFill>
                <a:latin typeface="Arial"/>
              </a:rPr>
              <a:t>SCALE</a:t>
            </a:r>
          </a:p>
        </p:txBody>
      </p:sp>
      <p:sp>
        <p:nvSpPr>
          <p:cNvPr id="8911" name="Rectangle 8910"/>
          <p:cNvSpPr/>
          <p:nvPr/>
        </p:nvSpPr>
        <p:spPr>
          <a:xfrm>
            <a:off x="612648" y="6547104"/>
            <a:ext cx="11109960" cy="127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12" name="Rectangle 8911"/>
          <p:cNvSpPr/>
          <p:nvPr/>
        </p:nvSpPr>
        <p:spPr>
          <a:xfrm>
            <a:off x="841248" y="2011680"/>
            <a:ext cx="1572768" cy="393192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13" name="TextBox 8912"/>
          <p:cNvSpPr txBox="1"/>
          <p:nvPr/>
        </p:nvSpPr>
        <p:spPr>
          <a:xfrm>
            <a:off x="950976" y="2011680"/>
            <a:ext cx="135331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SECTOR / OUTCOME</a:t>
            </a:r>
          </a:p>
        </p:txBody>
      </p:sp>
      <p:sp>
        <p:nvSpPr>
          <p:cNvPr id="8914" name="Rectangle 8913"/>
          <p:cNvSpPr/>
          <p:nvPr/>
        </p:nvSpPr>
        <p:spPr>
          <a:xfrm>
            <a:off x="2414016" y="2011680"/>
            <a:ext cx="1664208" cy="393192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15" name="TextBox 8914"/>
          <p:cNvSpPr txBox="1"/>
          <p:nvPr/>
        </p:nvSpPr>
        <p:spPr>
          <a:xfrm>
            <a:off x="2523744" y="2011680"/>
            <a:ext cx="144475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ACCOUNT</a:t>
            </a:r>
          </a:p>
        </p:txBody>
      </p:sp>
      <p:sp>
        <p:nvSpPr>
          <p:cNvPr id="8916" name="Rectangle 8915"/>
          <p:cNvSpPr/>
          <p:nvPr/>
        </p:nvSpPr>
        <p:spPr>
          <a:xfrm>
            <a:off x="4078224" y="2011680"/>
            <a:ext cx="2212848" cy="393192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17" name="TextBox 8916"/>
          <p:cNvSpPr txBox="1"/>
          <p:nvPr/>
        </p:nvSpPr>
        <p:spPr>
          <a:xfrm>
            <a:off x="4187952" y="2011680"/>
            <a:ext cx="1993391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POSITIONING</a:t>
            </a:r>
          </a:p>
        </p:txBody>
      </p:sp>
      <p:sp>
        <p:nvSpPr>
          <p:cNvPr id="8918" name="Rectangle 8917"/>
          <p:cNvSpPr/>
          <p:nvPr/>
        </p:nvSpPr>
        <p:spPr>
          <a:xfrm>
            <a:off x="6291072" y="2011680"/>
            <a:ext cx="1783080" cy="393192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19" name="TextBox 8918"/>
          <p:cNvSpPr txBox="1"/>
          <p:nvPr/>
        </p:nvSpPr>
        <p:spPr>
          <a:xfrm>
            <a:off x="6400800" y="2011680"/>
            <a:ext cx="1563624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MOTION</a:t>
            </a:r>
          </a:p>
        </p:txBody>
      </p:sp>
      <p:sp>
        <p:nvSpPr>
          <p:cNvPr id="8920" name="Rectangle 8919"/>
          <p:cNvSpPr/>
          <p:nvPr/>
        </p:nvSpPr>
        <p:spPr>
          <a:xfrm>
            <a:off x="8074152" y="2011680"/>
            <a:ext cx="3282696" cy="393192"/>
          </a:xfrm>
          <a:prstGeom prst="rect">
            <a:avLst/>
          </a:prstGeom>
          <a:solidFill>
            <a:srgbClr val="16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21" name="TextBox 8920"/>
          <p:cNvSpPr txBox="1"/>
          <p:nvPr/>
        </p:nvSpPr>
        <p:spPr>
          <a:xfrm>
            <a:off x="8183879" y="2011680"/>
            <a:ext cx="3063239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OBJECTION → RESPONSE</a:t>
            </a:r>
          </a:p>
        </p:txBody>
      </p:sp>
      <p:sp>
        <p:nvSpPr>
          <p:cNvPr id="8922" name="TextBox 8921"/>
          <p:cNvSpPr txBox="1"/>
          <p:nvPr/>
        </p:nvSpPr>
        <p:spPr>
          <a:xfrm>
            <a:off x="950976" y="2487168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MANUFACTURING</a:t>
            </a:r>
          </a:p>
        </p:txBody>
      </p:sp>
      <p:sp>
        <p:nvSpPr>
          <p:cNvPr id="8923" name="TextBox 8922"/>
          <p:cNvSpPr txBox="1"/>
          <p:nvPr/>
        </p:nvSpPr>
        <p:spPr>
          <a:xfrm>
            <a:off x="950976" y="2944368"/>
            <a:ext cx="13533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54B"/>
                </a:solidFill>
                <a:latin typeface="Arial"/>
              </a:rPr>
              <a:t>Downtime reduction</a:t>
            </a:r>
          </a:p>
        </p:txBody>
      </p:sp>
      <p:sp>
        <p:nvSpPr>
          <p:cNvPr id="8924" name="TextBox 8923"/>
          <p:cNvSpPr txBox="1"/>
          <p:nvPr/>
        </p:nvSpPr>
        <p:spPr>
          <a:xfrm>
            <a:off x="2523744" y="2487168"/>
            <a:ext cx="14447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623"/>
                </a:solidFill>
                <a:latin typeface="Arial"/>
              </a:rPr>
              <a:t>Bosch</a:t>
            </a:r>
          </a:p>
        </p:txBody>
      </p:sp>
      <p:sp>
        <p:nvSpPr>
          <p:cNvPr id="8925" name="TextBox 8924"/>
          <p:cNvSpPr txBox="1"/>
          <p:nvPr/>
        </p:nvSpPr>
        <p:spPr>
          <a:xfrm>
            <a:off x="2523744" y="2770632"/>
            <a:ext cx="144475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54B"/>
                </a:solidFill>
                <a:latin typeface="Arial"/>
              </a:rPr>
              <a:t>CDO, Industrial Transformation</a:t>
            </a:r>
          </a:p>
        </p:txBody>
      </p:sp>
      <p:sp>
        <p:nvSpPr>
          <p:cNvPr id="8926" name="TextBox 8925"/>
          <p:cNvSpPr txBox="1"/>
          <p:nvPr/>
        </p:nvSpPr>
        <p:spPr>
          <a:xfrm>
            <a:off x="4187952" y="2487168"/>
            <a:ext cx="199339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623"/>
                </a:solidFill>
                <a:latin typeface="Arial"/>
              </a:rPr>
              <a:t>Specialized AI beneath product and asset applications</a:t>
            </a:r>
          </a:p>
        </p:txBody>
      </p:sp>
      <p:sp>
        <p:nvSpPr>
          <p:cNvPr id="8927" name="TextBox 8926"/>
          <p:cNvSpPr txBox="1"/>
          <p:nvPr/>
        </p:nvSpPr>
        <p:spPr>
          <a:xfrm>
            <a:off x="6400800" y="2487168"/>
            <a:ext cx="1563624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1623"/>
                </a:solidFill>
                <a:latin typeface="Arial"/>
              </a:rPr>
              <a:t>Lighthouse → replicate</a:t>
            </a:r>
          </a:p>
        </p:txBody>
      </p:sp>
      <p:sp>
        <p:nvSpPr>
          <p:cNvPr id="8928" name="TextBox 8927"/>
          <p:cNvSpPr txBox="1"/>
          <p:nvPr/>
        </p:nvSpPr>
        <p:spPr>
          <a:xfrm>
            <a:off x="8183879" y="2487168"/>
            <a:ext cx="30266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“We build AI internally.”</a:t>
            </a:r>
          </a:p>
        </p:txBody>
      </p:sp>
      <p:sp>
        <p:nvSpPr>
          <p:cNvPr id="8929" name="TextBox 8928"/>
          <p:cNvSpPr txBox="1"/>
          <p:nvPr/>
        </p:nvSpPr>
        <p:spPr>
          <a:xfrm>
            <a:off x="8183879" y="2770632"/>
            <a:ext cx="302666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54B"/>
                </a:solidFill>
                <a:latin typeface="Arial"/>
              </a:rPr>
              <a:t>Keep the app; specialize the intelligence beneath it.</a:t>
            </a:r>
          </a:p>
        </p:txBody>
      </p:sp>
      <p:sp>
        <p:nvSpPr>
          <p:cNvPr id="8930" name="Rectangle 8929"/>
          <p:cNvSpPr/>
          <p:nvPr/>
        </p:nvSpPr>
        <p:spPr>
          <a:xfrm>
            <a:off x="841248" y="3255264"/>
            <a:ext cx="10515600" cy="127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31" name="Rectangle 8930"/>
          <p:cNvSpPr/>
          <p:nvPr/>
        </p:nvSpPr>
        <p:spPr>
          <a:xfrm>
            <a:off x="841248" y="3319272"/>
            <a:ext cx="10515600" cy="832104"/>
          </a:xfrm>
          <a:prstGeom prst="rect">
            <a:avLst/>
          </a:prstGeom>
          <a:solidFill>
            <a:srgbClr val="FE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32" name="TextBox 8931"/>
          <p:cNvSpPr txBox="1"/>
          <p:nvPr/>
        </p:nvSpPr>
        <p:spPr>
          <a:xfrm>
            <a:off x="950976" y="3383280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ENERGY &amp; UTILITIES</a:t>
            </a:r>
          </a:p>
        </p:txBody>
      </p:sp>
      <p:sp>
        <p:nvSpPr>
          <p:cNvPr id="8933" name="TextBox 8932"/>
          <p:cNvSpPr txBox="1"/>
          <p:nvPr/>
        </p:nvSpPr>
        <p:spPr>
          <a:xfrm>
            <a:off x="950976" y="3840480"/>
            <a:ext cx="13533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54B"/>
                </a:solidFill>
                <a:latin typeface="Arial"/>
              </a:rPr>
              <a:t>Asset availability</a:t>
            </a:r>
          </a:p>
        </p:txBody>
      </p:sp>
      <p:sp>
        <p:nvSpPr>
          <p:cNvPr id="8934" name="TextBox 8933"/>
          <p:cNvSpPr txBox="1"/>
          <p:nvPr/>
        </p:nvSpPr>
        <p:spPr>
          <a:xfrm>
            <a:off x="2523744" y="3383280"/>
            <a:ext cx="14447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623"/>
                </a:solidFill>
                <a:latin typeface="Arial"/>
              </a:rPr>
              <a:t>RWE</a:t>
            </a:r>
          </a:p>
        </p:txBody>
      </p:sp>
      <p:sp>
        <p:nvSpPr>
          <p:cNvPr id="8935" name="TextBox 8934"/>
          <p:cNvSpPr txBox="1"/>
          <p:nvPr/>
        </p:nvSpPr>
        <p:spPr>
          <a:xfrm>
            <a:off x="2523744" y="3666744"/>
            <a:ext cx="144475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54B"/>
                </a:solidFill>
                <a:latin typeface="Arial"/>
              </a:rPr>
              <a:t>Head of AI Transformation</a:t>
            </a:r>
          </a:p>
        </p:txBody>
      </p:sp>
      <p:sp>
        <p:nvSpPr>
          <p:cNvPr id="8936" name="TextBox 8935"/>
          <p:cNvSpPr txBox="1"/>
          <p:nvPr/>
        </p:nvSpPr>
        <p:spPr>
          <a:xfrm>
            <a:off x="4187952" y="3383280"/>
            <a:ext cx="199339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623"/>
                </a:solidFill>
                <a:latin typeface="Arial"/>
              </a:rPr>
              <a:t>Reusable intelligence from asset, engineering and market knowledge</a:t>
            </a:r>
          </a:p>
        </p:txBody>
      </p:sp>
      <p:sp>
        <p:nvSpPr>
          <p:cNvPr id="8937" name="TextBox 8936"/>
          <p:cNvSpPr txBox="1"/>
          <p:nvPr/>
        </p:nvSpPr>
        <p:spPr>
          <a:xfrm>
            <a:off x="6400800" y="3383280"/>
            <a:ext cx="1563624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1623"/>
                </a:solidFill>
                <a:latin typeface="Arial"/>
              </a:rPr>
              <a:t>Prove → reuse → platformize</a:t>
            </a:r>
          </a:p>
        </p:txBody>
      </p:sp>
      <p:sp>
        <p:nvSpPr>
          <p:cNvPr id="8938" name="TextBox 8937"/>
          <p:cNvSpPr txBox="1"/>
          <p:nvPr/>
        </p:nvSpPr>
        <p:spPr>
          <a:xfrm>
            <a:off x="8183879" y="3383280"/>
            <a:ext cx="30266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“We already have a hyperscaler.”</a:t>
            </a:r>
          </a:p>
        </p:txBody>
      </p:sp>
      <p:sp>
        <p:nvSpPr>
          <p:cNvPr id="8939" name="TextBox 8938"/>
          <p:cNvSpPr txBox="1"/>
          <p:nvPr/>
        </p:nvSpPr>
        <p:spPr>
          <a:xfrm>
            <a:off x="8183879" y="3666744"/>
            <a:ext cx="302666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54B"/>
                </a:solidFill>
                <a:latin typeface="Arial"/>
              </a:rPr>
              <a:t>Avoid rebuilding domain intelligence for every use case.</a:t>
            </a:r>
          </a:p>
        </p:txBody>
      </p:sp>
      <p:sp>
        <p:nvSpPr>
          <p:cNvPr id="8940" name="Rectangle 8939"/>
          <p:cNvSpPr/>
          <p:nvPr/>
        </p:nvSpPr>
        <p:spPr>
          <a:xfrm>
            <a:off x="841248" y="4151376"/>
            <a:ext cx="10515600" cy="127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41" name="TextBox 8940"/>
          <p:cNvSpPr txBox="1"/>
          <p:nvPr/>
        </p:nvSpPr>
        <p:spPr>
          <a:xfrm>
            <a:off x="950976" y="4279392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PUBLIC SECTOR</a:t>
            </a:r>
          </a:p>
        </p:txBody>
      </p:sp>
      <p:sp>
        <p:nvSpPr>
          <p:cNvPr id="8942" name="TextBox 8941"/>
          <p:cNvSpPr txBox="1"/>
          <p:nvPr/>
        </p:nvSpPr>
        <p:spPr>
          <a:xfrm>
            <a:off x="950976" y="4736592"/>
            <a:ext cx="13533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54B"/>
                </a:solidFill>
                <a:latin typeface="Arial"/>
              </a:rPr>
              <a:t>Approved-pattern adoption</a:t>
            </a:r>
          </a:p>
        </p:txBody>
      </p:sp>
      <p:sp>
        <p:nvSpPr>
          <p:cNvPr id="8943" name="TextBox 8942"/>
          <p:cNvSpPr txBox="1"/>
          <p:nvPr/>
        </p:nvSpPr>
        <p:spPr>
          <a:xfrm>
            <a:off x="2523744" y="4279392"/>
            <a:ext cx="14447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623"/>
                </a:solidFill>
                <a:latin typeface="Arial"/>
              </a:rPr>
              <a:t>AgID (Italy)</a:t>
            </a:r>
          </a:p>
        </p:txBody>
      </p:sp>
      <p:sp>
        <p:nvSpPr>
          <p:cNvPr id="8944" name="TextBox 8943"/>
          <p:cNvSpPr txBox="1"/>
          <p:nvPr/>
        </p:nvSpPr>
        <p:spPr>
          <a:xfrm>
            <a:off x="2523744" y="4562855"/>
            <a:ext cx="144475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54B"/>
                </a:solidFill>
                <a:latin typeface="Arial"/>
              </a:rPr>
              <a:t>National AI sponsor</a:t>
            </a:r>
          </a:p>
        </p:txBody>
      </p:sp>
      <p:sp>
        <p:nvSpPr>
          <p:cNvPr id="8945" name="TextBox 8944"/>
          <p:cNvSpPr txBox="1"/>
          <p:nvPr/>
        </p:nvSpPr>
        <p:spPr>
          <a:xfrm>
            <a:off x="4187952" y="4279392"/>
            <a:ext cx="199339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623"/>
                </a:solidFill>
                <a:latin typeface="Arial"/>
              </a:rPr>
              <a:t>A sovereign foundation each agency specializes for its mission</a:t>
            </a:r>
          </a:p>
        </p:txBody>
      </p:sp>
      <p:sp>
        <p:nvSpPr>
          <p:cNvPr id="8946" name="TextBox 8945"/>
          <p:cNvSpPr txBox="1"/>
          <p:nvPr/>
        </p:nvSpPr>
        <p:spPr>
          <a:xfrm>
            <a:off x="6400800" y="4279392"/>
            <a:ext cx="1563624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1623"/>
                </a:solidFill>
                <a:latin typeface="Arial"/>
              </a:rPr>
              <a:t>Pilot → approve → standardize → scale</a:t>
            </a:r>
          </a:p>
        </p:txBody>
      </p:sp>
      <p:sp>
        <p:nvSpPr>
          <p:cNvPr id="8947" name="TextBox 8946"/>
          <p:cNvSpPr txBox="1"/>
          <p:nvPr/>
        </p:nvSpPr>
        <p:spPr>
          <a:xfrm>
            <a:off x="8183879" y="4279392"/>
            <a:ext cx="30266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“Agencies differ.”</a:t>
            </a:r>
          </a:p>
        </p:txBody>
      </p:sp>
      <p:sp>
        <p:nvSpPr>
          <p:cNvPr id="8948" name="TextBox 8947"/>
          <p:cNvSpPr txBox="1"/>
          <p:nvPr/>
        </p:nvSpPr>
        <p:spPr>
          <a:xfrm>
            <a:off x="8183879" y="4562855"/>
            <a:ext cx="302666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54B"/>
                </a:solidFill>
                <a:latin typeface="Arial"/>
              </a:rPr>
              <a:t>Standardize governance and architecture; customize the mission layer.</a:t>
            </a:r>
          </a:p>
        </p:txBody>
      </p:sp>
      <p:sp>
        <p:nvSpPr>
          <p:cNvPr id="8949" name="Rectangle 8948"/>
          <p:cNvSpPr/>
          <p:nvPr/>
        </p:nvSpPr>
        <p:spPr>
          <a:xfrm>
            <a:off x="841248" y="5047488"/>
            <a:ext cx="10515600" cy="12700"/>
          </a:xfrm>
          <a:prstGeom prst="rect">
            <a:avLst/>
          </a:prstGeom>
          <a:solidFill>
            <a:srgbClr val="E9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50" name="Rectangle 8949"/>
          <p:cNvSpPr/>
          <p:nvPr/>
        </p:nvSpPr>
        <p:spPr>
          <a:xfrm>
            <a:off x="841248" y="5111496"/>
            <a:ext cx="10515600" cy="832104"/>
          </a:xfrm>
          <a:prstGeom prst="rect">
            <a:avLst/>
          </a:prstGeom>
          <a:solidFill>
            <a:srgbClr val="FE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51" name="TextBox 8950"/>
          <p:cNvSpPr txBox="1"/>
          <p:nvPr/>
        </p:nvSpPr>
        <p:spPr>
          <a:xfrm>
            <a:off x="950976" y="5175504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DEFENSE &amp; SECURITY</a:t>
            </a:r>
          </a:p>
        </p:txBody>
      </p:sp>
      <p:sp>
        <p:nvSpPr>
          <p:cNvPr id="8952" name="TextBox 8951"/>
          <p:cNvSpPr txBox="1"/>
          <p:nvPr/>
        </p:nvSpPr>
        <p:spPr>
          <a:xfrm>
            <a:off x="950976" y="5632704"/>
            <a:ext cx="13533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54B"/>
                </a:solidFill>
                <a:latin typeface="Arial"/>
              </a:rPr>
              <a:t>Mission accuracy</a:t>
            </a:r>
          </a:p>
        </p:txBody>
      </p:sp>
      <p:sp>
        <p:nvSpPr>
          <p:cNvPr id="8953" name="TextBox 8952"/>
          <p:cNvSpPr txBox="1"/>
          <p:nvPr/>
        </p:nvSpPr>
        <p:spPr>
          <a:xfrm>
            <a:off x="2523744" y="5175504"/>
            <a:ext cx="14447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623"/>
                </a:solidFill>
                <a:latin typeface="Arial"/>
              </a:rPr>
              <a:t>Leonardo</a:t>
            </a:r>
          </a:p>
        </p:txBody>
      </p:sp>
      <p:sp>
        <p:nvSpPr>
          <p:cNvPr id="8954" name="TextBox 8953"/>
          <p:cNvSpPr txBox="1"/>
          <p:nvPr/>
        </p:nvSpPr>
        <p:spPr>
          <a:xfrm>
            <a:off x="2523744" y="5458968"/>
            <a:ext cx="144475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54B"/>
                </a:solidFill>
                <a:latin typeface="Arial"/>
              </a:rPr>
              <a:t>Cyber &amp; Security leader</a:t>
            </a:r>
          </a:p>
        </p:txBody>
      </p:sp>
      <p:sp>
        <p:nvSpPr>
          <p:cNvPr id="8955" name="TextBox 8954"/>
          <p:cNvSpPr txBox="1"/>
          <p:nvPr/>
        </p:nvSpPr>
        <p:spPr>
          <a:xfrm>
            <a:off x="4187952" y="5175504"/>
            <a:ext cx="199339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623"/>
                </a:solidFill>
                <a:latin typeface="Arial"/>
              </a:rPr>
              <a:t>Mission-specific intelligence without strategic dependency</a:t>
            </a:r>
          </a:p>
        </p:txBody>
      </p:sp>
      <p:sp>
        <p:nvSpPr>
          <p:cNvPr id="8956" name="TextBox 8955"/>
          <p:cNvSpPr txBox="1"/>
          <p:nvPr/>
        </p:nvSpPr>
        <p:spPr>
          <a:xfrm>
            <a:off x="6400800" y="5175504"/>
            <a:ext cx="1563624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1623"/>
                </a:solidFill>
                <a:latin typeface="Arial"/>
              </a:rPr>
              <a:t>Embed → validate → package → co-sell</a:t>
            </a:r>
          </a:p>
        </p:txBody>
      </p:sp>
      <p:sp>
        <p:nvSpPr>
          <p:cNvPr id="8957" name="TextBox 8956"/>
          <p:cNvSpPr txBox="1"/>
          <p:nvPr/>
        </p:nvSpPr>
        <p:spPr>
          <a:xfrm>
            <a:off x="8183879" y="5175504"/>
            <a:ext cx="30266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E3604"/>
                </a:solidFill>
                <a:latin typeface="Arial"/>
              </a:rPr>
              <a:t>“Another vendor dependency.”</a:t>
            </a:r>
          </a:p>
        </p:txBody>
      </p:sp>
      <p:sp>
        <p:nvSpPr>
          <p:cNvPr id="8958" name="TextBox 8957"/>
          <p:cNvSpPr txBox="1"/>
          <p:nvPr/>
        </p:nvSpPr>
        <p:spPr>
          <a:xfrm>
            <a:off x="8183879" y="5458968"/>
            <a:ext cx="302666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54B"/>
                </a:solidFill>
                <a:latin typeface="Arial"/>
              </a:rPr>
              <a:t>The customer retains platform, data and mission ownership.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stral FSI editorial">
  <a:themeElements>
    <a:clrScheme name="Mistral FSI editorial">
      <a:dk1>
        <a:srgbClr val="000000"/>
      </a:dk1>
      <a:lt1>
        <a:srgbClr val="FFFFFF"/>
      </a:lt1>
      <a:dk2>
        <a:srgbClr val="1F1F1F"/>
      </a:dk2>
      <a:lt2>
        <a:srgbClr val="FFFAEB"/>
      </a:lt2>
      <a:accent1>
        <a:srgbClr val="FA520F"/>
      </a:accent1>
      <a:accent2>
        <a:srgbClr val="3767E8"/>
      </a:accent2>
      <a:accent3>
        <a:srgbClr val="17A34A"/>
      </a:accent3>
      <a:accent4>
        <a:srgbClr val="FFD900"/>
      </a:accent4>
      <a:accent5>
        <a:srgbClr val="7B3FF2"/>
      </a:accent5>
      <a:accent6>
        <a:srgbClr val="E86B84"/>
      </a:accent6>
      <a:hlink>
        <a:srgbClr val="3767E8"/>
      </a:hlink>
      <a:folHlink>
        <a:srgbClr val="7B3FF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istral FSI editorial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1066</TotalTime>
  <Words>1235</Words>
  <Application>Microsoft Office PowerPoint</Application>
  <PresentationFormat>Widescreen</PresentationFormat>
  <Paragraphs>267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Tiny5</vt:lpstr>
      <vt:lpstr>Aptos</vt:lpstr>
      <vt:lpstr>Mistral FSI 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Mistral AI Financial Services GTM Strategy</dc:title>
  <dc:subject>Executive GTM deck synthesized from public source URLs and strategy materials</dc:subject>
  <dc:creator>OpenAI</dc:creator>
  <cp:lastModifiedBy>Shivam Singh</cp:lastModifiedBy>
  <cp:revision>361</cp:revision>
  <dcterms:created xsi:type="dcterms:W3CDTF">2026-08-17T19:50:48Z</dcterms:created>
  <dcterms:modified xsi:type="dcterms:W3CDTF">2026-08-18T22:53:28Z</dcterms:modified>
</cp:coreProperties>
</file>