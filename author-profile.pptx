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7796B-6E7C-4F10-9803-11935AD4BC1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7E2B38-EC44-4B44-8575-CA30B2FCCC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Shivam Singh resume variants: AI PMM, AI Product, Growth Marketing, Partner GTM, AI TPM, Strategy. Acronyms defined inline: GTM = go-to-market; PMF = product-market fit; PLG = product-led growth. Slide is designed as an executive spoken answer, not a prep-note checklist.</a:t>
            </a:r>
          </a:p>
          <a:p>
            <a:r>
              <a:rPr lang="en-US"/>
              <a:t>Spoken answer: I turn complex AI platforms into adoption across strategy, product, growth and enterprise GTM. Mistral Studio is the logical next step: it unites fast builder self-service with trusted enterprise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 resume for research-led repositioning, metrics and Japanese localization. AI Product / AI TPM resumes for RAG, evaluations, human-in-the-loop controls and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Product, Partner GTM, Strategy and Investments resumes. PMF = product-market fit. Evidence includes 70+ business units, 50K+ merchants, buy-intelligence/build-context thesis, external foundation model, PII protection, hybrid retrieval, knowledge graph, standalone chatbot discontinuation, adoption/outcomes.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AI PMM, AI Product and Growth Marketing resumes. Acronyms defined inline: PLG = product-led growth; NRR = net revenue retention; ASO = App Store Optimization; RICE = reach, impact, confidence, effort. Evidence includes activation +262%, NRR 102%→128%, churn 14%→6.5%, win-back 4%→22%, lifecycle telemetry, time-to-first-value, cohort analysis, propensity models and campaign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Partner GTM, AI TPM and FinTech Product resumes. FHE = fully homomorphic encryption. Evidence includes regulated customer objections, compliance-as-a-feature messaging, product/engineering/legal/field alignment, FHE→confidential computing pivot, latency 14s→220ms, SOPs across 10+ customer engagements, time-to-compliance 9→3 months, zero breaches, AI ROI +61%, $5M rescue and $2M upsell.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700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22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SHIV | AUTHOR PROFILE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758952"/>
            <a:ext cx="100584" cy="13258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786384" y="722376"/>
            <a:ext cx="996696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I fit Mistral Studio PMM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804672" y="1719072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Translate complex AI platforms into clear customer value.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804672" y="23957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CAREER THREAD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2953512"/>
            <a:ext cx="10268712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601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9601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9601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STRATEGY → SYSTEMS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601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systems and lifecycle growth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6177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6177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GENAI PRODUCT–MARKET 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Positioning, launch readiness and localization at AWS</a:t>
            </a:r>
          </a:p>
        </p:txBody>
      </p:sp>
      <p:sp>
        <p:nvSpPr>
          <p:cNvPr id="29" name="Oval 28"/>
          <p:cNvSpPr/>
          <p:nvPr/>
        </p:nvSpPr>
        <p:spPr>
          <a:xfrm>
            <a:off x="845820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45820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45820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COMMERCIALIZATION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45820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builder clarity to enterprise adoption at scale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09744"/>
            <a:ext cx="12191695" cy="1490472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40080" y="5010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PRODUCT GAP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40080" y="5376672"/>
            <a:ext cx="48920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Teams prototype quickly, but struggle to turn demos into governed workflows users adopt and enterprises trust.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52160" y="5047488"/>
            <a:ext cx="0" cy="941832"/>
          </a:xfrm>
          <a:prstGeom prst="line">
            <a:avLst/>
          </a:prstGeom>
          <a:ln w="12700">
            <a:solidFill>
              <a:srgbClr val="55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6199632" y="501091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MISTRAL / STUDIO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199632" y="5376672"/>
            <a:ext cx="516636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Frontier open models on a production platform.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contribution: make Studio easier to understand, evaluate and adopt.</a:t>
            </a:r>
          </a:p>
        </p:txBody>
      </p:sp>
      <p:pic>
        <p:nvPicPr>
          <p:cNvPr id="39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40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AWS GENAI SHOPPING ASSISTANT · PRODUCT-MARKET FIT &amp; USER TRUST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Positioning: from “chat” to decision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research-led positioning, trust proof and adoption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30222"/>
            <a:ext cx="11155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Define the job users can trust, then prove the promise in the experience.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1078992" y="2258568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BEFORE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58368" y="2587752"/>
            <a:ext cx="28346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“Chat with AI”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3099816"/>
            <a:ext cx="26517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Broad and hard to trust at purchase.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38144" y="2212848"/>
            <a:ext cx="0" cy="158191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776472" y="2221992"/>
            <a:ext cx="3246120" cy="155448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443984" y="2459736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TRUST LOGIC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023360" y="2852928"/>
            <a:ext cx="269748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quality + task evaluations + human review + guardrails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70064" y="2212848"/>
            <a:ext cx="0" cy="1581912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>
            <a:spLocks/>
          </p:cNvSpPr>
          <p:nvPr/>
        </p:nvSpPr>
        <p:spPr>
          <a:xfrm>
            <a:off x="8119872" y="22585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AFTER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699248" y="2587752"/>
            <a:ext cx="39319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“Decide better, faster”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7699248" y="3099816"/>
            <a:ext cx="3566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Focused and actionable at the point of choice.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4160520"/>
            <a:ext cx="1088136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>
            <a:spLocks/>
          </p:cNvSpPr>
          <p:nvPr/>
        </p:nvSpPr>
        <p:spPr>
          <a:xfrm>
            <a:off x="658368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25%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58368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58368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eligible users engaged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61518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281635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55→70%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281635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FAVORABILITY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281635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among exposed users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80974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501091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501091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SESSION DEPTH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501091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deeper engagement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720547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2.8%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720547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HALLUCINATION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720547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evaluated failure rate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98863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940003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JP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940003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LOCALIZATION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940003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tone, tokenization + UX</a:t>
            </a:r>
          </a:p>
        </p:txBody>
      </p:sp>
      <p:sp>
        <p:nvSpPr>
          <p:cNvPr id="90" name="Icon Before"/>
          <p:cNvSpPr/>
          <p:nvPr/>
        </p:nvSpPr>
        <p:spPr>
          <a:xfrm>
            <a:off x="658368" y="2203704"/>
            <a:ext cx="310896" cy="310896"/>
          </a:xfrm>
          <a:prstGeom prst="wedgeEllipseCallout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" name="Icon Trust"/>
          <p:cNvSpPr/>
          <p:nvPr/>
        </p:nvSpPr>
        <p:spPr>
          <a:xfrm>
            <a:off x="4023360" y="2404872"/>
            <a:ext cx="310896" cy="310896"/>
          </a:xfrm>
          <a:prstGeom prst="flowChartDecision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Icon After"/>
          <p:cNvSpPr/>
          <p:nvPr/>
        </p:nvSpPr>
        <p:spPr>
          <a:xfrm>
            <a:off x="7699248" y="2231136"/>
            <a:ext cx="310896" cy="310896"/>
          </a:xfrm>
          <a:prstGeom prst="right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RAKUTEN MERCHANT GENAI PLATFORM · MARKET INTELLIGENCE &amp; MOAT STRATEGY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55504A"/>
                </a:solidFill>
                <a:latin typeface="Arial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555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Market intelligence: context + workflow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market intelligence, moat strategy and platform investment choice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0078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moat was not the model—it was proprietary context + workflow depth + economics + distribution.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408"/>
            <a:ext cx="2743200" cy="8686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76656" y="2258568"/>
            <a:ext cx="21488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DECISION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76656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Buy the model. Build the workflow.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87552" y="305409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PROBLEM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66928" y="3364992"/>
            <a:ext cx="2496312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Easy to launch, but weakly differentiated as model capability became buyable.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2212848"/>
            <a:ext cx="2468880" cy="1591056"/>
          </a:xfrm>
          <a:prstGeom prst="rect">
            <a:avLst/>
          </a:prstGeom>
          <a:solidFill>
            <a:srgbClr val="FBF7E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61888" y="2212848"/>
            <a:ext cx="2468880" cy="1591056"/>
          </a:xfrm>
          <a:prstGeom prst="rect">
            <a:avLst/>
          </a:prstGeom>
          <a:solidFill>
            <a:srgbClr val="FFF0B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493008" y="3803904"/>
            <a:ext cx="2468880" cy="1591056"/>
          </a:xfrm>
          <a:prstGeom prst="rect">
            <a:avLst/>
          </a:prstGeom>
          <a:solidFill>
            <a:srgbClr val="F0E8DA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61888" y="3803904"/>
            <a:ext cx="2468880" cy="1591056"/>
          </a:xfrm>
          <a:prstGeom prst="rect">
            <a:avLst/>
          </a:prstGeom>
          <a:solidFill>
            <a:srgbClr val="FFE3B3"/>
          </a:solidFill>
          <a:ln w="254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3712463" y="24323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3712463" y="4032504"/>
            <a:ext cx="19659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CONTEXT
LOW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2432304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6217920" y="4032504"/>
            <a:ext cx="10515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CHOSEN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217920" y="4315968"/>
            <a:ext cx="1874519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
workflows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217920" y="4919472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Recurring merchant tasks</a:t>
            </a:r>
          </a:p>
        </p:txBody>
      </p:sp>
      <p:sp>
        <p:nvSpPr>
          <p:cNvPr id="36" name="Oval 35"/>
          <p:cNvSpPr/>
          <p:nvPr/>
        </p:nvSpPr>
        <p:spPr>
          <a:xfrm>
            <a:off x="3877056" y="4892040"/>
            <a:ext cx="210312" cy="210312"/>
          </a:xfrm>
          <a:prstGeom prst="ellipse">
            <a:avLst/>
          </a:prstGeom>
          <a:solidFill>
            <a:srgbClr val="E72500"/>
          </a:solidFill>
          <a:ln w="12700">
            <a:solidFill>
              <a:srgbClr val="E7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206240" y="4700016"/>
            <a:ext cx="1463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Standalone chatbot
visibly lost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3419856" y="2002536"/>
            <a:ext cx="2468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PROPRIETARY CONTEXT ↑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5358383" y="5468112"/>
            <a:ext cx="2651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WORKFLOW INTEGRATION →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9272016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 PROOF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851392" y="2670048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50K+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10104120" y="2697479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MERCHANTS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04120" y="2980943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scale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51392" y="3273552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8851392" y="3383280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40%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0104120" y="3410712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104120" y="3694176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six months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51392" y="3986784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851392" y="4096512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0104120" y="4123944"/>
            <a:ext cx="11887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 CVR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104120" y="4507992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conversion lift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51392" y="4700016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>
            <a:spLocks/>
          </p:cNvSpPr>
          <p:nvPr/>
        </p:nvSpPr>
        <p:spPr>
          <a:xfrm>
            <a:off x="8851392" y="4809744"/>
            <a:ext cx="1417320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45→12m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0314432" y="4837176"/>
            <a:ext cx="10241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LISTING TIME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10314432" y="5120640"/>
            <a:ext cx="10241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manual time reduced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Architecture: external model + PII protection + hybrid retrieval + unified knowledge graph.</a:t>
            </a:r>
          </a:p>
        </p:txBody>
      </p:sp>
      <p:sp>
        <p:nvSpPr>
          <p:cNvPr id="93" name="Icon Problem"/>
          <p:cNvSpPr/>
          <p:nvPr/>
        </p:nvSpPr>
        <p:spPr>
          <a:xfrm>
            <a:off x="566928" y="3035808"/>
            <a:ext cx="274320" cy="27432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Icon Proof"/>
          <p:cNvSpPr/>
          <p:nvPr/>
        </p:nvSpPr>
        <p:spPr>
          <a:xfrm>
            <a:off x="8851392" y="2194560"/>
            <a:ext cx="310896" cy="310896"/>
          </a:xfrm>
          <a:prstGeom prst="up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6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DEVELOPER / BUSINESS AI PLATFORM · PLG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Self-service growth: product drives the funnel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growth strategy, lifecycle design and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 self-service, marketing continues in-product: onboarding, first value, retention and expansion must prove the promise.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" y="2788920"/>
            <a:ext cx="10149840" cy="0"/>
          </a:xfrm>
          <a:prstGeom prst="line">
            <a:avLst/>
          </a:prstGeom>
          <a:ln w="508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40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00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14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LinkedIn, Google, PR,
organic and ASO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" y="3986784"/>
            <a:ext cx="0" cy="384048"/>
          </a:xfrm>
          <a:prstGeom prst="line">
            <a:avLst/>
          </a:prstGeom>
          <a:ln w="25400">
            <a:solidFill>
              <a:srgbClr val="E72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>
            <a:spLocks/>
          </p:cNvSpPr>
          <p:nvPr/>
        </p:nvSpPr>
        <p:spPr>
          <a:xfrm>
            <a:off x="45720" y="4507992"/>
            <a:ext cx="18288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top-of-funnel demand</a:t>
            </a:r>
          </a:p>
        </p:txBody>
      </p:sp>
      <p:sp>
        <p:nvSpPr>
          <p:cNvPr id="27" name="Oval 26"/>
          <p:cNvSpPr/>
          <p:nvPr/>
        </p:nvSpPr>
        <p:spPr>
          <a:xfrm>
            <a:off x="3218687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2834639" y="224028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2606039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 run: understand
the promise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74720" y="3986784"/>
            <a:ext cx="0" cy="384048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>
            <a:spLocks/>
          </p:cNvSpPr>
          <p:nvPr/>
        </p:nvSpPr>
        <p:spPr>
          <a:xfrm>
            <a:off x="25603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first-run clarity</a:t>
            </a:r>
          </a:p>
        </p:txBody>
      </p:sp>
      <p:sp>
        <p:nvSpPr>
          <p:cNvPr id="32" name="Oval 31"/>
          <p:cNvSpPr/>
          <p:nvPr/>
        </p:nvSpPr>
        <p:spPr>
          <a:xfrm>
            <a:off x="5733288" y="2532888"/>
            <a:ext cx="512064" cy="512064"/>
          </a:xfrm>
          <a:prstGeom prst="ellipse">
            <a:avLst/>
          </a:prstGeom>
          <a:solidFill>
            <a:srgbClr val="FF6A00"/>
          </a:solidFill>
          <a:ln w="12700"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5349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ACTIVATE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51206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Complete a
meaningful task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89320" y="3986784"/>
            <a:ext cx="0" cy="384048"/>
          </a:xfrm>
          <a:prstGeom prst="line">
            <a:avLst/>
          </a:prstGeom>
          <a:ln w="254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>
            <a:spLocks/>
          </p:cNvSpPr>
          <p:nvPr/>
        </p:nvSpPr>
        <p:spPr>
          <a:xfrm>
            <a:off x="5074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6A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activation +262%</a:t>
            </a:r>
          </a:p>
        </p:txBody>
      </p:sp>
      <p:sp>
        <p:nvSpPr>
          <p:cNvPr id="37" name="Oval 36"/>
          <p:cNvSpPr/>
          <p:nvPr/>
        </p:nvSpPr>
        <p:spPr>
          <a:xfrm>
            <a:off x="80192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7635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RETAIN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7406640" y="324612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Cohort loops + lifecycle
interventions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75320" y="3986784"/>
            <a:ext cx="0" cy="384048"/>
          </a:xfrm>
          <a:prstGeom prst="line">
            <a:avLst/>
          </a:prstGeom>
          <a:ln w="25400">
            <a:solidFill>
              <a:srgbClr val="FFC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7360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churn 14→6.5%</a:t>
            </a:r>
          </a:p>
        </p:txBody>
      </p:sp>
      <p:sp>
        <p:nvSpPr>
          <p:cNvPr id="42" name="Oval 41"/>
          <p:cNvSpPr/>
          <p:nvPr/>
        </p:nvSpPr>
        <p:spPr>
          <a:xfrm>
            <a:off x="105338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498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EXPAND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99212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Propensity models +
win-back paths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89920" y="3986784"/>
            <a:ext cx="0" cy="384048"/>
          </a:xfrm>
          <a:prstGeom prst="line">
            <a:avLst/>
          </a:prstGeom>
          <a:ln w="25400">
            <a:solidFill>
              <a:srgbClr val="FFB5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875520" y="4389120"/>
            <a:ext cx="1828800" cy="9326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B52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102→128%
win-back 4→22%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5468112"/>
            <a:ext cx="10972800" cy="5669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868680" y="5611627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Demand creates the visit. Product experience earns activation, retention and expansion.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= net revenue retention; activation = meaningful first value; churn = users leaving; win-back = returning lost users.</a:t>
            </a:r>
          </a:p>
        </p:txBody>
      </p:sp>
      <p:sp>
        <p:nvSpPr>
          <p:cNvPr id="95" name="Stage Glyph 0"/>
          <p:cNvSpPr/>
          <p:nvPr/>
        </p:nvSpPr>
        <p:spPr>
          <a:xfrm>
            <a:off x="841248" y="2670048"/>
            <a:ext cx="237744" cy="237744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tage Glyph 1"/>
          <p:cNvSpPr/>
          <p:nvPr/>
        </p:nvSpPr>
        <p:spPr>
          <a:xfrm>
            <a:off x="3355848" y="2670048"/>
            <a:ext cx="237744" cy="237744"/>
          </a:xfrm>
          <a:prstGeom prst="flowChartDecisio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tage Glyph 2"/>
          <p:cNvSpPr/>
          <p:nvPr/>
        </p:nvSpPr>
        <p:spPr>
          <a:xfrm>
            <a:off x="5870448" y="2670048"/>
            <a:ext cx="237744" cy="237744"/>
          </a:xfrm>
          <a:prstGeom prst="lightningBol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" name="Stage Glyph 3"/>
          <p:cNvSpPr/>
          <p:nvPr/>
        </p:nvSpPr>
        <p:spPr>
          <a:xfrm>
            <a:off x="8156448" y="2670048"/>
            <a:ext cx="237744" cy="237744"/>
          </a:xfrm>
          <a:prstGeom prst="circular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Stage Glyph 4"/>
          <p:cNvSpPr/>
          <p:nvPr/>
        </p:nvSpPr>
        <p:spPr>
          <a:xfrm>
            <a:off x="10671048" y="2670048"/>
            <a:ext cx="237744" cy="237744"/>
          </a:xfrm>
          <a:prstGeom prst="up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101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REGULATED CLOUD / AI PLATFORM · FIELD ENABLEMENT &amp; ENTERPRISE GTM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Field enablement: turn blockers into field plays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GTM for regulated financial-services deployments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When one objection blocks many deals, solve it with product and engineering, then give the field a repeatable response.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>
            <a:spLocks/>
          </p:cNvSpPr>
          <p:nvPr/>
        </p:nvSpPr>
        <p:spPr>
          <a:xfrm>
            <a:off x="122529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1225296" y="24414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CUSTOMER BLOCKERS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40080" y="3127248"/>
            <a:ext cx="2788920" cy="6309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financial-services buyers asked: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858768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96112" y="3785616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Where does data live?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4425696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96112" y="4352544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Who controls access?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4992624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96112" y="4919472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Can this satisfy local rules?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559552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96112" y="5486400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Will latency work in production?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70001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00016" y="24414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PRODUCTIZED ANSWER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14800" y="3127248"/>
            <a:ext cx="329184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playbook: deployment patterns, partner requirements, technical gates and SOPs aligned product, engineering, legal and field.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14800" y="4151376"/>
            <a:ext cx="32918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Technical unlock: replaced FHE with confidential computing to run secure architecture at production latency.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14800" y="4956048"/>
            <a:ext cx="3337560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>
            <a:spLocks/>
          </p:cNvSpPr>
          <p:nvPr/>
        </p:nvSpPr>
        <p:spPr>
          <a:xfrm>
            <a:off x="4114800" y="5157216"/>
            <a:ext cx="33375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14s → 220ms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4114800" y="5742432"/>
            <a:ext cx="3337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secure production latency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759952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8759952" y="24414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FIELD PROOF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8156448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10+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8156448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engagements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56448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966960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9→3 mo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9966960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time-to-compliance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156448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$5M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8156448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account rescued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56448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>
            <a:spLocks/>
          </p:cNvSpPr>
          <p:nvPr/>
        </p:nvSpPr>
        <p:spPr>
          <a:xfrm>
            <a:off x="9966960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$2M</a:t>
            </a:r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9966960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expansion won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66960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>
            <a:spLocks/>
          </p:cNvSpPr>
          <p:nvPr/>
        </p:nvSpPr>
        <p:spPr>
          <a:xfrm>
            <a:off x="8156448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56" name="TextBox 55"/>
          <p:cNvSpPr txBox="1">
            <a:spLocks/>
          </p:cNvSpPr>
          <p:nvPr/>
        </p:nvSpPr>
        <p:spPr>
          <a:xfrm>
            <a:off x="8156448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breaches</a:t>
            </a:r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9966960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+61%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9966960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ROI</a:t>
            </a:r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Definitions: FHE = fully homomorphic encryption; AI ROI = benefit-to-cost improvement.</a:t>
            </a:r>
          </a:p>
        </p:txBody>
      </p:sp>
      <p:sp>
        <p:nvSpPr>
          <p:cNvPr id="80" name="Icon Blockers"/>
          <p:cNvSpPr/>
          <p:nvPr/>
        </p:nvSpPr>
        <p:spPr>
          <a:xfrm>
            <a:off x="621792" y="2212848"/>
            <a:ext cx="457200" cy="45720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" name="Icon Answer"/>
          <p:cNvSpPr/>
          <p:nvPr/>
        </p:nvSpPr>
        <p:spPr>
          <a:xfrm>
            <a:off x="4078224" y="2194559"/>
            <a:ext cx="493776" cy="493776"/>
          </a:xfrm>
          <a:prstGeom prst="gear6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Icon Proof"/>
          <p:cNvSpPr/>
          <p:nvPr/>
        </p:nvSpPr>
        <p:spPr>
          <a:xfrm>
            <a:off x="8174736" y="2212848"/>
            <a:ext cx="457200" cy="457200"/>
          </a:xfrm>
          <a:prstGeom prst="upArrow">
            <a:avLst/>
          </a:prstGeom>
          <a:solidFill>
            <a:srgbClr val="FFC4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8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1037</Words>
  <Application>Microsoft Office PowerPoint</Application>
  <PresentationFormat>Widescreen</PresentationFormat>
  <Paragraphs>144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Aptos</vt:lpstr>
      <vt:lpstr>Arial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 AI - Author Profile &amp; Team Background</dc:title>
  <dc:subject>Author profile background and team bios</dc:subject>
  <dc:creator>Shiv, Prospective PMM, Mistral Studio</dc:creator>
  <cp:keywords>mistral-ai, author-profile, team, background</cp:keywords>
  <cp:lastModifiedBy>Shivam Singh</cp:lastModifiedBy>
  <cp:revision>5</cp:revision>
  <dcterms:created xsi:type="dcterms:W3CDTF">2026-08-16T20:55:47Z</dcterms:created>
  <dcterms:modified xsi:type="dcterms:W3CDTF">2026-08-17T11:45:00Z</dcterms:modified>
</cp:coreProperties>
</file>