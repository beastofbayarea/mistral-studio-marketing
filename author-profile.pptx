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9467" autoAdjust="0"/>
  </p:normalViewPr>
  <p:slideViewPr>
    <p:cSldViewPr snapToGrid="0">
      <p:cViewPr varScale="1">
        <p:scale>
          <a:sx n="99" d="100"/>
          <a:sy n="99" d="100"/>
        </p:scale>
        <p:origin x="10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7796B-6E7C-4F10-9803-11935AD4BC1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7E2B38-EC44-4B44-8575-CA30B2FCCC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16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1700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226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SHIV | AUTHOR PROFILE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758952"/>
            <a:ext cx="100584" cy="13258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786384" y="722376"/>
            <a:ext cx="996696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I fit Mistral Studio PMM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804672" y="1719072"/>
            <a:ext cx="8869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Translate complex AI platforms into clear customer value.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804672" y="239572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CAREER THREAD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2953512"/>
            <a:ext cx="10268712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601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9601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9601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STRATEGY → SYSTEMS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601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systems and lifecycle growth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61772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61772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GENAI PRODUCT–MARKET 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Positioning, launch readiness and localization at AWS</a:t>
            </a:r>
          </a:p>
        </p:txBody>
      </p:sp>
      <p:sp>
        <p:nvSpPr>
          <p:cNvPr id="29" name="Oval 28"/>
          <p:cNvSpPr/>
          <p:nvPr/>
        </p:nvSpPr>
        <p:spPr>
          <a:xfrm>
            <a:off x="8458200" y="2761488"/>
            <a:ext cx="384048" cy="384048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8458200" y="2825496"/>
            <a:ext cx="38404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458200" y="326440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COMMERCIALIZATION</a:t>
            </a:r>
          </a:p>
        </p:txBody>
      </p:sp>
      <p:sp>
        <p:nvSpPr>
          <p:cNvPr id="32" name="TextBox 31"/>
          <p:cNvSpPr txBox="1">
            <a:spLocks/>
          </p:cNvSpPr>
          <p:nvPr/>
        </p:nvSpPr>
        <p:spPr>
          <a:xfrm>
            <a:off x="8458200" y="3584448"/>
            <a:ext cx="3063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From builder clarity to enterprise adoption at scale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09744"/>
            <a:ext cx="12191695" cy="1490472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40080" y="5010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PRODUCT GAP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40080" y="5376672"/>
            <a:ext cx="48920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Teams prototype quickly, but struggle to turn demos into governed workflows users adopt and enterprises trust.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52160" y="5047488"/>
            <a:ext cx="0" cy="941832"/>
          </a:xfrm>
          <a:prstGeom prst="line">
            <a:avLst/>
          </a:prstGeom>
          <a:ln w="12700">
            <a:solidFill>
              <a:srgbClr val="555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6199632" y="501091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WHY MISTRAL / STUDIO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6199632" y="5376672"/>
            <a:ext cx="5166360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Frontier open models on a production platform.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contribution: make Studio easier to understand, evaluate and adopt.</a:t>
            </a:r>
          </a:p>
        </p:txBody>
      </p:sp>
      <p:pic>
        <p:nvPicPr>
          <p:cNvPr id="39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40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AWS GENAI SHOPPING ASSISTANT · PRODUCT-MARKET FIT &amp; USER TRUST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Positioning: from “chat” to decision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research-led positioning, trust proof and adoption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30222"/>
            <a:ext cx="11155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Define the job users can trust, then prove the promise in the experience.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1078992" y="2258568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BEFORE</a:t>
            </a: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58368" y="2587752"/>
            <a:ext cx="28346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“Chat with AI”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58368" y="3099816"/>
            <a:ext cx="26517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Broad and hard to trust at purchase.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38144" y="2212848"/>
            <a:ext cx="0" cy="158191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776472" y="2221992"/>
            <a:ext cx="3246120" cy="155448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4443984" y="2459736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USER TRUST LOGIC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4023360" y="2852928"/>
            <a:ext cx="2697480" cy="78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Retrieval quality + task evaluations + human review + guardrails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70064" y="2212848"/>
            <a:ext cx="0" cy="1581912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>
            <a:spLocks/>
          </p:cNvSpPr>
          <p:nvPr/>
        </p:nvSpPr>
        <p:spPr>
          <a:xfrm>
            <a:off x="8119872" y="225856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AFTER</a:t>
            </a: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7699248" y="2587752"/>
            <a:ext cx="39319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“Decide better, faster”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7699248" y="3099816"/>
            <a:ext cx="35661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Focused and actionable at the point of choice.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4160520"/>
            <a:ext cx="1088136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>
            <a:spLocks/>
          </p:cNvSpPr>
          <p:nvPr/>
        </p:nvSpPr>
        <p:spPr>
          <a:xfrm>
            <a:off x="658368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25%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58368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58368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eligible users engaged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61518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>
            <a:spLocks/>
          </p:cNvSpPr>
          <p:nvPr/>
        </p:nvSpPr>
        <p:spPr>
          <a:xfrm>
            <a:off x="281635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55→70%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281635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FAVORABILITY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281635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among exposed users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80974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501091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501091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SESSION DEPTH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501091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deeper engagement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04304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720547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2.8%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720547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HALLUCINATION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720547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evaluated failure rate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98863" y="4498848"/>
            <a:ext cx="0" cy="1307592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9400032" y="4462272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JP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9400032" y="5001768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LOCALIZATION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9400032" y="5330952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tone, tokenization + UX</a:t>
            </a:r>
          </a:p>
        </p:txBody>
      </p:sp>
      <p:sp>
        <p:nvSpPr>
          <p:cNvPr id="90" name="Icon Before"/>
          <p:cNvSpPr/>
          <p:nvPr/>
        </p:nvSpPr>
        <p:spPr>
          <a:xfrm>
            <a:off x="658368" y="2203704"/>
            <a:ext cx="310896" cy="310896"/>
          </a:xfrm>
          <a:prstGeom prst="wedgeEllipseCallout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" name="Icon Trust"/>
          <p:cNvSpPr/>
          <p:nvPr/>
        </p:nvSpPr>
        <p:spPr>
          <a:xfrm>
            <a:off x="4023360" y="2404872"/>
            <a:ext cx="310896" cy="310896"/>
          </a:xfrm>
          <a:prstGeom prst="flowChartDecision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Icon After"/>
          <p:cNvSpPr/>
          <p:nvPr/>
        </p:nvSpPr>
        <p:spPr>
          <a:xfrm>
            <a:off x="7699248" y="2231136"/>
            <a:ext cx="310896" cy="310896"/>
          </a:xfrm>
          <a:prstGeom prst="right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RAKUTEN MERCHANT GENAI PLATFORM · MARKET INTELLIGENCE &amp; MOAT STRATEGY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55504A"/>
                </a:solidFill>
                <a:latin typeface="Arial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555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Market intelligence: context + workflow won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market intelligence, moat strategy and platform investment choice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700784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moat was not the model—it was proprietary context + workflow depth + economics + distribution.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408"/>
            <a:ext cx="2743200" cy="86868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76656" y="2258568"/>
            <a:ext cx="214884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DECISION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76656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Buy the model. Build the workflow.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87552" y="3054096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PROBLEM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566928" y="3364992"/>
            <a:ext cx="2496312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Easy to launch, but weakly differentiated as model capability became buyable.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93008" y="2212848"/>
            <a:ext cx="2468880" cy="1591056"/>
          </a:xfrm>
          <a:prstGeom prst="rect">
            <a:avLst/>
          </a:prstGeom>
          <a:solidFill>
            <a:srgbClr val="FBF7E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61888" y="2212848"/>
            <a:ext cx="2468880" cy="1591056"/>
          </a:xfrm>
          <a:prstGeom prst="rect">
            <a:avLst/>
          </a:prstGeom>
          <a:solidFill>
            <a:srgbClr val="FFF0BF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493008" y="3803904"/>
            <a:ext cx="2468880" cy="1591056"/>
          </a:xfrm>
          <a:prstGeom prst="rect">
            <a:avLst/>
          </a:prstGeom>
          <a:solidFill>
            <a:srgbClr val="F0E8DA"/>
          </a:solidFill>
          <a:ln w="12700">
            <a:solidFill>
              <a:srgbClr val="E5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61888" y="3803904"/>
            <a:ext cx="2468880" cy="1591056"/>
          </a:xfrm>
          <a:prstGeom prst="rect">
            <a:avLst/>
          </a:prstGeom>
          <a:solidFill>
            <a:srgbClr val="FFE3B3"/>
          </a:solidFill>
          <a:ln w="254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Box 29"/>
          <p:cNvSpPr txBox="1">
            <a:spLocks/>
          </p:cNvSpPr>
          <p:nvPr/>
        </p:nvSpPr>
        <p:spPr>
          <a:xfrm>
            <a:off x="3712463" y="24323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3712463" y="4032504"/>
            <a:ext cx="19659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LOW CONTEXT
LOW 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2432304"/>
            <a:ext cx="1965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HIGH CONTEXT
LOW WORKFLOW</a:t>
            </a: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6217920" y="4032504"/>
            <a:ext cx="105156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CHOSEN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6217920" y="4315968"/>
            <a:ext cx="1874519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
workflows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6217920" y="4919472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Recurring merchant tasks</a:t>
            </a:r>
          </a:p>
        </p:txBody>
      </p:sp>
      <p:sp>
        <p:nvSpPr>
          <p:cNvPr id="36" name="Oval 35"/>
          <p:cNvSpPr/>
          <p:nvPr/>
        </p:nvSpPr>
        <p:spPr>
          <a:xfrm>
            <a:off x="3877056" y="4892040"/>
            <a:ext cx="210312" cy="210312"/>
          </a:xfrm>
          <a:prstGeom prst="ellipse">
            <a:avLst/>
          </a:prstGeom>
          <a:solidFill>
            <a:srgbClr val="E72500"/>
          </a:solidFill>
          <a:ln w="12700">
            <a:solidFill>
              <a:srgbClr val="E72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206240" y="4700016"/>
            <a:ext cx="14630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Standalone chatbot
visibly lost</a:t>
            </a: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3419856" y="2002536"/>
            <a:ext cx="2468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PROPRIETARY CONTEXT ↑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5358383" y="5468112"/>
            <a:ext cx="26517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WORKFLOW INTEGRATION →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9272016" y="224942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COMMERCIAL PROOF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851392" y="2670048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50K+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10104120" y="2697479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MERCHANTS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04120" y="2980943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scale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51392" y="3273552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>
            <a:spLocks/>
          </p:cNvSpPr>
          <p:nvPr/>
        </p:nvSpPr>
        <p:spPr>
          <a:xfrm>
            <a:off x="8851392" y="3383280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40%</a:t>
            </a:r>
          </a:p>
        </p:txBody>
      </p:sp>
      <p:sp>
        <p:nvSpPr>
          <p:cNvPr id="46" name="TextBox 45"/>
          <p:cNvSpPr txBox="1">
            <a:spLocks/>
          </p:cNvSpPr>
          <p:nvPr/>
        </p:nvSpPr>
        <p:spPr>
          <a:xfrm>
            <a:off x="10104120" y="3410712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ADOPTION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10104120" y="3694176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six months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51392" y="3986784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851392" y="4096512"/>
            <a:ext cx="1225296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+15%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10104120" y="4123944"/>
            <a:ext cx="11887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MERCHANT CVR</a:t>
            </a:r>
          </a:p>
        </p:txBody>
      </p:sp>
      <p:sp>
        <p:nvSpPr>
          <p:cNvPr id="51" name="TextBox 50"/>
          <p:cNvSpPr txBox="1">
            <a:spLocks/>
          </p:cNvSpPr>
          <p:nvPr/>
        </p:nvSpPr>
        <p:spPr>
          <a:xfrm>
            <a:off x="10104120" y="4507992"/>
            <a:ext cx="1188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conversion lift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51392" y="4700016"/>
            <a:ext cx="2487168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>
            <a:spLocks/>
          </p:cNvSpPr>
          <p:nvPr/>
        </p:nvSpPr>
        <p:spPr>
          <a:xfrm>
            <a:off x="8851392" y="4809744"/>
            <a:ext cx="1417320" cy="4297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45→12m</a:t>
            </a:r>
          </a:p>
        </p:txBody>
      </p:sp>
      <p:sp>
        <p:nvSpPr>
          <p:cNvPr id="54" name="TextBox 53"/>
          <p:cNvSpPr txBox="1">
            <a:spLocks/>
          </p:cNvSpPr>
          <p:nvPr/>
        </p:nvSpPr>
        <p:spPr>
          <a:xfrm>
            <a:off x="10314432" y="4837176"/>
            <a:ext cx="10241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LISTING TIME</a:t>
            </a:r>
          </a:p>
        </p:txBody>
      </p:sp>
      <p:sp>
        <p:nvSpPr>
          <p:cNvPr id="55" name="TextBox 54"/>
          <p:cNvSpPr txBox="1">
            <a:spLocks/>
          </p:cNvSpPr>
          <p:nvPr/>
        </p:nvSpPr>
        <p:spPr>
          <a:xfrm>
            <a:off x="10314432" y="5120640"/>
            <a:ext cx="102412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manual time reduced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Architecture: external model + PII protection + hybrid retrieval + unified knowledge graph.</a:t>
            </a:r>
          </a:p>
        </p:txBody>
      </p:sp>
      <p:sp>
        <p:nvSpPr>
          <p:cNvPr id="93" name="Icon Problem"/>
          <p:cNvSpPr/>
          <p:nvPr/>
        </p:nvSpPr>
        <p:spPr>
          <a:xfrm>
            <a:off x="566928" y="3035808"/>
            <a:ext cx="274320" cy="27432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Icon Proof"/>
          <p:cNvSpPr/>
          <p:nvPr/>
        </p:nvSpPr>
        <p:spPr>
          <a:xfrm>
            <a:off x="8851392" y="2194560"/>
            <a:ext cx="310896" cy="310896"/>
          </a:xfrm>
          <a:prstGeom prst="upArrow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96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DEVELOPER / BUSINESS AI PLATFORM · PLG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Self-service growth: product drives the funnel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growth strategy, lifecycle design and measurement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 self-service, marketing continues in-product: onboarding, first value, retention and expansion must prove the promise.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0120" y="2788920"/>
            <a:ext cx="10149840" cy="0"/>
          </a:xfrm>
          <a:prstGeom prst="line">
            <a:avLst/>
          </a:prstGeom>
          <a:ln w="508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040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3200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DISCOVER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914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LinkedIn, Google, PR,
organic and ASO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0120" y="3986784"/>
            <a:ext cx="0" cy="384048"/>
          </a:xfrm>
          <a:prstGeom prst="line">
            <a:avLst/>
          </a:prstGeom>
          <a:ln w="25400">
            <a:solidFill>
              <a:srgbClr val="E72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>
            <a:spLocks/>
          </p:cNvSpPr>
          <p:nvPr/>
        </p:nvSpPr>
        <p:spPr>
          <a:xfrm>
            <a:off x="45720" y="4507992"/>
            <a:ext cx="18288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E725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top-of-funnel demand</a:t>
            </a:r>
          </a:p>
        </p:txBody>
      </p:sp>
      <p:sp>
        <p:nvSpPr>
          <p:cNvPr id="27" name="Oval 26"/>
          <p:cNvSpPr/>
          <p:nvPr/>
        </p:nvSpPr>
        <p:spPr>
          <a:xfrm>
            <a:off x="3218687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TextBox 27"/>
          <p:cNvSpPr txBox="1">
            <a:spLocks/>
          </p:cNvSpPr>
          <p:nvPr/>
        </p:nvSpPr>
        <p:spPr>
          <a:xfrm>
            <a:off x="2834639" y="224028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EVALUATE</a:t>
            </a: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2606039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 run: understand
the promise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74720" y="3986784"/>
            <a:ext cx="0" cy="384048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>
            <a:spLocks/>
          </p:cNvSpPr>
          <p:nvPr/>
        </p:nvSpPr>
        <p:spPr>
          <a:xfrm>
            <a:off x="25603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first-run clarity</a:t>
            </a:r>
          </a:p>
        </p:txBody>
      </p:sp>
      <p:sp>
        <p:nvSpPr>
          <p:cNvPr id="32" name="Oval 31"/>
          <p:cNvSpPr/>
          <p:nvPr/>
        </p:nvSpPr>
        <p:spPr>
          <a:xfrm>
            <a:off x="5733288" y="2532888"/>
            <a:ext cx="512064" cy="512064"/>
          </a:xfrm>
          <a:prstGeom prst="ellipse">
            <a:avLst/>
          </a:prstGeom>
          <a:solidFill>
            <a:srgbClr val="FF6A00"/>
          </a:solidFill>
          <a:ln w="12700"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5349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ACTIVATE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51206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Complete a
meaningful task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89320" y="3986784"/>
            <a:ext cx="0" cy="384048"/>
          </a:xfrm>
          <a:prstGeom prst="line">
            <a:avLst/>
          </a:prstGeom>
          <a:ln w="25400">
            <a:solidFill>
              <a:srgbClr val="FF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>
            <a:spLocks/>
          </p:cNvSpPr>
          <p:nvPr/>
        </p:nvSpPr>
        <p:spPr>
          <a:xfrm>
            <a:off x="5074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6A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activation +262%</a:t>
            </a:r>
          </a:p>
        </p:txBody>
      </p:sp>
      <p:sp>
        <p:nvSpPr>
          <p:cNvPr id="37" name="Oval 36"/>
          <p:cNvSpPr/>
          <p:nvPr/>
        </p:nvSpPr>
        <p:spPr>
          <a:xfrm>
            <a:off x="80192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TextBox 37"/>
          <p:cNvSpPr txBox="1">
            <a:spLocks/>
          </p:cNvSpPr>
          <p:nvPr/>
        </p:nvSpPr>
        <p:spPr>
          <a:xfrm>
            <a:off x="76352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RETAIN</a:t>
            </a:r>
          </a:p>
        </p:txBody>
      </p:sp>
      <p:sp>
        <p:nvSpPr>
          <p:cNvPr id="39" name="TextBox 38"/>
          <p:cNvSpPr txBox="1">
            <a:spLocks/>
          </p:cNvSpPr>
          <p:nvPr/>
        </p:nvSpPr>
        <p:spPr>
          <a:xfrm>
            <a:off x="7406640" y="3246120"/>
            <a:ext cx="173736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Cohort loops + lifecycle
interventions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75320" y="3986784"/>
            <a:ext cx="0" cy="384048"/>
          </a:xfrm>
          <a:prstGeom prst="line">
            <a:avLst/>
          </a:prstGeom>
          <a:ln w="25400">
            <a:solidFill>
              <a:srgbClr val="FFC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>
            <a:spLocks/>
          </p:cNvSpPr>
          <p:nvPr/>
        </p:nvSpPr>
        <p:spPr>
          <a:xfrm>
            <a:off x="7360920" y="4507992"/>
            <a:ext cx="1828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churn 14→6.5%</a:t>
            </a:r>
          </a:p>
        </p:txBody>
      </p:sp>
      <p:sp>
        <p:nvSpPr>
          <p:cNvPr id="42" name="Oval 41"/>
          <p:cNvSpPr/>
          <p:nvPr/>
        </p:nvSpPr>
        <p:spPr>
          <a:xfrm>
            <a:off x="10533888" y="2532888"/>
            <a:ext cx="512064" cy="512064"/>
          </a:xfrm>
          <a:prstGeom prst="ellipse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10149840" y="2240280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EXPAND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9921240" y="3246120"/>
            <a:ext cx="1737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Propensity models +
win-back paths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89920" y="3986784"/>
            <a:ext cx="0" cy="384048"/>
          </a:xfrm>
          <a:prstGeom prst="line">
            <a:avLst/>
          </a:prstGeom>
          <a:ln w="25400">
            <a:solidFill>
              <a:srgbClr val="FFB5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875520" y="4389120"/>
            <a:ext cx="1828800" cy="9326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B52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102→128%
win-back 4→22%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5468112"/>
            <a:ext cx="10972800" cy="5669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>
            <a:spLocks/>
          </p:cNvSpPr>
          <p:nvPr/>
        </p:nvSpPr>
        <p:spPr>
          <a:xfrm>
            <a:off x="868680" y="5611627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Demand creates the visit. Product experience earns activation, retention and expansion.</a:t>
            </a:r>
          </a:p>
        </p:txBody>
      </p:sp>
      <p:sp>
        <p:nvSpPr>
          <p:cNvPr id="49" name="TextBox 4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NRR = net revenue retention; activation = meaningful first value; win-back = returning lost users; ASO = App Store Optimization</a:t>
            </a:r>
          </a:p>
        </p:txBody>
      </p:sp>
      <p:sp>
        <p:nvSpPr>
          <p:cNvPr id="95" name="Stage Glyph 0"/>
          <p:cNvSpPr/>
          <p:nvPr/>
        </p:nvSpPr>
        <p:spPr>
          <a:xfrm>
            <a:off x="841248" y="2670048"/>
            <a:ext cx="237744" cy="237744"/>
          </a:xfrm>
          <a:prstGeom prst="su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Stage Glyph 1"/>
          <p:cNvSpPr/>
          <p:nvPr/>
        </p:nvSpPr>
        <p:spPr>
          <a:xfrm>
            <a:off x="3355848" y="2670048"/>
            <a:ext cx="237744" cy="237744"/>
          </a:xfrm>
          <a:prstGeom prst="flowChartDecision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tage Glyph 2"/>
          <p:cNvSpPr/>
          <p:nvPr/>
        </p:nvSpPr>
        <p:spPr>
          <a:xfrm>
            <a:off x="5870448" y="2670048"/>
            <a:ext cx="237744" cy="237744"/>
          </a:xfrm>
          <a:prstGeom prst="lightningBol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" name="Stage Glyph 3"/>
          <p:cNvSpPr/>
          <p:nvPr/>
        </p:nvSpPr>
        <p:spPr>
          <a:xfrm>
            <a:off x="8156448" y="2670048"/>
            <a:ext cx="237744" cy="237744"/>
          </a:xfrm>
          <a:prstGeom prst="circular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" name="Stage Glyph 4"/>
          <p:cNvSpPr/>
          <p:nvPr/>
        </p:nvSpPr>
        <p:spPr>
          <a:xfrm>
            <a:off x="10671048" y="2670048"/>
            <a:ext cx="237744" cy="237744"/>
          </a:xfrm>
          <a:prstGeom prst="upArrow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101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>
            <a:spLocks/>
          </p:cNvSpPr>
          <p:nvPr/>
        </p:nvSpPr>
        <p:spPr>
          <a:xfrm>
            <a:off x="621792" y="201168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MICROSOFT REGULATED CLOUD / AI PLATFORM · FIELD ENABLEMENT &amp; ENTERPRISE GTM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11137392" y="6400800"/>
            <a:ext cx="292608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</a:t>
            </a:r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502920" y="576072"/>
            <a:ext cx="1115568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4. Field enablement: turn blockers into field plays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207008"/>
            <a:ext cx="68580" cy="347472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1225296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MY ROLE 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GTM for regulated financial-services deployments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627632"/>
            <a:ext cx="111556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>
            <a:spLocks/>
          </p:cNvSpPr>
          <p:nvPr/>
        </p:nvSpPr>
        <p:spPr>
          <a:xfrm>
            <a:off x="502920" y="1677365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C4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TAKEAWAY 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When one objection blocks many deals, solve it with product and engineering, then give the field a repeatable response.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67328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18120" y="2194559"/>
            <a:ext cx="0" cy="388620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>
            <a:spLocks/>
          </p:cNvSpPr>
          <p:nvPr/>
        </p:nvSpPr>
        <p:spPr>
          <a:xfrm>
            <a:off x="122529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01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1225296" y="24414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CUSTOMER BLOCKERS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640080" y="3127248"/>
            <a:ext cx="2788920" cy="6309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Regulated financial-services buyers asked: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858768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896112" y="3785616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Where does data live?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4425696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896112" y="4352544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Who controls access?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4992624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>
            <a:spLocks/>
          </p:cNvSpPr>
          <p:nvPr/>
        </p:nvSpPr>
        <p:spPr>
          <a:xfrm>
            <a:off x="896112" y="4919472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Can this satisfy local rules?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559552"/>
            <a:ext cx="91440" cy="91440"/>
          </a:xfrm>
          <a:prstGeom prst="rect">
            <a:avLst/>
          </a:prstGeom>
          <a:solidFill>
            <a:srgbClr val="FF4B00"/>
          </a:solidFill>
          <a:ln w="12700">
            <a:solidFill>
              <a:srgbClr val="FF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>
            <a:spLocks/>
          </p:cNvSpPr>
          <p:nvPr/>
        </p:nvSpPr>
        <p:spPr>
          <a:xfrm>
            <a:off x="896112" y="5486400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Will latency work in production?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4700016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02</a:t>
            </a:r>
          </a:p>
        </p:txBody>
      </p:sp>
      <p:sp>
        <p:nvSpPr>
          <p:cNvPr id="35" name="TextBox 34"/>
          <p:cNvSpPr txBox="1">
            <a:spLocks/>
          </p:cNvSpPr>
          <p:nvPr/>
        </p:nvSpPr>
        <p:spPr>
          <a:xfrm>
            <a:off x="4700016" y="244144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PRODUCTIZED ANSWER</a:t>
            </a:r>
          </a:p>
        </p:txBody>
      </p:sp>
      <p:sp>
        <p:nvSpPr>
          <p:cNvPr id="36" name="TextBox 35"/>
          <p:cNvSpPr txBox="1">
            <a:spLocks/>
          </p:cNvSpPr>
          <p:nvPr/>
        </p:nvSpPr>
        <p:spPr>
          <a:xfrm>
            <a:off x="4114800" y="3127248"/>
            <a:ext cx="329184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Cross-functional playbook: deployment patterns, partner requirements, technical gates and SOPs aligned product, engineering, legal and field.</a:t>
            </a:r>
          </a:p>
        </p:txBody>
      </p:sp>
      <p:sp>
        <p:nvSpPr>
          <p:cNvPr id="37" name="TextBox 36"/>
          <p:cNvSpPr txBox="1">
            <a:spLocks/>
          </p:cNvSpPr>
          <p:nvPr/>
        </p:nvSpPr>
        <p:spPr>
          <a:xfrm>
            <a:off x="4114800" y="4151376"/>
            <a:ext cx="329184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Technical unlock: replaced FHE with confidential computing to run secure architecture at production latency.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14800" y="4956048"/>
            <a:ext cx="3337560" cy="0"/>
          </a:xfrm>
          <a:prstGeom prst="line">
            <a:avLst/>
          </a:prstGeom>
          <a:ln w="25400">
            <a:solidFill>
              <a:srgbClr val="FF4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>
            <a:spLocks/>
          </p:cNvSpPr>
          <p:nvPr/>
        </p:nvSpPr>
        <p:spPr>
          <a:xfrm>
            <a:off x="4114800" y="5157216"/>
            <a:ext cx="33375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14s → 220ms</a:t>
            </a:r>
          </a:p>
        </p:txBody>
      </p:sp>
      <p:sp>
        <p:nvSpPr>
          <p:cNvPr id="40" name="TextBox 39"/>
          <p:cNvSpPr txBox="1">
            <a:spLocks/>
          </p:cNvSpPr>
          <p:nvPr/>
        </p:nvSpPr>
        <p:spPr>
          <a:xfrm>
            <a:off x="4114800" y="5742432"/>
            <a:ext cx="33375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secure production latency</a:t>
            </a:r>
          </a:p>
        </p:txBody>
      </p:sp>
      <p:sp>
        <p:nvSpPr>
          <p:cNvPr id="41" name="TextBox 40"/>
          <p:cNvSpPr txBox="1">
            <a:spLocks/>
          </p:cNvSpPr>
          <p:nvPr/>
        </p:nvSpPr>
        <p:spPr>
          <a:xfrm>
            <a:off x="8759952" y="2221992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</a:p>
        </p:txBody>
      </p:sp>
      <p:sp>
        <p:nvSpPr>
          <p:cNvPr id="42" name="TextBox 41"/>
          <p:cNvSpPr txBox="1">
            <a:spLocks/>
          </p:cNvSpPr>
          <p:nvPr/>
        </p:nvSpPr>
        <p:spPr>
          <a:xfrm>
            <a:off x="8759952" y="244144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FIELD PROOF</a:t>
            </a:r>
          </a:p>
        </p:txBody>
      </p:sp>
      <p:sp>
        <p:nvSpPr>
          <p:cNvPr id="43" name="TextBox 42"/>
          <p:cNvSpPr txBox="1">
            <a:spLocks/>
          </p:cNvSpPr>
          <p:nvPr/>
        </p:nvSpPr>
        <p:spPr>
          <a:xfrm>
            <a:off x="8156448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10+</a:t>
            </a:r>
          </a:p>
        </p:txBody>
      </p:sp>
      <p:sp>
        <p:nvSpPr>
          <p:cNvPr id="44" name="TextBox 43"/>
          <p:cNvSpPr txBox="1">
            <a:spLocks/>
          </p:cNvSpPr>
          <p:nvPr/>
        </p:nvSpPr>
        <p:spPr>
          <a:xfrm>
            <a:off x="8156448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engagements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56448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>
            <a:spLocks/>
          </p:cNvSpPr>
          <p:nvPr/>
        </p:nvSpPr>
        <p:spPr>
          <a:xfrm>
            <a:off x="9966960" y="316382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9→3 mo</a:t>
            </a:r>
          </a:p>
        </p:txBody>
      </p:sp>
      <p:sp>
        <p:nvSpPr>
          <p:cNvPr id="47" name="TextBox 46"/>
          <p:cNvSpPr txBox="1">
            <a:spLocks/>
          </p:cNvSpPr>
          <p:nvPr/>
        </p:nvSpPr>
        <p:spPr>
          <a:xfrm>
            <a:off x="9966960" y="356616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time-to-compliance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66960" y="391363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>
            <a:spLocks/>
          </p:cNvSpPr>
          <p:nvPr/>
        </p:nvSpPr>
        <p:spPr>
          <a:xfrm>
            <a:off x="8156448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$5M</a:t>
            </a:r>
          </a:p>
        </p:txBody>
      </p:sp>
      <p:sp>
        <p:nvSpPr>
          <p:cNvPr id="50" name="TextBox 49"/>
          <p:cNvSpPr txBox="1">
            <a:spLocks/>
          </p:cNvSpPr>
          <p:nvPr/>
        </p:nvSpPr>
        <p:spPr>
          <a:xfrm>
            <a:off x="8156448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account rescued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56448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>
            <a:spLocks/>
          </p:cNvSpPr>
          <p:nvPr/>
        </p:nvSpPr>
        <p:spPr>
          <a:xfrm>
            <a:off x="9966960" y="416966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$2M</a:t>
            </a:r>
          </a:p>
        </p:txBody>
      </p:sp>
      <p:sp>
        <p:nvSpPr>
          <p:cNvPr id="53" name="TextBox 52"/>
          <p:cNvSpPr txBox="1">
            <a:spLocks/>
          </p:cNvSpPr>
          <p:nvPr/>
        </p:nvSpPr>
        <p:spPr>
          <a:xfrm>
            <a:off x="9966960" y="457200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expansion won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66960" y="4919472"/>
            <a:ext cx="1554480" cy="0"/>
          </a:xfrm>
          <a:prstGeom prst="line">
            <a:avLst/>
          </a:prstGeom>
          <a:ln w="12700">
            <a:solidFill>
              <a:srgbClr val="E5DC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>
            <a:spLocks/>
          </p:cNvSpPr>
          <p:nvPr/>
        </p:nvSpPr>
        <p:spPr>
          <a:xfrm>
            <a:off x="8156448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</a:p>
        </p:txBody>
      </p:sp>
      <p:sp>
        <p:nvSpPr>
          <p:cNvPr id="56" name="TextBox 55"/>
          <p:cNvSpPr txBox="1">
            <a:spLocks/>
          </p:cNvSpPr>
          <p:nvPr/>
        </p:nvSpPr>
        <p:spPr>
          <a:xfrm>
            <a:off x="8156448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breaches</a:t>
            </a:r>
          </a:p>
        </p:txBody>
      </p:sp>
      <p:sp>
        <p:nvSpPr>
          <p:cNvPr id="57" name="TextBox 56"/>
          <p:cNvSpPr txBox="1">
            <a:spLocks/>
          </p:cNvSpPr>
          <p:nvPr/>
        </p:nvSpPr>
        <p:spPr>
          <a:xfrm>
            <a:off x="9966960" y="5175504"/>
            <a:ext cx="16276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FF4B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+61%</a:t>
            </a:r>
          </a:p>
        </p:txBody>
      </p:sp>
      <p:sp>
        <p:nvSpPr>
          <p:cNvPr id="58" name="TextBox 57"/>
          <p:cNvSpPr txBox="1">
            <a:spLocks/>
          </p:cNvSpPr>
          <p:nvPr/>
        </p:nvSpPr>
        <p:spPr>
          <a:xfrm>
            <a:off x="9966960" y="5577840"/>
            <a:ext cx="157276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ROI</a:t>
            </a:r>
          </a:p>
        </p:txBody>
      </p:sp>
      <p:sp>
        <p:nvSpPr>
          <p:cNvPr id="59" name="TextBox 58"/>
          <p:cNvSpPr txBox="1">
            <a:spLocks/>
          </p:cNvSpPr>
          <p:nvPr/>
        </p:nvSpPr>
        <p:spPr>
          <a:xfrm>
            <a:off x="566928" y="6400800"/>
            <a:ext cx="10469880" cy="1536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55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Definitions: FHE = fully homomorphic encryption; AI ROI = benefit-to-cost improvement.</a:t>
            </a:r>
          </a:p>
        </p:txBody>
      </p:sp>
      <p:sp>
        <p:nvSpPr>
          <p:cNvPr id="80" name="Icon Blockers"/>
          <p:cNvSpPr/>
          <p:nvPr/>
        </p:nvSpPr>
        <p:spPr>
          <a:xfrm>
            <a:off x="621792" y="2212848"/>
            <a:ext cx="457200" cy="457200"/>
          </a:xfrm>
          <a:prstGeom prst="noSmoking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" name="Icon Answer"/>
          <p:cNvSpPr/>
          <p:nvPr/>
        </p:nvSpPr>
        <p:spPr>
          <a:xfrm>
            <a:off x="4078224" y="2194559"/>
            <a:ext cx="493776" cy="493776"/>
          </a:xfrm>
          <a:prstGeom prst="gear6">
            <a:avLst/>
          </a:prstGeom>
          <a:solidFill>
            <a:srgbClr val="FF4B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Icon Proof"/>
          <p:cNvSpPr/>
          <p:nvPr/>
        </p:nvSpPr>
        <p:spPr>
          <a:xfrm>
            <a:off x="8174736" y="2212848"/>
            <a:ext cx="457200" cy="457200"/>
          </a:xfrm>
          <a:prstGeom prst="upArrow">
            <a:avLst/>
          </a:prstGeom>
          <a:solidFill>
            <a:srgbClr val="FFC400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3" name="Official Mistral footer symbol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94592" y="6400800"/>
            <a:ext cx="228600" cy="163413"/>
          </a:xfrm>
          <a:prstGeom prst="rect">
            <a:avLst/>
          </a:prstGeom>
        </p:spPr>
      </p:pic>
      <p:pic>
        <p:nvPicPr>
          <p:cNvPr id="84" name="Official Mistral header symbo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82880"/>
            <a:ext cx="228600" cy="1634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698</Words>
  <Application>Microsoft Office PowerPoint</Application>
  <PresentationFormat>Widescreen</PresentationFormat>
  <Paragraphs>138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Aptos</vt:lpstr>
      <vt:lpstr>Arial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Mistral AI - Author Profile &amp; Team Background</dc:title>
  <dc:subject>Author profile background and team bios</dc:subject>
  <dc:creator>Shiv, Prospective PMM, Mistral Studio</dc:creator>
  <cp:keywords>mistral-ai, author-profile, team, background</cp:keywords>
  <cp:lastModifiedBy>Shivam Singh</cp:lastModifiedBy>
  <cp:revision>13</cp:revision>
  <dcterms:created xsi:type="dcterms:W3CDTF">2026-08-16T20:55:47Z</dcterms:created>
  <dcterms:modified xsi:type="dcterms:W3CDTF">2026-08-17T12:53:04Z</dcterms:modified>
</cp:coreProperties>
</file>