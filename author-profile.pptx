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9"/>
  </p:notesMasterIdLst>
  <p:sldIdLst>
    <p:sldId id="264" r:id="rId2"/>
    <p:sldId id="263" r:id="rId3"/>
    <p:sldId id="261" r:id="rId4"/>
    <p:sldId id="262" r:id="rId5"/>
    <p:sldId id="258" r:id="rId6"/>
    <p:sldId id="259" r:id="rId7"/>
    <p:sldId id="260"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7119" autoAdjust="0"/>
  </p:normalViewPr>
  <p:slideViewPr>
    <p:cSldViewPr snapToGrid="0">
      <p:cViewPr varScale="1">
        <p:scale>
          <a:sx n="85" d="100"/>
          <a:sy n="85" d="100"/>
        </p:scale>
        <p:origin x="62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80393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aboutamazon.com/news/retail/amazon-agentic-ai-gen-ai-shopping?utm_source=chatgpt.com"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global.rakuten.com/corp/news/press/2024/0430_01.html?utm_source=chatgpt.com"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a:t>Tell me about yourself</a:t>
            </a:r>
          </a:p>
          <a:p>
            <a:endParaRPr lang="en-US"/>
          </a:p>
          <a:p>
            <a:r>
              <a:rPr lang="en-US"/>
              <a:t>Financial Services is my deepest vertical. I have worked on the buyer/operator side at D. E. Shaw and then helped take regulated cloud and AI to market at Microsoft and AWS. That gives me both sides of the problem: the executive constraints—security, governance and proprietary data—and the production requirements needed to turn those constraints into field plays.</a:t>
            </a:r>
          </a:p>
          <a:p>
            <a:endParaRPr lang="en-US"/>
          </a:p>
          <a:p>
            <a:r>
              <a:rPr lang="en-US"/>
              <a:t>I bring FSI domain depth, technical AI credibility and enterprise GTM experience. Across Amazon, AWS, Rakuten and Microsoft, my strongest work has been finding the customer problem that matters, aligning product and technical teams around proof, and then packaging what works so Sales and field teams can repeat it.</a:t>
            </a:r>
          </a:p>
          <a:p>
            <a:endParaRPr lang="en-US"/>
          </a:p>
          <a:p>
            <a:r>
              <a:rPr lang="en-US"/>
              <a:t>For Mistral’s Industries PMM role, I would not start with a broad demand-generation plan. I would begin with three to five mission-critical FSI workloads where Mistral has a clear right to win. For each, I would build the executive narrative, technical evidence, seller/FDE play and expansion path. Demand generation would follow only where the field needs it.</a:t>
            </a:r>
          </a:p>
          <a:p>
            <a:endParaRPr lang="en-US"/>
          </a:p>
          <a:p>
            <a:r>
              <a:rPr lang="en-US"/>
              <a:t>Why Mistral</a:t>
            </a:r>
          </a:p>
          <a:p>
            <a:r>
              <a:rPr lang="en-US"/>
              <a:t>Mistral offers regulated enterprises a credible combination of strong models, deployment choice and greater control. The PMM opportunity is to translate those technical advantages into a simple workload story: what mission-critical problem can the customer put into production, why can Mistral win it, and what should the field sell next?</a:t>
            </a:r>
          </a:p>
          <a:p>
            <a:endParaRPr lang="en-US"/>
          </a:p>
          <a:p>
            <a:r>
              <a:rPr lang="en-US"/>
              <a:t>The enterprise market is deciding how much model and deployment control it wants to own. I want to help make the case for production AI that offers customers more choice and control, while staying disciplined about evidence rather than generic claims.</a:t>
            </a:r>
          </a:p>
          <a:p>
            <a:endParaRPr lang="en-US"/>
          </a:p>
          <a:p>
            <a:r>
              <a:rPr lang="en-US"/>
              <a:t>Questions</a:t>
            </a:r>
          </a:p>
          <a:p>
            <a:r>
              <a:rPr lang="en-US"/>
              <a:t>How is ownership divided between Industries PMM, FDEs, Sales and Product?</a:t>
            </a:r>
          </a:p>
          <a:p>
            <a:r>
              <a:rPr lang="en-US"/>
              <a:t>Which FSI workloads matter most over the next 12 months, and where does the field most need PMM help?</a:t>
            </a:r>
          </a:p>
          <a:p>
            <a:endParaRPr lang="en-US"/>
          </a:p>
          <a:p>
            <a:r>
              <a:rPr lang="en-US"/>
              <a:t>FIELD-LED OPERATING MODEL</a:t>
            </a:r>
          </a:p>
          <a:p>
            <a:endParaRPr lang="en-US"/>
          </a:p>
          <a:p>
            <a:r>
              <a:t>Financial Services is my deepest vertical. I have been on the buyer/operator side at D. E. Shaw and then helped take regulated cloud and AI to market at Microsoft and AWS. So I understand both the executive buyer constraints—security, governance and proprietary data—and how to turn them into production-ready field plays.</a:t>
            </a:r>
          </a:p>
          <a:p>
            <a:endParaRPr/>
          </a:p>
          <a:p>
            <a:r>
              <a:t>I bring FSI domain depth, technical AI credibility and enterprise GTM experience.</a:t>
            </a:r>
          </a:p>
          <a:p>
            <a:endParaRPr/>
          </a:p>
          <a:p>
            <a:r>
              <a:t>What would the FSI marketing bill of materials look like?</a:t>
            </a:r>
          </a:p>
          <a:p>
            <a:r>
              <a:t>I would start with three to five mission-critical workloads where Mistral has a clear right to win. For each, I would build the executive narrative, technical proof, field play and expansion path. Then I would use seller and FDE feedback from live deals to make those few plays repeatable across accounts. Demand generation would be secondary and used only where the field actually needs it.</a:t>
            </a:r>
          </a:p>
          <a:p>
            <a:endParaRPr/>
          </a:p>
          <a:p>
            <a:r>
              <a:t>My operating model is: Workload → Proof → Field win → Expansion → Repeat.</a:t>
            </a:r>
          </a:p>
          <a:p>
            <a:endParaRPr/>
          </a:p>
          <a:p>
            <a:r>
              <a:t>What would I build for field enablement?</a:t>
            </a:r>
          </a:p>
          <a:p>
            <a:r>
              <a:t>I would build around the actual deal: discovery guide, executive point of view, workload playbook, technical proof, objection handling and expansion map. I would build these with Sales and FDEs, not in isolation.</a:t>
            </a:r>
          </a:p>
          <a:p>
            <a:endParaRPr/>
          </a:p>
          <a:p>
            <a:r>
              <a:t>The package should answer three seller questions: What workload do I pursue? How do I win it? What do I sell next?</a:t>
            </a:r>
          </a:p>
          <a:p>
            <a:endParaRPr/>
          </a:p>
          <a:p>
            <a:r>
              <a:t>How do we know after 12 months that I did a good job?</a:t>
            </a:r>
          </a:p>
          <a:p>
            <a:r>
              <a:t>I would use two North Stars: are we helping the field win, and are we establishing Mistral as the leader for mission-critical production AI? Under that I would track strategic wins and expansions, workloads reaching production, win rate, deal velocity and industry perception. Revenue is the ultimate outcome.</a:t>
            </a:r>
          </a:p>
          <a:p>
            <a:endParaRPr/>
          </a:p>
          <a:p>
            <a:r>
              <a:t>The causal chain is: Production workloads → field wins → account expansion → revenue.</a:t>
            </a:r>
          </a:p>
          <a:p>
            <a:endParaRPr/>
          </a:p>
          <a:p>
            <a:r>
              <a:t>Cross-functional launch</a:t>
            </a:r>
          </a:p>
          <a:p>
            <a:r>
              <a:t>My launch model is: customer blocker → cross-functional decision → production proof → reusable field pattern. The Microsoft regulated-AI example demonstrates that model: the original design met a security objective but was not production viable; the cross-functional team matched the architecture to the actual threat model and production requirement, then turned the result into a reusable pattern.</a:t>
            </a:r>
          </a:p>
          <a:p>
            <a:endParaRPr/>
          </a:p>
          <a:p>
            <a:r>
              <a:t>Risk mitigation</a:t>
            </a:r>
          </a:p>
          <a:p>
            <a:r>
              <a:t>For mission-critical AI, I do not let messaging get ahead of evidence. I define the claim, the proof required and the owner. Engineering validates technical truth, Legal validates the claim, and Sales tests whether it works with customers. If the evidence is not strong enough, I narrow the claim rather than sell around the risk.</a:t>
            </a:r>
          </a:p>
          <a:p>
            <a:endParaRPr/>
          </a:p>
          <a:p>
            <a:r>
              <a:t>My framework is: Claim → Evidence → Validation → Launch.</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 E. Shaw — Real-Time Risk &amp; Capital Decisioning Platform</a:t>
            </a:r>
          </a:p>
          <a:p>
            <a:endParaRPr/>
          </a:p>
          <a:p>
            <a:r>
              <a:t>At D. E. Shaw, I led a real-time financial-risk and capital decisioning platform supporting front-office, quantitative, risk and technology teams.</a:t>
            </a:r>
          </a:p>
          <a:p>
            <a:endParaRPr/>
          </a:p>
          <a:p>
            <a:r>
              <a:t>Problem: the existing environment combined slower batch-style risk processes with fragmented intraday decisioning. That created latency, excessive false positives and inefficient capital usage.</a:t>
            </a:r>
          </a:p>
          <a:p>
            <a:endParaRPr/>
          </a:p>
          <a:p>
            <a:r>
              <a:t>Objective: create a shared real-time risk layer that could support high-volume financial decisions while meeting strict requirements around performance, accuracy, controls and production reliability.</a:t>
            </a:r>
          </a:p>
          <a:p>
            <a:endParaRPr/>
          </a:p>
          <a:p>
            <a:r>
              <a:t>My role: I led a 15+ person cross-functional program, translating requirements across Trading, Quant, Risk/Compliance, Finance and Engineering into a common roadmap, measurable acceptance criteria and staged production rollout. I translated </a:t>
            </a:r>
            <a:r>
              <a:rPr lang="en-US"/>
              <a:t>four </a:t>
            </a:r>
            <a:r>
              <a:t>definitions of “good” into one measurable product contract.</a:t>
            </a:r>
          </a:p>
          <a:p>
            <a:endParaRPr/>
          </a:p>
          <a:p>
            <a:r>
              <a:t>Decision framework:</a:t>
            </a:r>
          </a:p>
          <a:p>
            <a:r>
              <a:t>Performance — single-digit millisecond response.</a:t>
            </a:r>
          </a:p>
          <a:p>
            <a:r>
              <a:t>Accuracy — materially reduce false positives without weakening controls.</a:t>
            </a:r>
          </a:p>
          <a:p>
            <a:r>
              <a:rPr lang="en-US"/>
              <a:t>Controls </a:t>
            </a:r>
            <a:r>
              <a:t>—</a:t>
            </a:r>
            <a:r>
              <a:rPr lang="en-US"/>
              <a:t> preserve governance and</a:t>
            </a:r>
            <a:r>
              <a:t> prove equivalence through shadow operation before migration.</a:t>
            </a:r>
          </a:p>
          <a:p>
            <a:r>
              <a:t>Economics — demonstrate operating and capital impact.</a:t>
            </a:r>
          </a:p>
          <a:p>
            <a:endParaRPr/>
          </a:p>
          <a:p>
            <a:r>
              <a:t>Approach: we modernized the real-time decisioning layer, standardized common risk/data interfaces, and preserved specialized quantitative logic where it created differentiation. Rather than moving directly into production, we ran a 90-day shadow deployment, compared the new and existing systems, brought domain users into the validation loop, and required approximately 98% output agreement before staged cutover.</a:t>
            </a:r>
          </a:p>
          <a:p>
            <a:endParaRPr/>
          </a:p>
          <a:p>
            <a:r>
              <a:t>Result: decision latency improved from roughly 90ms to 4.2ms, false positives fell from 15% to 1.8%, the platform supported approximately 5.4M events per second, operating costs fell around $400K per month, and improved risk decisioning released approximately $85M of usable capital capacity.</a:t>
            </a:r>
          </a:p>
          <a:p>
            <a:endParaRPr/>
          </a:p>
          <a:p>
            <a:r>
              <a:t>The capital impact came from making risk information faster and more precise. Lower false positives and more timely risk visibility reduced unnecessary conservatism in how capital was allocated.</a:t>
            </a:r>
          </a:p>
          <a:p>
            <a:endParaRPr/>
          </a:p>
          <a:p>
            <a:r>
              <a:t>Customer insight changed the product: early on, we treated speed as the primary problem. User conversations made it clear that speed without explainability and confidence would not change behavior. The product definition expanded from “make risk calculations faster” to “make decisions faster without reducing trust.”</a:t>
            </a:r>
          </a:p>
          <a:p>
            <a:endParaRPr/>
          </a:p>
          <a:p>
            <a:r>
              <a:t>If asked about architecture: conceptually, the platform separated into an event/data layer, a decisioning layer, and a control layer. This improved shared infrastructure without unnecessarily rewriting specialized quantitative logic.</a:t>
            </a:r>
          </a:p>
          <a:p>
            <a:endParaRPr/>
          </a:p>
          <a:p>
            <a:r>
              <a:t>Lesson: in Financial Services, the hard part is not building technically impressive infrastructure. It is creating enough performance, control and measurable economic proof that sophisticated users will trust it in production.</a:t>
            </a:r>
          </a:p>
          <a:p>
            <a:endParaRPr/>
          </a:p>
          <a:p>
            <a:r>
              <a:t>Avoid inventing: named regulators, Basel III, exact legal capital requirements, exact desk/user counts, exact historical stack, named third-party vendors, revenue attribution, or an unsupported adoption percentage.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Microsoft regulated-cloud / AI platform — enterprise GTM</a:t>
            </a:r>
          </a:p>
          <a:p>
            <a:endParaRPr lang="en-US" dirty="0"/>
          </a:p>
          <a:p>
            <a:r>
              <a:rPr lang="en-US" dirty="0"/>
              <a:t>The most relevant lesson from this project is not “I ran a compliance initiative.” It is that I found a recurring constraint preventing regulated financial institutions from adopting the technology, helped solve it once, and turned the solution into a repeatable field motion.</a:t>
            </a:r>
          </a:p>
          <a:p>
            <a:endParaRPr lang="en-US" dirty="0"/>
          </a:p>
          <a:p>
            <a:r>
              <a:rPr lang="en-US" dirty="0"/>
              <a:t>1. Find the invariant</a:t>
            </a:r>
          </a:p>
          <a:p>
            <a:r>
              <a:rPr lang="en-US" dirty="0"/>
              <a:t>Customer requirements varied by market, but four needs repeated: data location, customer-controlled keys, security validation and policy enforcement. I translated those recurring signals across Product, Engineering, Legal, Sales and the field into one reusable problem definition.</a:t>
            </a:r>
          </a:p>
          <a:p>
            <a:endParaRPr lang="en-US" dirty="0"/>
          </a:p>
          <a:p>
            <a:r>
              <a:rPr lang="en-US" dirty="0"/>
              <a:t>The principle was: customize where the customer is different; standardize where repetition creates scale.</a:t>
            </a:r>
          </a:p>
          <a:p>
            <a:endParaRPr lang="en-US" dirty="0"/>
          </a:p>
          <a:p>
            <a:r>
              <a:rPr lang="en-US" dirty="0"/>
              <a:t>2. Match the threat model</a:t>
            </a:r>
          </a:p>
          <a:p>
            <a:r>
              <a:rPr lang="en-US" dirty="0"/>
              <a:t>One early design used an FHE-based architecture, but inference latency was about 14 seconds. We went back to the workload’s actual threat model, required controls and production SLA.</a:t>
            </a:r>
          </a:p>
          <a:p>
            <a:endParaRPr lang="en-US" dirty="0"/>
          </a:p>
          <a:p>
            <a:r>
              <a:rPr lang="en-US" dirty="0"/>
              <a:t>For that workload, confidential computing met the required security controls and reduced latency to about 220 milliseconds.</a:t>
            </a:r>
          </a:p>
          <a:p>
            <a:endParaRPr lang="en-US" dirty="0"/>
          </a:p>
          <a:p>
            <a:r>
              <a:rPr lang="en-US" dirty="0"/>
              <a:t>The technical nuance matters: FHE and confidential computing use different security models. Confidential computing was not simply a faster version of FHE. The lesson was to choose architecture against the real security requirement and production constraint—not technical sophistication.</a:t>
            </a:r>
          </a:p>
          <a:p>
            <a:endParaRPr lang="en-US" dirty="0"/>
          </a:p>
          <a:p>
            <a:r>
              <a:rPr lang="en-US" dirty="0"/>
              <a:t>3. Turn one deployment into a scalable market asset</a:t>
            </a:r>
          </a:p>
          <a:p>
            <a:r>
              <a:rPr lang="en-US" dirty="0"/>
              <a:t>The operating loop maps directly to Mistral:</a:t>
            </a:r>
          </a:p>
          <a:p>
            <a:r>
              <a:rPr lang="en-US" dirty="0"/>
              <a:t>Sales + FDE — prove one live workload and capture the buying friction.</a:t>
            </a:r>
          </a:p>
          <a:p>
            <a:r>
              <a:rPr lang="en-US" dirty="0"/>
              <a:t>PMM — package the executive narrative, technical proof, objection handling and expansion path.</a:t>
            </a:r>
          </a:p>
          <a:p>
            <a:r>
              <a:rPr lang="en-US" dirty="0"/>
              <a:t>Product — fix recurring structural gaps.</a:t>
            </a:r>
          </a:p>
          <a:p>
            <a:r>
              <a:rPr lang="en-US" dirty="0"/>
              <a:t>Field — reuse the play and measure whether it improves velocity and expansion.</a:t>
            </a:r>
          </a:p>
          <a:p>
            <a:endParaRPr lang="en-US" dirty="0"/>
          </a:p>
          <a:p>
            <a:r>
              <a:rPr lang="en-US" dirty="0"/>
              <a:t>At Microsoft, the reusable pattern spread across 10+ engagements, reduced time-to-compliance from roughly nine months to three, helped retain about $5M and supported about $2M of expansion.</a:t>
            </a:r>
          </a:p>
          <a:p>
            <a:endParaRPr lang="en-US" dirty="0"/>
          </a:p>
          <a:p>
            <a:r>
              <a:rPr lang="en-US" dirty="0"/>
              <a:t>I would measure the motion through three levels:</a:t>
            </a:r>
          </a:p>
          <a:p>
            <a:r>
              <a:rPr lang="en-US" dirty="0"/>
              <a:t>Reuse — are Sales and FDEs using the play?</a:t>
            </a:r>
          </a:p>
          <a:p>
            <a:r>
              <a:rPr lang="en-US" dirty="0"/>
              <a:t>Velocity — are win rate and deal cycle improving?</a:t>
            </a:r>
          </a:p>
          <a:p>
            <a:r>
              <a:rPr lang="en-US" dirty="0"/>
              <a:t>Growth — is it influencing retained revenue, expansion and pipeline?</a:t>
            </a:r>
          </a:p>
          <a:p>
            <a:endParaRPr lang="en-US" dirty="0"/>
          </a:p>
          <a:p>
            <a:r>
              <a:rPr lang="en-US" dirty="0"/>
              <a:t>The takeaway is: winning one difficult deal is execution; making the next ten easier is product marketing. That is the value I would bring to Mistral’s Industries PMM role—turn bespoke field learning into repeatable Financial Services solutions and commercial proof.</a:t>
            </a:r>
          </a:p>
          <a:p>
            <a:endParaRPr lang="en-US" dirty="0"/>
          </a:p>
          <a:p>
            <a:r>
              <a:rPr lang="en-US" dirty="0"/>
              <a:t>Interview caveat: the outcome figures are supported by my resume and internal experience; public Microsoft sources corroborate the architecture, not those internal results.</a:t>
            </a:r>
          </a:p>
          <a:p>
            <a:endParaRPr lang="en-US" dirty="0"/>
          </a:p>
          <a:p>
            <a:r>
              <a:rPr lang="en-US" dirty="0"/>
              <a:t>Public architecture:</a:t>
            </a:r>
          </a:p>
          <a:p>
            <a:r>
              <a:rPr lang="en-US" dirty="0"/>
              <a:t>https://learn.microsoft.com/en-us/azure/azure-sovereign-clouds/microsoft-sovereign-cloud</a:t>
            </a:r>
          </a:p>
          <a:p>
            <a:r>
              <a:rPr lang="en-US" dirty="0"/>
              <a:t>https://learn.microsoft.com/en-us/azure/azure-sovereign-clouds/public/confidential-computing</a:t>
            </a:r>
          </a:p>
          <a:p>
            <a:endParaRPr lang="en-US" dirty="0"/>
          </a:p>
          <a:p>
            <a:r>
              <a:rPr lang="en-US" dirty="0"/>
              <a:t>FHE context:</a:t>
            </a:r>
          </a:p>
          <a:p>
            <a:r>
              <a:rPr lang="en-US" dirty="0"/>
              <a:t>https://www.microsoft.com/en-us/research/publication/can-homomorphic-encryption-be-practical-2/</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At AWS, I ran positioning for Amazon Bedrock AgentCore, a managed platform for moving enterprise agents from prototype to secure production. I translated capabilities like enterprise connectivity, identity, access controls, execution traces, policy enforcement, and managed runtime into a clear narrative for security-conscious and regulated buyers.</a:t>
            </a:r>
          </a:p>
          <a:p>
            <a:endParaRPr lang="en-US"/>
          </a:p>
          <a:p>
            <a:r>
              <a:rPr lang="en-US"/>
              <a:t>Prototype → connect → secure → govern → production</a:t>
            </a:r>
          </a:p>
          <a:p>
            <a:endParaRPr lang="en-US"/>
          </a:p>
          <a:p>
            <a:r>
              <a:rPr lang="en-US"/>
              <a:t>The core value proposition was: “Get an agent into production without rebuilding the enterprise security and operational layer yourself.”</a:t>
            </a:r>
          </a:p>
          <a:p>
            <a:endParaRPr lang="en-US"/>
          </a:p>
          <a:p>
            <a:r>
              <a:rPr lang="en-US"/>
              <a:t>I used customer research and product telemetry to sharpen positioning, launch, and adoption strategy, while pairing AgentCore with broader Bedrock capabilities like retrieval, guardrails, evaluations, and cost-quality routing.</a:t>
            </a:r>
          </a:p>
          <a:p>
            <a:endParaRPr lang="en-US"/>
          </a:p>
          <a:p>
            <a:r>
              <a:rPr lang="en-US"/>
              <a:t>The AgentCore SDK later surpassed 2M downloads within five months of preview, based on candidate-provided evidence; confirm the exact public source before using the figure.</a:t>
            </a:r>
          </a:p>
          <a:p>
            <a:endParaRPr lang="en-US"/>
          </a:p>
          <a:p>
            <a:r>
              <a:rPr lang="en-US"/>
              <a:t>AWS’s original AgentCore launch announcement:</a:t>
            </a:r>
          </a:p>
          <a:p>
            <a:r>
              <a:rPr lang="en-US"/>
              <a:t>https://aws.amazon.com/blogs/aws/introducing-amazon-bedrock-agentcore-securely-deploy-and-operate-ai-agents-at-any-scale/</a:t>
            </a:r>
          </a:p>
        </p:txBody>
      </p:sp>
      <p:sp>
        <p:nvSpPr>
          <p:cNvPr id="4" name="Slide Number Placeholder 3"/>
          <p:cNvSpPr>
            <a:spLocks noGrp="1"/>
          </p:cNvSpPr>
          <p:nvPr>
            <p:ph type="sldNum" sz="quarter" idx="5"/>
          </p:nvPr>
        </p:nvSpPr>
        <p:spPr/>
        <p:txBody>
          <a:bodyPr/>
          <a:lstStyle/>
          <a:p>
            <a:fld id="{4A7E2B38-EC44-4B44-8575-CA30B2FCCCF1}" type="slidenum">
              <a:rPr lang="en-US" smtClean="0"/>
              <a:t>4</a:t>
            </a:fld>
            <a:endParaRPr lang="en-US"/>
          </a:p>
        </p:txBody>
      </p:sp>
    </p:spTree>
    <p:extLst>
      <p:ext uri="{BB962C8B-B14F-4D97-AF65-F5344CB8AC3E}">
        <p14:creationId xmlns:p14="http://schemas.microsoft.com/office/powerpoint/2010/main" val="2766837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My approach to technical PMM is: </a:t>
            </a:r>
            <a:r>
              <a:rPr lang="en-US" b="1" dirty="0"/>
              <a:t>start with the customer job, prove the value in the product, and measure whether users reach real value.</a:t>
            </a:r>
          </a:p>
          <a:p>
            <a:endParaRPr lang="en-US" dirty="0"/>
          </a:p>
          <a:p>
            <a:r>
              <a:rPr lang="en-US" dirty="0"/>
              <a:t>At Amazon, I worked on </a:t>
            </a:r>
            <a:r>
              <a:rPr lang="en-US" b="1" dirty="0"/>
              <a:t>Rufus, the GenAI shopping assistant</a:t>
            </a:r>
            <a:r>
              <a:rPr lang="en-US" dirty="0"/>
              <a:t>, shifting the experience from open-ended conversation toward </a:t>
            </a:r>
            <a:r>
              <a:rPr lang="en-US" b="1" dirty="0"/>
              <a:t>decision support and purchase completion</a:t>
            </a:r>
            <a:r>
              <a:rPr lang="en-US" dirty="0"/>
              <a:t>. Behavioral telemetry showed that conversation itself wasn’t the job-to-be-done. The real job was helping customers </a:t>
            </a:r>
            <a:r>
              <a:rPr lang="en-US" b="1" dirty="0"/>
              <a:t>research, compare, and make confident purchase decisions</a:t>
            </a:r>
            <a:r>
              <a:rPr lang="en-US" dirty="0"/>
              <a:t>.</a:t>
            </a:r>
          </a:p>
          <a:p>
            <a:endParaRPr lang="en-US" dirty="0"/>
          </a:p>
          <a:p>
            <a:r>
              <a:rPr lang="en-US" dirty="0"/>
              <a:t>Through prompt, retrieval, and product experimentation, we drove </a:t>
            </a:r>
            <a:r>
              <a:rPr lang="en-US" b="1" dirty="0"/>
              <a:t>25% adoption among eligible users</a:t>
            </a:r>
            <a:r>
              <a:rPr lang="en-US" dirty="0"/>
              <a:t>, improved </a:t>
            </a:r>
            <a:r>
              <a:rPr lang="en-US" b="1" dirty="0"/>
              <a:t>favorability among exposed users from 55% → 70%</a:t>
            </a:r>
            <a:r>
              <a:rPr lang="en-US" dirty="0"/>
              <a:t>, increased </a:t>
            </a:r>
            <a:r>
              <a:rPr lang="en-US" b="1" dirty="0"/>
              <a:t>session depth 15%</a:t>
            </a:r>
            <a:r>
              <a:rPr lang="en-US" dirty="0"/>
              <a:t>, and reduced the </a:t>
            </a:r>
            <a:r>
              <a:rPr lang="en-US" b="1" dirty="0"/>
              <a:t>evaluated hallucination rate to 2.8% on our internal eval set</a:t>
            </a:r>
            <a:r>
              <a:rPr lang="en-US" dirty="0"/>
              <a:t>.</a:t>
            </a:r>
          </a:p>
          <a:p>
            <a:endParaRPr lang="en-US" b="1" dirty="0"/>
          </a:p>
          <a:p>
            <a:r>
              <a:rPr lang="en-US" b="1" dirty="0"/>
              <a:t>Positioning</a:t>
            </a:r>
          </a:p>
          <a:p>
            <a:r>
              <a:rPr lang="en-US" b="1" dirty="0"/>
              <a:t>Customer job → message shift → proof → result</a:t>
            </a:r>
            <a:endParaRPr lang="en-US" dirty="0"/>
          </a:p>
          <a:p>
            <a:r>
              <a:rPr lang="en-US" dirty="0"/>
              <a:t>The shift was: </a:t>
            </a:r>
            <a:r>
              <a:rPr lang="en-US" b="1" dirty="0"/>
              <a:t>“Chat with AI” → “Make better purchase decisions.” </a:t>
            </a:r>
            <a:r>
              <a:rPr lang="en-US" dirty="0"/>
              <a:t>I market technical products by replacing claims with </a:t>
            </a:r>
            <a:r>
              <a:rPr lang="en-US" b="1" dirty="0"/>
              <a:t>evidence artifacts</a:t>
            </a:r>
            <a:r>
              <a:rPr lang="en-US" dirty="0"/>
              <a:t>: customer behavior, product capability, evals, and measurable outcomes.</a:t>
            </a:r>
          </a:p>
          <a:p>
            <a:endParaRPr lang="en-US" dirty="0"/>
          </a:p>
          <a:p>
            <a:r>
              <a:rPr lang="en-US" b="1" dirty="0"/>
              <a:t>Launch + measurement</a:t>
            </a:r>
          </a:p>
          <a:p>
            <a:r>
              <a:rPr lang="en-US" dirty="0"/>
              <a:t>I define launch gates across </a:t>
            </a:r>
            <a:r>
              <a:rPr lang="en-US" b="1" dirty="0"/>
              <a:t>response quality, retrieval, guardrails, adoption, and economics</a:t>
            </a:r>
            <a:r>
              <a:rPr lang="en-US" dirty="0"/>
              <a:t>. </a:t>
            </a:r>
            <a:r>
              <a:rPr lang="en-US" b="1" dirty="0"/>
              <a:t>If I can’t name the gate, I don’t ship the launch.</a:t>
            </a:r>
            <a:endParaRPr lang="en-US" dirty="0"/>
          </a:p>
          <a:p>
            <a:r>
              <a:rPr lang="en-US" dirty="0"/>
              <a:t>For Rufus, I measured:</a:t>
            </a:r>
          </a:p>
          <a:p>
            <a:pPr lvl="0"/>
            <a:r>
              <a:rPr lang="en-US" b="1" dirty="0"/>
              <a:t>Leading:</a:t>
            </a:r>
            <a:r>
              <a:rPr lang="en-US" dirty="0"/>
              <a:t> trust, response quality, message resonance</a:t>
            </a:r>
          </a:p>
          <a:p>
            <a:pPr lvl="0"/>
            <a:r>
              <a:rPr lang="en-US" b="1" dirty="0"/>
              <a:t>Activation:</a:t>
            </a:r>
            <a:r>
              <a:rPr lang="en-US" dirty="0"/>
              <a:t> first meaningful shopping-assistant use</a:t>
            </a:r>
          </a:p>
          <a:p>
            <a:pPr lvl="0"/>
            <a:r>
              <a:rPr lang="en-US" b="1" dirty="0"/>
              <a:t>Engagement:</a:t>
            </a:r>
            <a:r>
              <a:rPr lang="en-US" dirty="0"/>
              <a:t> repeat usage, session depth</a:t>
            </a:r>
          </a:p>
          <a:p>
            <a:pPr lvl="0"/>
            <a:r>
              <a:rPr lang="en-US" b="1" dirty="0"/>
              <a:t>Commercial:</a:t>
            </a:r>
            <a:r>
              <a:rPr lang="en-US" dirty="0"/>
              <a:t> conversion and purchase completion</a:t>
            </a:r>
          </a:p>
          <a:p>
            <a:endParaRPr lang="en-US" b="1" dirty="0"/>
          </a:p>
          <a:p>
            <a:r>
              <a:rPr lang="en-US" b="1" dirty="0"/>
              <a:t>Internationalization</a:t>
            </a:r>
          </a:p>
          <a:p>
            <a:r>
              <a:rPr lang="en-US" dirty="0"/>
              <a:t>For </a:t>
            </a:r>
            <a:r>
              <a:rPr lang="en-US" b="1" dirty="0"/>
              <a:t>Rufus in Japan</a:t>
            </a:r>
            <a:r>
              <a:rPr lang="en-US" dirty="0"/>
              <a:t>, localization meant more than translation: </a:t>
            </a:r>
            <a:r>
              <a:rPr lang="en-US" b="1" dirty="0"/>
              <a:t>tone, tokenization, honorifics, and interaction design</a:t>
            </a:r>
            <a:r>
              <a:rPr lang="en-US" dirty="0"/>
              <a:t>. I turned that work into a </a:t>
            </a:r>
            <a:r>
              <a:rPr lang="en-US" b="1" dirty="0"/>
              <a:t>reusable internationalization template</a:t>
            </a:r>
            <a:r>
              <a:rPr lang="en-US" dirty="0"/>
              <a:t> for future markets.</a:t>
            </a:r>
          </a:p>
          <a:p>
            <a:endParaRPr lang="en-US" dirty="0"/>
          </a:p>
          <a:p>
            <a:r>
              <a:rPr lang="en-US" b="1" dirty="0"/>
              <a:t>External validation</a:t>
            </a:r>
          </a:p>
          <a:p>
            <a:r>
              <a:rPr lang="en-US" dirty="0"/>
              <a:t>The broader thesis was later validated at scale: Amazon publicly reported that Rufus users were </a:t>
            </a:r>
            <a:r>
              <a:rPr lang="en-US" b="1" dirty="0"/>
              <a:t>60%+ more likely to purchase</a:t>
            </a:r>
            <a:r>
              <a:rPr lang="en-US" dirty="0"/>
              <a:t>, and the product eventually reached </a:t>
            </a:r>
            <a:r>
              <a:rPr lang="en-US" b="1" dirty="0"/>
              <a:t>300M+ customers</a:t>
            </a:r>
            <a:r>
              <a:rPr lang="en-US" dirty="0"/>
              <a:t> and nearly </a:t>
            </a:r>
            <a:r>
              <a:rPr lang="en-US" b="1" dirty="0"/>
              <a:t>$12B in incremental annualized sales</a:t>
            </a:r>
            <a:r>
              <a:rPr lang="en-US" dirty="0"/>
              <a:t>.</a:t>
            </a:r>
          </a:p>
          <a:p>
            <a:endParaRPr lang="en-US" dirty="0"/>
          </a:p>
          <a:p>
            <a:r>
              <a:rPr lang="en-US" b="1" dirty="0">
                <a:effectLst/>
              </a:rPr>
              <a:t>My role:</a:t>
            </a:r>
            <a:r>
              <a:rPr lang="en-US" dirty="0"/>
              <a:t> diagnosed the customer job → reframed the product promise → aligned product/science/GTM around proof of that promise → measured adoption and trust → created a reusable localization pattern. </a:t>
            </a:r>
            <a:r>
              <a:rPr lang="en-US" b="1" dirty="0">
                <a:effectLst/>
              </a:rPr>
              <a:t>AI positioning should begin with the job the customer should trust the product to do. The product, evaluation framework, and launch criteria then need to prove that same promise.</a:t>
            </a:r>
          </a:p>
          <a:p>
            <a:endParaRPr lang="en-US" b="1" dirty="0">
              <a:effectLst/>
            </a:endParaRPr>
          </a:p>
          <a:p>
            <a:r>
              <a:rPr lang="en-US" b="1" dirty="0"/>
              <a:t>Amazon Rufus — positioning, adoption, purchase impact</a:t>
            </a:r>
            <a:br>
              <a:rPr lang="en-US" dirty="0"/>
            </a:br>
            <a:r>
              <a:rPr lang="en-US" dirty="0">
                <a:hlinkClick r:id="rId3"/>
              </a:rPr>
              <a:t>https://www.aboutamazon.com/news/retail/amazon-agentic-ai-gen-ai-shopping</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Rakuten, I worked on the </a:t>
            </a:r>
            <a:r>
              <a:rPr lang="en-US" b="1" dirty="0"/>
              <a:t>merchant GenAI platform that later became part of RMS AI Assistant</a:t>
            </a:r>
            <a:r>
              <a:rPr lang="en-US" dirty="0"/>
              <a:t>, serving </a:t>
            </a:r>
            <a:r>
              <a:rPr lang="en-US" b="1" dirty="0"/>
              <a:t>50K+ Rakuten </a:t>
            </a:r>
            <a:r>
              <a:rPr lang="en-US" b="1" dirty="0" err="1"/>
              <a:t>Ichiba</a:t>
            </a:r>
            <a:r>
              <a:rPr lang="en-US" b="1" dirty="0"/>
              <a:t> merchants</a:t>
            </a:r>
            <a:r>
              <a:rPr lang="en-US" dirty="0"/>
              <a:t>, alongside a broader AI strategy spanning </a:t>
            </a:r>
            <a:r>
              <a:rPr lang="en-US" b="1" dirty="0"/>
              <a:t>70+ Rakuten services</a:t>
            </a:r>
            <a:r>
              <a:rPr lang="en-US" dirty="0"/>
              <a:t>.</a:t>
            </a:r>
          </a:p>
          <a:p>
            <a:endParaRPr lang="en-US" dirty="0"/>
          </a:p>
          <a:p>
            <a:r>
              <a:rPr lang="en-US" dirty="0"/>
              <a:t>My focus was </a:t>
            </a:r>
            <a:r>
              <a:rPr lang="en-US" b="1" dirty="0"/>
              <a:t>market intelligence, differentiation, adoption, and product-market fit</a:t>
            </a:r>
            <a:r>
              <a:rPr lang="en-US" dirty="0"/>
              <a:t>.</a:t>
            </a:r>
          </a:p>
          <a:p>
            <a:r>
              <a:rPr lang="en-US" b="1" dirty="0"/>
              <a:t>Market signal → merchant workflow → positioning → roadmap → adoption</a:t>
            </a:r>
            <a:endParaRPr lang="en-US" dirty="0"/>
          </a:p>
          <a:p>
            <a:endParaRPr lang="en-US" b="1" dirty="0"/>
          </a:p>
          <a:p>
            <a:r>
              <a:rPr lang="en-US" b="1" dirty="0"/>
              <a:t>Differentiation</a:t>
            </a:r>
          </a:p>
          <a:p>
            <a:r>
              <a:rPr lang="en-US" dirty="0"/>
              <a:t>In AI, model capabilities converge quickly. The durable advantage was: </a:t>
            </a:r>
            <a:r>
              <a:rPr lang="en-US" b="1" dirty="0"/>
              <a:t>Model → proprietary context → workflow → economics → distribution</a:t>
            </a:r>
            <a:endParaRPr lang="en-US" dirty="0"/>
          </a:p>
          <a:p>
            <a:r>
              <a:rPr lang="en-US" dirty="0"/>
              <a:t>The thesis was: </a:t>
            </a:r>
            <a:r>
              <a:rPr lang="en-US" b="1" dirty="0"/>
              <a:t>“Buy intelligence; build context.”</a:t>
            </a:r>
            <a:endParaRPr lang="en-US" dirty="0"/>
          </a:p>
          <a:p>
            <a:r>
              <a:rPr lang="en-US" dirty="0"/>
              <a:t>Rather than compete on the model itself, we focused on Rakuten’s proprietary merchant context, distribution, and high-frequency workflows inside RMS.</a:t>
            </a:r>
          </a:p>
          <a:p>
            <a:endParaRPr lang="en-US" b="1" dirty="0"/>
          </a:p>
          <a:p>
            <a:r>
              <a:rPr lang="en-US" b="1" dirty="0"/>
              <a:t>Messaging + roadmap pivot</a:t>
            </a:r>
          </a:p>
          <a:p>
            <a:r>
              <a:rPr lang="en-US" dirty="0"/>
              <a:t>We initially explored a standalone merchant chatbot positioned as </a:t>
            </a:r>
            <a:r>
              <a:rPr lang="en-US" b="1" dirty="0"/>
              <a:t>“an AI assistant for your store.”</a:t>
            </a:r>
            <a:r>
              <a:rPr lang="en-US" dirty="0"/>
              <a:t> Adoption lagged because the promise was broader than the value users experienced.</a:t>
            </a:r>
          </a:p>
          <a:p>
            <a:endParaRPr lang="en-US" dirty="0"/>
          </a:p>
          <a:p>
            <a:r>
              <a:rPr lang="en-US" dirty="0"/>
              <a:t>I helped </a:t>
            </a:r>
            <a:r>
              <a:rPr lang="en-US" b="1" dirty="0"/>
              <a:t>deprioritize the standalone chatbot as the primary experience</a:t>
            </a:r>
            <a:r>
              <a:rPr lang="en-US" dirty="0"/>
              <a:t> and shift investment toward embedded workflows such as </a:t>
            </a:r>
            <a:r>
              <a:rPr lang="en-US" b="1" dirty="0"/>
              <a:t>product listing, customer support, and sales analysis</a:t>
            </a:r>
            <a:r>
              <a:rPr lang="en-US" dirty="0"/>
              <a:t>.</a:t>
            </a:r>
          </a:p>
          <a:p>
            <a:endParaRPr lang="en-US" dirty="0"/>
          </a:p>
          <a:p>
            <a:r>
              <a:rPr lang="en-US" dirty="0"/>
              <a:t>The sharper value proposition became: </a:t>
            </a:r>
            <a:r>
              <a:rPr lang="en-US" b="1" dirty="0"/>
              <a:t>“List a product in 12 minutes instead of 45.” </a:t>
            </a:r>
            <a:r>
              <a:rPr lang="en-US" dirty="0"/>
              <a:t>That shift improved product-market fit and, internally, drove </a:t>
            </a:r>
            <a:r>
              <a:rPr lang="en-US" b="1" dirty="0"/>
              <a:t>~40% adoption and +15% conversion</a:t>
            </a:r>
            <a:r>
              <a:rPr lang="en-US" dirty="0"/>
              <a:t>.</a:t>
            </a:r>
          </a:p>
          <a:p>
            <a:endParaRPr lang="en-US" dirty="0"/>
          </a:p>
          <a:p>
            <a:r>
              <a:rPr lang="en-US" b="1" dirty="0">
                <a:effectLst/>
              </a:rPr>
              <a:t>My role:</a:t>
            </a:r>
            <a:r>
              <a:rPr lang="en-US" dirty="0"/>
              <a:t> evaluated where AI could create defensible value → defined the “buy intelligence, build context” thesis → used product and economic evidence to redirect the roadmap → embedded AI into high-value merchant workflows → measured adoption and business impact. </a:t>
            </a:r>
            <a:r>
              <a:rPr lang="en-US" b="1" dirty="0">
                <a:effectLst/>
              </a:rPr>
              <a:t>In enterprise AI, the model is often not the durable moat. Proprietary context, integration into an important workflow, distribution, and measurable economics are more defensible.</a:t>
            </a:r>
          </a:p>
          <a:p>
            <a:endParaRPr lang="en-US" b="1" dirty="0">
              <a:effectLst/>
            </a:endParaRPr>
          </a:p>
          <a:p>
            <a:r>
              <a:rPr lang="en-US" b="1" dirty="0"/>
              <a:t>Rakuten RMS AI Assistant — exact product, merchant scale, workflows</a:t>
            </a:r>
            <a:br>
              <a:rPr lang="en-US" dirty="0"/>
            </a:br>
            <a:r>
              <a:rPr lang="en-US" dirty="0">
                <a:hlinkClick r:id="rId3"/>
              </a:rPr>
              <a:t>https://global.rakuten.com/corp/news/press/2024/0430_01.html</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This is a complementary PLG example, not the primary FSI go-to-market motion.</a:t>
            </a:r>
          </a:p>
          <a:p>
            <a:endParaRPr lang="en-US"/>
          </a:p>
          <a:p>
            <a:r>
              <a:rPr lang="en-US"/>
              <a:t>At Microsoft, I worked on Azure AI platform growth and enterprise GTM across the developer lifecycle that would later become central to Azure AI Studio and Azure AI Foundry.</a:t>
            </a:r>
          </a:p>
          <a:p>
            <a:endParaRPr lang="en-US"/>
          </a:p>
          <a:p>
            <a:r>
              <a:rPr lang="en-US"/>
              <a:t>The journey was: Discover → evaluate → deploy → production → expand.</a:t>
            </a:r>
          </a:p>
          <a:p>
            <a:endParaRPr lang="en-US"/>
          </a:p>
          <a:p>
            <a:r>
              <a:rPr lang="en-US"/>
              <a:t>I focused on onboarding, activation, retention, expansion and win-back. Internally, that work drove activation +262%, increased NRR from 102% to 128%, reduced churn from 14% to 6.5%, and improved win-back from 4% to 22%.</a:t>
            </a:r>
          </a:p>
          <a:p>
            <a:endParaRPr lang="en-US"/>
          </a:p>
          <a:p>
            <a:r>
              <a:rPr lang="en-US"/>
              <a:t>Self-service adoption</a:t>
            </a:r>
          </a:p>
          <a:p>
            <a:r>
              <a:rPr lang="en-US"/>
              <a:t>I focused on time-to-first-value: how quickly developers moved from evaluation to a meaningful deployed workload. I used cohort and propensity analysis to identify where developers stalled, prioritize lifecycle interventions and measure durable adoption.</a:t>
            </a:r>
          </a:p>
          <a:p>
            <a:endParaRPr lang="en-US"/>
          </a:p>
          <a:p>
            <a:r>
              <a:rPr lang="en-US"/>
              <a:t>The goal was not more signups. It was moving developers from experimentation to sustained production use.</a:t>
            </a:r>
          </a:p>
          <a:p>
            <a:endParaRPr lang="en-US"/>
          </a:p>
          <a:p>
            <a:r>
              <a:rPr lang="en-US"/>
              <a:t>Relevance to the FSI role</a:t>
            </a:r>
          </a:p>
          <a:p>
            <a:r>
              <a:rPr lang="en-US"/>
              <a:t>This shows that I understand the full adoption lifecycle. But for Mistral Financial Services, I would not lead with top-of-funnel demand. I would lead with live mission-critical workloads and field proof, then apply lifecycle and demand-generation tools where the field needs them.</a:t>
            </a:r>
          </a:p>
          <a:p>
            <a:endParaRPr lang="en-US"/>
          </a:p>
          <a:p>
            <a:r>
              <a:rPr lang="en-US"/>
              <a:t>The figures on this slide are candidate-provided/internal. The public Azure source supports the product-name and platform context, not those internal outcomes.</a:t>
            </a:r>
          </a:p>
          <a:p>
            <a:endParaRPr lang="en-US"/>
          </a:p>
          <a:p>
            <a:r>
              <a:rPr lang="en-US"/>
              <a:t>Public context:</a:t>
            </a:r>
          </a:p>
          <a:p>
            <a:r>
              <a:rPr lang="en-US"/>
              <a:t>https://azure.microsoft.com/en-us/blog/the-next-wave-of-azure-innovation-azure-ai-foundry-intelligent-data-and-more/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17001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2264765"/>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pic>
        <p:nvPicPr>
          <p:cNvPr id="2" name="Official Mistral header symbol" descr="image.png"/>
          <p:cNvPicPr>
            <a:picLocks noChangeAspect="1"/>
          </p:cNvPicPr>
          <p:nvPr/>
        </p:nvPicPr>
        <p:blipFill>
          <a:blip r:embed="rId3"/>
          <a:stretch>
            <a:fillRect/>
          </a:stretch>
        </p:blipFill>
        <p:spPr>
          <a:xfrm>
            <a:off x="182880" y="182880"/>
            <a:ext cx="228600" cy="164592"/>
          </a:xfrm>
          <a:prstGeom prst="rect">
            <a:avLst/>
          </a:prstGeom>
          <a:ln/>
        </p:spPr>
      </p:pic>
      <p:pic>
        <p:nvPicPr>
          <p:cNvPr id="3" name="Official Mistral footer symbol" descr="image.png"/>
          <p:cNvPicPr>
            <a:picLocks noChangeAspect="1"/>
          </p:cNvPicPr>
          <p:nvPr/>
        </p:nvPicPr>
        <p:blipFill>
          <a:blip r:embed="rId3"/>
          <a:stretch>
            <a:fillRect/>
          </a:stretch>
        </p:blipFill>
        <p:spPr>
          <a:xfrm>
            <a:off x="11594592" y="6400800"/>
            <a:ext cx="228600" cy="164592"/>
          </a:xfrm>
          <a:prstGeom prst="rect">
            <a:avLst/>
          </a:prstGeom>
          <a:ln/>
        </p:spPr>
      </p:pic>
      <p:sp>
        <p:nvSpPr>
          <p:cNvPr id="4" name="Section Eyebrow"/>
          <p:cNvSpPr txBox="1"/>
          <p:nvPr/>
        </p:nvSpPr>
        <p:spPr>
          <a:xfrm>
            <a:off x="621792" y="201168"/>
            <a:ext cx="9326880" cy="215444"/>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1">
                <a:solidFill>
                  <a:srgbClr val="FF4B00"/>
                </a:solidFill>
                <a:latin typeface="Arial"/>
              </a:rPr>
              <a:t>WHY I FIT · MISTRAL INDUSTRIES PMM</a:t>
            </a:r>
          </a:p>
        </p:txBody>
      </p:sp>
      <p:sp>
        <p:nvSpPr>
          <p:cNvPr id="5" name="Page Number"/>
          <p:cNvSpPr txBox="1"/>
          <p:nvPr/>
        </p:nvSpPr>
        <p:spPr>
          <a:xfrm>
            <a:off x="11137392" y="6400800"/>
            <a:ext cx="292608" cy="155448"/>
          </a:xfrm>
          <a:prstGeom prst="rect">
            <a:avLst/>
          </a:prstGeom>
          <a:noFill/>
          <a:ln/>
        </p:spPr>
        <p:txBody>
          <a:bodyPr wrap="square" lIns="0" tIns="0" rIns="0" bIns="0" anchor="t">
            <a:spAutoFit/>
          </a:bodyPr>
          <a:lstStyle/>
          <a:p>
            <a:pPr algn="l">
              <a:lnSpc>
                <a:spcPct val="100000"/>
              </a:lnSpc>
              <a:spcBef>
                <a:spcPts val="0"/>
              </a:spcBef>
              <a:spcAft>
                <a:spcPts val="0"/>
              </a:spcAft>
            </a:pPr>
            <a:r>
              <a:rPr lang="en-US" sz="1000" b="0" i="0">
                <a:solidFill>
                  <a:srgbClr val="8A857E"/>
                </a:solidFill>
                <a:latin typeface="Arial"/>
              </a:rPr>
              <a:t>1</a:t>
            </a:r>
            <a:endParaRPr sz="1000" b="0" i="0">
              <a:solidFill>
                <a:srgbClr val="55504A"/>
              </a:solidFill>
              <a:latin typeface="Arial"/>
            </a:endParaRPr>
          </a:p>
        </p:txBody>
      </p:sp>
      <p:sp>
        <p:nvSpPr>
          <p:cNvPr id="6" name="Slide Title"/>
          <p:cNvSpPr txBox="1"/>
          <p:nvPr/>
        </p:nvSpPr>
        <p:spPr>
          <a:xfrm>
            <a:off x="502920" y="576072"/>
            <a:ext cx="11155680" cy="539496"/>
          </a:xfrm>
          <a:prstGeom prst="rect">
            <a:avLst/>
          </a:prstGeom>
          <a:noFill/>
          <a:ln/>
        </p:spPr>
        <p:txBody>
          <a:bodyPr wrap="square" lIns="0" tIns="0" rIns="0" bIns="0" anchor="t">
            <a:spAutoFit/>
          </a:bodyPr>
          <a:lstStyle/>
          <a:p>
            <a:pPr algn="l">
              <a:lnSpc>
                <a:spcPct val="100000"/>
              </a:lnSpc>
              <a:spcBef>
                <a:spcPts val="0"/>
              </a:spcBef>
              <a:spcAft>
                <a:spcPts val="0"/>
              </a:spcAft>
            </a:pPr>
            <a:r>
              <a:rPr lang="en-US" sz="3500" b="1">
                <a:solidFill>
                  <a:srgbClr val="121212"/>
                </a:solidFill>
                <a:latin typeface="Arial"/>
              </a:rPr>
              <a:t>I turn regulated AI proof into repeatable field wins</a:t>
            </a:r>
          </a:p>
        </p:txBody>
      </p:sp>
      <p:sp>
        <p:nvSpPr>
          <p:cNvPr id="7" name="Role Accent"/>
          <p:cNvSpPr/>
          <p:nvPr/>
        </p:nvSpPr>
        <p:spPr>
          <a:xfrm>
            <a:off x="502920" y="1170432"/>
            <a:ext cx="64008" cy="347472"/>
          </a:xfrm>
          <a:prstGeom prst="rect">
            <a:avLst/>
          </a:prstGeom>
          <a:solidFill>
            <a:srgbClr val="FF4B00"/>
          </a:solidFill>
          <a:ln w="635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le Line"/>
          <p:cNvSpPr txBox="1"/>
          <p:nvPr/>
        </p:nvSpPr>
        <p:spPr>
          <a:xfrm>
            <a:off x="658368" y="1225296"/>
            <a:ext cx="10881360" cy="215798"/>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1">
                <a:solidFill>
                  <a:srgbClr val="FF4B00"/>
                </a:solidFill>
                <a:latin typeface="Arial"/>
              </a:rPr>
              <a:t>MY EDGE  </a:t>
            </a:r>
            <a:r>
              <a:rPr lang="en-US" sz="1400" b="0">
                <a:solidFill>
                  <a:srgbClr val="55504A"/>
                </a:solidFill>
                <a:latin typeface="Arial"/>
              </a:rPr>
              <a:t>10 years · FSI buyer perspective + technical AI credibility + enterprise GTM</a:t>
            </a:r>
          </a:p>
        </p:txBody>
      </p:sp>
      <p:cxnSp>
        <p:nvCxnSpPr>
          <p:cNvPr id="9" name="Header Divider"/>
          <p:cNvCxnSpPr/>
          <p:nvPr/>
        </p:nvCxnSpPr>
        <p:spPr>
          <a:xfrm>
            <a:off x="502920" y="1554480"/>
            <a:ext cx="11155680" cy="0"/>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sp>
        <p:nvSpPr>
          <p:cNvPr id="10" name="Takeaway"/>
          <p:cNvSpPr txBox="1"/>
          <p:nvPr/>
        </p:nvSpPr>
        <p:spPr>
          <a:xfrm>
            <a:off x="502920" y="1627632"/>
            <a:ext cx="11155680" cy="215444"/>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1">
                <a:solidFill>
                  <a:srgbClr val="FF4B00"/>
                </a:solidFill>
                <a:latin typeface="Arial"/>
              </a:rPr>
              <a:t>TAKEAWAY  </a:t>
            </a:r>
            <a:r>
              <a:rPr lang="en-US" sz="1400" b="1">
                <a:solidFill>
                  <a:srgbClr val="121212"/>
                </a:solidFill>
                <a:latin typeface="Arial"/>
              </a:rPr>
              <a:t>Regulated buyers buy production-ready workloads—not models alone.</a:t>
            </a:r>
          </a:p>
        </p:txBody>
      </p:sp>
      <p:sp>
        <p:nvSpPr>
          <p:cNvPr id="49" name="Scorecard Band"/>
          <p:cNvSpPr/>
          <p:nvPr/>
        </p:nvSpPr>
        <p:spPr>
          <a:xfrm>
            <a:off x="502920" y="5230368"/>
            <a:ext cx="11155680" cy="804672"/>
          </a:xfrm>
          <a:prstGeom prst="rect">
            <a:avLst/>
          </a:prstGeom>
          <a:solidFill>
            <a:srgbClr val="121212"/>
          </a:solidFill>
          <a:ln w="635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Scorecard Label"/>
          <p:cNvSpPr txBox="1"/>
          <p:nvPr/>
        </p:nvSpPr>
        <p:spPr>
          <a:xfrm>
            <a:off x="713232" y="5321808"/>
            <a:ext cx="1371600" cy="430887"/>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1">
                <a:solidFill>
                  <a:srgbClr val="FFC400"/>
                </a:solidFill>
                <a:latin typeface="Arial"/>
              </a:rPr>
              <a:t>12-MONTH
SCORECARD</a:t>
            </a:r>
          </a:p>
        </p:txBody>
      </p:sp>
      <p:sp>
        <p:nvSpPr>
          <p:cNvPr id="51" name="North Star 1"/>
          <p:cNvSpPr txBox="1"/>
          <p:nvPr/>
        </p:nvSpPr>
        <p:spPr>
          <a:xfrm>
            <a:off x="2240280" y="5321808"/>
            <a:ext cx="2331720" cy="215444"/>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1">
                <a:solidFill>
                  <a:srgbClr val="FFFFFF"/>
                </a:solidFill>
                <a:latin typeface="Arial"/>
              </a:rPr>
              <a:t>HELP THE FIELD WIN</a:t>
            </a:r>
          </a:p>
        </p:txBody>
      </p:sp>
      <p:sp>
        <p:nvSpPr>
          <p:cNvPr id="52" name="North Star 1 Detail"/>
          <p:cNvSpPr txBox="1"/>
          <p:nvPr/>
        </p:nvSpPr>
        <p:spPr>
          <a:xfrm>
            <a:off x="2240280" y="5650992"/>
            <a:ext cx="2514600" cy="215444"/>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0">
                <a:solidFill>
                  <a:srgbClr val="FFFFFF"/>
                </a:solidFill>
                <a:latin typeface="Arial"/>
              </a:rPr>
              <a:t>production · velocity · win %</a:t>
            </a:r>
          </a:p>
        </p:txBody>
      </p:sp>
      <p:sp>
        <p:nvSpPr>
          <p:cNvPr id="53" name="Outcome Flow"/>
          <p:cNvSpPr txBox="1"/>
          <p:nvPr/>
        </p:nvSpPr>
        <p:spPr>
          <a:xfrm>
            <a:off x="4754880" y="5321808"/>
            <a:ext cx="3291840" cy="215444"/>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1">
                <a:solidFill>
                  <a:srgbClr val="FF4B00"/>
                </a:solidFill>
                <a:latin typeface="Arial"/>
              </a:rPr>
              <a:t>PRODUCTION → WIN → EXPAND</a:t>
            </a:r>
          </a:p>
        </p:txBody>
      </p:sp>
      <p:sp>
        <p:nvSpPr>
          <p:cNvPr id="54" name="Outcome Flow Detail"/>
          <p:cNvSpPr txBox="1"/>
          <p:nvPr/>
        </p:nvSpPr>
        <p:spPr>
          <a:xfrm>
            <a:off x="4754880" y="5650992"/>
            <a:ext cx="3291840" cy="215444"/>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0">
                <a:solidFill>
                  <a:srgbClr val="FFFFFF"/>
                </a:solidFill>
                <a:latin typeface="Arial"/>
              </a:rPr>
              <a:t>repeatable account growth</a:t>
            </a:r>
          </a:p>
        </p:txBody>
      </p:sp>
      <p:sp>
        <p:nvSpPr>
          <p:cNvPr id="55" name="North Star 2"/>
          <p:cNvSpPr txBox="1"/>
          <p:nvPr/>
        </p:nvSpPr>
        <p:spPr>
          <a:xfrm>
            <a:off x="8229600" y="5321808"/>
            <a:ext cx="2880360" cy="215444"/>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1">
                <a:solidFill>
                  <a:srgbClr val="FFFFFF"/>
                </a:solidFill>
                <a:latin typeface="Arial"/>
              </a:rPr>
              <a:t>LEAD PRODUCTION AI</a:t>
            </a:r>
          </a:p>
        </p:txBody>
      </p:sp>
      <p:sp>
        <p:nvSpPr>
          <p:cNvPr id="56" name="North Star 2 Detail"/>
          <p:cNvSpPr txBox="1"/>
          <p:nvPr/>
        </p:nvSpPr>
        <p:spPr>
          <a:xfrm>
            <a:off x="8229600" y="5650992"/>
            <a:ext cx="2880360" cy="215444"/>
          </a:xfrm>
          <a:prstGeom prst="rect">
            <a:avLst/>
          </a:prstGeom>
          <a:noFill/>
          <a:ln/>
        </p:spPr>
        <p:txBody>
          <a:bodyPr wrap="square" lIns="0" tIns="0" rIns="0" bIns="0" anchor="t">
            <a:spAutoFit/>
          </a:bodyPr>
          <a:lstStyle/>
          <a:p>
            <a:pPr algn="l">
              <a:lnSpc>
                <a:spcPct val="100000"/>
              </a:lnSpc>
              <a:spcBef>
                <a:spcPts val="0"/>
              </a:spcBef>
              <a:spcAft>
                <a:spcPts val="0"/>
              </a:spcAft>
            </a:pPr>
            <a:r>
              <a:rPr lang="en-US" sz="1400" b="0">
                <a:solidFill>
                  <a:srgbClr val="FFFFFF"/>
                </a:solidFill>
                <a:latin typeface="Arial"/>
              </a:rPr>
              <a:t>wins · perception · revenue</a:t>
            </a:r>
          </a:p>
        </p:txBody>
      </p:sp>
      <p:sp>
        <p:nvSpPr>
          <p:cNvPr id="57" name="Source Footnote"/>
          <p:cNvSpPr txBox="1"/>
          <p:nvPr/>
        </p:nvSpPr>
        <p:spPr>
          <a:xfrm>
            <a:off x="566928" y="6172200"/>
            <a:ext cx="10469880" cy="118872"/>
          </a:xfrm>
          <a:prstGeom prst="rect">
            <a:avLst/>
          </a:prstGeom>
          <a:noFill/>
          <a:ln/>
        </p:spPr>
        <p:txBody>
          <a:bodyPr wrap="square" lIns="0" tIns="0" rIns="0" bIns="0" anchor="t">
            <a:spAutoFit/>
          </a:bodyPr>
          <a:lstStyle/>
          <a:p>
            <a:pPr algn="l">
              <a:lnSpc>
                <a:spcPct val="100000"/>
              </a:lnSpc>
              <a:spcBef>
                <a:spcPts val="0"/>
              </a:spcBef>
              <a:spcAft>
                <a:spcPts val="0"/>
              </a:spcAft>
            </a:pPr>
            <a:r>
              <a:rPr sz="800" b="0" i="0">
                <a:solidFill>
                  <a:srgbClr val="8A857E"/>
                </a:solidFill>
                <a:latin typeface="Arial"/>
              </a:rPr>
              <a:t>Source: Candidate-provided FSI interview framework; demand generation follows demonstrated field need.</a:t>
            </a:r>
          </a:p>
        </p:txBody>
      </p:sp>
      <p:sp>
        <p:nvSpPr>
          <p:cNvPr id="58" name="TextBox 57"/>
          <p:cNvSpPr txBox="1"/>
          <p:nvPr/>
        </p:nvSpPr>
        <p:spPr>
          <a:xfrm>
            <a:off x="640080" y="2011680"/>
            <a:ext cx="3017520" cy="256032"/>
          </a:xfrm>
          <a:prstGeom prst="rect">
            <a:avLst/>
          </a:prstGeom>
          <a:noFill/>
        </p:spPr>
        <p:txBody>
          <a:bodyPr wrap="square" lIns="0" tIns="0" rIns="0" bIns="0" anchor="t">
            <a:spAutoFit/>
          </a:bodyPr>
          <a:lstStyle/>
          <a:p>
            <a:pPr algn="l"/>
            <a:r>
              <a:rPr sz="1400" b="1">
                <a:solidFill>
                  <a:srgbClr val="FF4B00"/>
                </a:solidFill>
                <a:latin typeface="Arial"/>
              </a:rPr>
              <a:t>WHY ME</a:t>
            </a:r>
          </a:p>
        </p:txBody>
      </p:sp>
      <p:sp>
        <p:nvSpPr>
          <p:cNvPr id="59" name="TextBox 58"/>
          <p:cNvSpPr txBox="1"/>
          <p:nvPr/>
        </p:nvSpPr>
        <p:spPr>
          <a:xfrm>
            <a:off x="640080" y="2395728"/>
            <a:ext cx="320040" cy="201168"/>
          </a:xfrm>
          <a:prstGeom prst="rect">
            <a:avLst/>
          </a:prstGeom>
          <a:noFill/>
        </p:spPr>
        <p:txBody>
          <a:bodyPr wrap="square" lIns="0" tIns="0" rIns="0" bIns="0" anchor="t">
            <a:spAutoFit/>
          </a:bodyPr>
          <a:lstStyle/>
          <a:p>
            <a:pPr algn="l"/>
            <a:r>
              <a:rPr sz="1400" b="1">
                <a:solidFill>
                  <a:srgbClr val="FF4B00"/>
                </a:solidFill>
                <a:latin typeface="Arial"/>
              </a:rPr>
              <a:t>01</a:t>
            </a:r>
          </a:p>
        </p:txBody>
      </p:sp>
      <p:sp>
        <p:nvSpPr>
          <p:cNvPr id="60" name="TextBox 59"/>
          <p:cNvSpPr txBox="1"/>
          <p:nvPr/>
        </p:nvSpPr>
        <p:spPr>
          <a:xfrm>
            <a:off x="1051560" y="2386584"/>
            <a:ext cx="2514600" cy="219456"/>
          </a:xfrm>
          <a:prstGeom prst="rect">
            <a:avLst/>
          </a:prstGeom>
          <a:noFill/>
        </p:spPr>
        <p:txBody>
          <a:bodyPr wrap="square" lIns="0" tIns="0" rIns="0" bIns="0" anchor="t">
            <a:spAutoFit/>
          </a:bodyPr>
          <a:lstStyle/>
          <a:p>
            <a:pPr algn="l"/>
            <a:r>
              <a:rPr sz="1400" b="1">
                <a:solidFill>
                  <a:srgbClr val="FF4B00"/>
                </a:solidFill>
                <a:latin typeface="Arial"/>
              </a:rPr>
              <a:t>FSI BUYER DEPTH</a:t>
            </a:r>
          </a:p>
        </p:txBody>
      </p:sp>
      <p:sp>
        <p:nvSpPr>
          <p:cNvPr id="61" name="TextBox 60"/>
          <p:cNvSpPr txBox="1"/>
          <p:nvPr/>
        </p:nvSpPr>
        <p:spPr>
          <a:xfrm>
            <a:off x="1051560" y="2679192"/>
            <a:ext cx="2578608" cy="566928"/>
          </a:xfrm>
          <a:prstGeom prst="rect">
            <a:avLst/>
          </a:prstGeom>
          <a:noFill/>
        </p:spPr>
        <p:txBody>
          <a:bodyPr wrap="square" lIns="0" tIns="0" rIns="0" bIns="0" anchor="t">
            <a:spAutoFit/>
          </a:bodyPr>
          <a:lstStyle/>
          <a:p>
            <a:pPr algn="l"/>
            <a:r>
              <a:rPr sz="1400" b="0">
                <a:solidFill>
                  <a:srgbClr val="121212"/>
                </a:solidFill>
                <a:latin typeface="Arial"/>
              </a:rPr>
              <a:t>Buyer-side at D. E. Shaw; regulated cloud + AI GTM at Microsoft and AWS.</a:t>
            </a:r>
          </a:p>
        </p:txBody>
      </p:sp>
      <p:sp>
        <p:nvSpPr>
          <p:cNvPr id="62" name="TextBox 61"/>
          <p:cNvSpPr txBox="1"/>
          <p:nvPr/>
        </p:nvSpPr>
        <p:spPr>
          <a:xfrm>
            <a:off x="640080" y="3273552"/>
            <a:ext cx="320040" cy="201168"/>
          </a:xfrm>
          <a:prstGeom prst="rect">
            <a:avLst/>
          </a:prstGeom>
          <a:noFill/>
        </p:spPr>
        <p:txBody>
          <a:bodyPr wrap="square" lIns="0" tIns="0" rIns="0" bIns="0" anchor="t">
            <a:spAutoFit/>
          </a:bodyPr>
          <a:lstStyle/>
          <a:p>
            <a:pPr algn="l"/>
            <a:r>
              <a:rPr sz="1400" b="1">
                <a:solidFill>
                  <a:srgbClr val="FF4B00"/>
                </a:solidFill>
                <a:latin typeface="Arial"/>
              </a:rPr>
              <a:t>02</a:t>
            </a:r>
          </a:p>
        </p:txBody>
      </p:sp>
      <p:sp>
        <p:nvSpPr>
          <p:cNvPr id="63" name="TextBox 62"/>
          <p:cNvSpPr txBox="1"/>
          <p:nvPr/>
        </p:nvSpPr>
        <p:spPr>
          <a:xfrm>
            <a:off x="1051560" y="3264408"/>
            <a:ext cx="2514600" cy="219456"/>
          </a:xfrm>
          <a:prstGeom prst="rect">
            <a:avLst/>
          </a:prstGeom>
          <a:noFill/>
        </p:spPr>
        <p:txBody>
          <a:bodyPr wrap="square" lIns="0" tIns="0" rIns="0" bIns="0" anchor="t">
            <a:spAutoFit/>
          </a:bodyPr>
          <a:lstStyle/>
          <a:p>
            <a:pPr algn="l"/>
            <a:r>
              <a:rPr sz="1400" b="1">
                <a:solidFill>
                  <a:srgbClr val="FF4B00"/>
                </a:solidFill>
                <a:latin typeface="Arial"/>
              </a:rPr>
              <a:t>TECHNICAL AI CREDIBILITY</a:t>
            </a:r>
          </a:p>
        </p:txBody>
      </p:sp>
      <p:sp>
        <p:nvSpPr>
          <p:cNvPr id="64" name="TextBox 63"/>
          <p:cNvSpPr txBox="1"/>
          <p:nvPr/>
        </p:nvSpPr>
        <p:spPr>
          <a:xfrm>
            <a:off x="1051560" y="3557016"/>
            <a:ext cx="2578608" cy="566928"/>
          </a:xfrm>
          <a:prstGeom prst="rect">
            <a:avLst/>
          </a:prstGeom>
          <a:noFill/>
        </p:spPr>
        <p:txBody>
          <a:bodyPr wrap="square" lIns="0" tIns="0" rIns="0" bIns="0" anchor="t">
            <a:spAutoFit/>
          </a:bodyPr>
          <a:lstStyle/>
          <a:p>
            <a:pPr algn="l"/>
            <a:r>
              <a:rPr sz="1400" b="0">
                <a:solidFill>
                  <a:srgbClr val="121212"/>
                </a:solidFill>
                <a:latin typeface="Arial"/>
              </a:rPr>
              <a:t>Threat models, production proof and AI positioning across Amazon + Rakuten.</a:t>
            </a:r>
          </a:p>
        </p:txBody>
      </p:sp>
      <p:sp>
        <p:nvSpPr>
          <p:cNvPr id="65" name="TextBox 64"/>
          <p:cNvSpPr txBox="1"/>
          <p:nvPr/>
        </p:nvSpPr>
        <p:spPr>
          <a:xfrm>
            <a:off x="640080" y="4315968"/>
            <a:ext cx="320040" cy="201168"/>
          </a:xfrm>
          <a:prstGeom prst="rect">
            <a:avLst/>
          </a:prstGeom>
          <a:noFill/>
        </p:spPr>
        <p:txBody>
          <a:bodyPr wrap="square" lIns="0" tIns="0" rIns="0" bIns="0" anchor="t">
            <a:spAutoFit/>
          </a:bodyPr>
          <a:lstStyle/>
          <a:p>
            <a:pPr algn="l"/>
            <a:r>
              <a:rPr sz="1400" b="1">
                <a:solidFill>
                  <a:srgbClr val="FF4B00"/>
                </a:solidFill>
                <a:latin typeface="Arial"/>
              </a:rPr>
              <a:t>03</a:t>
            </a:r>
          </a:p>
        </p:txBody>
      </p:sp>
      <p:sp>
        <p:nvSpPr>
          <p:cNvPr id="66" name="TextBox 65"/>
          <p:cNvSpPr txBox="1"/>
          <p:nvPr/>
        </p:nvSpPr>
        <p:spPr>
          <a:xfrm>
            <a:off x="1051560" y="4306824"/>
            <a:ext cx="2514600" cy="219456"/>
          </a:xfrm>
          <a:prstGeom prst="rect">
            <a:avLst/>
          </a:prstGeom>
          <a:noFill/>
        </p:spPr>
        <p:txBody>
          <a:bodyPr wrap="square" lIns="0" tIns="0" rIns="0" bIns="0" anchor="t">
            <a:spAutoFit/>
          </a:bodyPr>
          <a:lstStyle/>
          <a:p>
            <a:pPr algn="l"/>
            <a:r>
              <a:rPr sz="1400" b="1">
                <a:solidFill>
                  <a:srgbClr val="FF4B00"/>
                </a:solidFill>
                <a:latin typeface="Arial"/>
              </a:rPr>
              <a:t>REPEATABLE GTM</a:t>
            </a:r>
          </a:p>
        </p:txBody>
      </p:sp>
      <p:sp>
        <p:nvSpPr>
          <p:cNvPr id="67" name="TextBox 66"/>
          <p:cNvSpPr txBox="1"/>
          <p:nvPr/>
        </p:nvSpPr>
        <p:spPr>
          <a:xfrm>
            <a:off x="1051560" y="4590288"/>
            <a:ext cx="2578608" cy="566928"/>
          </a:xfrm>
          <a:prstGeom prst="rect">
            <a:avLst/>
          </a:prstGeom>
          <a:noFill/>
        </p:spPr>
        <p:txBody>
          <a:bodyPr wrap="square" lIns="0" tIns="0" rIns="0" bIns="0" anchor="t">
            <a:spAutoFit/>
          </a:bodyPr>
          <a:lstStyle/>
          <a:p>
            <a:pPr algn="l"/>
            <a:r>
              <a:rPr sz="1400" b="0">
                <a:solidFill>
                  <a:srgbClr val="121212"/>
                </a:solidFill>
                <a:latin typeface="Arial"/>
              </a:rPr>
              <a:t>Sales + FDE learning packaged into workload plays and account expansion.</a:t>
            </a:r>
          </a:p>
        </p:txBody>
      </p:sp>
      <p:sp>
        <p:nvSpPr>
          <p:cNvPr id="68" name="Rectangle 67"/>
          <p:cNvSpPr/>
          <p:nvPr/>
        </p:nvSpPr>
        <p:spPr>
          <a:xfrm>
            <a:off x="3767328" y="1993392"/>
            <a:ext cx="10972" cy="3054096"/>
          </a:xfrm>
          <a:prstGeom prst="rect">
            <a:avLst/>
          </a:prstGeom>
          <a:solidFill>
            <a:srgbClr val="E5DC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096512" y="2011680"/>
            <a:ext cx="3200400" cy="256032"/>
          </a:xfrm>
          <a:prstGeom prst="rect">
            <a:avLst/>
          </a:prstGeom>
          <a:noFill/>
        </p:spPr>
        <p:txBody>
          <a:bodyPr wrap="square" lIns="0" tIns="0" rIns="0" bIns="0" anchor="t">
            <a:spAutoFit/>
          </a:bodyPr>
          <a:lstStyle/>
          <a:p>
            <a:pPr algn="l"/>
            <a:r>
              <a:rPr sz="1400" b="1">
                <a:solidFill>
                  <a:srgbClr val="FF4B00"/>
                </a:solidFill>
                <a:latin typeface="Arial"/>
              </a:rPr>
              <a:t>HOW I OPERATE</a:t>
            </a:r>
          </a:p>
        </p:txBody>
      </p:sp>
      <p:sp>
        <p:nvSpPr>
          <p:cNvPr id="70" name="Rectangle 69"/>
          <p:cNvSpPr/>
          <p:nvPr/>
        </p:nvSpPr>
        <p:spPr>
          <a:xfrm>
            <a:off x="4096512" y="2441448"/>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4096512" y="2615184"/>
            <a:ext cx="1261872" cy="228600"/>
          </a:xfrm>
          <a:prstGeom prst="rect">
            <a:avLst/>
          </a:prstGeom>
          <a:noFill/>
        </p:spPr>
        <p:txBody>
          <a:bodyPr wrap="square" lIns="0" tIns="0" rIns="0" bIns="0" anchor="t">
            <a:spAutoFit/>
          </a:bodyPr>
          <a:lstStyle/>
          <a:p>
            <a:pPr algn="l"/>
            <a:r>
              <a:rPr sz="1400" b="1">
                <a:solidFill>
                  <a:srgbClr val="121212"/>
                </a:solidFill>
                <a:latin typeface="Arial"/>
              </a:rPr>
              <a:t>WORKLOAD</a:t>
            </a:r>
          </a:p>
        </p:txBody>
      </p:sp>
      <p:sp>
        <p:nvSpPr>
          <p:cNvPr id="72" name="TextBox 71"/>
          <p:cNvSpPr txBox="1"/>
          <p:nvPr/>
        </p:nvSpPr>
        <p:spPr>
          <a:xfrm>
            <a:off x="4096512" y="2889504"/>
            <a:ext cx="1261872" cy="548640"/>
          </a:xfrm>
          <a:prstGeom prst="rect">
            <a:avLst/>
          </a:prstGeom>
          <a:noFill/>
        </p:spPr>
        <p:txBody>
          <a:bodyPr wrap="square" lIns="0" tIns="0" rIns="0" bIns="0" anchor="t">
            <a:spAutoFit/>
          </a:bodyPr>
          <a:lstStyle/>
          <a:p>
            <a:pPr algn="l"/>
            <a:r>
              <a:rPr sz="1400" b="0">
                <a:solidFill>
                  <a:srgbClr val="55504A"/>
                </a:solidFill>
                <a:latin typeface="Arial"/>
              </a:rPr>
              <a:t>3–5 mission-critical use cases</a:t>
            </a:r>
          </a:p>
        </p:txBody>
      </p:sp>
      <p:sp>
        <p:nvSpPr>
          <p:cNvPr id="73" name="TextBox 72"/>
          <p:cNvSpPr txBox="1"/>
          <p:nvPr/>
        </p:nvSpPr>
        <p:spPr>
          <a:xfrm>
            <a:off x="5367528" y="2615184"/>
            <a:ext cx="219456" cy="228600"/>
          </a:xfrm>
          <a:prstGeom prst="rect">
            <a:avLst/>
          </a:prstGeom>
          <a:noFill/>
        </p:spPr>
        <p:txBody>
          <a:bodyPr wrap="square" lIns="0" tIns="0" rIns="0" bIns="0" anchor="t">
            <a:spAutoFit/>
          </a:bodyPr>
          <a:lstStyle/>
          <a:p>
            <a:pPr algn="ctr"/>
            <a:r>
              <a:rPr sz="1400" b="1">
                <a:solidFill>
                  <a:srgbClr val="FF4B00"/>
                </a:solidFill>
                <a:latin typeface="Arial"/>
              </a:rPr>
              <a:t>→</a:t>
            </a:r>
          </a:p>
        </p:txBody>
      </p:sp>
      <p:sp>
        <p:nvSpPr>
          <p:cNvPr id="74" name="Rectangle 73"/>
          <p:cNvSpPr/>
          <p:nvPr/>
        </p:nvSpPr>
        <p:spPr>
          <a:xfrm>
            <a:off x="5605272" y="2441448"/>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5605272" y="2615184"/>
            <a:ext cx="1261872" cy="228600"/>
          </a:xfrm>
          <a:prstGeom prst="rect">
            <a:avLst/>
          </a:prstGeom>
          <a:noFill/>
        </p:spPr>
        <p:txBody>
          <a:bodyPr wrap="square" lIns="0" tIns="0" rIns="0" bIns="0" anchor="t">
            <a:spAutoFit/>
          </a:bodyPr>
          <a:lstStyle/>
          <a:p>
            <a:pPr algn="l"/>
            <a:r>
              <a:rPr sz="1400" b="1">
                <a:solidFill>
                  <a:srgbClr val="121212"/>
                </a:solidFill>
                <a:latin typeface="Arial"/>
              </a:rPr>
              <a:t>PROOF</a:t>
            </a:r>
          </a:p>
        </p:txBody>
      </p:sp>
      <p:sp>
        <p:nvSpPr>
          <p:cNvPr id="76" name="TextBox 75"/>
          <p:cNvSpPr txBox="1"/>
          <p:nvPr/>
        </p:nvSpPr>
        <p:spPr>
          <a:xfrm>
            <a:off x="5605272" y="2889504"/>
            <a:ext cx="1261872" cy="548640"/>
          </a:xfrm>
          <a:prstGeom prst="rect">
            <a:avLst/>
          </a:prstGeom>
          <a:noFill/>
        </p:spPr>
        <p:txBody>
          <a:bodyPr wrap="square" lIns="0" tIns="0" rIns="0" bIns="0" anchor="t">
            <a:spAutoFit/>
          </a:bodyPr>
          <a:lstStyle/>
          <a:p>
            <a:pPr algn="l"/>
            <a:r>
              <a:rPr sz="1400" b="0">
                <a:solidFill>
                  <a:srgbClr val="55504A"/>
                </a:solidFill>
                <a:latin typeface="Arial"/>
              </a:rPr>
              <a:t>narrative + technical evidence</a:t>
            </a:r>
          </a:p>
        </p:txBody>
      </p:sp>
      <p:sp>
        <p:nvSpPr>
          <p:cNvPr id="77" name="TextBox 76"/>
          <p:cNvSpPr txBox="1"/>
          <p:nvPr/>
        </p:nvSpPr>
        <p:spPr>
          <a:xfrm>
            <a:off x="6876288" y="2615184"/>
            <a:ext cx="219456" cy="228600"/>
          </a:xfrm>
          <a:prstGeom prst="rect">
            <a:avLst/>
          </a:prstGeom>
          <a:noFill/>
        </p:spPr>
        <p:txBody>
          <a:bodyPr wrap="square" lIns="0" tIns="0" rIns="0" bIns="0" anchor="t">
            <a:spAutoFit/>
          </a:bodyPr>
          <a:lstStyle/>
          <a:p>
            <a:pPr algn="ctr"/>
            <a:r>
              <a:rPr sz="1400" b="1">
                <a:solidFill>
                  <a:srgbClr val="FF4B00"/>
                </a:solidFill>
                <a:latin typeface="Arial"/>
              </a:rPr>
              <a:t>→</a:t>
            </a:r>
          </a:p>
        </p:txBody>
      </p:sp>
      <p:sp>
        <p:nvSpPr>
          <p:cNvPr id="78" name="Rectangle 77"/>
          <p:cNvSpPr/>
          <p:nvPr/>
        </p:nvSpPr>
        <p:spPr>
          <a:xfrm>
            <a:off x="7114032" y="2441448"/>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7114032" y="2615184"/>
            <a:ext cx="1261872" cy="228600"/>
          </a:xfrm>
          <a:prstGeom prst="rect">
            <a:avLst/>
          </a:prstGeom>
          <a:noFill/>
        </p:spPr>
        <p:txBody>
          <a:bodyPr wrap="square" lIns="0" tIns="0" rIns="0" bIns="0" anchor="t">
            <a:spAutoFit/>
          </a:bodyPr>
          <a:lstStyle/>
          <a:p>
            <a:pPr algn="l"/>
            <a:r>
              <a:rPr sz="1400" b="1">
                <a:solidFill>
                  <a:srgbClr val="121212"/>
                </a:solidFill>
                <a:latin typeface="Arial"/>
              </a:rPr>
              <a:t>FIELD WIN</a:t>
            </a:r>
          </a:p>
        </p:txBody>
      </p:sp>
      <p:sp>
        <p:nvSpPr>
          <p:cNvPr id="80" name="TextBox 79"/>
          <p:cNvSpPr txBox="1"/>
          <p:nvPr/>
        </p:nvSpPr>
        <p:spPr>
          <a:xfrm>
            <a:off x="7114032" y="2889504"/>
            <a:ext cx="1261872" cy="548640"/>
          </a:xfrm>
          <a:prstGeom prst="rect">
            <a:avLst/>
          </a:prstGeom>
          <a:noFill/>
        </p:spPr>
        <p:txBody>
          <a:bodyPr wrap="square" lIns="0" tIns="0" rIns="0" bIns="0" anchor="t">
            <a:spAutoFit/>
          </a:bodyPr>
          <a:lstStyle/>
          <a:p>
            <a:pPr algn="l"/>
            <a:r>
              <a:rPr sz="1400" b="0">
                <a:solidFill>
                  <a:srgbClr val="55504A"/>
                </a:solidFill>
                <a:latin typeface="Arial"/>
              </a:rPr>
              <a:t>seller + FDE in-account</a:t>
            </a:r>
          </a:p>
        </p:txBody>
      </p:sp>
      <p:sp>
        <p:nvSpPr>
          <p:cNvPr id="81" name="TextBox 80"/>
          <p:cNvSpPr txBox="1"/>
          <p:nvPr/>
        </p:nvSpPr>
        <p:spPr>
          <a:xfrm>
            <a:off x="8385048" y="2615184"/>
            <a:ext cx="219456" cy="228600"/>
          </a:xfrm>
          <a:prstGeom prst="rect">
            <a:avLst/>
          </a:prstGeom>
          <a:noFill/>
        </p:spPr>
        <p:txBody>
          <a:bodyPr wrap="square" lIns="0" tIns="0" rIns="0" bIns="0" anchor="t">
            <a:spAutoFit/>
          </a:bodyPr>
          <a:lstStyle/>
          <a:p>
            <a:pPr algn="ctr"/>
            <a:r>
              <a:rPr sz="1400" b="1">
                <a:solidFill>
                  <a:srgbClr val="FF4B00"/>
                </a:solidFill>
                <a:latin typeface="Arial"/>
              </a:rPr>
              <a:t>→</a:t>
            </a:r>
          </a:p>
        </p:txBody>
      </p:sp>
      <p:sp>
        <p:nvSpPr>
          <p:cNvPr id="82" name="Rectangle 81"/>
          <p:cNvSpPr/>
          <p:nvPr/>
        </p:nvSpPr>
        <p:spPr>
          <a:xfrm>
            <a:off x="8622792" y="2441448"/>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8622792" y="2615184"/>
            <a:ext cx="1261872" cy="228600"/>
          </a:xfrm>
          <a:prstGeom prst="rect">
            <a:avLst/>
          </a:prstGeom>
          <a:noFill/>
        </p:spPr>
        <p:txBody>
          <a:bodyPr wrap="square" lIns="0" tIns="0" rIns="0" bIns="0" anchor="t">
            <a:spAutoFit/>
          </a:bodyPr>
          <a:lstStyle/>
          <a:p>
            <a:pPr algn="l"/>
            <a:r>
              <a:rPr sz="1400" b="1">
                <a:solidFill>
                  <a:srgbClr val="121212"/>
                </a:solidFill>
                <a:latin typeface="Arial"/>
              </a:rPr>
              <a:t>EXPAND</a:t>
            </a:r>
          </a:p>
        </p:txBody>
      </p:sp>
      <p:sp>
        <p:nvSpPr>
          <p:cNvPr id="84" name="TextBox 83"/>
          <p:cNvSpPr txBox="1"/>
          <p:nvPr/>
        </p:nvSpPr>
        <p:spPr>
          <a:xfrm>
            <a:off x="8622792" y="2889504"/>
            <a:ext cx="1261872" cy="548640"/>
          </a:xfrm>
          <a:prstGeom prst="rect">
            <a:avLst/>
          </a:prstGeom>
          <a:noFill/>
        </p:spPr>
        <p:txBody>
          <a:bodyPr wrap="square" lIns="0" tIns="0" rIns="0" bIns="0" anchor="t">
            <a:spAutoFit/>
          </a:bodyPr>
          <a:lstStyle/>
          <a:p>
            <a:pPr algn="l"/>
            <a:r>
              <a:rPr sz="1400" b="0">
                <a:solidFill>
                  <a:srgbClr val="55504A"/>
                </a:solidFill>
                <a:latin typeface="Arial"/>
              </a:rPr>
              <a:t>next workload / team</a:t>
            </a:r>
          </a:p>
        </p:txBody>
      </p:sp>
      <p:sp>
        <p:nvSpPr>
          <p:cNvPr id="85" name="TextBox 84"/>
          <p:cNvSpPr txBox="1"/>
          <p:nvPr/>
        </p:nvSpPr>
        <p:spPr>
          <a:xfrm>
            <a:off x="9893808" y="2615184"/>
            <a:ext cx="219456" cy="228600"/>
          </a:xfrm>
          <a:prstGeom prst="rect">
            <a:avLst/>
          </a:prstGeom>
          <a:noFill/>
        </p:spPr>
        <p:txBody>
          <a:bodyPr wrap="square" lIns="0" tIns="0" rIns="0" bIns="0" anchor="t">
            <a:spAutoFit/>
          </a:bodyPr>
          <a:lstStyle/>
          <a:p>
            <a:pPr algn="ctr"/>
            <a:r>
              <a:rPr sz="1400" b="1">
                <a:solidFill>
                  <a:srgbClr val="FF4B00"/>
                </a:solidFill>
                <a:latin typeface="Arial"/>
              </a:rPr>
              <a:t>→</a:t>
            </a:r>
          </a:p>
        </p:txBody>
      </p:sp>
      <p:sp>
        <p:nvSpPr>
          <p:cNvPr id="86" name="Rectangle 85"/>
          <p:cNvSpPr/>
          <p:nvPr/>
        </p:nvSpPr>
        <p:spPr>
          <a:xfrm>
            <a:off x="10131552" y="2441448"/>
            <a:ext cx="73152" cy="73152"/>
          </a:xfrm>
          <a:prstGeom prst="rect">
            <a:avLst/>
          </a:prstGeom>
          <a:solidFill>
            <a:srgbClr val="FF4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10131552" y="2615184"/>
            <a:ext cx="1261872" cy="228600"/>
          </a:xfrm>
          <a:prstGeom prst="rect">
            <a:avLst/>
          </a:prstGeom>
          <a:noFill/>
        </p:spPr>
        <p:txBody>
          <a:bodyPr wrap="square" lIns="0" tIns="0" rIns="0" bIns="0" anchor="t">
            <a:spAutoFit/>
          </a:bodyPr>
          <a:lstStyle/>
          <a:p>
            <a:pPr algn="l"/>
            <a:r>
              <a:rPr sz="1400" b="1">
                <a:solidFill>
                  <a:srgbClr val="121212"/>
                </a:solidFill>
                <a:latin typeface="Arial"/>
              </a:rPr>
              <a:t>REPEAT</a:t>
            </a:r>
          </a:p>
        </p:txBody>
      </p:sp>
      <p:sp>
        <p:nvSpPr>
          <p:cNvPr id="88" name="TextBox 87"/>
          <p:cNvSpPr txBox="1"/>
          <p:nvPr/>
        </p:nvSpPr>
        <p:spPr>
          <a:xfrm>
            <a:off x="10131552" y="2889504"/>
            <a:ext cx="1261872" cy="548640"/>
          </a:xfrm>
          <a:prstGeom prst="rect">
            <a:avLst/>
          </a:prstGeom>
          <a:noFill/>
        </p:spPr>
        <p:txBody>
          <a:bodyPr wrap="square" lIns="0" tIns="0" rIns="0" bIns="0" anchor="t">
            <a:spAutoFit/>
          </a:bodyPr>
          <a:lstStyle/>
          <a:p>
            <a:pPr algn="l"/>
            <a:r>
              <a:rPr sz="1400" b="0">
                <a:solidFill>
                  <a:srgbClr val="55504A"/>
                </a:solidFill>
                <a:latin typeface="Arial"/>
              </a:rPr>
              <a:t>package what works</a:t>
            </a:r>
          </a:p>
        </p:txBody>
      </p:sp>
      <p:sp>
        <p:nvSpPr>
          <p:cNvPr id="89" name="Rectangle 88"/>
          <p:cNvSpPr/>
          <p:nvPr/>
        </p:nvSpPr>
        <p:spPr>
          <a:xfrm>
            <a:off x="4096512" y="3493008"/>
            <a:ext cx="7370064" cy="10972"/>
          </a:xfrm>
          <a:prstGeom prst="rect">
            <a:avLst/>
          </a:prstGeom>
          <a:solidFill>
            <a:srgbClr val="E5DC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4096512" y="3749039"/>
            <a:ext cx="3337560" cy="219456"/>
          </a:xfrm>
          <a:prstGeom prst="rect">
            <a:avLst/>
          </a:prstGeom>
          <a:noFill/>
        </p:spPr>
        <p:txBody>
          <a:bodyPr wrap="square" lIns="0" tIns="0" rIns="0" bIns="0" anchor="t">
            <a:spAutoFit/>
          </a:bodyPr>
          <a:lstStyle/>
          <a:p>
            <a:pPr algn="l"/>
            <a:r>
              <a:rPr sz="1400" b="1">
                <a:solidFill>
                  <a:srgbClr val="FF4B00"/>
                </a:solidFill>
                <a:latin typeface="Arial"/>
              </a:rPr>
              <a:t>SELLER-READY FIELD KIT</a:t>
            </a:r>
          </a:p>
        </p:txBody>
      </p:sp>
      <p:sp>
        <p:nvSpPr>
          <p:cNvPr id="91" name="TextBox 90"/>
          <p:cNvSpPr txBox="1"/>
          <p:nvPr/>
        </p:nvSpPr>
        <p:spPr>
          <a:xfrm>
            <a:off x="4096512" y="4078224"/>
            <a:ext cx="3310128" cy="438912"/>
          </a:xfrm>
          <a:prstGeom prst="rect">
            <a:avLst/>
          </a:prstGeom>
          <a:noFill/>
        </p:spPr>
        <p:txBody>
          <a:bodyPr wrap="square" lIns="0" tIns="0" rIns="0" bIns="0" anchor="t">
            <a:spAutoFit/>
          </a:bodyPr>
          <a:lstStyle/>
          <a:p>
            <a:pPr algn="l"/>
            <a:r>
              <a:rPr sz="1400" b="1">
                <a:solidFill>
                  <a:srgbClr val="121212"/>
                </a:solidFill>
                <a:latin typeface="Arial"/>
              </a:rPr>
              <a:t>What workload?  How do I win?
What do I sell next?</a:t>
            </a:r>
          </a:p>
        </p:txBody>
      </p:sp>
      <p:sp>
        <p:nvSpPr>
          <p:cNvPr id="92" name="TextBox 91"/>
          <p:cNvSpPr txBox="1"/>
          <p:nvPr/>
        </p:nvSpPr>
        <p:spPr>
          <a:xfrm>
            <a:off x="4096512" y="4617720"/>
            <a:ext cx="3310128" cy="347472"/>
          </a:xfrm>
          <a:prstGeom prst="rect">
            <a:avLst/>
          </a:prstGeom>
          <a:noFill/>
        </p:spPr>
        <p:txBody>
          <a:bodyPr wrap="square" lIns="0" tIns="0" rIns="0" bIns="0" anchor="t">
            <a:spAutoFit/>
          </a:bodyPr>
          <a:lstStyle/>
          <a:p>
            <a:pPr algn="l"/>
            <a:r>
              <a:rPr sz="1400" b="0">
                <a:solidFill>
                  <a:srgbClr val="55504A"/>
                </a:solidFill>
                <a:latin typeface="Arial"/>
              </a:rPr>
              <a:t>Discovery + POV · playbook + proof
Objections + expansion map</a:t>
            </a:r>
          </a:p>
        </p:txBody>
      </p:sp>
      <p:sp>
        <p:nvSpPr>
          <p:cNvPr id="93" name="TextBox 92"/>
          <p:cNvSpPr txBox="1"/>
          <p:nvPr/>
        </p:nvSpPr>
        <p:spPr>
          <a:xfrm>
            <a:off x="7818120" y="3749039"/>
            <a:ext cx="3474720" cy="219456"/>
          </a:xfrm>
          <a:prstGeom prst="rect">
            <a:avLst/>
          </a:prstGeom>
          <a:noFill/>
        </p:spPr>
        <p:txBody>
          <a:bodyPr wrap="square" lIns="0" tIns="0" rIns="0" bIns="0" anchor="t">
            <a:spAutoFit/>
          </a:bodyPr>
          <a:lstStyle/>
          <a:p>
            <a:pPr algn="l"/>
            <a:r>
              <a:rPr sz="1400" b="1">
                <a:solidFill>
                  <a:srgbClr val="FF4B00"/>
                </a:solidFill>
                <a:latin typeface="Arial"/>
              </a:rPr>
              <a:t>MISTRAL FIT + EVIDENCE</a:t>
            </a:r>
          </a:p>
        </p:txBody>
      </p:sp>
      <p:sp>
        <p:nvSpPr>
          <p:cNvPr id="94" name="TextBox 93"/>
          <p:cNvSpPr txBox="1"/>
          <p:nvPr/>
        </p:nvSpPr>
        <p:spPr>
          <a:xfrm>
            <a:off x="7818120" y="4078224"/>
            <a:ext cx="685800" cy="210312"/>
          </a:xfrm>
          <a:prstGeom prst="rect">
            <a:avLst/>
          </a:prstGeom>
          <a:noFill/>
        </p:spPr>
        <p:txBody>
          <a:bodyPr wrap="square" lIns="0" tIns="0" rIns="0" bIns="0" anchor="t">
            <a:spAutoFit/>
          </a:bodyPr>
          <a:lstStyle/>
          <a:p>
            <a:pPr algn="l"/>
            <a:r>
              <a:rPr sz="1400" b="1">
                <a:solidFill>
                  <a:srgbClr val="55504A"/>
                </a:solidFill>
                <a:latin typeface="Arial"/>
              </a:rPr>
              <a:t>FIT</a:t>
            </a:r>
          </a:p>
        </p:txBody>
      </p:sp>
      <p:sp>
        <p:nvSpPr>
          <p:cNvPr id="95" name="TextBox 94"/>
          <p:cNvSpPr txBox="1"/>
          <p:nvPr/>
        </p:nvSpPr>
        <p:spPr>
          <a:xfrm>
            <a:off x="8549640" y="4041648"/>
            <a:ext cx="2788920" cy="530352"/>
          </a:xfrm>
          <a:prstGeom prst="rect">
            <a:avLst/>
          </a:prstGeom>
          <a:noFill/>
        </p:spPr>
        <p:txBody>
          <a:bodyPr wrap="square" lIns="0" tIns="0" rIns="0" bIns="0" anchor="t">
            <a:spAutoFit/>
          </a:bodyPr>
          <a:lstStyle/>
          <a:p>
            <a:pPr algn="l"/>
            <a:r>
              <a:rPr sz="1400" b="1">
                <a:solidFill>
                  <a:srgbClr val="121212"/>
                </a:solidFill>
                <a:latin typeface="Arial"/>
              </a:rPr>
              <a:t>open models + deployment choice
→ customer control</a:t>
            </a:r>
          </a:p>
        </p:txBody>
      </p:sp>
      <p:sp>
        <p:nvSpPr>
          <p:cNvPr id="96" name="TextBox 95"/>
          <p:cNvSpPr txBox="1"/>
          <p:nvPr/>
        </p:nvSpPr>
        <p:spPr>
          <a:xfrm>
            <a:off x="7818120" y="4681728"/>
            <a:ext cx="685800" cy="210312"/>
          </a:xfrm>
          <a:prstGeom prst="rect">
            <a:avLst/>
          </a:prstGeom>
          <a:noFill/>
        </p:spPr>
        <p:txBody>
          <a:bodyPr wrap="square" lIns="0" tIns="0" rIns="0" bIns="0" anchor="t">
            <a:spAutoFit/>
          </a:bodyPr>
          <a:lstStyle/>
          <a:p>
            <a:pPr algn="l"/>
            <a:r>
              <a:rPr sz="1400" b="1">
                <a:solidFill>
                  <a:srgbClr val="55504A"/>
                </a:solidFill>
                <a:latin typeface="Arial"/>
              </a:rPr>
              <a:t>PROOF</a:t>
            </a:r>
          </a:p>
        </p:txBody>
      </p:sp>
      <p:sp>
        <p:nvSpPr>
          <p:cNvPr id="97" name="TextBox 96"/>
          <p:cNvSpPr txBox="1"/>
          <p:nvPr/>
        </p:nvSpPr>
        <p:spPr>
          <a:xfrm>
            <a:off x="8549640" y="4645152"/>
            <a:ext cx="2788920" cy="438912"/>
          </a:xfrm>
          <a:prstGeom prst="rect">
            <a:avLst/>
          </a:prstGeom>
          <a:noFill/>
        </p:spPr>
        <p:txBody>
          <a:bodyPr wrap="square" lIns="0" tIns="0" rIns="0" bIns="0" anchor="t">
            <a:spAutoFit/>
          </a:bodyPr>
          <a:lstStyle/>
          <a:p>
            <a:pPr algn="l"/>
            <a:r>
              <a:rPr sz="1400" b="1">
                <a:solidFill>
                  <a:srgbClr val="121212"/>
                </a:solidFill>
                <a:latin typeface="Arial"/>
              </a:rPr>
              <a:t>Claim → Evidence → Validation → Launch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pic>
        <p:nvPicPr>
          <p:cNvPr id="2" name="Official Mistral footer symbol" descr="image.png"/>
          <p:cNvPicPr>
            <a:picLocks noChangeAspect="1"/>
          </p:cNvPicPr>
          <p:nvPr/>
        </p:nvPicPr>
        <p:blipFill>
          <a:blip r:embed="rId3"/>
          <a:srcRect/>
          <a:stretch>
            <a:fillRect/>
          </a:stretch>
        </p:blipFill>
        <p:spPr>
          <a:xfrm>
            <a:off x="11594592" y="6400800"/>
            <a:ext cx="228600" cy="164592"/>
          </a:xfrm>
          <a:prstGeom prst="rect">
            <a:avLst/>
          </a:prstGeom>
          <a:ln/>
        </p:spPr>
      </p:pic>
      <p:pic>
        <p:nvPicPr>
          <p:cNvPr id="3" name="Official Mistral header symbol" descr="image.png"/>
          <p:cNvPicPr>
            <a:picLocks noChangeAspect="1"/>
          </p:cNvPicPr>
          <p:nvPr/>
        </p:nvPicPr>
        <p:blipFill>
          <a:blip r:embed="rId3"/>
          <a:srcRect/>
          <a:stretch>
            <a:fillRect/>
          </a:stretch>
        </p:blipFill>
        <p:spPr>
          <a:xfrm>
            <a:off x="182880" y="182880"/>
            <a:ext cx="228600" cy="164592"/>
          </a:xfrm>
          <a:prstGeom prst="rect">
            <a:avLst/>
          </a:prstGeom>
          <a:ln/>
        </p:spPr>
      </p:pic>
      <p:sp>
        <p:nvSpPr>
          <p:cNvPr id="4" name="Section Eyebrow"/>
          <p:cNvSpPr txBox="1"/>
          <p:nvPr/>
        </p:nvSpPr>
        <p:spPr>
          <a:xfrm>
            <a:off x="621792" y="201168"/>
            <a:ext cx="9326880" cy="256032"/>
          </a:xfrm>
          <a:prstGeom prst="rect">
            <a:avLst/>
          </a:prstGeom>
          <a:noFill/>
          <a:ln/>
        </p:spPr>
        <p:txBody>
          <a:bodyPr wrap="square" lIns="0" tIns="0" rIns="0" bIns="0" anchor="ctr">
            <a:spAutoFit/>
          </a:bodyPr>
          <a:lstStyle/>
          <a:p>
            <a:pPr algn="l"/>
            <a:r>
              <a:rPr sz="1400" b="1">
                <a:solidFill>
                  <a:srgbClr val="FF4B00"/>
                </a:solidFill>
                <a:latin typeface="Arial"/>
              </a:rPr>
              <a:t>D. E. SHAW · REAL-TIME RISK &amp; CAPITAL DECISIONING</a:t>
            </a:r>
          </a:p>
        </p:txBody>
      </p:sp>
      <p:sp>
        <p:nvSpPr>
          <p:cNvPr id="5" name="Page Number"/>
          <p:cNvSpPr txBox="1"/>
          <p:nvPr/>
        </p:nvSpPr>
        <p:spPr>
          <a:xfrm>
            <a:off x="11137392" y="6400800"/>
            <a:ext cx="292608" cy="155448"/>
          </a:xfrm>
          <a:prstGeom prst="rect">
            <a:avLst/>
          </a:prstGeom>
          <a:noFill/>
          <a:ln/>
        </p:spPr>
        <p:txBody>
          <a:bodyPr wrap="square" lIns="0" tIns="0" rIns="0" bIns="0" anchor="ctr">
            <a:spAutoFit/>
          </a:bodyPr>
          <a:lstStyle/>
          <a:p>
            <a:pPr algn="r"/>
            <a:r>
              <a:rPr lang="en-US" sz="1000" b="0">
                <a:solidFill>
                  <a:srgbClr val="8A857E"/>
                </a:solidFill>
                <a:latin typeface="Arial"/>
              </a:rPr>
              <a:t>2</a:t>
            </a:r>
            <a:endParaRPr sz="1000" b="0">
              <a:solidFill>
                <a:srgbClr val="55504A"/>
              </a:solidFill>
              <a:latin typeface="Arial"/>
            </a:endParaRPr>
          </a:p>
        </p:txBody>
      </p:sp>
      <p:sp>
        <p:nvSpPr>
          <p:cNvPr id="6" name="Slide Title"/>
          <p:cNvSpPr txBox="1"/>
          <p:nvPr/>
        </p:nvSpPr>
        <p:spPr>
          <a:xfrm>
            <a:off x="502920" y="576072"/>
            <a:ext cx="11155680" cy="539496"/>
          </a:xfrm>
          <a:prstGeom prst="rect">
            <a:avLst/>
          </a:prstGeom>
          <a:noFill/>
          <a:ln/>
        </p:spPr>
        <p:txBody>
          <a:bodyPr wrap="square" lIns="0" tIns="0" rIns="0" bIns="0" anchor="ctr">
            <a:spAutoFit/>
          </a:bodyPr>
          <a:lstStyle/>
          <a:p>
            <a:pPr algn="l"/>
            <a:r>
              <a:rPr lang="en-US" sz="3500" b="1">
                <a:solidFill>
                  <a:srgbClr val="121212"/>
                </a:solidFill>
                <a:latin typeface="Arial"/>
              </a:rPr>
              <a:t>1</a:t>
            </a:r>
            <a:r>
              <a:rPr sz="3500" b="1">
                <a:solidFill>
                  <a:srgbClr val="121212"/>
                </a:solidFill>
                <a:latin typeface="Arial"/>
              </a:rPr>
              <a:t>. Production </a:t>
            </a:r>
            <a:r>
              <a:rPr lang="en-US" sz="3500" b="1">
                <a:solidFill>
                  <a:srgbClr val="121212"/>
                </a:solidFill>
                <a:latin typeface="Arial"/>
              </a:rPr>
              <a:t>adoption</a:t>
            </a:r>
            <a:r>
              <a:rPr sz="3500" b="1">
                <a:solidFill>
                  <a:srgbClr val="121212"/>
                </a:solidFill>
                <a:latin typeface="Arial"/>
              </a:rPr>
              <a:t>: prove</a:t>
            </a:r>
            <a:r>
              <a:rPr lang="en-US" sz="3500" b="1">
                <a:solidFill>
                  <a:srgbClr val="121212"/>
                </a:solidFill>
                <a:latin typeface="Arial"/>
              </a:rPr>
              <a:t> trust</a:t>
            </a:r>
            <a:r>
              <a:rPr sz="3500" b="1">
                <a:solidFill>
                  <a:srgbClr val="121212"/>
                </a:solidFill>
                <a:latin typeface="Arial"/>
              </a:rPr>
              <a:t> before cutover</a:t>
            </a:r>
          </a:p>
        </p:txBody>
      </p:sp>
      <p:sp>
        <p:nvSpPr>
          <p:cNvPr id="7" name="Role Accent"/>
          <p:cNvSpPr/>
          <p:nvPr/>
        </p:nvSpPr>
        <p:spPr>
          <a:xfrm>
            <a:off x="502920" y="1170432"/>
            <a:ext cx="64008" cy="34747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le Line"/>
          <p:cNvSpPr txBox="1"/>
          <p:nvPr/>
        </p:nvSpPr>
        <p:spPr>
          <a:xfrm>
            <a:off x="658368" y="1225296"/>
            <a:ext cx="10881360" cy="215444"/>
          </a:xfrm>
          <a:prstGeom prst="rect">
            <a:avLst/>
          </a:prstGeom>
          <a:noFill/>
          <a:ln/>
        </p:spPr>
        <p:txBody>
          <a:bodyPr wrap="square" lIns="0" tIns="0" rIns="0" bIns="0" anchor="ctr">
            <a:spAutoFit/>
          </a:bodyPr>
          <a:lstStyle/>
          <a:p>
            <a:pPr algn="l"/>
            <a:r>
              <a:rPr sz="1400" b="1">
                <a:solidFill>
                  <a:srgbClr val="FF4B00"/>
                </a:solidFill>
                <a:latin typeface="Arial"/>
              </a:rPr>
              <a:t>MY ROLE  </a:t>
            </a:r>
            <a:r>
              <a:rPr lang="en-US" sz="1400" b="0">
                <a:solidFill>
                  <a:srgbClr val="55504A"/>
                </a:solidFill>
                <a:latin typeface="Arial"/>
              </a:rPr>
              <a:t>led a 15+ person team to one measurable product contract</a:t>
            </a:r>
            <a:endParaRPr sz="1400" b="0">
              <a:solidFill>
                <a:srgbClr val="121212"/>
              </a:solidFill>
              <a:latin typeface="Arial"/>
            </a:endParaRPr>
          </a:p>
        </p:txBody>
      </p:sp>
      <p:cxnSp>
        <p:nvCxnSpPr>
          <p:cNvPr id="9" name="Header Divider"/>
          <p:cNvCxnSpPr/>
          <p:nvPr/>
        </p:nvCxnSpPr>
        <p:spPr>
          <a:xfrm>
            <a:off x="502920" y="1554480"/>
            <a:ext cx="11155680" cy="0"/>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sp>
        <p:nvSpPr>
          <p:cNvPr id="10" name="Takeaway"/>
          <p:cNvSpPr txBox="1"/>
          <p:nvPr/>
        </p:nvSpPr>
        <p:spPr>
          <a:xfrm>
            <a:off x="502920" y="1627632"/>
            <a:ext cx="11155680" cy="256032"/>
          </a:xfrm>
          <a:prstGeom prst="rect">
            <a:avLst/>
          </a:prstGeom>
          <a:noFill/>
          <a:ln/>
        </p:spPr>
        <p:txBody>
          <a:bodyPr wrap="square" lIns="0" tIns="0" rIns="0" bIns="0" anchor="ctr">
            <a:spAutoFit/>
          </a:bodyPr>
          <a:lstStyle/>
          <a:p>
            <a:pPr algn="l"/>
            <a:r>
              <a:rPr lang="en-US" sz="1400" b="1">
                <a:solidFill>
                  <a:srgbClr val="FF4B00"/>
                </a:solidFill>
                <a:latin typeface="Arial"/>
              </a:rPr>
              <a:t>TAKEAWAY  </a:t>
            </a:r>
            <a:r>
              <a:rPr lang="en-US" sz="1400" b="1">
                <a:solidFill>
                  <a:srgbClr val="121212"/>
                </a:solidFill>
                <a:latin typeface="Arial"/>
              </a:rPr>
              <a:t>Performance won attention; shadow proof won trust.</a:t>
            </a:r>
          </a:p>
        </p:txBody>
      </p:sp>
      <p:cxnSp>
        <p:nvCxnSpPr>
          <p:cNvPr id="11" name="Body Divider"/>
          <p:cNvCxnSpPr/>
          <p:nvPr/>
        </p:nvCxnSpPr>
        <p:spPr>
          <a:xfrm>
            <a:off x="3584448" y="2112264"/>
            <a:ext cx="0" cy="3721608"/>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sp>
        <p:nvSpPr>
          <p:cNvPr id="12" name="Insight Number"/>
          <p:cNvSpPr txBox="1"/>
          <p:nvPr/>
        </p:nvSpPr>
        <p:spPr>
          <a:xfrm>
            <a:off x="640080" y="2112264"/>
            <a:ext cx="384048" cy="201168"/>
          </a:xfrm>
          <a:prstGeom prst="rect">
            <a:avLst/>
          </a:prstGeom>
          <a:noFill/>
          <a:ln/>
        </p:spPr>
        <p:txBody>
          <a:bodyPr wrap="square" lIns="0" tIns="0" rIns="0" bIns="0" anchor="ctr">
            <a:spAutoFit/>
          </a:bodyPr>
          <a:lstStyle/>
          <a:p>
            <a:pPr algn="l"/>
            <a:r>
              <a:rPr sz="1200" b="1">
                <a:solidFill>
                  <a:srgbClr val="FF4B00"/>
                </a:solidFill>
                <a:latin typeface="Arial"/>
              </a:rPr>
              <a:t>01</a:t>
            </a:r>
          </a:p>
        </p:txBody>
      </p:sp>
      <p:sp>
        <p:nvSpPr>
          <p:cNvPr id="13" name="Insight Label"/>
          <p:cNvSpPr txBox="1"/>
          <p:nvPr/>
        </p:nvSpPr>
        <p:spPr>
          <a:xfrm>
            <a:off x="1051560" y="2132558"/>
            <a:ext cx="2194560" cy="215444"/>
          </a:xfrm>
          <a:prstGeom prst="rect">
            <a:avLst/>
          </a:prstGeom>
          <a:noFill/>
          <a:ln/>
        </p:spPr>
        <p:txBody>
          <a:bodyPr wrap="square" lIns="0" tIns="0" rIns="0" bIns="0" anchor="ctr">
            <a:spAutoFit/>
          </a:bodyPr>
          <a:lstStyle/>
          <a:p>
            <a:pPr algn="l"/>
            <a:r>
              <a:rPr lang="en-US" sz="1400" b="1">
                <a:solidFill>
                  <a:srgbClr val="FF4B00"/>
                </a:solidFill>
                <a:latin typeface="Arial"/>
              </a:rPr>
              <a:t>USER INSIGHT</a:t>
            </a:r>
          </a:p>
        </p:txBody>
      </p:sp>
      <p:sp>
        <p:nvSpPr>
          <p:cNvPr id="14" name="Insight Quote"/>
          <p:cNvSpPr txBox="1"/>
          <p:nvPr/>
        </p:nvSpPr>
        <p:spPr>
          <a:xfrm>
            <a:off x="640080" y="2660904"/>
            <a:ext cx="2670048" cy="615553"/>
          </a:xfrm>
          <a:prstGeom prst="rect">
            <a:avLst/>
          </a:prstGeom>
          <a:noFill/>
          <a:ln/>
        </p:spPr>
        <p:txBody>
          <a:bodyPr wrap="square" lIns="0" tIns="0" rIns="0" bIns="0" anchor="t">
            <a:spAutoFit/>
          </a:bodyPr>
          <a:lstStyle/>
          <a:p>
            <a:pPr algn="l"/>
            <a:r>
              <a:rPr lang="en-US" sz="2000" b="1">
                <a:solidFill>
                  <a:srgbClr val="121212"/>
                </a:solidFill>
                <a:latin typeface="Arial"/>
              </a:rPr>
              <a:t>“Speed alone did not change behavior.”</a:t>
            </a:r>
          </a:p>
        </p:txBody>
      </p:sp>
      <p:sp>
        <p:nvSpPr>
          <p:cNvPr id="15" name="Product Pivot Label"/>
          <p:cNvSpPr txBox="1">
            <a:spLocks/>
          </p:cNvSpPr>
          <p:nvPr/>
        </p:nvSpPr>
        <p:spPr>
          <a:xfrm>
            <a:off x="640080" y="3639311"/>
            <a:ext cx="2670048" cy="184666"/>
          </a:xfrm>
          <a:prstGeom prst="rect">
            <a:avLst/>
          </a:prstGeom>
          <a:noFill/>
          <a:ln/>
        </p:spPr>
        <p:txBody>
          <a:bodyPr wrap="square" lIns="0" tIns="0" rIns="0" bIns="0" anchor="t">
            <a:spAutoFit/>
          </a:bodyPr>
          <a:lstStyle/>
          <a:p>
            <a:pPr algn="l"/>
            <a:r>
              <a:rPr lang="en-US" sz="1200" b="1">
                <a:solidFill>
                  <a:srgbClr val="55504A"/>
                </a:solidFill>
                <a:latin typeface="Arial"/>
              </a:rPr>
              <a:t>THE PRODUCT BECAME</a:t>
            </a:r>
          </a:p>
        </p:txBody>
      </p:sp>
      <p:sp>
        <p:nvSpPr>
          <p:cNvPr id="16" name="Product Pivot"/>
          <p:cNvSpPr txBox="1"/>
          <p:nvPr/>
        </p:nvSpPr>
        <p:spPr>
          <a:xfrm>
            <a:off x="640080" y="3913632"/>
            <a:ext cx="2688336" cy="492443"/>
          </a:xfrm>
          <a:prstGeom prst="rect">
            <a:avLst/>
          </a:prstGeom>
          <a:noFill/>
          <a:ln/>
        </p:spPr>
        <p:txBody>
          <a:bodyPr wrap="square" lIns="0" tIns="0" rIns="0" bIns="0" anchor="t">
            <a:spAutoFit/>
          </a:bodyPr>
          <a:lstStyle/>
          <a:p>
            <a:pPr algn="l"/>
            <a:r>
              <a:rPr lang="en-US" sz="1600" b="1">
                <a:solidFill>
                  <a:srgbClr val="FF4B00"/>
                </a:solidFill>
                <a:latin typeface="Arial"/>
              </a:rPr>
              <a:t>Faster decisions—without less trust.</a:t>
            </a:r>
          </a:p>
        </p:txBody>
      </p:sp>
      <p:cxnSp>
        <p:nvCxnSpPr>
          <p:cNvPr id="17" name="Contract Divider"/>
          <p:cNvCxnSpPr/>
          <p:nvPr/>
        </p:nvCxnSpPr>
        <p:spPr>
          <a:xfrm>
            <a:off x="640080" y="4828032"/>
            <a:ext cx="2670048" cy="0"/>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sp>
        <p:nvSpPr>
          <p:cNvPr id="18" name="Contract Label"/>
          <p:cNvSpPr txBox="1">
            <a:spLocks/>
          </p:cNvSpPr>
          <p:nvPr/>
        </p:nvSpPr>
        <p:spPr>
          <a:xfrm>
            <a:off x="640080" y="4992624"/>
            <a:ext cx="2670048" cy="184666"/>
          </a:xfrm>
          <a:prstGeom prst="rect">
            <a:avLst/>
          </a:prstGeom>
          <a:noFill/>
          <a:ln/>
        </p:spPr>
        <p:txBody>
          <a:bodyPr wrap="square" lIns="0" tIns="0" rIns="0" bIns="0" anchor="t">
            <a:spAutoFit/>
          </a:bodyPr>
          <a:lstStyle/>
          <a:p>
            <a:pPr algn="l"/>
            <a:r>
              <a:rPr lang="en-US" sz="1200" b="1">
                <a:solidFill>
                  <a:srgbClr val="55504A"/>
                </a:solidFill>
                <a:latin typeface="Arial"/>
              </a:rPr>
              <a:t>ONE PRODUCT CONTRACT</a:t>
            </a:r>
          </a:p>
        </p:txBody>
      </p:sp>
      <p:sp>
        <p:nvSpPr>
          <p:cNvPr id="19" name="Contract Marker 1"/>
          <p:cNvSpPr>
            <a:spLocks/>
          </p:cNvSpPr>
          <p:nvPr/>
        </p:nvSpPr>
        <p:spPr>
          <a:xfrm>
            <a:off x="640080" y="5413248"/>
            <a:ext cx="73152" cy="7315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Contract 1"/>
          <p:cNvSpPr txBox="1"/>
          <p:nvPr/>
        </p:nvSpPr>
        <p:spPr>
          <a:xfrm>
            <a:off x="786384" y="5376672"/>
            <a:ext cx="1161288" cy="153888"/>
          </a:xfrm>
          <a:prstGeom prst="rect">
            <a:avLst/>
          </a:prstGeom>
          <a:noFill/>
          <a:ln/>
        </p:spPr>
        <p:txBody>
          <a:bodyPr wrap="square" lIns="0" tIns="0" rIns="0" bIns="0" anchor="t">
            <a:spAutoFit/>
          </a:bodyPr>
          <a:lstStyle/>
          <a:p>
            <a:pPr algn="l"/>
            <a:r>
              <a:rPr lang="en-US" sz="1000" b="1">
                <a:solidFill>
                  <a:srgbClr val="121212"/>
                </a:solidFill>
                <a:latin typeface="Arial"/>
              </a:rPr>
              <a:t>PERFORMANCE</a:t>
            </a:r>
          </a:p>
        </p:txBody>
      </p:sp>
      <p:sp>
        <p:nvSpPr>
          <p:cNvPr id="21" name="Contract Marker 2"/>
          <p:cNvSpPr/>
          <p:nvPr/>
        </p:nvSpPr>
        <p:spPr>
          <a:xfrm>
            <a:off x="1965960" y="5413248"/>
            <a:ext cx="73152" cy="7315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Contract 2"/>
          <p:cNvSpPr txBox="1"/>
          <p:nvPr/>
        </p:nvSpPr>
        <p:spPr>
          <a:xfrm>
            <a:off x="2112264" y="5376672"/>
            <a:ext cx="1161288" cy="153888"/>
          </a:xfrm>
          <a:prstGeom prst="rect">
            <a:avLst/>
          </a:prstGeom>
          <a:noFill/>
          <a:ln/>
        </p:spPr>
        <p:txBody>
          <a:bodyPr wrap="square" lIns="0" tIns="0" rIns="0" bIns="0" anchor="t">
            <a:spAutoFit/>
          </a:bodyPr>
          <a:lstStyle/>
          <a:p>
            <a:pPr algn="l"/>
            <a:r>
              <a:rPr lang="en-US" sz="1000" b="1">
                <a:solidFill>
                  <a:srgbClr val="121212"/>
                </a:solidFill>
                <a:latin typeface="Arial"/>
              </a:rPr>
              <a:t>ACCURACY</a:t>
            </a:r>
          </a:p>
        </p:txBody>
      </p:sp>
      <p:sp>
        <p:nvSpPr>
          <p:cNvPr id="23" name="Contract Marker 3"/>
          <p:cNvSpPr>
            <a:spLocks/>
          </p:cNvSpPr>
          <p:nvPr/>
        </p:nvSpPr>
        <p:spPr>
          <a:xfrm>
            <a:off x="640080" y="5678424"/>
            <a:ext cx="73152" cy="7315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Contract 3"/>
          <p:cNvSpPr txBox="1">
            <a:spLocks/>
          </p:cNvSpPr>
          <p:nvPr/>
        </p:nvSpPr>
        <p:spPr>
          <a:xfrm>
            <a:off x="786384" y="5641848"/>
            <a:ext cx="1161288" cy="153888"/>
          </a:xfrm>
          <a:prstGeom prst="rect">
            <a:avLst/>
          </a:prstGeom>
          <a:noFill/>
          <a:ln/>
        </p:spPr>
        <p:txBody>
          <a:bodyPr wrap="square" lIns="0" tIns="0" rIns="0" bIns="0" anchor="t">
            <a:spAutoFit/>
          </a:bodyPr>
          <a:lstStyle/>
          <a:p>
            <a:pPr algn="l"/>
            <a:r>
              <a:rPr lang="en-US" sz="1000" b="1">
                <a:solidFill>
                  <a:srgbClr val="121212"/>
                </a:solidFill>
                <a:latin typeface="Arial"/>
              </a:rPr>
              <a:t>CONTROLS</a:t>
            </a:r>
          </a:p>
        </p:txBody>
      </p:sp>
      <p:sp>
        <p:nvSpPr>
          <p:cNvPr id="25" name="Contract Marker 4"/>
          <p:cNvSpPr>
            <a:spLocks/>
          </p:cNvSpPr>
          <p:nvPr/>
        </p:nvSpPr>
        <p:spPr>
          <a:xfrm>
            <a:off x="1965960" y="5678424"/>
            <a:ext cx="73152" cy="7315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 name="Contract 4"/>
          <p:cNvSpPr txBox="1"/>
          <p:nvPr/>
        </p:nvSpPr>
        <p:spPr>
          <a:xfrm>
            <a:off x="2112264" y="5641848"/>
            <a:ext cx="1161288" cy="153888"/>
          </a:xfrm>
          <a:prstGeom prst="rect">
            <a:avLst/>
          </a:prstGeom>
          <a:noFill/>
          <a:ln/>
        </p:spPr>
        <p:txBody>
          <a:bodyPr wrap="square" lIns="0" tIns="0" rIns="0" bIns="0" anchor="t">
            <a:spAutoFit/>
          </a:bodyPr>
          <a:lstStyle/>
          <a:p>
            <a:pPr algn="l"/>
            <a:r>
              <a:rPr lang="en-US" sz="1000" b="1">
                <a:solidFill>
                  <a:srgbClr val="121212"/>
                </a:solidFill>
                <a:latin typeface="Arial"/>
              </a:rPr>
              <a:t>ECONOMICS</a:t>
            </a:r>
          </a:p>
        </p:txBody>
      </p:sp>
      <p:sp>
        <p:nvSpPr>
          <p:cNvPr id="27" name="Gate Number"/>
          <p:cNvSpPr txBox="1"/>
          <p:nvPr/>
        </p:nvSpPr>
        <p:spPr>
          <a:xfrm>
            <a:off x="3968496" y="2112264"/>
            <a:ext cx="384048" cy="201168"/>
          </a:xfrm>
          <a:prstGeom prst="rect">
            <a:avLst/>
          </a:prstGeom>
          <a:noFill/>
          <a:ln/>
        </p:spPr>
        <p:txBody>
          <a:bodyPr wrap="square" lIns="0" tIns="0" rIns="0" bIns="0" anchor="ctr">
            <a:spAutoFit/>
          </a:bodyPr>
          <a:lstStyle/>
          <a:p>
            <a:pPr algn="l"/>
            <a:r>
              <a:rPr sz="1200" b="1">
                <a:solidFill>
                  <a:srgbClr val="FF4B00"/>
                </a:solidFill>
                <a:latin typeface="Arial"/>
              </a:rPr>
              <a:t>02</a:t>
            </a:r>
          </a:p>
        </p:txBody>
      </p:sp>
      <p:sp>
        <p:nvSpPr>
          <p:cNvPr id="28" name="Gate Label"/>
          <p:cNvSpPr txBox="1"/>
          <p:nvPr/>
        </p:nvSpPr>
        <p:spPr>
          <a:xfrm>
            <a:off x="4379976" y="2132558"/>
            <a:ext cx="2743200" cy="215444"/>
          </a:xfrm>
          <a:prstGeom prst="rect">
            <a:avLst/>
          </a:prstGeom>
          <a:noFill/>
          <a:ln/>
        </p:spPr>
        <p:txBody>
          <a:bodyPr wrap="square" lIns="0" tIns="0" rIns="0" bIns="0" anchor="ctr">
            <a:spAutoFit/>
          </a:bodyPr>
          <a:lstStyle/>
          <a:p>
            <a:pPr algn="l"/>
            <a:r>
              <a:rPr lang="en-US" sz="1400" b="1">
                <a:solidFill>
                  <a:srgbClr val="FF4B00"/>
                </a:solidFill>
                <a:latin typeface="Arial"/>
              </a:rPr>
              <a:t>THE </a:t>
            </a:r>
            <a:r>
              <a:rPr sz="1400" b="1">
                <a:solidFill>
                  <a:srgbClr val="FF4B00"/>
                </a:solidFill>
                <a:latin typeface="Arial"/>
              </a:rPr>
              <a:t>ADOPTION </a:t>
            </a:r>
            <a:r>
              <a:rPr lang="en-US" sz="1400" b="1">
                <a:solidFill>
                  <a:srgbClr val="FF4B00"/>
                </a:solidFill>
                <a:latin typeface="Arial"/>
              </a:rPr>
              <a:t>GATE</a:t>
            </a:r>
            <a:endParaRPr sz="1400" b="1">
              <a:solidFill>
                <a:srgbClr val="FF4B00"/>
              </a:solidFill>
              <a:latin typeface="Arial"/>
            </a:endParaRPr>
          </a:p>
        </p:txBody>
      </p:sp>
      <p:sp>
        <p:nvSpPr>
          <p:cNvPr id="29" name="Shadow Hero"/>
          <p:cNvSpPr txBox="1"/>
          <p:nvPr/>
        </p:nvSpPr>
        <p:spPr>
          <a:xfrm>
            <a:off x="3968496" y="2537904"/>
            <a:ext cx="3063240" cy="538609"/>
          </a:xfrm>
          <a:prstGeom prst="rect">
            <a:avLst/>
          </a:prstGeom>
          <a:noFill/>
          <a:ln/>
        </p:spPr>
        <p:txBody>
          <a:bodyPr wrap="square" lIns="0" tIns="0" rIns="0" bIns="0" anchor="ctr">
            <a:spAutoFit/>
          </a:bodyPr>
          <a:lstStyle/>
          <a:p>
            <a:pPr algn="l"/>
            <a:r>
              <a:rPr lang="en-US" sz="3500" b="1">
                <a:solidFill>
                  <a:srgbClr val="FF4B00"/>
                </a:solidFill>
                <a:latin typeface="Arial"/>
              </a:rPr>
              <a:t>90 DAYS</a:t>
            </a:r>
          </a:p>
        </p:txBody>
      </p:sp>
      <p:sp>
        <p:nvSpPr>
          <p:cNvPr id="30" name="Shadow Caption"/>
          <p:cNvSpPr txBox="1"/>
          <p:nvPr/>
        </p:nvSpPr>
        <p:spPr>
          <a:xfrm>
            <a:off x="3968496" y="3044952"/>
            <a:ext cx="3063240" cy="184666"/>
          </a:xfrm>
          <a:prstGeom prst="rect">
            <a:avLst/>
          </a:prstGeom>
          <a:noFill/>
          <a:ln/>
        </p:spPr>
        <p:txBody>
          <a:bodyPr wrap="square" lIns="0" tIns="0" rIns="0" bIns="0" anchor="t">
            <a:spAutoFit/>
          </a:bodyPr>
          <a:lstStyle/>
          <a:p>
            <a:pPr algn="l"/>
            <a:r>
              <a:rPr sz="1200" b="1">
                <a:solidFill>
                  <a:srgbClr val="55504A"/>
                </a:solidFill>
                <a:latin typeface="Arial"/>
              </a:rPr>
              <a:t>parallel shadow </a:t>
            </a:r>
            <a:r>
              <a:rPr lang="en-US" sz="1200" b="1">
                <a:solidFill>
                  <a:srgbClr val="55504A"/>
                </a:solidFill>
                <a:latin typeface="Arial"/>
              </a:rPr>
              <a:t>run</a:t>
            </a:r>
            <a:endParaRPr sz="1200" b="1">
              <a:solidFill>
                <a:srgbClr val="55504A"/>
              </a:solidFill>
              <a:latin typeface="Arial"/>
            </a:endParaRPr>
          </a:p>
        </p:txBody>
      </p:sp>
      <p:sp>
        <p:nvSpPr>
          <p:cNvPr id="31" name="Agreement Hero"/>
          <p:cNvSpPr txBox="1"/>
          <p:nvPr/>
        </p:nvSpPr>
        <p:spPr>
          <a:xfrm>
            <a:off x="7991856" y="2537904"/>
            <a:ext cx="3063240" cy="538609"/>
          </a:xfrm>
          <a:prstGeom prst="rect">
            <a:avLst/>
          </a:prstGeom>
          <a:noFill/>
          <a:ln/>
        </p:spPr>
        <p:txBody>
          <a:bodyPr wrap="square" lIns="0" tIns="0" rIns="0" bIns="0" anchor="ctr">
            <a:spAutoFit/>
          </a:bodyPr>
          <a:lstStyle/>
          <a:p>
            <a:pPr algn="l"/>
            <a:r>
              <a:rPr lang="en-US" sz="3500" b="1">
                <a:solidFill>
                  <a:srgbClr val="FF4B00"/>
                </a:solidFill>
                <a:latin typeface="Arial"/>
              </a:rPr>
              <a:t>~98%</a:t>
            </a:r>
          </a:p>
        </p:txBody>
      </p:sp>
      <p:sp>
        <p:nvSpPr>
          <p:cNvPr id="32" name="Agreement Caption"/>
          <p:cNvSpPr txBox="1"/>
          <p:nvPr/>
        </p:nvSpPr>
        <p:spPr>
          <a:xfrm>
            <a:off x="7991856" y="3044952"/>
            <a:ext cx="3063240" cy="184666"/>
          </a:xfrm>
          <a:prstGeom prst="rect">
            <a:avLst/>
          </a:prstGeom>
          <a:noFill/>
          <a:ln/>
        </p:spPr>
        <p:txBody>
          <a:bodyPr wrap="square" lIns="0" tIns="0" rIns="0" bIns="0" anchor="t">
            <a:spAutoFit/>
          </a:bodyPr>
          <a:lstStyle/>
          <a:p>
            <a:pPr algn="l"/>
            <a:r>
              <a:rPr lang="en-US" sz="1200" b="1">
                <a:solidFill>
                  <a:srgbClr val="55504A"/>
                </a:solidFill>
                <a:latin typeface="Arial"/>
              </a:rPr>
              <a:t>agreement before cutover</a:t>
            </a:r>
          </a:p>
        </p:txBody>
      </p:sp>
      <p:cxnSp>
        <p:nvCxnSpPr>
          <p:cNvPr id="33" name="Validation Timeline"/>
          <p:cNvCxnSpPr/>
          <p:nvPr/>
        </p:nvCxnSpPr>
        <p:spPr>
          <a:xfrm>
            <a:off x="4169663" y="3712463"/>
            <a:ext cx="6967729" cy="0"/>
          </a:xfrm>
          <a:prstGeom prst="line">
            <a:avLst/>
          </a:prstGeom>
          <a:ln w="19050">
            <a:solidFill>
              <a:srgbClr val="FF4B00"/>
            </a:solidFill>
          </a:ln>
        </p:spPr>
        <p:style>
          <a:lnRef idx="2">
            <a:schemeClr val="accent1"/>
          </a:lnRef>
          <a:fillRef idx="0">
            <a:schemeClr val="accent1"/>
          </a:fillRef>
          <a:effectRef idx="1">
            <a:schemeClr val="accent1"/>
          </a:effectRef>
          <a:fontRef idx="minor">
            <a:schemeClr val="tx1"/>
          </a:fontRef>
        </p:style>
      </p:cxnSp>
      <p:sp>
        <p:nvSpPr>
          <p:cNvPr id="34" name="Timeline Node 1"/>
          <p:cNvSpPr>
            <a:spLocks/>
          </p:cNvSpPr>
          <p:nvPr/>
        </p:nvSpPr>
        <p:spPr>
          <a:xfrm>
            <a:off x="4187952" y="3602735"/>
            <a:ext cx="219456" cy="219456"/>
          </a:xfrm>
          <a:prstGeom prst="ellipse">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Timeline Label 1"/>
          <p:cNvSpPr txBox="1"/>
          <p:nvPr/>
        </p:nvSpPr>
        <p:spPr>
          <a:xfrm>
            <a:off x="3694176" y="3931920"/>
            <a:ext cx="1207008" cy="184666"/>
          </a:xfrm>
          <a:prstGeom prst="rect">
            <a:avLst/>
          </a:prstGeom>
          <a:noFill/>
          <a:ln/>
        </p:spPr>
        <p:txBody>
          <a:bodyPr wrap="square" lIns="0" tIns="0" rIns="0" bIns="0" anchor="t">
            <a:spAutoFit/>
          </a:bodyPr>
          <a:lstStyle/>
          <a:p>
            <a:pPr algn="ctr"/>
            <a:r>
              <a:rPr lang="en-US" sz="1200" b="1">
                <a:solidFill>
                  <a:srgbClr val="121212"/>
                </a:solidFill>
                <a:latin typeface="Arial"/>
              </a:rPr>
              <a:t>SHADOW</a:t>
            </a:r>
          </a:p>
        </p:txBody>
      </p:sp>
      <p:sp>
        <p:nvSpPr>
          <p:cNvPr id="36" name="Timeline Node 2"/>
          <p:cNvSpPr>
            <a:spLocks/>
          </p:cNvSpPr>
          <p:nvPr/>
        </p:nvSpPr>
        <p:spPr>
          <a:xfrm>
            <a:off x="6446520" y="3602735"/>
            <a:ext cx="219456" cy="219456"/>
          </a:xfrm>
          <a:prstGeom prst="ellipse">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 name="Timeline Label 2"/>
          <p:cNvSpPr txBox="1"/>
          <p:nvPr/>
        </p:nvSpPr>
        <p:spPr>
          <a:xfrm>
            <a:off x="5952744" y="3931920"/>
            <a:ext cx="1207008" cy="184666"/>
          </a:xfrm>
          <a:prstGeom prst="rect">
            <a:avLst/>
          </a:prstGeom>
          <a:noFill/>
          <a:ln/>
        </p:spPr>
        <p:txBody>
          <a:bodyPr wrap="square" lIns="0" tIns="0" rIns="0" bIns="0" anchor="t">
            <a:spAutoFit/>
          </a:bodyPr>
          <a:lstStyle/>
          <a:p>
            <a:pPr algn="ctr"/>
            <a:r>
              <a:rPr lang="en-US" sz="1200" b="1">
                <a:solidFill>
                  <a:srgbClr val="121212"/>
                </a:solidFill>
                <a:latin typeface="Arial"/>
              </a:rPr>
              <a:t>COMPARE</a:t>
            </a:r>
          </a:p>
        </p:txBody>
      </p:sp>
      <p:sp>
        <p:nvSpPr>
          <p:cNvPr id="38" name="Timeline Node 3"/>
          <p:cNvSpPr>
            <a:spLocks/>
          </p:cNvSpPr>
          <p:nvPr/>
        </p:nvSpPr>
        <p:spPr>
          <a:xfrm>
            <a:off x="8732520" y="3602735"/>
            <a:ext cx="219456" cy="219456"/>
          </a:xfrm>
          <a:prstGeom prst="ellipse">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9" name="Timeline Label 3"/>
          <p:cNvSpPr txBox="1"/>
          <p:nvPr/>
        </p:nvSpPr>
        <p:spPr>
          <a:xfrm>
            <a:off x="8238744" y="3931920"/>
            <a:ext cx="1207008" cy="184666"/>
          </a:xfrm>
          <a:prstGeom prst="rect">
            <a:avLst/>
          </a:prstGeom>
          <a:noFill/>
          <a:ln/>
        </p:spPr>
        <p:txBody>
          <a:bodyPr wrap="square" lIns="0" tIns="0" rIns="0" bIns="0" anchor="t">
            <a:spAutoFit/>
          </a:bodyPr>
          <a:lstStyle/>
          <a:p>
            <a:pPr algn="ctr"/>
            <a:r>
              <a:rPr lang="en-US" sz="1200" b="1">
                <a:solidFill>
                  <a:srgbClr val="121212"/>
                </a:solidFill>
                <a:latin typeface="Arial"/>
              </a:rPr>
              <a:t>SIGN-OFF</a:t>
            </a:r>
          </a:p>
        </p:txBody>
      </p:sp>
      <p:sp>
        <p:nvSpPr>
          <p:cNvPr id="40" name="Timeline Node 4"/>
          <p:cNvSpPr>
            <a:spLocks/>
          </p:cNvSpPr>
          <p:nvPr/>
        </p:nvSpPr>
        <p:spPr>
          <a:xfrm>
            <a:off x="10863072" y="3602735"/>
            <a:ext cx="219456" cy="219456"/>
          </a:xfrm>
          <a:prstGeom prst="ellipse">
            <a:avLst/>
          </a:prstGeom>
          <a:solidFill>
            <a:srgbClr val="FFC4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1" name="Timeline Label 4"/>
          <p:cNvSpPr txBox="1"/>
          <p:nvPr/>
        </p:nvSpPr>
        <p:spPr>
          <a:xfrm>
            <a:off x="10369296" y="3931920"/>
            <a:ext cx="1207008" cy="184666"/>
          </a:xfrm>
          <a:prstGeom prst="rect">
            <a:avLst/>
          </a:prstGeom>
          <a:noFill/>
          <a:ln/>
        </p:spPr>
        <p:txBody>
          <a:bodyPr wrap="square" lIns="0" tIns="0" rIns="0" bIns="0" anchor="t">
            <a:spAutoFit/>
          </a:bodyPr>
          <a:lstStyle/>
          <a:p>
            <a:pPr algn="ctr"/>
            <a:r>
              <a:rPr lang="en-US" sz="1200" b="1">
                <a:solidFill>
                  <a:srgbClr val="121212"/>
                </a:solidFill>
                <a:latin typeface="Arial"/>
              </a:rPr>
              <a:t>CUTOVER</a:t>
            </a:r>
          </a:p>
        </p:txBody>
      </p:sp>
      <p:sp>
        <p:nvSpPr>
          <p:cNvPr id="42" name="Trust Mechanism"/>
          <p:cNvSpPr txBox="1"/>
          <p:nvPr/>
        </p:nvSpPr>
        <p:spPr>
          <a:xfrm>
            <a:off x="3968496" y="4272254"/>
            <a:ext cx="7269480" cy="215444"/>
          </a:xfrm>
          <a:prstGeom prst="rect">
            <a:avLst/>
          </a:prstGeom>
          <a:noFill/>
          <a:ln/>
        </p:spPr>
        <p:txBody>
          <a:bodyPr wrap="square" lIns="0" tIns="0" rIns="0" bIns="0" anchor="ctr">
            <a:spAutoFit/>
          </a:bodyPr>
          <a:lstStyle/>
          <a:p>
            <a:pPr algn="ctr"/>
            <a:r>
              <a:rPr lang="en-US" sz="1400" b="0">
                <a:solidFill>
                  <a:srgbClr val="121212"/>
                </a:solidFill>
                <a:latin typeface="Arial"/>
              </a:rPr>
              <a:t>Visible gaps</a:t>
            </a:r>
            <a:r>
              <a:rPr sz="1400" b="0">
                <a:solidFill>
                  <a:srgbClr val="121212"/>
                </a:solidFill>
                <a:latin typeface="Arial"/>
              </a:rPr>
              <a:t>; domain users </a:t>
            </a:r>
            <a:r>
              <a:rPr lang="en-US" sz="1400" b="0">
                <a:solidFill>
                  <a:srgbClr val="121212"/>
                </a:solidFill>
                <a:latin typeface="Arial"/>
              </a:rPr>
              <a:t>set </a:t>
            </a:r>
            <a:r>
              <a:rPr sz="1400" b="0">
                <a:solidFill>
                  <a:srgbClr val="121212"/>
                </a:solidFill>
                <a:latin typeface="Arial"/>
              </a:rPr>
              <a:t>the go / no-go </a:t>
            </a:r>
            <a:r>
              <a:rPr lang="en-US" sz="1400" b="0">
                <a:solidFill>
                  <a:srgbClr val="121212"/>
                </a:solidFill>
                <a:latin typeface="Arial"/>
              </a:rPr>
              <a:t>bar</a:t>
            </a:r>
            <a:r>
              <a:rPr sz="1400" b="0">
                <a:solidFill>
                  <a:srgbClr val="121212"/>
                </a:solidFill>
                <a:latin typeface="Arial"/>
              </a:rPr>
              <a:t>.</a:t>
            </a:r>
          </a:p>
        </p:txBody>
      </p:sp>
      <p:cxnSp>
        <p:nvCxnSpPr>
          <p:cNvPr id="43" name="Proof Divider"/>
          <p:cNvCxnSpPr/>
          <p:nvPr/>
        </p:nvCxnSpPr>
        <p:spPr>
          <a:xfrm>
            <a:off x="3968496" y="4681728"/>
            <a:ext cx="7388352" cy="0"/>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sp>
        <p:nvSpPr>
          <p:cNvPr id="44" name="Proof Number"/>
          <p:cNvSpPr txBox="1"/>
          <p:nvPr/>
        </p:nvSpPr>
        <p:spPr>
          <a:xfrm>
            <a:off x="3968496" y="4863715"/>
            <a:ext cx="384048" cy="184666"/>
          </a:xfrm>
          <a:prstGeom prst="rect">
            <a:avLst/>
          </a:prstGeom>
          <a:noFill/>
          <a:ln/>
        </p:spPr>
        <p:txBody>
          <a:bodyPr wrap="square" lIns="0" tIns="0" rIns="0" bIns="0" anchor="ctr">
            <a:spAutoFit/>
          </a:bodyPr>
          <a:lstStyle/>
          <a:p>
            <a:pPr algn="l"/>
            <a:r>
              <a:rPr lang="en-US" sz="1200" b="1">
                <a:solidFill>
                  <a:srgbClr val="FF4B00"/>
                </a:solidFill>
                <a:latin typeface="Arial"/>
              </a:rPr>
              <a:t>03</a:t>
            </a:r>
          </a:p>
        </p:txBody>
      </p:sp>
      <p:sp>
        <p:nvSpPr>
          <p:cNvPr id="45" name="Proof Label"/>
          <p:cNvSpPr txBox="1"/>
          <p:nvPr/>
        </p:nvSpPr>
        <p:spPr>
          <a:xfrm>
            <a:off x="4379976" y="4875758"/>
            <a:ext cx="2743200" cy="215444"/>
          </a:xfrm>
          <a:prstGeom prst="rect">
            <a:avLst/>
          </a:prstGeom>
          <a:noFill/>
          <a:ln/>
        </p:spPr>
        <p:txBody>
          <a:bodyPr wrap="square" lIns="0" tIns="0" rIns="0" bIns="0" anchor="ctr">
            <a:spAutoFit/>
          </a:bodyPr>
          <a:lstStyle/>
          <a:p>
            <a:pPr algn="l"/>
            <a:r>
              <a:rPr lang="en-US" sz="1400" b="1">
                <a:solidFill>
                  <a:srgbClr val="FF4B00"/>
                </a:solidFill>
                <a:latin typeface="Arial"/>
              </a:rPr>
              <a:t>PROOF → ECONOMIC VALUE</a:t>
            </a:r>
          </a:p>
        </p:txBody>
      </p:sp>
      <p:sp>
        <p:nvSpPr>
          <p:cNvPr id="46" name="Metric 1"/>
          <p:cNvSpPr txBox="1"/>
          <p:nvPr/>
        </p:nvSpPr>
        <p:spPr>
          <a:xfrm>
            <a:off x="3968496" y="5219438"/>
            <a:ext cx="1627632" cy="369332"/>
          </a:xfrm>
          <a:prstGeom prst="rect">
            <a:avLst/>
          </a:prstGeom>
          <a:noFill/>
          <a:ln/>
        </p:spPr>
        <p:txBody>
          <a:bodyPr wrap="square" lIns="0" tIns="0" rIns="0" bIns="0" anchor="ctr">
            <a:spAutoFit/>
          </a:bodyPr>
          <a:lstStyle/>
          <a:p>
            <a:pPr algn="l"/>
            <a:r>
              <a:rPr lang="en-US" sz="2400" b="1">
                <a:solidFill>
                  <a:srgbClr val="FF4B00"/>
                </a:solidFill>
                <a:latin typeface="Arial"/>
              </a:rPr>
              <a:t>90→4.2ms</a:t>
            </a:r>
          </a:p>
        </p:txBody>
      </p:sp>
      <p:sp>
        <p:nvSpPr>
          <p:cNvPr id="47" name="Metric Label 1"/>
          <p:cNvSpPr txBox="1"/>
          <p:nvPr/>
        </p:nvSpPr>
        <p:spPr>
          <a:xfrm>
            <a:off x="3968496" y="5605272"/>
            <a:ext cx="1627632" cy="153888"/>
          </a:xfrm>
          <a:prstGeom prst="rect">
            <a:avLst/>
          </a:prstGeom>
          <a:noFill/>
          <a:ln/>
        </p:spPr>
        <p:txBody>
          <a:bodyPr wrap="square" lIns="0" tIns="0" rIns="0" bIns="0" anchor="t">
            <a:spAutoFit/>
          </a:bodyPr>
          <a:lstStyle/>
          <a:p>
            <a:pPr algn="l"/>
            <a:r>
              <a:rPr lang="en-US" sz="1000" b="1">
                <a:solidFill>
                  <a:srgbClr val="55504A"/>
                </a:solidFill>
                <a:latin typeface="Arial"/>
              </a:rPr>
              <a:t>LATENCY</a:t>
            </a:r>
          </a:p>
        </p:txBody>
      </p:sp>
      <p:sp>
        <p:nvSpPr>
          <p:cNvPr id="48" name="Metric 2"/>
          <p:cNvSpPr txBox="1"/>
          <p:nvPr/>
        </p:nvSpPr>
        <p:spPr>
          <a:xfrm>
            <a:off x="5870448" y="5221224"/>
            <a:ext cx="1673352" cy="365760"/>
          </a:xfrm>
          <a:prstGeom prst="rect">
            <a:avLst/>
          </a:prstGeom>
          <a:noFill/>
          <a:ln/>
        </p:spPr>
        <p:txBody>
          <a:bodyPr wrap="square" lIns="0" tIns="0" rIns="0" bIns="0" anchor="ctr">
            <a:spAutoFit/>
          </a:bodyPr>
          <a:lstStyle/>
          <a:p>
            <a:pPr algn="l"/>
            <a:r>
              <a:rPr lang="en-US" sz="2400" b="1">
                <a:solidFill>
                  <a:srgbClr val="FF4B00"/>
                </a:solidFill>
                <a:latin typeface="Arial"/>
              </a:rPr>
              <a:t>15→1.8%</a:t>
            </a:r>
          </a:p>
        </p:txBody>
      </p:sp>
      <p:sp>
        <p:nvSpPr>
          <p:cNvPr id="49" name="Metric Label 2"/>
          <p:cNvSpPr txBox="1"/>
          <p:nvPr/>
        </p:nvSpPr>
        <p:spPr>
          <a:xfrm>
            <a:off x="5870448" y="5605272"/>
            <a:ext cx="1673352" cy="153888"/>
          </a:xfrm>
          <a:prstGeom prst="rect">
            <a:avLst/>
          </a:prstGeom>
          <a:noFill/>
          <a:ln/>
        </p:spPr>
        <p:txBody>
          <a:bodyPr wrap="square" lIns="0" tIns="0" rIns="0" bIns="0" anchor="t">
            <a:spAutoFit/>
          </a:bodyPr>
          <a:lstStyle/>
          <a:p>
            <a:pPr algn="l"/>
            <a:r>
              <a:rPr lang="en-US" sz="1000" b="1">
                <a:solidFill>
                  <a:srgbClr val="55504A"/>
                </a:solidFill>
                <a:latin typeface="Arial"/>
              </a:rPr>
              <a:t>FALSE POSITIVES</a:t>
            </a:r>
          </a:p>
        </p:txBody>
      </p:sp>
      <p:sp>
        <p:nvSpPr>
          <p:cNvPr id="50" name="Metric 3"/>
          <p:cNvSpPr txBox="1"/>
          <p:nvPr/>
        </p:nvSpPr>
        <p:spPr>
          <a:xfrm>
            <a:off x="7808975" y="5219438"/>
            <a:ext cx="1709928" cy="369332"/>
          </a:xfrm>
          <a:prstGeom prst="rect">
            <a:avLst/>
          </a:prstGeom>
          <a:noFill/>
          <a:ln/>
        </p:spPr>
        <p:txBody>
          <a:bodyPr wrap="square" lIns="0" tIns="0" rIns="0" bIns="0" anchor="ctr">
            <a:spAutoFit/>
          </a:bodyPr>
          <a:lstStyle/>
          <a:p>
            <a:pPr algn="l"/>
            <a:r>
              <a:rPr lang="en-US" sz="2400" b="1">
                <a:solidFill>
                  <a:srgbClr val="FF4B00"/>
                </a:solidFill>
                <a:latin typeface="Arial"/>
              </a:rPr>
              <a:t>~$400K/mo</a:t>
            </a:r>
          </a:p>
        </p:txBody>
      </p:sp>
      <p:sp>
        <p:nvSpPr>
          <p:cNvPr id="51" name="Metric Label 3"/>
          <p:cNvSpPr txBox="1"/>
          <p:nvPr/>
        </p:nvSpPr>
        <p:spPr>
          <a:xfrm>
            <a:off x="7808975" y="5605272"/>
            <a:ext cx="1709928" cy="153888"/>
          </a:xfrm>
          <a:prstGeom prst="rect">
            <a:avLst/>
          </a:prstGeom>
          <a:noFill/>
          <a:ln/>
        </p:spPr>
        <p:txBody>
          <a:bodyPr wrap="square" lIns="0" tIns="0" rIns="0" bIns="0" anchor="t">
            <a:spAutoFit/>
          </a:bodyPr>
          <a:lstStyle/>
          <a:p>
            <a:pPr algn="l"/>
            <a:r>
              <a:rPr lang="en-US" sz="1000" b="1">
                <a:solidFill>
                  <a:srgbClr val="55504A"/>
                </a:solidFill>
                <a:latin typeface="Arial"/>
              </a:rPr>
              <a:t>OPERATING SAVINGS</a:t>
            </a:r>
          </a:p>
        </p:txBody>
      </p:sp>
      <p:sp>
        <p:nvSpPr>
          <p:cNvPr id="52" name="Metric 4"/>
          <p:cNvSpPr txBox="1"/>
          <p:nvPr/>
        </p:nvSpPr>
        <p:spPr>
          <a:xfrm>
            <a:off x="9756648" y="5219438"/>
            <a:ext cx="1554480" cy="369332"/>
          </a:xfrm>
          <a:prstGeom prst="rect">
            <a:avLst/>
          </a:prstGeom>
          <a:noFill/>
          <a:ln/>
        </p:spPr>
        <p:txBody>
          <a:bodyPr wrap="square" lIns="0" tIns="0" rIns="0" bIns="0" anchor="ctr">
            <a:spAutoFit/>
          </a:bodyPr>
          <a:lstStyle/>
          <a:p>
            <a:pPr algn="l"/>
            <a:r>
              <a:rPr lang="en-US" sz="2400" b="1">
                <a:solidFill>
                  <a:srgbClr val="FF4B00"/>
                </a:solidFill>
                <a:latin typeface="Arial"/>
              </a:rPr>
              <a:t>~$85M</a:t>
            </a:r>
          </a:p>
        </p:txBody>
      </p:sp>
      <p:sp>
        <p:nvSpPr>
          <p:cNvPr id="53" name="Metric Label 4"/>
          <p:cNvSpPr txBox="1"/>
          <p:nvPr/>
        </p:nvSpPr>
        <p:spPr>
          <a:xfrm>
            <a:off x="9756648" y="5605272"/>
            <a:ext cx="1554480" cy="153888"/>
          </a:xfrm>
          <a:prstGeom prst="rect">
            <a:avLst/>
          </a:prstGeom>
          <a:noFill/>
          <a:ln/>
        </p:spPr>
        <p:txBody>
          <a:bodyPr wrap="square" lIns="0" tIns="0" rIns="0" bIns="0" anchor="t">
            <a:spAutoFit/>
          </a:bodyPr>
          <a:lstStyle/>
          <a:p>
            <a:pPr algn="l"/>
            <a:r>
              <a:rPr lang="en-US" sz="1000" b="1">
                <a:solidFill>
                  <a:srgbClr val="55504A"/>
                </a:solidFill>
                <a:latin typeface="Arial"/>
              </a:rPr>
              <a:t>CAPITAL CAPACITY</a:t>
            </a:r>
          </a:p>
        </p:txBody>
      </p:sp>
      <p:sp>
        <p:nvSpPr>
          <p:cNvPr id="54" name="Scale Note"/>
          <p:cNvSpPr txBox="1"/>
          <p:nvPr/>
        </p:nvSpPr>
        <p:spPr>
          <a:xfrm>
            <a:off x="3968496" y="5815584"/>
            <a:ext cx="7388352" cy="123111"/>
          </a:xfrm>
          <a:prstGeom prst="rect">
            <a:avLst/>
          </a:prstGeom>
          <a:noFill/>
          <a:ln/>
        </p:spPr>
        <p:txBody>
          <a:bodyPr wrap="square" lIns="0" tIns="0" rIns="0" bIns="0" anchor="t">
            <a:spAutoFit/>
          </a:bodyPr>
          <a:lstStyle/>
          <a:p>
            <a:pPr algn="l"/>
            <a:r>
              <a:rPr lang="en-US" sz="800" b="0">
                <a:solidFill>
                  <a:srgbClr val="8A857E"/>
                </a:solidFill>
                <a:latin typeface="Arial"/>
              </a:rPr>
              <a:t>Scale: ~5.4M events/sec · Faster risk visibility released capital.</a:t>
            </a:r>
          </a:p>
        </p:txBody>
      </p:sp>
      <p:sp>
        <p:nvSpPr>
          <p:cNvPr id="55" name="Source Footnote"/>
          <p:cNvSpPr txBox="1"/>
          <p:nvPr/>
        </p:nvSpPr>
        <p:spPr>
          <a:xfrm>
            <a:off x="566928" y="6172200"/>
            <a:ext cx="10469880" cy="118872"/>
          </a:xfrm>
          <a:prstGeom prst="rect">
            <a:avLst/>
          </a:prstGeom>
          <a:noFill/>
          <a:ln/>
        </p:spPr>
        <p:txBody>
          <a:bodyPr wrap="square" lIns="0" tIns="0" rIns="0" bIns="0" anchor="ctr">
            <a:spAutoFit/>
          </a:bodyPr>
          <a:lstStyle/>
          <a:p>
            <a:pPr algn="l"/>
            <a:r>
              <a:rPr sz="800" b="0">
                <a:solidFill>
                  <a:srgbClr val="8A857E"/>
                </a:solidFill>
                <a:latin typeface="Arial"/>
              </a:rPr>
              <a:t>Source: Candidate-provided D. E. Shaw project metrics and defensible assumptions; validate exact figures before interview.</a:t>
            </a:r>
          </a:p>
        </p:txBody>
      </p:sp>
      <p:sp>
        <p:nvSpPr>
          <p:cNvPr id="56" name="Narrative Footnote"/>
          <p:cNvSpPr txBox="1"/>
          <p:nvPr/>
        </p:nvSpPr>
        <p:spPr>
          <a:xfrm>
            <a:off x="566928" y="6416054"/>
            <a:ext cx="10469880" cy="123111"/>
          </a:xfrm>
          <a:prstGeom prst="rect">
            <a:avLst/>
          </a:prstGeom>
          <a:noFill/>
          <a:ln/>
        </p:spPr>
        <p:txBody>
          <a:bodyPr wrap="square" lIns="0" tIns="0" rIns="0" bIns="0" anchor="ctr">
            <a:spAutoFit/>
          </a:bodyPr>
          <a:lstStyle/>
          <a:p>
            <a:pPr algn="l"/>
            <a:r>
              <a:rPr lang="en-US" sz="800" b="0">
                <a:solidFill>
                  <a:srgbClr val="8A857E"/>
                </a:solidFill>
                <a:latin typeface="Arial"/>
              </a:rPr>
              <a:t>D. E. Shaw: internal Financial Services product — workflow → technology → production trust → economic value.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pic>
        <p:nvPicPr>
          <p:cNvPr id="83" name="Official Mistral footer symbol" descr="image.png"/>
          <p:cNvPicPr>
            <a:picLocks noChangeAspect="1"/>
          </p:cNvPicPr>
          <p:nvPr/>
        </p:nvPicPr>
        <p:blipFill>
          <a:blip r:embed="rId3"/>
          <a:srcRect/>
          <a:stretch>
            <a:fillRect/>
          </a:stretch>
        </p:blipFill>
        <p:spPr>
          <a:xfrm>
            <a:off x="11594592" y="6400800"/>
            <a:ext cx="228600" cy="164592"/>
          </a:xfrm>
          <a:prstGeom prst="rect">
            <a:avLst/>
          </a:prstGeom>
          <a:ln/>
        </p:spPr>
      </p:pic>
      <p:pic>
        <p:nvPicPr>
          <p:cNvPr id="84" name="Official Mistral header symbol" descr="image.png"/>
          <p:cNvPicPr>
            <a:picLocks noChangeAspect="1"/>
          </p:cNvPicPr>
          <p:nvPr/>
        </p:nvPicPr>
        <p:blipFill>
          <a:blip r:embed="rId3"/>
          <a:stretch>
            <a:fillRect/>
          </a:stretch>
        </p:blipFill>
        <p:spPr>
          <a:xfrm>
            <a:off x="182880" y="182880"/>
            <a:ext cx="228600" cy="164592"/>
          </a:xfrm>
          <a:prstGeom prst="rect">
            <a:avLst/>
          </a:prstGeom>
          <a:ln/>
        </p:spPr>
      </p:pic>
      <p:sp>
        <p:nvSpPr>
          <p:cNvPr id="85" name="Section Eyebrow"/>
          <p:cNvSpPr txBox="1"/>
          <p:nvPr/>
        </p:nvSpPr>
        <p:spPr>
          <a:xfrm>
            <a:off x="621792" y="201168"/>
            <a:ext cx="9326880" cy="256032"/>
          </a:xfrm>
          <a:prstGeom prst="rect">
            <a:avLst/>
          </a:prstGeom>
          <a:noFill/>
          <a:ln/>
        </p:spPr>
        <p:txBody>
          <a:bodyPr wrap="square" lIns="0" tIns="0" rIns="0" bIns="0" anchor="ctr">
            <a:spAutoFit/>
          </a:bodyPr>
          <a:lstStyle/>
          <a:p>
            <a:pPr algn="l"/>
            <a:r>
              <a:rPr sz="1400" b="1">
                <a:solidFill>
                  <a:srgbClr val="FF4B00"/>
                </a:solidFill>
                <a:latin typeface="Arial"/>
              </a:rPr>
              <a:t>MICROSOFT REGULATED CLOUD / AI PLATFORM · INDUSTRY GTM</a:t>
            </a:r>
          </a:p>
        </p:txBody>
      </p:sp>
      <p:sp>
        <p:nvSpPr>
          <p:cNvPr id="86" name="Page Number"/>
          <p:cNvSpPr txBox="1"/>
          <p:nvPr/>
        </p:nvSpPr>
        <p:spPr>
          <a:xfrm>
            <a:off x="11137392" y="6400800"/>
            <a:ext cx="292608" cy="155448"/>
          </a:xfrm>
          <a:prstGeom prst="rect">
            <a:avLst/>
          </a:prstGeom>
          <a:noFill/>
          <a:ln/>
        </p:spPr>
        <p:txBody>
          <a:bodyPr wrap="square" lIns="0" tIns="0" rIns="0" bIns="0" anchor="ctr">
            <a:spAutoFit/>
          </a:bodyPr>
          <a:lstStyle/>
          <a:p>
            <a:pPr algn="r"/>
            <a:r>
              <a:rPr lang="en-US" sz="1000" b="0">
                <a:solidFill>
                  <a:srgbClr val="8A857E"/>
                </a:solidFill>
                <a:latin typeface="Arial"/>
              </a:rPr>
              <a:t>3</a:t>
            </a:r>
            <a:endParaRPr sz="1000" b="0">
              <a:solidFill>
                <a:srgbClr val="55504A"/>
              </a:solidFill>
              <a:latin typeface="Arial"/>
            </a:endParaRPr>
          </a:p>
        </p:txBody>
      </p:sp>
      <p:sp>
        <p:nvSpPr>
          <p:cNvPr id="87" name="Slide Title"/>
          <p:cNvSpPr txBox="1"/>
          <p:nvPr/>
        </p:nvSpPr>
        <p:spPr>
          <a:xfrm>
            <a:off x="502920" y="576072"/>
            <a:ext cx="11155680" cy="539496"/>
          </a:xfrm>
          <a:prstGeom prst="rect">
            <a:avLst/>
          </a:prstGeom>
          <a:noFill/>
          <a:ln/>
        </p:spPr>
        <p:txBody>
          <a:bodyPr wrap="square" lIns="0" tIns="0" rIns="0" bIns="0" anchor="ctr">
            <a:spAutoFit/>
          </a:bodyPr>
          <a:lstStyle/>
          <a:p>
            <a:pPr algn="l"/>
            <a:r>
              <a:rPr lang="en-US" sz="3500" b="1">
                <a:solidFill>
                  <a:srgbClr val="121212"/>
                </a:solidFill>
                <a:latin typeface="Arial"/>
              </a:rPr>
              <a:t>2</a:t>
            </a:r>
            <a:r>
              <a:rPr sz="3500" b="1">
                <a:solidFill>
                  <a:srgbClr val="121212"/>
                </a:solidFill>
                <a:latin typeface="Arial"/>
              </a:rPr>
              <a:t>. Enterprise GTM: solve once, scale what repeats</a:t>
            </a:r>
          </a:p>
        </p:txBody>
      </p:sp>
      <p:sp>
        <p:nvSpPr>
          <p:cNvPr id="88" name="Role Accent"/>
          <p:cNvSpPr/>
          <p:nvPr/>
        </p:nvSpPr>
        <p:spPr>
          <a:xfrm>
            <a:off x="502920" y="1170432"/>
            <a:ext cx="64008" cy="34747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ole Line"/>
          <p:cNvSpPr txBox="1"/>
          <p:nvPr/>
        </p:nvSpPr>
        <p:spPr>
          <a:xfrm>
            <a:off x="658368" y="1225296"/>
            <a:ext cx="10881360" cy="215444"/>
          </a:xfrm>
          <a:prstGeom prst="rect">
            <a:avLst/>
          </a:prstGeom>
          <a:noFill/>
          <a:ln/>
        </p:spPr>
        <p:txBody>
          <a:bodyPr wrap="square" lIns="0" tIns="0" rIns="0" bIns="0" anchor="ctr">
            <a:spAutoFit/>
          </a:bodyPr>
          <a:lstStyle/>
          <a:p>
            <a:pPr algn="l"/>
            <a:r>
              <a:rPr sz="1400" b="1">
                <a:solidFill>
                  <a:srgbClr val="FF4B00"/>
                </a:solidFill>
                <a:latin typeface="Arial"/>
              </a:rPr>
              <a:t>MY ROLE  </a:t>
            </a:r>
            <a:r>
              <a:rPr lang="en-US" sz="1400" b="0">
                <a:solidFill>
                  <a:srgbClr val="55504A"/>
                </a:solidFill>
                <a:latin typeface="Arial"/>
              </a:rPr>
              <a:t>customer signal → technical pattern → industry play</a:t>
            </a:r>
          </a:p>
        </p:txBody>
      </p:sp>
      <p:cxnSp>
        <p:nvCxnSpPr>
          <p:cNvPr id="90" name="Header Divider"/>
          <p:cNvCxnSpPr/>
          <p:nvPr/>
        </p:nvCxnSpPr>
        <p:spPr>
          <a:xfrm>
            <a:off x="502920" y="1554480"/>
            <a:ext cx="11155680" cy="0"/>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sp>
        <p:nvSpPr>
          <p:cNvPr id="91" name="Takeaway"/>
          <p:cNvSpPr txBox="1"/>
          <p:nvPr/>
        </p:nvSpPr>
        <p:spPr>
          <a:xfrm>
            <a:off x="502920" y="1627632"/>
            <a:ext cx="11155680" cy="256032"/>
          </a:xfrm>
          <a:prstGeom prst="rect">
            <a:avLst/>
          </a:prstGeom>
          <a:noFill/>
          <a:ln/>
        </p:spPr>
        <p:txBody>
          <a:bodyPr wrap="square" lIns="0" tIns="0" rIns="0" bIns="0" anchor="ctr">
            <a:spAutoFit/>
          </a:bodyPr>
          <a:lstStyle/>
          <a:p>
            <a:pPr algn="l"/>
            <a:r>
              <a:rPr lang="en-US" sz="1400" b="1">
                <a:solidFill>
                  <a:srgbClr val="FF4B00"/>
                </a:solidFill>
                <a:latin typeface="Arial"/>
              </a:rPr>
              <a:t>TAKEAWAY  </a:t>
            </a:r>
            <a:r>
              <a:rPr lang="en-US" sz="1400" b="1">
                <a:solidFill>
                  <a:srgbClr val="121212"/>
                </a:solidFill>
                <a:latin typeface="Arial"/>
              </a:rPr>
              <a:t>One hard win is execution; repeatability is PMM.</a:t>
            </a:r>
          </a:p>
        </p:txBody>
      </p:sp>
      <p:cxnSp>
        <p:nvCxnSpPr>
          <p:cNvPr id="92" name="Column Divider 1"/>
          <p:cNvCxnSpPr/>
          <p:nvPr/>
        </p:nvCxnSpPr>
        <p:spPr>
          <a:xfrm>
            <a:off x="3419856" y="2103120"/>
            <a:ext cx="0" cy="2798064"/>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93" name="Column Divider 2"/>
          <p:cNvCxnSpPr/>
          <p:nvPr/>
        </p:nvCxnSpPr>
        <p:spPr>
          <a:xfrm>
            <a:off x="7589520" y="2103120"/>
            <a:ext cx="0" cy="2798064"/>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sp>
        <p:nvSpPr>
          <p:cNvPr id="94" name="Section 01 Number"/>
          <p:cNvSpPr txBox="1"/>
          <p:nvPr/>
        </p:nvSpPr>
        <p:spPr>
          <a:xfrm>
            <a:off x="640080" y="2112264"/>
            <a:ext cx="384048" cy="201168"/>
          </a:xfrm>
          <a:prstGeom prst="rect">
            <a:avLst/>
          </a:prstGeom>
          <a:noFill/>
          <a:ln/>
        </p:spPr>
        <p:txBody>
          <a:bodyPr wrap="square" lIns="0" tIns="0" rIns="0" bIns="0" anchor="ctr">
            <a:spAutoFit/>
          </a:bodyPr>
          <a:lstStyle/>
          <a:p>
            <a:pPr algn="l"/>
            <a:r>
              <a:rPr sz="1200" b="1">
                <a:solidFill>
                  <a:srgbClr val="FF4B00"/>
                </a:solidFill>
                <a:latin typeface="Arial"/>
              </a:rPr>
              <a:t>01</a:t>
            </a:r>
          </a:p>
        </p:txBody>
      </p:sp>
      <p:sp>
        <p:nvSpPr>
          <p:cNvPr id="95" name="Section 01 Label"/>
          <p:cNvSpPr txBox="1"/>
          <p:nvPr/>
        </p:nvSpPr>
        <p:spPr>
          <a:xfrm>
            <a:off x="1051560" y="2103120"/>
            <a:ext cx="2258568" cy="274320"/>
          </a:xfrm>
          <a:prstGeom prst="rect">
            <a:avLst/>
          </a:prstGeom>
          <a:noFill/>
          <a:ln/>
        </p:spPr>
        <p:txBody>
          <a:bodyPr wrap="square" lIns="0" tIns="0" rIns="0" bIns="0" anchor="ctr">
            <a:spAutoFit/>
          </a:bodyPr>
          <a:lstStyle/>
          <a:p>
            <a:pPr algn="l"/>
            <a:r>
              <a:rPr sz="1400" b="1">
                <a:solidFill>
                  <a:srgbClr val="FF4B00"/>
                </a:solidFill>
                <a:latin typeface="Arial"/>
              </a:rPr>
              <a:t>FIND THE INVARIANT</a:t>
            </a:r>
          </a:p>
        </p:txBody>
      </p:sp>
      <p:sp>
        <p:nvSpPr>
          <p:cNvPr id="96" name="Constraint Thesis"/>
          <p:cNvSpPr txBox="1"/>
          <p:nvPr/>
        </p:nvSpPr>
        <p:spPr>
          <a:xfrm>
            <a:off x="640080" y="2660904"/>
            <a:ext cx="2487168" cy="492443"/>
          </a:xfrm>
          <a:prstGeom prst="rect">
            <a:avLst/>
          </a:prstGeom>
          <a:noFill/>
          <a:ln/>
        </p:spPr>
        <p:txBody>
          <a:bodyPr wrap="square" lIns="0" tIns="0" rIns="0" bIns="0" anchor="t">
            <a:spAutoFit/>
          </a:bodyPr>
          <a:lstStyle/>
          <a:p>
            <a:pPr algn="l"/>
            <a:r>
              <a:rPr lang="en-US" sz="1600" b="1">
                <a:solidFill>
                  <a:srgbClr val="121212"/>
                </a:solidFill>
                <a:latin typeface="Arial"/>
              </a:rPr>
              <a:t>Find the constraint that repeats.</a:t>
            </a:r>
          </a:p>
        </p:txBody>
      </p:sp>
      <p:sp>
        <p:nvSpPr>
          <p:cNvPr id="97" name="Constraint Marker 1"/>
          <p:cNvSpPr/>
          <p:nvPr/>
        </p:nvSpPr>
        <p:spPr>
          <a:xfrm>
            <a:off x="658368" y="3438144"/>
            <a:ext cx="73152" cy="7315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Constraint 1"/>
          <p:cNvSpPr txBox="1"/>
          <p:nvPr/>
        </p:nvSpPr>
        <p:spPr>
          <a:xfrm>
            <a:off x="859536" y="3392424"/>
            <a:ext cx="2286000" cy="182880"/>
          </a:xfrm>
          <a:prstGeom prst="rect">
            <a:avLst/>
          </a:prstGeom>
          <a:noFill/>
          <a:ln/>
        </p:spPr>
        <p:txBody>
          <a:bodyPr wrap="square" lIns="0" tIns="0" rIns="0" bIns="0" anchor="t">
            <a:spAutoFit/>
          </a:bodyPr>
          <a:lstStyle/>
          <a:p>
            <a:pPr algn="l"/>
            <a:r>
              <a:rPr sz="1200" b="1">
                <a:solidFill>
                  <a:srgbClr val="121212"/>
                </a:solidFill>
                <a:latin typeface="Arial"/>
              </a:rPr>
              <a:t>DATA LOCATION</a:t>
            </a:r>
          </a:p>
        </p:txBody>
      </p:sp>
      <p:sp>
        <p:nvSpPr>
          <p:cNvPr id="99" name="Constraint Marker 2"/>
          <p:cNvSpPr/>
          <p:nvPr/>
        </p:nvSpPr>
        <p:spPr>
          <a:xfrm>
            <a:off x="658368" y="3758183"/>
            <a:ext cx="73152" cy="7315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Constraint 2"/>
          <p:cNvSpPr txBox="1"/>
          <p:nvPr/>
        </p:nvSpPr>
        <p:spPr>
          <a:xfrm>
            <a:off x="859536" y="3712463"/>
            <a:ext cx="2286000" cy="182880"/>
          </a:xfrm>
          <a:prstGeom prst="rect">
            <a:avLst/>
          </a:prstGeom>
          <a:noFill/>
          <a:ln/>
        </p:spPr>
        <p:txBody>
          <a:bodyPr wrap="square" lIns="0" tIns="0" rIns="0" bIns="0" anchor="t">
            <a:spAutoFit/>
          </a:bodyPr>
          <a:lstStyle/>
          <a:p>
            <a:pPr algn="l"/>
            <a:r>
              <a:rPr sz="1200" b="1">
                <a:solidFill>
                  <a:srgbClr val="121212"/>
                </a:solidFill>
                <a:latin typeface="Arial"/>
              </a:rPr>
              <a:t>KEY CONTROL</a:t>
            </a:r>
          </a:p>
        </p:txBody>
      </p:sp>
      <p:sp>
        <p:nvSpPr>
          <p:cNvPr id="101" name="Constraint Marker 3"/>
          <p:cNvSpPr/>
          <p:nvPr/>
        </p:nvSpPr>
        <p:spPr>
          <a:xfrm>
            <a:off x="658368" y="4078224"/>
            <a:ext cx="73152" cy="7315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onstraint 3"/>
          <p:cNvSpPr txBox="1"/>
          <p:nvPr/>
        </p:nvSpPr>
        <p:spPr>
          <a:xfrm>
            <a:off x="859536" y="4032504"/>
            <a:ext cx="2286000" cy="182880"/>
          </a:xfrm>
          <a:prstGeom prst="rect">
            <a:avLst/>
          </a:prstGeom>
          <a:noFill/>
          <a:ln/>
        </p:spPr>
        <p:txBody>
          <a:bodyPr wrap="square" lIns="0" tIns="0" rIns="0" bIns="0" anchor="t">
            <a:spAutoFit/>
          </a:bodyPr>
          <a:lstStyle/>
          <a:p>
            <a:pPr algn="l"/>
            <a:r>
              <a:rPr lang="en-US" sz="1200" b="1">
                <a:solidFill>
                  <a:srgbClr val="121212"/>
                </a:solidFill>
                <a:latin typeface="Arial"/>
              </a:rPr>
              <a:t>SECURITY VALIDATION</a:t>
            </a:r>
            <a:endParaRPr sz="1200" b="1">
              <a:solidFill>
                <a:srgbClr val="121212"/>
              </a:solidFill>
              <a:latin typeface="Arial"/>
            </a:endParaRPr>
          </a:p>
        </p:txBody>
      </p:sp>
      <p:sp>
        <p:nvSpPr>
          <p:cNvPr id="103" name="Constraint Marker 4"/>
          <p:cNvSpPr/>
          <p:nvPr/>
        </p:nvSpPr>
        <p:spPr>
          <a:xfrm>
            <a:off x="658368" y="4398264"/>
            <a:ext cx="73152" cy="73152"/>
          </a:xfrm>
          <a:prstGeom prst="rect">
            <a:avLst/>
          </a:prstGeom>
          <a:solidFill>
            <a:srgbClr val="FF4B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Constraint 4"/>
          <p:cNvSpPr txBox="1"/>
          <p:nvPr/>
        </p:nvSpPr>
        <p:spPr>
          <a:xfrm>
            <a:off x="859536" y="4352544"/>
            <a:ext cx="2286000" cy="182880"/>
          </a:xfrm>
          <a:prstGeom prst="rect">
            <a:avLst/>
          </a:prstGeom>
          <a:noFill/>
          <a:ln/>
        </p:spPr>
        <p:txBody>
          <a:bodyPr wrap="square" lIns="0" tIns="0" rIns="0" bIns="0" anchor="t">
            <a:spAutoFit/>
          </a:bodyPr>
          <a:lstStyle/>
          <a:p>
            <a:pPr algn="l"/>
            <a:r>
              <a:rPr lang="en-US" sz="1200" b="1">
                <a:solidFill>
                  <a:srgbClr val="121212"/>
                </a:solidFill>
                <a:latin typeface="Arial"/>
              </a:rPr>
              <a:t>POLICY ENFORCEMENT</a:t>
            </a:r>
            <a:endParaRPr sz="1200" b="1">
              <a:solidFill>
                <a:srgbClr val="121212"/>
              </a:solidFill>
              <a:latin typeface="Arial"/>
            </a:endParaRPr>
          </a:p>
        </p:txBody>
      </p:sp>
      <p:sp>
        <p:nvSpPr>
          <p:cNvPr id="105" name="Constraint Principle"/>
          <p:cNvSpPr txBox="1"/>
          <p:nvPr/>
        </p:nvSpPr>
        <p:spPr>
          <a:xfrm>
            <a:off x="640080" y="4718304"/>
            <a:ext cx="2514600" cy="307777"/>
          </a:xfrm>
          <a:prstGeom prst="rect">
            <a:avLst/>
          </a:prstGeom>
          <a:noFill/>
          <a:ln/>
        </p:spPr>
        <p:txBody>
          <a:bodyPr wrap="square" lIns="0" tIns="0" rIns="0" bIns="0" anchor="t">
            <a:spAutoFit/>
          </a:bodyPr>
          <a:lstStyle/>
          <a:p>
            <a:pPr algn="l"/>
            <a:r>
              <a:rPr lang="en-US" sz="1000" b="1">
                <a:solidFill>
                  <a:srgbClr val="55504A"/>
                </a:solidFill>
                <a:latin typeface="Arial"/>
              </a:rPr>
              <a:t>Customize the edge; standardize the pattern.</a:t>
            </a:r>
          </a:p>
        </p:txBody>
      </p:sp>
      <p:sp>
        <p:nvSpPr>
          <p:cNvPr id="106" name="Section 02 Number"/>
          <p:cNvSpPr txBox="1"/>
          <p:nvPr/>
        </p:nvSpPr>
        <p:spPr>
          <a:xfrm>
            <a:off x="3794760" y="2112264"/>
            <a:ext cx="384048" cy="201168"/>
          </a:xfrm>
          <a:prstGeom prst="rect">
            <a:avLst/>
          </a:prstGeom>
          <a:noFill/>
          <a:ln/>
        </p:spPr>
        <p:txBody>
          <a:bodyPr wrap="square" lIns="0" tIns="0" rIns="0" bIns="0" anchor="ctr">
            <a:spAutoFit/>
          </a:bodyPr>
          <a:lstStyle/>
          <a:p>
            <a:pPr algn="l"/>
            <a:r>
              <a:rPr sz="1200" b="1">
                <a:solidFill>
                  <a:srgbClr val="FF4B00"/>
                </a:solidFill>
                <a:latin typeface="Arial"/>
              </a:rPr>
              <a:t>02</a:t>
            </a:r>
          </a:p>
        </p:txBody>
      </p:sp>
      <p:sp>
        <p:nvSpPr>
          <p:cNvPr id="107" name="Section 02 Label"/>
          <p:cNvSpPr txBox="1"/>
          <p:nvPr/>
        </p:nvSpPr>
        <p:spPr>
          <a:xfrm>
            <a:off x="4206240" y="2103120"/>
            <a:ext cx="3081527" cy="274320"/>
          </a:xfrm>
          <a:prstGeom prst="rect">
            <a:avLst/>
          </a:prstGeom>
          <a:noFill/>
          <a:ln/>
        </p:spPr>
        <p:txBody>
          <a:bodyPr wrap="square" lIns="0" tIns="0" rIns="0" bIns="0" anchor="ctr">
            <a:spAutoFit/>
          </a:bodyPr>
          <a:lstStyle/>
          <a:p>
            <a:pPr algn="l"/>
            <a:r>
              <a:rPr sz="1400" b="1">
                <a:solidFill>
                  <a:srgbClr val="FF4B00"/>
                </a:solidFill>
                <a:latin typeface="Arial"/>
              </a:rPr>
              <a:t>MATCH THE THREAT MODEL</a:t>
            </a:r>
          </a:p>
        </p:txBody>
      </p:sp>
      <p:sp>
        <p:nvSpPr>
          <p:cNvPr id="108" name="Architecture Thesis"/>
          <p:cNvSpPr txBox="1"/>
          <p:nvPr/>
        </p:nvSpPr>
        <p:spPr>
          <a:xfrm>
            <a:off x="3794760" y="2660904"/>
            <a:ext cx="3429000" cy="430887"/>
          </a:xfrm>
          <a:prstGeom prst="rect">
            <a:avLst/>
          </a:prstGeom>
          <a:noFill/>
          <a:ln/>
        </p:spPr>
        <p:txBody>
          <a:bodyPr wrap="square" lIns="0" tIns="0" rIns="0" bIns="0" anchor="t">
            <a:spAutoFit/>
          </a:bodyPr>
          <a:lstStyle/>
          <a:p>
            <a:pPr algn="l"/>
            <a:r>
              <a:rPr lang="en-US" sz="1400" b="1">
                <a:solidFill>
                  <a:srgbClr val="121212"/>
                </a:solidFill>
                <a:latin typeface="Arial"/>
              </a:rPr>
              <a:t>Match architecture to the threat model + production SLA.</a:t>
            </a:r>
          </a:p>
        </p:txBody>
      </p:sp>
      <p:sp>
        <p:nvSpPr>
          <p:cNvPr id="109" name="FHE Metric"/>
          <p:cNvSpPr txBox="1"/>
          <p:nvPr/>
        </p:nvSpPr>
        <p:spPr>
          <a:xfrm>
            <a:off x="3794760" y="3243888"/>
            <a:ext cx="1097280" cy="461665"/>
          </a:xfrm>
          <a:prstGeom prst="rect">
            <a:avLst/>
          </a:prstGeom>
          <a:noFill/>
          <a:ln/>
        </p:spPr>
        <p:txBody>
          <a:bodyPr wrap="square" lIns="0" tIns="0" rIns="0" bIns="0" anchor="ctr">
            <a:spAutoFit/>
          </a:bodyPr>
          <a:lstStyle/>
          <a:p>
            <a:pPr algn="l"/>
            <a:r>
              <a:rPr lang="en-US" sz="3000" b="1">
                <a:solidFill>
                  <a:srgbClr val="FF4B00"/>
                </a:solidFill>
                <a:latin typeface="Arial"/>
              </a:rPr>
              <a:t>~14s</a:t>
            </a:r>
          </a:p>
        </p:txBody>
      </p:sp>
      <p:sp>
        <p:nvSpPr>
          <p:cNvPr id="110" name="FHE Label"/>
          <p:cNvSpPr txBox="1"/>
          <p:nvPr/>
        </p:nvSpPr>
        <p:spPr>
          <a:xfrm>
            <a:off x="4800600" y="3328416"/>
            <a:ext cx="2267712" cy="184666"/>
          </a:xfrm>
          <a:prstGeom prst="rect">
            <a:avLst/>
          </a:prstGeom>
          <a:noFill/>
          <a:ln/>
        </p:spPr>
        <p:txBody>
          <a:bodyPr wrap="square" lIns="0" tIns="0" rIns="0" bIns="0" anchor="t">
            <a:spAutoFit/>
          </a:bodyPr>
          <a:lstStyle/>
          <a:p>
            <a:pPr algn="l"/>
            <a:r>
              <a:rPr lang="en-US" sz="1200" b="1">
                <a:solidFill>
                  <a:srgbClr val="55504A"/>
                </a:solidFill>
                <a:latin typeface="Arial"/>
              </a:rPr>
              <a:t>FHE · inference latency</a:t>
            </a:r>
            <a:endParaRPr sz="1150" b="1">
              <a:solidFill>
                <a:srgbClr val="55504A"/>
              </a:solidFill>
              <a:latin typeface="Arial"/>
            </a:endParaRPr>
          </a:p>
        </p:txBody>
      </p:sp>
      <p:sp>
        <p:nvSpPr>
          <p:cNvPr id="111" name="Architecture Reframe"/>
          <p:cNvSpPr txBox="1"/>
          <p:nvPr/>
        </p:nvSpPr>
        <p:spPr>
          <a:xfrm>
            <a:off x="3794760" y="3702427"/>
            <a:ext cx="3429000" cy="184666"/>
          </a:xfrm>
          <a:prstGeom prst="rect">
            <a:avLst/>
          </a:prstGeom>
          <a:noFill/>
          <a:ln/>
        </p:spPr>
        <p:txBody>
          <a:bodyPr wrap="square" lIns="0" tIns="0" rIns="0" bIns="0" anchor="ctr">
            <a:spAutoFit/>
          </a:bodyPr>
          <a:lstStyle/>
          <a:p>
            <a:pPr algn="ctr"/>
            <a:r>
              <a:rPr sz="1200" b="1">
                <a:solidFill>
                  <a:srgbClr val="FF4B00"/>
                </a:solidFill>
                <a:latin typeface="Arial"/>
              </a:rPr>
              <a:t>↓  </a:t>
            </a:r>
            <a:r>
              <a:rPr lang="en-US" sz="1200" b="1">
                <a:solidFill>
                  <a:srgbClr val="FF4B00"/>
                </a:solidFill>
                <a:latin typeface="Arial"/>
              </a:rPr>
              <a:t>re-check </a:t>
            </a:r>
            <a:r>
              <a:rPr sz="1200" b="1">
                <a:solidFill>
                  <a:srgbClr val="FF4B00"/>
                </a:solidFill>
                <a:latin typeface="Arial"/>
              </a:rPr>
              <a:t>threat model</a:t>
            </a:r>
            <a:r>
              <a:rPr lang="en-US" sz="1200" b="1">
                <a:solidFill>
                  <a:srgbClr val="FF4B00"/>
                </a:solidFill>
                <a:latin typeface="Arial"/>
              </a:rPr>
              <a:t> + controls</a:t>
            </a:r>
            <a:endParaRPr sz="1200" b="1">
              <a:solidFill>
                <a:srgbClr val="FF4B00"/>
              </a:solidFill>
              <a:latin typeface="Arial"/>
            </a:endParaRPr>
          </a:p>
        </p:txBody>
      </p:sp>
      <p:sp>
        <p:nvSpPr>
          <p:cNvPr id="112" name="CC Metric"/>
          <p:cNvSpPr txBox="1"/>
          <p:nvPr/>
        </p:nvSpPr>
        <p:spPr>
          <a:xfrm>
            <a:off x="3794760" y="3968496"/>
            <a:ext cx="1481328" cy="365760"/>
          </a:xfrm>
          <a:prstGeom prst="rect">
            <a:avLst/>
          </a:prstGeom>
          <a:noFill/>
          <a:ln/>
        </p:spPr>
        <p:txBody>
          <a:bodyPr wrap="square" lIns="0" tIns="0" rIns="0" bIns="0" anchor="ctr">
            <a:spAutoFit/>
          </a:bodyPr>
          <a:lstStyle/>
          <a:p>
            <a:pPr algn="l"/>
            <a:r>
              <a:rPr sz="2400" b="1">
                <a:solidFill>
                  <a:srgbClr val="FF4B00"/>
                </a:solidFill>
                <a:latin typeface="Arial"/>
              </a:rPr>
              <a:t>~220ms</a:t>
            </a:r>
          </a:p>
        </p:txBody>
      </p:sp>
      <p:sp>
        <p:nvSpPr>
          <p:cNvPr id="113" name="CC Label"/>
          <p:cNvSpPr txBox="1"/>
          <p:nvPr/>
        </p:nvSpPr>
        <p:spPr>
          <a:xfrm>
            <a:off x="5230368" y="4005072"/>
            <a:ext cx="1883664" cy="369332"/>
          </a:xfrm>
          <a:prstGeom prst="rect">
            <a:avLst/>
          </a:prstGeom>
          <a:noFill/>
          <a:ln/>
        </p:spPr>
        <p:txBody>
          <a:bodyPr wrap="square" lIns="0" tIns="0" rIns="0" bIns="0" anchor="t">
            <a:spAutoFit/>
          </a:bodyPr>
          <a:lstStyle/>
          <a:p>
            <a:pPr algn="l"/>
            <a:r>
              <a:rPr lang="en-US" sz="1200" b="1">
                <a:solidFill>
                  <a:srgbClr val="55504A"/>
                </a:solidFill>
                <a:latin typeface="Arial"/>
              </a:rPr>
              <a:t>confidential computing · controls met</a:t>
            </a:r>
            <a:endParaRPr sz="1150" b="1">
              <a:solidFill>
                <a:srgbClr val="55504A"/>
              </a:solidFill>
              <a:latin typeface="Arial"/>
            </a:endParaRPr>
          </a:p>
        </p:txBody>
      </p:sp>
      <p:cxnSp>
        <p:nvCxnSpPr>
          <p:cNvPr id="114" name="Architecture Divider"/>
          <p:cNvCxnSpPr/>
          <p:nvPr/>
        </p:nvCxnSpPr>
        <p:spPr>
          <a:xfrm>
            <a:off x="3794760" y="4462272"/>
            <a:ext cx="3429000" cy="0"/>
          </a:xfrm>
          <a:prstGeom prst="line">
            <a:avLst/>
          </a:prstGeom>
          <a:ln w="10160">
            <a:solidFill>
              <a:srgbClr val="E5DCCD"/>
            </a:solidFill>
          </a:ln>
        </p:spPr>
        <p:style>
          <a:lnRef idx="2">
            <a:schemeClr val="accent1"/>
          </a:lnRef>
          <a:fillRef idx="0">
            <a:schemeClr val="accent1"/>
          </a:fillRef>
          <a:effectRef idx="1">
            <a:schemeClr val="accent1"/>
          </a:effectRef>
          <a:fontRef idx="minor">
            <a:schemeClr val="tx1"/>
          </a:fontRef>
        </p:style>
      </p:cxnSp>
      <p:sp>
        <p:nvSpPr>
          <p:cNvPr id="115" name="Technical Nuance"/>
          <p:cNvSpPr txBox="1"/>
          <p:nvPr/>
        </p:nvSpPr>
        <p:spPr>
          <a:xfrm>
            <a:off x="3794760" y="4553712"/>
            <a:ext cx="3429000" cy="153888"/>
          </a:xfrm>
          <a:prstGeom prst="rect">
            <a:avLst/>
          </a:prstGeom>
          <a:noFill/>
          <a:ln/>
        </p:spPr>
        <p:txBody>
          <a:bodyPr wrap="square" lIns="0" tIns="0" rIns="0" bIns="0" anchor="t">
            <a:spAutoFit/>
          </a:bodyPr>
          <a:lstStyle/>
          <a:p>
            <a:pPr algn="l"/>
            <a:r>
              <a:rPr lang="en-US" sz="1000" b="0">
                <a:solidFill>
                  <a:srgbClr val="55504A"/>
                </a:solidFill>
                <a:latin typeface="Arial"/>
              </a:rPr>
              <a:t>Different security models—not faster / slower variants.</a:t>
            </a:r>
          </a:p>
        </p:txBody>
      </p:sp>
      <p:sp>
        <p:nvSpPr>
          <p:cNvPr id="116" name="Section 03 Number"/>
          <p:cNvSpPr txBox="1"/>
          <p:nvPr/>
        </p:nvSpPr>
        <p:spPr>
          <a:xfrm>
            <a:off x="7973568" y="2112264"/>
            <a:ext cx="384048" cy="201168"/>
          </a:xfrm>
          <a:prstGeom prst="rect">
            <a:avLst/>
          </a:prstGeom>
          <a:noFill/>
          <a:ln/>
        </p:spPr>
        <p:txBody>
          <a:bodyPr wrap="square" lIns="0" tIns="0" rIns="0" bIns="0" anchor="ctr">
            <a:spAutoFit/>
          </a:bodyPr>
          <a:lstStyle/>
          <a:p>
            <a:pPr algn="l"/>
            <a:r>
              <a:rPr sz="1200" b="1">
                <a:solidFill>
                  <a:srgbClr val="FF4B00"/>
                </a:solidFill>
                <a:latin typeface="Arial"/>
              </a:rPr>
              <a:t>03</a:t>
            </a:r>
          </a:p>
        </p:txBody>
      </p:sp>
      <p:sp>
        <p:nvSpPr>
          <p:cNvPr id="117" name="Section 03 Label"/>
          <p:cNvSpPr txBox="1"/>
          <p:nvPr/>
        </p:nvSpPr>
        <p:spPr>
          <a:xfrm>
            <a:off x="8385048" y="2132558"/>
            <a:ext cx="2971800" cy="215444"/>
          </a:xfrm>
          <a:prstGeom prst="rect">
            <a:avLst/>
          </a:prstGeom>
          <a:noFill/>
          <a:ln/>
        </p:spPr>
        <p:txBody>
          <a:bodyPr wrap="square" lIns="0" tIns="0" rIns="0" bIns="0" anchor="ctr">
            <a:spAutoFit/>
          </a:bodyPr>
          <a:lstStyle/>
          <a:p>
            <a:pPr algn="l"/>
            <a:r>
              <a:rPr lang="en-US" sz="1400" b="1">
                <a:solidFill>
                  <a:srgbClr val="FF4B00"/>
                </a:solidFill>
                <a:latin typeface="Arial"/>
              </a:rPr>
              <a:t>SALES + FDE → PMM → SCALE</a:t>
            </a:r>
            <a:endParaRPr sz="1400" b="1">
              <a:solidFill>
                <a:srgbClr val="FF4B00"/>
              </a:solidFill>
              <a:latin typeface="Arial"/>
            </a:endParaRPr>
          </a:p>
        </p:txBody>
      </p:sp>
      <p:sp>
        <p:nvSpPr>
          <p:cNvPr id="118" name="Scale Thesis"/>
          <p:cNvSpPr txBox="1"/>
          <p:nvPr/>
        </p:nvSpPr>
        <p:spPr>
          <a:xfrm>
            <a:off x="7973568" y="2651760"/>
            <a:ext cx="3246120" cy="492443"/>
          </a:xfrm>
          <a:prstGeom prst="rect">
            <a:avLst/>
          </a:prstGeom>
          <a:noFill/>
          <a:ln/>
        </p:spPr>
        <p:txBody>
          <a:bodyPr wrap="square" lIns="0" tIns="0" rIns="0" bIns="0" anchor="t">
            <a:spAutoFit/>
          </a:bodyPr>
          <a:lstStyle/>
          <a:p>
            <a:pPr algn="l"/>
            <a:r>
              <a:rPr lang="en-US" sz="1600" b="1">
                <a:solidFill>
                  <a:srgbClr val="121212"/>
                </a:solidFill>
                <a:latin typeface="Arial"/>
              </a:rPr>
              <a:t>Turn one deployment into a reusable play.</a:t>
            </a:r>
          </a:p>
        </p:txBody>
      </p:sp>
      <p:sp>
        <p:nvSpPr>
          <p:cNvPr id="119" name="Step Number 1"/>
          <p:cNvSpPr txBox="1"/>
          <p:nvPr/>
        </p:nvSpPr>
        <p:spPr>
          <a:xfrm>
            <a:off x="7973568" y="3182112"/>
            <a:ext cx="256032" cy="201168"/>
          </a:xfrm>
          <a:prstGeom prst="rect">
            <a:avLst/>
          </a:prstGeom>
          <a:noFill/>
          <a:ln/>
        </p:spPr>
        <p:txBody>
          <a:bodyPr wrap="square" lIns="0" tIns="0" rIns="0" bIns="0" anchor="t">
            <a:spAutoFit/>
          </a:bodyPr>
          <a:lstStyle/>
          <a:p>
            <a:pPr algn="l"/>
            <a:r>
              <a:rPr sz="1200" b="1">
                <a:solidFill>
                  <a:srgbClr val="FF4B00"/>
                </a:solidFill>
                <a:latin typeface="Arial"/>
              </a:rPr>
              <a:t>1</a:t>
            </a:r>
          </a:p>
        </p:txBody>
      </p:sp>
      <p:sp>
        <p:nvSpPr>
          <p:cNvPr id="120" name="Step Label 1"/>
          <p:cNvSpPr txBox="1"/>
          <p:nvPr/>
        </p:nvSpPr>
        <p:spPr>
          <a:xfrm>
            <a:off x="8275320" y="3182112"/>
            <a:ext cx="1280160" cy="153888"/>
          </a:xfrm>
          <a:prstGeom prst="rect">
            <a:avLst/>
          </a:prstGeom>
          <a:noFill/>
          <a:ln/>
        </p:spPr>
        <p:txBody>
          <a:bodyPr wrap="square" lIns="0" tIns="0" rIns="0" bIns="0" anchor="t">
            <a:spAutoFit/>
          </a:bodyPr>
          <a:lstStyle/>
          <a:p>
            <a:pPr algn="l"/>
            <a:r>
              <a:rPr lang="en-US" sz="1000" b="1">
                <a:solidFill>
                  <a:srgbClr val="121212"/>
                </a:solidFill>
                <a:latin typeface="Arial"/>
              </a:rPr>
              <a:t>SALES + FDE</a:t>
            </a:r>
            <a:endParaRPr sz="1150" b="1">
              <a:solidFill>
                <a:srgbClr val="121212"/>
              </a:solidFill>
              <a:latin typeface="Arial"/>
            </a:endParaRPr>
          </a:p>
        </p:txBody>
      </p:sp>
      <p:sp>
        <p:nvSpPr>
          <p:cNvPr id="121" name="Step Description 1"/>
          <p:cNvSpPr txBox="1"/>
          <p:nvPr/>
        </p:nvSpPr>
        <p:spPr>
          <a:xfrm>
            <a:off x="9601200" y="3182112"/>
            <a:ext cx="1737360" cy="153888"/>
          </a:xfrm>
          <a:prstGeom prst="rect">
            <a:avLst/>
          </a:prstGeom>
          <a:noFill/>
          <a:ln/>
        </p:spPr>
        <p:txBody>
          <a:bodyPr wrap="square" lIns="0" tIns="0" rIns="0" bIns="0" anchor="t">
            <a:spAutoFit/>
          </a:bodyPr>
          <a:lstStyle/>
          <a:p>
            <a:pPr algn="l"/>
            <a:r>
              <a:rPr lang="en-US" sz="1000" b="0">
                <a:solidFill>
                  <a:srgbClr val="55504A"/>
                </a:solidFill>
                <a:latin typeface="Arial"/>
              </a:rPr>
              <a:t>prove a live workload</a:t>
            </a:r>
            <a:endParaRPr sz="1050" b="0">
              <a:solidFill>
                <a:srgbClr val="55504A"/>
              </a:solidFill>
              <a:latin typeface="Arial"/>
            </a:endParaRPr>
          </a:p>
        </p:txBody>
      </p:sp>
      <p:sp>
        <p:nvSpPr>
          <p:cNvPr id="122" name="Step Number 2"/>
          <p:cNvSpPr txBox="1"/>
          <p:nvPr/>
        </p:nvSpPr>
        <p:spPr>
          <a:xfrm>
            <a:off x="7973568" y="3602736"/>
            <a:ext cx="256032" cy="201168"/>
          </a:xfrm>
          <a:prstGeom prst="rect">
            <a:avLst/>
          </a:prstGeom>
          <a:noFill/>
          <a:ln/>
        </p:spPr>
        <p:txBody>
          <a:bodyPr wrap="square" lIns="0" tIns="0" rIns="0" bIns="0" anchor="t">
            <a:spAutoFit/>
          </a:bodyPr>
          <a:lstStyle/>
          <a:p>
            <a:pPr algn="l"/>
            <a:r>
              <a:rPr sz="1200" b="1">
                <a:solidFill>
                  <a:srgbClr val="FF4B00"/>
                </a:solidFill>
                <a:latin typeface="Arial"/>
              </a:rPr>
              <a:t>2</a:t>
            </a:r>
          </a:p>
        </p:txBody>
      </p:sp>
      <p:sp>
        <p:nvSpPr>
          <p:cNvPr id="123" name="Step Label 2"/>
          <p:cNvSpPr txBox="1"/>
          <p:nvPr/>
        </p:nvSpPr>
        <p:spPr>
          <a:xfrm>
            <a:off x="8275320" y="3602735"/>
            <a:ext cx="1005840" cy="182880"/>
          </a:xfrm>
          <a:prstGeom prst="rect">
            <a:avLst/>
          </a:prstGeom>
          <a:noFill/>
          <a:ln/>
        </p:spPr>
        <p:txBody>
          <a:bodyPr wrap="square" lIns="0" tIns="0" rIns="0" bIns="0" anchor="t">
            <a:spAutoFit/>
          </a:bodyPr>
          <a:lstStyle/>
          <a:p>
            <a:pPr algn="l"/>
            <a:r>
              <a:rPr lang="en-US" sz="1200" b="1">
                <a:solidFill>
                  <a:srgbClr val="121212"/>
                </a:solidFill>
                <a:latin typeface="Arial"/>
              </a:rPr>
              <a:t>PMM</a:t>
            </a:r>
            <a:endParaRPr sz="1150" b="1">
              <a:solidFill>
                <a:srgbClr val="121212"/>
              </a:solidFill>
              <a:latin typeface="Arial"/>
            </a:endParaRPr>
          </a:p>
        </p:txBody>
      </p:sp>
      <p:sp>
        <p:nvSpPr>
          <p:cNvPr id="124" name="Step Description 2"/>
          <p:cNvSpPr txBox="1"/>
          <p:nvPr/>
        </p:nvSpPr>
        <p:spPr>
          <a:xfrm>
            <a:off x="9299448" y="3602735"/>
            <a:ext cx="2039112" cy="307777"/>
          </a:xfrm>
          <a:prstGeom prst="rect">
            <a:avLst/>
          </a:prstGeom>
          <a:noFill/>
          <a:ln/>
        </p:spPr>
        <p:txBody>
          <a:bodyPr wrap="square" lIns="0" tIns="0" rIns="0" bIns="0" anchor="t">
            <a:spAutoFit/>
          </a:bodyPr>
          <a:lstStyle/>
          <a:p>
            <a:pPr algn="l"/>
            <a:r>
              <a:rPr lang="en-US" sz="1000" b="0">
                <a:solidFill>
                  <a:srgbClr val="55504A"/>
                </a:solidFill>
                <a:latin typeface="Arial"/>
              </a:rPr>
              <a:t>package narrative, proof + expansion</a:t>
            </a:r>
            <a:endParaRPr sz="1050" b="0">
              <a:solidFill>
                <a:srgbClr val="55504A"/>
              </a:solidFill>
              <a:latin typeface="Arial"/>
            </a:endParaRPr>
          </a:p>
        </p:txBody>
      </p:sp>
      <p:sp>
        <p:nvSpPr>
          <p:cNvPr id="125" name="Step Number 3"/>
          <p:cNvSpPr txBox="1"/>
          <p:nvPr/>
        </p:nvSpPr>
        <p:spPr>
          <a:xfrm>
            <a:off x="7973568" y="4023360"/>
            <a:ext cx="256032" cy="201168"/>
          </a:xfrm>
          <a:prstGeom prst="rect">
            <a:avLst/>
          </a:prstGeom>
          <a:noFill/>
          <a:ln/>
        </p:spPr>
        <p:txBody>
          <a:bodyPr wrap="square" lIns="0" tIns="0" rIns="0" bIns="0" anchor="t">
            <a:spAutoFit/>
          </a:bodyPr>
          <a:lstStyle/>
          <a:p>
            <a:pPr algn="l"/>
            <a:r>
              <a:rPr sz="1200" b="1">
                <a:solidFill>
                  <a:srgbClr val="FF4B00"/>
                </a:solidFill>
                <a:latin typeface="Arial"/>
              </a:rPr>
              <a:t>3</a:t>
            </a:r>
          </a:p>
        </p:txBody>
      </p:sp>
      <p:sp>
        <p:nvSpPr>
          <p:cNvPr id="126" name="Step Label 3"/>
          <p:cNvSpPr txBox="1"/>
          <p:nvPr/>
        </p:nvSpPr>
        <p:spPr>
          <a:xfrm>
            <a:off x="8275320" y="4023359"/>
            <a:ext cx="1005840" cy="182880"/>
          </a:xfrm>
          <a:prstGeom prst="rect">
            <a:avLst/>
          </a:prstGeom>
          <a:noFill/>
          <a:ln/>
        </p:spPr>
        <p:txBody>
          <a:bodyPr wrap="square" lIns="0" tIns="0" rIns="0" bIns="0" anchor="t">
            <a:spAutoFit/>
          </a:bodyPr>
          <a:lstStyle/>
          <a:p>
            <a:pPr algn="l"/>
            <a:r>
              <a:rPr lang="en-US" sz="1200" b="1">
                <a:solidFill>
                  <a:srgbClr val="121212"/>
                </a:solidFill>
                <a:latin typeface="Arial"/>
              </a:rPr>
              <a:t>PRODUCT</a:t>
            </a:r>
            <a:endParaRPr sz="1150" b="1">
              <a:solidFill>
                <a:srgbClr val="121212"/>
              </a:solidFill>
              <a:latin typeface="Arial"/>
            </a:endParaRPr>
          </a:p>
        </p:txBody>
      </p:sp>
      <p:sp>
        <p:nvSpPr>
          <p:cNvPr id="127" name="Step Description 3"/>
          <p:cNvSpPr txBox="1"/>
          <p:nvPr/>
        </p:nvSpPr>
        <p:spPr>
          <a:xfrm>
            <a:off x="9299448" y="4023359"/>
            <a:ext cx="2039112" cy="153888"/>
          </a:xfrm>
          <a:prstGeom prst="rect">
            <a:avLst/>
          </a:prstGeom>
          <a:noFill/>
          <a:ln/>
        </p:spPr>
        <p:txBody>
          <a:bodyPr wrap="square" lIns="0" tIns="0" rIns="0" bIns="0" anchor="t">
            <a:spAutoFit/>
          </a:bodyPr>
          <a:lstStyle/>
          <a:p>
            <a:pPr algn="l"/>
            <a:r>
              <a:rPr lang="en-US" sz="1000" b="0">
                <a:solidFill>
                  <a:srgbClr val="55504A"/>
                </a:solidFill>
                <a:latin typeface="Arial"/>
              </a:rPr>
              <a:t>fix recurring gaps</a:t>
            </a:r>
            <a:endParaRPr sz="1050" b="0">
              <a:solidFill>
                <a:srgbClr val="55504A"/>
              </a:solidFill>
              <a:latin typeface="Arial"/>
            </a:endParaRPr>
          </a:p>
        </p:txBody>
      </p:sp>
      <p:sp>
        <p:nvSpPr>
          <p:cNvPr id="128" name="Step Number 4"/>
          <p:cNvSpPr txBox="1"/>
          <p:nvPr/>
        </p:nvSpPr>
        <p:spPr>
          <a:xfrm>
            <a:off x="7973568" y="4443984"/>
            <a:ext cx="256032" cy="201168"/>
          </a:xfrm>
          <a:prstGeom prst="rect">
            <a:avLst/>
          </a:prstGeom>
          <a:noFill/>
          <a:ln/>
        </p:spPr>
        <p:txBody>
          <a:bodyPr wrap="square" lIns="0" tIns="0" rIns="0" bIns="0" anchor="t">
            <a:spAutoFit/>
          </a:bodyPr>
          <a:lstStyle/>
          <a:p>
            <a:pPr algn="l"/>
            <a:r>
              <a:rPr sz="1200" b="1">
                <a:solidFill>
                  <a:srgbClr val="FF4B00"/>
                </a:solidFill>
                <a:latin typeface="Arial"/>
              </a:rPr>
              <a:t>4</a:t>
            </a:r>
          </a:p>
        </p:txBody>
      </p:sp>
      <p:sp>
        <p:nvSpPr>
          <p:cNvPr id="129" name="Step Label 4"/>
          <p:cNvSpPr txBox="1"/>
          <p:nvPr/>
        </p:nvSpPr>
        <p:spPr>
          <a:xfrm>
            <a:off x="8275320" y="4443984"/>
            <a:ext cx="1005840" cy="182880"/>
          </a:xfrm>
          <a:prstGeom prst="rect">
            <a:avLst/>
          </a:prstGeom>
          <a:noFill/>
          <a:ln/>
        </p:spPr>
        <p:txBody>
          <a:bodyPr wrap="square" lIns="0" tIns="0" rIns="0" bIns="0" anchor="t">
            <a:spAutoFit/>
          </a:bodyPr>
          <a:lstStyle/>
          <a:p>
            <a:pPr algn="l"/>
            <a:r>
              <a:rPr lang="en-US" sz="1200" b="1">
                <a:solidFill>
                  <a:srgbClr val="121212"/>
                </a:solidFill>
                <a:latin typeface="Arial"/>
              </a:rPr>
              <a:t>FIELD</a:t>
            </a:r>
            <a:endParaRPr sz="1150" b="1">
              <a:solidFill>
                <a:srgbClr val="121212"/>
              </a:solidFill>
              <a:latin typeface="Arial"/>
            </a:endParaRPr>
          </a:p>
        </p:txBody>
      </p:sp>
      <p:sp>
        <p:nvSpPr>
          <p:cNvPr id="130" name="Step Description 4"/>
          <p:cNvSpPr txBox="1"/>
          <p:nvPr/>
        </p:nvSpPr>
        <p:spPr>
          <a:xfrm>
            <a:off x="9299448" y="4443984"/>
            <a:ext cx="2039112" cy="307777"/>
          </a:xfrm>
          <a:prstGeom prst="rect">
            <a:avLst/>
          </a:prstGeom>
          <a:noFill/>
          <a:ln/>
        </p:spPr>
        <p:txBody>
          <a:bodyPr wrap="square" lIns="0" tIns="0" rIns="0" bIns="0" anchor="t">
            <a:spAutoFit/>
          </a:bodyPr>
          <a:lstStyle/>
          <a:p>
            <a:pPr algn="l"/>
            <a:r>
              <a:rPr lang="en-US" sz="1000" b="0">
                <a:solidFill>
                  <a:srgbClr val="55504A"/>
                </a:solidFill>
                <a:latin typeface="Arial"/>
              </a:rPr>
              <a:t>reuse; measure velocity + expansion</a:t>
            </a:r>
            <a:endParaRPr sz="1050" b="0">
              <a:solidFill>
                <a:srgbClr val="55504A"/>
              </a:solidFill>
              <a:latin typeface="Arial"/>
            </a:endParaRPr>
          </a:p>
        </p:txBody>
      </p:sp>
      <p:sp>
        <p:nvSpPr>
          <p:cNvPr id="131" name="Commercial Proof Band"/>
          <p:cNvSpPr/>
          <p:nvPr/>
        </p:nvSpPr>
        <p:spPr>
          <a:xfrm>
            <a:off x="594360" y="5084064"/>
            <a:ext cx="10972800" cy="713232"/>
          </a:xfrm>
          <a:prstGeom prst="rect">
            <a:avLst/>
          </a:prstGeom>
          <a:solidFill>
            <a:srgbClr val="1212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roof Band Label"/>
          <p:cNvSpPr txBox="1"/>
          <p:nvPr/>
        </p:nvSpPr>
        <p:spPr>
          <a:xfrm>
            <a:off x="804672" y="5166360"/>
            <a:ext cx="1645920" cy="307777"/>
          </a:xfrm>
          <a:prstGeom prst="rect">
            <a:avLst/>
          </a:prstGeom>
          <a:noFill/>
          <a:ln/>
        </p:spPr>
        <p:txBody>
          <a:bodyPr wrap="square" lIns="0" tIns="0" rIns="0" bIns="0" anchor="t">
            <a:spAutoFit/>
          </a:bodyPr>
          <a:lstStyle/>
          <a:p>
            <a:pPr algn="l"/>
            <a:r>
              <a:rPr lang="en-US" sz="1000" b="1">
                <a:solidFill>
                  <a:srgbClr val="FFC400"/>
                </a:solidFill>
                <a:latin typeface="Arial"/>
              </a:rPr>
              <a:t>REUSE → VELOCITY → GROWTH</a:t>
            </a:r>
          </a:p>
        </p:txBody>
      </p:sp>
      <p:sp>
        <p:nvSpPr>
          <p:cNvPr id="133" name="Proof Metric 1"/>
          <p:cNvSpPr txBox="1"/>
          <p:nvPr/>
        </p:nvSpPr>
        <p:spPr>
          <a:xfrm>
            <a:off x="2423160" y="5114282"/>
            <a:ext cx="1600200" cy="369332"/>
          </a:xfrm>
          <a:prstGeom prst="rect">
            <a:avLst/>
          </a:prstGeom>
          <a:noFill/>
          <a:ln/>
        </p:spPr>
        <p:txBody>
          <a:bodyPr wrap="square" lIns="0" tIns="0" rIns="0" bIns="0" anchor="ctr">
            <a:spAutoFit/>
          </a:bodyPr>
          <a:lstStyle/>
          <a:p>
            <a:pPr algn="l"/>
            <a:r>
              <a:rPr lang="en-US" sz="2400" b="1">
                <a:solidFill>
                  <a:srgbClr val="FF4B00"/>
                </a:solidFill>
                <a:latin typeface="Arial"/>
              </a:rPr>
              <a:t>10+</a:t>
            </a:r>
          </a:p>
        </p:txBody>
      </p:sp>
      <p:sp>
        <p:nvSpPr>
          <p:cNvPr id="134" name="Proof Metric Label 1"/>
          <p:cNvSpPr txBox="1"/>
          <p:nvPr/>
        </p:nvSpPr>
        <p:spPr>
          <a:xfrm>
            <a:off x="2423160" y="5468112"/>
            <a:ext cx="1600200" cy="153888"/>
          </a:xfrm>
          <a:prstGeom prst="rect">
            <a:avLst/>
          </a:prstGeom>
          <a:noFill/>
          <a:ln/>
        </p:spPr>
        <p:txBody>
          <a:bodyPr wrap="square" lIns="0" tIns="0" rIns="0" bIns="0" anchor="t">
            <a:spAutoFit/>
          </a:bodyPr>
          <a:lstStyle/>
          <a:p>
            <a:pPr algn="l"/>
            <a:r>
              <a:rPr lang="en-US" sz="1000" b="1">
                <a:solidFill>
                  <a:srgbClr val="FFFFFF"/>
                </a:solidFill>
                <a:latin typeface="Arial"/>
              </a:rPr>
              <a:t>REUSE · ENGAGEMENTS</a:t>
            </a:r>
          </a:p>
        </p:txBody>
      </p:sp>
      <p:sp>
        <p:nvSpPr>
          <p:cNvPr id="135" name="Proof Metric 2"/>
          <p:cNvSpPr txBox="1"/>
          <p:nvPr/>
        </p:nvSpPr>
        <p:spPr>
          <a:xfrm>
            <a:off x="4709160" y="5114282"/>
            <a:ext cx="1691640" cy="369332"/>
          </a:xfrm>
          <a:prstGeom prst="rect">
            <a:avLst/>
          </a:prstGeom>
          <a:noFill/>
          <a:ln/>
        </p:spPr>
        <p:txBody>
          <a:bodyPr wrap="square" lIns="0" tIns="0" rIns="0" bIns="0" anchor="ctr">
            <a:spAutoFit/>
          </a:bodyPr>
          <a:lstStyle/>
          <a:p>
            <a:pPr algn="l"/>
            <a:r>
              <a:rPr lang="en-US" sz="2400" b="1">
                <a:solidFill>
                  <a:srgbClr val="FF4B00"/>
                </a:solidFill>
                <a:latin typeface="Arial"/>
              </a:rPr>
              <a:t>9→3 mo</a:t>
            </a:r>
          </a:p>
        </p:txBody>
      </p:sp>
      <p:sp>
        <p:nvSpPr>
          <p:cNvPr id="136" name="Proof Metric Label 2"/>
          <p:cNvSpPr txBox="1"/>
          <p:nvPr/>
        </p:nvSpPr>
        <p:spPr>
          <a:xfrm>
            <a:off x="4709160" y="5468112"/>
            <a:ext cx="1691640" cy="153888"/>
          </a:xfrm>
          <a:prstGeom prst="rect">
            <a:avLst/>
          </a:prstGeom>
          <a:noFill/>
          <a:ln/>
        </p:spPr>
        <p:txBody>
          <a:bodyPr wrap="square" lIns="0" tIns="0" rIns="0" bIns="0" anchor="t">
            <a:spAutoFit/>
          </a:bodyPr>
          <a:lstStyle/>
          <a:p>
            <a:pPr algn="l"/>
            <a:r>
              <a:rPr lang="en-US" sz="1000" b="1">
                <a:solidFill>
                  <a:srgbClr val="FFFFFF"/>
                </a:solidFill>
                <a:latin typeface="Arial"/>
              </a:rPr>
              <a:t>VELOCITY · COMPLIANCE</a:t>
            </a:r>
          </a:p>
        </p:txBody>
      </p:sp>
      <p:sp>
        <p:nvSpPr>
          <p:cNvPr id="137" name="Proof Metric 3"/>
          <p:cNvSpPr txBox="1"/>
          <p:nvPr/>
        </p:nvSpPr>
        <p:spPr>
          <a:xfrm>
            <a:off x="7086600" y="5114282"/>
            <a:ext cx="1600200" cy="369332"/>
          </a:xfrm>
          <a:prstGeom prst="rect">
            <a:avLst/>
          </a:prstGeom>
          <a:noFill/>
          <a:ln/>
        </p:spPr>
        <p:txBody>
          <a:bodyPr wrap="square" lIns="0" tIns="0" rIns="0" bIns="0" anchor="ctr">
            <a:spAutoFit/>
          </a:bodyPr>
          <a:lstStyle/>
          <a:p>
            <a:pPr algn="l"/>
            <a:r>
              <a:rPr lang="en-US" sz="2400" b="1">
                <a:solidFill>
                  <a:srgbClr val="FF4B00"/>
                </a:solidFill>
                <a:latin typeface="Arial"/>
              </a:rPr>
              <a:t>$5M</a:t>
            </a:r>
          </a:p>
        </p:txBody>
      </p:sp>
      <p:sp>
        <p:nvSpPr>
          <p:cNvPr id="138" name="Proof Metric Label 3"/>
          <p:cNvSpPr txBox="1"/>
          <p:nvPr/>
        </p:nvSpPr>
        <p:spPr>
          <a:xfrm>
            <a:off x="7086600" y="5468112"/>
            <a:ext cx="1600200" cy="153888"/>
          </a:xfrm>
          <a:prstGeom prst="rect">
            <a:avLst/>
          </a:prstGeom>
          <a:noFill/>
          <a:ln/>
        </p:spPr>
        <p:txBody>
          <a:bodyPr wrap="square" lIns="0" tIns="0" rIns="0" bIns="0" anchor="t">
            <a:spAutoFit/>
          </a:bodyPr>
          <a:lstStyle/>
          <a:p>
            <a:pPr algn="l"/>
            <a:r>
              <a:rPr lang="en-US" sz="1000" b="1">
                <a:solidFill>
                  <a:srgbClr val="FFFFFF"/>
                </a:solidFill>
                <a:latin typeface="Arial"/>
              </a:rPr>
              <a:t>GROWTH · RETAINED</a:t>
            </a:r>
          </a:p>
        </p:txBody>
      </p:sp>
      <p:sp>
        <p:nvSpPr>
          <p:cNvPr id="139" name="Proof Metric 4"/>
          <p:cNvSpPr txBox="1"/>
          <p:nvPr/>
        </p:nvSpPr>
        <p:spPr>
          <a:xfrm>
            <a:off x="9418320" y="5114282"/>
            <a:ext cx="1508760" cy="369332"/>
          </a:xfrm>
          <a:prstGeom prst="rect">
            <a:avLst/>
          </a:prstGeom>
          <a:noFill/>
          <a:ln/>
        </p:spPr>
        <p:txBody>
          <a:bodyPr wrap="square" lIns="0" tIns="0" rIns="0" bIns="0" anchor="ctr">
            <a:spAutoFit/>
          </a:bodyPr>
          <a:lstStyle/>
          <a:p>
            <a:pPr algn="l"/>
            <a:r>
              <a:rPr lang="en-US" sz="2400" b="1">
                <a:solidFill>
                  <a:srgbClr val="FF4B00"/>
                </a:solidFill>
                <a:latin typeface="Arial"/>
              </a:rPr>
              <a:t>$2M</a:t>
            </a:r>
          </a:p>
        </p:txBody>
      </p:sp>
      <p:sp>
        <p:nvSpPr>
          <p:cNvPr id="140" name="Proof Metric Label 4"/>
          <p:cNvSpPr txBox="1"/>
          <p:nvPr/>
        </p:nvSpPr>
        <p:spPr>
          <a:xfrm>
            <a:off x="9418320" y="5468112"/>
            <a:ext cx="1508760" cy="153888"/>
          </a:xfrm>
          <a:prstGeom prst="rect">
            <a:avLst/>
          </a:prstGeom>
          <a:noFill/>
          <a:ln/>
        </p:spPr>
        <p:txBody>
          <a:bodyPr wrap="square" lIns="0" tIns="0" rIns="0" bIns="0" anchor="t">
            <a:spAutoFit/>
          </a:bodyPr>
          <a:lstStyle/>
          <a:p>
            <a:pPr algn="l"/>
            <a:r>
              <a:rPr lang="en-US" sz="1000" b="1">
                <a:solidFill>
                  <a:srgbClr val="FFFFFF"/>
                </a:solidFill>
                <a:latin typeface="Arial"/>
              </a:rPr>
              <a:t>GROWTH · EXPANSION</a:t>
            </a:r>
          </a:p>
        </p:txBody>
      </p:sp>
      <p:sp>
        <p:nvSpPr>
          <p:cNvPr id="141" name="Source Footnote 1"/>
          <p:cNvSpPr txBox="1"/>
          <p:nvPr/>
        </p:nvSpPr>
        <p:spPr>
          <a:xfrm>
            <a:off x="566928" y="6071616"/>
            <a:ext cx="10469880" cy="123111"/>
          </a:xfrm>
          <a:prstGeom prst="rect">
            <a:avLst/>
          </a:prstGeom>
          <a:noFill/>
          <a:ln/>
        </p:spPr>
        <p:txBody>
          <a:bodyPr wrap="square" lIns="0" tIns="0" rIns="0" bIns="0" anchor="t">
            <a:spAutoFit/>
          </a:bodyPr>
          <a:lstStyle/>
          <a:p>
            <a:pPr algn="l"/>
            <a:r>
              <a:rPr lang="en-US" sz="800" b="0">
                <a:solidFill>
                  <a:srgbClr val="8A857E"/>
                </a:solidFill>
                <a:latin typeface="Arial"/>
              </a:rPr>
              <a:t>Public architecture: https://learn.microsoft.com/en-us/azure/azure-sovereign-clouds/microsoft-sovereign-cloud | https://learn.microsoft.com/en-us/azure/azure-sovereign-clouds/public/confidential-computing</a:t>
            </a:r>
          </a:p>
        </p:txBody>
      </p:sp>
      <p:sp>
        <p:nvSpPr>
          <p:cNvPr id="142" name="Source Footnote 2"/>
          <p:cNvSpPr txBox="1"/>
          <p:nvPr/>
        </p:nvSpPr>
        <p:spPr>
          <a:xfrm>
            <a:off x="566928" y="6227064"/>
            <a:ext cx="10469880" cy="123111"/>
          </a:xfrm>
          <a:prstGeom prst="rect">
            <a:avLst/>
          </a:prstGeom>
          <a:noFill/>
          <a:ln/>
        </p:spPr>
        <p:txBody>
          <a:bodyPr wrap="square" lIns="0" tIns="0" rIns="0" bIns="0" anchor="t">
            <a:spAutoFit/>
          </a:bodyPr>
          <a:lstStyle/>
          <a:p>
            <a:pPr algn="l"/>
            <a:r>
              <a:rPr lang="en-US" sz="800" b="0">
                <a:solidFill>
                  <a:srgbClr val="8A857E"/>
                </a:solidFill>
                <a:latin typeface="Arial"/>
              </a:rPr>
              <a:t>FHE context: https://www.microsoft.com/en-us/research/publication/can-homomorphic-encryption-be-practical-2/</a:t>
            </a:r>
          </a:p>
        </p:txBody>
      </p:sp>
      <p:sp>
        <p:nvSpPr>
          <p:cNvPr id="143" name="Source Footnote 3"/>
          <p:cNvSpPr txBox="1"/>
          <p:nvPr/>
        </p:nvSpPr>
        <p:spPr>
          <a:xfrm>
            <a:off x="566928" y="6382512"/>
            <a:ext cx="10469880" cy="123111"/>
          </a:xfrm>
          <a:prstGeom prst="rect">
            <a:avLst/>
          </a:prstGeom>
          <a:noFill/>
          <a:ln/>
        </p:spPr>
        <p:txBody>
          <a:bodyPr wrap="square" lIns="0" tIns="0" rIns="0" bIns="0" anchor="t">
            <a:spAutoFit/>
          </a:bodyPr>
          <a:lstStyle/>
          <a:p>
            <a:pPr algn="l"/>
            <a:r>
              <a:rPr lang="en-US" sz="800" b="0">
                <a:solidFill>
                  <a:srgbClr val="8A857E"/>
                </a:solidFill>
                <a:latin typeface="Arial"/>
              </a:rPr>
              <a:t>Outcome metrics are candidate-resume figures; public sources corroborate the architecture, not the internal results.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AWS BEDROCK AGENTCORE · ENTERPRISE AGENT PLATFORM POSITIONING</a:t>
            </a:r>
          </a:p>
        </p:txBody>
      </p:sp>
      <p:sp>
        <p:nvSpPr>
          <p:cNvPr id="15" name="TextBox 14"/>
          <p:cNvSpPr txBox="1">
            <a:spLocks/>
          </p:cNvSpPr>
          <p:nvPr/>
        </p:nvSpPr>
        <p:spPr>
          <a:xfrm>
            <a:off x="11137392" y="6400800"/>
            <a:ext cx="292608" cy="155448"/>
          </a:xfrm>
          <a:prstGeom prst="rect">
            <a:avLst/>
          </a:prstGeom>
          <a:noFill/>
          <a:ln/>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A857E"/>
                </a:solidFill>
                <a:effectLst/>
                <a:uLnTx/>
                <a:uFillTx/>
                <a:latin typeface="Arial"/>
                <a:ea typeface="+mn-ea"/>
                <a:cs typeface="+mn-cs"/>
              </a:rPr>
              <a:t>4</a:t>
            </a:r>
          </a:p>
        </p:txBody>
      </p:sp>
      <p:sp>
        <p:nvSpPr>
          <p:cNvPr id="16" name="TextBox 15"/>
          <p:cNvSpPr txBox="1">
            <a:spLocks/>
          </p:cNvSpPr>
          <p:nvPr/>
        </p:nvSpPr>
        <p:spPr>
          <a:xfrm>
            <a:off x="502920" y="576072"/>
            <a:ext cx="11155680" cy="53949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3. AgentCore: prototype to secure production</a:t>
            </a:r>
          </a:p>
        </p:txBody>
      </p:sp>
      <p:sp>
        <p:nvSpPr>
          <p:cNvPr id="17" name="Rectangle 16"/>
          <p:cNvSpPr/>
          <p:nvPr/>
        </p:nvSpPr>
        <p:spPr>
          <a:xfrm>
            <a:off x="502920" y="1170432"/>
            <a:ext cx="64008"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215444"/>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55504A"/>
                </a:solidFill>
                <a:effectLst/>
                <a:uLnTx/>
                <a:uFillTx/>
                <a:latin typeface="Arial"/>
                <a:ea typeface="+mn-ea"/>
                <a:cs typeface="+mn-cs"/>
              </a:rPr>
              <a:t>positioning, launch + adoption for AgentCore</a:t>
            </a:r>
          </a:p>
        </p:txBody>
      </p:sp>
      <p:cxnSp>
        <p:nvCxnSpPr>
          <p:cNvPr id="19" name="Connector 18"/>
          <p:cNvCxnSpPr/>
          <p:nvPr/>
        </p:nvCxnSpPr>
        <p:spPr>
          <a:xfrm>
            <a:off x="502920" y="1554480"/>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27632"/>
            <a:ext cx="11155680" cy="256032"/>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Ship agents without rebuilding enterprise security + operations.</a:t>
            </a:r>
          </a:p>
        </p:txBody>
      </p:sp>
      <p:sp>
        <p:nvSpPr>
          <p:cNvPr id="200" name="Icon Stage Flow"/>
          <p:cNvSpPr/>
          <p:nvPr/>
        </p:nvSpPr>
        <p:spPr>
          <a:xfrm>
            <a:off x="502920" y="2025272"/>
            <a:ext cx="228600" cy="228600"/>
          </a:xfrm>
          <a:prstGeom prst="chevron">
            <a:avLst/>
          </a:prstGeom>
          <a:solidFill>
            <a:srgbClr val="FF4B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3" name="TextBox 22"/>
          <p:cNvSpPr txBox="1">
            <a:spLocks/>
          </p:cNvSpPr>
          <p:nvPr/>
        </p:nvSpPr>
        <p:spPr>
          <a:xfrm>
            <a:off x="502920" y="2290272"/>
            <a:ext cx="457200" cy="201168"/>
          </a:xfrm>
          <a:prstGeom prst="rect">
            <a:avLst/>
          </a:prstGeom>
          <a:noFill/>
          <a:ln/>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01</a:t>
            </a:r>
          </a:p>
        </p:txBody>
      </p:sp>
      <p:sp>
        <p:nvSpPr>
          <p:cNvPr id="24" name="TextBox 23"/>
          <p:cNvSpPr txBox="1">
            <a:spLocks/>
          </p:cNvSpPr>
          <p:nvPr/>
        </p:nvSpPr>
        <p:spPr>
          <a:xfrm>
            <a:off x="502920" y="2510272"/>
            <a:ext cx="3200400" cy="274320"/>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PLATFORM STAGE FLOW</a:t>
            </a:r>
          </a:p>
        </p:txBody>
      </p:sp>
      <p:sp>
        <p:nvSpPr>
          <p:cNvPr id="100" name="Stage Marker 1"/>
          <p:cNvSpPr/>
          <p:nvPr/>
        </p:nvSpPr>
        <p:spPr>
          <a:xfrm>
            <a:off x="502920" y="28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1" name="Stage Label 1"/>
          <p:cNvSpPr txBox="1">
            <a:spLocks/>
          </p:cNvSpPr>
          <p:nvPr/>
        </p:nvSpPr>
        <p:spPr>
          <a:xfrm>
            <a:off x="502920" y="2980272"/>
            <a:ext cx="1950000" cy="276999"/>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Prototype</a:t>
            </a:r>
          </a:p>
        </p:txBody>
      </p:sp>
      <p:sp>
        <p:nvSpPr>
          <p:cNvPr id="102" name="Flow Arrow 1"/>
          <p:cNvSpPr txBox="1">
            <a:spLocks/>
          </p:cNvSpPr>
          <p:nvPr/>
        </p:nvSpPr>
        <p:spPr>
          <a:xfrm>
            <a:off x="2452920" y="2980272"/>
            <a:ext cx="351420" cy="276999"/>
          </a:xfrm>
          <a:prstGeom prst="rect">
            <a:avLst/>
          </a:prstGeom>
          <a:noFill/>
          <a:ln/>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3" name="Stage Marker 2"/>
          <p:cNvSpPr/>
          <p:nvPr/>
        </p:nvSpPr>
        <p:spPr>
          <a:xfrm>
            <a:off x="2804340" y="28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4" name="Stage Label 2"/>
          <p:cNvSpPr txBox="1">
            <a:spLocks/>
          </p:cNvSpPr>
          <p:nvPr/>
        </p:nvSpPr>
        <p:spPr>
          <a:xfrm>
            <a:off x="2804340" y="2980272"/>
            <a:ext cx="1950000" cy="276999"/>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Connect</a:t>
            </a:r>
          </a:p>
        </p:txBody>
      </p:sp>
      <p:sp>
        <p:nvSpPr>
          <p:cNvPr id="105" name="Flow Arrow 2"/>
          <p:cNvSpPr txBox="1">
            <a:spLocks/>
          </p:cNvSpPr>
          <p:nvPr/>
        </p:nvSpPr>
        <p:spPr>
          <a:xfrm>
            <a:off x="4754340" y="2980272"/>
            <a:ext cx="351420" cy="276999"/>
          </a:xfrm>
          <a:prstGeom prst="rect">
            <a:avLst/>
          </a:prstGeom>
          <a:noFill/>
          <a:ln/>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6" name="Stage Marker 3"/>
          <p:cNvSpPr/>
          <p:nvPr/>
        </p:nvSpPr>
        <p:spPr>
          <a:xfrm>
            <a:off x="5105760" y="28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07" name="Stage Label 3"/>
          <p:cNvSpPr txBox="1">
            <a:spLocks/>
          </p:cNvSpPr>
          <p:nvPr/>
        </p:nvSpPr>
        <p:spPr>
          <a:xfrm>
            <a:off x="5105760" y="2980272"/>
            <a:ext cx="1950000" cy="276999"/>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Secure</a:t>
            </a:r>
          </a:p>
        </p:txBody>
      </p:sp>
      <p:sp>
        <p:nvSpPr>
          <p:cNvPr id="108" name="Flow Arrow 3"/>
          <p:cNvSpPr txBox="1">
            <a:spLocks/>
          </p:cNvSpPr>
          <p:nvPr/>
        </p:nvSpPr>
        <p:spPr>
          <a:xfrm>
            <a:off x="7055760" y="2980272"/>
            <a:ext cx="351420" cy="276999"/>
          </a:xfrm>
          <a:prstGeom prst="rect">
            <a:avLst/>
          </a:prstGeom>
          <a:noFill/>
          <a:ln/>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09" name="Stage Marker 4"/>
          <p:cNvSpPr/>
          <p:nvPr/>
        </p:nvSpPr>
        <p:spPr>
          <a:xfrm>
            <a:off x="7407180" y="28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0" name="Stage Label 4"/>
          <p:cNvSpPr txBox="1">
            <a:spLocks/>
          </p:cNvSpPr>
          <p:nvPr/>
        </p:nvSpPr>
        <p:spPr>
          <a:xfrm>
            <a:off x="7407180" y="2980272"/>
            <a:ext cx="1950000" cy="276999"/>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Govern</a:t>
            </a:r>
          </a:p>
        </p:txBody>
      </p:sp>
      <p:sp>
        <p:nvSpPr>
          <p:cNvPr id="111" name="Flow Arrow 4"/>
          <p:cNvSpPr txBox="1">
            <a:spLocks/>
          </p:cNvSpPr>
          <p:nvPr/>
        </p:nvSpPr>
        <p:spPr>
          <a:xfrm>
            <a:off x="9357180" y="2980272"/>
            <a:ext cx="351420" cy="276999"/>
          </a:xfrm>
          <a:prstGeom prst="rect">
            <a:avLst/>
          </a:prstGeom>
          <a:noFill/>
          <a:ln/>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t>
            </a:r>
          </a:p>
        </p:txBody>
      </p:sp>
      <p:sp>
        <p:nvSpPr>
          <p:cNvPr id="112" name="Stage Marker 5"/>
          <p:cNvSpPr/>
          <p:nvPr/>
        </p:nvSpPr>
        <p:spPr>
          <a:xfrm>
            <a:off x="9708600" y="28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3" name="Stage Label 5"/>
          <p:cNvSpPr txBox="1">
            <a:spLocks/>
          </p:cNvSpPr>
          <p:nvPr/>
        </p:nvSpPr>
        <p:spPr>
          <a:xfrm>
            <a:off x="9708600" y="2980272"/>
            <a:ext cx="1950000" cy="276999"/>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Production</a:t>
            </a:r>
          </a:p>
        </p:txBody>
      </p:sp>
      <p:cxnSp>
        <p:nvCxnSpPr>
          <p:cNvPr id="21" name="Connector 20"/>
          <p:cNvCxnSpPr/>
          <p:nvPr/>
        </p:nvCxnSpPr>
        <p:spPr>
          <a:xfrm>
            <a:off x="502920" y="3340272"/>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67328" y="3450272"/>
            <a:ext cx="0" cy="24000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818120" y="3450272"/>
            <a:ext cx="0" cy="240000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1" name="Icon Capabilities"/>
          <p:cNvSpPr/>
          <p:nvPr/>
        </p:nvSpPr>
        <p:spPr>
          <a:xfrm>
            <a:off x="502920" y="3390272"/>
            <a:ext cx="228600" cy="228600"/>
          </a:xfrm>
          <a:prstGeom prst="gear6">
            <a:avLst/>
          </a:prstGeom>
          <a:solidFill>
            <a:srgbClr val="FF4B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1" name="TextBox 30"/>
          <p:cNvSpPr txBox="1">
            <a:spLocks/>
          </p:cNvSpPr>
          <p:nvPr/>
        </p:nvSpPr>
        <p:spPr>
          <a:xfrm>
            <a:off x="502920" y="3680272"/>
            <a:ext cx="457200" cy="201168"/>
          </a:xfrm>
          <a:prstGeom prst="rect">
            <a:avLst/>
          </a:prstGeom>
          <a:noFill/>
          <a:ln/>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02</a:t>
            </a:r>
          </a:p>
        </p:txBody>
      </p:sp>
      <p:sp>
        <p:nvSpPr>
          <p:cNvPr id="32" name="TextBox 31"/>
          <p:cNvSpPr txBox="1">
            <a:spLocks/>
          </p:cNvSpPr>
          <p:nvPr/>
        </p:nvSpPr>
        <p:spPr>
          <a:xfrm>
            <a:off x="502920" y="3900272"/>
            <a:ext cx="2900000" cy="274320"/>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PLATFORM CAPABILITIES</a:t>
            </a:r>
          </a:p>
        </p:txBody>
      </p:sp>
      <p:sp>
        <p:nvSpPr>
          <p:cNvPr id="114" name="Cap Marker 1"/>
          <p:cNvSpPr/>
          <p:nvPr/>
        </p:nvSpPr>
        <p:spPr>
          <a:xfrm>
            <a:off x="502920" y="42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5" name="Cap Label 1"/>
          <p:cNvSpPr txBox="1">
            <a:spLocks/>
          </p:cNvSpPr>
          <p:nvPr/>
        </p:nvSpPr>
        <p:spPr>
          <a:xfrm>
            <a:off x="658368" y="4190272"/>
            <a:ext cx="29000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Connectivity</a:t>
            </a:r>
          </a:p>
        </p:txBody>
      </p:sp>
      <p:sp>
        <p:nvSpPr>
          <p:cNvPr id="116" name="Cap Marker 2"/>
          <p:cNvSpPr/>
          <p:nvPr/>
        </p:nvSpPr>
        <p:spPr>
          <a:xfrm>
            <a:off x="502920" y="45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7" name="Cap Label 2"/>
          <p:cNvSpPr txBox="1">
            <a:spLocks/>
          </p:cNvSpPr>
          <p:nvPr/>
        </p:nvSpPr>
        <p:spPr>
          <a:xfrm>
            <a:off x="658368" y="4490272"/>
            <a:ext cx="29000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Identity + access</a:t>
            </a:r>
          </a:p>
        </p:txBody>
      </p:sp>
      <p:sp>
        <p:nvSpPr>
          <p:cNvPr id="118" name="Cap Marker 3"/>
          <p:cNvSpPr/>
          <p:nvPr/>
        </p:nvSpPr>
        <p:spPr>
          <a:xfrm>
            <a:off x="502920" y="48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19" name="Cap Label 3"/>
          <p:cNvSpPr txBox="1">
            <a:spLocks/>
          </p:cNvSpPr>
          <p:nvPr/>
        </p:nvSpPr>
        <p:spPr>
          <a:xfrm>
            <a:off x="658368" y="4790272"/>
            <a:ext cx="29000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Traceability</a:t>
            </a:r>
          </a:p>
        </p:txBody>
      </p:sp>
      <p:sp>
        <p:nvSpPr>
          <p:cNvPr id="120" name="Cap Marker 4"/>
          <p:cNvSpPr/>
          <p:nvPr/>
        </p:nvSpPr>
        <p:spPr>
          <a:xfrm>
            <a:off x="502920" y="51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1" name="Cap Label 4"/>
          <p:cNvSpPr txBox="1">
            <a:spLocks/>
          </p:cNvSpPr>
          <p:nvPr/>
        </p:nvSpPr>
        <p:spPr>
          <a:xfrm>
            <a:off x="658368" y="5090272"/>
            <a:ext cx="29000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Policy controls</a:t>
            </a:r>
          </a:p>
        </p:txBody>
      </p:sp>
      <p:sp>
        <p:nvSpPr>
          <p:cNvPr id="122" name="Cap Marker 5"/>
          <p:cNvSpPr/>
          <p:nvPr/>
        </p:nvSpPr>
        <p:spPr>
          <a:xfrm>
            <a:off x="502920" y="54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3" name="Cap Label 5"/>
          <p:cNvSpPr txBox="1">
            <a:spLocks/>
          </p:cNvSpPr>
          <p:nvPr/>
        </p:nvSpPr>
        <p:spPr>
          <a:xfrm>
            <a:off x="658368" y="5390272"/>
            <a:ext cx="2900000" cy="215444"/>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Managed runtime</a:t>
            </a:r>
          </a:p>
        </p:txBody>
      </p:sp>
      <p:sp>
        <p:nvSpPr>
          <p:cNvPr id="202" name="Icon Paired"/>
          <p:cNvSpPr/>
          <p:nvPr/>
        </p:nvSpPr>
        <p:spPr>
          <a:xfrm>
            <a:off x="4114800" y="3390272"/>
            <a:ext cx="228600" cy="228600"/>
          </a:xfrm>
          <a:prstGeom prst="mathPlus">
            <a:avLst/>
          </a:prstGeom>
          <a:solidFill>
            <a:srgbClr val="FF4B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3" name="TextBox 32"/>
          <p:cNvSpPr txBox="1">
            <a:spLocks/>
          </p:cNvSpPr>
          <p:nvPr/>
        </p:nvSpPr>
        <p:spPr>
          <a:xfrm>
            <a:off x="4114800" y="3680272"/>
            <a:ext cx="457200" cy="201168"/>
          </a:xfrm>
          <a:prstGeom prst="rect">
            <a:avLst/>
          </a:prstGeom>
          <a:noFill/>
          <a:ln/>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03</a:t>
            </a:r>
          </a:p>
        </p:txBody>
      </p:sp>
      <p:sp>
        <p:nvSpPr>
          <p:cNvPr id="34" name="TextBox 33"/>
          <p:cNvSpPr txBox="1">
            <a:spLocks/>
          </p:cNvSpPr>
          <p:nvPr/>
        </p:nvSpPr>
        <p:spPr>
          <a:xfrm>
            <a:off x="4114800" y="3900272"/>
            <a:ext cx="3100000" cy="274320"/>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PAIRED WITH BEDROCK</a:t>
            </a:r>
          </a:p>
        </p:txBody>
      </p:sp>
      <p:sp>
        <p:nvSpPr>
          <p:cNvPr id="124" name="Pair Marker 1"/>
          <p:cNvSpPr/>
          <p:nvPr/>
        </p:nvSpPr>
        <p:spPr>
          <a:xfrm>
            <a:off x="4114800" y="42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5" name="Pair Label 1"/>
          <p:cNvSpPr txBox="1">
            <a:spLocks/>
          </p:cNvSpPr>
          <p:nvPr/>
        </p:nvSpPr>
        <p:spPr>
          <a:xfrm>
            <a:off x="4270248" y="4190272"/>
            <a:ext cx="3100000" cy="215444"/>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Retrieval</a:t>
            </a:r>
          </a:p>
        </p:txBody>
      </p:sp>
      <p:sp>
        <p:nvSpPr>
          <p:cNvPr id="126" name="Pair Marker 2"/>
          <p:cNvSpPr/>
          <p:nvPr/>
        </p:nvSpPr>
        <p:spPr>
          <a:xfrm>
            <a:off x="4114800" y="45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7" name="Pair Label 2"/>
          <p:cNvSpPr txBox="1">
            <a:spLocks/>
          </p:cNvSpPr>
          <p:nvPr/>
        </p:nvSpPr>
        <p:spPr>
          <a:xfrm>
            <a:off x="4270248" y="4490272"/>
            <a:ext cx="3100000" cy="215444"/>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Guardrails</a:t>
            </a:r>
          </a:p>
        </p:txBody>
      </p:sp>
      <p:sp>
        <p:nvSpPr>
          <p:cNvPr id="128" name="Pair Marker 3"/>
          <p:cNvSpPr/>
          <p:nvPr/>
        </p:nvSpPr>
        <p:spPr>
          <a:xfrm>
            <a:off x="4114800" y="48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29" name="Pair Label 3"/>
          <p:cNvSpPr txBox="1">
            <a:spLocks/>
          </p:cNvSpPr>
          <p:nvPr/>
        </p:nvSpPr>
        <p:spPr>
          <a:xfrm>
            <a:off x="4270248" y="4790272"/>
            <a:ext cx="3100000" cy="215444"/>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Evaluations</a:t>
            </a:r>
          </a:p>
        </p:txBody>
      </p:sp>
      <p:sp>
        <p:nvSpPr>
          <p:cNvPr id="130" name="Pair Marker 4"/>
          <p:cNvSpPr/>
          <p:nvPr/>
        </p:nvSpPr>
        <p:spPr>
          <a:xfrm>
            <a:off x="4114800" y="5140272"/>
            <a:ext cx="91440" cy="9144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31" name="Pair Label 4"/>
          <p:cNvSpPr txBox="1">
            <a:spLocks/>
          </p:cNvSpPr>
          <p:nvPr/>
        </p:nvSpPr>
        <p:spPr>
          <a:xfrm>
            <a:off x="4270248" y="5090272"/>
            <a:ext cx="3100000" cy="215444"/>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Cost-quality routing</a:t>
            </a:r>
          </a:p>
        </p:txBody>
      </p:sp>
      <p:sp>
        <p:nvSpPr>
          <p:cNvPr id="35" name="TextBox 34"/>
          <p:cNvSpPr txBox="1">
            <a:spLocks/>
          </p:cNvSpPr>
          <p:nvPr/>
        </p:nvSpPr>
        <p:spPr>
          <a:xfrm>
            <a:off x="4114800" y="5510272"/>
            <a:ext cx="3255000" cy="369332"/>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Managed controls turn prototypes into production.</a:t>
            </a:r>
          </a:p>
        </p:txBody>
      </p:sp>
      <p:sp>
        <p:nvSpPr>
          <p:cNvPr id="203" name="Icon Evidence"/>
          <p:cNvSpPr/>
          <p:nvPr/>
        </p:nvSpPr>
        <p:spPr>
          <a:xfrm>
            <a:off x="8156448" y="3390272"/>
            <a:ext cx="228600" cy="228600"/>
          </a:xfrm>
          <a:prstGeom prst="upArrow">
            <a:avLst/>
          </a:prstGeom>
          <a:solidFill>
            <a:srgbClr val="FFC4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6" name="TextBox 35"/>
          <p:cNvSpPr txBox="1">
            <a:spLocks/>
          </p:cNvSpPr>
          <p:nvPr/>
        </p:nvSpPr>
        <p:spPr>
          <a:xfrm>
            <a:off x="8156448" y="3680272"/>
            <a:ext cx="457200" cy="201168"/>
          </a:xfrm>
          <a:prstGeom prst="rect">
            <a:avLst/>
          </a:prstGeom>
          <a:noFill/>
          <a:ln/>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04</a:t>
            </a:r>
          </a:p>
        </p:txBody>
      </p:sp>
      <p:sp>
        <p:nvSpPr>
          <p:cNvPr id="37" name="TextBox 36"/>
          <p:cNvSpPr txBox="1">
            <a:spLocks/>
          </p:cNvSpPr>
          <p:nvPr/>
        </p:nvSpPr>
        <p:spPr>
          <a:xfrm>
            <a:off x="8156448" y="3900272"/>
            <a:ext cx="3300000" cy="274320"/>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EVIDENCE</a:t>
            </a:r>
          </a:p>
        </p:txBody>
      </p:sp>
      <p:sp>
        <p:nvSpPr>
          <p:cNvPr id="38" name="TextBox 37"/>
          <p:cNvSpPr txBox="1">
            <a:spLocks/>
          </p:cNvSpPr>
          <p:nvPr/>
        </p:nvSpPr>
        <p:spPr>
          <a:xfrm>
            <a:off x="8156448" y="4160272"/>
            <a:ext cx="3502152" cy="461665"/>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2M+</a:t>
            </a:r>
          </a:p>
        </p:txBody>
      </p:sp>
      <p:sp>
        <p:nvSpPr>
          <p:cNvPr id="39" name="TextBox 38"/>
          <p:cNvSpPr txBox="1">
            <a:spLocks/>
          </p:cNvSpPr>
          <p:nvPr/>
        </p:nvSpPr>
        <p:spPr>
          <a:xfrm>
            <a:off x="8156448" y="4720272"/>
            <a:ext cx="3502152"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2M+ SDK downloads in a 5-month preview</a:t>
            </a:r>
          </a:p>
        </p:txBody>
      </p:sp>
      <p:cxnSp>
        <p:nvCxnSpPr>
          <p:cNvPr id="40" name="Connector 39"/>
          <p:cNvCxnSpPr/>
          <p:nvPr/>
        </p:nvCxnSpPr>
        <p:spPr>
          <a:xfrm>
            <a:off x="8156448" y="5190272"/>
            <a:ext cx="3502152" cy="0"/>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8156448" y="5310272"/>
            <a:ext cx="3502152"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121212"/>
                </a:solidFill>
                <a:effectLst/>
                <a:uLnTx/>
                <a:uFillTx/>
                <a:latin typeface="Arial"/>
                <a:ea typeface="+mn-ea"/>
                <a:cs typeface="+mn-cs"/>
              </a:rPr>
              <a:t>Research + telemetry sharpened the launch.</a:t>
            </a:r>
          </a:p>
        </p:txBody>
      </p:sp>
      <p:sp>
        <p:nvSpPr>
          <p:cNvPr id="59" name="TextBox 58"/>
          <p:cNvSpPr txBox="1">
            <a:spLocks/>
          </p:cNvSpPr>
          <p:nvPr/>
        </p:nvSpPr>
        <p:spPr>
          <a:xfrm>
            <a:off x="566928" y="6416053"/>
            <a:ext cx="10469880" cy="123111"/>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8A857E"/>
                </a:solidFill>
                <a:effectLst/>
                <a:uLnTx/>
                <a:uFillTx/>
                <a:latin typeface="Arial"/>
                <a:ea typeface="+mn-ea"/>
                <a:cs typeface="+mn-cs"/>
              </a:rPr>
              <a:t>2M+ preview downloads are candidate-provided—confirm before interview.</a:t>
            </a:r>
          </a:p>
        </p:txBody>
      </p:sp>
      <p:pic>
        <p:nvPicPr>
          <p:cNvPr id="83" name="Official Mistral footer symbol" descr="Mistral symbol mark in the slide footer"/>
          <p:cNvPicPr>
            <a:picLocks noChangeAspect="1"/>
          </p:cNvPicPr>
          <p:nvPr/>
        </p:nvPicPr>
        <p:blipFill>
          <a:blip r:embed="rId3"/>
          <a:stretch>
            <a:fillRect/>
          </a:stretch>
        </p:blipFill>
        <p:spPr>
          <a:xfrm>
            <a:off x="11594592" y="6400800"/>
            <a:ext cx="228600" cy="164592"/>
          </a:xfrm>
          <a:prstGeom prst="rect">
            <a:avLst/>
          </a:prstGeom>
          <a:ln/>
        </p:spPr>
      </p:pic>
      <p:pic>
        <p:nvPicPr>
          <p:cNvPr id="84" name="Official Mistral header symbol" descr="Mistral symbol mark in the slide header"/>
          <p:cNvPicPr>
            <a:picLocks noChangeAspect="1"/>
          </p:cNvPicPr>
          <p:nvPr/>
        </p:nvPicPr>
        <p:blipFill>
          <a:blip r:embed="rId3"/>
          <a:stretch>
            <a:fillRect/>
          </a:stretch>
        </p:blipFill>
        <p:spPr>
          <a:xfrm>
            <a:off x="182880" y="182880"/>
            <a:ext cx="228600" cy="164592"/>
          </a:xfrm>
          <a:prstGeom prst="rect">
            <a:avLst/>
          </a:prstGeom>
          <a:ln/>
        </p:spPr>
      </p:pic>
      <p:sp>
        <p:nvSpPr>
          <p:cNvPr id="300" name="Source Footnote"/>
          <p:cNvSpPr txBox="1"/>
          <p:nvPr/>
        </p:nvSpPr>
        <p:spPr>
          <a:xfrm>
            <a:off x="566928" y="6172200"/>
            <a:ext cx="10469880" cy="118872"/>
          </a:xfrm>
          <a:prstGeom prst="rect">
            <a:avLst/>
          </a:prstGeom>
          <a:noFill/>
          <a:ln/>
        </p:spPr>
        <p:txBody>
          <a:bodyPr wrap="square" lIns="0" tIns="0" rIns="0" bIns="0" anchor="ctr">
            <a:spAutoFit/>
          </a:bodyPr>
          <a:lstStyle/>
          <a:p>
            <a:pPr marL="0" indent="0" algn="l">
              <a:buNone/>
            </a:pPr>
            <a:r>
              <a:rPr lang="en-US" sz="800" b="0" i="0" u="none" kern="1200">
                <a:solidFill>
                  <a:srgbClr val="8A857E"/>
                </a:solidFill>
                <a:latin typeface="Arial"/>
              </a:rPr>
              <a:t>Source: https://aws.amazon.com/blogs/aws/introducing-amazon-bedrock-agentcore-securely-deploy-and-operate-ai-agents-at-any-scale/</a:t>
            </a:r>
          </a:p>
        </p:txBody>
      </p:sp>
    </p:spTree>
    <p:extLst>
      <p:ext uri="{BB962C8B-B14F-4D97-AF65-F5344CB8AC3E}">
        <p14:creationId xmlns:p14="http://schemas.microsoft.com/office/powerpoint/2010/main" val="11439455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AMAZON GENAI SHOPPING ASSISTANT · PRODUCT-MARKET FIT &amp; USER TRUST</a:t>
            </a:r>
          </a:p>
        </p:txBody>
      </p:sp>
      <p:sp>
        <p:nvSpPr>
          <p:cNvPr id="15" name="TextBox 14"/>
          <p:cNvSpPr txBox="1">
            <a:spLocks/>
          </p:cNvSpPr>
          <p:nvPr/>
        </p:nvSpPr>
        <p:spPr>
          <a:xfrm>
            <a:off x="11137392" y="6400800"/>
            <a:ext cx="292608" cy="155448"/>
          </a:xfrm>
          <a:prstGeom prst="rect">
            <a:avLst/>
          </a:prstGeom>
          <a:noFill/>
          <a:ln/>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A857E"/>
                </a:solidFill>
                <a:effectLst/>
                <a:uLnTx/>
                <a:uFillTx/>
                <a:latin typeface="Arial"/>
                <a:ea typeface="+mn-ea"/>
                <a:cs typeface="+mn-cs"/>
              </a:rPr>
              <a:t>5</a:t>
            </a:r>
          </a:p>
        </p:txBody>
      </p:sp>
      <p:sp>
        <p:nvSpPr>
          <p:cNvPr id="16" name="TextBox 15"/>
          <p:cNvSpPr txBox="1">
            <a:spLocks/>
          </p:cNvSpPr>
          <p:nvPr/>
        </p:nvSpPr>
        <p:spPr>
          <a:xfrm>
            <a:off x="502920" y="576072"/>
            <a:ext cx="11155680" cy="53949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4. Positioning: from “chat” to decision support</a:t>
            </a:r>
          </a:p>
        </p:txBody>
      </p:sp>
      <p:sp>
        <p:nvSpPr>
          <p:cNvPr id="17" name="Rectangle 16"/>
          <p:cNvSpPr/>
          <p:nvPr/>
        </p:nvSpPr>
        <p:spPr>
          <a:xfrm>
            <a:off x="502920" y="1170432"/>
            <a:ext cx="64008"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215444"/>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55504A"/>
                </a:solidFill>
                <a:effectLst/>
                <a:uLnTx/>
                <a:uFillTx/>
                <a:latin typeface="Arial"/>
                <a:ea typeface="+mn-ea"/>
                <a:cs typeface="+mn-cs"/>
              </a:rPr>
              <a:t>positioning, trust proof + adoption</a:t>
            </a:r>
          </a:p>
        </p:txBody>
      </p:sp>
      <p:cxnSp>
        <p:nvCxnSpPr>
          <p:cNvPr id="19" name="Connector 18"/>
          <p:cNvCxnSpPr/>
          <p:nvPr/>
        </p:nvCxnSpPr>
        <p:spPr>
          <a:xfrm>
            <a:off x="502920" y="1554480"/>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27632"/>
            <a:ext cx="11155680" cy="256032"/>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Name the trusted job—then prove it in-product.</a:t>
            </a:r>
          </a:p>
        </p:txBody>
      </p:sp>
      <p:sp>
        <p:nvSpPr>
          <p:cNvPr id="21" name="TextBox 20"/>
          <p:cNvSpPr txBox="1">
            <a:spLocks/>
          </p:cNvSpPr>
          <p:nvPr/>
        </p:nvSpPr>
        <p:spPr>
          <a:xfrm>
            <a:off x="1078992" y="2148840"/>
            <a:ext cx="2011680" cy="215444"/>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BEFORE</a:t>
            </a:r>
          </a:p>
        </p:txBody>
      </p:sp>
      <p:sp>
        <p:nvSpPr>
          <p:cNvPr id="22" name="TextBox 21"/>
          <p:cNvSpPr txBox="1">
            <a:spLocks/>
          </p:cNvSpPr>
          <p:nvPr/>
        </p:nvSpPr>
        <p:spPr>
          <a:xfrm>
            <a:off x="658368" y="2478024"/>
            <a:ext cx="2834640" cy="369332"/>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121212"/>
                </a:solidFill>
                <a:effectLst/>
                <a:uLnTx/>
                <a:uFillTx/>
                <a:latin typeface="Arial"/>
                <a:ea typeface="+mn-ea"/>
                <a:cs typeface="+mn-cs"/>
              </a:rPr>
              <a:t>“Chat with AI”</a:t>
            </a:r>
          </a:p>
        </p:txBody>
      </p:sp>
      <p:sp>
        <p:nvSpPr>
          <p:cNvPr id="23" name="TextBox 22"/>
          <p:cNvSpPr txBox="1">
            <a:spLocks/>
          </p:cNvSpPr>
          <p:nvPr/>
        </p:nvSpPr>
        <p:spPr>
          <a:xfrm>
            <a:off x="658368" y="2990088"/>
            <a:ext cx="2651760" cy="430887"/>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55504A"/>
                </a:solidFill>
                <a:effectLst/>
                <a:uLnTx/>
                <a:uFillTx/>
                <a:latin typeface="Arial"/>
                <a:ea typeface="+mn-ea"/>
                <a:cs typeface="+mn-cs"/>
              </a:rPr>
              <a:t>Conversation was broad—and hard to trust at purchase.</a:t>
            </a:r>
          </a:p>
        </p:txBody>
      </p:sp>
      <p:cxnSp>
        <p:nvCxnSpPr>
          <p:cNvPr id="24" name="Connector 23"/>
          <p:cNvCxnSpPr/>
          <p:nvPr/>
        </p:nvCxnSpPr>
        <p:spPr>
          <a:xfrm>
            <a:off x="3438144" y="2103120"/>
            <a:ext cx="0" cy="158191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776472" y="2112264"/>
            <a:ext cx="3246120" cy="1554480"/>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6" name="TextBox 25"/>
          <p:cNvSpPr txBox="1">
            <a:spLocks/>
          </p:cNvSpPr>
          <p:nvPr/>
        </p:nvSpPr>
        <p:spPr>
          <a:xfrm>
            <a:off x="4443984" y="2350008"/>
            <a:ext cx="2286000" cy="228600"/>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C400"/>
                </a:solidFill>
                <a:effectLst/>
                <a:uLnTx/>
                <a:uFillTx/>
                <a:latin typeface="Arial"/>
                <a:ea typeface="+mn-ea"/>
                <a:cs typeface="+mn-cs"/>
              </a:rPr>
              <a:t>USER TRUST LOGIC</a:t>
            </a:r>
          </a:p>
        </p:txBody>
      </p:sp>
      <p:sp>
        <p:nvSpPr>
          <p:cNvPr id="27" name="TextBox 26"/>
          <p:cNvSpPr txBox="1">
            <a:spLocks/>
          </p:cNvSpPr>
          <p:nvPr/>
        </p:nvSpPr>
        <p:spPr>
          <a:xfrm>
            <a:off x="4023360" y="2743200"/>
            <a:ext cx="2697480" cy="738664"/>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FFFF"/>
                </a:solidFill>
                <a:effectLst/>
                <a:uLnTx/>
                <a:uFillTx/>
                <a:latin typeface="Arial"/>
                <a:ea typeface="+mn-ea"/>
                <a:cs typeface="+mn-cs"/>
              </a:rPr>
              <a:t>Gate launch on retrieval, evals, human review + guardrails</a:t>
            </a:r>
          </a:p>
        </p:txBody>
      </p:sp>
      <p:cxnSp>
        <p:nvCxnSpPr>
          <p:cNvPr id="28" name="Connector 27"/>
          <p:cNvCxnSpPr/>
          <p:nvPr/>
        </p:nvCxnSpPr>
        <p:spPr>
          <a:xfrm>
            <a:off x="7370064" y="2103120"/>
            <a:ext cx="0" cy="1581912"/>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a:spLocks/>
          </p:cNvSpPr>
          <p:nvPr/>
        </p:nvSpPr>
        <p:spPr>
          <a:xfrm>
            <a:off x="8119872" y="2148840"/>
            <a:ext cx="2011680" cy="228600"/>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AFTER</a:t>
            </a:r>
          </a:p>
        </p:txBody>
      </p:sp>
      <p:sp>
        <p:nvSpPr>
          <p:cNvPr id="30" name="TextBox 29"/>
          <p:cNvSpPr txBox="1">
            <a:spLocks/>
          </p:cNvSpPr>
          <p:nvPr/>
        </p:nvSpPr>
        <p:spPr>
          <a:xfrm>
            <a:off x="7699248" y="2478024"/>
            <a:ext cx="3931920" cy="369332"/>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“Decide better, faster”</a:t>
            </a:r>
          </a:p>
        </p:txBody>
      </p:sp>
      <p:sp>
        <p:nvSpPr>
          <p:cNvPr id="31" name="TextBox 30"/>
          <p:cNvSpPr txBox="1">
            <a:spLocks/>
          </p:cNvSpPr>
          <p:nvPr/>
        </p:nvSpPr>
        <p:spPr>
          <a:xfrm>
            <a:off x="7699248" y="2990088"/>
            <a:ext cx="3566160" cy="430887"/>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Research, compare and decide with confidence.</a:t>
            </a:r>
          </a:p>
        </p:txBody>
      </p:sp>
      <p:cxnSp>
        <p:nvCxnSpPr>
          <p:cNvPr id="32" name="Connector 31"/>
          <p:cNvCxnSpPr/>
          <p:nvPr/>
        </p:nvCxnSpPr>
        <p:spPr>
          <a:xfrm>
            <a:off x="658368" y="4050792"/>
            <a:ext cx="1088136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33" name="TextBox 32"/>
          <p:cNvSpPr txBox="1">
            <a:spLocks/>
          </p:cNvSpPr>
          <p:nvPr/>
        </p:nvSpPr>
        <p:spPr>
          <a:xfrm>
            <a:off x="658368" y="4352544"/>
            <a:ext cx="1874519" cy="475488"/>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25%</a:t>
            </a:r>
          </a:p>
        </p:txBody>
      </p:sp>
      <p:sp>
        <p:nvSpPr>
          <p:cNvPr id="34" name="TextBox 33"/>
          <p:cNvSpPr txBox="1">
            <a:spLocks/>
          </p:cNvSpPr>
          <p:nvPr/>
        </p:nvSpPr>
        <p:spPr>
          <a:xfrm>
            <a:off x="658368" y="4892040"/>
            <a:ext cx="1874519"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ADOPTION</a:t>
            </a:r>
          </a:p>
        </p:txBody>
      </p:sp>
      <p:sp>
        <p:nvSpPr>
          <p:cNvPr id="35" name="TextBox 34"/>
          <p:cNvSpPr txBox="1">
            <a:spLocks/>
          </p:cNvSpPr>
          <p:nvPr/>
        </p:nvSpPr>
        <p:spPr>
          <a:xfrm>
            <a:off x="658368" y="5221224"/>
            <a:ext cx="18288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eligible users</a:t>
            </a:r>
          </a:p>
        </p:txBody>
      </p:sp>
      <p:cxnSp>
        <p:nvCxnSpPr>
          <p:cNvPr id="36" name="Connector 35"/>
          <p:cNvCxnSpPr/>
          <p:nvPr/>
        </p:nvCxnSpPr>
        <p:spPr>
          <a:xfrm>
            <a:off x="2615184" y="4389120"/>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37" name="TextBox 36"/>
          <p:cNvSpPr txBox="1">
            <a:spLocks/>
          </p:cNvSpPr>
          <p:nvPr/>
        </p:nvSpPr>
        <p:spPr>
          <a:xfrm>
            <a:off x="2816352" y="4352544"/>
            <a:ext cx="1874519" cy="475488"/>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55→70%</a:t>
            </a:r>
          </a:p>
        </p:txBody>
      </p:sp>
      <p:sp>
        <p:nvSpPr>
          <p:cNvPr id="38" name="TextBox 37"/>
          <p:cNvSpPr txBox="1">
            <a:spLocks/>
          </p:cNvSpPr>
          <p:nvPr/>
        </p:nvSpPr>
        <p:spPr>
          <a:xfrm>
            <a:off x="2816352" y="4892040"/>
            <a:ext cx="1874519"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FAVORABILITY</a:t>
            </a:r>
          </a:p>
        </p:txBody>
      </p:sp>
      <p:sp>
        <p:nvSpPr>
          <p:cNvPr id="39" name="TextBox 38"/>
          <p:cNvSpPr txBox="1">
            <a:spLocks/>
          </p:cNvSpPr>
          <p:nvPr/>
        </p:nvSpPr>
        <p:spPr>
          <a:xfrm>
            <a:off x="2816352" y="5221224"/>
            <a:ext cx="18288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exposed users</a:t>
            </a:r>
          </a:p>
        </p:txBody>
      </p:sp>
      <p:cxnSp>
        <p:nvCxnSpPr>
          <p:cNvPr id="40" name="Connector 39"/>
          <p:cNvCxnSpPr/>
          <p:nvPr/>
        </p:nvCxnSpPr>
        <p:spPr>
          <a:xfrm>
            <a:off x="4809744" y="4389120"/>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5010912" y="4352544"/>
            <a:ext cx="1874519" cy="475488"/>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+15%</a:t>
            </a:r>
          </a:p>
        </p:txBody>
      </p:sp>
      <p:sp>
        <p:nvSpPr>
          <p:cNvPr id="42" name="TextBox 41"/>
          <p:cNvSpPr txBox="1">
            <a:spLocks/>
          </p:cNvSpPr>
          <p:nvPr/>
        </p:nvSpPr>
        <p:spPr>
          <a:xfrm>
            <a:off x="5010912" y="4892040"/>
            <a:ext cx="1874519"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SESSION DEPTH</a:t>
            </a:r>
          </a:p>
        </p:txBody>
      </p:sp>
      <p:sp>
        <p:nvSpPr>
          <p:cNvPr id="43" name="TextBox 42"/>
          <p:cNvSpPr txBox="1">
            <a:spLocks/>
          </p:cNvSpPr>
          <p:nvPr/>
        </p:nvSpPr>
        <p:spPr>
          <a:xfrm>
            <a:off x="5010912" y="5221224"/>
            <a:ext cx="18288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engagement</a:t>
            </a:r>
          </a:p>
        </p:txBody>
      </p:sp>
      <p:cxnSp>
        <p:nvCxnSpPr>
          <p:cNvPr id="44" name="Connector 43"/>
          <p:cNvCxnSpPr/>
          <p:nvPr/>
        </p:nvCxnSpPr>
        <p:spPr>
          <a:xfrm>
            <a:off x="7004304" y="4389120"/>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5" name="TextBox 44"/>
          <p:cNvSpPr txBox="1">
            <a:spLocks/>
          </p:cNvSpPr>
          <p:nvPr/>
        </p:nvSpPr>
        <p:spPr>
          <a:xfrm>
            <a:off x="7205472" y="4352544"/>
            <a:ext cx="1874519" cy="475488"/>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2.8%</a:t>
            </a:r>
          </a:p>
        </p:txBody>
      </p:sp>
      <p:sp>
        <p:nvSpPr>
          <p:cNvPr id="46" name="TextBox 45"/>
          <p:cNvSpPr txBox="1">
            <a:spLocks/>
          </p:cNvSpPr>
          <p:nvPr/>
        </p:nvSpPr>
        <p:spPr>
          <a:xfrm>
            <a:off x="7205472" y="4892040"/>
            <a:ext cx="1874519"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HALLUCINATION</a:t>
            </a:r>
          </a:p>
        </p:txBody>
      </p:sp>
      <p:sp>
        <p:nvSpPr>
          <p:cNvPr id="47" name="TextBox 46"/>
          <p:cNvSpPr txBox="1">
            <a:spLocks/>
          </p:cNvSpPr>
          <p:nvPr/>
        </p:nvSpPr>
        <p:spPr>
          <a:xfrm>
            <a:off x="7205472" y="5221224"/>
            <a:ext cx="18288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eval failure rate</a:t>
            </a:r>
          </a:p>
        </p:txBody>
      </p:sp>
      <p:cxnSp>
        <p:nvCxnSpPr>
          <p:cNvPr id="48" name="Connector 47"/>
          <p:cNvCxnSpPr/>
          <p:nvPr/>
        </p:nvCxnSpPr>
        <p:spPr>
          <a:xfrm>
            <a:off x="9198863" y="4389120"/>
            <a:ext cx="0" cy="1307592"/>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9400032" y="4352544"/>
            <a:ext cx="1874519" cy="475488"/>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a:ln>
                  <a:noFill/>
                </a:ln>
                <a:solidFill>
                  <a:srgbClr val="FF4B00"/>
                </a:solidFill>
                <a:effectLst/>
                <a:uLnTx/>
                <a:uFillTx/>
                <a:latin typeface="Arial"/>
                <a:ea typeface="+mn-ea"/>
                <a:cs typeface="+mn-cs"/>
              </a:rPr>
              <a:t>JP</a:t>
            </a:r>
          </a:p>
        </p:txBody>
      </p:sp>
      <p:sp>
        <p:nvSpPr>
          <p:cNvPr id="50" name="TextBox 49"/>
          <p:cNvSpPr txBox="1">
            <a:spLocks/>
          </p:cNvSpPr>
          <p:nvPr/>
        </p:nvSpPr>
        <p:spPr>
          <a:xfrm>
            <a:off x="9400032" y="4892040"/>
            <a:ext cx="1874519"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LOCALIZATION</a:t>
            </a:r>
          </a:p>
        </p:txBody>
      </p:sp>
      <p:sp>
        <p:nvSpPr>
          <p:cNvPr id="51" name="TextBox 50"/>
          <p:cNvSpPr txBox="1">
            <a:spLocks/>
          </p:cNvSpPr>
          <p:nvPr/>
        </p:nvSpPr>
        <p:spPr>
          <a:xfrm>
            <a:off x="9400032" y="5221224"/>
            <a:ext cx="182880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tone, tokenization + UX</a:t>
            </a:r>
          </a:p>
        </p:txBody>
      </p:sp>
      <p:sp>
        <p:nvSpPr>
          <p:cNvPr id="90" name="Icon Before"/>
          <p:cNvSpPr/>
          <p:nvPr/>
        </p:nvSpPr>
        <p:spPr>
          <a:xfrm>
            <a:off x="658368" y="2093976"/>
            <a:ext cx="310896" cy="310896"/>
          </a:xfrm>
          <a:prstGeom prst="wedgeEllipseCallout">
            <a:avLst/>
          </a:prstGeom>
          <a:solidFill>
            <a:srgbClr val="FF4B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1" name="Icon Trust"/>
          <p:cNvSpPr/>
          <p:nvPr/>
        </p:nvSpPr>
        <p:spPr>
          <a:xfrm>
            <a:off x="4023360" y="2295144"/>
            <a:ext cx="310896" cy="310896"/>
          </a:xfrm>
          <a:prstGeom prst="flowChartDecision">
            <a:avLst/>
          </a:prstGeom>
          <a:solidFill>
            <a:srgbClr val="FF4B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2" name="Icon After"/>
          <p:cNvSpPr/>
          <p:nvPr/>
        </p:nvSpPr>
        <p:spPr>
          <a:xfrm>
            <a:off x="7699248" y="2121408"/>
            <a:ext cx="310896" cy="310896"/>
          </a:xfrm>
          <a:prstGeom prst="rightArrow">
            <a:avLst/>
          </a:prstGeom>
          <a:solidFill>
            <a:srgbClr val="FF4B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93" name="Official Mistral footer symbol" descr="image.png"/>
          <p:cNvPicPr>
            <a:picLocks noChangeAspect="1"/>
          </p:cNvPicPr>
          <p:nvPr/>
        </p:nvPicPr>
        <p:blipFill>
          <a:blip r:embed="rId3"/>
          <a:srcRect/>
          <a:stretch>
            <a:fillRect/>
          </a:stretch>
        </p:blipFill>
        <p:spPr>
          <a:xfrm>
            <a:off x="11594592" y="6400800"/>
            <a:ext cx="228600" cy="164592"/>
          </a:xfrm>
          <a:prstGeom prst="rect">
            <a:avLst/>
          </a:prstGeom>
          <a:ln/>
        </p:spPr>
      </p:pic>
      <p:pic>
        <p:nvPicPr>
          <p:cNvPr id="94" name="Official Mistral header symbol" descr="image.png"/>
          <p:cNvPicPr>
            <a:picLocks noChangeAspect="1"/>
          </p:cNvPicPr>
          <p:nvPr/>
        </p:nvPicPr>
        <p:blipFill>
          <a:blip r:embed="rId3"/>
          <a:stretch>
            <a:fillRect/>
          </a:stretch>
        </p:blipFill>
        <p:spPr>
          <a:xfrm>
            <a:off x="182880" y="182880"/>
            <a:ext cx="228600" cy="164592"/>
          </a:xfrm>
          <a:prstGeom prst="rect">
            <a:avLst/>
          </a:prstGeom>
          <a:ln/>
        </p:spPr>
      </p:pic>
      <p:sp>
        <p:nvSpPr>
          <p:cNvPr id="300" name="Source Footnote"/>
          <p:cNvSpPr txBox="1"/>
          <p:nvPr/>
        </p:nvSpPr>
        <p:spPr>
          <a:xfrm>
            <a:off x="566928" y="6170081"/>
            <a:ext cx="10469880" cy="123111"/>
          </a:xfrm>
          <a:prstGeom prst="rect">
            <a:avLst/>
          </a:prstGeom>
          <a:noFill/>
          <a:ln/>
        </p:spPr>
        <p:txBody>
          <a:bodyPr wrap="square" lIns="0" tIns="0" rIns="0" bIns="0" anchor="ctr">
            <a:spAutoFit/>
          </a:bodyPr>
          <a:lstStyle/>
          <a:p>
            <a:pPr marL="0" indent="0" algn="l">
              <a:buNone/>
            </a:pPr>
            <a:r>
              <a:rPr lang="en-US" sz="800" b="0" i="0" u="none" kern="1200">
                <a:solidFill>
                  <a:srgbClr val="8A857E"/>
                </a:solidFill>
                <a:latin typeface="Arial"/>
              </a:rPr>
              <a:t>Public context: https://www.aboutamazon.com/news/retail/amazon-agentic-ai-gen-ai-shopping | On-slide outcomes are candidate-provided/internal.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RAKUTEN MERCHANT GENAI PLATFORM · MARKET INTELLIGENCE &amp; MOAT STRATEGY</a:t>
            </a:r>
          </a:p>
        </p:txBody>
      </p:sp>
      <p:sp>
        <p:nvSpPr>
          <p:cNvPr id="15" name="TextBox 14"/>
          <p:cNvSpPr txBox="1">
            <a:spLocks/>
          </p:cNvSpPr>
          <p:nvPr/>
        </p:nvSpPr>
        <p:spPr>
          <a:xfrm>
            <a:off x="11137392" y="6400800"/>
            <a:ext cx="292608" cy="155448"/>
          </a:xfrm>
          <a:prstGeom prst="rect">
            <a:avLst/>
          </a:prstGeom>
          <a:noFill/>
          <a:ln/>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000" b="0">
                <a:solidFill>
                  <a:srgbClr val="8A857E"/>
                </a:solidFill>
                <a:latin typeface="Arial"/>
              </a:rPr>
              <a:t>6</a:t>
            </a:r>
            <a:endParaRPr kumimoji="0" lang="en-US" sz="1000" b="0" i="0" u="none" strike="noStrike" kern="1200" cap="none" spc="0" normalizeH="0" baseline="0" noProof="0" dirty="0">
              <a:ln>
                <a:noFill/>
              </a:ln>
              <a:solidFill>
                <a:srgbClr val="55504A"/>
              </a:solidFill>
              <a:effectLst/>
              <a:uLnTx/>
              <a:uFillTx/>
              <a:latin typeface="Arial"/>
              <a:ea typeface="+mn-ea"/>
              <a:cs typeface="+mn-cs"/>
            </a:endParaRPr>
          </a:p>
        </p:txBody>
      </p:sp>
      <p:sp>
        <p:nvSpPr>
          <p:cNvPr id="16" name="TextBox 15"/>
          <p:cNvSpPr txBox="1">
            <a:spLocks/>
          </p:cNvSpPr>
          <p:nvPr/>
        </p:nvSpPr>
        <p:spPr>
          <a:xfrm>
            <a:off x="502920" y="576072"/>
            <a:ext cx="11155680" cy="53949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5. Market intelligence: context + workflow won</a:t>
            </a:r>
          </a:p>
        </p:txBody>
      </p:sp>
      <p:sp>
        <p:nvSpPr>
          <p:cNvPr id="17" name="Rectangle 16"/>
          <p:cNvSpPr/>
          <p:nvPr/>
        </p:nvSpPr>
        <p:spPr>
          <a:xfrm>
            <a:off x="502920" y="1170432"/>
            <a:ext cx="64008"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215444"/>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55504A"/>
                </a:solidFill>
                <a:effectLst/>
                <a:uLnTx/>
                <a:uFillTx/>
                <a:latin typeface="Arial"/>
                <a:ea typeface="+mn-ea"/>
                <a:cs typeface="+mn-cs"/>
              </a:rPr>
              <a:t>market intelligence, moat strategy + investment choice</a:t>
            </a:r>
          </a:p>
        </p:txBody>
      </p:sp>
      <p:cxnSp>
        <p:nvCxnSpPr>
          <p:cNvPr id="19" name="Connector 18"/>
          <p:cNvCxnSpPr/>
          <p:nvPr/>
        </p:nvCxnSpPr>
        <p:spPr>
          <a:xfrm>
            <a:off x="502920" y="1554480"/>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27632"/>
            <a:ext cx="11155680" cy="256032"/>
          </a:xfrm>
          <a:prstGeom prst="rect">
            <a:avLst/>
          </a:prstGeom>
          <a:noFill/>
          <a:ln/>
        </p:spPr>
        <p:txBody>
          <a:bodyPr wrap="square" lIns="0" tIns="0" rIns="0" bIns="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The moat: proprietary context + workflow + economics + distribution.</a:t>
            </a:r>
          </a:p>
        </p:txBody>
      </p:sp>
      <p:sp>
        <p:nvSpPr>
          <p:cNvPr id="21" name="Rectangle 20"/>
          <p:cNvSpPr/>
          <p:nvPr/>
        </p:nvSpPr>
        <p:spPr>
          <a:xfrm>
            <a:off x="502920" y="2057400"/>
            <a:ext cx="2743200" cy="868680"/>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2" name="TextBox 21"/>
          <p:cNvSpPr txBox="1">
            <a:spLocks/>
          </p:cNvSpPr>
          <p:nvPr/>
        </p:nvSpPr>
        <p:spPr>
          <a:xfrm>
            <a:off x="676656" y="2194560"/>
            <a:ext cx="214884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Arial"/>
                <a:ea typeface="+mn-ea"/>
                <a:cs typeface="+mn-cs"/>
              </a:rPr>
              <a:t>DECISION</a:t>
            </a:r>
          </a:p>
        </p:txBody>
      </p:sp>
      <p:sp>
        <p:nvSpPr>
          <p:cNvPr id="23" name="TextBox 22"/>
          <p:cNvSpPr txBox="1">
            <a:spLocks/>
          </p:cNvSpPr>
          <p:nvPr/>
        </p:nvSpPr>
        <p:spPr>
          <a:xfrm>
            <a:off x="676656" y="2386584"/>
            <a:ext cx="2377440" cy="430887"/>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Arial"/>
                <a:ea typeface="+mn-ea"/>
                <a:cs typeface="+mn-cs"/>
              </a:rPr>
              <a:t>Buy intelligence. Build context.</a:t>
            </a:r>
          </a:p>
        </p:txBody>
      </p:sp>
      <p:sp>
        <p:nvSpPr>
          <p:cNvPr id="24" name="TextBox 23"/>
          <p:cNvSpPr txBox="1">
            <a:spLocks/>
          </p:cNvSpPr>
          <p:nvPr/>
        </p:nvSpPr>
        <p:spPr>
          <a:xfrm>
            <a:off x="987552" y="2990088"/>
            <a:ext cx="2103120" cy="21945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PROBLEM</a:t>
            </a:r>
          </a:p>
        </p:txBody>
      </p:sp>
      <p:sp>
        <p:nvSpPr>
          <p:cNvPr id="25" name="TextBox 24"/>
          <p:cNvSpPr txBox="1">
            <a:spLocks/>
          </p:cNvSpPr>
          <p:nvPr/>
        </p:nvSpPr>
        <p:spPr>
          <a:xfrm>
            <a:off x="566928" y="3300984"/>
            <a:ext cx="2496312" cy="430887"/>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Standalone chatbot overpromised; adoption lagged.</a:t>
            </a:r>
          </a:p>
        </p:txBody>
      </p:sp>
      <p:sp>
        <p:nvSpPr>
          <p:cNvPr id="26" name="Rectangle 25"/>
          <p:cNvSpPr/>
          <p:nvPr/>
        </p:nvSpPr>
        <p:spPr>
          <a:xfrm>
            <a:off x="3493008" y="2148840"/>
            <a:ext cx="2468880" cy="1591056"/>
          </a:xfrm>
          <a:prstGeom prst="rect">
            <a:avLst/>
          </a:prstGeom>
          <a:solidFill>
            <a:srgbClr val="FBF7EF"/>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7" name="Rectangle 26"/>
          <p:cNvSpPr/>
          <p:nvPr/>
        </p:nvSpPr>
        <p:spPr>
          <a:xfrm>
            <a:off x="5961888" y="2148840"/>
            <a:ext cx="2468880" cy="1591056"/>
          </a:xfrm>
          <a:prstGeom prst="rect">
            <a:avLst/>
          </a:prstGeom>
          <a:solidFill>
            <a:srgbClr val="FFF0BF"/>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8" name="Rectangle 27"/>
          <p:cNvSpPr/>
          <p:nvPr/>
        </p:nvSpPr>
        <p:spPr>
          <a:xfrm>
            <a:off x="3493008" y="3739896"/>
            <a:ext cx="2468880" cy="1591056"/>
          </a:xfrm>
          <a:prstGeom prst="rect">
            <a:avLst/>
          </a:prstGeom>
          <a:solidFill>
            <a:srgbClr val="F0E8DA"/>
          </a:solidFill>
          <a:ln w="12700">
            <a:solidFill>
              <a:srgbClr val="E5DCC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9" name="Rectangle 28"/>
          <p:cNvSpPr/>
          <p:nvPr/>
        </p:nvSpPr>
        <p:spPr>
          <a:xfrm>
            <a:off x="5961888" y="3739896"/>
            <a:ext cx="2468880" cy="1591056"/>
          </a:xfrm>
          <a:prstGeom prst="rect">
            <a:avLst/>
          </a:prstGeom>
          <a:solidFill>
            <a:srgbClr val="FFE3B3"/>
          </a:solidFill>
          <a:ln w="254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0" name="TextBox 29"/>
          <p:cNvSpPr txBox="1">
            <a:spLocks/>
          </p:cNvSpPr>
          <p:nvPr/>
        </p:nvSpPr>
        <p:spPr>
          <a:xfrm>
            <a:off x="3712463" y="2368296"/>
            <a:ext cx="1920240" cy="438912"/>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HIGH CONTEXT
LOW WORKFLOW</a:t>
            </a:r>
          </a:p>
        </p:txBody>
      </p:sp>
      <p:sp>
        <p:nvSpPr>
          <p:cNvPr id="31" name="TextBox 30"/>
          <p:cNvSpPr txBox="1">
            <a:spLocks/>
          </p:cNvSpPr>
          <p:nvPr/>
        </p:nvSpPr>
        <p:spPr>
          <a:xfrm>
            <a:off x="3712463" y="3968496"/>
            <a:ext cx="1965960" cy="430887"/>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LOW CONTEXT
LOW WORKFLOW</a:t>
            </a:r>
          </a:p>
        </p:txBody>
      </p:sp>
      <p:sp>
        <p:nvSpPr>
          <p:cNvPr id="32" name="TextBox 31"/>
          <p:cNvSpPr txBox="1"/>
          <p:nvPr/>
        </p:nvSpPr>
        <p:spPr>
          <a:xfrm>
            <a:off x="6181344" y="3968496"/>
            <a:ext cx="1965960" cy="438912"/>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LOW CONTEXT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55504A"/>
                </a:solidFill>
                <a:effectLst/>
                <a:uLnTx/>
                <a:uFillTx/>
                <a:latin typeface="Arial"/>
                <a:ea typeface="+mn-ea"/>
                <a:cs typeface="+mn-cs"/>
              </a:rPr>
              <a:t>HIGH WORKFLOW</a:t>
            </a:r>
          </a:p>
        </p:txBody>
      </p:sp>
      <p:sp>
        <p:nvSpPr>
          <p:cNvPr id="33" name="TextBox 32"/>
          <p:cNvSpPr txBox="1">
            <a:spLocks/>
          </p:cNvSpPr>
          <p:nvPr/>
        </p:nvSpPr>
        <p:spPr>
          <a:xfrm>
            <a:off x="6217920" y="2368296"/>
            <a:ext cx="1051560" cy="210312"/>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CHOSEN</a:t>
            </a:r>
          </a:p>
        </p:txBody>
      </p:sp>
      <p:sp>
        <p:nvSpPr>
          <p:cNvPr id="34" name="TextBox 33"/>
          <p:cNvSpPr txBox="1">
            <a:spLocks/>
          </p:cNvSpPr>
          <p:nvPr/>
        </p:nvSpPr>
        <p:spPr>
          <a:xfrm>
            <a:off x="6217920" y="2651760"/>
            <a:ext cx="1874519" cy="492443"/>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121212"/>
                </a:solidFill>
                <a:effectLst/>
                <a:uLnTx/>
                <a:uFillTx/>
                <a:latin typeface="Arial"/>
                <a:ea typeface="+mn-ea"/>
                <a:cs typeface="+mn-cs"/>
              </a:rPr>
              <a:t>Merchant
workflows</a:t>
            </a:r>
          </a:p>
        </p:txBody>
      </p:sp>
      <p:sp>
        <p:nvSpPr>
          <p:cNvPr id="35" name="TextBox 34"/>
          <p:cNvSpPr txBox="1">
            <a:spLocks/>
          </p:cNvSpPr>
          <p:nvPr/>
        </p:nvSpPr>
        <p:spPr>
          <a:xfrm>
            <a:off x="6217920" y="3255264"/>
            <a:ext cx="1874519"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55504A"/>
                </a:solidFill>
                <a:effectLst/>
                <a:uLnTx/>
                <a:uFillTx/>
                <a:latin typeface="Arial"/>
                <a:ea typeface="+mn-ea"/>
                <a:cs typeface="+mn-cs"/>
              </a:rPr>
              <a:t>Listing, support + sales</a:t>
            </a:r>
          </a:p>
        </p:txBody>
      </p:sp>
      <p:sp>
        <p:nvSpPr>
          <p:cNvPr id="36" name="Oval 35"/>
          <p:cNvSpPr/>
          <p:nvPr/>
        </p:nvSpPr>
        <p:spPr>
          <a:xfrm>
            <a:off x="3877056" y="4828032"/>
            <a:ext cx="210312" cy="210312"/>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7" name="TextBox 36"/>
          <p:cNvSpPr txBox="1">
            <a:spLocks/>
          </p:cNvSpPr>
          <p:nvPr/>
        </p:nvSpPr>
        <p:spPr>
          <a:xfrm>
            <a:off x="4206240" y="4636008"/>
            <a:ext cx="1463040" cy="369332"/>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4B00"/>
                </a:solidFill>
                <a:effectLst/>
                <a:uLnTx/>
                <a:uFillTx/>
                <a:latin typeface="Arial"/>
                <a:ea typeface="+mn-ea"/>
                <a:cs typeface="+mn-cs"/>
              </a:rPr>
              <a:t>Standalone chatbot
lost</a:t>
            </a:r>
          </a:p>
        </p:txBody>
      </p:sp>
      <p:sp>
        <p:nvSpPr>
          <p:cNvPr id="38" name="TextBox 37"/>
          <p:cNvSpPr txBox="1">
            <a:spLocks/>
          </p:cNvSpPr>
          <p:nvPr/>
        </p:nvSpPr>
        <p:spPr>
          <a:xfrm>
            <a:off x="3419856" y="1938528"/>
            <a:ext cx="246888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PROPRIETARY CONTEXT ↑</a:t>
            </a:r>
          </a:p>
        </p:txBody>
      </p:sp>
      <p:sp>
        <p:nvSpPr>
          <p:cNvPr id="39" name="TextBox 38"/>
          <p:cNvSpPr txBox="1">
            <a:spLocks/>
          </p:cNvSpPr>
          <p:nvPr/>
        </p:nvSpPr>
        <p:spPr>
          <a:xfrm>
            <a:off x="5358383" y="5404104"/>
            <a:ext cx="2651760" cy="184666"/>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55504A"/>
                </a:solidFill>
                <a:effectLst/>
                <a:uLnTx/>
                <a:uFillTx/>
                <a:latin typeface="Arial"/>
                <a:ea typeface="+mn-ea"/>
                <a:cs typeface="+mn-cs"/>
              </a:rPr>
              <a:t>WORKFLOW INTEGRATION →</a:t>
            </a:r>
          </a:p>
        </p:txBody>
      </p:sp>
      <p:sp>
        <p:nvSpPr>
          <p:cNvPr id="40" name="TextBox 39"/>
          <p:cNvSpPr txBox="1">
            <a:spLocks/>
          </p:cNvSpPr>
          <p:nvPr/>
        </p:nvSpPr>
        <p:spPr>
          <a:xfrm>
            <a:off x="9272016" y="2185416"/>
            <a:ext cx="2011680" cy="228600"/>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COMMERCIAL PROOF</a:t>
            </a:r>
          </a:p>
        </p:txBody>
      </p:sp>
      <p:sp>
        <p:nvSpPr>
          <p:cNvPr id="41" name="TextBox 40"/>
          <p:cNvSpPr txBox="1">
            <a:spLocks/>
          </p:cNvSpPr>
          <p:nvPr/>
        </p:nvSpPr>
        <p:spPr>
          <a:xfrm>
            <a:off x="8851392" y="2606040"/>
            <a:ext cx="1225296" cy="429768"/>
          </a:xfrm>
          <a:prstGeom prst="rect">
            <a:avLst/>
          </a:prstGeom>
          <a:noFill/>
          <a:ln/>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50K+</a:t>
            </a:r>
          </a:p>
        </p:txBody>
      </p:sp>
      <p:sp>
        <p:nvSpPr>
          <p:cNvPr id="42" name="TextBox 41"/>
          <p:cNvSpPr txBox="1">
            <a:spLocks/>
          </p:cNvSpPr>
          <p:nvPr/>
        </p:nvSpPr>
        <p:spPr>
          <a:xfrm>
            <a:off x="10104120" y="2633471"/>
            <a:ext cx="118872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MERCHANTS</a:t>
            </a:r>
          </a:p>
        </p:txBody>
      </p:sp>
      <p:sp>
        <p:nvSpPr>
          <p:cNvPr id="43" name="TextBox 42"/>
          <p:cNvSpPr txBox="1">
            <a:spLocks/>
          </p:cNvSpPr>
          <p:nvPr/>
        </p:nvSpPr>
        <p:spPr>
          <a:xfrm>
            <a:off x="10104120" y="2916935"/>
            <a:ext cx="1188720" cy="153888"/>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platform scale</a:t>
            </a:r>
          </a:p>
        </p:txBody>
      </p:sp>
      <p:cxnSp>
        <p:nvCxnSpPr>
          <p:cNvPr id="44" name="Connector 43"/>
          <p:cNvCxnSpPr/>
          <p:nvPr/>
        </p:nvCxnSpPr>
        <p:spPr>
          <a:xfrm>
            <a:off x="8851392" y="3209544"/>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5" name="TextBox 44"/>
          <p:cNvSpPr txBox="1">
            <a:spLocks/>
          </p:cNvSpPr>
          <p:nvPr/>
        </p:nvSpPr>
        <p:spPr>
          <a:xfrm>
            <a:off x="8851392" y="3319272"/>
            <a:ext cx="1225296" cy="429768"/>
          </a:xfrm>
          <a:prstGeom prst="rect">
            <a:avLst/>
          </a:prstGeom>
          <a:noFill/>
          <a:ln/>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40%</a:t>
            </a:r>
          </a:p>
        </p:txBody>
      </p:sp>
      <p:sp>
        <p:nvSpPr>
          <p:cNvPr id="46" name="TextBox 45"/>
          <p:cNvSpPr txBox="1">
            <a:spLocks/>
          </p:cNvSpPr>
          <p:nvPr/>
        </p:nvSpPr>
        <p:spPr>
          <a:xfrm>
            <a:off x="10104120" y="3346704"/>
            <a:ext cx="1188720"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ADOPTION</a:t>
            </a:r>
          </a:p>
        </p:txBody>
      </p:sp>
      <p:sp>
        <p:nvSpPr>
          <p:cNvPr id="47" name="TextBox 46"/>
          <p:cNvSpPr txBox="1">
            <a:spLocks/>
          </p:cNvSpPr>
          <p:nvPr/>
        </p:nvSpPr>
        <p:spPr>
          <a:xfrm>
            <a:off x="10104120" y="3630168"/>
            <a:ext cx="1188720" cy="153888"/>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six months</a:t>
            </a:r>
          </a:p>
        </p:txBody>
      </p:sp>
      <p:cxnSp>
        <p:nvCxnSpPr>
          <p:cNvPr id="48" name="Connector 47"/>
          <p:cNvCxnSpPr/>
          <p:nvPr/>
        </p:nvCxnSpPr>
        <p:spPr>
          <a:xfrm>
            <a:off x="8851392" y="3922776"/>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49" name="TextBox 48"/>
          <p:cNvSpPr txBox="1">
            <a:spLocks/>
          </p:cNvSpPr>
          <p:nvPr/>
        </p:nvSpPr>
        <p:spPr>
          <a:xfrm>
            <a:off x="8851392" y="4032504"/>
            <a:ext cx="1225296" cy="429768"/>
          </a:xfrm>
          <a:prstGeom prst="rect">
            <a:avLst/>
          </a:prstGeom>
          <a:noFill/>
          <a:ln/>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+15%</a:t>
            </a:r>
          </a:p>
        </p:txBody>
      </p:sp>
      <p:sp>
        <p:nvSpPr>
          <p:cNvPr id="50" name="TextBox 49"/>
          <p:cNvSpPr txBox="1">
            <a:spLocks/>
          </p:cNvSpPr>
          <p:nvPr/>
        </p:nvSpPr>
        <p:spPr>
          <a:xfrm>
            <a:off x="10104120" y="4059936"/>
            <a:ext cx="1188720" cy="369332"/>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MERCHANT CVR</a:t>
            </a:r>
          </a:p>
        </p:txBody>
      </p:sp>
      <p:sp>
        <p:nvSpPr>
          <p:cNvPr id="51" name="TextBox 50"/>
          <p:cNvSpPr txBox="1">
            <a:spLocks/>
          </p:cNvSpPr>
          <p:nvPr/>
        </p:nvSpPr>
        <p:spPr>
          <a:xfrm>
            <a:off x="10104120" y="4443984"/>
            <a:ext cx="1188720" cy="153888"/>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conversion lift</a:t>
            </a:r>
          </a:p>
        </p:txBody>
      </p:sp>
      <p:cxnSp>
        <p:nvCxnSpPr>
          <p:cNvPr id="52" name="Connector 51"/>
          <p:cNvCxnSpPr/>
          <p:nvPr/>
        </p:nvCxnSpPr>
        <p:spPr>
          <a:xfrm>
            <a:off x="8851392" y="4636008"/>
            <a:ext cx="2487168"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53" name="TextBox 52"/>
          <p:cNvSpPr txBox="1">
            <a:spLocks/>
          </p:cNvSpPr>
          <p:nvPr/>
        </p:nvSpPr>
        <p:spPr>
          <a:xfrm>
            <a:off x="8851392" y="4745736"/>
            <a:ext cx="1417320" cy="429768"/>
          </a:xfrm>
          <a:prstGeom prst="rect">
            <a:avLst/>
          </a:prstGeom>
          <a:noFill/>
          <a:ln/>
        </p:spPr>
        <p:txBody>
          <a:bodyPr wrap="square" lIns="0" tIns="0" rIns="0" bIns="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4B00"/>
                </a:solidFill>
                <a:effectLst/>
                <a:uLnTx/>
                <a:uFillTx/>
                <a:latin typeface="Arial"/>
                <a:ea typeface="+mn-ea"/>
                <a:cs typeface="+mn-cs"/>
              </a:rPr>
              <a:t>45→12m</a:t>
            </a:r>
          </a:p>
        </p:txBody>
      </p:sp>
      <p:sp>
        <p:nvSpPr>
          <p:cNvPr id="54" name="TextBox 53"/>
          <p:cNvSpPr txBox="1">
            <a:spLocks/>
          </p:cNvSpPr>
          <p:nvPr/>
        </p:nvSpPr>
        <p:spPr>
          <a:xfrm>
            <a:off x="10314432" y="4773168"/>
            <a:ext cx="1024128" cy="18466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121212"/>
                </a:solidFill>
                <a:effectLst/>
                <a:uLnTx/>
                <a:uFillTx/>
                <a:latin typeface="Arial"/>
                <a:ea typeface="+mn-ea"/>
                <a:cs typeface="+mn-cs"/>
              </a:rPr>
              <a:t>LISTING TIME</a:t>
            </a:r>
          </a:p>
        </p:txBody>
      </p:sp>
      <p:sp>
        <p:nvSpPr>
          <p:cNvPr id="55" name="TextBox 54"/>
          <p:cNvSpPr txBox="1">
            <a:spLocks/>
          </p:cNvSpPr>
          <p:nvPr/>
        </p:nvSpPr>
        <p:spPr>
          <a:xfrm>
            <a:off x="10314432" y="5056632"/>
            <a:ext cx="1024128" cy="307777"/>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5504A"/>
                </a:solidFill>
                <a:effectLst/>
                <a:uLnTx/>
                <a:uFillTx/>
                <a:latin typeface="Arial"/>
                <a:ea typeface="+mn-ea"/>
                <a:cs typeface="+mn-cs"/>
              </a:rPr>
              <a:t>manual time reduced</a:t>
            </a:r>
          </a:p>
        </p:txBody>
      </p:sp>
      <p:sp>
        <p:nvSpPr>
          <p:cNvPr id="56" name="TextBox 55"/>
          <p:cNvSpPr txBox="1"/>
          <p:nvPr/>
        </p:nvSpPr>
        <p:spPr>
          <a:xfrm>
            <a:off x="566928" y="6416054"/>
            <a:ext cx="10469880" cy="123111"/>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8A857E"/>
                </a:solidFill>
                <a:effectLst/>
                <a:uLnTx/>
                <a:uFillTx/>
                <a:latin typeface="Arial"/>
                <a:ea typeface="+mn-ea"/>
                <a:cs typeface="+mn-cs"/>
              </a:rPr>
              <a:t>Moat stack: model → context → workflow → economics → distribution.</a:t>
            </a:r>
          </a:p>
        </p:txBody>
      </p:sp>
      <p:sp>
        <p:nvSpPr>
          <p:cNvPr id="93" name="Icon Problem"/>
          <p:cNvSpPr/>
          <p:nvPr/>
        </p:nvSpPr>
        <p:spPr>
          <a:xfrm>
            <a:off x="566928" y="2971800"/>
            <a:ext cx="274320" cy="274320"/>
          </a:xfrm>
          <a:prstGeom prst="noSmoking">
            <a:avLst/>
          </a:prstGeom>
          <a:solidFill>
            <a:srgbClr val="FF4B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4" name="Icon Proof"/>
          <p:cNvSpPr/>
          <p:nvPr/>
        </p:nvSpPr>
        <p:spPr>
          <a:xfrm>
            <a:off x="8851392" y="2130552"/>
            <a:ext cx="310896" cy="310896"/>
          </a:xfrm>
          <a:prstGeom prst="upArrow">
            <a:avLst/>
          </a:prstGeom>
          <a:solidFill>
            <a:srgbClr val="FF4B00"/>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95" name="Official Mistral footer symbol" descr="image.png"/>
          <p:cNvPicPr>
            <a:picLocks noChangeAspect="1"/>
          </p:cNvPicPr>
          <p:nvPr/>
        </p:nvPicPr>
        <p:blipFill>
          <a:blip r:embed="rId3"/>
          <a:srcRect/>
          <a:stretch>
            <a:fillRect/>
          </a:stretch>
        </p:blipFill>
        <p:spPr>
          <a:xfrm>
            <a:off x="11594592" y="6400800"/>
            <a:ext cx="228600" cy="164592"/>
          </a:xfrm>
          <a:prstGeom prst="rect">
            <a:avLst/>
          </a:prstGeom>
          <a:ln/>
        </p:spPr>
      </p:pic>
      <p:pic>
        <p:nvPicPr>
          <p:cNvPr id="96" name="Official Mistral header symbol" descr="image.png"/>
          <p:cNvPicPr>
            <a:picLocks noChangeAspect="1"/>
          </p:cNvPicPr>
          <p:nvPr/>
        </p:nvPicPr>
        <p:blipFill>
          <a:blip r:embed="rId3"/>
          <a:stretch>
            <a:fillRect/>
          </a:stretch>
        </p:blipFill>
        <p:spPr>
          <a:xfrm>
            <a:off x="182880" y="182880"/>
            <a:ext cx="228600" cy="164592"/>
          </a:xfrm>
          <a:prstGeom prst="rect">
            <a:avLst/>
          </a:prstGeom>
          <a:ln/>
        </p:spPr>
      </p:pic>
      <p:sp>
        <p:nvSpPr>
          <p:cNvPr id="300" name="Source Footnote"/>
          <p:cNvSpPr txBox="1"/>
          <p:nvPr/>
        </p:nvSpPr>
        <p:spPr>
          <a:xfrm>
            <a:off x="566928" y="6170081"/>
            <a:ext cx="10469880" cy="123111"/>
          </a:xfrm>
          <a:prstGeom prst="rect">
            <a:avLst/>
          </a:prstGeom>
          <a:noFill/>
          <a:ln/>
        </p:spPr>
        <p:txBody>
          <a:bodyPr wrap="square" lIns="0" tIns="0" rIns="0" bIns="0" anchor="ctr">
            <a:spAutoFit/>
          </a:bodyPr>
          <a:lstStyle/>
          <a:p>
            <a:pPr marL="0" indent="0" algn="l">
              <a:buNone/>
            </a:pPr>
            <a:r>
              <a:rPr lang="en-US" sz="800" b="0" i="0" u="none" kern="1200">
                <a:solidFill>
                  <a:srgbClr val="8A857E"/>
                </a:solidFill>
                <a:latin typeface="Arial"/>
              </a:rPr>
              <a:t>Public context: https://global.rakuten.com/corp/news/press/2024/0430_01.html | 40%, +15% and 45→12m are candidate-provided/internal.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2E8"/>
        </a:solidFill>
        <a:effectLst/>
      </p:bgPr>
    </p:bg>
    <p:spTree>
      <p:nvGrpSpPr>
        <p:cNvPr id="1" name=""/>
        <p:cNvGrpSpPr/>
        <p:nvPr/>
      </p:nvGrpSpPr>
      <p:grpSpPr>
        <a:xfrm>
          <a:off x="0" y="0"/>
          <a:ext cx="0" cy="0"/>
          <a:chOff x="0" y="0"/>
          <a:chExt cx="0" cy="0"/>
        </a:xfrm>
      </p:grpSpPr>
      <p:sp>
        <p:nvSpPr>
          <p:cNvPr id="11" name="TextBox 10"/>
          <p:cNvSpPr txBox="1">
            <a:spLocks/>
          </p:cNvSpPr>
          <p:nvPr/>
        </p:nvSpPr>
        <p:spPr>
          <a:xfrm>
            <a:off x="621792" y="201168"/>
            <a:ext cx="9326880" cy="256032"/>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MICROSOFT DEVELOPER / BUSINESS AI PLATFORM · PLG</a:t>
            </a:r>
          </a:p>
        </p:txBody>
      </p:sp>
      <p:sp>
        <p:nvSpPr>
          <p:cNvPr id="15" name="TextBox 14"/>
          <p:cNvSpPr txBox="1">
            <a:spLocks/>
          </p:cNvSpPr>
          <p:nvPr/>
        </p:nvSpPr>
        <p:spPr>
          <a:xfrm>
            <a:off x="11137392" y="6400800"/>
            <a:ext cx="292608" cy="155448"/>
          </a:xfrm>
          <a:prstGeom prst="rect">
            <a:avLst/>
          </a:prstGeom>
          <a:noFill/>
          <a:ln/>
        </p:spPr>
        <p:txBody>
          <a:bodyPr wrap="squar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A857E"/>
                </a:solidFill>
                <a:effectLst/>
                <a:uLnTx/>
                <a:uFillTx/>
                <a:latin typeface="Arial"/>
                <a:ea typeface="+mn-ea"/>
                <a:cs typeface="+mn-cs"/>
              </a:rPr>
              <a:t>7</a:t>
            </a:r>
          </a:p>
        </p:txBody>
      </p:sp>
      <p:sp>
        <p:nvSpPr>
          <p:cNvPr id="16" name="TextBox 15"/>
          <p:cNvSpPr txBox="1">
            <a:spLocks/>
          </p:cNvSpPr>
          <p:nvPr/>
        </p:nvSpPr>
        <p:spPr>
          <a:xfrm>
            <a:off x="502920" y="576072"/>
            <a:ext cx="11155680" cy="539496"/>
          </a:xfrm>
          <a:prstGeom prst="rect">
            <a:avLst/>
          </a:prstGeom>
          <a:noFill/>
          <a:ln/>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500" b="1" i="0" u="none" strike="noStrike" kern="1200" cap="none" spc="0" normalizeH="0" baseline="0" noProof="0">
                <a:ln>
                  <a:noFill/>
                </a:ln>
                <a:solidFill>
                  <a:srgbClr val="121212"/>
                </a:solidFill>
                <a:effectLst/>
                <a:uLnTx/>
                <a:uFillTx/>
                <a:latin typeface="Arial"/>
                <a:ea typeface="+mn-ea"/>
                <a:cs typeface="+mn-cs"/>
              </a:rPr>
              <a:t>6. Lifecycle growth: product proves the promise</a:t>
            </a:r>
          </a:p>
        </p:txBody>
      </p:sp>
      <p:sp>
        <p:nvSpPr>
          <p:cNvPr id="17" name="Rectangle 16"/>
          <p:cNvSpPr/>
          <p:nvPr/>
        </p:nvSpPr>
        <p:spPr>
          <a:xfrm>
            <a:off x="502920" y="1170432"/>
            <a:ext cx="64008" cy="347472"/>
          </a:xfrm>
          <a:prstGeom prst="rect">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18" name="TextBox 17"/>
          <p:cNvSpPr txBox="1">
            <a:spLocks/>
          </p:cNvSpPr>
          <p:nvPr/>
        </p:nvSpPr>
        <p:spPr>
          <a:xfrm>
            <a:off x="658368" y="1225296"/>
            <a:ext cx="10881360" cy="215444"/>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MY ROLE  </a:t>
            </a:r>
            <a:r>
              <a:rPr kumimoji="0" lang="en-US" sz="1400" b="0" i="0" u="none" strike="noStrike" kern="1200" cap="none" spc="0" normalizeH="0" baseline="0" noProof="0">
                <a:ln>
                  <a:noFill/>
                </a:ln>
                <a:solidFill>
                  <a:srgbClr val="55504A"/>
                </a:solidFill>
                <a:effectLst/>
                <a:uLnTx/>
                <a:uFillTx/>
                <a:latin typeface="Arial"/>
                <a:ea typeface="+mn-ea"/>
                <a:cs typeface="+mn-cs"/>
              </a:rPr>
              <a:t>growth strategy, lifecycle design + measurement</a:t>
            </a:r>
          </a:p>
        </p:txBody>
      </p:sp>
      <p:cxnSp>
        <p:nvCxnSpPr>
          <p:cNvPr id="19" name="Connector 18"/>
          <p:cNvCxnSpPr/>
          <p:nvPr/>
        </p:nvCxnSpPr>
        <p:spPr>
          <a:xfrm>
            <a:off x="502920" y="1554480"/>
            <a:ext cx="11155680" cy="0"/>
          </a:xfrm>
          <a:prstGeom prst="line">
            <a:avLst/>
          </a:prstGeom>
          <a:ln w="12700">
            <a:solidFill>
              <a:srgbClr val="E5DC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a:spLocks/>
          </p:cNvSpPr>
          <p:nvPr/>
        </p:nvSpPr>
        <p:spPr>
          <a:xfrm>
            <a:off x="502920" y="1627632"/>
            <a:ext cx="11155680" cy="256032"/>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TAKEAWAY  </a:t>
            </a:r>
            <a:r>
              <a:rPr kumimoji="0" lang="en-US" sz="1400" b="1" i="0" u="none" strike="noStrike" kern="1200" cap="none" spc="0" normalizeH="0" baseline="0" noProof="0">
                <a:ln>
                  <a:noFill/>
                </a:ln>
                <a:solidFill>
                  <a:srgbClr val="121212"/>
                </a:solidFill>
                <a:effectLst/>
                <a:uLnTx/>
                <a:uFillTx/>
                <a:latin typeface="Arial"/>
                <a:ea typeface="+mn-ea"/>
                <a:cs typeface="+mn-cs"/>
              </a:rPr>
              <a:t>Self-service succeeds when each lifecycle step proves value.</a:t>
            </a:r>
          </a:p>
        </p:txBody>
      </p:sp>
      <p:cxnSp>
        <p:nvCxnSpPr>
          <p:cNvPr id="21" name="Connector 20"/>
          <p:cNvCxnSpPr/>
          <p:nvPr/>
        </p:nvCxnSpPr>
        <p:spPr>
          <a:xfrm>
            <a:off x="960120" y="2679192"/>
            <a:ext cx="9829800" cy="0"/>
          </a:xfrm>
          <a:prstGeom prst="line">
            <a:avLst/>
          </a:prstGeom>
          <a:ln w="50800">
            <a:solidFill>
              <a:srgbClr val="E5DCCD"/>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704088" y="2423160"/>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3" name="TextBox 22"/>
          <p:cNvSpPr txBox="1">
            <a:spLocks/>
          </p:cNvSpPr>
          <p:nvPr/>
        </p:nvSpPr>
        <p:spPr>
          <a:xfrm>
            <a:off x="320040" y="2130552"/>
            <a:ext cx="1280160" cy="215444"/>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DISCOVER</a:t>
            </a:r>
          </a:p>
        </p:txBody>
      </p:sp>
      <p:sp>
        <p:nvSpPr>
          <p:cNvPr id="24" name="TextBox 23"/>
          <p:cNvSpPr txBox="1">
            <a:spLocks/>
          </p:cNvSpPr>
          <p:nvPr/>
        </p:nvSpPr>
        <p:spPr>
          <a:xfrm>
            <a:off x="91440" y="3136392"/>
            <a:ext cx="1737360" cy="430887"/>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Paid, earned +
organic</a:t>
            </a:r>
          </a:p>
        </p:txBody>
      </p:sp>
      <p:cxnSp>
        <p:nvCxnSpPr>
          <p:cNvPr id="25" name="Connector 24"/>
          <p:cNvCxnSpPr/>
          <p:nvPr/>
        </p:nvCxnSpPr>
        <p:spPr>
          <a:xfrm>
            <a:off x="960120" y="3877056"/>
            <a:ext cx="0" cy="384048"/>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a:spLocks/>
          </p:cNvSpPr>
          <p:nvPr/>
        </p:nvSpPr>
        <p:spPr>
          <a:xfrm>
            <a:off x="45720" y="4398264"/>
            <a:ext cx="1828800" cy="492443"/>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top-of-funnel demand</a:t>
            </a:r>
          </a:p>
        </p:txBody>
      </p:sp>
      <p:sp>
        <p:nvSpPr>
          <p:cNvPr id="27" name="Oval 26"/>
          <p:cNvSpPr/>
          <p:nvPr/>
        </p:nvSpPr>
        <p:spPr>
          <a:xfrm>
            <a:off x="3161537" y="2423160"/>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28" name="TextBox 27"/>
          <p:cNvSpPr txBox="1">
            <a:spLocks/>
          </p:cNvSpPr>
          <p:nvPr/>
        </p:nvSpPr>
        <p:spPr>
          <a:xfrm>
            <a:off x="2777489" y="2130552"/>
            <a:ext cx="1280160" cy="228600"/>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EVALUATE</a:t>
            </a:r>
          </a:p>
        </p:txBody>
      </p:sp>
      <p:sp>
        <p:nvSpPr>
          <p:cNvPr id="29" name="TextBox 28"/>
          <p:cNvSpPr txBox="1">
            <a:spLocks/>
          </p:cNvSpPr>
          <p:nvPr/>
        </p:nvSpPr>
        <p:spPr>
          <a:xfrm>
            <a:off x="2548889" y="3136392"/>
            <a:ext cx="1737360" cy="430887"/>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Time to</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first value</a:t>
            </a:r>
          </a:p>
        </p:txBody>
      </p:sp>
      <p:cxnSp>
        <p:nvCxnSpPr>
          <p:cNvPr id="30" name="Connector 29"/>
          <p:cNvCxnSpPr/>
          <p:nvPr/>
        </p:nvCxnSpPr>
        <p:spPr>
          <a:xfrm>
            <a:off x="3417570" y="3877056"/>
            <a:ext cx="0" cy="384048"/>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31" name="TextBox 30"/>
          <p:cNvSpPr txBox="1">
            <a:spLocks/>
          </p:cNvSpPr>
          <p:nvPr/>
        </p:nvSpPr>
        <p:spPr>
          <a:xfrm>
            <a:off x="2503170" y="4398264"/>
            <a:ext cx="1828800" cy="246221"/>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first-run clarity</a:t>
            </a:r>
          </a:p>
        </p:txBody>
      </p:sp>
      <p:sp>
        <p:nvSpPr>
          <p:cNvPr id="32" name="Oval 31"/>
          <p:cNvSpPr/>
          <p:nvPr/>
        </p:nvSpPr>
        <p:spPr>
          <a:xfrm>
            <a:off x="5618988" y="2423160"/>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3" name="TextBox 32"/>
          <p:cNvSpPr txBox="1">
            <a:spLocks/>
          </p:cNvSpPr>
          <p:nvPr/>
        </p:nvSpPr>
        <p:spPr>
          <a:xfrm>
            <a:off x="5234940" y="2130552"/>
            <a:ext cx="1280160" cy="215444"/>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ACTIVATE</a:t>
            </a:r>
          </a:p>
        </p:txBody>
      </p:sp>
      <p:sp>
        <p:nvSpPr>
          <p:cNvPr id="34" name="TextBox 33"/>
          <p:cNvSpPr txBox="1">
            <a:spLocks/>
          </p:cNvSpPr>
          <p:nvPr/>
        </p:nvSpPr>
        <p:spPr>
          <a:xfrm>
            <a:off x="5006340" y="3136392"/>
            <a:ext cx="1737360" cy="430887"/>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Deploy a real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workload</a:t>
            </a:r>
          </a:p>
        </p:txBody>
      </p:sp>
      <p:cxnSp>
        <p:nvCxnSpPr>
          <p:cNvPr id="35" name="Connector 34"/>
          <p:cNvCxnSpPr/>
          <p:nvPr/>
        </p:nvCxnSpPr>
        <p:spPr>
          <a:xfrm>
            <a:off x="5875020" y="3877056"/>
            <a:ext cx="0" cy="384048"/>
          </a:xfrm>
          <a:prstGeom prst="line">
            <a:avLst/>
          </a:prstGeom>
          <a:ln w="25400">
            <a:solidFill>
              <a:srgbClr val="FF4B00"/>
            </a:solidFill>
          </a:ln>
        </p:spPr>
        <p:style>
          <a:lnRef idx="2">
            <a:schemeClr val="accent1"/>
          </a:lnRef>
          <a:fillRef idx="0">
            <a:schemeClr val="accent1"/>
          </a:fillRef>
          <a:effectRef idx="1">
            <a:schemeClr val="accent1"/>
          </a:effectRef>
          <a:fontRef idx="minor">
            <a:schemeClr val="tx1"/>
          </a:fontRef>
        </p:style>
      </p:cxnSp>
      <p:sp>
        <p:nvSpPr>
          <p:cNvPr id="36" name="TextBox 35"/>
          <p:cNvSpPr txBox="1">
            <a:spLocks/>
          </p:cNvSpPr>
          <p:nvPr/>
        </p:nvSpPr>
        <p:spPr>
          <a:xfrm>
            <a:off x="4960620" y="4398264"/>
            <a:ext cx="1828800" cy="246221"/>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4B00"/>
                </a:solidFill>
                <a:effectLst/>
                <a:uLnTx/>
                <a:uFillTx/>
                <a:latin typeface="Arial"/>
                <a:ea typeface="+mn-ea"/>
                <a:cs typeface="+mn-cs"/>
              </a:rPr>
              <a:t>activation +262%</a:t>
            </a:r>
          </a:p>
        </p:txBody>
      </p:sp>
      <p:sp>
        <p:nvSpPr>
          <p:cNvPr id="37" name="Oval 36"/>
          <p:cNvSpPr/>
          <p:nvPr/>
        </p:nvSpPr>
        <p:spPr>
          <a:xfrm>
            <a:off x="8076438" y="2423160"/>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38" name="TextBox 37"/>
          <p:cNvSpPr txBox="1">
            <a:spLocks/>
          </p:cNvSpPr>
          <p:nvPr/>
        </p:nvSpPr>
        <p:spPr>
          <a:xfrm>
            <a:off x="7692390" y="2130552"/>
            <a:ext cx="1280160" cy="215444"/>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RETAIN</a:t>
            </a:r>
          </a:p>
        </p:txBody>
      </p:sp>
      <p:sp>
        <p:nvSpPr>
          <p:cNvPr id="39" name="TextBox 38"/>
          <p:cNvSpPr txBox="1">
            <a:spLocks/>
          </p:cNvSpPr>
          <p:nvPr/>
        </p:nvSpPr>
        <p:spPr>
          <a:xfrm>
            <a:off x="7463790" y="3136392"/>
            <a:ext cx="1737360" cy="430887"/>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Lifecycle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interventions</a:t>
            </a:r>
          </a:p>
        </p:txBody>
      </p:sp>
      <p:cxnSp>
        <p:nvCxnSpPr>
          <p:cNvPr id="40" name="Connector 39"/>
          <p:cNvCxnSpPr/>
          <p:nvPr/>
        </p:nvCxnSpPr>
        <p:spPr>
          <a:xfrm>
            <a:off x="8332470" y="3877056"/>
            <a:ext cx="0" cy="384048"/>
          </a:xfrm>
          <a:prstGeom prst="line">
            <a:avLst/>
          </a:prstGeom>
          <a:ln w="25400">
            <a:solidFill>
              <a:srgbClr val="FFC400"/>
            </a:solidFill>
          </a:ln>
        </p:spPr>
        <p:style>
          <a:lnRef idx="2">
            <a:schemeClr val="accent1"/>
          </a:lnRef>
          <a:fillRef idx="0">
            <a:schemeClr val="accent1"/>
          </a:fillRef>
          <a:effectRef idx="1">
            <a:schemeClr val="accent1"/>
          </a:effectRef>
          <a:fontRef idx="minor">
            <a:schemeClr val="tx1"/>
          </a:fontRef>
        </p:style>
      </p:cxnSp>
      <p:sp>
        <p:nvSpPr>
          <p:cNvPr id="41" name="TextBox 40"/>
          <p:cNvSpPr txBox="1">
            <a:spLocks/>
          </p:cNvSpPr>
          <p:nvPr/>
        </p:nvSpPr>
        <p:spPr>
          <a:xfrm>
            <a:off x="7418070" y="4398264"/>
            <a:ext cx="1828800" cy="246221"/>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C400"/>
                </a:solidFill>
                <a:effectLst/>
                <a:uLnTx/>
                <a:uFillTx/>
                <a:latin typeface="Arial"/>
                <a:ea typeface="+mn-ea"/>
                <a:cs typeface="+mn-cs"/>
              </a:rPr>
              <a:t>churn 14→6.5%</a:t>
            </a:r>
          </a:p>
        </p:txBody>
      </p:sp>
      <p:sp>
        <p:nvSpPr>
          <p:cNvPr id="42" name="Oval 41"/>
          <p:cNvSpPr/>
          <p:nvPr/>
        </p:nvSpPr>
        <p:spPr>
          <a:xfrm>
            <a:off x="10533888" y="2423160"/>
            <a:ext cx="512064" cy="512064"/>
          </a:xfrm>
          <a:prstGeom prst="ellipse">
            <a:avLst/>
          </a:prstGeom>
          <a:solidFill>
            <a:srgbClr val="FF4B00"/>
          </a:solidFill>
          <a:ln w="12700">
            <a:solidFill>
              <a:srgbClr val="FF4B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43" name="TextBox 42"/>
          <p:cNvSpPr txBox="1">
            <a:spLocks/>
          </p:cNvSpPr>
          <p:nvPr/>
        </p:nvSpPr>
        <p:spPr>
          <a:xfrm>
            <a:off x="10149840" y="2130552"/>
            <a:ext cx="1280160" cy="215444"/>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4B00"/>
                </a:solidFill>
                <a:effectLst/>
                <a:uLnTx/>
                <a:uFillTx/>
                <a:latin typeface="Arial"/>
                <a:ea typeface="+mn-ea"/>
                <a:cs typeface="+mn-cs"/>
              </a:rPr>
              <a:t>EXPAND</a:t>
            </a:r>
          </a:p>
        </p:txBody>
      </p:sp>
      <p:sp>
        <p:nvSpPr>
          <p:cNvPr id="44" name="TextBox 43"/>
          <p:cNvSpPr txBox="1">
            <a:spLocks/>
          </p:cNvSpPr>
          <p:nvPr/>
        </p:nvSpPr>
        <p:spPr>
          <a:xfrm>
            <a:off x="9921240" y="3136392"/>
            <a:ext cx="1737360" cy="430887"/>
          </a:xfrm>
          <a:prstGeom prst="rect">
            <a:avLst/>
          </a:prstGeom>
          <a:noFill/>
          <a:ln/>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121212"/>
                </a:solidFill>
                <a:effectLst/>
                <a:uLnTx/>
                <a:uFillTx/>
                <a:latin typeface="Arial"/>
                <a:ea typeface="+mn-ea"/>
                <a:cs typeface="+mn-cs"/>
              </a:rPr>
              <a:t>Propensity +
win-back</a:t>
            </a:r>
          </a:p>
        </p:txBody>
      </p:sp>
      <p:cxnSp>
        <p:nvCxnSpPr>
          <p:cNvPr id="45" name="Connector 44"/>
          <p:cNvCxnSpPr/>
          <p:nvPr/>
        </p:nvCxnSpPr>
        <p:spPr>
          <a:xfrm>
            <a:off x="10789920" y="3877056"/>
            <a:ext cx="0" cy="384048"/>
          </a:xfrm>
          <a:prstGeom prst="line">
            <a:avLst/>
          </a:prstGeom>
          <a:ln w="25400">
            <a:solidFill>
              <a:srgbClr val="FFC400"/>
            </a:solidFill>
          </a:ln>
        </p:spPr>
        <p:style>
          <a:lnRef idx="2">
            <a:schemeClr val="accent1"/>
          </a:lnRef>
          <a:fillRef idx="0">
            <a:schemeClr val="accent1"/>
          </a:fillRef>
          <a:effectRef idx="1">
            <a:schemeClr val="accent1"/>
          </a:effectRef>
          <a:fontRef idx="minor">
            <a:schemeClr val="tx1"/>
          </a:fontRef>
        </p:style>
      </p:cxnSp>
      <p:sp>
        <p:nvSpPr>
          <p:cNvPr id="46" name="TextBox 45"/>
          <p:cNvSpPr txBox="1">
            <a:spLocks/>
          </p:cNvSpPr>
          <p:nvPr/>
        </p:nvSpPr>
        <p:spPr>
          <a:xfrm>
            <a:off x="9875520" y="4279392"/>
            <a:ext cx="1828800" cy="932688"/>
          </a:xfrm>
          <a:prstGeom prst="rect">
            <a:avLst/>
          </a:prstGeom>
          <a:noFill/>
          <a:ln/>
        </p:spPr>
        <p:txBody>
          <a:bodyPr wrap="square" lIns="0" tIns="0" rIns="0" bIns="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C400"/>
                </a:solidFill>
                <a:effectLst/>
                <a:uLnTx/>
                <a:uFillTx/>
                <a:latin typeface="Arial"/>
                <a:ea typeface="+mn-ea"/>
                <a:cs typeface="+mn-cs"/>
              </a:rPr>
              <a:t>NRR 102→128%
win-back 4→22%</a:t>
            </a:r>
          </a:p>
        </p:txBody>
      </p:sp>
      <p:sp>
        <p:nvSpPr>
          <p:cNvPr id="47" name="Rectangle 46"/>
          <p:cNvSpPr/>
          <p:nvPr/>
        </p:nvSpPr>
        <p:spPr>
          <a:xfrm>
            <a:off x="594360" y="5358384"/>
            <a:ext cx="10972800" cy="566928"/>
          </a:xfrm>
          <a:prstGeom prst="rect">
            <a:avLst/>
          </a:prstGeom>
          <a:solidFill>
            <a:srgbClr val="121212"/>
          </a:solidFill>
          <a:ln w="12700">
            <a:solidFill>
              <a:srgbClr val="12121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rial"/>
              <a:ea typeface="+mn-ea"/>
              <a:cs typeface="+mn-cs"/>
            </a:endParaRPr>
          </a:p>
        </p:txBody>
      </p:sp>
      <p:sp>
        <p:nvSpPr>
          <p:cNvPr id="48" name="TextBox 47"/>
          <p:cNvSpPr txBox="1">
            <a:spLocks/>
          </p:cNvSpPr>
          <p:nvPr/>
        </p:nvSpPr>
        <p:spPr>
          <a:xfrm>
            <a:off x="868680" y="5509593"/>
            <a:ext cx="10424160" cy="246221"/>
          </a:xfrm>
          <a:prstGeom prst="rect">
            <a:avLst/>
          </a:prstGeom>
          <a:noFill/>
          <a:ln/>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FFFF"/>
                </a:solidFill>
                <a:effectLst/>
                <a:uLnTx/>
                <a:uFillTx/>
                <a:latin typeface="Arial"/>
                <a:ea typeface="+mn-ea"/>
                <a:cs typeface="+mn-cs"/>
              </a:rPr>
              <a:t>PLG for self-service; field proof first for FSI.</a:t>
            </a:r>
          </a:p>
        </p:txBody>
      </p:sp>
      <p:sp>
        <p:nvSpPr>
          <p:cNvPr id="49" name="TextBox 48"/>
          <p:cNvSpPr txBox="1">
            <a:spLocks/>
          </p:cNvSpPr>
          <p:nvPr/>
        </p:nvSpPr>
        <p:spPr>
          <a:xfrm>
            <a:off x="566928" y="6416054"/>
            <a:ext cx="10469880" cy="123111"/>
          </a:xfrm>
          <a:prstGeom prst="rect">
            <a:avLst/>
          </a:prstGeom>
          <a:noFill/>
          <a:ln/>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8A857E"/>
                </a:solidFill>
                <a:effectLst/>
                <a:uLnTx/>
                <a:uFillTx/>
                <a:latin typeface="Arial"/>
                <a:ea typeface="+mn-ea"/>
                <a:cs typeface="+mn-cs"/>
              </a:rPr>
              <a:t>Internal outcomes are candidate-provided; public source supports product context. NRR = net revenue retention; ASO = App Store Optimization</a:t>
            </a:r>
          </a:p>
        </p:txBody>
      </p:sp>
      <p:sp>
        <p:nvSpPr>
          <p:cNvPr id="95" name="Stage Glyph 0"/>
          <p:cNvSpPr/>
          <p:nvPr/>
        </p:nvSpPr>
        <p:spPr>
          <a:xfrm>
            <a:off x="841248" y="2560320"/>
            <a:ext cx="237744" cy="237744"/>
          </a:xfrm>
          <a:prstGeom prst="sun">
            <a:avLst/>
          </a:prstGeom>
          <a:solidFill>
            <a:srgbClr val="FFFFFF"/>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6" name="Stage Glyph 1"/>
          <p:cNvSpPr/>
          <p:nvPr/>
        </p:nvSpPr>
        <p:spPr>
          <a:xfrm>
            <a:off x="3298698" y="2560320"/>
            <a:ext cx="237744" cy="237744"/>
          </a:xfrm>
          <a:prstGeom prst="flowChartDecision">
            <a:avLst/>
          </a:prstGeom>
          <a:solidFill>
            <a:srgbClr val="FFFFFF"/>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7" name="Stage Glyph 2"/>
          <p:cNvSpPr/>
          <p:nvPr/>
        </p:nvSpPr>
        <p:spPr>
          <a:xfrm>
            <a:off x="5756148" y="2560320"/>
            <a:ext cx="237744" cy="237744"/>
          </a:xfrm>
          <a:prstGeom prst="lightningBolt">
            <a:avLst/>
          </a:prstGeom>
          <a:solidFill>
            <a:srgbClr val="FFFFFF"/>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8" name="Stage Glyph 3"/>
          <p:cNvSpPr/>
          <p:nvPr/>
        </p:nvSpPr>
        <p:spPr>
          <a:xfrm>
            <a:off x="8213598" y="2560320"/>
            <a:ext cx="237744" cy="237744"/>
          </a:xfrm>
          <a:prstGeom prst="circularArrow">
            <a:avLst/>
          </a:prstGeom>
          <a:solidFill>
            <a:srgbClr val="FFFFFF"/>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99" name="Stage Glyph 4"/>
          <p:cNvSpPr/>
          <p:nvPr/>
        </p:nvSpPr>
        <p:spPr>
          <a:xfrm>
            <a:off x="10671048" y="2560320"/>
            <a:ext cx="237744" cy="237744"/>
          </a:xfrm>
          <a:prstGeom prst="upArrow">
            <a:avLst/>
          </a:prstGeom>
          <a:solidFill>
            <a:srgbClr val="FFFFFF"/>
          </a:solidFill>
          <a:ln>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pic>
        <p:nvPicPr>
          <p:cNvPr id="100" name="Official Mistral footer symbol" descr="image.png"/>
          <p:cNvPicPr>
            <a:picLocks noChangeAspect="1"/>
          </p:cNvPicPr>
          <p:nvPr/>
        </p:nvPicPr>
        <p:blipFill>
          <a:blip r:embed="rId3"/>
          <a:srcRect/>
          <a:stretch>
            <a:fillRect/>
          </a:stretch>
        </p:blipFill>
        <p:spPr>
          <a:xfrm>
            <a:off x="11594592" y="6400800"/>
            <a:ext cx="228600" cy="164592"/>
          </a:xfrm>
          <a:prstGeom prst="rect">
            <a:avLst/>
          </a:prstGeom>
          <a:ln/>
        </p:spPr>
      </p:pic>
      <p:pic>
        <p:nvPicPr>
          <p:cNvPr id="101" name="Official Mistral header symbol" descr="image.png"/>
          <p:cNvPicPr>
            <a:picLocks noChangeAspect="1"/>
          </p:cNvPicPr>
          <p:nvPr/>
        </p:nvPicPr>
        <p:blipFill>
          <a:blip r:embed="rId3"/>
          <a:stretch>
            <a:fillRect/>
          </a:stretch>
        </p:blipFill>
        <p:spPr>
          <a:xfrm>
            <a:off x="182880" y="182880"/>
            <a:ext cx="228600" cy="164592"/>
          </a:xfrm>
          <a:prstGeom prst="rect">
            <a:avLst/>
          </a:prstGeom>
          <a:ln/>
        </p:spPr>
      </p:pic>
      <p:sp>
        <p:nvSpPr>
          <p:cNvPr id="300" name="Source Footnote"/>
          <p:cNvSpPr txBox="1"/>
          <p:nvPr/>
        </p:nvSpPr>
        <p:spPr>
          <a:xfrm>
            <a:off x="566928" y="6172200"/>
            <a:ext cx="10469880" cy="118872"/>
          </a:xfrm>
          <a:prstGeom prst="rect">
            <a:avLst/>
          </a:prstGeom>
          <a:noFill/>
          <a:ln/>
        </p:spPr>
        <p:txBody>
          <a:bodyPr wrap="square" lIns="0" tIns="0" rIns="0" bIns="0" anchor="ctr">
            <a:spAutoFit/>
          </a:bodyPr>
          <a:lstStyle/>
          <a:p>
            <a:pPr marL="0" indent="0" algn="l">
              <a:buNone/>
            </a:pPr>
            <a:r>
              <a:rPr lang="en-US" sz="800" b="0" i="0" u="none" kern="1200">
                <a:solidFill>
                  <a:srgbClr val="8A857E"/>
                </a:solidFill>
                <a:latin typeface="Arial"/>
              </a:rPr>
              <a:t>Source: https://azure.microsoft.com/en-us/blog/the-next-wave-of-azure-innovation-azure-ai-foundry-intelligent-data-and-more/</a:t>
            </a:r>
          </a:p>
        </p:txBody>
      </p:sp>
    </p:spTree>
  </p:cSld>
  <p:clrMapOvr>
    <a:masterClrMapping/>
  </p:clrMapOvr>
</p:sld>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ns1="http://schemas.openxmlformats.org/officeDocument/2006/docPropsVTypes">
  <TotalTime>467</TotalTime>
  <Words>4212</Words>
  <Application>Microsoft Office PowerPoint</Application>
  <PresentationFormat>Widescreen</PresentationFormat>
  <Paragraphs>458</Paragraphs>
  <Slides>7</Slides>
  <Notes>7</Notes>
  <HiddenSlides>0</HiddenSlides>
  <MMClips>0</MMClips>
  <ScaleCrop>false</ScaleCrop>
  <HeadingPairs>
    <ns1:vector size="6" baseType="variant">
      <ns1:variant>
        <ns1:lpstr>Fonts Used</ns1:lpstr>
      </ns1:variant>
      <ns1:variant>
        <ns1:i4>2</ns1:i4>
      </ns1:variant>
      <ns1:variant>
        <ns1:lpstr>Theme</ns1:lpstr>
      </ns1:variant>
      <ns1:variant>
        <ns1:i4>1</ns1:i4>
      </ns1:variant>
      <ns1:variant>
        <ns1:lpstr>Slide Titles</ns1:lpstr>
      </ns1:variant>
      <ns1:variant>
        <ns1:i4>7</ns1:i4>
      </ns1:variant>
    </ns1:vector>
  </HeadingPairs>
  <TitlesOfParts>
    <ns1:vector size="10" baseType="lpstr">
      <ns1:lpstr>Aptos</ns1:lpstr>
      <ns1:lpstr>Arial</ns1:lpstr>
      <ns1:lpstr>2_Office Theme</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Mistral AI - Author Profile and Team Background</dc:title>
  <dc:subject>Author profile, experience, and product marketing portfolio</dc:subject>
  <dc:creator>Shiv, Prospective PMM, Mistral Studio</dc:creator>
  <cp:keywords>mistral-ai, author-profile, product-marketing, portfolio</cp:keywords>
  <cp:lastModifiedBy>Shivam Singh</cp:lastModifiedBy>
  <cp:revision>129</cp:revision>
  <dcterms:created xsi:type="dcterms:W3CDTF">2026-08-16T20:55:47Z</dcterms:created>
  <dcterms:modified xsi:type="dcterms:W3CDTF">2026-08-19T07:40:29Z</dcterms:modified>
  <dc:description>Portfolio presentation covering relevant product marketing, industry GTM, and AI platform experience.</dc:description>
</cp:coreProperties>
</file>