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
  </p:notesMasterIdLst>
  <p:sldIdLst>
    <p:sldId id="257" r:id="rId2"/>
    <p:sldId id="258" r:id="rId3"/>
    <p:sldId id="259" r:id="rId4"/>
    <p:sldId id="260" r:id="rId5"/>
    <p:sldId id="261" r:id="rId6"/>
    <p:sldId id="262"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119" autoAdjust="0"/>
  </p:normalViewPr>
  <p:slideViewPr>
    <p:cSldViewPr snapToGrid="0">
      <p:cViewPr varScale="1">
        <p:scale>
          <a:sx n="85" d="100"/>
          <a:sy n="85" d="100"/>
        </p:scale>
        <p:origin x="62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E07796B-6E7C-4F10-9803-11935AD4BC11}"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7E2B38-EC44-4B44-8575-CA30B2FCCCF1}" type="slidenum">
              <a:rPr lang="en-US" smtClean="0"/>
              <a:t>‹#›</a:t>
            </a:fld>
            <a:endParaRPr lang="en-US"/>
          </a:p>
        </p:txBody>
      </p:sp>
    </p:spTree>
    <p:extLst>
      <p:ext uri="{BB962C8B-B14F-4D97-AF65-F5344CB8AC3E}">
        <p14:creationId xmlns:p14="http://schemas.microsoft.com/office/powerpoint/2010/main" val="41120166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aboutamazon.com/news/retail/amazon-agentic-ai-gen-ai-shopping?utm_source=chatgpt.com"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global.rakuten.com/corp/news/press/2024/0430_01.html?utm_source=chatgpt.com"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azure.microsoft.com/en-us/blog/the-next-wave-of-azure-innovation-azure-ai-foundry-intelligent-data-and-more/?utm_source=chatgpt.com"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microsoft.com/en-us/microsoft-cloud/blog/financial-services/2021/02/24/announcing-microsoft-cloud-for-financial-services/?utm_source=chatgpt.com"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aws.amazon.com/blogs/aws/introducing-amazon-bedrock-agentcore-securely-deploy-and-operate-ai-agents-at-any-scale/?utm_source=chatgpt.com"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Tell me about yourself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sit at the intersection of technical AI products and commercialization. My strongest work has been taking complex AI or data capabilities, finding the buyer/user problem that matters, simplifying the narrative, and then using launches, adoption data and field feedback to turn that story into measurable usage and revenue. I've spent ten years making complex, regulated technology (AI and cloud capabilities) buyable(into products customers can understand, adopt and buy).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Mistral needs a senior product marketer who can connect two adoption motions in one role: </a:t>
            </a:r>
            <a:r>
              <a:rPr lang="en-US" b="1" dirty="0">
                <a:effectLst/>
              </a:rPr>
              <a:t>self-service/prosumer evaluation</a:t>
            </a:r>
            <a:r>
              <a:rPr lang="en-US" dirty="0"/>
              <a:t> and </a:t>
            </a:r>
            <a:r>
              <a:rPr lang="en-US" b="1" dirty="0">
                <a:effectLst/>
              </a:rPr>
              <a:t>enterprise production adoption</a:t>
            </a:r>
            <a:r>
              <a:rPr lang="en-US" dirty="0"/>
              <a:t>. I have worked across that full journey—from customer insight and AI positioning, through product-led adoption, to enterprise workflow integration and field enablement.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Mistral Studio is exactly that problem — the models are good; the job is making enterprise builders trust them enough to ship to production. Studio's opportunity is to turn Mistral from a model developers experiment with into the AI platform enterprises build and operate 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b="1" dirty="0"/>
              <a:t>What technical or developer products have you marketed?</a:t>
            </a:r>
            <a:br>
              <a:rPr lang="en-US" dirty="0"/>
            </a:br>
            <a:r>
              <a:rPr lang="en-US" dirty="0"/>
              <a:t>My experience spans GenAI platforms, cloud products, AI workflows, data infrastructure, and regulated enterprise software. Most recently, I’ve worked on agentic AI products at AWS, including an AI shopping assistant and an enterprise agent platform connecting foundation models to private data, controls, approvals, and business systems. I’ve also worked on AI platforms at Rakuten and developer-focused cloud products at Microsoft. </a:t>
            </a:r>
          </a:p>
          <a:p>
            <a:endParaRPr lang="en-US" dirty="0"/>
          </a:p>
          <a:p>
            <a:r>
              <a:rPr lang="en-US" b="1" dirty="0"/>
              <a:t>Have you worked across enterprise and self-serve/prosumer motions?</a:t>
            </a:r>
            <a:br>
              <a:rPr lang="en-US" dirty="0"/>
            </a:br>
            <a:r>
              <a:rPr lang="en-US" dirty="0"/>
              <a:t>I’ve worked across consumer AI, self-serve cloud products, developers, merchants, and large enterprises, so I’m comfortable with both product-led adoption and enterprise sales motions.</a:t>
            </a:r>
          </a:p>
          <a:p>
            <a:r>
              <a:rPr lang="en-US" dirty="0"/>
              <a:t>At AWS, I’ve worked on consumer-facing AI experiences as well as enterprise AI platforms for security-conscious and regulated customers. That taught me how to keep one core product story while changing the proof points and buying journey for each audience. </a:t>
            </a:r>
          </a:p>
          <a:p>
            <a:endParaRPr lang="en-US" b="1" dirty="0"/>
          </a:p>
          <a:p>
            <a:r>
              <a:rPr lang="en-US" b="1" dirty="0"/>
              <a:t>Why Mistral?</a:t>
            </a:r>
          </a:p>
          <a:p>
            <a:r>
              <a:rPr lang="en-US" dirty="0"/>
              <a:t>AWS has given me tremendous exposure to scaling enterprise AI, but Mistral offers something different: the opportunity to shape the category narrative, at a company where product marketing can materially influence how the market understands the product.</a:t>
            </a:r>
            <a:endParaRPr lang="en-US" b="1"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One:</a:t>
            </a:r>
            <a:r>
              <a:rPr lang="en-US" dirty="0"/>
              <a:t> I've spent four years watching regulated buyers want frontier AI and be unable to legally deploy it. Mistral is the only credible answer for that buyer in Europe, and I've sold to that buyer at Microsoft and AWS.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Two:</a:t>
            </a:r>
            <a:r>
              <a:rPr lang="en-US" dirty="0"/>
              <a:t> the open-weight bet is about to be decided — the next 18 months determine whether enterprises standardize on rented APIs or owned models. </a:t>
            </a:r>
            <a:r>
              <a:rPr lang="en-US" b="1" dirty="0"/>
              <a:t>I'd rather be the person arguing the second case than the tenth PMM at a company arguing the first.</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Mistral’s differentiation is bigger than model benchmarks. Mistral can offer enterprises much more control over how they build and deploy AI — particularly around sovereignty, deployment choice and open models. The PMM opportunity is to turn those technical advantages into a much simpler customer story: </a:t>
            </a:r>
            <a:r>
              <a:rPr lang="en-US" b="1" dirty="0"/>
              <a:t>why should an enterprise build and run production AI on Mistral rather than just consume another model API? </a:t>
            </a:r>
            <a:r>
              <a:rPr lang="en-US" dirty="0"/>
              <a:t>The interesting challenge with Studio is connecting the entire journey from developer experimentation to enterprise production. </a:t>
            </a:r>
          </a:p>
          <a:p>
            <a:endParaRPr lang="en-US" dirty="0"/>
          </a:p>
          <a:p>
            <a:r>
              <a:rPr lang="en-US" b="1" dirty="0"/>
              <a:t>Questions</a:t>
            </a:r>
          </a:p>
          <a:p>
            <a:r>
              <a:rPr lang="en-US" dirty="0"/>
              <a:t>How is ownership divided between Studio product marketing, Developer Relations, solutions PMM and the GTM organization?</a:t>
            </a:r>
          </a:p>
          <a:p>
            <a:r>
              <a:rPr lang="en-US" dirty="0"/>
              <a:t>What is the biggest outcome Mistral wants this person to change — Studio's positioning, developer adoption, enterprise pipeline, or competitive win rate?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My approach to technical PMM is: </a:t>
            </a:r>
            <a:r>
              <a:rPr lang="en-US" b="1" dirty="0"/>
              <a:t>start with the customer job, prove the value in the product, and measure whether users reach real value.</a:t>
            </a:r>
          </a:p>
          <a:p>
            <a:endParaRPr lang="en-US" dirty="0"/>
          </a:p>
          <a:p>
            <a:r>
              <a:rPr lang="en-US" dirty="0"/>
              <a:t>At Amazon, I worked on </a:t>
            </a:r>
            <a:r>
              <a:rPr lang="en-US" b="1" dirty="0"/>
              <a:t>Rufus, the GenAI shopping assistant</a:t>
            </a:r>
            <a:r>
              <a:rPr lang="en-US" dirty="0"/>
              <a:t>, shifting the experience from open-ended conversation toward </a:t>
            </a:r>
            <a:r>
              <a:rPr lang="en-US" b="1" dirty="0"/>
              <a:t>decision support and purchase completion</a:t>
            </a:r>
            <a:r>
              <a:rPr lang="en-US" dirty="0"/>
              <a:t>. Behavioral telemetry showed that conversation itself wasn’t the job-to-be-done. The real job was helping customers </a:t>
            </a:r>
            <a:r>
              <a:rPr lang="en-US" b="1" dirty="0"/>
              <a:t>research, compare, and make confident purchase decisions</a:t>
            </a:r>
            <a:r>
              <a:rPr lang="en-US" dirty="0"/>
              <a:t>.</a:t>
            </a:r>
          </a:p>
          <a:p>
            <a:endParaRPr lang="en-US" dirty="0"/>
          </a:p>
          <a:p>
            <a:r>
              <a:rPr lang="en-US" dirty="0"/>
              <a:t>Through prompt, retrieval, and product experimentation, we drove </a:t>
            </a:r>
            <a:r>
              <a:rPr lang="en-US" b="1" dirty="0"/>
              <a:t>25% adoption among eligible users</a:t>
            </a:r>
            <a:r>
              <a:rPr lang="en-US" dirty="0"/>
              <a:t>, improved </a:t>
            </a:r>
            <a:r>
              <a:rPr lang="en-US" b="1" dirty="0"/>
              <a:t>favorability among exposed users from 55% → 70%</a:t>
            </a:r>
            <a:r>
              <a:rPr lang="en-US" dirty="0"/>
              <a:t>, increased </a:t>
            </a:r>
            <a:r>
              <a:rPr lang="en-US" b="1" dirty="0"/>
              <a:t>session depth 15%</a:t>
            </a:r>
            <a:r>
              <a:rPr lang="en-US" dirty="0"/>
              <a:t>, and reduced the </a:t>
            </a:r>
            <a:r>
              <a:rPr lang="en-US" b="1" dirty="0"/>
              <a:t>evaluated hallucination rate to 2.8% on our internal eval set</a:t>
            </a:r>
            <a:r>
              <a:rPr lang="en-US" dirty="0"/>
              <a:t>.</a:t>
            </a:r>
          </a:p>
          <a:p>
            <a:endParaRPr lang="en-US" b="1" dirty="0"/>
          </a:p>
          <a:p>
            <a:r>
              <a:rPr lang="en-US" b="1" dirty="0"/>
              <a:t>Positioning</a:t>
            </a:r>
          </a:p>
          <a:p>
            <a:r>
              <a:rPr lang="en-US" b="1" dirty="0"/>
              <a:t>Customer job → message shift → proof → result</a:t>
            </a:r>
            <a:endParaRPr lang="en-US" dirty="0"/>
          </a:p>
          <a:p>
            <a:r>
              <a:rPr lang="en-US" dirty="0"/>
              <a:t>The shift was: </a:t>
            </a:r>
            <a:r>
              <a:rPr lang="en-US" b="1" dirty="0"/>
              <a:t>“Chat with AI” → “Make better purchase decisions.” </a:t>
            </a:r>
            <a:r>
              <a:rPr lang="en-US" dirty="0"/>
              <a:t>I market technical products by replacing claims with </a:t>
            </a:r>
            <a:r>
              <a:rPr lang="en-US" b="1" dirty="0"/>
              <a:t>evidence artifacts</a:t>
            </a:r>
            <a:r>
              <a:rPr lang="en-US" dirty="0"/>
              <a:t>: customer behavior, product capability, evals, and measurable outcomes.</a:t>
            </a:r>
          </a:p>
          <a:p>
            <a:endParaRPr lang="en-US" dirty="0"/>
          </a:p>
          <a:p>
            <a:r>
              <a:rPr lang="en-US" b="1" dirty="0"/>
              <a:t>Launch + measurement</a:t>
            </a:r>
          </a:p>
          <a:p>
            <a:r>
              <a:rPr lang="en-US" dirty="0"/>
              <a:t>I define launch gates across </a:t>
            </a:r>
            <a:r>
              <a:rPr lang="en-US" b="1" dirty="0"/>
              <a:t>response quality, retrieval, guardrails, adoption, and economics</a:t>
            </a:r>
            <a:r>
              <a:rPr lang="en-US" dirty="0"/>
              <a:t>. </a:t>
            </a:r>
            <a:r>
              <a:rPr lang="en-US" b="1" dirty="0"/>
              <a:t>If I can’t name the gate, I don’t ship the launch.</a:t>
            </a:r>
            <a:endParaRPr lang="en-US" dirty="0"/>
          </a:p>
          <a:p>
            <a:r>
              <a:rPr lang="en-US" dirty="0"/>
              <a:t>For Rufus, I measured:</a:t>
            </a:r>
          </a:p>
          <a:p>
            <a:pPr lvl="0"/>
            <a:r>
              <a:rPr lang="en-US" b="1" dirty="0"/>
              <a:t>Leading:</a:t>
            </a:r>
            <a:r>
              <a:rPr lang="en-US" dirty="0"/>
              <a:t> trust, response quality, message resonance</a:t>
            </a:r>
          </a:p>
          <a:p>
            <a:pPr lvl="0"/>
            <a:r>
              <a:rPr lang="en-US" b="1" dirty="0"/>
              <a:t>Activation:</a:t>
            </a:r>
            <a:r>
              <a:rPr lang="en-US" dirty="0"/>
              <a:t> first meaningful shopping-assistant use</a:t>
            </a:r>
          </a:p>
          <a:p>
            <a:pPr lvl="0"/>
            <a:r>
              <a:rPr lang="en-US" b="1" dirty="0"/>
              <a:t>Engagement:</a:t>
            </a:r>
            <a:r>
              <a:rPr lang="en-US" dirty="0"/>
              <a:t> repeat usage, session depth</a:t>
            </a:r>
          </a:p>
          <a:p>
            <a:pPr lvl="0"/>
            <a:r>
              <a:rPr lang="en-US" b="1" dirty="0"/>
              <a:t>Commercial:</a:t>
            </a:r>
            <a:r>
              <a:rPr lang="en-US" dirty="0"/>
              <a:t> conversion and purchase completion</a:t>
            </a:r>
          </a:p>
          <a:p>
            <a:endParaRPr lang="en-US" b="1" dirty="0"/>
          </a:p>
          <a:p>
            <a:r>
              <a:rPr lang="en-US" b="1" dirty="0"/>
              <a:t>Internationalization</a:t>
            </a:r>
          </a:p>
          <a:p>
            <a:r>
              <a:rPr lang="en-US" dirty="0"/>
              <a:t>For </a:t>
            </a:r>
            <a:r>
              <a:rPr lang="en-US" b="1" dirty="0"/>
              <a:t>Rufus in Japan</a:t>
            </a:r>
            <a:r>
              <a:rPr lang="en-US" dirty="0"/>
              <a:t>, localization meant more than translation: </a:t>
            </a:r>
            <a:r>
              <a:rPr lang="en-US" b="1" dirty="0"/>
              <a:t>tone, tokenization, honorifics, and interaction design</a:t>
            </a:r>
            <a:r>
              <a:rPr lang="en-US" dirty="0"/>
              <a:t>. I turned that work into a </a:t>
            </a:r>
            <a:r>
              <a:rPr lang="en-US" b="1" dirty="0"/>
              <a:t>reusable internationalization template</a:t>
            </a:r>
            <a:r>
              <a:rPr lang="en-US" dirty="0"/>
              <a:t> for future markets.</a:t>
            </a:r>
          </a:p>
          <a:p>
            <a:endParaRPr lang="en-US" dirty="0"/>
          </a:p>
          <a:p>
            <a:r>
              <a:rPr lang="en-US" b="1" dirty="0"/>
              <a:t>External validation</a:t>
            </a:r>
          </a:p>
          <a:p>
            <a:r>
              <a:rPr lang="en-US" dirty="0"/>
              <a:t>The broader thesis was later validated at scale: Amazon publicly reported that Rufus users were </a:t>
            </a:r>
            <a:r>
              <a:rPr lang="en-US" b="1" dirty="0"/>
              <a:t>60%+ more likely to purchase</a:t>
            </a:r>
            <a:r>
              <a:rPr lang="en-US" dirty="0"/>
              <a:t>, and the product eventually reached </a:t>
            </a:r>
            <a:r>
              <a:rPr lang="en-US" b="1" dirty="0"/>
              <a:t>300M+ customers</a:t>
            </a:r>
            <a:r>
              <a:rPr lang="en-US" dirty="0"/>
              <a:t> and nearly </a:t>
            </a:r>
            <a:r>
              <a:rPr lang="en-US" b="1" dirty="0"/>
              <a:t>$12B in incremental annualized sales</a:t>
            </a:r>
            <a:r>
              <a:rPr lang="en-US" dirty="0"/>
              <a:t>.</a:t>
            </a:r>
          </a:p>
          <a:p>
            <a:endParaRPr lang="en-US" dirty="0"/>
          </a:p>
          <a:p>
            <a:r>
              <a:rPr lang="en-US" b="1" dirty="0">
                <a:effectLst/>
              </a:rPr>
              <a:t>My role:</a:t>
            </a:r>
            <a:r>
              <a:rPr lang="en-US" dirty="0"/>
              <a:t> diagnosed the customer job → reframed the product promise → aligned product/science/GTM around proof of that promise → measured adoption and trust → created a reusable localization pattern. </a:t>
            </a:r>
            <a:r>
              <a:rPr lang="en-US" b="1" dirty="0">
                <a:effectLst/>
              </a:rPr>
              <a:t>AI positioning should begin with the job the customer should trust the product to do. The product, evaluation framework, and launch criteria then need to prove that same promise.</a:t>
            </a:r>
          </a:p>
          <a:p>
            <a:endParaRPr lang="en-US" b="1" dirty="0">
              <a:effectLst/>
            </a:endParaRPr>
          </a:p>
          <a:p>
            <a:r>
              <a:rPr lang="en-US" b="1" dirty="0"/>
              <a:t>Amazon Rufus — positioning, adoption, purchase impact</a:t>
            </a:r>
            <a:br>
              <a:rPr lang="en-US" dirty="0"/>
            </a:br>
            <a:r>
              <a:rPr lang="en-US" dirty="0">
                <a:hlinkClick r:id="rId3"/>
              </a:rPr>
              <a:t>https://www.aboutamazon.com/news/retail/amazon-agentic-ai-gen-ai-shopping</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Rakuten, I worked on the </a:t>
            </a:r>
            <a:r>
              <a:rPr lang="en-US" b="1" dirty="0"/>
              <a:t>merchant GenAI platform that later became part of RMS AI Assistant</a:t>
            </a:r>
            <a:r>
              <a:rPr lang="en-US" dirty="0"/>
              <a:t>, serving </a:t>
            </a:r>
            <a:r>
              <a:rPr lang="en-US" b="1" dirty="0"/>
              <a:t>50K+ Rakuten </a:t>
            </a:r>
            <a:r>
              <a:rPr lang="en-US" b="1" dirty="0" err="1"/>
              <a:t>Ichiba</a:t>
            </a:r>
            <a:r>
              <a:rPr lang="en-US" b="1" dirty="0"/>
              <a:t> merchants</a:t>
            </a:r>
            <a:r>
              <a:rPr lang="en-US" dirty="0"/>
              <a:t>, alongside a broader AI strategy spanning </a:t>
            </a:r>
            <a:r>
              <a:rPr lang="en-US" b="1" dirty="0"/>
              <a:t>70+ Rakuten services</a:t>
            </a:r>
            <a:r>
              <a:rPr lang="en-US" dirty="0"/>
              <a:t>.</a:t>
            </a:r>
          </a:p>
          <a:p>
            <a:endParaRPr lang="en-US" dirty="0"/>
          </a:p>
          <a:p>
            <a:r>
              <a:rPr lang="en-US" dirty="0"/>
              <a:t>My focus was </a:t>
            </a:r>
            <a:r>
              <a:rPr lang="en-US" b="1" dirty="0"/>
              <a:t>market intelligence, differentiation, adoption, and product-market fit</a:t>
            </a:r>
            <a:r>
              <a:rPr lang="en-US" dirty="0"/>
              <a:t>.</a:t>
            </a:r>
          </a:p>
          <a:p>
            <a:r>
              <a:rPr lang="en-US" b="1" dirty="0"/>
              <a:t>Market signal → merchant workflow → positioning → roadmap → adoption</a:t>
            </a:r>
            <a:endParaRPr lang="en-US" dirty="0"/>
          </a:p>
          <a:p>
            <a:endParaRPr lang="en-US" b="1" dirty="0"/>
          </a:p>
          <a:p>
            <a:r>
              <a:rPr lang="en-US" b="1" dirty="0"/>
              <a:t>Differentiation</a:t>
            </a:r>
          </a:p>
          <a:p>
            <a:r>
              <a:rPr lang="en-US" dirty="0"/>
              <a:t>In AI, model capabilities converge quickly. The durable advantage was: </a:t>
            </a:r>
            <a:r>
              <a:rPr lang="en-US" b="1" dirty="0"/>
              <a:t>Model → proprietary context → workflow → economics → distribution</a:t>
            </a:r>
            <a:endParaRPr lang="en-US" dirty="0"/>
          </a:p>
          <a:p>
            <a:r>
              <a:rPr lang="en-US" dirty="0"/>
              <a:t>The thesis was: </a:t>
            </a:r>
            <a:r>
              <a:rPr lang="en-US" b="1" dirty="0"/>
              <a:t>“Buy intelligence; build context.”</a:t>
            </a:r>
            <a:endParaRPr lang="en-US" dirty="0"/>
          </a:p>
          <a:p>
            <a:r>
              <a:rPr lang="en-US" dirty="0"/>
              <a:t>Rather than compete on the model itself, we focused on Rakuten’s proprietary merchant context, distribution, and high-frequency workflows inside RMS.</a:t>
            </a:r>
          </a:p>
          <a:p>
            <a:endParaRPr lang="en-US" b="1" dirty="0"/>
          </a:p>
          <a:p>
            <a:r>
              <a:rPr lang="en-US" b="1" dirty="0"/>
              <a:t>Messaging + roadmap pivot</a:t>
            </a:r>
          </a:p>
          <a:p>
            <a:r>
              <a:rPr lang="en-US" dirty="0"/>
              <a:t>We initially explored a standalone merchant chatbot positioned as </a:t>
            </a:r>
            <a:r>
              <a:rPr lang="en-US" b="1" dirty="0"/>
              <a:t>“an AI assistant for your store.”</a:t>
            </a:r>
            <a:r>
              <a:rPr lang="en-US" dirty="0"/>
              <a:t> Adoption lagged because the promise was broader than the value users experienced.</a:t>
            </a:r>
          </a:p>
          <a:p>
            <a:endParaRPr lang="en-US" dirty="0"/>
          </a:p>
          <a:p>
            <a:r>
              <a:rPr lang="en-US" dirty="0"/>
              <a:t>I helped </a:t>
            </a:r>
            <a:r>
              <a:rPr lang="en-US" b="1" dirty="0"/>
              <a:t>deprioritize the standalone chatbot as the primary experience</a:t>
            </a:r>
            <a:r>
              <a:rPr lang="en-US" dirty="0"/>
              <a:t> and shift investment toward embedded workflows such as </a:t>
            </a:r>
            <a:r>
              <a:rPr lang="en-US" b="1" dirty="0"/>
              <a:t>product listing, customer support, and sales analysis</a:t>
            </a:r>
            <a:r>
              <a:rPr lang="en-US" dirty="0"/>
              <a:t>.</a:t>
            </a:r>
          </a:p>
          <a:p>
            <a:endParaRPr lang="en-US" dirty="0"/>
          </a:p>
          <a:p>
            <a:r>
              <a:rPr lang="en-US" dirty="0"/>
              <a:t>The sharper value proposition became: </a:t>
            </a:r>
            <a:r>
              <a:rPr lang="en-US" b="1" dirty="0"/>
              <a:t>“List a product in 12 minutes instead of 45.” </a:t>
            </a:r>
            <a:r>
              <a:rPr lang="en-US" dirty="0"/>
              <a:t>That shift improved product-market fit and, internally, drove </a:t>
            </a:r>
            <a:r>
              <a:rPr lang="en-US" b="1" dirty="0"/>
              <a:t>~40% adoption and +15% conversion</a:t>
            </a:r>
            <a:r>
              <a:rPr lang="en-US" dirty="0"/>
              <a:t>.</a:t>
            </a:r>
          </a:p>
          <a:p>
            <a:endParaRPr lang="en-US" dirty="0"/>
          </a:p>
          <a:p>
            <a:r>
              <a:rPr lang="en-US" b="1" dirty="0">
                <a:effectLst/>
              </a:rPr>
              <a:t>My role:</a:t>
            </a:r>
            <a:r>
              <a:rPr lang="en-US" dirty="0"/>
              <a:t> evaluated where AI could create defensible value → defined the “buy intelligence, build context” thesis → used product and economic evidence to redirect the roadmap → embedded AI into high-value merchant workflows → measured adoption and business impact. </a:t>
            </a:r>
            <a:r>
              <a:rPr lang="en-US" b="1" dirty="0">
                <a:effectLst/>
              </a:rPr>
              <a:t>In enterprise AI, the model is often not the durable moat. Proprietary context, integration into an important workflow, distribution, and measurable economics are more defensible.</a:t>
            </a:r>
          </a:p>
          <a:p>
            <a:endParaRPr lang="en-US" b="1" dirty="0">
              <a:effectLst/>
            </a:endParaRPr>
          </a:p>
          <a:p>
            <a:r>
              <a:rPr lang="en-US" b="1" dirty="0"/>
              <a:t>Rakuten RMS AI Assistant — exact product, merchant scale, workflows</a:t>
            </a:r>
            <a:br>
              <a:rPr lang="en-US" dirty="0"/>
            </a:br>
            <a:r>
              <a:rPr lang="en-US" dirty="0">
                <a:hlinkClick r:id="rId3"/>
              </a:rPr>
              <a:t>https://global.rakuten.com/corp/news/press/2024/0430_01.html</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Microsoft, I worked on </a:t>
            </a:r>
            <a:r>
              <a:rPr lang="en-US" b="1" dirty="0"/>
              <a:t>Azure AI platform growth and enterprise GTM</a:t>
            </a:r>
            <a:r>
              <a:rPr lang="en-US" dirty="0"/>
              <a:t>, across the developer lifecycle that would later become central to </a:t>
            </a:r>
            <a:r>
              <a:rPr lang="en-US" b="1" dirty="0"/>
              <a:t>Azure AI Studio and Foundry</a:t>
            </a:r>
            <a:r>
              <a:rPr lang="en-US" dirty="0"/>
              <a:t>.</a:t>
            </a:r>
          </a:p>
          <a:p>
            <a:endParaRPr lang="en-US" dirty="0"/>
          </a:p>
          <a:p>
            <a:r>
              <a:rPr lang="en-US" dirty="0"/>
              <a:t>The journey was: </a:t>
            </a:r>
            <a:r>
              <a:rPr lang="en-US" b="1" dirty="0"/>
              <a:t>Discover → evaluate → deploy → production → expand</a:t>
            </a:r>
            <a:endParaRPr lang="en-US" dirty="0"/>
          </a:p>
          <a:p>
            <a:endParaRPr lang="en-US" dirty="0"/>
          </a:p>
          <a:p>
            <a:r>
              <a:rPr lang="en-US" dirty="0"/>
              <a:t>I focused on onboarding, activation, retention, expansion, and win-back. Internally, that work drove </a:t>
            </a:r>
            <a:r>
              <a:rPr lang="en-US" b="1" dirty="0"/>
              <a:t>activation +262%</a:t>
            </a:r>
            <a:r>
              <a:rPr lang="en-US" dirty="0"/>
              <a:t>, increased </a:t>
            </a:r>
            <a:r>
              <a:rPr lang="en-US" b="1" dirty="0"/>
              <a:t>NRR from 102% → 128%</a:t>
            </a:r>
            <a:r>
              <a:rPr lang="en-US" dirty="0"/>
              <a:t>, reduced </a:t>
            </a:r>
            <a:r>
              <a:rPr lang="en-US" b="1" dirty="0"/>
              <a:t>churn from 14% → 6.5%</a:t>
            </a:r>
            <a:r>
              <a:rPr lang="en-US" dirty="0"/>
              <a:t>, and improved </a:t>
            </a:r>
            <a:r>
              <a:rPr lang="en-US" b="1" dirty="0"/>
              <a:t>win-back from 4% → 22%</a:t>
            </a:r>
            <a:r>
              <a:rPr lang="en-US" dirty="0"/>
              <a:t>.</a:t>
            </a:r>
          </a:p>
          <a:p>
            <a:endParaRPr lang="en-US" b="1" dirty="0"/>
          </a:p>
          <a:p>
            <a:r>
              <a:rPr lang="en-US" b="1" dirty="0"/>
              <a:t>Self-service adoption</a:t>
            </a:r>
          </a:p>
          <a:p>
            <a:r>
              <a:rPr lang="en-US" dirty="0"/>
              <a:t>I focused on </a:t>
            </a:r>
            <a:r>
              <a:rPr lang="en-US" b="1" dirty="0"/>
              <a:t>time-to-first-value</a:t>
            </a:r>
            <a:r>
              <a:rPr lang="en-US" dirty="0"/>
              <a:t>: how quickly developers moved from evaluating AI capabilities to deploying a meaningful workload. I used </a:t>
            </a:r>
            <a:r>
              <a:rPr lang="en-US" b="1" dirty="0"/>
              <a:t>cohort and propensity analysis</a:t>
            </a:r>
            <a:r>
              <a:rPr lang="en-US" dirty="0"/>
              <a:t> to identify where developers stalled, prioritize lifecycle interventions, and measure impact across activation, retention, and expansion. The goal wasn’t more signups. It was moving developers from </a:t>
            </a:r>
            <a:r>
              <a:rPr lang="en-US" b="1" dirty="0"/>
              <a:t>experimentation to sustained production usage</a:t>
            </a:r>
            <a:r>
              <a:rPr lang="en-US" dirty="0"/>
              <a:t>.</a:t>
            </a:r>
          </a:p>
          <a:p>
            <a:endParaRPr lang="en-US" b="1" dirty="0"/>
          </a:p>
          <a:p>
            <a:r>
              <a:rPr lang="en-US" b="1" dirty="0"/>
              <a:t>Foundry Operating Model</a:t>
            </a:r>
          </a:p>
          <a:p>
            <a:r>
              <a:rPr lang="en-US" dirty="0"/>
              <a:t>That lifecycle is the same one Microsoft later made more explicit in </a:t>
            </a:r>
            <a:r>
              <a:rPr lang="en-US" b="1" dirty="0"/>
              <a:t>Azure AI Studio and Azure AI Foundry</a:t>
            </a:r>
            <a:r>
              <a:rPr lang="en-US" dirty="0"/>
              <a:t>:</a:t>
            </a:r>
          </a:p>
          <a:p>
            <a:r>
              <a:rPr lang="en-US" b="1" dirty="0"/>
              <a:t>Discover models → evaluate → deploy → production → expand</a:t>
            </a:r>
            <a:endParaRPr lang="en-US" dirty="0"/>
          </a:p>
          <a:p>
            <a:r>
              <a:rPr lang="en-US" dirty="0"/>
              <a:t>The operating model maps directly to how Foundry drives developer adoption today.</a:t>
            </a:r>
          </a:p>
          <a:p>
            <a:endParaRPr lang="en-US" dirty="0"/>
          </a:p>
          <a:p>
            <a:r>
              <a:rPr lang="en-US" b="1" dirty="0">
                <a:effectLst/>
              </a:rPr>
              <a:t>My role:</a:t>
            </a:r>
            <a:r>
              <a:rPr lang="en-US" dirty="0"/>
              <a:t> mapped the lifecycle → identified time-to-first-value and retention bottlenecks → segmented users with behavioral and propensity signals → prioritized interventions → redesigned onboarding and lifecycle mechanics → measured durable adoption. </a:t>
            </a:r>
            <a:r>
              <a:rPr lang="en-US" b="1" dirty="0">
                <a:effectLst/>
              </a:rPr>
              <a:t>For self-service SaaS, acquisition is only the beginning. Reduce time-to-first-value, make the first successful use case obvious, and use behavioral evidence to personalize retention and expansion.</a:t>
            </a:r>
          </a:p>
          <a:p>
            <a:endParaRPr lang="en-US" b="1" dirty="0">
              <a:effectLst/>
            </a:endParaRPr>
          </a:p>
          <a:p>
            <a:r>
              <a:rPr lang="en-US" b="1" dirty="0"/>
              <a:t>How have you driven adoption after launch?</a:t>
            </a:r>
            <a:br>
              <a:rPr lang="en-US" dirty="0"/>
            </a:br>
            <a:r>
              <a:rPr lang="en-US" dirty="0"/>
              <a:t>I start by finding where users drop off, then improve onboarding, messaging, and the product experience around that point. At Microsoft, that approach increased activation 262%, improved NRR from 102% to 128%, and reduced churn from 14% to 6.5%.</a:t>
            </a:r>
          </a:p>
          <a:p>
            <a:endParaRPr lang="en-US" dirty="0"/>
          </a:p>
          <a:p>
            <a:r>
              <a:rPr lang="en-US" b="1" dirty="0"/>
              <a:t>Microsoft Azure AI platform / Foundry — product-name timeline</a:t>
            </a:r>
            <a:br>
              <a:rPr lang="en-US" dirty="0"/>
            </a:br>
            <a:r>
              <a:rPr lang="en-US" dirty="0">
                <a:hlinkClick r:id="rId3"/>
              </a:rPr>
              <a:t>https://azure.microsoft.com/en-us/blog/the-next-wave-of-azure-innovation-azure-ai-foundry-intelligent-data-and-more/</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Sovereignty is my wedge.</a:t>
            </a:r>
            <a:r>
              <a:rPr lang="en-US" dirty="0"/>
              <a:t> At Microsoft, I worked on regulated-cloud and data-sovereignty patterns for </a:t>
            </a:r>
            <a:r>
              <a:rPr lang="en-US" b="1" dirty="0"/>
              <a:t>Microsoft Cloud for Financial Services on Azure</a:t>
            </a:r>
            <a:r>
              <a:rPr lang="en-US" dirty="0"/>
              <a:t>, across </a:t>
            </a:r>
            <a:r>
              <a:rPr lang="en-US" b="1" dirty="0"/>
              <a:t>10 customer markets</a:t>
            </a:r>
            <a:r>
              <a:rPr lang="en-US" dirty="0"/>
              <a:t>.</a:t>
            </a:r>
          </a:p>
          <a:p>
            <a:r>
              <a:rPr lang="en-US" dirty="0"/>
              <a:t>The focus was </a:t>
            </a:r>
            <a:r>
              <a:rPr lang="en-US" b="1" dirty="0"/>
              <a:t>data residency, customer-controlled key management, and compliance-by-design</a:t>
            </a:r>
            <a:r>
              <a:rPr lang="en-US" dirty="0"/>
              <a:t> — turning regulatory complexity into a credible path to production.</a:t>
            </a:r>
          </a:p>
          <a:p>
            <a:endParaRPr lang="en-US" b="1" dirty="0"/>
          </a:p>
          <a:p>
            <a:r>
              <a:rPr lang="en-US" b="1" dirty="0"/>
              <a:t>Positioning</a:t>
            </a:r>
          </a:p>
          <a:p>
            <a:r>
              <a:rPr lang="en-US" b="1" dirty="0"/>
              <a:t>Objection → requirement → technical pattern → proof → reusable field narrative</a:t>
            </a:r>
            <a:endParaRPr lang="en-US" dirty="0"/>
          </a:p>
          <a:p>
            <a:r>
              <a:rPr lang="en-US" dirty="0"/>
              <a:t>I translated complex compliance and deployment architecture into a simpler customer proposition: </a:t>
            </a:r>
            <a:r>
              <a:rPr lang="en-US" b="1" dirty="0"/>
              <a:t>A credible path from regulatory constraint to production.</a:t>
            </a:r>
            <a:endParaRPr lang="en-US" dirty="0"/>
          </a:p>
          <a:p>
            <a:endParaRPr lang="en-US" b="1" dirty="0"/>
          </a:p>
          <a:p>
            <a:r>
              <a:rPr lang="en-US" b="1" dirty="0"/>
              <a:t>Sales enablement</a:t>
            </a:r>
          </a:p>
          <a:p>
            <a:r>
              <a:rPr lang="en-US" dirty="0"/>
              <a:t>My principle is: </a:t>
            </a:r>
            <a:r>
              <a:rPr lang="en-US" b="1" dirty="0"/>
              <a:t>If sales and engineering solve the same objection from scratch on every account, it should be productized.</a:t>
            </a:r>
            <a:endParaRPr lang="en-US" dirty="0"/>
          </a:p>
          <a:p>
            <a:endParaRPr lang="en-US" dirty="0"/>
          </a:p>
          <a:p>
            <a:r>
              <a:rPr lang="en-US" dirty="0"/>
              <a:t>I used three core artifacts:</a:t>
            </a:r>
          </a:p>
          <a:p>
            <a:pPr lvl="0"/>
            <a:r>
              <a:rPr lang="en-US" b="1" dirty="0"/>
              <a:t>Objection map</a:t>
            </a:r>
            <a:r>
              <a:rPr lang="en-US" dirty="0"/>
              <a:t> — top blockers, answer, proof</a:t>
            </a:r>
          </a:p>
          <a:p>
            <a:pPr lvl="0"/>
            <a:r>
              <a:rPr lang="en-US" b="1" dirty="0"/>
              <a:t>Discovery questions</a:t>
            </a:r>
            <a:r>
              <a:rPr lang="en-US" dirty="0"/>
              <a:t> — qualify sovereignty needs early</a:t>
            </a:r>
          </a:p>
          <a:p>
            <a:pPr lvl="0"/>
            <a:r>
              <a:rPr lang="en-US" b="1" dirty="0"/>
              <a:t>One deployment narrative</a:t>
            </a:r>
            <a:r>
              <a:rPr lang="en-US" dirty="0"/>
              <a:t> — a consistent field story</a:t>
            </a:r>
          </a:p>
          <a:p>
            <a:endParaRPr lang="en-US" dirty="0"/>
          </a:p>
          <a:p>
            <a:r>
              <a:rPr lang="en-US" dirty="0"/>
              <a:t>Then I tracked </a:t>
            </a:r>
            <a:r>
              <a:rPr lang="en-US" b="1" dirty="0"/>
              <a:t>objection frequency over time</a:t>
            </a:r>
            <a:r>
              <a:rPr lang="en-US" dirty="0"/>
              <a:t> to see whether the enablement was actually working. Internally, this helped </a:t>
            </a:r>
            <a:r>
              <a:rPr lang="en-US" b="1" dirty="0"/>
              <a:t>rescue a $5M at-risk contract and support a $2M expansion</a:t>
            </a:r>
            <a:r>
              <a:rPr lang="en-US" dirty="0"/>
              <a:t>.</a:t>
            </a:r>
          </a:p>
          <a:p>
            <a:endParaRPr lang="en-US" dirty="0"/>
          </a:p>
          <a:p>
            <a:r>
              <a:rPr lang="en-US" dirty="0"/>
              <a:t>The same playbook applies to Mistral: </a:t>
            </a:r>
            <a:r>
              <a:rPr lang="en-US" b="1" dirty="0"/>
              <a:t>Turn sovereignty from a compliance objection into a production and buying advantage.</a:t>
            </a:r>
            <a:endParaRPr lang="en-US" dirty="0"/>
          </a:p>
          <a:p>
            <a:endParaRPr lang="en-US" dirty="0"/>
          </a:p>
          <a:p>
            <a:r>
              <a:rPr lang="en-US" b="1" dirty="0">
                <a:effectLst/>
              </a:rPr>
              <a:t>My role:</a:t>
            </a:r>
            <a:r>
              <a:rPr lang="en-US" dirty="0"/>
              <a:t> captured recurring enterprise blockers → translated them into product and technical requirements → aligned engineering, product, legal, and field teams → codified reusable deployment patterns and SOPs → scaled the solution across engagements and commercial outcomes. </a:t>
            </a:r>
            <a:r>
              <a:rPr lang="en-US" b="1" dirty="0">
                <a:effectLst/>
              </a:rPr>
              <a:t>The best enterprise field enablement finds the objection that keeps recurring, solves the root problem once with product and engineering, and gives the field a repeatable way to diagnose, explain, and prove the answer.</a:t>
            </a:r>
          </a:p>
          <a:p>
            <a:endParaRPr lang="en-US" b="1" dirty="0">
              <a:effectLst/>
            </a:endParaRPr>
          </a:p>
          <a:p>
            <a:r>
              <a:rPr lang="en-US" b="1" dirty="0"/>
              <a:t>Microsoft sovereignty / Financial Services — regulated-cloud positioning</a:t>
            </a:r>
            <a:br>
              <a:rPr lang="en-US" dirty="0"/>
            </a:br>
            <a:r>
              <a:rPr lang="en-US" dirty="0">
                <a:hlinkClick r:id="rId3"/>
              </a:rPr>
              <a:t>https://www.microsoft.com/en-us/microsoft-cloud/blog/financial-services/2021/02/24/announcing-microsoft-cloud-for-financial-services/</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AWS, I ran positioning for </a:t>
            </a:r>
            <a:r>
              <a:rPr lang="en-US" b="1" dirty="0"/>
              <a:t>Amazon Bedrock AgentCore</a:t>
            </a:r>
            <a:r>
              <a:rPr lang="en-US" dirty="0"/>
              <a:t>, a managed platform for moving enterprise agents from </a:t>
            </a:r>
            <a:r>
              <a:rPr lang="en-US" b="1" dirty="0"/>
              <a:t>prototype to secure production</a:t>
            </a:r>
            <a:r>
              <a:rPr lang="en-US" dirty="0"/>
              <a:t>. I translated capabilities like </a:t>
            </a:r>
            <a:r>
              <a:rPr lang="en-US" b="1" dirty="0"/>
              <a:t>enterprise connectivity, identity, access controls, execution traces, policy enforcement, and managed runtime</a:t>
            </a:r>
            <a:r>
              <a:rPr lang="en-US" dirty="0"/>
              <a:t> into a clear narrative for security-conscious and regulated buyers.</a:t>
            </a:r>
          </a:p>
          <a:p>
            <a:endParaRPr lang="en-US" dirty="0"/>
          </a:p>
          <a:p>
            <a:r>
              <a:rPr lang="en-US" b="1" dirty="0"/>
              <a:t>Prototype → connect → secure → govern → production</a:t>
            </a:r>
            <a:endParaRPr lang="en-US" dirty="0"/>
          </a:p>
          <a:p>
            <a:endParaRPr lang="en-US" dirty="0"/>
          </a:p>
          <a:p>
            <a:r>
              <a:rPr lang="en-US" dirty="0"/>
              <a:t>The core value proposition was: </a:t>
            </a:r>
            <a:r>
              <a:rPr lang="en-US" b="1" dirty="0"/>
              <a:t>“Get an agent into production without rebuilding the enterprise security and operational layer yourself.”</a:t>
            </a:r>
          </a:p>
          <a:p>
            <a:endParaRPr lang="en-US" dirty="0"/>
          </a:p>
          <a:p>
            <a:r>
              <a:rPr lang="en-US" dirty="0"/>
              <a:t>I used customer research and product telemetry to sharpen positioning, launch, and adoption strategy, while pairing AgentCore with broader Bedrock capabilities like </a:t>
            </a:r>
            <a:r>
              <a:rPr lang="en-US" b="1" dirty="0"/>
              <a:t>retrieval, guardrails, evaluations, and cost-quality routing</a:t>
            </a:r>
            <a:r>
              <a:rPr lang="en-US" dirty="0"/>
              <a:t>.</a:t>
            </a:r>
          </a:p>
          <a:p>
            <a:endParaRPr lang="en-US" dirty="0"/>
          </a:p>
          <a:p>
            <a:r>
              <a:rPr lang="en-US" dirty="0"/>
              <a:t>The AgentCore SDK later surpassed </a:t>
            </a:r>
            <a:r>
              <a:rPr lang="en-US" b="1" dirty="0"/>
              <a:t>2M downloads within five months of preview</a:t>
            </a:r>
            <a:r>
              <a:rPr lang="en-US" dirty="0"/>
              <a:t>.</a:t>
            </a:r>
          </a:p>
          <a:p>
            <a:endParaRPr lang="en-US" dirty="0"/>
          </a:p>
          <a:p>
            <a:r>
              <a:rPr lang="en-US" dirty="0"/>
              <a:t>AWS’s original AgentCore launch announcement:</a:t>
            </a:r>
          </a:p>
          <a:p>
            <a:r>
              <a:rPr lang="en-US" dirty="0">
                <a:hlinkClick r:id="rId3"/>
              </a:rPr>
              <a:t>https://aws.amazon.com/blogs/aws/introducing-amazon-bedrock-agentcore-securely-deploy-and-operate-ai-agents-at-any-scale/</a:t>
            </a:r>
            <a:endParaRPr lang="en-US" dirty="0"/>
          </a:p>
        </p:txBody>
      </p:sp>
      <p:sp>
        <p:nvSpPr>
          <p:cNvPr id="4" name="Slide Number Placeholder 3"/>
          <p:cNvSpPr>
            <a:spLocks noGrp="1"/>
          </p:cNvSpPr>
          <p:nvPr>
            <p:ph type="sldNum" sz="quarter" idx="5"/>
          </p:nvPr>
        </p:nvSpPr>
        <p:spPr/>
        <p:txBody>
          <a:bodyPr/>
          <a:lstStyle/>
          <a:p>
            <a:fld id="{4A7E2B38-EC44-4B44-8575-CA30B2FCCCF1}" type="slidenum">
              <a:rPr lang="en-US" smtClean="0"/>
              <a:t>6</a:t>
            </a:fld>
            <a:endParaRPr lang="en-US"/>
          </a:p>
        </p:txBody>
      </p:sp>
    </p:spTree>
    <p:extLst>
      <p:ext uri="{BB962C8B-B14F-4D97-AF65-F5344CB8AC3E}">
        <p14:creationId xmlns:p14="http://schemas.microsoft.com/office/powerpoint/2010/main" val="2766837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17001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2264765"/>
      </p:ext>
    </p:extLst>
  </p:cSld>
  <p:clrMap bg1="lt1" tx1="dk1" bg2="lt2" tx2="dk2" accent1="accent1" accent2="accent2" accent3="accent3" accent4="accent4" accent5="accent5" accent6="accent6" hlink="hlink" folHlink="folHlink"/>
  <p:sldLayoutIdLst>
    <p:sldLayoutId id="214748366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4B00"/>
                </a:solidFill>
                <a:effectLst/>
                <a:uLnTx/>
                <a:uFillTx/>
                <a:latin typeface="Arial"/>
                <a:ea typeface="+mn-ea"/>
                <a:cs typeface="+mn-cs"/>
              </a:rPr>
              <a:t>SHIV | AUTHOR PROFILE</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1</a:t>
            </a:r>
          </a:p>
        </p:txBody>
      </p:sp>
      <p:sp>
        <p:nvSpPr>
          <p:cNvPr id="16" name="Rectangle 15"/>
          <p:cNvSpPr/>
          <p:nvPr/>
        </p:nvSpPr>
        <p:spPr>
          <a:xfrm>
            <a:off x="502920" y="758952"/>
            <a:ext cx="100584" cy="132588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7" name="TextBox 16"/>
          <p:cNvSpPr txBox="1">
            <a:spLocks/>
          </p:cNvSpPr>
          <p:nvPr/>
        </p:nvSpPr>
        <p:spPr>
          <a:xfrm>
            <a:off x="786384" y="722376"/>
            <a:ext cx="996696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Why I fit Mistral Studio PMM</a:t>
            </a:r>
          </a:p>
        </p:txBody>
      </p:sp>
      <p:sp>
        <p:nvSpPr>
          <p:cNvPr id="18" name="TextBox 17"/>
          <p:cNvSpPr txBox="1">
            <a:spLocks/>
          </p:cNvSpPr>
          <p:nvPr/>
        </p:nvSpPr>
        <p:spPr>
          <a:xfrm>
            <a:off x="804672" y="1719072"/>
            <a:ext cx="8869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Ten years making complex, regulated AI and cloud technology buyable.</a:t>
            </a:r>
          </a:p>
        </p:txBody>
      </p:sp>
      <p:sp>
        <p:nvSpPr>
          <p:cNvPr id="19" name="TextBox 18"/>
          <p:cNvSpPr txBox="1">
            <a:spLocks/>
          </p:cNvSpPr>
          <p:nvPr/>
        </p:nvSpPr>
        <p:spPr>
          <a:xfrm>
            <a:off x="804672" y="2395728"/>
            <a:ext cx="2011680" cy="21945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CAREER THREAD</a:t>
            </a:r>
          </a:p>
        </p:txBody>
      </p:sp>
      <p:cxnSp>
        <p:nvCxnSpPr>
          <p:cNvPr id="20" name="Connector 19"/>
          <p:cNvCxnSpPr/>
          <p:nvPr/>
        </p:nvCxnSpPr>
        <p:spPr>
          <a:xfrm>
            <a:off x="841248" y="2953512"/>
            <a:ext cx="10268712" cy="0"/>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960120" y="2761488"/>
            <a:ext cx="384048" cy="384048"/>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2" name="TextBox 21"/>
          <p:cNvSpPr txBox="1">
            <a:spLocks/>
          </p:cNvSpPr>
          <p:nvPr/>
        </p:nvSpPr>
        <p:spPr>
          <a:xfrm>
            <a:off x="960120" y="2825496"/>
            <a:ext cx="3840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a:ea typeface="+mn-ea"/>
                <a:cs typeface="+mn-cs"/>
              </a:rPr>
              <a:t>01</a:t>
            </a:r>
          </a:p>
        </p:txBody>
      </p:sp>
      <p:sp>
        <p:nvSpPr>
          <p:cNvPr id="23" name="TextBox 22"/>
          <p:cNvSpPr txBox="1">
            <a:spLocks/>
          </p:cNvSpPr>
          <p:nvPr/>
        </p:nvSpPr>
        <p:spPr>
          <a:xfrm>
            <a:off x="960120" y="3264408"/>
            <a:ext cx="3154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REGULATED SYSTEMS</a:t>
            </a:r>
          </a:p>
        </p:txBody>
      </p:sp>
      <p:sp>
        <p:nvSpPr>
          <p:cNvPr id="24" name="TextBox 23"/>
          <p:cNvSpPr txBox="1">
            <a:spLocks/>
          </p:cNvSpPr>
          <p:nvPr/>
        </p:nvSpPr>
        <p:spPr>
          <a:xfrm>
            <a:off x="960120" y="3584448"/>
            <a:ext cx="3063240"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Complex AI and cloud made buyable in regulated markets</a:t>
            </a:r>
          </a:p>
        </p:txBody>
      </p:sp>
      <p:sp>
        <p:nvSpPr>
          <p:cNvPr id="25" name="Oval 24"/>
          <p:cNvSpPr/>
          <p:nvPr/>
        </p:nvSpPr>
        <p:spPr>
          <a:xfrm>
            <a:off x="4617720" y="2761488"/>
            <a:ext cx="384048" cy="384048"/>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6" name="TextBox 25"/>
          <p:cNvSpPr txBox="1">
            <a:spLocks/>
          </p:cNvSpPr>
          <p:nvPr/>
        </p:nvSpPr>
        <p:spPr>
          <a:xfrm>
            <a:off x="4617720" y="2825496"/>
            <a:ext cx="3840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a:ea typeface="+mn-ea"/>
                <a:cs typeface="+mn-cs"/>
              </a:rPr>
              <a:t>02</a:t>
            </a:r>
          </a:p>
        </p:txBody>
      </p:sp>
      <p:sp>
        <p:nvSpPr>
          <p:cNvPr id="27" name="TextBox 26"/>
          <p:cNvSpPr txBox="1">
            <a:spLocks/>
          </p:cNvSpPr>
          <p:nvPr/>
        </p:nvSpPr>
        <p:spPr>
          <a:xfrm>
            <a:off x="4617720" y="3264408"/>
            <a:ext cx="315468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GENAI PRODUCT–MARKET FIT</a:t>
            </a:r>
          </a:p>
        </p:txBody>
      </p:sp>
      <p:sp>
        <p:nvSpPr>
          <p:cNvPr id="28" name="TextBox 27"/>
          <p:cNvSpPr txBox="1"/>
          <p:nvPr/>
        </p:nvSpPr>
        <p:spPr>
          <a:xfrm>
            <a:off x="4617720" y="3584448"/>
            <a:ext cx="3063240" cy="78483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Customer insight, AI positioning and launch readiness at AWS</a:t>
            </a:r>
            <a:endParaRPr kumimoji="0" sz="1700" b="1" i="0" u="none" strike="noStrike" kern="1200" cap="none" spc="0" normalizeH="0" baseline="0" noProof="0">
              <a:ln>
                <a:noFill/>
              </a:ln>
              <a:solidFill>
                <a:srgbClr val="121212"/>
              </a:solidFill>
              <a:effectLst/>
              <a:uLnTx/>
              <a:uFillTx/>
              <a:latin typeface="Arial"/>
              <a:ea typeface="+mn-ea"/>
              <a:cs typeface="+mn-cs"/>
            </a:endParaRPr>
          </a:p>
        </p:txBody>
      </p:sp>
      <p:sp>
        <p:nvSpPr>
          <p:cNvPr id="29" name="Oval 28"/>
          <p:cNvSpPr/>
          <p:nvPr/>
        </p:nvSpPr>
        <p:spPr>
          <a:xfrm>
            <a:off x="8458200" y="2761488"/>
            <a:ext cx="384048" cy="384048"/>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0" name="TextBox 29"/>
          <p:cNvSpPr txBox="1">
            <a:spLocks/>
          </p:cNvSpPr>
          <p:nvPr/>
        </p:nvSpPr>
        <p:spPr>
          <a:xfrm>
            <a:off x="8458200" y="2825496"/>
            <a:ext cx="384048" cy="146304"/>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a:ea typeface="+mn-ea"/>
                <a:cs typeface="+mn-cs"/>
              </a:rPr>
              <a:t>03</a:t>
            </a:r>
          </a:p>
        </p:txBody>
      </p:sp>
      <p:sp>
        <p:nvSpPr>
          <p:cNvPr id="31" name="TextBox 30"/>
          <p:cNvSpPr txBox="1">
            <a:spLocks/>
          </p:cNvSpPr>
          <p:nvPr/>
        </p:nvSpPr>
        <p:spPr>
          <a:xfrm>
            <a:off x="8458200" y="3264408"/>
            <a:ext cx="3154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TWO ADOPTION MOTIONS</a:t>
            </a:r>
          </a:p>
        </p:txBody>
      </p:sp>
      <p:sp>
        <p:nvSpPr>
          <p:cNvPr id="32" name="TextBox 31"/>
          <p:cNvSpPr txBox="1">
            <a:spLocks/>
          </p:cNvSpPr>
          <p:nvPr/>
        </p:nvSpPr>
        <p:spPr>
          <a:xfrm>
            <a:off x="8458200" y="3584448"/>
            <a:ext cx="3063240" cy="78483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Self-serve evaluation through enterprise production adoption</a:t>
            </a:r>
          </a:p>
        </p:txBody>
      </p:sp>
      <p:sp>
        <p:nvSpPr>
          <p:cNvPr id="33" name="Rectangle 32"/>
          <p:cNvSpPr/>
          <p:nvPr/>
        </p:nvSpPr>
        <p:spPr>
          <a:xfrm>
            <a:off x="0" y="4809744"/>
            <a:ext cx="12191695" cy="1490472"/>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4" name="TextBox 33"/>
          <p:cNvSpPr txBox="1">
            <a:spLocks/>
          </p:cNvSpPr>
          <p:nvPr/>
        </p:nvSpPr>
        <p:spPr>
          <a:xfrm>
            <a:off x="640080" y="5010912"/>
            <a:ext cx="242316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THE PRODUCT GAP</a:t>
            </a:r>
          </a:p>
        </p:txBody>
      </p:sp>
      <p:sp>
        <p:nvSpPr>
          <p:cNvPr id="35" name="TextBox 34"/>
          <p:cNvSpPr txBox="1">
            <a:spLocks/>
          </p:cNvSpPr>
          <p:nvPr/>
        </p:nvSpPr>
        <p:spPr>
          <a:xfrm>
            <a:off x="640080" y="5376672"/>
            <a:ext cx="489204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Arial"/>
                <a:ea typeface="+mn-ea"/>
                <a:cs typeface="+mn-cs"/>
              </a:rPr>
              <a:t>Models are good. The hard part is making enterprise builders trust them enough to ship to production.</a:t>
            </a:r>
          </a:p>
        </p:txBody>
      </p:sp>
      <p:cxnSp>
        <p:nvCxnSpPr>
          <p:cNvPr id="36" name="Connector 35"/>
          <p:cNvCxnSpPr/>
          <p:nvPr/>
        </p:nvCxnSpPr>
        <p:spPr>
          <a:xfrm>
            <a:off x="5852160" y="5047488"/>
            <a:ext cx="0" cy="941832"/>
          </a:xfrm>
          <a:prstGeom prst="line">
            <a:avLst/>
          </a:prstGeom>
          <a:ln w="12700">
            <a:solidFill>
              <a:srgbClr val="55504A"/>
            </a:solidFill>
          </a:ln>
        </p:spPr>
        <p:style>
          <a:lnRef idx="2">
            <a:schemeClr val="accent1"/>
          </a:lnRef>
          <a:fillRef idx="0">
            <a:schemeClr val="accent1"/>
          </a:fillRef>
          <a:effectRef idx="1">
            <a:schemeClr val="accent1"/>
          </a:effectRef>
          <a:fontRef idx="minor">
            <a:schemeClr val="tx1"/>
          </a:fontRef>
        </p:style>
      </p:cxnSp>
      <p:sp>
        <p:nvSpPr>
          <p:cNvPr id="37" name="TextBox 36"/>
          <p:cNvSpPr txBox="1">
            <a:spLocks/>
          </p:cNvSpPr>
          <p:nvPr/>
        </p:nvSpPr>
        <p:spPr>
          <a:xfrm>
            <a:off x="6199632" y="5010912"/>
            <a:ext cx="29718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WHY MISTRAL / STUDIO</a:t>
            </a:r>
          </a:p>
        </p:txBody>
      </p:sp>
      <p:sp>
        <p:nvSpPr>
          <p:cNvPr id="38" name="TextBox 37"/>
          <p:cNvSpPr txBox="1">
            <a:spLocks/>
          </p:cNvSpPr>
          <p:nvPr/>
        </p:nvSpPr>
        <p:spPr>
          <a:xfrm>
            <a:off x="6199632" y="5376672"/>
            <a:ext cx="5166360" cy="69249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FFFF"/>
                </a:solidFill>
                <a:effectLst/>
                <a:uLnTx/>
                <a:uFillTx/>
                <a:latin typeface="Arial"/>
                <a:ea typeface="+mn-ea"/>
                <a:cs typeface="+mn-cs"/>
              </a:rPr>
              <a:t>Frontier open models on a production platform. </a:t>
            </a:r>
            <a:r>
              <a:rPr kumimoji="0" lang="en-US" sz="1400" b="0" i="0" u="none" strike="noStrike" kern="1200" cap="none" spc="0" normalizeH="0" baseline="0" noProof="0">
                <a:ln>
                  <a:noFill/>
                </a:ln>
                <a:solidFill>
                  <a:srgbClr val="FFFFFF"/>
                </a:solidFill>
                <a:effectLst/>
                <a:uLnTx/>
                <a:uFillTx/>
                <a:latin typeface="Arial"/>
                <a:ea typeface="+mn-ea"/>
                <a:cs typeface="+mn-cs"/>
              </a:rPr>
              <a:t>My contribution: make Studio easier to understand, evaluate and adopt.</a:t>
            </a:r>
          </a:p>
        </p:txBody>
      </p:sp>
      <p:pic>
        <p:nvPicPr>
          <p:cNvPr id="39"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40"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AWS GENAI SHOPPING ASSISTANT · PRODUCT-MARKET FIT &amp; USER TRUST</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2</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1. Positioning: from “chat” to decision support</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research-led positioning, trust proof and adoption measurement</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730222"/>
            <a:ext cx="111556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Define the job users can trust, then prove the promise in the experience.</a:t>
            </a:r>
          </a:p>
        </p:txBody>
      </p:sp>
      <p:sp>
        <p:nvSpPr>
          <p:cNvPr id="21" name="TextBox 20"/>
          <p:cNvSpPr txBox="1">
            <a:spLocks/>
          </p:cNvSpPr>
          <p:nvPr/>
        </p:nvSpPr>
        <p:spPr>
          <a:xfrm>
            <a:off x="1078992" y="2258568"/>
            <a:ext cx="201168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BEFORE</a:t>
            </a:r>
          </a:p>
        </p:txBody>
      </p:sp>
      <p:sp>
        <p:nvSpPr>
          <p:cNvPr id="22" name="TextBox 21"/>
          <p:cNvSpPr txBox="1">
            <a:spLocks/>
          </p:cNvSpPr>
          <p:nvPr/>
        </p:nvSpPr>
        <p:spPr>
          <a:xfrm>
            <a:off x="658368" y="2587752"/>
            <a:ext cx="283464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121212"/>
                </a:solidFill>
                <a:effectLst/>
                <a:uLnTx/>
                <a:uFillTx/>
                <a:latin typeface="Arial"/>
                <a:ea typeface="+mn-ea"/>
                <a:cs typeface="+mn-cs"/>
              </a:rPr>
              <a:t>“Chat with AI”</a:t>
            </a:r>
          </a:p>
        </p:txBody>
      </p:sp>
      <p:sp>
        <p:nvSpPr>
          <p:cNvPr id="23" name="TextBox 22"/>
          <p:cNvSpPr txBox="1">
            <a:spLocks/>
          </p:cNvSpPr>
          <p:nvPr/>
        </p:nvSpPr>
        <p:spPr>
          <a:xfrm>
            <a:off x="658368" y="3099816"/>
            <a:ext cx="2651760" cy="6463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55504A"/>
                </a:solidFill>
                <a:effectLst/>
                <a:uLnTx/>
                <a:uFillTx/>
                <a:latin typeface="Arial"/>
                <a:ea typeface="+mn-ea"/>
                <a:cs typeface="+mn-cs"/>
              </a:rPr>
              <a:t>Conversation was not the job. Broad and hard to trust at purchase.</a:t>
            </a:r>
          </a:p>
        </p:txBody>
      </p:sp>
      <p:cxnSp>
        <p:nvCxnSpPr>
          <p:cNvPr id="24" name="Connector 23"/>
          <p:cNvCxnSpPr/>
          <p:nvPr/>
        </p:nvCxnSpPr>
        <p:spPr>
          <a:xfrm>
            <a:off x="3438144" y="2212848"/>
            <a:ext cx="0" cy="158191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776472" y="2221992"/>
            <a:ext cx="3246120" cy="1554480"/>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6" name="TextBox 25"/>
          <p:cNvSpPr txBox="1">
            <a:spLocks/>
          </p:cNvSpPr>
          <p:nvPr/>
        </p:nvSpPr>
        <p:spPr>
          <a:xfrm>
            <a:off x="4443984" y="2459736"/>
            <a:ext cx="2286000" cy="2286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USER TRUST LOGIC</a:t>
            </a:r>
          </a:p>
        </p:txBody>
      </p:sp>
      <p:sp>
        <p:nvSpPr>
          <p:cNvPr id="27" name="TextBox 26"/>
          <p:cNvSpPr txBox="1">
            <a:spLocks/>
          </p:cNvSpPr>
          <p:nvPr/>
        </p:nvSpPr>
        <p:spPr>
          <a:xfrm>
            <a:off x="4023360" y="2852928"/>
            <a:ext cx="2697480" cy="78483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FFFF"/>
                </a:solidFill>
                <a:effectLst/>
                <a:uLnTx/>
                <a:uFillTx/>
                <a:latin typeface="Arial"/>
                <a:ea typeface="+mn-ea"/>
                <a:cs typeface="+mn-cs"/>
              </a:rPr>
              <a:t>Launch gates on retrieval quality, evals, human review and guardrails</a:t>
            </a:r>
          </a:p>
        </p:txBody>
      </p:sp>
      <p:cxnSp>
        <p:nvCxnSpPr>
          <p:cNvPr id="28" name="Connector 27"/>
          <p:cNvCxnSpPr/>
          <p:nvPr/>
        </p:nvCxnSpPr>
        <p:spPr>
          <a:xfrm>
            <a:off x="7370064" y="2212848"/>
            <a:ext cx="0" cy="1581912"/>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a:spLocks/>
          </p:cNvSpPr>
          <p:nvPr/>
        </p:nvSpPr>
        <p:spPr>
          <a:xfrm>
            <a:off x="8119872" y="2258568"/>
            <a:ext cx="2011680" cy="2286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AFTER</a:t>
            </a:r>
          </a:p>
        </p:txBody>
      </p:sp>
      <p:sp>
        <p:nvSpPr>
          <p:cNvPr id="30" name="TextBox 29"/>
          <p:cNvSpPr txBox="1">
            <a:spLocks/>
          </p:cNvSpPr>
          <p:nvPr/>
        </p:nvSpPr>
        <p:spPr>
          <a:xfrm>
            <a:off x="7699248" y="2587752"/>
            <a:ext cx="393192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“Decide better, faster”</a:t>
            </a:r>
          </a:p>
        </p:txBody>
      </p:sp>
      <p:sp>
        <p:nvSpPr>
          <p:cNvPr id="31" name="TextBox 30"/>
          <p:cNvSpPr txBox="1">
            <a:spLocks/>
          </p:cNvSpPr>
          <p:nvPr/>
        </p:nvSpPr>
        <p:spPr>
          <a:xfrm>
            <a:off x="7699248" y="3099816"/>
            <a:ext cx="356616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Research, compare and decide with confidence at the point of choice.</a:t>
            </a:r>
          </a:p>
        </p:txBody>
      </p:sp>
      <p:cxnSp>
        <p:nvCxnSpPr>
          <p:cNvPr id="32" name="Connector 31"/>
          <p:cNvCxnSpPr/>
          <p:nvPr/>
        </p:nvCxnSpPr>
        <p:spPr>
          <a:xfrm>
            <a:off x="658368" y="4160520"/>
            <a:ext cx="1088136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33" name="TextBox 32"/>
          <p:cNvSpPr txBox="1">
            <a:spLocks/>
          </p:cNvSpPr>
          <p:nvPr/>
        </p:nvSpPr>
        <p:spPr>
          <a:xfrm>
            <a:off x="658368"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25%</a:t>
            </a:r>
          </a:p>
        </p:txBody>
      </p:sp>
      <p:sp>
        <p:nvSpPr>
          <p:cNvPr id="34" name="TextBox 33"/>
          <p:cNvSpPr txBox="1">
            <a:spLocks/>
          </p:cNvSpPr>
          <p:nvPr/>
        </p:nvSpPr>
        <p:spPr>
          <a:xfrm>
            <a:off x="658368"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ADOPTION</a:t>
            </a:r>
          </a:p>
        </p:txBody>
      </p:sp>
      <p:sp>
        <p:nvSpPr>
          <p:cNvPr id="35" name="TextBox 34"/>
          <p:cNvSpPr txBox="1">
            <a:spLocks/>
          </p:cNvSpPr>
          <p:nvPr/>
        </p:nvSpPr>
        <p:spPr>
          <a:xfrm>
            <a:off x="658368"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eligible users engaged</a:t>
            </a:r>
          </a:p>
        </p:txBody>
      </p:sp>
      <p:cxnSp>
        <p:nvCxnSpPr>
          <p:cNvPr id="36" name="Connector 35"/>
          <p:cNvCxnSpPr/>
          <p:nvPr/>
        </p:nvCxnSpPr>
        <p:spPr>
          <a:xfrm>
            <a:off x="2615184"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37" name="TextBox 36"/>
          <p:cNvSpPr txBox="1">
            <a:spLocks/>
          </p:cNvSpPr>
          <p:nvPr/>
        </p:nvSpPr>
        <p:spPr>
          <a:xfrm>
            <a:off x="281635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55→70%</a:t>
            </a:r>
          </a:p>
        </p:txBody>
      </p:sp>
      <p:sp>
        <p:nvSpPr>
          <p:cNvPr id="38" name="TextBox 37"/>
          <p:cNvSpPr txBox="1">
            <a:spLocks/>
          </p:cNvSpPr>
          <p:nvPr/>
        </p:nvSpPr>
        <p:spPr>
          <a:xfrm>
            <a:off x="281635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FAVORABILITY</a:t>
            </a:r>
          </a:p>
        </p:txBody>
      </p:sp>
      <p:sp>
        <p:nvSpPr>
          <p:cNvPr id="39" name="TextBox 38"/>
          <p:cNvSpPr txBox="1">
            <a:spLocks/>
          </p:cNvSpPr>
          <p:nvPr/>
        </p:nvSpPr>
        <p:spPr>
          <a:xfrm>
            <a:off x="281635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among exposed users</a:t>
            </a:r>
          </a:p>
        </p:txBody>
      </p:sp>
      <p:cxnSp>
        <p:nvCxnSpPr>
          <p:cNvPr id="40" name="Connector 39"/>
          <p:cNvCxnSpPr/>
          <p:nvPr/>
        </p:nvCxnSpPr>
        <p:spPr>
          <a:xfrm>
            <a:off x="4809744"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501091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+15%</a:t>
            </a:r>
          </a:p>
        </p:txBody>
      </p:sp>
      <p:sp>
        <p:nvSpPr>
          <p:cNvPr id="42" name="TextBox 41"/>
          <p:cNvSpPr txBox="1">
            <a:spLocks/>
          </p:cNvSpPr>
          <p:nvPr/>
        </p:nvSpPr>
        <p:spPr>
          <a:xfrm>
            <a:off x="501091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SESSION DEPTH</a:t>
            </a:r>
          </a:p>
        </p:txBody>
      </p:sp>
      <p:sp>
        <p:nvSpPr>
          <p:cNvPr id="43" name="TextBox 42"/>
          <p:cNvSpPr txBox="1">
            <a:spLocks/>
          </p:cNvSpPr>
          <p:nvPr/>
        </p:nvSpPr>
        <p:spPr>
          <a:xfrm>
            <a:off x="501091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deeper engagement</a:t>
            </a:r>
          </a:p>
        </p:txBody>
      </p:sp>
      <p:cxnSp>
        <p:nvCxnSpPr>
          <p:cNvPr id="44" name="Connector 43"/>
          <p:cNvCxnSpPr/>
          <p:nvPr/>
        </p:nvCxnSpPr>
        <p:spPr>
          <a:xfrm>
            <a:off x="7004304"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5" name="TextBox 44"/>
          <p:cNvSpPr txBox="1">
            <a:spLocks/>
          </p:cNvSpPr>
          <p:nvPr/>
        </p:nvSpPr>
        <p:spPr>
          <a:xfrm>
            <a:off x="720547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2.8%</a:t>
            </a:r>
          </a:p>
        </p:txBody>
      </p:sp>
      <p:sp>
        <p:nvSpPr>
          <p:cNvPr id="46" name="TextBox 45"/>
          <p:cNvSpPr txBox="1">
            <a:spLocks/>
          </p:cNvSpPr>
          <p:nvPr/>
        </p:nvSpPr>
        <p:spPr>
          <a:xfrm>
            <a:off x="720547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HALLUCINATION</a:t>
            </a:r>
          </a:p>
        </p:txBody>
      </p:sp>
      <p:sp>
        <p:nvSpPr>
          <p:cNvPr id="47" name="TextBox 46"/>
          <p:cNvSpPr txBox="1">
            <a:spLocks/>
          </p:cNvSpPr>
          <p:nvPr/>
        </p:nvSpPr>
        <p:spPr>
          <a:xfrm>
            <a:off x="720547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evaluated failure rate</a:t>
            </a:r>
          </a:p>
        </p:txBody>
      </p:sp>
      <p:cxnSp>
        <p:nvCxnSpPr>
          <p:cNvPr id="48" name="Connector 47"/>
          <p:cNvCxnSpPr/>
          <p:nvPr/>
        </p:nvCxnSpPr>
        <p:spPr>
          <a:xfrm>
            <a:off x="9198863" y="4498848"/>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9400032" y="4462272"/>
            <a:ext cx="1874519"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JP</a:t>
            </a:r>
          </a:p>
        </p:txBody>
      </p:sp>
      <p:sp>
        <p:nvSpPr>
          <p:cNvPr id="50" name="TextBox 49"/>
          <p:cNvSpPr txBox="1">
            <a:spLocks/>
          </p:cNvSpPr>
          <p:nvPr/>
        </p:nvSpPr>
        <p:spPr>
          <a:xfrm>
            <a:off x="9400032" y="5001768"/>
            <a:ext cx="1874519"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LOCALIZATION</a:t>
            </a:r>
          </a:p>
        </p:txBody>
      </p:sp>
      <p:sp>
        <p:nvSpPr>
          <p:cNvPr id="51" name="TextBox 50"/>
          <p:cNvSpPr txBox="1">
            <a:spLocks/>
          </p:cNvSpPr>
          <p:nvPr/>
        </p:nvSpPr>
        <p:spPr>
          <a:xfrm>
            <a:off x="9400032" y="5330952"/>
            <a:ext cx="18288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tone, tokenization + UX</a:t>
            </a:r>
          </a:p>
        </p:txBody>
      </p:sp>
      <p:sp>
        <p:nvSpPr>
          <p:cNvPr id="90" name="Icon Before"/>
          <p:cNvSpPr/>
          <p:nvPr/>
        </p:nvSpPr>
        <p:spPr>
          <a:xfrm>
            <a:off x="658368" y="2203704"/>
            <a:ext cx="310896" cy="310896"/>
          </a:xfrm>
          <a:prstGeom prst="wedgeEllipseCallout">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1" name="Icon Trust"/>
          <p:cNvSpPr/>
          <p:nvPr/>
        </p:nvSpPr>
        <p:spPr>
          <a:xfrm>
            <a:off x="4023360" y="2404872"/>
            <a:ext cx="310896" cy="310896"/>
          </a:xfrm>
          <a:prstGeom prst="flowChartDecision">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2" name="Icon After"/>
          <p:cNvSpPr/>
          <p:nvPr/>
        </p:nvSpPr>
        <p:spPr>
          <a:xfrm>
            <a:off x="7699248" y="2231136"/>
            <a:ext cx="310896" cy="310896"/>
          </a:xfrm>
          <a:prstGeom prst="rightArrow">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93"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9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
        <p:nvSpPr>
          <p:cNvPr id="300" name="Source Footnote"/>
          <p:cNvSpPr txBox="1"/>
          <p:nvPr/>
        </p:nvSpPr>
        <p:spPr>
          <a:xfrm>
            <a:off x="566928" y="6172200"/>
            <a:ext cx="10469880" cy="123000"/>
          </a:xfrm>
          <a:prstGeom prst="rect">
            <a:avLst/>
          </a:prstGeom>
          <a:noFill/>
        </p:spPr>
        <p:txBody>
          <a:bodyPr wrap="square" lIns="0" tIns="0" rIns="0" bIns="0" anchor="ctr">
            <a:spAutoFit/>
          </a:bodyPr>
          <a:lstStyle/>
          <a:p>
            <a:pPr marL="0" indent="0" algn="l">
              <a:buNone/>
            </a:pPr>
            <a:r>
              <a:rPr lang="en-US" sz="800" b="0" i="0" u="none" kern="1200">
                <a:solidFill>
                  <a:srgbClr val="8A857E"/>
                </a:solidFill>
                <a:latin typeface="Arial"/>
              </a:rPr>
              <a:t>Source: https://www.aboutamazon.com/news/retail/amazon-agentic-ai-gen-ai-shopping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RAKUTEN MERCHANT GENAI PLATFORM · MARKET INTELLIGENCE &amp; MOAT STRATEGY</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dirty="0">
                <a:solidFill>
                  <a:srgbClr val="55504A"/>
                </a:solidFill>
                <a:latin typeface="Arial"/>
              </a:rPr>
              <a:t>3</a:t>
            </a:r>
            <a:endParaRPr kumimoji="0" lang="en-US" sz="1000" b="0" i="0" u="none" strike="noStrike" kern="1200" cap="none" spc="0" normalizeH="0" baseline="0" noProof="0" dirty="0">
              <a:ln>
                <a:noFill/>
              </a:ln>
              <a:solidFill>
                <a:srgbClr val="55504A"/>
              </a:solidFill>
              <a:effectLst/>
              <a:uLnTx/>
              <a:uFillTx/>
              <a:latin typeface="Arial"/>
              <a:ea typeface="+mn-ea"/>
              <a:cs typeface="+mn-cs"/>
            </a:endParaRP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2. Market intelligence: context + workflow won</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market intelligence, moat strategy and platform investment choice</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700784"/>
            <a:ext cx="11155680" cy="274320"/>
          </a:xfrm>
          <a:prstGeom prst="rect">
            <a:avLst/>
          </a:prstGeom>
          <a:noFill/>
        </p:spPr>
        <p:txBody>
          <a:bodyPr wrap="square" lIns="0" tIns="0" rIns="0" bIns="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The moat was not the model—it was proprietary context + workflow depth + economics + distribution.</a:t>
            </a:r>
          </a:p>
        </p:txBody>
      </p:sp>
      <p:sp>
        <p:nvSpPr>
          <p:cNvPr id="21" name="Rectangle 20"/>
          <p:cNvSpPr/>
          <p:nvPr/>
        </p:nvSpPr>
        <p:spPr>
          <a:xfrm>
            <a:off x="502920" y="2121408"/>
            <a:ext cx="2743200" cy="86868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2" name="TextBox 21"/>
          <p:cNvSpPr txBox="1">
            <a:spLocks/>
          </p:cNvSpPr>
          <p:nvPr/>
        </p:nvSpPr>
        <p:spPr>
          <a:xfrm>
            <a:off x="676656" y="2258568"/>
            <a:ext cx="214884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DECISION</a:t>
            </a:r>
          </a:p>
        </p:txBody>
      </p:sp>
      <p:sp>
        <p:nvSpPr>
          <p:cNvPr id="23" name="TextBox 22"/>
          <p:cNvSpPr txBox="1">
            <a:spLocks/>
          </p:cNvSpPr>
          <p:nvPr/>
        </p:nvSpPr>
        <p:spPr>
          <a:xfrm>
            <a:off x="676656" y="2450592"/>
            <a:ext cx="237744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a:ea typeface="+mn-ea"/>
                <a:cs typeface="+mn-cs"/>
              </a:rPr>
              <a:t>Buy intelligence. Build context.</a:t>
            </a:r>
          </a:p>
        </p:txBody>
      </p:sp>
      <p:sp>
        <p:nvSpPr>
          <p:cNvPr id="24" name="TextBox 23"/>
          <p:cNvSpPr txBox="1">
            <a:spLocks/>
          </p:cNvSpPr>
          <p:nvPr/>
        </p:nvSpPr>
        <p:spPr>
          <a:xfrm>
            <a:off x="987552" y="3054096"/>
            <a:ext cx="2103120" cy="21945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PROBLEM</a:t>
            </a:r>
          </a:p>
        </p:txBody>
      </p:sp>
      <p:sp>
        <p:nvSpPr>
          <p:cNvPr id="25" name="TextBox 24"/>
          <p:cNvSpPr txBox="1">
            <a:spLocks/>
          </p:cNvSpPr>
          <p:nvPr/>
        </p:nvSpPr>
        <p:spPr>
          <a:xfrm>
            <a:off x="566928" y="3364992"/>
            <a:ext cx="2496312" cy="86177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A standalone merchant chatbot promised more than users experienced, and adoption lagged.</a:t>
            </a:r>
          </a:p>
        </p:txBody>
      </p:sp>
      <p:sp>
        <p:nvSpPr>
          <p:cNvPr id="26" name="Rectangle 25"/>
          <p:cNvSpPr/>
          <p:nvPr/>
        </p:nvSpPr>
        <p:spPr>
          <a:xfrm>
            <a:off x="3493008" y="2212848"/>
            <a:ext cx="2468880" cy="1591056"/>
          </a:xfrm>
          <a:prstGeom prst="rect">
            <a:avLst/>
          </a:prstGeom>
          <a:solidFill>
            <a:srgbClr val="FBF7EF"/>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7" name="Rectangle 26"/>
          <p:cNvSpPr/>
          <p:nvPr/>
        </p:nvSpPr>
        <p:spPr>
          <a:xfrm>
            <a:off x="5961888" y="2212848"/>
            <a:ext cx="2468880" cy="1591056"/>
          </a:xfrm>
          <a:prstGeom prst="rect">
            <a:avLst/>
          </a:prstGeom>
          <a:solidFill>
            <a:srgbClr val="FFF0BF"/>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8" name="Rectangle 27"/>
          <p:cNvSpPr/>
          <p:nvPr/>
        </p:nvSpPr>
        <p:spPr>
          <a:xfrm>
            <a:off x="3493008" y="3803904"/>
            <a:ext cx="2468880" cy="1591056"/>
          </a:xfrm>
          <a:prstGeom prst="rect">
            <a:avLst/>
          </a:prstGeom>
          <a:solidFill>
            <a:srgbClr val="F0E8DA"/>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9" name="Rectangle 28"/>
          <p:cNvSpPr/>
          <p:nvPr/>
        </p:nvSpPr>
        <p:spPr>
          <a:xfrm>
            <a:off x="5961888" y="3803904"/>
            <a:ext cx="2468880" cy="1591056"/>
          </a:xfrm>
          <a:prstGeom prst="rect">
            <a:avLst/>
          </a:prstGeom>
          <a:solidFill>
            <a:srgbClr val="FFE3B3"/>
          </a:solidFill>
          <a:ln w="254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0" name="TextBox 29"/>
          <p:cNvSpPr txBox="1">
            <a:spLocks/>
          </p:cNvSpPr>
          <p:nvPr/>
        </p:nvSpPr>
        <p:spPr>
          <a:xfrm>
            <a:off x="3712463" y="2432304"/>
            <a:ext cx="1920240"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HIGH CONTEXT
LOW WORKFLOW</a:t>
            </a:r>
          </a:p>
        </p:txBody>
      </p:sp>
      <p:sp>
        <p:nvSpPr>
          <p:cNvPr id="31" name="TextBox 30"/>
          <p:cNvSpPr txBox="1">
            <a:spLocks/>
          </p:cNvSpPr>
          <p:nvPr/>
        </p:nvSpPr>
        <p:spPr>
          <a:xfrm>
            <a:off x="3712463" y="4032504"/>
            <a:ext cx="1965960"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LOW CONTEXT
LOW WORKFLOW</a:t>
            </a:r>
          </a:p>
        </p:txBody>
      </p:sp>
      <p:sp>
        <p:nvSpPr>
          <p:cNvPr id="32" name="TextBox 31"/>
          <p:cNvSpPr txBox="1"/>
          <p:nvPr/>
        </p:nvSpPr>
        <p:spPr>
          <a:xfrm>
            <a:off x="6181344" y="4032504"/>
            <a:ext cx="1965960"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LOW CONTEXT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HIGH WORKFLOW</a:t>
            </a:r>
          </a:p>
        </p:txBody>
      </p:sp>
      <p:sp>
        <p:nvSpPr>
          <p:cNvPr id="33" name="TextBox 32"/>
          <p:cNvSpPr txBox="1">
            <a:spLocks/>
          </p:cNvSpPr>
          <p:nvPr/>
        </p:nvSpPr>
        <p:spPr>
          <a:xfrm>
            <a:off x="6217920" y="2432304"/>
            <a:ext cx="1051560" cy="2103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CHOSEN</a:t>
            </a:r>
          </a:p>
        </p:txBody>
      </p:sp>
      <p:sp>
        <p:nvSpPr>
          <p:cNvPr id="34" name="TextBox 33"/>
          <p:cNvSpPr txBox="1">
            <a:spLocks/>
          </p:cNvSpPr>
          <p:nvPr/>
        </p:nvSpPr>
        <p:spPr>
          <a:xfrm>
            <a:off x="6217920" y="2715768"/>
            <a:ext cx="1874519" cy="53035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Merchant
workflows</a:t>
            </a:r>
          </a:p>
        </p:txBody>
      </p:sp>
      <p:sp>
        <p:nvSpPr>
          <p:cNvPr id="35" name="TextBox 34"/>
          <p:cNvSpPr txBox="1">
            <a:spLocks/>
          </p:cNvSpPr>
          <p:nvPr/>
        </p:nvSpPr>
        <p:spPr>
          <a:xfrm>
            <a:off x="6217920" y="3319272"/>
            <a:ext cx="1874519"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Listing, support and sales analysis</a:t>
            </a:r>
          </a:p>
        </p:txBody>
      </p:sp>
      <p:sp>
        <p:nvSpPr>
          <p:cNvPr id="36" name="Oval 35"/>
          <p:cNvSpPr/>
          <p:nvPr/>
        </p:nvSpPr>
        <p:spPr>
          <a:xfrm>
            <a:off x="3877056" y="4892040"/>
            <a:ext cx="210312" cy="210312"/>
          </a:xfrm>
          <a:prstGeom prst="ellipse">
            <a:avLst/>
          </a:prstGeom>
          <a:solidFill>
            <a:srgbClr val="E72500"/>
          </a:solidFill>
          <a:ln w="12700">
            <a:solidFill>
              <a:srgbClr val="E725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7" name="TextBox 36"/>
          <p:cNvSpPr txBox="1">
            <a:spLocks/>
          </p:cNvSpPr>
          <p:nvPr/>
        </p:nvSpPr>
        <p:spPr>
          <a:xfrm>
            <a:off x="4206240" y="4700016"/>
            <a:ext cx="1463040" cy="4754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E72500"/>
                </a:solidFill>
                <a:effectLst/>
                <a:uLnTx/>
                <a:uFillTx/>
                <a:latin typeface="Arial"/>
                <a:ea typeface="+mn-ea"/>
                <a:cs typeface="+mn-cs"/>
              </a:rPr>
              <a:t>Standalone chatbot
visibly lost</a:t>
            </a:r>
          </a:p>
        </p:txBody>
      </p:sp>
      <p:sp>
        <p:nvSpPr>
          <p:cNvPr id="38" name="TextBox 37"/>
          <p:cNvSpPr txBox="1">
            <a:spLocks/>
          </p:cNvSpPr>
          <p:nvPr/>
        </p:nvSpPr>
        <p:spPr>
          <a:xfrm>
            <a:off x="3419856" y="2002536"/>
            <a:ext cx="246888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PROPRIETARY CONTEXT ↑</a:t>
            </a:r>
          </a:p>
        </p:txBody>
      </p:sp>
      <p:sp>
        <p:nvSpPr>
          <p:cNvPr id="39" name="TextBox 38"/>
          <p:cNvSpPr txBox="1">
            <a:spLocks/>
          </p:cNvSpPr>
          <p:nvPr/>
        </p:nvSpPr>
        <p:spPr>
          <a:xfrm>
            <a:off x="5358383" y="5468112"/>
            <a:ext cx="2651760"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WORKFLOW INTEGRATION →</a:t>
            </a:r>
          </a:p>
        </p:txBody>
      </p:sp>
      <p:sp>
        <p:nvSpPr>
          <p:cNvPr id="40" name="TextBox 39"/>
          <p:cNvSpPr txBox="1">
            <a:spLocks/>
          </p:cNvSpPr>
          <p:nvPr/>
        </p:nvSpPr>
        <p:spPr>
          <a:xfrm>
            <a:off x="9272016" y="2249424"/>
            <a:ext cx="2011680" cy="2286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COMMERCIAL PROOF</a:t>
            </a:r>
          </a:p>
        </p:txBody>
      </p:sp>
      <p:sp>
        <p:nvSpPr>
          <p:cNvPr id="41" name="TextBox 40"/>
          <p:cNvSpPr txBox="1">
            <a:spLocks/>
          </p:cNvSpPr>
          <p:nvPr/>
        </p:nvSpPr>
        <p:spPr>
          <a:xfrm>
            <a:off x="8851392" y="2670048"/>
            <a:ext cx="1225296"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50K+</a:t>
            </a:r>
          </a:p>
        </p:txBody>
      </p:sp>
      <p:sp>
        <p:nvSpPr>
          <p:cNvPr id="42" name="TextBox 41"/>
          <p:cNvSpPr txBox="1">
            <a:spLocks/>
          </p:cNvSpPr>
          <p:nvPr/>
        </p:nvSpPr>
        <p:spPr>
          <a:xfrm>
            <a:off x="10104120" y="2697479"/>
            <a:ext cx="118872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MERCHANTS</a:t>
            </a:r>
          </a:p>
        </p:txBody>
      </p:sp>
      <p:sp>
        <p:nvSpPr>
          <p:cNvPr id="43" name="TextBox 42"/>
          <p:cNvSpPr txBox="1">
            <a:spLocks/>
          </p:cNvSpPr>
          <p:nvPr/>
        </p:nvSpPr>
        <p:spPr>
          <a:xfrm>
            <a:off x="10104120" y="2980943"/>
            <a:ext cx="11887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platform scale</a:t>
            </a:r>
          </a:p>
        </p:txBody>
      </p:sp>
      <p:cxnSp>
        <p:nvCxnSpPr>
          <p:cNvPr id="44" name="Connector 43"/>
          <p:cNvCxnSpPr/>
          <p:nvPr/>
        </p:nvCxnSpPr>
        <p:spPr>
          <a:xfrm>
            <a:off x="8851392" y="3273552"/>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5" name="TextBox 44"/>
          <p:cNvSpPr txBox="1">
            <a:spLocks/>
          </p:cNvSpPr>
          <p:nvPr/>
        </p:nvSpPr>
        <p:spPr>
          <a:xfrm>
            <a:off x="8851392" y="3383280"/>
            <a:ext cx="1225296"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40%</a:t>
            </a:r>
          </a:p>
        </p:txBody>
      </p:sp>
      <p:sp>
        <p:nvSpPr>
          <p:cNvPr id="46" name="TextBox 45"/>
          <p:cNvSpPr txBox="1">
            <a:spLocks/>
          </p:cNvSpPr>
          <p:nvPr/>
        </p:nvSpPr>
        <p:spPr>
          <a:xfrm>
            <a:off x="10104120" y="3410712"/>
            <a:ext cx="118872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ADOPTION</a:t>
            </a:r>
          </a:p>
        </p:txBody>
      </p:sp>
      <p:sp>
        <p:nvSpPr>
          <p:cNvPr id="47" name="TextBox 46"/>
          <p:cNvSpPr txBox="1">
            <a:spLocks/>
          </p:cNvSpPr>
          <p:nvPr/>
        </p:nvSpPr>
        <p:spPr>
          <a:xfrm>
            <a:off x="10104120" y="3694176"/>
            <a:ext cx="11887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six months</a:t>
            </a:r>
          </a:p>
        </p:txBody>
      </p:sp>
      <p:cxnSp>
        <p:nvCxnSpPr>
          <p:cNvPr id="48" name="Connector 47"/>
          <p:cNvCxnSpPr/>
          <p:nvPr/>
        </p:nvCxnSpPr>
        <p:spPr>
          <a:xfrm>
            <a:off x="8851392" y="3986784"/>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8851392" y="4096512"/>
            <a:ext cx="1225296"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+15%</a:t>
            </a:r>
          </a:p>
        </p:txBody>
      </p:sp>
      <p:sp>
        <p:nvSpPr>
          <p:cNvPr id="50" name="TextBox 49"/>
          <p:cNvSpPr txBox="1">
            <a:spLocks/>
          </p:cNvSpPr>
          <p:nvPr/>
        </p:nvSpPr>
        <p:spPr>
          <a:xfrm>
            <a:off x="10104120" y="4123944"/>
            <a:ext cx="118872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MERCHANT CVR</a:t>
            </a:r>
          </a:p>
        </p:txBody>
      </p:sp>
      <p:sp>
        <p:nvSpPr>
          <p:cNvPr id="51" name="TextBox 50"/>
          <p:cNvSpPr txBox="1">
            <a:spLocks/>
          </p:cNvSpPr>
          <p:nvPr/>
        </p:nvSpPr>
        <p:spPr>
          <a:xfrm>
            <a:off x="10104120" y="4507992"/>
            <a:ext cx="118872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conversion lift</a:t>
            </a:r>
          </a:p>
        </p:txBody>
      </p:sp>
      <p:cxnSp>
        <p:nvCxnSpPr>
          <p:cNvPr id="52" name="Connector 51"/>
          <p:cNvCxnSpPr/>
          <p:nvPr/>
        </p:nvCxnSpPr>
        <p:spPr>
          <a:xfrm>
            <a:off x="8851392" y="4700016"/>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53" name="TextBox 52"/>
          <p:cNvSpPr txBox="1">
            <a:spLocks/>
          </p:cNvSpPr>
          <p:nvPr/>
        </p:nvSpPr>
        <p:spPr>
          <a:xfrm>
            <a:off x="8851392" y="4809744"/>
            <a:ext cx="1417320" cy="4297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45→12m</a:t>
            </a:r>
          </a:p>
        </p:txBody>
      </p:sp>
      <p:sp>
        <p:nvSpPr>
          <p:cNvPr id="54" name="TextBox 53"/>
          <p:cNvSpPr txBox="1">
            <a:spLocks/>
          </p:cNvSpPr>
          <p:nvPr/>
        </p:nvSpPr>
        <p:spPr>
          <a:xfrm>
            <a:off x="10314432" y="4837176"/>
            <a:ext cx="102412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LISTING TIME</a:t>
            </a:r>
          </a:p>
        </p:txBody>
      </p:sp>
      <p:sp>
        <p:nvSpPr>
          <p:cNvPr id="55" name="TextBox 54"/>
          <p:cNvSpPr txBox="1">
            <a:spLocks/>
          </p:cNvSpPr>
          <p:nvPr/>
        </p:nvSpPr>
        <p:spPr>
          <a:xfrm>
            <a:off x="10314432" y="5120640"/>
            <a:ext cx="1024128"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manual time reduced</a:t>
            </a:r>
          </a:p>
        </p:txBody>
      </p:sp>
      <p:sp>
        <p:nvSpPr>
          <p:cNvPr id="56" name="TextBox 55"/>
          <p:cNvSpPr txBox="1"/>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Moat stack: model → proprietary context → workflow depth → economics → distribution.</a:t>
            </a:r>
          </a:p>
        </p:txBody>
      </p:sp>
      <p:sp>
        <p:nvSpPr>
          <p:cNvPr id="93" name="Icon Problem"/>
          <p:cNvSpPr/>
          <p:nvPr/>
        </p:nvSpPr>
        <p:spPr>
          <a:xfrm>
            <a:off x="566928" y="3035808"/>
            <a:ext cx="274320" cy="274320"/>
          </a:xfrm>
          <a:prstGeom prst="noSmoking">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4" name="Icon Proof"/>
          <p:cNvSpPr/>
          <p:nvPr/>
        </p:nvSpPr>
        <p:spPr>
          <a:xfrm>
            <a:off x="8851392" y="2194560"/>
            <a:ext cx="310896" cy="310896"/>
          </a:xfrm>
          <a:prstGeom prst="upArrow">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95"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96"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
        <p:nvSpPr>
          <p:cNvPr id="300" name="Source Footnote"/>
          <p:cNvSpPr txBox="1"/>
          <p:nvPr/>
        </p:nvSpPr>
        <p:spPr>
          <a:xfrm>
            <a:off x="566928" y="6172200"/>
            <a:ext cx="10469880" cy="123000"/>
          </a:xfrm>
          <a:prstGeom prst="rect">
            <a:avLst/>
          </a:prstGeom>
          <a:noFill/>
        </p:spPr>
        <p:txBody>
          <a:bodyPr wrap="square" lIns="0" tIns="0" rIns="0" bIns="0" anchor="ctr">
            <a:spAutoFit/>
          </a:bodyPr>
          <a:lstStyle/>
          <a:p>
            <a:pPr marL="0" indent="0" algn="l">
              <a:buNone/>
            </a:pPr>
            <a:r>
              <a:rPr lang="en-US" sz="800" b="0" i="0" u="none" kern="1200">
                <a:solidFill>
                  <a:srgbClr val="8A857E"/>
                </a:solidFill>
                <a:latin typeface="Arial"/>
              </a:rPr>
              <a:t>Source: https://global.rakuten.com/corp/news/press/2024/0430_01.html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MICROSOFT DEVELOPER / BUSINESS AI PLATFORM · PLG</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4</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3. Self-service growth: product drives the funnel</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growth strategy, lifecycle design and measurement</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77365"/>
            <a:ext cx="11155680" cy="43088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In self-service, marketing continues in-product: onboarding, first value, retention and expansion must prove the promise.</a:t>
            </a:r>
          </a:p>
        </p:txBody>
      </p:sp>
      <p:cxnSp>
        <p:nvCxnSpPr>
          <p:cNvPr id="21" name="Connector 20"/>
          <p:cNvCxnSpPr/>
          <p:nvPr/>
        </p:nvCxnSpPr>
        <p:spPr>
          <a:xfrm>
            <a:off x="960120" y="2788920"/>
            <a:ext cx="10149840" cy="0"/>
          </a:xfrm>
          <a:prstGeom prst="line">
            <a:avLst/>
          </a:prstGeom>
          <a:ln w="50800">
            <a:solidFill>
              <a:srgbClr val="E5DCCD"/>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04088"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3" name="TextBox 22"/>
          <p:cNvSpPr txBox="1">
            <a:spLocks/>
          </p:cNvSpPr>
          <p:nvPr/>
        </p:nvSpPr>
        <p:spPr>
          <a:xfrm>
            <a:off x="3200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DISCOVER</a:t>
            </a:r>
          </a:p>
        </p:txBody>
      </p:sp>
      <p:sp>
        <p:nvSpPr>
          <p:cNvPr id="24" name="TextBox 23"/>
          <p:cNvSpPr txBox="1">
            <a:spLocks/>
          </p:cNvSpPr>
          <p:nvPr/>
        </p:nvSpPr>
        <p:spPr>
          <a:xfrm>
            <a:off x="914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LinkedIn, Google, PR,
organic and ASO</a:t>
            </a:r>
          </a:p>
        </p:txBody>
      </p:sp>
      <p:cxnSp>
        <p:nvCxnSpPr>
          <p:cNvPr id="25" name="Connector 24"/>
          <p:cNvCxnSpPr/>
          <p:nvPr/>
        </p:nvCxnSpPr>
        <p:spPr>
          <a:xfrm>
            <a:off x="960120" y="3986784"/>
            <a:ext cx="0" cy="384048"/>
          </a:xfrm>
          <a:prstGeom prst="line">
            <a:avLst/>
          </a:prstGeom>
          <a:ln w="25400">
            <a:solidFill>
              <a:srgbClr val="E725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a:spLocks/>
          </p:cNvSpPr>
          <p:nvPr/>
        </p:nvSpPr>
        <p:spPr>
          <a:xfrm>
            <a:off x="45720" y="4507992"/>
            <a:ext cx="1828800" cy="5232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E72500"/>
                </a:solidFill>
                <a:effectLst/>
                <a:uLnTx/>
                <a:uFillTx/>
                <a:latin typeface="Arial"/>
                <a:ea typeface="+mn-ea"/>
                <a:cs typeface="+mn-cs"/>
              </a:rPr>
              <a:t>top-of-funnel demand</a:t>
            </a:r>
          </a:p>
        </p:txBody>
      </p:sp>
      <p:sp>
        <p:nvSpPr>
          <p:cNvPr id="27" name="Oval 26"/>
          <p:cNvSpPr/>
          <p:nvPr/>
        </p:nvSpPr>
        <p:spPr>
          <a:xfrm>
            <a:off x="3218687"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8" name="TextBox 27"/>
          <p:cNvSpPr txBox="1">
            <a:spLocks/>
          </p:cNvSpPr>
          <p:nvPr/>
        </p:nvSpPr>
        <p:spPr>
          <a:xfrm>
            <a:off x="2834639" y="2240280"/>
            <a:ext cx="1280160" cy="22860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EVALUATE</a:t>
            </a:r>
          </a:p>
        </p:txBody>
      </p:sp>
      <p:sp>
        <p:nvSpPr>
          <p:cNvPr id="29" name="TextBox 28"/>
          <p:cNvSpPr txBox="1">
            <a:spLocks/>
          </p:cNvSpPr>
          <p:nvPr/>
        </p:nvSpPr>
        <p:spPr>
          <a:xfrm>
            <a:off x="2606039"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First run: time to</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first value</a:t>
            </a:r>
          </a:p>
        </p:txBody>
      </p:sp>
      <p:cxnSp>
        <p:nvCxnSpPr>
          <p:cNvPr id="30" name="Connector 29"/>
          <p:cNvCxnSpPr/>
          <p:nvPr/>
        </p:nvCxnSpPr>
        <p:spPr>
          <a:xfrm>
            <a:off x="3474720" y="3986784"/>
            <a:ext cx="0" cy="384048"/>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31" name="TextBox 30"/>
          <p:cNvSpPr txBox="1">
            <a:spLocks/>
          </p:cNvSpPr>
          <p:nvPr/>
        </p:nvSpPr>
        <p:spPr>
          <a:xfrm>
            <a:off x="2560320" y="4507992"/>
            <a:ext cx="1828800" cy="26161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4B00"/>
                </a:solidFill>
                <a:effectLst/>
                <a:uLnTx/>
                <a:uFillTx/>
                <a:latin typeface="Arial"/>
                <a:ea typeface="+mn-ea"/>
                <a:cs typeface="+mn-cs"/>
              </a:rPr>
              <a:t>first-run clarity</a:t>
            </a:r>
          </a:p>
        </p:txBody>
      </p:sp>
      <p:sp>
        <p:nvSpPr>
          <p:cNvPr id="32" name="Oval 31"/>
          <p:cNvSpPr/>
          <p:nvPr/>
        </p:nvSpPr>
        <p:spPr>
          <a:xfrm>
            <a:off x="5733288" y="2532888"/>
            <a:ext cx="512064" cy="512064"/>
          </a:xfrm>
          <a:prstGeom prst="ellipse">
            <a:avLst/>
          </a:prstGeom>
          <a:solidFill>
            <a:srgbClr val="FF6A00"/>
          </a:solidFill>
          <a:ln w="12700">
            <a:solidFill>
              <a:srgbClr val="FF6A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3" name="TextBox 32"/>
          <p:cNvSpPr txBox="1">
            <a:spLocks/>
          </p:cNvSpPr>
          <p:nvPr/>
        </p:nvSpPr>
        <p:spPr>
          <a:xfrm>
            <a:off x="53492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ACTIVATE</a:t>
            </a:r>
          </a:p>
        </p:txBody>
      </p:sp>
      <p:sp>
        <p:nvSpPr>
          <p:cNvPr id="34" name="TextBox 33"/>
          <p:cNvSpPr txBox="1">
            <a:spLocks/>
          </p:cNvSpPr>
          <p:nvPr/>
        </p:nvSpPr>
        <p:spPr>
          <a:xfrm>
            <a:off x="51206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Deploy a meaningful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workload</a:t>
            </a:r>
          </a:p>
        </p:txBody>
      </p:sp>
      <p:cxnSp>
        <p:nvCxnSpPr>
          <p:cNvPr id="35" name="Connector 34"/>
          <p:cNvCxnSpPr/>
          <p:nvPr/>
        </p:nvCxnSpPr>
        <p:spPr>
          <a:xfrm>
            <a:off x="5989320" y="3986784"/>
            <a:ext cx="0" cy="384048"/>
          </a:xfrm>
          <a:prstGeom prst="line">
            <a:avLst/>
          </a:prstGeom>
          <a:ln w="25400">
            <a:solidFill>
              <a:srgbClr val="FF6A00"/>
            </a:solidFill>
          </a:ln>
        </p:spPr>
        <p:style>
          <a:lnRef idx="2">
            <a:schemeClr val="accent1"/>
          </a:lnRef>
          <a:fillRef idx="0">
            <a:schemeClr val="accent1"/>
          </a:fillRef>
          <a:effectRef idx="1">
            <a:schemeClr val="accent1"/>
          </a:effectRef>
          <a:fontRef idx="minor">
            <a:schemeClr val="tx1"/>
          </a:fontRef>
        </p:style>
      </p:cxnSp>
      <p:sp>
        <p:nvSpPr>
          <p:cNvPr id="36" name="TextBox 35"/>
          <p:cNvSpPr txBox="1">
            <a:spLocks/>
          </p:cNvSpPr>
          <p:nvPr/>
        </p:nvSpPr>
        <p:spPr>
          <a:xfrm>
            <a:off x="5074920" y="4507992"/>
            <a:ext cx="1828800" cy="26161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6A00"/>
                </a:solidFill>
                <a:effectLst/>
                <a:uLnTx/>
                <a:uFillTx/>
                <a:latin typeface="Arial"/>
                <a:ea typeface="+mn-ea"/>
                <a:cs typeface="+mn-cs"/>
              </a:rPr>
              <a:t>activation +262%</a:t>
            </a:r>
          </a:p>
        </p:txBody>
      </p:sp>
      <p:sp>
        <p:nvSpPr>
          <p:cNvPr id="37" name="Oval 36"/>
          <p:cNvSpPr/>
          <p:nvPr/>
        </p:nvSpPr>
        <p:spPr>
          <a:xfrm>
            <a:off x="8019288"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8" name="TextBox 37"/>
          <p:cNvSpPr txBox="1">
            <a:spLocks/>
          </p:cNvSpPr>
          <p:nvPr/>
        </p:nvSpPr>
        <p:spPr>
          <a:xfrm>
            <a:off x="76352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RETAIN</a:t>
            </a:r>
          </a:p>
        </p:txBody>
      </p:sp>
      <p:sp>
        <p:nvSpPr>
          <p:cNvPr id="39" name="TextBox 38"/>
          <p:cNvSpPr txBox="1">
            <a:spLocks/>
          </p:cNvSpPr>
          <p:nvPr/>
        </p:nvSpPr>
        <p:spPr>
          <a:xfrm>
            <a:off x="74066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Cohort and lifecycle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interventions</a:t>
            </a:r>
          </a:p>
        </p:txBody>
      </p:sp>
      <p:cxnSp>
        <p:nvCxnSpPr>
          <p:cNvPr id="40" name="Connector 39"/>
          <p:cNvCxnSpPr/>
          <p:nvPr/>
        </p:nvCxnSpPr>
        <p:spPr>
          <a:xfrm>
            <a:off x="8275320" y="3986784"/>
            <a:ext cx="0" cy="384048"/>
          </a:xfrm>
          <a:prstGeom prst="line">
            <a:avLst/>
          </a:prstGeom>
          <a:ln w="25400">
            <a:solidFill>
              <a:srgbClr val="FFC400"/>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7360920" y="4507992"/>
            <a:ext cx="1828800" cy="26161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C400"/>
                </a:solidFill>
                <a:effectLst/>
                <a:uLnTx/>
                <a:uFillTx/>
                <a:latin typeface="Arial"/>
                <a:ea typeface="+mn-ea"/>
                <a:cs typeface="+mn-cs"/>
              </a:rPr>
              <a:t>churn 14→6.5%</a:t>
            </a:r>
          </a:p>
        </p:txBody>
      </p:sp>
      <p:sp>
        <p:nvSpPr>
          <p:cNvPr id="42" name="Oval 41"/>
          <p:cNvSpPr/>
          <p:nvPr/>
        </p:nvSpPr>
        <p:spPr>
          <a:xfrm>
            <a:off x="10533888" y="2532888"/>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43" name="TextBox 42"/>
          <p:cNvSpPr txBox="1">
            <a:spLocks/>
          </p:cNvSpPr>
          <p:nvPr/>
        </p:nvSpPr>
        <p:spPr>
          <a:xfrm>
            <a:off x="10149840" y="2240280"/>
            <a:ext cx="1280160"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EXPAND</a:t>
            </a:r>
          </a:p>
        </p:txBody>
      </p:sp>
      <p:sp>
        <p:nvSpPr>
          <p:cNvPr id="44" name="TextBox 43"/>
          <p:cNvSpPr txBox="1">
            <a:spLocks/>
          </p:cNvSpPr>
          <p:nvPr/>
        </p:nvSpPr>
        <p:spPr>
          <a:xfrm>
            <a:off x="9921240" y="3246120"/>
            <a:ext cx="1737360" cy="430887"/>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Propensity models +
win-back paths</a:t>
            </a:r>
          </a:p>
        </p:txBody>
      </p:sp>
      <p:cxnSp>
        <p:nvCxnSpPr>
          <p:cNvPr id="45" name="Connector 44"/>
          <p:cNvCxnSpPr/>
          <p:nvPr/>
        </p:nvCxnSpPr>
        <p:spPr>
          <a:xfrm>
            <a:off x="10789920" y="3986784"/>
            <a:ext cx="0" cy="384048"/>
          </a:xfrm>
          <a:prstGeom prst="line">
            <a:avLst/>
          </a:prstGeom>
          <a:ln w="25400">
            <a:solidFill>
              <a:srgbClr val="FFB5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a:spLocks/>
          </p:cNvSpPr>
          <p:nvPr/>
        </p:nvSpPr>
        <p:spPr>
          <a:xfrm>
            <a:off x="9875520" y="4389120"/>
            <a:ext cx="1828800" cy="932688"/>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B52E"/>
                </a:solidFill>
                <a:effectLst/>
                <a:uLnTx/>
                <a:uFillTx/>
                <a:latin typeface="Arial"/>
                <a:ea typeface="+mn-ea"/>
                <a:cs typeface="+mn-cs"/>
              </a:rPr>
              <a:t>NRR 102→128%
win-back 4→22%</a:t>
            </a:r>
          </a:p>
        </p:txBody>
      </p:sp>
      <p:sp>
        <p:nvSpPr>
          <p:cNvPr id="47" name="Rectangle 46"/>
          <p:cNvSpPr/>
          <p:nvPr/>
        </p:nvSpPr>
        <p:spPr>
          <a:xfrm>
            <a:off x="594360" y="5468112"/>
            <a:ext cx="10972800" cy="566928"/>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48" name="TextBox 47"/>
          <p:cNvSpPr txBox="1">
            <a:spLocks/>
          </p:cNvSpPr>
          <p:nvPr/>
        </p:nvSpPr>
        <p:spPr>
          <a:xfrm>
            <a:off x="868680" y="5611627"/>
            <a:ext cx="10424160" cy="26161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FFFFF"/>
                </a:solidFill>
                <a:effectLst/>
                <a:uLnTx/>
                <a:uFillTx/>
                <a:latin typeface="Arial"/>
                <a:ea typeface="+mn-ea"/>
                <a:cs typeface="+mn-cs"/>
              </a:rPr>
              <a:t>Acquisition is only the beginning: cut time-to-first-value, then earn retention and expansion.</a:t>
            </a:r>
          </a:p>
        </p:txBody>
      </p:sp>
      <p:sp>
        <p:nvSpPr>
          <p:cNvPr id="49" name="TextBox 48"/>
          <p:cNvSpPr txBox="1">
            <a:spLocks/>
          </p:cNvSpPr>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NRR = net revenue retention; activation = meaningful first value; win-back = returning lost users; ASO = App Store Optimization</a:t>
            </a:r>
          </a:p>
        </p:txBody>
      </p:sp>
      <p:sp>
        <p:nvSpPr>
          <p:cNvPr id="95" name="Stage Glyph 0"/>
          <p:cNvSpPr/>
          <p:nvPr/>
        </p:nvSpPr>
        <p:spPr>
          <a:xfrm>
            <a:off x="841248" y="2670048"/>
            <a:ext cx="237744" cy="237744"/>
          </a:xfrm>
          <a:prstGeom prst="sun">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6" name="Stage Glyph 1"/>
          <p:cNvSpPr/>
          <p:nvPr/>
        </p:nvSpPr>
        <p:spPr>
          <a:xfrm>
            <a:off x="3355848" y="2670048"/>
            <a:ext cx="237744" cy="237744"/>
          </a:xfrm>
          <a:prstGeom prst="flowChartDecision">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7" name="Stage Glyph 2"/>
          <p:cNvSpPr/>
          <p:nvPr/>
        </p:nvSpPr>
        <p:spPr>
          <a:xfrm>
            <a:off x="5870448" y="2670048"/>
            <a:ext cx="237744" cy="237744"/>
          </a:xfrm>
          <a:prstGeom prst="lightningBolt">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8" name="Stage Glyph 3"/>
          <p:cNvSpPr/>
          <p:nvPr/>
        </p:nvSpPr>
        <p:spPr>
          <a:xfrm>
            <a:off x="8156448" y="2670048"/>
            <a:ext cx="237744" cy="237744"/>
          </a:xfrm>
          <a:prstGeom prst="circularArrow">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9" name="Stage Glyph 4"/>
          <p:cNvSpPr/>
          <p:nvPr/>
        </p:nvSpPr>
        <p:spPr>
          <a:xfrm>
            <a:off x="10671048" y="2670048"/>
            <a:ext cx="237744" cy="237744"/>
          </a:xfrm>
          <a:prstGeom prst="upArrow">
            <a:avLst/>
          </a:prstGeom>
          <a:solidFill>
            <a:srgbClr val="FFFFFF"/>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100"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10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
        <p:nvSpPr>
          <p:cNvPr id="300" name="Source Footnote"/>
          <p:cNvSpPr txBox="1"/>
          <p:nvPr/>
        </p:nvSpPr>
        <p:spPr>
          <a:xfrm>
            <a:off x="566928" y="6172200"/>
            <a:ext cx="10469880" cy="123000"/>
          </a:xfrm>
          <a:prstGeom prst="rect">
            <a:avLst/>
          </a:prstGeom>
          <a:noFill/>
        </p:spPr>
        <p:txBody>
          <a:bodyPr wrap="square" lIns="0" tIns="0" rIns="0" bIns="0" anchor="ctr">
            <a:spAutoFit/>
          </a:bodyPr>
          <a:lstStyle/>
          <a:p>
            <a:pPr marL="0" indent="0" algn="l">
              <a:buNone/>
            </a:pPr>
            <a:r>
              <a:rPr lang="en-US" sz="800" b="0" i="0" u="none" kern="1200">
                <a:solidFill>
                  <a:srgbClr val="8A857E"/>
                </a:solidFill>
                <a:latin typeface="Arial"/>
              </a:rPr>
              <a:t>Source: https://azure.microsoft.com/en-us/blog/the-next-wave-of-azure-innovation-azure-ai-foundry-intelligent-data-and-more/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MICROSOFT REGULATED CLOUD / AI PLATFORM · FIELD ENABLEMENT &amp; ENTERPRISE GTM</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5504A"/>
                </a:solidFill>
                <a:effectLst/>
                <a:uLnTx/>
                <a:uFillTx/>
                <a:latin typeface="Arial"/>
                <a:ea typeface="+mn-ea"/>
                <a:cs typeface="+mn-cs"/>
              </a:rPr>
              <a:t>5</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4. Field enablement: turn blockers into field plays</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cross-functional GTM for regulated financial-services deployments</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77365"/>
            <a:ext cx="11155680" cy="43088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When one objection blocks many deals, solve it with product and engineering, then give the field a repeatable response.</a:t>
            </a:r>
          </a:p>
        </p:txBody>
      </p:sp>
      <p:cxnSp>
        <p:nvCxnSpPr>
          <p:cNvPr id="21" name="Connector 20"/>
          <p:cNvCxnSpPr/>
          <p:nvPr/>
        </p:nvCxnSpPr>
        <p:spPr>
          <a:xfrm>
            <a:off x="3767328" y="2194559"/>
            <a:ext cx="0" cy="38862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818120" y="2194559"/>
            <a:ext cx="0" cy="38862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3" name="TextBox 22"/>
          <p:cNvSpPr txBox="1">
            <a:spLocks/>
          </p:cNvSpPr>
          <p:nvPr/>
        </p:nvSpPr>
        <p:spPr>
          <a:xfrm>
            <a:off x="1225296" y="2221992"/>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01</a:t>
            </a:r>
          </a:p>
        </p:txBody>
      </p:sp>
      <p:sp>
        <p:nvSpPr>
          <p:cNvPr id="24" name="TextBox 23"/>
          <p:cNvSpPr txBox="1">
            <a:spLocks/>
          </p:cNvSpPr>
          <p:nvPr/>
        </p:nvSpPr>
        <p:spPr>
          <a:xfrm>
            <a:off x="1225296" y="2441448"/>
            <a:ext cx="219456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CUSTOMER BLOCKERS</a:t>
            </a:r>
          </a:p>
        </p:txBody>
      </p:sp>
      <p:sp>
        <p:nvSpPr>
          <p:cNvPr id="25" name="TextBox 24"/>
          <p:cNvSpPr txBox="1">
            <a:spLocks/>
          </p:cNvSpPr>
          <p:nvPr/>
        </p:nvSpPr>
        <p:spPr>
          <a:xfrm>
            <a:off x="640080" y="3127248"/>
            <a:ext cx="2788920" cy="63093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121212"/>
                </a:solidFill>
                <a:effectLst/>
                <a:uLnTx/>
                <a:uFillTx/>
                <a:latin typeface="Arial"/>
                <a:ea typeface="+mn-ea"/>
                <a:cs typeface="+mn-cs"/>
              </a:rPr>
              <a:t>Sovereignty was the wedge. Buyers asked:</a:t>
            </a:r>
          </a:p>
        </p:txBody>
      </p:sp>
      <p:sp>
        <p:nvSpPr>
          <p:cNvPr id="26" name="Rectangle 25"/>
          <p:cNvSpPr/>
          <p:nvPr/>
        </p:nvSpPr>
        <p:spPr>
          <a:xfrm>
            <a:off x="667512" y="3858768"/>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7" name="TextBox 26"/>
          <p:cNvSpPr txBox="1">
            <a:spLocks/>
          </p:cNvSpPr>
          <p:nvPr/>
        </p:nvSpPr>
        <p:spPr>
          <a:xfrm>
            <a:off x="896112" y="3785616"/>
            <a:ext cx="260604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Where does data live?</a:t>
            </a:r>
          </a:p>
        </p:txBody>
      </p:sp>
      <p:sp>
        <p:nvSpPr>
          <p:cNvPr id="28" name="Rectangle 27"/>
          <p:cNvSpPr/>
          <p:nvPr/>
        </p:nvSpPr>
        <p:spPr>
          <a:xfrm>
            <a:off x="667512" y="4425696"/>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9" name="TextBox 28"/>
          <p:cNvSpPr txBox="1">
            <a:spLocks/>
          </p:cNvSpPr>
          <p:nvPr/>
        </p:nvSpPr>
        <p:spPr>
          <a:xfrm>
            <a:off x="896112" y="4352544"/>
            <a:ext cx="260604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Who controls access?</a:t>
            </a:r>
          </a:p>
        </p:txBody>
      </p:sp>
      <p:sp>
        <p:nvSpPr>
          <p:cNvPr id="30" name="Rectangle 29"/>
          <p:cNvSpPr/>
          <p:nvPr/>
        </p:nvSpPr>
        <p:spPr>
          <a:xfrm>
            <a:off x="667512" y="4992624"/>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1" name="TextBox 30"/>
          <p:cNvSpPr txBox="1">
            <a:spLocks/>
          </p:cNvSpPr>
          <p:nvPr/>
        </p:nvSpPr>
        <p:spPr>
          <a:xfrm>
            <a:off x="896112" y="4919472"/>
            <a:ext cx="260604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Can this satisfy local rules?</a:t>
            </a:r>
          </a:p>
        </p:txBody>
      </p:sp>
      <p:sp>
        <p:nvSpPr>
          <p:cNvPr id="32" name="Rectangle 31"/>
          <p:cNvSpPr/>
          <p:nvPr/>
        </p:nvSpPr>
        <p:spPr>
          <a:xfrm>
            <a:off x="667512" y="555955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rial"/>
              <a:ea typeface="+mn-ea"/>
              <a:cs typeface="+mn-cs"/>
            </a:endParaRPr>
          </a:p>
        </p:txBody>
      </p:sp>
      <p:sp>
        <p:nvSpPr>
          <p:cNvPr id="33" name="TextBox 32"/>
          <p:cNvSpPr txBox="1">
            <a:spLocks/>
          </p:cNvSpPr>
          <p:nvPr/>
        </p:nvSpPr>
        <p:spPr>
          <a:xfrm>
            <a:off x="896112" y="5486400"/>
            <a:ext cx="260604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Will latency work in production?</a:t>
            </a:r>
          </a:p>
        </p:txBody>
      </p:sp>
      <p:sp>
        <p:nvSpPr>
          <p:cNvPr id="34" name="TextBox 33"/>
          <p:cNvSpPr txBox="1">
            <a:spLocks/>
          </p:cNvSpPr>
          <p:nvPr/>
        </p:nvSpPr>
        <p:spPr>
          <a:xfrm>
            <a:off x="4700016" y="2221992"/>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02</a:t>
            </a:r>
          </a:p>
        </p:txBody>
      </p:sp>
      <p:sp>
        <p:nvSpPr>
          <p:cNvPr id="35" name="TextBox 34"/>
          <p:cNvSpPr txBox="1">
            <a:spLocks/>
          </p:cNvSpPr>
          <p:nvPr/>
        </p:nvSpPr>
        <p:spPr>
          <a:xfrm>
            <a:off x="4700016" y="2441448"/>
            <a:ext cx="246888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PRODUCTIZED ANSWER</a:t>
            </a:r>
          </a:p>
        </p:txBody>
      </p:sp>
      <p:sp>
        <p:nvSpPr>
          <p:cNvPr id="36" name="TextBox 35"/>
          <p:cNvSpPr txBox="1">
            <a:spLocks/>
          </p:cNvSpPr>
          <p:nvPr/>
        </p:nvSpPr>
        <p:spPr>
          <a:xfrm>
            <a:off x="4114800" y="3127248"/>
            <a:ext cx="3291840" cy="86177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Cross-functional playbook across product, engineering, legal and field: data residency, customer-controlled keys and compliance by design.</a:t>
            </a:r>
          </a:p>
        </p:txBody>
      </p:sp>
      <p:sp>
        <p:nvSpPr>
          <p:cNvPr id="37" name="TextBox 36"/>
          <p:cNvSpPr txBox="1">
            <a:spLocks/>
          </p:cNvSpPr>
          <p:nvPr/>
        </p:nvSpPr>
        <p:spPr>
          <a:xfrm>
            <a:off x="4114800" y="4151376"/>
            <a:ext cx="3291840" cy="64633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Technical unlock: replaced FHE with confidential computing to run secure architecture at production latency.</a:t>
            </a:r>
          </a:p>
        </p:txBody>
      </p:sp>
      <p:cxnSp>
        <p:nvCxnSpPr>
          <p:cNvPr id="38" name="Connector 37"/>
          <p:cNvCxnSpPr/>
          <p:nvPr/>
        </p:nvCxnSpPr>
        <p:spPr>
          <a:xfrm>
            <a:off x="4114800" y="4956048"/>
            <a:ext cx="3337560" cy="0"/>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39" name="TextBox 38"/>
          <p:cNvSpPr txBox="1">
            <a:spLocks/>
          </p:cNvSpPr>
          <p:nvPr/>
        </p:nvSpPr>
        <p:spPr>
          <a:xfrm>
            <a:off x="4114800" y="5157216"/>
            <a:ext cx="3337560" cy="492443"/>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a:ln>
                  <a:noFill/>
                </a:ln>
                <a:solidFill>
                  <a:srgbClr val="FF4B00"/>
                </a:solidFill>
                <a:effectLst/>
                <a:uLnTx/>
                <a:uFillTx/>
                <a:latin typeface="Arial"/>
                <a:ea typeface="+mn-ea"/>
                <a:cs typeface="+mn-cs"/>
              </a:rPr>
              <a:t>14s → 220ms</a:t>
            </a:r>
          </a:p>
        </p:txBody>
      </p:sp>
      <p:sp>
        <p:nvSpPr>
          <p:cNvPr id="40" name="TextBox 39"/>
          <p:cNvSpPr txBox="1">
            <a:spLocks/>
          </p:cNvSpPr>
          <p:nvPr/>
        </p:nvSpPr>
        <p:spPr>
          <a:xfrm>
            <a:off x="4114800" y="5742432"/>
            <a:ext cx="3337560"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secure production latency</a:t>
            </a:r>
          </a:p>
        </p:txBody>
      </p:sp>
      <p:sp>
        <p:nvSpPr>
          <p:cNvPr id="41" name="TextBox 40"/>
          <p:cNvSpPr txBox="1">
            <a:spLocks/>
          </p:cNvSpPr>
          <p:nvPr/>
        </p:nvSpPr>
        <p:spPr>
          <a:xfrm>
            <a:off x="8759952" y="2221992"/>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03</a:t>
            </a:r>
          </a:p>
        </p:txBody>
      </p:sp>
      <p:sp>
        <p:nvSpPr>
          <p:cNvPr id="42" name="TextBox 41"/>
          <p:cNvSpPr txBox="1">
            <a:spLocks/>
          </p:cNvSpPr>
          <p:nvPr/>
        </p:nvSpPr>
        <p:spPr>
          <a:xfrm>
            <a:off x="8759952" y="2441448"/>
            <a:ext cx="22860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FIELD PROOF</a:t>
            </a:r>
          </a:p>
        </p:txBody>
      </p:sp>
      <p:sp>
        <p:nvSpPr>
          <p:cNvPr id="43" name="TextBox 42"/>
          <p:cNvSpPr txBox="1">
            <a:spLocks/>
          </p:cNvSpPr>
          <p:nvPr/>
        </p:nvSpPr>
        <p:spPr>
          <a:xfrm>
            <a:off x="8156448" y="316382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10+</a:t>
            </a:r>
          </a:p>
        </p:txBody>
      </p:sp>
      <p:sp>
        <p:nvSpPr>
          <p:cNvPr id="44" name="TextBox 43"/>
          <p:cNvSpPr txBox="1">
            <a:spLocks/>
          </p:cNvSpPr>
          <p:nvPr/>
        </p:nvSpPr>
        <p:spPr>
          <a:xfrm>
            <a:off x="8156448" y="356616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engagements</a:t>
            </a:r>
          </a:p>
        </p:txBody>
      </p:sp>
      <p:cxnSp>
        <p:nvCxnSpPr>
          <p:cNvPr id="45" name="Connector 44"/>
          <p:cNvCxnSpPr/>
          <p:nvPr/>
        </p:nvCxnSpPr>
        <p:spPr>
          <a:xfrm>
            <a:off x="8156448" y="3913632"/>
            <a:ext cx="15544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6" name="TextBox 45"/>
          <p:cNvSpPr txBox="1">
            <a:spLocks/>
          </p:cNvSpPr>
          <p:nvPr/>
        </p:nvSpPr>
        <p:spPr>
          <a:xfrm>
            <a:off x="9966960" y="316382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9→3 mo</a:t>
            </a:r>
          </a:p>
        </p:txBody>
      </p:sp>
      <p:sp>
        <p:nvSpPr>
          <p:cNvPr id="47" name="TextBox 46"/>
          <p:cNvSpPr txBox="1">
            <a:spLocks/>
          </p:cNvSpPr>
          <p:nvPr/>
        </p:nvSpPr>
        <p:spPr>
          <a:xfrm>
            <a:off x="9966960" y="356616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time-to-compliance</a:t>
            </a:r>
          </a:p>
        </p:txBody>
      </p:sp>
      <p:cxnSp>
        <p:nvCxnSpPr>
          <p:cNvPr id="48" name="Connector 47"/>
          <p:cNvCxnSpPr/>
          <p:nvPr/>
        </p:nvCxnSpPr>
        <p:spPr>
          <a:xfrm>
            <a:off x="9966960" y="3913632"/>
            <a:ext cx="15544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8156448" y="416966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$5M</a:t>
            </a:r>
          </a:p>
        </p:txBody>
      </p:sp>
      <p:sp>
        <p:nvSpPr>
          <p:cNvPr id="50" name="TextBox 49"/>
          <p:cNvSpPr txBox="1">
            <a:spLocks/>
          </p:cNvSpPr>
          <p:nvPr/>
        </p:nvSpPr>
        <p:spPr>
          <a:xfrm>
            <a:off x="8156448" y="457200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account rescued</a:t>
            </a:r>
          </a:p>
        </p:txBody>
      </p:sp>
      <p:cxnSp>
        <p:nvCxnSpPr>
          <p:cNvPr id="51" name="Connector 50"/>
          <p:cNvCxnSpPr/>
          <p:nvPr/>
        </p:nvCxnSpPr>
        <p:spPr>
          <a:xfrm>
            <a:off x="8156448" y="4919472"/>
            <a:ext cx="15544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52" name="TextBox 51"/>
          <p:cNvSpPr txBox="1">
            <a:spLocks/>
          </p:cNvSpPr>
          <p:nvPr/>
        </p:nvSpPr>
        <p:spPr>
          <a:xfrm>
            <a:off x="9966960" y="416966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$2M</a:t>
            </a:r>
          </a:p>
        </p:txBody>
      </p:sp>
      <p:sp>
        <p:nvSpPr>
          <p:cNvPr id="53" name="TextBox 52"/>
          <p:cNvSpPr txBox="1">
            <a:spLocks/>
          </p:cNvSpPr>
          <p:nvPr/>
        </p:nvSpPr>
        <p:spPr>
          <a:xfrm>
            <a:off x="9966960" y="457200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expansion won</a:t>
            </a:r>
          </a:p>
        </p:txBody>
      </p:sp>
      <p:cxnSp>
        <p:nvCxnSpPr>
          <p:cNvPr id="54" name="Connector 53"/>
          <p:cNvCxnSpPr/>
          <p:nvPr/>
        </p:nvCxnSpPr>
        <p:spPr>
          <a:xfrm>
            <a:off x="9966960" y="4919472"/>
            <a:ext cx="15544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55" name="TextBox 54"/>
          <p:cNvSpPr txBox="1">
            <a:spLocks/>
          </p:cNvSpPr>
          <p:nvPr/>
        </p:nvSpPr>
        <p:spPr>
          <a:xfrm>
            <a:off x="8156448" y="517550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121212"/>
                </a:solidFill>
                <a:effectLst/>
                <a:uLnTx/>
                <a:uFillTx/>
                <a:latin typeface="Arial"/>
                <a:ea typeface="+mn-ea"/>
                <a:cs typeface="+mn-cs"/>
              </a:rPr>
              <a:t>0</a:t>
            </a:r>
          </a:p>
        </p:txBody>
      </p:sp>
      <p:sp>
        <p:nvSpPr>
          <p:cNvPr id="56" name="TextBox 55"/>
          <p:cNvSpPr txBox="1">
            <a:spLocks/>
          </p:cNvSpPr>
          <p:nvPr/>
        </p:nvSpPr>
        <p:spPr>
          <a:xfrm>
            <a:off x="8156448" y="557784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breaches</a:t>
            </a:r>
          </a:p>
        </p:txBody>
      </p:sp>
      <p:sp>
        <p:nvSpPr>
          <p:cNvPr id="57" name="TextBox 56"/>
          <p:cNvSpPr txBox="1">
            <a:spLocks/>
          </p:cNvSpPr>
          <p:nvPr/>
        </p:nvSpPr>
        <p:spPr>
          <a:xfrm>
            <a:off x="9966960" y="5175504"/>
            <a:ext cx="162763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+61%</a:t>
            </a:r>
          </a:p>
        </p:txBody>
      </p:sp>
      <p:sp>
        <p:nvSpPr>
          <p:cNvPr id="58" name="TextBox 57"/>
          <p:cNvSpPr txBox="1">
            <a:spLocks/>
          </p:cNvSpPr>
          <p:nvPr/>
        </p:nvSpPr>
        <p:spPr>
          <a:xfrm>
            <a:off x="9966960" y="5577840"/>
            <a:ext cx="1572768"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AI ROI</a:t>
            </a:r>
          </a:p>
        </p:txBody>
      </p:sp>
      <p:sp>
        <p:nvSpPr>
          <p:cNvPr id="59" name="TextBox 58"/>
          <p:cNvSpPr txBox="1">
            <a:spLocks/>
          </p:cNvSpPr>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Definitions: FHE = fully homomorphic encryption; AI ROI = benefit-to-cost improvement.</a:t>
            </a:r>
          </a:p>
        </p:txBody>
      </p:sp>
      <p:sp>
        <p:nvSpPr>
          <p:cNvPr id="80" name="Icon Blockers"/>
          <p:cNvSpPr/>
          <p:nvPr/>
        </p:nvSpPr>
        <p:spPr>
          <a:xfrm>
            <a:off x="621792" y="2212848"/>
            <a:ext cx="457200" cy="457200"/>
          </a:xfrm>
          <a:prstGeom prst="noSmoking">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81" name="Icon Answer"/>
          <p:cNvSpPr/>
          <p:nvPr/>
        </p:nvSpPr>
        <p:spPr>
          <a:xfrm>
            <a:off x="4078224" y="2194559"/>
            <a:ext cx="493776" cy="493776"/>
          </a:xfrm>
          <a:prstGeom prst="gear6">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82" name="Icon Proof"/>
          <p:cNvSpPr/>
          <p:nvPr/>
        </p:nvSpPr>
        <p:spPr>
          <a:xfrm>
            <a:off x="8174736" y="2212848"/>
            <a:ext cx="457200" cy="457200"/>
          </a:xfrm>
          <a:prstGeom prst="upArrow">
            <a:avLst/>
          </a:prstGeom>
          <a:solidFill>
            <a:srgbClr val="FFC4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83" name="Official Mistral footer symbol" descr="image.png"/>
          <p:cNvPicPr>
            <a:picLocks noChangeAspect="1"/>
          </p:cNvPicPr>
          <p:nvPr/>
        </p:nvPicPr>
        <p:blipFill>
          <a:blip r:embed="rId3"/>
          <a:srcRect/>
          <a:stretch>
            <a:fillRect/>
          </a:stretch>
        </p:blipFill>
        <p:spPr>
          <a:xfrm>
            <a:off x="11594592" y="6400800"/>
            <a:ext cx="228600" cy="163413"/>
          </a:xfrm>
          <a:prstGeom prst="rect">
            <a:avLst/>
          </a:prstGeom>
        </p:spPr>
      </p:pic>
      <p:pic>
        <p:nvPicPr>
          <p:cNvPr id="8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
        <p:nvSpPr>
          <p:cNvPr id="300" name="Source Footnote"/>
          <p:cNvSpPr txBox="1"/>
          <p:nvPr/>
        </p:nvSpPr>
        <p:spPr>
          <a:xfrm>
            <a:off x="566928" y="6172200"/>
            <a:ext cx="10469880" cy="123000"/>
          </a:xfrm>
          <a:prstGeom prst="rect">
            <a:avLst/>
          </a:prstGeom>
          <a:noFill/>
        </p:spPr>
        <p:txBody>
          <a:bodyPr wrap="square" lIns="0" tIns="0" rIns="0" bIns="0" anchor="ctr">
            <a:spAutoFit/>
          </a:bodyPr>
          <a:lstStyle/>
          <a:p>
            <a:pPr marL="0" indent="0" algn="l">
              <a:buNone/>
            </a:pPr>
            <a:r>
              <a:rPr lang="en-US" sz="800" b="0" i="0" u="none" kern="1200">
                <a:solidFill>
                  <a:srgbClr val="8A857E"/>
                </a:solidFill>
                <a:latin typeface="Arial"/>
              </a:rPr>
              <a:t>Source: https://www.microsoft.com/en-us/microsoft-cloud/blog/financial-services/2021/02/24/announcing-microsoft-cloud-for-financial-services/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AWS BEDROCK AGENTCORE · ENTERPRISE AGENT PLATFORM POSITIONING</a:t>
            </a:r>
          </a:p>
        </p:txBody>
      </p:sp>
      <p:sp>
        <p:nvSpPr>
          <p:cNvPr id="15" name="TextBox 14"/>
          <p:cNvSpPr txBox="1">
            <a:spLocks/>
          </p:cNvSpPr>
          <p:nvPr/>
        </p:nvSpPr>
        <p:spPr>
          <a:xfrm>
            <a:off x="11137392" y="6400800"/>
            <a:ext cx="292608" cy="153619"/>
          </a:xfrm>
          <a:prstGeom prst="rect">
            <a:avLst/>
          </a:prstGeom>
          <a:noFill/>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6</a:t>
            </a:r>
          </a:p>
        </p:txBody>
      </p:sp>
      <p:sp>
        <p:nvSpPr>
          <p:cNvPr id="16" name="TextBox 15"/>
          <p:cNvSpPr txBox="1">
            <a:spLocks/>
          </p:cNvSpPr>
          <p:nvPr/>
        </p:nvSpPr>
        <p:spPr>
          <a:xfrm>
            <a:off x="502920" y="576072"/>
            <a:ext cx="1115568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5. AgentCore: prototype to secure production</a:t>
            </a:r>
          </a:p>
        </p:txBody>
      </p:sp>
      <p:sp>
        <p:nvSpPr>
          <p:cNvPr id="17" name="Rectangle 16"/>
          <p:cNvSpPr/>
          <p:nvPr/>
        </p:nvSpPr>
        <p:spPr>
          <a:xfrm>
            <a:off x="502920" y="1207008"/>
            <a:ext cx="68580"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121212"/>
                </a:solidFill>
                <a:effectLst/>
                <a:uLnTx/>
                <a:uFillTx/>
                <a:latin typeface="Arial"/>
                <a:ea typeface="+mn-ea"/>
                <a:cs typeface="+mn-cs"/>
              </a:rPr>
              <a:t>positioning, launch and adoption for Amazon Bedrock AgentCore at AWS</a:t>
            </a:r>
          </a:p>
        </p:txBody>
      </p:sp>
      <p:cxnSp>
        <p:nvCxnSpPr>
          <p:cNvPr id="19" name="Connector 18"/>
          <p:cNvCxnSpPr/>
          <p:nvPr/>
        </p:nvCxnSpPr>
        <p:spPr>
          <a:xfrm>
            <a:off x="502920" y="162763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77365"/>
            <a:ext cx="11155680" cy="430887"/>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“Get an agent into production without rebuilding the enterprise security and operational layer yourself.”</a:t>
            </a:r>
          </a:p>
        </p:txBody>
      </p:sp>
      <p:sp>
        <p:nvSpPr>
          <p:cNvPr id="200" name="Icon Stage Flow"/>
          <p:cNvSpPr/>
          <p:nvPr/>
        </p:nvSpPr>
        <p:spPr>
          <a:xfrm>
            <a:off x="502920" y="2135000"/>
            <a:ext cx="228600" cy="228600"/>
          </a:xfrm>
          <a:prstGeom prst="chevron">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3" name="TextBox 22"/>
          <p:cNvSpPr txBox="1">
            <a:spLocks/>
          </p:cNvSpPr>
          <p:nvPr/>
        </p:nvSpPr>
        <p:spPr>
          <a:xfrm>
            <a:off x="502920" y="2400000"/>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01</a:t>
            </a:r>
          </a:p>
        </p:txBody>
      </p:sp>
      <p:sp>
        <p:nvSpPr>
          <p:cNvPr id="24" name="TextBox 23"/>
          <p:cNvSpPr txBox="1">
            <a:spLocks/>
          </p:cNvSpPr>
          <p:nvPr/>
        </p:nvSpPr>
        <p:spPr>
          <a:xfrm>
            <a:off x="502920" y="2620000"/>
            <a:ext cx="32004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PLATFORM STAGE FLOW</a:t>
            </a:r>
          </a:p>
        </p:txBody>
      </p:sp>
      <p:sp>
        <p:nvSpPr>
          <p:cNvPr id="100" name="Stage Marker 1"/>
          <p:cNvSpPr/>
          <p:nvPr/>
        </p:nvSpPr>
        <p:spPr>
          <a:xfrm>
            <a:off x="50292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1" name="Stage Label 1"/>
          <p:cNvSpPr txBox="1">
            <a:spLocks/>
          </p:cNvSpPr>
          <p:nvPr/>
        </p:nvSpPr>
        <p:spPr>
          <a:xfrm>
            <a:off x="50292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Prototype</a:t>
            </a:r>
          </a:p>
        </p:txBody>
      </p:sp>
      <p:sp>
        <p:nvSpPr>
          <p:cNvPr id="102" name="Flow Arrow 1"/>
          <p:cNvSpPr txBox="1">
            <a:spLocks/>
          </p:cNvSpPr>
          <p:nvPr/>
        </p:nvSpPr>
        <p:spPr>
          <a:xfrm>
            <a:off x="2452920" y="3090000"/>
            <a:ext cx="351420" cy="276999"/>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03" name="Stage Marker 2"/>
          <p:cNvSpPr/>
          <p:nvPr/>
        </p:nvSpPr>
        <p:spPr>
          <a:xfrm>
            <a:off x="280434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4" name="Stage Label 2"/>
          <p:cNvSpPr txBox="1">
            <a:spLocks/>
          </p:cNvSpPr>
          <p:nvPr/>
        </p:nvSpPr>
        <p:spPr>
          <a:xfrm>
            <a:off x="280434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Connect</a:t>
            </a:r>
          </a:p>
        </p:txBody>
      </p:sp>
      <p:sp>
        <p:nvSpPr>
          <p:cNvPr id="105" name="Flow Arrow 2"/>
          <p:cNvSpPr txBox="1">
            <a:spLocks/>
          </p:cNvSpPr>
          <p:nvPr/>
        </p:nvSpPr>
        <p:spPr>
          <a:xfrm>
            <a:off x="4754340" y="3090000"/>
            <a:ext cx="351420" cy="276999"/>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06" name="Stage Marker 3"/>
          <p:cNvSpPr/>
          <p:nvPr/>
        </p:nvSpPr>
        <p:spPr>
          <a:xfrm>
            <a:off x="510576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7" name="Stage Label 3"/>
          <p:cNvSpPr txBox="1">
            <a:spLocks/>
          </p:cNvSpPr>
          <p:nvPr/>
        </p:nvSpPr>
        <p:spPr>
          <a:xfrm>
            <a:off x="510576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Secure</a:t>
            </a:r>
          </a:p>
        </p:txBody>
      </p:sp>
      <p:sp>
        <p:nvSpPr>
          <p:cNvPr id="108" name="Flow Arrow 3"/>
          <p:cNvSpPr txBox="1">
            <a:spLocks/>
          </p:cNvSpPr>
          <p:nvPr/>
        </p:nvSpPr>
        <p:spPr>
          <a:xfrm>
            <a:off x="7055760" y="3090000"/>
            <a:ext cx="351420" cy="276999"/>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09" name="Stage Marker 4"/>
          <p:cNvSpPr/>
          <p:nvPr/>
        </p:nvSpPr>
        <p:spPr>
          <a:xfrm>
            <a:off x="740718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0" name="Stage Label 4"/>
          <p:cNvSpPr txBox="1">
            <a:spLocks/>
          </p:cNvSpPr>
          <p:nvPr/>
        </p:nvSpPr>
        <p:spPr>
          <a:xfrm>
            <a:off x="740718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Govern</a:t>
            </a:r>
          </a:p>
        </p:txBody>
      </p:sp>
      <p:sp>
        <p:nvSpPr>
          <p:cNvPr id="111" name="Flow Arrow 4"/>
          <p:cNvSpPr txBox="1">
            <a:spLocks/>
          </p:cNvSpPr>
          <p:nvPr/>
        </p:nvSpPr>
        <p:spPr>
          <a:xfrm>
            <a:off x="9357180" y="3090000"/>
            <a:ext cx="351420" cy="276999"/>
          </a:xfrm>
          <a:prstGeom prst="rect">
            <a:avLst/>
          </a:prstGeom>
          <a:noFill/>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12" name="Stage Marker 5"/>
          <p:cNvSpPr/>
          <p:nvPr/>
        </p:nvSpPr>
        <p:spPr>
          <a:xfrm>
            <a:off x="9708600" y="2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3" name="Stage Label 5"/>
          <p:cNvSpPr txBox="1">
            <a:spLocks/>
          </p:cNvSpPr>
          <p:nvPr/>
        </p:nvSpPr>
        <p:spPr>
          <a:xfrm>
            <a:off x="9708600" y="3090000"/>
            <a:ext cx="1950000" cy="27699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Production</a:t>
            </a:r>
          </a:p>
        </p:txBody>
      </p:sp>
      <p:cxnSp>
        <p:nvCxnSpPr>
          <p:cNvPr id="21" name="Connector 20"/>
          <p:cNvCxnSpPr/>
          <p:nvPr/>
        </p:nvCxnSpPr>
        <p:spPr>
          <a:xfrm>
            <a:off x="502920" y="3450000"/>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67328" y="3560000"/>
            <a:ext cx="0" cy="24000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18120" y="3560000"/>
            <a:ext cx="0" cy="24000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1" name="Icon Capabilities"/>
          <p:cNvSpPr/>
          <p:nvPr/>
        </p:nvSpPr>
        <p:spPr>
          <a:xfrm>
            <a:off x="502920" y="3500000"/>
            <a:ext cx="228600" cy="228600"/>
          </a:xfrm>
          <a:prstGeom prst="gear6">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1" name="TextBox 30"/>
          <p:cNvSpPr txBox="1">
            <a:spLocks/>
          </p:cNvSpPr>
          <p:nvPr/>
        </p:nvSpPr>
        <p:spPr>
          <a:xfrm>
            <a:off x="502920" y="3790000"/>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02</a:t>
            </a:r>
          </a:p>
        </p:txBody>
      </p:sp>
      <p:sp>
        <p:nvSpPr>
          <p:cNvPr id="32" name="TextBox 31"/>
          <p:cNvSpPr txBox="1">
            <a:spLocks/>
          </p:cNvSpPr>
          <p:nvPr/>
        </p:nvSpPr>
        <p:spPr>
          <a:xfrm>
            <a:off x="502920" y="4010000"/>
            <a:ext cx="29000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PLATFORM CAPABILITIES</a:t>
            </a:r>
          </a:p>
        </p:txBody>
      </p:sp>
      <p:sp>
        <p:nvSpPr>
          <p:cNvPr id="114" name="Cap Marker 1"/>
          <p:cNvSpPr/>
          <p:nvPr/>
        </p:nvSpPr>
        <p:spPr>
          <a:xfrm>
            <a:off x="502920" y="43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5" name="Cap Label 1"/>
          <p:cNvSpPr txBox="1">
            <a:spLocks/>
          </p:cNvSpPr>
          <p:nvPr/>
        </p:nvSpPr>
        <p:spPr>
          <a:xfrm>
            <a:off x="658368" y="43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Enterprise connectivity</a:t>
            </a:r>
          </a:p>
        </p:txBody>
      </p:sp>
      <p:sp>
        <p:nvSpPr>
          <p:cNvPr id="116" name="Cap Marker 2"/>
          <p:cNvSpPr/>
          <p:nvPr/>
        </p:nvSpPr>
        <p:spPr>
          <a:xfrm>
            <a:off x="502920" y="46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7" name="Cap Label 2"/>
          <p:cNvSpPr txBox="1">
            <a:spLocks/>
          </p:cNvSpPr>
          <p:nvPr/>
        </p:nvSpPr>
        <p:spPr>
          <a:xfrm>
            <a:off x="658368" y="46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Identity &amp; access controls</a:t>
            </a:r>
          </a:p>
        </p:txBody>
      </p:sp>
      <p:sp>
        <p:nvSpPr>
          <p:cNvPr id="118" name="Cap Marker 3"/>
          <p:cNvSpPr/>
          <p:nvPr/>
        </p:nvSpPr>
        <p:spPr>
          <a:xfrm>
            <a:off x="502920" y="4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9" name="Cap Label 3"/>
          <p:cNvSpPr txBox="1">
            <a:spLocks/>
          </p:cNvSpPr>
          <p:nvPr/>
        </p:nvSpPr>
        <p:spPr>
          <a:xfrm>
            <a:off x="658368" y="49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Execution traces</a:t>
            </a:r>
          </a:p>
        </p:txBody>
      </p:sp>
      <p:sp>
        <p:nvSpPr>
          <p:cNvPr id="120" name="Cap Marker 4"/>
          <p:cNvSpPr/>
          <p:nvPr/>
        </p:nvSpPr>
        <p:spPr>
          <a:xfrm>
            <a:off x="502920" y="52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1" name="Cap Label 4"/>
          <p:cNvSpPr txBox="1">
            <a:spLocks/>
          </p:cNvSpPr>
          <p:nvPr/>
        </p:nvSpPr>
        <p:spPr>
          <a:xfrm>
            <a:off x="658368" y="52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Policy enforcement</a:t>
            </a:r>
          </a:p>
        </p:txBody>
      </p:sp>
      <p:sp>
        <p:nvSpPr>
          <p:cNvPr id="122" name="Cap Marker 5"/>
          <p:cNvSpPr/>
          <p:nvPr/>
        </p:nvSpPr>
        <p:spPr>
          <a:xfrm>
            <a:off x="502920" y="55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3" name="Cap Label 5"/>
          <p:cNvSpPr txBox="1">
            <a:spLocks/>
          </p:cNvSpPr>
          <p:nvPr/>
        </p:nvSpPr>
        <p:spPr>
          <a:xfrm>
            <a:off x="658368" y="5500000"/>
            <a:ext cx="29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Managed runtime</a:t>
            </a:r>
          </a:p>
        </p:txBody>
      </p:sp>
      <p:sp>
        <p:nvSpPr>
          <p:cNvPr id="202" name="Icon Paired"/>
          <p:cNvSpPr/>
          <p:nvPr/>
        </p:nvSpPr>
        <p:spPr>
          <a:xfrm>
            <a:off x="4114800" y="3500000"/>
            <a:ext cx="228600" cy="228600"/>
          </a:xfrm>
          <a:prstGeom prst="mathPlus">
            <a:avLst/>
          </a:prstGeom>
          <a:solidFill>
            <a:srgbClr val="FF4B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3" name="TextBox 32"/>
          <p:cNvSpPr txBox="1">
            <a:spLocks/>
          </p:cNvSpPr>
          <p:nvPr/>
        </p:nvSpPr>
        <p:spPr>
          <a:xfrm>
            <a:off x="4114800" y="3790000"/>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03</a:t>
            </a:r>
          </a:p>
        </p:txBody>
      </p:sp>
      <p:sp>
        <p:nvSpPr>
          <p:cNvPr id="34" name="TextBox 33"/>
          <p:cNvSpPr txBox="1">
            <a:spLocks/>
          </p:cNvSpPr>
          <p:nvPr/>
        </p:nvSpPr>
        <p:spPr>
          <a:xfrm>
            <a:off x="4114800" y="4010000"/>
            <a:ext cx="31000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PAIRED WITH BEDROCK</a:t>
            </a:r>
          </a:p>
        </p:txBody>
      </p:sp>
      <p:sp>
        <p:nvSpPr>
          <p:cNvPr id="124" name="Pair Marker 1"/>
          <p:cNvSpPr/>
          <p:nvPr/>
        </p:nvSpPr>
        <p:spPr>
          <a:xfrm>
            <a:off x="4114800" y="43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5" name="Pair Label 1"/>
          <p:cNvSpPr txBox="1">
            <a:spLocks/>
          </p:cNvSpPr>
          <p:nvPr/>
        </p:nvSpPr>
        <p:spPr>
          <a:xfrm>
            <a:off x="4270248" y="4300000"/>
            <a:ext cx="31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Retrieval</a:t>
            </a:r>
          </a:p>
        </p:txBody>
      </p:sp>
      <p:sp>
        <p:nvSpPr>
          <p:cNvPr id="126" name="Pair Marker 2"/>
          <p:cNvSpPr/>
          <p:nvPr/>
        </p:nvSpPr>
        <p:spPr>
          <a:xfrm>
            <a:off x="4114800" y="46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7" name="Pair Label 2"/>
          <p:cNvSpPr txBox="1">
            <a:spLocks/>
          </p:cNvSpPr>
          <p:nvPr/>
        </p:nvSpPr>
        <p:spPr>
          <a:xfrm>
            <a:off x="4270248" y="4600000"/>
            <a:ext cx="31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Guardrails</a:t>
            </a:r>
          </a:p>
        </p:txBody>
      </p:sp>
      <p:sp>
        <p:nvSpPr>
          <p:cNvPr id="128" name="Pair Marker 3"/>
          <p:cNvSpPr/>
          <p:nvPr/>
        </p:nvSpPr>
        <p:spPr>
          <a:xfrm>
            <a:off x="4114800" y="49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9" name="Pair Label 3"/>
          <p:cNvSpPr txBox="1">
            <a:spLocks/>
          </p:cNvSpPr>
          <p:nvPr/>
        </p:nvSpPr>
        <p:spPr>
          <a:xfrm>
            <a:off x="4270248" y="4900000"/>
            <a:ext cx="31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Evaluations</a:t>
            </a:r>
          </a:p>
        </p:txBody>
      </p:sp>
      <p:sp>
        <p:nvSpPr>
          <p:cNvPr id="130" name="Pair Marker 4"/>
          <p:cNvSpPr/>
          <p:nvPr/>
        </p:nvSpPr>
        <p:spPr>
          <a:xfrm>
            <a:off x="4114800" y="5250000"/>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31" name="Pair Label 4"/>
          <p:cNvSpPr txBox="1">
            <a:spLocks/>
          </p:cNvSpPr>
          <p:nvPr/>
        </p:nvSpPr>
        <p:spPr>
          <a:xfrm>
            <a:off x="4270248" y="5200000"/>
            <a:ext cx="31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Cost-quality routing</a:t>
            </a:r>
          </a:p>
        </p:txBody>
      </p:sp>
      <p:sp>
        <p:nvSpPr>
          <p:cNvPr id="35" name="TextBox 34"/>
          <p:cNvSpPr txBox="1">
            <a:spLocks/>
          </p:cNvSpPr>
          <p:nvPr/>
        </p:nvSpPr>
        <p:spPr>
          <a:xfrm>
            <a:off x="4114800" y="5620000"/>
            <a:ext cx="325500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Ship agents without rebuilding the enterprise security and operational layer yourself.</a:t>
            </a:r>
          </a:p>
        </p:txBody>
      </p:sp>
      <p:sp>
        <p:nvSpPr>
          <p:cNvPr id="203" name="Icon Evidence"/>
          <p:cNvSpPr/>
          <p:nvPr/>
        </p:nvSpPr>
        <p:spPr>
          <a:xfrm>
            <a:off x="8156448" y="3500000"/>
            <a:ext cx="228600" cy="228600"/>
          </a:xfrm>
          <a:prstGeom prst="upArrow">
            <a:avLst/>
          </a:prstGeom>
          <a:solidFill>
            <a:srgbClr val="FFC400"/>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6" name="TextBox 35"/>
          <p:cNvSpPr txBox="1">
            <a:spLocks/>
          </p:cNvSpPr>
          <p:nvPr/>
        </p:nvSpPr>
        <p:spPr>
          <a:xfrm>
            <a:off x="8156448" y="3790000"/>
            <a:ext cx="457200" cy="20116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04</a:t>
            </a:r>
          </a:p>
        </p:txBody>
      </p:sp>
      <p:sp>
        <p:nvSpPr>
          <p:cNvPr id="37" name="TextBox 36"/>
          <p:cNvSpPr txBox="1">
            <a:spLocks/>
          </p:cNvSpPr>
          <p:nvPr/>
        </p:nvSpPr>
        <p:spPr>
          <a:xfrm>
            <a:off x="8156448" y="4010000"/>
            <a:ext cx="33000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EVIDENCE</a:t>
            </a:r>
          </a:p>
        </p:txBody>
      </p:sp>
      <p:sp>
        <p:nvSpPr>
          <p:cNvPr id="38" name="TextBox 37"/>
          <p:cNvSpPr txBox="1">
            <a:spLocks/>
          </p:cNvSpPr>
          <p:nvPr/>
        </p:nvSpPr>
        <p:spPr>
          <a:xfrm>
            <a:off x="8156448" y="4270000"/>
            <a:ext cx="3502152" cy="492443"/>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a:ln>
                  <a:noFill/>
                </a:ln>
                <a:solidFill>
                  <a:srgbClr val="FF4B00"/>
                </a:solidFill>
                <a:effectLst/>
                <a:uLnTx/>
                <a:uFillTx/>
                <a:latin typeface="Arial"/>
                <a:ea typeface="+mn-ea"/>
                <a:cs typeface="+mn-cs"/>
              </a:rPr>
              <a:t>2M+</a:t>
            </a:r>
          </a:p>
        </p:txBody>
      </p:sp>
      <p:sp>
        <p:nvSpPr>
          <p:cNvPr id="39" name="TextBox 38"/>
          <p:cNvSpPr txBox="1">
            <a:spLocks/>
          </p:cNvSpPr>
          <p:nvPr/>
        </p:nvSpPr>
        <p:spPr>
          <a:xfrm>
            <a:off x="8156448" y="4830000"/>
            <a:ext cx="350215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SDK downloads in 5 months of preview</a:t>
            </a:r>
          </a:p>
        </p:txBody>
      </p:sp>
      <p:cxnSp>
        <p:nvCxnSpPr>
          <p:cNvPr id="40" name="Connector 39"/>
          <p:cNvCxnSpPr/>
          <p:nvPr/>
        </p:nvCxnSpPr>
        <p:spPr>
          <a:xfrm>
            <a:off x="8156448" y="5300000"/>
            <a:ext cx="3502152" cy="0"/>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8156448" y="5420000"/>
            <a:ext cx="350215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Customer research and product telemetry sharpened positioning, launch and adoption.</a:t>
            </a:r>
          </a:p>
        </p:txBody>
      </p:sp>
      <p:sp>
        <p:nvSpPr>
          <p:cNvPr id="59" name="TextBox 58"/>
          <p:cNvSpPr txBox="1">
            <a:spLocks/>
          </p:cNvSpPr>
          <p:nvPr/>
        </p:nvSpPr>
        <p:spPr>
          <a:xfrm>
            <a:off x="566928" y="6400800"/>
            <a:ext cx="10469880" cy="15361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Amazon Bedrock AgentCore is an AWS managed platform for enterprise agents; SDK figure covers the preview period.</a:t>
            </a:r>
          </a:p>
        </p:txBody>
      </p:sp>
      <p:pic>
        <p:nvPicPr>
          <p:cNvPr id="83" name="Official Mistral footer symbol" descr="Mistral symbol mark in the slide footer"/>
          <p:cNvPicPr>
            <a:picLocks noChangeAspect="1"/>
          </p:cNvPicPr>
          <p:nvPr/>
        </p:nvPicPr>
        <p:blipFill>
          <a:blip r:embed="rId3"/>
          <a:stretch>
            <a:fillRect/>
          </a:stretch>
        </p:blipFill>
        <p:spPr>
          <a:xfrm>
            <a:off x="11594592" y="6400800"/>
            <a:ext cx="228600" cy="163413"/>
          </a:xfrm>
          <a:prstGeom prst="rect">
            <a:avLst/>
          </a:prstGeom>
        </p:spPr>
      </p:pic>
      <p:pic>
        <p:nvPicPr>
          <p:cNvPr id="84" name="Official Mistral header symbol" descr="Mistral symbol mark in the slide header"/>
          <p:cNvPicPr>
            <a:picLocks noChangeAspect="1"/>
          </p:cNvPicPr>
          <p:nvPr/>
        </p:nvPicPr>
        <p:blipFill>
          <a:blip r:embed="rId3"/>
          <a:stretch>
            <a:fillRect/>
          </a:stretch>
        </p:blipFill>
        <p:spPr>
          <a:xfrm>
            <a:off x="182880" y="182880"/>
            <a:ext cx="228600" cy="163413"/>
          </a:xfrm>
          <a:prstGeom prst="rect">
            <a:avLst/>
          </a:prstGeom>
        </p:spPr>
      </p:pic>
      <p:sp>
        <p:nvSpPr>
          <p:cNvPr id="300" name="Source Footnote"/>
          <p:cNvSpPr txBox="1"/>
          <p:nvPr/>
        </p:nvSpPr>
        <p:spPr>
          <a:xfrm>
            <a:off x="566928" y="6172200"/>
            <a:ext cx="10469880" cy="123000"/>
          </a:xfrm>
          <a:prstGeom prst="rect">
            <a:avLst/>
          </a:prstGeom>
          <a:noFill/>
        </p:spPr>
        <p:txBody>
          <a:bodyPr wrap="square" lIns="0" tIns="0" rIns="0" bIns="0" anchor="ctr">
            <a:spAutoFit/>
          </a:bodyPr>
          <a:lstStyle/>
          <a:p>
            <a:pPr marL="0" indent="0" algn="l">
              <a:buNone/>
            </a:pPr>
            <a:r>
              <a:rPr lang="en-US" sz="800" b="0" i="0" u="none" kern="1200">
                <a:solidFill>
                  <a:srgbClr val="8A857E"/>
                </a:solidFill>
                <a:latin typeface="Arial"/>
              </a:rPr>
              <a:t>Source: https://aws.amazon.com/blogs/aws/introducing-amazon-bedrock-agentcore-securely-deploy-and-operate-ai-agents-at-any-scale/</a:t>
            </a:r>
          </a:p>
        </p:txBody>
      </p:sp>
    </p:spTree>
    <p:extLst>
      <p:ext uri="{BB962C8B-B14F-4D97-AF65-F5344CB8AC3E}">
        <p14:creationId xmlns:p14="http://schemas.microsoft.com/office/powerpoint/2010/main" val="1143945509"/>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255</TotalTime>
  <Words>3115</Words>
  <Application>Microsoft Office PowerPoint</Application>
  <PresentationFormat>Widescreen</PresentationFormat>
  <Paragraphs>307</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Aptos</vt:lpstr>
      <vt:lpstr>Arial</vt:lpstr>
      <vt:lpstr>2_Office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Mistral AI - Author Profile &amp; Team Background</dc:title>
  <dc:subject>Author profile background and team bios</dc:subject>
  <dc:creator>Shiv, Prospective PMM, Mistral Studio</dc:creator>
  <cp:keywords>mistral-ai, author-profile, team, background</cp:keywords>
  <cp:lastModifiedBy>Shivam Singh</cp:lastModifiedBy>
  <cp:revision>120</cp:revision>
  <dcterms:created xsi:type="dcterms:W3CDTF">2026-08-16T20:55:47Z</dcterms:created>
  <dcterms:modified xsi:type="dcterms:W3CDTF">2026-08-17T17:07:08Z</dcterms:modified>
</cp:coreProperties>
</file>