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7796B-6E7C-4F10-9803-11935AD4BC1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2B38-EC44-4B44-8575-CA30B2FC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1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Shivam Singh resume variants: AI PMM, AI Product, Growth Marketing, Partner GTM, AI TPM, Strategy. Acronyms defined inline: GTM = go-to-market; PMF = product-market fit; PLG = product-led growth. Slide is designed as an executive spoken answer, not a prep-note checklist.</a:t>
            </a:r>
          </a:p>
          <a:p>
            <a:r>
              <a:rPr lang="en-US"/>
              <a:t>Spoken answer: I turn complex AI platforms into adoption across strategy, product, growth and enterprise GTM. Mistral Studio is the logical next step: it unites fast builder self-service with trusted enterprise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AI PMM resume for research-led repositioning, metrics and Japanese localization. AI Product / AI TPM resumes for RAG, evaluations, human-in-the-loop controls and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AI PMM, AI Product, Partner GTM, Strategy and Investments resumes. PMF = product-market fit. Evidence includes 70+ business units, 50K+ merchants, buy-intelligence/build-context thesis, external foundation model, PII protection, hybrid retrieval, knowledge graph, standalone chatbot discontinuation, adoption/outcomes.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AI PMM, AI Product and Growth Marketing resumes. Acronyms defined inline: PLG = product-led growth; NRR = net revenue retention; ASO = App Store Optimization; RICE = reach, impact, confidence, effort. Evidence includes activation +262%, NRR 102%→128%, churn 14%→6.5%, win-back 4%→22%, lifecycle telemetry, time-to-first-value, cohort analysis, propensity models and campaign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Partner GTM, AI TPM and FinTech Product resumes. FHE = fully homomorphic encryption. Evidence includes regulated customer objections, compliance-as-a-feature messaging, product/engineering/legal/field alignment, FHE→confidential computing pivot, latency 14s→220ms, SOPs across 10+ customer engagements, time-to-compliance 9→3 months, zero breaches, AI ROI +61%, $5M rescue and $2M upsell.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70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26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SHIV | AUTHOR PROFILE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758952"/>
            <a:ext cx="100584" cy="132588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86384" y="722376"/>
            <a:ext cx="996696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I fit Mistral Studio PMM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804672" y="1719072"/>
            <a:ext cx="8869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Translate complex AI platforms into clear customer value.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804672" y="23957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CAREER THREAD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2953512"/>
            <a:ext cx="10268712" cy="0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60120" y="2761488"/>
            <a:ext cx="384048" cy="384048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60120" y="2825496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960120" y="32644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STRATEGY → SYSTEMS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60120" y="358444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Regulated systems and lifecycle growth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2761488"/>
            <a:ext cx="384048" cy="384048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617720" y="2825496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02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4617720" y="32644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GENAI PRODUCT–MARKET 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58444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Positioning, launch readiness and localization at AWS</a:t>
            </a:r>
          </a:p>
        </p:txBody>
      </p:sp>
      <p:sp>
        <p:nvSpPr>
          <p:cNvPr id="29" name="Oval 28"/>
          <p:cNvSpPr/>
          <p:nvPr/>
        </p:nvSpPr>
        <p:spPr>
          <a:xfrm>
            <a:off x="8458200" y="2761488"/>
            <a:ext cx="384048" cy="384048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458200" y="2825496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458200" y="32644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COMMERCIALIZATION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458200" y="358444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From builder clarity to enterprise adoption at scale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09744"/>
            <a:ext cx="12191695" cy="149047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40080" y="50109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PRODUCT GAP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640080" y="5376672"/>
            <a:ext cx="4892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Teams prototype quickly, but struggle to turn demos into governed workflows users adopt and enterprises trust.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60" y="5047488"/>
            <a:ext cx="0" cy="941832"/>
          </a:xfrm>
          <a:prstGeom prst="line">
            <a:avLst/>
          </a:prstGeom>
          <a:ln w="12700">
            <a:solidFill>
              <a:srgbClr val="555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/>
          </p:cNvSpPr>
          <p:nvPr/>
        </p:nvSpPr>
        <p:spPr>
          <a:xfrm>
            <a:off x="6199632" y="501091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MISTRAL / STUDIO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6199632" y="5376672"/>
            <a:ext cx="516636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Frontier open models on a production platform.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contribution: make Studio easier to understand, evaluate and adopt.</a:t>
            </a:r>
          </a:p>
        </p:txBody>
      </p:sp>
      <p:pic>
        <p:nvPicPr>
          <p:cNvPr id="39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40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AWS GENAI SHOPPING ASSISTANT · PRODUCT-MARKET FIT &amp; USER TRUST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Positioning: from “chat” to decision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research-led positioning, trust proof and adoption measurement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730222"/>
            <a:ext cx="11155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Define the job users can trust, then prove the promise in the experience.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1078992" y="2258568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BEFORE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58368" y="2587752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“Chat with AI”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3099816"/>
            <a:ext cx="26517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Broad and hard to trust at purchase.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38144" y="2212848"/>
            <a:ext cx="0" cy="158191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776472" y="2221992"/>
            <a:ext cx="3246120" cy="15544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443984" y="245973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 TRUST LOGIC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4023360" y="2852928"/>
            <a:ext cx="269748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Retrieval quality + task evaluations + human review + guardrails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70064" y="2212848"/>
            <a:ext cx="0" cy="1581912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>
            <a:spLocks/>
          </p:cNvSpPr>
          <p:nvPr/>
        </p:nvSpPr>
        <p:spPr>
          <a:xfrm>
            <a:off x="8119872" y="22585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AFTER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7699248" y="2587752"/>
            <a:ext cx="39319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“Decide better, faster”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7699248" y="3099816"/>
            <a:ext cx="3566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Focused and actionable at the point of choice.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4160520"/>
            <a:ext cx="1088136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>
            <a:spLocks/>
          </p:cNvSpPr>
          <p:nvPr/>
        </p:nvSpPr>
        <p:spPr>
          <a:xfrm>
            <a:off x="658368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25%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58368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ADOPTION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658368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eligible users engaged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15184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/>
          </p:cNvSpPr>
          <p:nvPr/>
        </p:nvSpPr>
        <p:spPr>
          <a:xfrm>
            <a:off x="281635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55→70%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281635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FAVORABILITY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281635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among exposed users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09744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>
            <a:spLocks/>
          </p:cNvSpPr>
          <p:nvPr/>
        </p:nvSpPr>
        <p:spPr>
          <a:xfrm>
            <a:off x="501091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+15%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501091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SESSION DEPTH</a:t>
            </a: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501091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deeper engagement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04304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>
            <a:spLocks/>
          </p:cNvSpPr>
          <p:nvPr/>
        </p:nvSpPr>
        <p:spPr>
          <a:xfrm>
            <a:off x="720547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2.8%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720547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HALLUCINATION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720547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evaluated failure rate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98863" y="4498848"/>
            <a:ext cx="0" cy="1307592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>
            <a:spLocks/>
          </p:cNvSpPr>
          <p:nvPr/>
        </p:nvSpPr>
        <p:spPr>
          <a:xfrm>
            <a:off x="9400032" y="4462272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JP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9400032" y="5001768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LOCALIZATION</a:t>
            </a:r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9400032" y="533095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tone, tokenization + UX</a:t>
            </a:r>
          </a:p>
        </p:txBody>
      </p:sp>
      <p:sp>
        <p:nvSpPr>
          <p:cNvPr id="90" name="Icon Before"/>
          <p:cNvSpPr/>
          <p:nvPr/>
        </p:nvSpPr>
        <p:spPr>
          <a:xfrm>
            <a:off x="658368" y="2203704"/>
            <a:ext cx="310896" cy="310896"/>
          </a:xfrm>
          <a:prstGeom prst="wedgeEllipseCallout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Icon Trust"/>
          <p:cNvSpPr/>
          <p:nvPr/>
        </p:nvSpPr>
        <p:spPr>
          <a:xfrm>
            <a:off x="4023360" y="2404872"/>
            <a:ext cx="310896" cy="310896"/>
          </a:xfrm>
          <a:prstGeom prst="flowChartDecision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Icon After"/>
          <p:cNvSpPr/>
          <p:nvPr/>
        </p:nvSpPr>
        <p:spPr>
          <a:xfrm>
            <a:off x="7699248" y="2231136"/>
            <a:ext cx="310896" cy="310896"/>
          </a:xfrm>
          <a:prstGeom prst="rightArrow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3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94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RAKUTEN MERCHANT GENAI PLATFORM · MARKET INTELLIGENCE &amp; MOAT STRATEGY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55504A"/>
                </a:solidFill>
                <a:latin typeface="Arial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55504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Market intelligence: context + workflow won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intelligence, moat strategy and platform investment choice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70078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moat was not the model—it was proprietary context + workflow depth + economics + distribution.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21408"/>
            <a:ext cx="2743200" cy="86868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76656" y="2258568"/>
            <a:ext cx="2148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DECISION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76656" y="2450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Buy the model. Build the workflow.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87552" y="305409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PROBLEM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566928" y="3364992"/>
            <a:ext cx="249631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Easy to launch, but weakly differentiated as model capability became buyable.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2212848"/>
            <a:ext cx="2468880" cy="1591056"/>
          </a:xfrm>
          <a:prstGeom prst="rect">
            <a:avLst/>
          </a:prstGeom>
          <a:solidFill>
            <a:srgbClr val="FBF7EF"/>
          </a:solidFill>
          <a:ln w="12700">
            <a:solidFill>
              <a:srgbClr val="E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61888" y="2212848"/>
            <a:ext cx="2468880" cy="1591056"/>
          </a:xfrm>
          <a:prstGeom prst="rect">
            <a:avLst/>
          </a:prstGeom>
          <a:solidFill>
            <a:srgbClr val="FFF0BF"/>
          </a:solidFill>
          <a:ln w="12700">
            <a:solidFill>
              <a:srgbClr val="E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493008" y="3803904"/>
            <a:ext cx="2468880" cy="1591056"/>
          </a:xfrm>
          <a:prstGeom prst="rect">
            <a:avLst/>
          </a:prstGeom>
          <a:solidFill>
            <a:srgbClr val="F0E8DA"/>
          </a:solidFill>
          <a:ln w="12700">
            <a:solidFill>
              <a:srgbClr val="E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61888" y="3803904"/>
            <a:ext cx="2468880" cy="1591056"/>
          </a:xfrm>
          <a:prstGeom prst="rect">
            <a:avLst/>
          </a:prstGeom>
          <a:solidFill>
            <a:srgbClr val="FFE3B3"/>
          </a:solidFill>
          <a:ln w="254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3712463" y="243230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CONTEXT
LOW WORKFLOW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3712463" y="4032504"/>
            <a:ext cx="19659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 CONTEXT
LOW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2432304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CONTEXT
LOW WORKFLOW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6217920" y="4032504"/>
            <a:ext cx="10515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CHOSEN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217920" y="4315968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Merchant
workflows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6217920" y="4919472"/>
            <a:ext cx="18745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Recurring merchant tasks</a:t>
            </a:r>
          </a:p>
        </p:txBody>
      </p:sp>
      <p:sp>
        <p:nvSpPr>
          <p:cNvPr id="36" name="Oval 35"/>
          <p:cNvSpPr/>
          <p:nvPr/>
        </p:nvSpPr>
        <p:spPr>
          <a:xfrm>
            <a:off x="3877056" y="4892040"/>
            <a:ext cx="210312" cy="210312"/>
          </a:xfrm>
          <a:prstGeom prst="ellipse">
            <a:avLst/>
          </a:prstGeom>
          <a:solidFill>
            <a:srgbClr val="E72500"/>
          </a:solidFill>
          <a:ln w="12700">
            <a:solidFill>
              <a:srgbClr val="E72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Box 36"/>
          <p:cNvSpPr txBox="1">
            <a:spLocks/>
          </p:cNvSpPr>
          <p:nvPr/>
        </p:nvSpPr>
        <p:spPr>
          <a:xfrm>
            <a:off x="4206240" y="4700016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72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Standalone chatbot
visibly lost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3419856" y="2002536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PROPRIETARY CONTEXT ↑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5358383" y="5468112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WORKFLOW INTEGRATION →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9272016" y="22494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COMMERCIAL PROOF</a:t>
            </a:r>
          </a:p>
        </p:txBody>
      </p:sp>
      <p:sp>
        <p:nvSpPr>
          <p:cNvPr id="41" name="TextBox 40"/>
          <p:cNvSpPr txBox="1">
            <a:spLocks/>
          </p:cNvSpPr>
          <p:nvPr/>
        </p:nvSpPr>
        <p:spPr>
          <a:xfrm>
            <a:off x="8851392" y="2670048"/>
            <a:ext cx="1225296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50K+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10104120" y="2697479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MERCHANTS</a:t>
            </a: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10104120" y="2980943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platform scale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51392" y="3273552"/>
            <a:ext cx="2487168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>
            <a:spLocks/>
          </p:cNvSpPr>
          <p:nvPr/>
        </p:nvSpPr>
        <p:spPr>
          <a:xfrm>
            <a:off x="8851392" y="3383280"/>
            <a:ext cx="1225296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40%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10104120" y="3410712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ADOPTION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10104120" y="3694176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six months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51392" y="3986784"/>
            <a:ext cx="2487168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>
            <a:spLocks/>
          </p:cNvSpPr>
          <p:nvPr/>
        </p:nvSpPr>
        <p:spPr>
          <a:xfrm>
            <a:off x="8851392" y="4096512"/>
            <a:ext cx="1225296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+15%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10104120" y="4123944"/>
            <a:ext cx="1188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MERCHANT CVR</a:t>
            </a:r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10104120" y="4507992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conversion lift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851392" y="4700016"/>
            <a:ext cx="2487168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>
            <a:spLocks/>
          </p:cNvSpPr>
          <p:nvPr/>
        </p:nvSpPr>
        <p:spPr>
          <a:xfrm>
            <a:off x="8851392" y="4809744"/>
            <a:ext cx="1417320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45→12m</a:t>
            </a:r>
          </a:p>
        </p:txBody>
      </p:sp>
      <p:sp>
        <p:nvSpPr>
          <p:cNvPr id="54" name="TextBox 53"/>
          <p:cNvSpPr txBox="1">
            <a:spLocks/>
          </p:cNvSpPr>
          <p:nvPr/>
        </p:nvSpPr>
        <p:spPr>
          <a:xfrm>
            <a:off x="10314432" y="4837176"/>
            <a:ext cx="10241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LISTING TIME</a:t>
            </a:r>
          </a:p>
        </p:txBody>
      </p:sp>
      <p:sp>
        <p:nvSpPr>
          <p:cNvPr id="55" name="TextBox 54"/>
          <p:cNvSpPr txBox="1">
            <a:spLocks/>
          </p:cNvSpPr>
          <p:nvPr/>
        </p:nvSpPr>
        <p:spPr>
          <a:xfrm>
            <a:off x="10314432" y="5120640"/>
            <a:ext cx="10241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manual time reduced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400800"/>
            <a:ext cx="10469880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Architecture: external model + PII protection + hybrid retrieval + unified knowledge graph.</a:t>
            </a:r>
          </a:p>
        </p:txBody>
      </p:sp>
      <p:sp>
        <p:nvSpPr>
          <p:cNvPr id="93" name="Icon Problem"/>
          <p:cNvSpPr/>
          <p:nvPr/>
        </p:nvSpPr>
        <p:spPr>
          <a:xfrm>
            <a:off x="566928" y="3035808"/>
            <a:ext cx="274320" cy="274320"/>
          </a:xfrm>
          <a:prstGeom prst="noSmoking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Icon Proof"/>
          <p:cNvSpPr/>
          <p:nvPr/>
        </p:nvSpPr>
        <p:spPr>
          <a:xfrm>
            <a:off x="8851392" y="2194560"/>
            <a:ext cx="310896" cy="310896"/>
          </a:xfrm>
          <a:prstGeom prst="upArrow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5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96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MICROSOFT DEVELOPER / BUSINESS AI PLATFORM · PLG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Self-service growth: product drives the funnel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growth strategy, lifecycle design and measurement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677365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 self-service, marketing continues in-product: onboarding, first value, retention and expansion must prove the promise.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2788920"/>
            <a:ext cx="10149840" cy="0"/>
          </a:xfrm>
          <a:prstGeom prst="line">
            <a:avLst/>
          </a:prstGeom>
          <a:ln w="508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4088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3200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DISCOVER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1440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LinkedIn, Google, PR,
organic and ASO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" y="3986784"/>
            <a:ext cx="0" cy="384048"/>
          </a:xfrm>
          <a:prstGeom prst="line">
            <a:avLst/>
          </a:prstGeom>
          <a:ln w="25400">
            <a:solidFill>
              <a:srgbClr val="E72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>
            <a:spLocks/>
          </p:cNvSpPr>
          <p:nvPr/>
        </p:nvSpPr>
        <p:spPr>
          <a:xfrm>
            <a:off x="45720" y="4507992"/>
            <a:ext cx="18288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E72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top-of-funnel demand</a:t>
            </a:r>
          </a:p>
        </p:txBody>
      </p:sp>
      <p:sp>
        <p:nvSpPr>
          <p:cNvPr id="27" name="Oval 26"/>
          <p:cNvSpPr/>
          <p:nvPr/>
        </p:nvSpPr>
        <p:spPr>
          <a:xfrm>
            <a:off x="3218687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2834639" y="22402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2606039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 run: understand
the promise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74720" y="3986784"/>
            <a:ext cx="0" cy="384048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>
            <a:spLocks/>
          </p:cNvSpPr>
          <p:nvPr/>
        </p:nvSpPr>
        <p:spPr>
          <a:xfrm>
            <a:off x="2560320" y="450799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first-run clarity</a:t>
            </a:r>
          </a:p>
        </p:txBody>
      </p:sp>
      <p:sp>
        <p:nvSpPr>
          <p:cNvPr id="32" name="Oval 31"/>
          <p:cNvSpPr/>
          <p:nvPr/>
        </p:nvSpPr>
        <p:spPr>
          <a:xfrm>
            <a:off x="5733288" y="2532888"/>
            <a:ext cx="512064" cy="512064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53492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ACTIVATE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5120640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Complete a
meaningful task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3986784"/>
            <a:ext cx="0" cy="384048"/>
          </a:xfrm>
          <a:prstGeom prst="line">
            <a:avLst/>
          </a:prstGeom>
          <a:ln w="25400"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/>
          </p:cNvSpPr>
          <p:nvPr/>
        </p:nvSpPr>
        <p:spPr>
          <a:xfrm>
            <a:off x="5074920" y="450799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activation +262%</a:t>
            </a:r>
          </a:p>
        </p:txBody>
      </p:sp>
      <p:sp>
        <p:nvSpPr>
          <p:cNvPr id="37" name="Oval 36"/>
          <p:cNvSpPr/>
          <p:nvPr/>
        </p:nvSpPr>
        <p:spPr>
          <a:xfrm>
            <a:off x="8019288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76352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RETAIN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7406640" y="3246120"/>
            <a:ext cx="17373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Cohort loops + lifecycle
interventions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75320" y="3986784"/>
            <a:ext cx="0" cy="384048"/>
          </a:xfrm>
          <a:prstGeom prst="line">
            <a:avLst/>
          </a:prstGeom>
          <a:ln w="25400">
            <a:solidFill>
              <a:srgbClr val="FFC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>
            <a:spLocks/>
          </p:cNvSpPr>
          <p:nvPr/>
        </p:nvSpPr>
        <p:spPr>
          <a:xfrm>
            <a:off x="7360920" y="450799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churn 14→6.5%</a:t>
            </a:r>
          </a:p>
        </p:txBody>
      </p:sp>
      <p:sp>
        <p:nvSpPr>
          <p:cNvPr id="42" name="Oval 41"/>
          <p:cNvSpPr/>
          <p:nvPr/>
        </p:nvSpPr>
        <p:spPr>
          <a:xfrm>
            <a:off x="10533888" y="2532888"/>
            <a:ext cx="512064" cy="512064"/>
          </a:xfrm>
          <a:prstGeom prst="ellipse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10149840" y="22402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EXPAND</a:t>
            </a:r>
          </a:p>
        </p:txBody>
      </p:sp>
      <p:sp>
        <p:nvSpPr>
          <p:cNvPr id="44" name="TextBox 43"/>
          <p:cNvSpPr txBox="1">
            <a:spLocks/>
          </p:cNvSpPr>
          <p:nvPr/>
        </p:nvSpPr>
        <p:spPr>
          <a:xfrm>
            <a:off x="9921240" y="3246120"/>
            <a:ext cx="1737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Propensity models +
win-back paths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789920" y="3986784"/>
            <a:ext cx="0" cy="384048"/>
          </a:xfrm>
          <a:prstGeom prst="line">
            <a:avLst/>
          </a:prstGeom>
          <a:ln w="25400">
            <a:solidFill>
              <a:srgbClr val="FFB5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>
            <a:spLocks/>
          </p:cNvSpPr>
          <p:nvPr/>
        </p:nvSpPr>
        <p:spPr>
          <a:xfrm>
            <a:off x="9875520" y="4389120"/>
            <a:ext cx="182880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B52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NRR 102→128%
win-back 4→22%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468112"/>
            <a:ext cx="10972800" cy="56692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Box 47"/>
          <p:cNvSpPr txBox="1">
            <a:spLocks/>
          </p:cNvSpPr>
          <p:nvPr/>
        </p:nvSpPr>
        <p:spPr>
          <a:xfrm>
            <a:off x="868680" y="5611627"/>
            <a:ext cx="104241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Demand creates the visit. Product experience earns activation, retention and expansion.</a:t>
            </a:r>
          </a:p>
        </p:txBody>
      </p:sp>
      <p:sp>
        <p:nvSpPr>
          <p:cNvPr id="49" name="TextBox 48"/>
          <p:cNvSpPr txBox="1">
            <a:spLocks/>
          </p:cNvSpPr>
          <p:nvPr/>
        </p:nvSpPr>
        <p:spPr>
          <a:xfrm>
            <a:off x="566928" y="6400800"/>
            <a:ext cx="10469880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NRR = net revenue retention; activation = meaningful first value; churn = users leaving; win-back = returning lost users.</a:t>
            </a:r>
          </a:p>
        </p:txBody>
      </p:sp>
      <p:sp>
        <p:nvSpPr>
          <p:cNvPr id="95" name="Stage Glyph 0"/>
          <p:cNvSpPr/>
          <p:nvPr/>
        </p:nvSpPr>
        <p:spPr>
          <a:xfrm>
            <a:off x="841248" y="2670048"/>
            <a:ext cx="237744" cy="237744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Stage Glyph 1"/>
          <p:cNvSpPr/>
          <p:nvPr/>
        </p:nvSpPr>
        <p:spPr>
          <a:xfrm>
            <a:off x="3355848" y="2670048"/>
            <a:ext cx="237744" cy="237744"/>
          </a:xfrm>
          <a:prstGeom prst="flowChartDecisio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Stage Glyph 2"/>
          <p:cNvSpPr/>
          <p:nvPr/>
        </p:nvSpPr>
        <p:spPr>
          <a:xfrm>
            <a:off x="5870448" y="2670048"/>
            <a:ext cx="237744" cy="237744"/>
          </a:xfrm>
          <a:prstGeom prst="lightningBol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Stage Glyph 3"/>
          <p:cNvSpPr/>
          <p:nvPr/>
        </p:nvSpPr>
        <p:spPr>
          <a:xfrm>
            <a:off x="8156448" y="2670048"/>
            <a:ext cx="237744" cy="237744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Stage Glyph 4"/>
          <p:cNvSpPr/>
          <p:nvPr/>
        </p:nvSpPr>
        <p:spPr>
          <a:xfrm>
            <a:off x="10671048" y="2670048"/>
            <a:ext cx="237744" cy="237744"/>
          </a:xfrm>
          <a:prstGeom prst="up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0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101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/>
          </p:cNvSpPr>
          <p:nvPr/>
        </p:nvSpPr>
        <p:spPr>
          <a:xfrm>
            <a:off x="621792" y="20116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MICROSOFT REGULATED CLOUD / AI PLATFORM · FIELD ENABLEMENT &amp; ENTERPRISE GTM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1137392" y="6400800"/>
            <a:ext cx="292608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2920" y="576072"/>
            <a:ext cx="1115568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4. Field enablement: turn blockers into field plays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07008"/>
            <a:ext cx="68580" cy="347472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122529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ROLE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cross-functional GTM for regulated financial-services deployments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1627632"/>
            <a:ext cx="111556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502920" y="1677365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C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TAKEAWAY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When one objection blocks many deals, solve it with product and engineering, then give the field a repeatable response.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67328" y="2194559"/>
            <a:ext cx="0" cy="388620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2194559"/>
            <a:ext cx="0" cy="388620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/>
          </p:cNvSpPr>
          <p:nvPr/>
        </p:nvSpPr>
        <p:spPr>
          <a:xfrm>
            <a:off x="1225296" y="22219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1225296" y="24414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 BLOCKERS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40080" y="3127248"/>
            <a:ext cx="2788920" cy="6309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Regulated financial-services buyers asked: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3858768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96112" y="3785616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Where does data live?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4425696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96112" y="4352544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Who controls access?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" y="4992624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96112" y="4919472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 this satisfy local rules?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" y="5559552"/>
            <a:ext cx="91440" cy="91440"/>
          </a:xfrm>
          <a:prstGeom prst="rect">
            <a:avLst/>
          </a:prstGeom>
          <a:solidFill>
            <a:srgbClr val="FF4B00"/>
          </a:solidFill>
          <a:ln w="12700">
            <a:solidFill>
              <a:srgbClr val="FF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96112" y="5486400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Will latency work in production?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4700016" y="22219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02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4700016" y="24414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PRODUCTIZED ANSWER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4114800" y="3127248"/>
            <a:ext cx="32918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Cross-functional playbook: deployment patterns, partner requirements, technical gates and SOPs aligned product, engineering, legal and field.</a:t>
            </a:r>
          </a:p>
        </p:txBody>
      </p:sp>
      <p:sp>
        <p:nvSpPr>
          <p:cNvPr id="37" name="TextBox 36"/>
          <p:cNvSpPr txBox="1">
            <a:spLocks/>
          </p:cNvSpPr>
          <p:nvPr/>
        </p:nvSpPr>
        <p:spPr>
          <a:xfrm>
            <a:off x="4114800" y="4151376"/>
            <a:ext cx="329184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Technical unlock: replaced FHE with confidential computing to run secure architecture at production latency.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0" y="4956048"/>
            <a:ext cx="3337560" cy="0"/>
          </a:xfrm>
          <a:prstGeom prst="line">
            <a:avLst/>
          </a:prstGeom>
          <a:ln w="25400">
            <a:solidFill>
              <a:srgbClr val="FF4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>
            <a:spLocks/>
          </p:cNvSpPr>
          <p:nvPr/>
        </p:nvSpPr>
        <p:spPr>
          <a:xfrm>
            <a:off x="4114800" y="5157216"/>
            <a:ext cx="33375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14s → 220ms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4114800" y="5742432"/>
            <a:ext cx="33375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secure production latency</a:t>
            </a:r>
          </a:p>
        </p:txBody>
      </p:sp>
      <p:sp>
        <p:nvSpPr>
          <p:cNvPr id="41" name="TextBox 40"/>
          <p:cNvSpPr txBox="1">
            <a:spLocks/>
          </p:cNvSpPr>
          <p:nvPr/>
        </p:nvSpPr>
        <p:spPr>
          <a:xfrm>
            <a:off x="8759952" y="22219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8759952" y="24414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FIELD PROOF</a:t>
            </a: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8156448" y="316382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10+</a:t>
            </a:r>
          </a:p>
        </p:txBody>
      </p:sp>
      <p:sp>
        <p:nvSpPr>
          <p:cNvPr id="44" name="TextBox 43"/>
          <p:cNvSpPr txBox="1">
            <a:spLocks/>
          </p:cNvSpPr>
          <p:nvPr/>
        </p:nvSpPr>
        <p:spPr>
          <a:xfrm>
            <a:off x="8156448" y="356616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engagements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56448" y="391363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>
            <a:spLocks/>
          </p:cNvSpPr>
          <p:nvPr/>
        </p:nvSpPr>
        <p:spPr>
          <a:xfrm>
            <a:off x="9966960" y="316382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9→3 mo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9966960" y="356616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time-to-compliance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66960" y="391363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>
            <a:spLocks/>
          </p:cNvSpPr>
          <p:nvPr/>
        </p:nvSpPr>
        <p:spPr>
          <a:xfrm>
            <a:off x="8156448" y="416966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$5M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8156448" y="457200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account rescued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156448" y="491947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>
            <a:spLocks/>
          </p:cNvSpPr>
          <p:nvPr/>
        </p:nvSpPr>
        <p:spPr>
          <a:xfrm>
            <a:off x="9966960" y="416966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$2M</a:t>
            </a:r>
          </a:p>
        </p:txBody>
      </p:sp>
      <p:sp>
        <p:nvSpPr>
          <p:cNvPr id="53" name="TextBox 52"/>
          <p:cNvSpPr txBox="1">
            <a:spLocks/>
          </p:cNvSpPr>
          <p:nvPr/>
        </p:nvSpPr>
        <p:spPr>
          <a:xfrm>
            <a:off x="9966960" y="457200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expansion won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66960" y="4919472"/>
            <a:ext cx="1554480" cy="0"/>
          </a:xfrm>
          <a:prstGeom prst="line">
            <a:avLst/>
          </a:prstGeom>
          <a:ln w="12700">
            <a:solidFill>
              <a:srgbClr val="E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>
            <a:spLocks/>
          </p:cNvSpPr>
          <p:nvPr/>
        </p:nvSpPr>
        <p:spPr>
          <a:xfrm>
            <a:off x="8156448" y="517550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56" name="TextBox 55"/>
          <p:cNvSpPr txBox="1">
            <a:spLocks/>
          </p:cNvSpPr>
          <p:nvPr/>
        </p:nvSpPr>
        <p:spPr>
          <a:xfrm>
            <a:off x="8156448" y="557784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breaches</a:t>
            </a:r>
          </a:p>
        </p:txBody>
      </p:sp>
      <p:sp>
        <p:nvSpPr>
          <p:cNvPr id="57" name="TextBox 56"/>
          <p:cNvSpPr txBox="1">
            <a:spLocks/>
          </p:cNvSpPr>
          <p:nvPr/>
        </p:nvSpPr>
        <p:spPr>
          <a:xfrm>
            <a:off x="9966960" y="5175504"/>
            <a:ext cx="1627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4B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+61%</a:t>
            </a:r>
          </a:p>
        </p:txBody>
      </p:sp>
      <p:sp>
        <p:nvSpPr>
          <p:cNvPr id="58" name="TextBox 57"/>
          <p:cNvSpPr txBox="1">
            <a:spLocks/>
          </p:cNvSpPr>
          <p:nvPr/>
        </p:nvSpPr>
        <p:spPr>
          <a:xfrm>
            <a:off x="9966960" y="5577840"/>
            <a:ext cx="15727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ROI</a:t>
            </a:r>
          </a:p>
        </p:txBody>
      </p:sp>
      <p:sp>
        <p:nvSpPr>
          <p:cNvPr id="59" name="TextBox 58"/>
          <p:cNvSpPr txBox="1">
            <a:spLocks/>
          </p:cNvSpPr>
          <p:nvPr/>
        </p:nvSpPr>
        <p:spPr>
          <a:xfrm>
            <a:off x="566928" y="6400800"/>
            <a:ext cx="10469880" cy="153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04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Definitions: FHE = fully homomorphic encryption; AI ROI = benefit-to-cost improvement.</a:t>
            </a:r>
          </a:p>
        </p:txBody>
      </p:sp>
      <p:sp>
        <p:nvSpPr>
          <p:cNvPr id="80" name="Icon Blockers"/>
          <p:cNvSpPr/>
          <p:nvPr/>
        </p:nvSpPr>
        <p:spPr>
          <a:xfrm>
            <a:off x="621792" y="2212848"/>
            <a:ext cx="457200" cy="457200"/>
          </a:xfrm>
          <a:prstGeom prst="noSmoking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Icon Answer"/>
          <p:cNvSpPr/>
          <p:nvPr/>
        </p:nvSpPr>
        <p:spPr>
          <a:xfrm>
            <a:off x="4078224" y="2194559"/>
            <a:ext cx="493776" cy="493776"/>
          </a:xfrm>
          <a:prstGeom prst="gear6">
            <a:avLst/>
          </a:prstGeom>
          <a:solidFill>
            <a:srgbClr val="FF4B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Icon Proof"/>
          <p:cNvSpPr/>
          <p:nvPr/>
        </p:nvSpPr>
        <p:spPr>
          <a:xfrm>
            <a:off x="8174736" y="2212848"/>
            <a:ext cx="457200" cy="457200"/>
          </a:xfrm>
          <a:prstGeom prst="upArrow">
            <a:avLst/>
          </a:prstGeom>
          <a:solidFill>
            <a:srgbClr val="FFC4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3" name="Official Mistral footer symbol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94592" y="6400800"/>
            <a:ext cx="228600" cy="163413"/>
          </a:xfrm>
          <a:prstGeom prst="rect">
            <a:avLst/>
          </a:prstGeom>
        </p:spPr>
      </p:pic>
      <p:pic>
        <p:nvPicPr>
          <p:cNvPr id="84" name="Official Mistral header symbo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228600" cy="163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Widescreen</PresentationFormat>
  <Paragraphs>144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AI - Author Profile &amp; Team Background</dc:title>
  <dc:creator>Shiv, Prospective PMM, Mistral Studio</dc:creator>
  <cp:lastModifiedBy>Shivam Singh</cp:lastModifiedBy>
  <cp:revision>4</cp:revision>
  <ns2:created xsi:type="dcterms:W3CDTF">2026-08-16T20:55:47Z</ns2:created>
  <ns2:modified xsi:type="dcterms:W3CDTF">2026-08-17T06:48:17Z</ns2:modified>
  <dc:subject>Author profile background and team bios</dc:subject>
  <cp:keywords>mistral-ai, author-profile, team, background</cp:keywords>
</cp:coreProperties>
</file>