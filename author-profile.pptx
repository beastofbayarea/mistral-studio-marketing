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57" r:id="rId2"/>
    <p:sldId id="258" r:id="rId3"/>
    <p:sldId id="259" r:id="rId4"/>
    <p:sldId id="260" r:id="rId5"/>
    <p:sldId id="261" r:id="rId6"/>
    <p:sldId id="263"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7119" autoAdjust="0"/>
  </p:normalViewPr>
  <p:slideViewPr>
    <p:cSldViewPr snapToGrid="0">
      <p:cViewPr varScale="1">
        <p:scale>
          <a:sx n="71" d="100"/>
          <a:sy n="71" d="100"/>
        </p:scale>
        <p:origin x="114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99189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aboutamazon.com/news/retail/amazon-agentic-ai-gen-ai-shopping?utm_source=chatgpt.com"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global.rakuten.com/corp/news/press/2024/0430_01.html?utm_source=chatgpt.com"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azure.microsoft.com/en-us/blog/the-next-wave-of-azure-innovation-azure-ai-foundry-intelligent-data-and-more/?utm_source=chatgpt.co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aws.amazon.com/blogs/aws/introducing-amazon-bedrock-agentcore-securely-deploy-and-operate-ai-agents-at-any-scale/?utm_source=chatgpt.com"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Tell me about yourself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sit at the intersection of technical AI products and commercialization. My strongest work has been taking complex AI or data capabilities, finding the buyer/user problem that matters, simplifying the narrative, and then using launches, adoption data and field feedback to turn that story into measurable usage and revenue. I've spent ten years making complex, regulated technology (AI and cloud capabilities) buyable(into products customers can understand, adopt and buy).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 needs a senior product marketer who can connect two adoption motions in one role: </a:t>
            </a:r>
            <a:r>
              <a:rPr lang="en-US" b="1" dirty="0">
                <a:effectLst/>
              </a:rPr>
              <a:t>self-service/prosumer evaluation</a:t>
            </a:r>
            <a:r>
              <a:rPr lang="en-US" dirty="0"/>
              <a:t> and </a:t>
            </a:r>
            <a:r>
              <a:rPr lang="en-US" b="1" dirty="0">
                <a:effectLst/>
              </a:rPr>
              <a:t>enterprise production adoption</a:t>
            </a:r>
            <a:r>
              <a:rPr lang="en-US" dirty="0"/>
              <a:t>. I have worked across that full journey—from customer insight and AI positioning, through product-led adoption, to enterprise workflow integration and field enablement.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 Studio is exactly that problem — the models are good; the job is making enterprise builders trust them enough to ship to production. Studio's opportunity is to turn Mistral from a model developers experiment with into the AI platform enterprises build and operate 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b="1" dirty="0"/>
              <a:t>What technical or developer products have you marketed?</a:t>
            </a:r>
            <a:br>
              <a:rPr lang="en-US" dirty="0"/>
            </a:br>
            <a:r>
              <a:rPr lang="en-US" dirty="0"/>
              <a:t>My experience spans GenAI platforms, cloud products, AI workflows, data infrastructure, and regulated enterprise software. Most recently, I’ve worked on agentic AI products at AWS, including an AI shopping assistant and an enterprise agent platform connecting foundation models to private data, controls, approvals, and business systems. I’ve also worked on AI platforms at Rakuten and developer-focused cloud products at Microsoft. </a:t>
            </a:r>
          </a:p>
          <a:p>
            <a:endParaRPr lang="en-US" dirty="0"/>
          </a:p>
          <a:p>
            <a:r>
              <a:rPr lang="en-US" b="1" dirty="0"/>
              <a:t>Have you worked across enterprise and self-serve/prosumer motions?</a:t>
            </a:r>
            <a:br>
              <a:rPr lang="en-US" dirty="0"/>
            </a:br>
            <a:r>
              <a:rPr lang="en-US" dirty="0"/>
              <a:t>I’ve worked across consumer AI, self-serve cloud products, developers, merchants, and large enterprises, so I’m comfortable with both product-led adoption and enterprise sales motions.</a:t>
            </a:r>
          </a:p>
          <a:p>
            <a:r>
              <a:rPr lang="en-US" dirty="0"/>
              <a:t>At AWS, I’ve worked on consumer-facing AI experiences as well as enterprise AI platforms for security-conscious and regulated customers. That taught me how to keep one core product story while changing the proof points and buying journey for each audience. </a:t>
            </a:r>
          </a:p>
          <a:p>
            <a:endParaRPr lang="en-US" b="1" dirty="0"/>
          </a:p>
          <a:p>
            <a:r>
              <a:rPr lang="en-US" b="1" dirty="0"/>
              <a:t>Why Mistral?</a:t>
            </a:r>
          </a:p>
          <a:p>
            <a:r>
              <a:rPr lang="en-US" dirty="0"/>
              <a:t>AWS has given me tremendous exposure to scaling enterprise AI, but Mistral offers something different: the opportunity to shape the category narrative, at a company where product marketing can materially influence how the market understands the product.</a:t>
            </a:r>
            <a:endParaRPr lang="en-US" b="1"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One:</a:t>
            </a:r>
            <a:r>
              <a:rPr lang="en-US" dirty="0"/>
              <a:t> I've spent four years watching regulated buyers want frontier AI and be unable to legally deploy it. Mistral is the only credible answer for that buyer in Europe, and I've sold to that buyer at Microsoft and AWS.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Two:</a:t>
            </a:r>
            <a:r>
              <a:rPr lang="en-US" dirty="0"/>
              <a:t> the open-weight bet is about to be decided — the next 18 months determine whether enterprises standardize on rented APIs or owned models. </a:t>
            </a:r>
            <a:r>
              <a:rPr lang="en-US" b="1" dirty="0"/>
              <a:t>I'd rather be the person arguing the second case than the tenth PMM at a company arguing the first.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Mistral’s differentiation is bigger than model benchmarks. Mistral can offer enterprises much more control over how they build and deploy AI — particularly around sovereignty, deployment choice and open models. The PMM opportunity is to turn those technical advantages into a much simpler customer story: </a:t>
            </a:r>
            <a:r>
              <a:rPr lang="en-US" b="1" dirty="0"/>
              <a:t>why should an enterprise build and run production AI on Mistral rather than just consume another model API? </a:t>
            </a:r>
            <a:r>
              <a:rPr lang="en-US" dirty="0"/>
              <a:t>The interesting challenge with Studio is connecting the entire journey from developer experimentation to enterprise production. </a:t>
            </a:r>
          </a:p>
          <a:p>
            <a:endParaRPr lang="en-US" dirty="0"/>
          </a:p>
          <a:p>
            <a:r>
              <a:rPr lang="en-US" b="1" dirty="0"/>
              <a:t>Questions</a:t>
            </a:r>
          </a:p>
          <a:p>
            <a:r>
              <a:rPr lang="en-US" dirty="0"/>
              <a:t>How is ownership divided between Studio product marketing, Developer Relations, solutions PMM and the GTM organization?</a:t>
            </a:r>
          </a:p>
          <a:p>
            <a:r>
              <a:rPr lang="en-US" dirty="0"/>
              <a:t>What is the biggest outcome Mistral wants this person to change — Studio's positioning, developer adoption, enterprise pipeline, or competitive win rate?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My approach to technical PMM is: </a:t>
            </a:r>
            <a:r>
              <a:rPr lang="en-US" b="1" dirty="0"/>
              <a:t>start with the customer job, prove the value in the product, and measure whether users reach real value.</a:t>
            </a:r>
          </a:p>
          <a:p>
            <a:endParaRPr lang="en-US" dirty="0"/>
          </a:p>
          <a:p>
            <a:r>
              <a:rPr lang="en-US" dirty="0"/>
              <a:t>At Amazon, I worked on </a:t>
            </a:r>
            <a:r>
              <a:rPr lang="en-US" b="1" dirty="0"/>
              <a:t>Rufus, the GenAI shopping assistant</a:t>
            </a:r>
            <a:r>
              <a:rPr lang="en-US" dirty="0"/>
              <a:t>, shifting the experience from open-ended conversation toward </a:t>
            </a:r>
            <a:r>
              <a:rPr lang="en-US" b="1" dirty="0"/>
              <a:t>decision support and purchase completion</a:t>
            </a:r>
            <a:r>
              <a:rPr lang="en-US" dirty="0"/>
              <a:t>. Behavioral telemetry showed that conversation itself wasn’t the job-to-be-done. The real job was helping customers </a:t>
            </a:r>
            <a:r>
              <a:rPr lang="en-US" b="1" dirty="0"/>
              <a:t>research, compare, and make confident purchase decisions</a:t>
            </a:r>
            <a:r>
              <a:rPr lang="en-US" dirty="0"/>
              <a:t>.</a:t>
            </a:r>
          </a:p>
          <a:p>
            <a:endParaRPr lang="en-US" dirty="0"/>
          </a:p>
          <a:p>
            <a:r>
              <a:rPr lang="en-US" dirty="0"/>
              <a:t>Through prompt, retrieval, and product experimentation, we drove </a:t>
            </a:r>
            <a:r>
              <a:rPr lang="en-US" b="1" dirty="0"/>
              <a:t>25% adoption among eligible users</a:t>
            </a:r>
            <a:r>
              <a:rPr lang="en-US" dirty="0"/>
              <a:t>, improved </a:t>
            </a:r>
            <a:r>
              <a:rPr lang="en-US" b="1" dirty="0"/>
              <a:t>favorability among exposed users from 55% → 70%</a:t>
            </a:r>
            <a:r>
              <a:rPr lang="en-US" dirty="0"/>
              <a:t>, increased </a:t>
            </a:r>
            <a:r>
              <a:rPr lang="en-US" b="1" dirty="0"/>
              <a:t>session depth 15%</a:t>
            </a:r>
            <a:r>
              <a:rPr lang="en-US" dirty="0"/>
              <a:t>, and reduced the </a:t>
            </a:r>
            <a:r>
              <a:rPr lang="en-US" b="1" dirty="0"/>
              <a:t>evaluated hallucination rate to 2.8% on our internal eval set</a:t>
            </a:r>
            <a:r>
              <a:rPr lang="en-US" dirty="0"/>
              <a:t>.</a:t>
            </a:r>
          </a:p>
          <a:p>
            <a:endParaRPr lang="en-US" b="1" dirty="0"/>
          </a:p>
          <a:p>
            <a:r>
              <a:rPr lang="en-US" b="1" dirty="0"/>
              <a:t>Positioning</a:t>
            </a:r>
          </a:p>
          <a:p>
            <a:r>
              <a:rPr lang="en-US" b="1" dirty="0"/>
              <a:t>Customer job → message shift → proof → result</a:t>
            </a:r>
            <a:endParaRPr lang="en-US" dirty="0"/>
          </a:p>
          <a:p>
            <a:r>
              <a:rPr lang="en-US" dirty="0"/>
              <a:t>The shift was: </a:t>
            </a:r>
            <a:r>
              <a:rPr lang="en-US" b="1" dirty="0"/>
              <a:t>“Chat with AI” → “Make better purchase decisions.” </a:t>
            </a:r>
            <a:r>
              <a:rPr lang="en-US" dirty="0"/>
              <a:t>I market technical products by replacing claims with </a:t>
            </a:r>
            <a:r>
              <a:rPr lang="en-US" b="1" dirty="0"/>
              <a:t>evidence artifacts</a:t>
            </a:r>
            <a:r>
              <a:rPr lang="en-US" dirty="0"/>
              <a:t>: customer behavior, product capability, evals, and measurable outcomes.</a:t>
            </a:r>
          </a:p>
          <a:p>
            <a:endParaRPr lang="en-US" dirty="0"/>
          </a:p>
          <a:p>
            <a:r>
              <a:rPr lang="en-US" b="1" dirty="0"/>
              <a:t>Launch + measurement</a:t>
            </a:r>
          </a:p>
          <a:p>
            <a:r>
              <a:rPr lang="en-US" dirty="0"/>
              <a:t>I define launch gates across </a:t>
            </a:r>
            <a:r>
              <a:rPr lang="en-US" b="1" dirty="0"/>
              <a:t>response quality, retrieval, guardrails, adoption, and economics</a:t>
            </a:r>
            <a:r>
              <a:rPr lang="en-US" dirty="0"/>
              <a:t>. </a:t>
            </a:r>
            <a:r>
              <a:rPr lang="en-US" b="1" dirty="0"/>
              <a:t>If I can’t name the gate, I don’t ship the launch.</a:t>
            </a:r>
            <a:endParaRPr lang="en-US" dirty="0"/>
          </a:p>
          <a:p>
            <a:r>
              <a:rPr lang="en-US" dirty="0"/>
              <a:t>For Rufus, I measured:</a:t>
            </a:r>
          </a:p>
          <a:p>
            <a:pPr lvl="0"/>
            <a:r>
              <a:rPr lang="en-US" b="1" dirty="0"/>
              <a:t>Leading:</a:t>
            </a:r>
            <a:r>
              <a:rPr lang="en-US" dirty="0"/>
              <a:t> trust, response quality, message resonance</a:t>
            </a:r>
          </a:p>
          <a:p>
            <a:pPr lvl="0"/>
            <a:r>
              <a:rPr lang="en-US" b="1" dirty="0"/>
              <a:t>Activation:</a:t>
            </a:r>
            <a:r>
              <a:rPr lang="en-US" dirty="0"/>
              <a:t> first meaningful shopping-assistant use</a:t>
            </a:r>
          </a:p>
          <a:p>
            <a:pPr lvl="0"/>
            <a:r>
              <a:rPr lang="en-US" b="1" dirty="0"/>
              <a:t>Engagement:</a:t>
            </a:r>
            <a:r>
              <a:rPr lang="en-US" dirty="0"/>
              <a:t> repeat usage, session depth</a:t>
            </a:r>
          </a:p>
          <a:p>
            <a:pPr lvl="0"/>
            <a:r>
              <a:rPr lang="en-US" b="1" dirty="0"/>
              <a:t>Commercial:</a:t>
            </a:r>
            <a:r>
              <a:rPr lang="en-US" dirty="0"/>
              <a:t> conversion and purchase completion</a:t>
            </a:r>
          </a:p>
          <a:p>
            <a:endParaRPr lang="en-US" b="1" dirty="0"/>
          </a:p>
          <a:p>
            <a:r>
              <a:rPr lang="en-US" b="1" dirty="0"/>
              <a:t>Internationalization</a:t>
            </a:r>
          </a:p>
          <a:p>
            <a:r>
              <a:rPr lang="en-US" dirty="0"/>
              <a:t>For </a:t>
            </a:r>
            <a:r>
              <a:rPr lang="en-US" b="1" dirty="0"/>
              <a:t>Rufus in Japan</a:t>
            </a:r>
            <a:r>
              <a:rPr lang="en-US" dirty="0"/>
              <a:t>, localization meant more than translation: </a:t>
            </a:r>
            <a:r>
              <a:rPr lang="en-US" b="1" dirty="0"/>
              <a:t>tone, tokenization, honorifics, and interaction design</a:t>
            </a:r>
            <a:r>
              <a:rPr lang="en-US" dirty="0"/>
              <a:t>. I turned that work into a </a:t>
            </a:r>
            <a:r>
              <a:rPr lang="en-US" b="1" dirty="0"/>
              <a:t>reusable internationalization template</a:t>
            </a:r>
            <a:r>
              <a:rPr lang="en-US" dirty="0"/>
              <a:t> for future markets.</a:t>
            </a:r>
          </a:p>
          <a:p>
            <a:endParaRPr lang="en-US" dirty="0"/>
          </a:p>
          <a:p>
            <a:r>
              <a:rPr lang="en-US" b="1" dirty="0"/>
              <a:t>External validation</a:t>
            </a:r>
          </a:p>
          <a:p>
            <a:r>
              <a:rPr lang="en-US" dirty="0"/>
              <a:t>The broader thesis was later validated at scale: Amazon publicly reported that Rufus users were </a:t>
            </a:r>
            <a:r>
              <a:rPr lang="en-US" b="1" dirty="0"/>
              <a:t>60%+ more likely to purchase</a:t>
            </a:r>
            <a:r>
              <a:rPr lang="en-US" dirty="0"/>
              <a:t>, and the product eventually reached </a:t>
            </a:r>
            <a:r>
              <a:rPr lang="en-US" b="1" dirty="0"/>
              <a:t>300M+ customers</a:t>
            </a:r>
            <a:r>
              <a:rPr lang="en-US" dirty="0"/>
              <a:t> and nearly </a:t>
            </a:r>
            <a:r>
              <a:rPr lang="en-US" b="1" dirty="0"/>
              <a:t>$12B in incremental annualized sales</a:t>
            </a:r>
            <a:r>
              <a:rPr lang="en-US" dirty="0"/>
              <a:t>.</a:t>
            </a:r>
          </a:p>
          <a:p>
            <a:endParaRPr lang="en-US" dirty="0"/>
          </a:p>
          <a:p>
            <a:r>
              <a:rPr lang="en-US" b="1" dirty="0">
                <a:effectLst/>
              </a:rPr>
              <a:t>My role:</a:t>
            </a:r>
            <a:r>
              <a:rPr lang="en-US" dirty="0"/>
              <a:t> diagnosed the customer job → reframed the product promise → aligned product/science/GTM around proof of that promise → measured adoption and trust → created a reusable localization pattern. </a:t>
            </a:r>
            <a:r>
              <a:rPr lang="en-US" b="1" dirty="0">
                <a:effectLst/>
              </a:rPr>
              <a:t>AI positioning should begin with the job the customer should trust the product to do. The product, evaluation framework, and launch criteria then need to prove that same promise.</a:t>
            </a:r>
          </a:p>
          <a:p>
            <a:endParaRPr lang="en-US" b="1" dirty="0">
              <a:effectLst/>
            </a:endParaRPr>
          </a:p>
          <a:p>
            <a:r>
              <a:rPr lang="en-US" b="1" dirty="0"/>
              <a:t>Amazon Rufus — positioning, adoption, purchase impact</a:t>
            </a:r>
            <a:br>
              <a:rPr lang="en-US" dirty="0"/>
            </a:br>
            <a:r>
              <a:rPr lang="en-US" dirty="0">
                <a:hlinkClick r:id="rId3"/>
              </a:rPr>
              <a:t>https://www.aboutamazon.com/news/retail/amazon-agentic-ai-gen-ai-shopping</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Rakuten, I worked on the </a:t>
            </a:r>
            <a:r>
              <a:rPr lang="en-US" b="1" dirty="0"/>
              <a:t>merchant GenAI platform that later became part of RMS AI Assistant</a:t>
            </a:r>
            <a:r>
              <a:rPr lang="en-US" dirty="0"/>
              <a:t>, serving </a:t>
            </a:r>
            <a:r>
              <a:rPr lang="en-US" b="1" dirty="0"/>
              <a:t>50K+ Rakuten </a:t>
            </a:r>
            <a:r>
              <a:rPr lang="en-US" b="1" dirty="0" err="1"/>
              <a:t>Ichiba</a:t>
            </a:r>
            <a:r>
              <a:rPr lang="en-US" b="1" dirty="0"/>
              <a:t> merchants</a:t>
            </a:r>
            <a:r>
              <a:rPr lang="en-US" dirty="0"/>
              <a:t>, alongside a broader AI strategy spanning </a:t>
            </a:r>
            <a:r>
              <a:rPr lang="en-US" b="1" dirty="0"/>
              <a:t>70+ Rakuten services</a:t>
            </a:r>
            <a:r>
              <a:rPr lang="en-US" dirty="0"/>
              <a:t>.</a:t>
            </a:r>
          </a:p>
          <a:p>
            <a:endParaRPr lang="en-US" dirty="0"/>
          </a:p>
          <a:p>
            <a:r>
              <a:rPr lang="en-US" dirty="0"/>
              <a:t>My focus was </a:t>
            </a:r>
            <a:r>
              <a:rPr lang="en-US" b="1" dirty="0"/>
              <a:t>market intelligence, differentiation, adoption, and product-market fit</a:t>
            </a:r>
            <a:r>
              <a:rPr lang="en-US" dirty="0"/>
              <a:t>.</a:t>
            </a:r>
          </a:p>
          <a:p>
            <a:r>
              <a:rPr lang="en-US" b="1" dirty="0"/>
              <a:t>Market signal → merchant workflow → positioning → roadmap → adoption</a:t>
            </a:r>
            <a:endParaRPr lang="en-US" dirty="0"/>
          </a:p>
          <a:p>
            <a:endParaRPr lang="en-US" b="1" dirty="0"/>
          </a:p>
          <a:p>
            <a:r>
              <a:rPr lang="en-US" b="1" dirty="0"/>
              <a:t>Differentiation</a:t>
            </a:r>
          </a:p>
          <a:p>
            <a:r>
              <a:rPr lang="en-US" dirty="0"/>
              <a:t>In AI, model capabilities converge quickly. The durable advantage was: </a:t>
            </a:r>
            <a:r>
              <a:rPr lang="en-US" b="1" dirty="0"/>
              <a:t>Model → proprietary context → workflow → economics → distribution</a:t>
            </a:r>
            <a:endParaRPr lang="en-US" dirty="0"/>
          </a:p>
          <a:p>
            <a:r>
              <a:rPr lang="en-US" dirty="0"/>
              <a:t>The thesis was: </a:t>
            </a:r>
            <a:r>
              <a:rPr lang="en-US" b="1" dirty="0"/>
              <a:t>“Buy intelligence; build context.”</a:t>
            </a:r>
            <a:endParaRPr lang="en-US" dirty="0"/>
          </a:p>
          <a:p>
            <a:r>
              <a:rPr lang="en-US" dirty="0"/>
              <a:t>Rather than compete on the model itself, we focused on Rakuten’s proprietary merchant context, distribution, and high-frequency workflows inside RMS.</a:t>
            </a:r>
          </a:p>
          <a:p>
            <a:endParaRPr lang="en-US" b="1" dirty="0"/>
          </a:p>
          <a:p>
            <a:r>
              <a:rPr lang="en-US" b="1" dirty="0"/>
              <a:t>Messaging + roadmap pivot</a:t>
            </a:r>
          </a:p>
          <a:p>
            <a:r>
              <a:rPr lang="en-US" dirty="0"/>
              <a:t>We initially explored a standalone merchant chatbot positioned as </a:t>
            </a:r>
            <a:r>
              <a:rPr lang="en-US" b="1" dirty="0"/>
              <a:t>“an AI assistant for your store.”</a:t>
            </a:r>
            <a:r>
              <a:rPr lang="en-US" dirty="0"/>
              <a:t> Adoption lagged because the promise was broader than the value users experienced.</a:t>
            </a:r>
          </a:p>
          <a:p>
            <a:endParaRPr lang="en-US" dirty="0"/>
          </a:p>
          <a:p>
            <a:r>
              <a:rPr lang="en-US" dirty="0"/>
              <a:t>I helped </a:t>
            </a:r>
            <a:r>
              <a:rPr lang="en-US" b="1" dirty="0"/>
              <a:t>deprioritize the standalone chatbot as the primary experience</a:t>
            </a:r>
            <a:r>
              <a:rPr lang="en-US" dirty="0"/>
              <a:t> and shift investment toward embedded workflows such as </a:t>
            </a:r>
            <a:r>
              <a:rPr lang="en-US" b="1" dirty="0"/>
              <a:t>product listing, customer support, and sales analysis</a:t>
            </a:r>
            <a:r>
              <a:rPr lang="en-US" dirty="0"/>
              <a:t>.</a:t>
            </a:r>
          </a:p>
          <a:p>
            <a:endParaRPr lang="en-US" dirty="0"/>
          </a:p>
          <a:p>
            <a:r>
              <a:rPr lang="en-US" dirty="0"/>
              <a:t>The sharper value proposition became: </a:t>
            </a:r>
            <a:r>
              <a:rPr lang="en-US" b="1" dirty="0"/>
              <a:t>“List a product in 12 minutes instead of 45.” </a:t>
            </a:r>
            <a:r>
              <a:rPr lang="en-US" dirty="0"/>
              <a:t>That shift improved product-market fit and, internally, drove </a:t>
            </a:r>
            <a:r>
              <a:rPr lang="en-US" b="1" dirty="0"/>
              <a:t>~40% adoption and +15% conversion</a:t>
            </a:r>
            <a:r>
              <a:rPr lang="en-US" dirty="0"/>
              <a:t>.</a:t>
            </a:r>
          </a:p>
          <a:p>
            <a:endParaRPr lang="en-US" dirty="0"/>
          </a:p>
          <a:p>
            <a:r>
              <a:rPr lang="en-US" b="1" dirty="0">
                <a:effectLst/>
              </a:rPr>
              <a:t>My role:</a:t>
            </a:r>
            <a:r>
              <a:rPr lang="en-US" dirty="0"/>
              <a:t> evaluated where AI could create defensible value → defined the “buy intelligence, build context” thesis → used product and economic evidence to redirect the roadmap → embedded AI into high-value merchant workflows → measured adoption and business impact. </a:t>
            </a:r>
            <a:r>
              <a:rPr lang="en-US" b="1" dirty="0">
                <a:effectLst/>
              </a:rPr>
              <a:t>In enterprise AI, the model is often not the durable moat. Proprietary context, integration into an important workflow, distribution, and measurable economics are more defensible.</a:t>
            </a:r>
          </a:p>
          <a:p>
            <a:endParaRPr lang="en-US" b="1" dirty="0">
              <a:effectLst/>
            </a:endParaRPr>
          </a:p>
          <a:p>
            <a:r>
              <a:rPr lang="en-US" b="1" dirty="0"/>
              <a:t>Rakuten RMS AI Assistant — exact product, merchant scale, workflows</a:t>
            </a:r>
            <a:br>
              <a:rPr lang="en-US" dirty="0"/>
            </a:br>
            <a:r>
              <a:rPr lang="en-US" dirty="0">
                <a:hlinkClick r:id="rId3"/>
              </a:rPr>
              <a:t>https://global.rakuten.com/corp/news/press/2024/0430_01.html</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Microsoft, I worked on </a:t>
            </a:r>
            <a:r>
              <a:rPr lang="en-US" b="1" dirty="0"/>
              <a:t>Azure AI platform growth and enterprise GTM</a:t>
            </a:r>
            <a:r>
              <a:rPr lang="en-US" dirty="0"/>
              <a:t>, across the developer lifecycle that would later become central to </a:t>
            </a:r>
            <a:r>
              <a:rPr lang="en-US" b="1" dirty="0"/>
              <a:t>Azure AI Studio and Foundry</a:t>
            </a:r>
            <a:r>
              <a:rPr lang="en-US" dirty="0"/>
              <a:t>.</a:t>
            </a:r>
          </a:p>
          <a:p>
            <a:endParaRPr lang="en-US" dirty="0"/>
          </a:p>
          <a:p>
            <a:r>
              <a:rPr lang="en-US" dirty="0"/>
              <a:t>The journey was: </a:t>
            </a:r>
            <a:r>
              <a:rPr lang="en-US" b="1" dirty="0"/>
              <a:t>Discover → evaluate → deploy → production → expand</a:t>
            </a:r>
            <a:endParaRPr lang="en-US" dirty="0"/>
          </a:p>
          <a:p>
            <a:endParaRPr lang="en-US" dirty="0"/>
          </a:p>
          <a:p>
            <a:r>
              <a:rPr lang="en-US" dirty="0"/>
              <a:t>I focused on onboarding, activation, retention, expansion, and win-back. Internally, that work drove </a:t>
            </a:r>
            <a:r>
              <a:rPr lang="en-US" b="1" dirty="0"/>
              <a:t>activation +262%</a:t>
            </a:r>
            <a:r>
              <a:rPr lang="en-US" dirty="0"/>
              <a:t>, increased </a:t>
            </a:r>
            <a:r>
              <a:rPr lang="en-US" b="1" dirty="0"/>
              <a:t>NRR from 102% → 128%</a:t>
            </a:r>
            <a:r>
              <a:rPr lang="en-US" dirty="0"/>
              <a:t>, reduced </a:t>
            </a:r>
            <a:r>
              <a:rPr lang="en-US" b="1" dirty="0"/>
              <a:t>churn from 14% → 6.5%</a:t>
            </a:r>
            <a:r>
              <a:rPr lang="en-US" dirty="0"/>
              <a:t>, and improved </a:t>
            </a:r>
            <a:r>
              <a:rPr lang="en-US" b="1" dirty="0"/>
              <a:t>win-back from 4% → 22%</a:t>
            </a:r>
            <a:r>
              <a:rPr lang="en-US" dirty="0"/>
              <a:t>.</a:t>
            </a:r>
          </a:p>
          <a:p>
            <a:endParaRPr lang="en-US" b="1" dirty="0"/>
          </a:p>
          <a:p>
            <a:r>
              <a:rPr lang="en-US" b="1" dirty="0"/>
              <a:t>Self-service adoption</a:t>
            </a:r>
          </a:p>
          <a:p>
            <a:r>
              <a:rPr lang="en-US" dirty="0"/>
              <a:t>I focused on </a:t>
            </a:r>
            <a:r>
              <a:rPr lang="en-US" b="1" dirty="0"/>
              <a:t>time-to-first-value</a:t>
            </a:r>
            <a:r>
              <a:rPr lang="en-US" dirty="0"/>
              <a:t>: how quickly developers moved from evaluating AI capabilities to deploying a meaningful workload. I used </a:t>
            </a:r>
            <a:r>
              <a:rPr lang="en-US" b="1" dirty="0"/>
              <a:t>cohort and propensity analysis</a:t>
            </a:r>
            <a:r>
              <a:rPr lang="en-US" dirty="0"/>
              <a:t> to identify where developers stalled, prioritize lifecycle interventions, and measure impact across activation, retention, and expansion. The goal wasn’t more signups. It was moving developers from </a:t>
            </a:r>
            <a:r>
              <a:rPr lang="en-US" b="1" dirty="0"/>
              <a:t>experimentation to sustained production usage</a:t>
            </a:r>
            <a:r>
              <a:rPr lang="en-US" dirty="0"/>
              <a:t>.</a:t>
            </a:r>
          </a:p>
          <a:p>
            <a:endParaRPr lang="en-US" b="1" dirty="0"/>
          </a:p>
          <a:p>
            <a:r>
              <a:rPr lang="en-US" b="1" dirty="0"/>
              <a:t>Foundry Operating Model</a:t>
            </a:r>
          </a:p>
          <a:p>
            <a:r>
              <a:rPr lang="en-US" dirty="0"/>
              <a:t>That lifecycle is the same one Microsoft later made more explicit in </a:t>
            </a:r>
            <a:r>
              <a:rPr lang="en-US" b="1" dirty="0"/>
              <a:t>Azure AI Studio and Azure AI Foundry</a:t>
            </a:r>
            <a:r>
              <a:rPr lang="en-US" dirty="0"/>
              <a:t>:</a:t>
            </a:r>
          </a:p>
          <a:p>
            <a:r>
              <a:rPr lang="en-US" b="1" dirty="0"/>
              <a:t>Discover models → evaluate → deploy → production → expand</a:t>
            </a:r>
            <a:endParaRPr lang="en-US" dirty="0"/>
          </a:p>
          <a:p>
            <a:r>
              <a:rPr lang="en-US" dirty="0"/>
              <a:t>The operating model maps directly to how Foundry drives developer adoption today.</a:t>
            </a:r>
          </a:p>
          <a:p>
            <a:endParaRPr lang="en-US" dirty="0"/>
          </a:p>
          <a:p>
            <a:r>
              <a:rPr lang="en-US" b="1" dirty="0">
                <a:effectLst/>
              </a:rPr>
              <a:t>My role:</a:t>
            </a:r>
            <a:r>
              <a:rPr lang="en-US" dirty="0"/>
              <a:t> mapped the lifecycle → identified time-to-first-value and retention bottlenecks → segmented users with behavioral and propensity signals → prioritized interventions → redesigned onboarding and lifecycle mechanics → measured durable adoption. </a:t>
            </a:r>
            <a:r>
              <a:rPr lang="en-US" b="1" dirty="0">
                <a:effectLst/>
              </a:rPr>
              <a:t>For self-service SaaS, acquisition is only the beginning. Reduce time-to-first-value, make the first successful use case obvious, and use behavioral evidence to personalize retention and expansion.</a:t>
            </a:r>
          </a:p>
          <a:p>
            <a:endParaRPr lang="en-US" b="1" dirty="0">
              <a:effectLst/>
            </a:endParaRPr>
          </a:p>
          <a:p>
            <a:r>
              <a:rPr lang="en-US" b="1" dirty="0"/>
              <a:t>How have you driven adoption after launch?</a:t>
            </a:r>
            <a:br>
              <a:rPr lang="en-US" dirty="0"/>
            </a:br>
            <a:r>
              <a:rPr lang="en-US" dirty="0"/>
              <a:t>I start by finding where users drop off, then improve onboarding, messaging, and the product experience around that point. At Microsoft, that approach increased activation 262%, improved NRR from 102% to 128%, and reduced churn from 14% to 6.5%.</a:t>
            </a:r>
          </a:p>
          <a:p>
            <a:endParaRPr lang="en-US" dirty="0"/>
          </a:p>
          <a:p>
            <a:r>
              <a:rPr lang="en-US" b="1" dirty="0"/>
              <a:t>Microsoft Azure AI platform / Foundry — product-name timeline</a:t>
            </a:r>
            <a:br>
              <a:rPr lang="en-US" dirty="0"/>
            </a:br>
            <a:r>
              <a:rPr lang="en-US" dirty="0">
                <a:hlinkClick r:id="rId3"/>
              </a:rPr>
              <a:t>https://azure.microsoft.com/en-us/blog/the-next-wave-of-azure-innovation-azure-ai-foundry-intelligent-data-and-more/</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Microsoft regulated-cloud / AI platform — enterprise GTM</a:t>
            </a:r>
          </a:p>
          <a:p>
            <a:endParaRPr lang="en-US"/>
          </a:p>
          <a:p>
            <a:r>
              <a:rPr lang="en-US"/>
              <a:t>The most relevant lesson from this project is not “I ran a compliance initiative.” It is that I found a recurring constraint preventing regulated financial institutions from adopting the technology, helped solve it once, and turned the solution into a repeatable field motion.</a:t>
            </a:r>
          </a:p>
          <a:p>
            <a:endParaRPr lang="en-US"/>
          </a:p>
          <a:p>
            <a:r>
              <a:rPr lang="en-US"/>
              <a:t>1. Find the invariant</a:t>
            </a:r>
          </a:p>
          <a:p>
            <a:r>
              <a:rPr lang="en-US"/>
              <a:t>Customer requirements varied by market, but four needs repeated: data location, customer-controlled keys, security validation and policy enforcement. My role was to translate those recurring signals across Product, Engineering, Legal and the field into one reusable problem definition.</a:t>
            </a:r>
          </a:p>
          <a:p>
            <a:endParaRPr lang="en-US"/>
          </a:p>
          <a:p>
            <a:r>
              <a:rPr lang="en-US"/>
              <a:t>The principle was: customize where the customer is different; standardize where repetition creates scale.</a:t>
            </a:r>
          </a:p>
          <a:p>
            <a:endParaRPr lang="en-US"/>
          </a:p>
          <a:p>
            <a:r>
              <a:rPr lang="en-US"/>
              <a:t>2. Match the threat model</a:t>
            </a:r>
          </a:p>
          <a:p>
            <a:r>
              <a:rPr lang="en-US"/>
              <a:t>One early design used an FHE-based architecture, but inference latency was about 14 seconds. We went back to the workload’s actual threat model, required controls and production SLA.</a:t>
            </a:r>
          </a:p>
          <a:p>
            <a:endParaRPr lang="en-US"/>
          </a:p>
          <a:p>
            <a:r>
              <a:rPr lang="en-US"/>
              <a:t>For that workload, confidential computing met the required security controls and reduced latency to about 220 milliseconds.</a:t>
            </a:r>
          </a:p>
          <a:p>
            <a:endParaRPr lang="en-US"/>
          </a:p>
          <a:p>
            <a:r>
              <a:rPr lang="en-US"/>
              <a:t>The technical nuance matters: FHE and confidential computing use different security models. Confidential computing was not simply a faster version of FHE. The lesson was to choose architecture against the real security requirement and production constraint—not technical sophistication.</a:t>
            </a:r>
          </a:p>
          <a:p>
            <a:endParaRPr lang="en-US"/>
          </a:p>
          <a:p>
            <a:r>
              <a:rPr lang="en-US"/>
              <a:t>3. Turn one deployment into a scalable market asset</a:t>
            </a:r>
          </a:p>
          <a:p>
            <a:r>
              <a:rPr lang="en-US"/>
              <a:t>The operating loop maps directly to Mistral:</a:t>
            </a:r>
          </a:p>
          <a:p>
            <a:endParaRPr lang="en-US"/>
          </a:p>
          <a:p>
            <a:r>
              <a:rPr lang="en-US"/>
              <a:t>FDE — prove what works in one deployment.</a:t>
            </a:r>
          </a:p>
          <a:p>
            <a:r>
              <a:rPr lang="en-US"/>
              <a:t>PMM — identify the invariant and package the use case, narrative and proof.</a:t>
            </a:r>
          </a:p>
          <a:p>
            <a:r>
              <a:rPr lang="en-US"/>
              <a:t>Product — fix recurring structural gaps.</a:t>
            </a:r>
          </a:p>
          <a:p>
            <a:r>
              <a:rPr lang="en-US"/>
              <a:t>Field — reuse the play and measure whether it changes commercial outcomes.</a:t>
            </a:r>
          </a:p>
          <a:p>
            <a:endParaRPr lang="en-US"/>
          </a:p>
          <a:p>
            <a:r>
              <a:rPr lang="en-US"/>
              <a:t>At Microsoft, the reusable pattern spread across 10+ engagements, reduced time-to-compliance from roughly nine months to three, helped retain about $5M and supported about $2M of expansion.</a:t>
            </a:r>
          </a:p>
          <a:p>
            <a:endParaRPr lang="en-US"/>
          </a:p>
          <a:p>
            <a:r>
              <a:rPr lang="en-US"/>
              <a:t>I would measure the motion through three levels:</a:t>
            </a:r>
          </a:p>
          <a:p>
            <a:r>
              <a:rPr lang="en-US"/>
              <a:t>Reuse — are Sales and FDEs using the play?</a:t>
            </a:r>
          </a:p>
          <a:p>
            <a:r>
              <a:rPr lang="en-US"/>
              <a:t>Velocity — are conversion, win rate and deal cycle improving?</a:t>
            </a:r>
          </a:p>
          <a:p>
            <a:r>
              <a:rPr lang="en-US"/>
              <a:t>Growth — is it influencing pipeline, retained revenue and expansion?</a:t>
            </a:r>
          </a:p>
          <a:p>
            <a:endParaRPr lang="en-US"/>
          </a:p>
          <a:p>
            <a:r>
              <a:rPr lang="en-US"/>
              <a:t>The takeaway is: winning one difficult deal is execution; making the next ten easier is product marketing. That is the value I would bring to Mistral’s Industries PMM role—turn bespoke FDE learning into repeatable Financial Services solutions and commercial proof.</a:t>
            </a:r>
          </a:p>
          <a:p>
            <a:endParaRPr lang="en-US"/>
          </a:p>
          <a:p>
            <a:r>
              <a:rPr lang="en-US"/>
              <a:t>Interview caveat: the project outcome figures are supported by my resume and internal experience; public Microsoft sources corroborate the architecture, not those internal results.</a:t>
            </a:r>
          </a:p>
          <a:p>
            <a:endParaRPr lang="en-US"/>
          </a:p>
          <a:p>
            <a:r>
              <a:rPr lang="en-US"/>
              <a:t>Public architecture:</a:t>
            </a:r>
          </a:p>
          <a:p>
            <a:r>
              <a:rPr lang="en-US"/>
              <a:t>https://learn.microsoft.com/en-us/azure/azure-sovereign-clouds/microsoft-sovereign-cloud</a:t>
            </a:r>
          </a:p>
          <a:p>
            <a:r>
              <a:rPr lang="en-US"/>
              <a:t>https://learn.microsoft.com/en-us/azure/azure-sovereign-clouds/public/confidential-computing</a:t>
            </a:r>
          </a:p>
          <a:p>
            <a:endParaRPr lang="en-US"/>
          </a:p>
          <a:p>
            <a:r>
              <a:rPr lang="en-US"/>
              <a:t>FHE context:</a:t>
            </a:r>
          </a:p>
          <a:p>
            <a:r>
              <a:rPr lang="en-US"/>
              <a:t>https://www.microsoft.com/en-us/research/publication/can-homomorphic-encryption-be-practical-2/</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 E. Shaw — Real-Time Risk &amp; Capital Decisioning Platform</a:t>
            </a:r>
          </a:p>
          <a:p>
            <a:endParaRPr/>
          </a:p>
          <a:p>
            <a:r>
              <a:t>At D. E. Shaw, I led a real-time financial-risk and capital decisioning platform supporting front-office, quantitative, risk and technology teams.</a:t>
            </a:r>
          </a:p>
          <a:p>
            <a:endParaRPr/>
          </a:p>
          <a:p>
            <a:r>
              <a:t>Problem: the existing environment combined slower batch-style risk processes with fragmented intraday decisioning. That created latency, excessive false positives and inefficient capital usage.</a:t>
            </a:r>
          </a:p>
          <a:p>
            <a:endParaRPr/>
          </a:p>
          <a:p>
            <a:r>
              <a:t>Objective: create a shared real-time risk layer that could support high-volume financial decisions while meeting strict requirements around performance, accuracy, controls and production reliability.</a:t>
            </a:r>
          </a:p>
          <a:p>
            <a:endParaRPr/>
          </a:p>
          <a:p>
            <a:r>
              <a:t>My role: I led a 15+ person cross-functional program, translating requirements across Trading, Quant, Risk/Compliance, Finance and Engineering into a common roadmap, measurable acceptance criteria and staged production rollout. I translated five definitions of “good” into one measurable product contract.</a:t>
            </a:r>
          </a:p>
          <a:p>
            <a:endParaRPr/>
          </a:p>
          <a:p>
            <a:r>
              <a:t>Decision framework:</a:t>
            </a:r>
          </a:p>
          <a:p>
            <a:r>
              <a:t>Performance — single-digit millisecond response.</a:t>
            </a:r>
          </a:p>
          <a:p>
            <a:r>
              <a:t>Accuracy — materially reduce false positives without weakening controls.</a:t>
            </a:r>
          </a:p>
          <a:p>
            <a:r>
              <a:t>Trust — prove equivalence through shadow operation before migration.</a:t>
            </a:r>
          </a:p>
          <a:p>
            <a:r>
              <a:t>Economics — demonstrate operating and capital impact.</a:t>
            </a:r>
          </a:p>
          <a:p>
            <a:endParaRPr/>
          </a:p>
          <a:p>
            <a:r>
              <a:t>Approach: we modernized the real-time decisioning layer, standardized common risk/data interfaces, and preserved specialized quantitative logic where it created differentiation. Rather than moving directly into production, we ran a 90-day shadow deployment, compared the new and existing systems, brought domain users into the validation loop, and required approximately 98% output agreement before staged cutover.</a:t>
            </a:r>
          </a:p>
          <a:p>
            <a:endParaRPr/>
          </a:p>
          <a:p>
            <a:r>
              <a:t>Result: decision latency improved from roughly 90ms to 4.2ms, false positives fell from 15% to 1.8%, the platform supported approximately 5.4M events per second, operating costs fell around $400K per month, and improved risk decisioning released approximately $85M of usable capital capacity.</a:t>
            </a:r>
          </a:p>
          <a:p>
            <a:endParaRPr/>
          </a:p>
          <a:p>
            <a:r>
              <a:t>The capital impact came from making risk information faster and more precise. Lower false positives and more timely risk visibility reduced unnecessary conservatism in how capital was allocated.</a:t>
            </a:r>
          </a:p>
          <a:p>
            <a:endParaRPr/>
          </a:p>
          <a:p>
            <a:r>
              <a:t>Customer insight changed the product: early on, we treated speed as the primary problem. User conversations made it clear that speed without explainability and confidence would not change behavior. The product definition expanded from “make risk calculations faster” to “make decisions faster without reducing trust.”</a:t>
            </a:r>
          </a:p>
          <a:p>
            <a:endParaRPr/>
          </a:p>
          <a:p>
            <a:r>
              <a:t>If asked about architecture: conceptually, the platform separated into an event/data layer, a decisioning layer, and a control layer. This improved shared infrastructure without unnecessarily rewriting specialized quantitative logic.</a:t>
            </a:r>
          </a:p>
          <a:p>
            <a:endParaRPr/>
          </a:p>
          <a:p>
            <a:r>
              <a:t>Lesson: in Financial Services, the hard part is not building technically impressive infrastructure. It is creating enough performance, control and measurable economic proof that sophisticated users will trust it in production.</a:t>
            </a:r>
          </a:p>
          <a:p>
            <a:endParaRPr/>
          </a:p>
          <a:p>
            <a:r>
              <a:t>Avoid inventing: named regulators, Basel III, exact legal capital requirements, exact desk/user counts, exact historical stack, named third-party vendors, revenue attribution, or an unsupported adoption percentage.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AWS, I ran positioning for </a:t>
            </a:r>
            <a:r>
              <a:rPr lang="en-US" b="1" dirty="0"/>
              <a:t>Amazon Bedrock AgentCore</a:t>
            </a:r>
            <a:r>
              <a:rPr lang="en-US" dirty="0"/>
              <a:t>, a managed platform for moving enterprise agents from </a:t>
            </a:r>
            <a:r>
              <a:rPr lang="en-US" b="1" dirty="0"/>
              <a:t>prototype to secure production</a:t>
            </a:r>
            <a:r>
              <a:rPr lang="en-US" dirty="0"/>
              <a:t>. I translated capabilities like </a:t>
            </a:r>
            <a:r>
              <a:rPr lang="en-US" b="1" dirty="0"/>
              <a:t>enterprise connectivity, identity, access controls, execution traces, policy enforcement, and managed runtime</a:t>
            </a:r>
            <a:r>
              <a:rPr lang="en-US" dirty="0"/>
              <a:t> into a clear narrative for security-conscious and regulated buyers.</a:t>
            </a:r>
          </a:p>
          <a:p>
            <a:endParaRPr lang="en-US" dirty="0"/>
          </a:p>
          <a:p>
            <a:r>
              <a:rPr lang="en-US" b="1" dirty="0"/>
              <a:t>Prototype → connect → secure → govern → production</a:t>
            </a:r>
            <a:endParaRPr lang="en-US" dirty="0"/>
          </a:p>
          <a:p>
            <a:endParaRPr lang="en-US" dirty="0"/>
          </a:p>
          <a:p>
            <a:r>
              <a:rPr lang="en-US" dirty="0"/>
              <a:t>The core value proposition was: </a:t>
            </a:r>
            <a:r>
              <a:rPr lang="en-US" b="1" dirty="0"/>
              <a:t>“Get an agent into production without rebuilding the enterprise security and operational layer yourself.”</a:t>
            </a:r>
          </a:p>
          <a:p>
            <a:endParaRPr lang="en-US" dirty="0"/>
          </a:p>
          <a:p>
            <a:r>
              <a:rPr lang="en-US" dirty="0"/>
              <a:t>I used customer research and product telemetry to sharpen positioning, launch, and adoption strategy, while pairing AgentCore with broader Bedrock capabilities like </a:t>
            </a:r>
            <a:r>
              <a:rPr lang="en-US" b="1" dirty="0"/>
              <a:t>retrieval, guardrails, evaluations, and cost-quality routing</a:t>
            </a:r>
            <a:r>
              <a:rPr lang="en-US" dirty="0"/>
              <a:t>.</a:t>
            </a:r>
          </a:p>
          <a:p>
            <a:endParaRPr lang="en-US" dirty="0"/>
          </a:p>
          <a:p>
            <a:r>
              <a:rPr lang="en-US" dirty="0"/>
              <a:t>The AgentCore SDK later surpassed </a:t>
            </a:r>
            <a:r>
              <a:rPr lang="en-US" b="1" dirty="0"/>
              <a:t>2M downloads within five months of preview</a:t>
            </a:r>
            <a:r>
              <a:rPr lang="en-US" dirty="0"/>
              <a:t>.</a:t>
            </a:r>
          </a:p>
          <a:p>
            <a:endParaRPr lang="en-US" dirty="0"/>
          </a:p>
          <a:p>
            <a:r>
              <a:rPr lang="en-US" dirty="0"/>
              <a:t>AWS’s original AgentCore launch announcement:</a:t>
            </a:r>
          </a:p>
          <a:p>
            <a:r>
              <a:rPr lang="en-US" dirty="0">
                <a:hlinkClick r:id="rId3"/>
              </a:rPr>
              <a:t>https://aws.amazon.com/blogs/aws/introducing-amazon-bedrock-agentcore-securely-deploy-and-operate-ai-agents-at-any-scale/</a:t>
            </a:r>
            <a:endParaRPr lang="en-US" dirty="0"/>
          </a:p>
        </p:txBody>
      </p:sp>
      <p:sp>
        <p:nvSpPr>
          <p:cNvPr id="4" name="Slide Number Placeholder 3"/>
          <p:cNvSpPr>
            <a:spLocks noGrp="1"/>
          </p:cNvSpPr>
          <p:nvPr>
            <p:ph type="sldNum" sz="quarter" idx="5"/>
          </p:nvPr>
        </p:nvSpPr>
        <p:spPr/>
        <p:txBody>
          <a:bodyPr/>
          <a:lstStyle/>
          <a:p>
            <a:fld id="{4A7E2B38-EC44-4B44-8575-CA30B2FCCCF1}" type="slidenum">
              <a:rPr lang="en-US" smtClean="0"/>
              <a:t>7</a:t>
            </a:fld>
            <a:endParaRPr lang="en-US"/>
          </a:p>
        </p:txBody>
      </p:sp>
    </p:spTree>
    <p:extLst>
      <p:ext uri="{BB962C8B-B14F-4D97-AF65-F5344CB8AC3E}">
        <p14:creationId xmlns:p14="http://schemas.microsoft.com/office/powerpoint/2010/main" val="276683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17001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2264765"/>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4B00"/>
                </a:solidFill>
                <a:effectLst/>
                <a:uLnTx/>
                <a:uFillTx/>
                <a:latin typeface="Arial"/>
                <a:ea typeface="+mn-ea"/>
                <a:cs typeface="+mn-cs"/>
              </a:rPr>
              <a:t>SHIV | AUTHOR PROFILE</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1</a:t>
            </a:r>
          </a:p>
        </p:txBody>
      </p:sp>
      <p:sp>
        <p:nvSpPr>
          <p:cNvPr id="16" name="Rectangle 15"/>
          <p:cNvSpPr/>
          <p:nvPr/>
        </p:nvSpPr>
        <p:spPr>
          <a:xfrm>
            <a:off x="502920" y="758952"/>
            <a:ext cx="100584" cy="13258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7" name="TextBox 16"/>
          <p:cNvSpPr txBox="1">
            <a:spLocks/>
          </p:cNvSpPr>
          <p:nvPr/>
        </p:nvSpPr>
        <p:spPr>
          <a:xfrm>
            <a:off x="786384" y="722376"/>
            <a:ext cx="996696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Why I fit Mistral Studio PMM</a:t>
            </a:r>
          </a:p>
        </p:txBody>
      </p:sp>
      <p:sp>
        <p:nvSpPr>
          <p:cNvPr id="18" name="TextBox 17"/>
          <p:cNvSpPr txBox="1">
            <a:spLocks/>
          </p:cNvSpPr>
          <p:nvPr/>
        </p:nvSpPr>
        <p:spPr>
          <a:xfrm>
            <a:off x="804672" y="1719072"/>
            <a:ext cx="8869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Ten years making complex, regulated AI and cloud technology buyable.</a:t>
            </a:r>
          </a:p>
        </p:txBody>
      </p:sp>
      <p:sp>
        <p:nvSpPr>
          <p:cNvPr id="19" name="TextBox 18"/>
          <p:cNvSpPr txBox="1">
            <a:spLocks/>
          </p:cNvSpPr>
          <p:nvPr/>
        </p:nvSpPr>
        <p:spPr>
          <a:xfrm>
            <a:off x="804672" y="2395728"/>
            <a:ext cx="201168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CAREER THREAD</a:t>
            </a:r>
          </a:p>
        </p:txBody>
      </p:sp>
      <p:cxnSp>
        <p:nvCxnSpPr>
          <p:cNvPr id="20" name="Connector 19"/>
          <p:cNvCxnSpPr/>
          <p:nvPr/>
        </p:nvCxnSpPr>
        <p:spPr>
          <a:xfrm>
            <a:off x="841248" y="2953512"/>
            <a:ext cx="1026871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9601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9601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01</a:t>
            </a:r>
          </a:p>
        </p:txBody>
      </p:sp>
      <p:sp>
        <p:nvSpPr>
          <p:cNvPr id="23" name="TextBox 22"/>
          <p:cNvSpPr txBox="1">
            <a:spLocks/>
          </p:cNvSpPr>
          <p:nvPr/>
        </p:nvSpPr>
        <p:spPr>
          <a:xfrm>
            <a:off x="960120" y="3264408"/>
            <a:ext cx="3154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REGULATED SYSTEMS</a:t>
            </a:r>
          </a:p>
        </p:txBody>
      </p:sp>
      <p:sp>
        <p:nvSpPr>
          <p:cNvPr id="24" name="TextBox 23"/>
          <p:cNvSpPr txBox="1">
            <a:spLocks/>
          </p:cNvSpPr>
          <p:nvPr/>
        </p:nvSpPr>
        <p:spPr>
          <a:xfrm>
            <a:off x="960120" y="3584448"/>
            <a:ext cx="306324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Complex AI and cloud made buyable in regulated markets</a:t>
            </a:r>
          </a:p>
        </p:txBody>
      </p:sp>
      <p:sp>
        <p:nvSpPr>
          <p:cNvPr id="25" name="Oval 24"/>
          <p:cNvSpPr/>
          <p:nvPr/>
        </p:nvSpPr>
        <p:spPr>
          <a:xfrm>
            <a:off x="46177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6177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02</a:t>
            </a:r>
          </a:p>
        </p:txBody>
      </p:sp>
      <p:sp>
        <p:nvSpPr>
          <p:cNvPr id="27" name="TextBox 26"/>
          <p:cNvSpPr txBox="1">
            <a:spLocks/>
          </p:cNvSpPr>
          <p:nvPr/>
        </p:nvSpPr>
        <p:spPr>
          <a:xfrm>
            <a:off x="4617720" y="3264408"/>
            <a:ext cx="31546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GENAI PRODUCT–MARKET FIT</a:t>
            </a:r>
          </a:p>
        </p:txBody>
      </p:sp>
      <p:sp>
        <p:nvSpPr>
          <p:cNvPr id="28" name="TextBox 27"/>
          <p:cNvSpPr txBox="1"/>
          <p:nvPr/>
        </p:nvSpPr>
        <p:spPr>
          <a:xfrm>
            <a:off x="4617720" y="3584448"/>
            <a:ext cx="306324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Customer insight, AI positioning and launch readiness at AWS</a:t>
            </a:r>
            <a:endParaRPr kumimoji="0" sz="1700" b="1" i="0" u="none" strike="noStrike" kern="1200" cap="none" spc="0" normalizeH="0" baseline="0" noProof="0">
              <a:ln>
                <a:noFill/>
              </a:ln>
              <a:solidFill>
                <a:srgbClr val="121212"/>
              </a:solidFill>
              <a:effectLst/>
              <a:uLnTx/>
              <a:uFillTx/>
              <a:latin typeface="Arial"/>
              <a:ea typeface="+mn-ea"/>
              <a:cs typeface="+mn-cs"/>
            </a:endParaRPr>
          </a:p>
        </p:txBody>
      </p:sp>
      <p:sp>
        <p:nvSpPr>
          <p:cNvPr id="29" name="Oval 28"/>
          <p:cNvSpPr/>
          <p:nvPr/>
        </p:nvSpPr>
        <p:spPr>
          <a:xfrm>
            <a:off x="845820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845820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03</a:t>
            </a:r>
          </a:p>
        </p:txBody>
      </p:sp>
      <p:sp>
        <p:nvSpPr>
          <p:cNvPr id="31" name="TextBox 30"/>
          <p:cNvSpPr txBox="1">
            <a:spLocks/>
          </p:cNvSpPr>
          <p:nvPr/>
        </p:nvSpPr>
        <p:spPr>
          <a:xfrm>
            <a:off x="8458200" y="3264408"/>
            <a:ext cx="3154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TWO ADOPTION MOTIONS</a:t>
            </a:r>
          </a:p>
        </p:txBody>
      </p:sp>
      <p:sp>
        <p:nvSpPr>
          <p:cNvPr id="32" name="TextBox 31"/>
          <p:cNvSpPr txBox="1">
            <a:spLocks/>
          </p:cNvSpPr>
          <p:nvPr/>
        </p:nvSpPr>
        <p:spPr>
          <a:xfrm>
            <a:off x="8458200" y="3584448"/>
            <a:ext cx="306324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Self-serve evaluation through enterprise production adoption</a:t>
            </a:r>
          </a:p>
        </p:txBody>
      </p:sp>
      <p:sp>
        <p:nvSpPr>
          <p:cNvPr id="33" name="Rectangle 32"/>
          <p:cNvSpPr/>
          <p:nvPr/>
        </p:nvSpPr>
        <p:spPr>
          <a:xfrm>
            <a:off x="0" y="4809744"/>
            <a:ext cx="12191695" cy="1490472"/>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4" name="TextBox 33"/>
          <p:cNvSpPr txBox="1">
            <a:spLocks/>
          </p:cNvSpPr>
          <p:nvPr/>
        </p:nvSpPr>
        <p:spPr>
          <a:xfrm>
            <a:off x="640080" y="5010912"/>
            <a:ext cx="242316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THE PRODUCT GAP</a:t>
            </a:r>
          </a:p>
        </p:txBody>
      </p:sp>
      <p:sp>
        <p:nvSpPr>
          <p:cNvPr id="35" name="TextBox 34"/>
          <p:cNvSpPr txBox="1">
            <a:spLocks/>
          </p:cNvSpPr>
          <p:nvPr/>
        </p:nvSpPr>
        <p:spPr>
          <a:xfrm>
            <a:off x="640080" y="5376672"/>
            <a:ext cx="48920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rial"/>
                <a:ea typeface="+mn-ea"/>
                <a:cs typeface="+mn-cs"/>
              </a:rPr>
              <a:t>Models are good. The hard part is making enterprise builders trust them enough to ship to production.</a:t>
            </a:r>
          </a:p>
        </p:txBody>
      </p:sp>
      <p:cxnSp>
        <p:nvCxnSpPr>
          <p:cNvPr id="36" name="Connector 35"/>
          <p:cNvCxnSpPr/>
          <p:nvPr/>
        </p:nvCxnSpPr>
        <p:spPr>
          <a:xfrm>
            <a:off x="5852160" y="5047488"/>
            <a:ext cx="0" cy="941832"/>
          </a:xfrm>
          <a:prstGeom prst="line">
            <a:avLst/>
          </a:prstGeom>
          <a:ln w="12700">
            <a:solidFill>
              <a:srgbClr val="55504A"/>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6199632" y="5010912"/>
            <a:ext cx="2971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WHY MISTRAL / STUDIO</a:t>
            </a:r>
          </a:p>
        </p:txBody>
      </p:sp>
      <p:sp>
        <p:nvSpPr>
          <p:cNvPr id="38" name="TextBox 37"/>
          <p:cNvSpPr txBox="1">
            <a:spLocks/>
          </p:cNvSpPr>
          <p:nvPr/>
        </p:nvSpPr>
        <p:spPr>
          <a:xfrm>
            <a:off x="6199632" y="5376672"/>
            <a:ext cx="5166360" cy="69249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Frontier open models on a production platform. </a:t>
            </a:r>
            <a:r>
              <a:rPr kumimoji="0" lang="en-US" sz="1400" b="0" i="0" u="none" strike="noStrike" kern="1200" cap="none" spc="0" normalizeH="0" baseline="0" noProof="0">
                <a:ln>
                  <a:noFill/>
                </a:ln>
                <a:solidFill>
                  <a:srgbClr val="FFFFFF"/>
                </a:solidFill>
                <a:effectLst/>
                <a:uLnTx/>
                <a:uFillTx/>
                <a:latin typeface="Arial"/>
                <a:ea typeface="+mn-ea"/>
                <a:cs typeface="+mn-cs"/>
              </a:rPr>
              <a:t>My contribution: make Studio easier to understand, evaluate and adopt.</a:t>
            </a:r>
          </a:p>
        </p:txBody>
      </p:sp>
      <p:pic>
        <p:nvPicPr>
          <p:cNvPr id="39"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40"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GENAI SHOPPING ASSISTANT · PRODUCT-MARKET FIT &amp; USER TRUST</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2</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1. Positioning: from “chat” to decision support</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research-led positioning, trust proof and adoption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30222"/>
            <a:ext cx="111556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Define the job users can trust, then prove the promise in the experience.</a:t>
            </a:r>
          </a:p>
        </p:txBody>
      </p:sp>
      <p:sp>
        <p:nvSpPr>
          <p:cNvPr id="21" name="TextBox 20"/>
          <p:cNvSpPr txBox="1">
            <a:spLocks/>
          </p:cNvSpPr>
          <p:nvPr/>
        </p:nvSpPr>
        <p:spPr>
          <a:xfrm>
            <a:off x="1078992" y="2258568"/>
            <a:ext cx="2011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BEFORE</a:t>
            </a:r>
          </a:p>
        </p:txBody>
      </p:sp>
      <p:sp>
        <p:nvSpPr>
          <p:cNvPr id="22" name="TextBox 21"/>
          <p:cNvSpPr txBox="1">
            <a:spLocks/>
          </p:cNvSpPr>
          <p:nvPr/>
        </p:nvSpPr>
        <p:spPr>
          <a:xfrm>
            <a:off x="658368" y="2587752"/>
            <a:ext cx="283464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“Chat with AI”</a:t>
            </a:r>
          </a:p>
        </p:txBody>
      </p:sp>
      <p:sp>
        <p:nvSpPr>
          <p:cNvPr id="23" name="TextBox 22"/>
          <p:cNvSpPr txBox="1">
            <a:spLocks/>
          </p:cNvSpPr>
          <p:nvPr/>
        </p:nvSpPr>
        <p:spPr>
          <a:xfrm>
            <a:off x="658368" y="3099816"/>
            <a:ext cx="265176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55504A"/>
                </a:solidFill>
                <a:effectLst/>
                <a:uLnTx/>
                <a:uFillTx/>
                <a:latin typeface="Arial"/>
                <a:ea typeface="+mn-ea"/>
                <a:cs typeface="+mn-cs"/>
              </a:rPr>
              <a:t>Conversation was not the job. Broad and hard to trust at purchase.</a:t>
            </a:r>
          </a:p>
        </p:txBody>
      </p:sp>
      <p:cxnSp>
        <p:nvCxnSpPr>
          <p:cNvPr id="24" name="Connector 23"/>
          <p:cNvCxnSpPr/>
          <p:nvPr/>
        </p:nvCxnSpPr>
        <p:spPr>
          <a:xfrm>
            <a:off x="3438144" y="2212848"/>
            <a:ext cx="0" cy="158191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776472" y="2221992"/>
            <a:ext cx="3246120" cy="1554480"/>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443984" y="2459736"/>
            <a:ext cx="228600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USER TRUST LOGIC</a:t>
            </a:r>
          </a:p>
        </p:txBody>
      </p:sp>
      <p:sp>
        <p:nvSpPr>
          <p:cNvPr id="27" name="TextBox 26"/>
          <p:cNvSpPr txBox="1">
            <a:spLocks/>
          </p:cNvSpPr>
          <p:nvPr/>
        </p:nvSpPr>
        <p:spPr>
          <a:xfrm>
            <a:off x="4023360" y="2852928"/>
            <a:ext cx="269748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Launch gates on retrieval quality, evals, human review and guardrails</a:t>
            </a:r>
          </a:p>
        </p:txBody>
      </p:sp>
      <p:cxnSp>
        <p:nvCxnSpPr>
          <p:cNvPr id="28" name="Connector 27"/>
          <p:cNvCxnSpPr/>
          <p:nvPr/>
        </p:nvCxnSpPr>
        <p:spPr>
          <a:xfrm>
            <a:off x="7370064" y="2212848"/>
            <a:ext cx="0" cy="1581912"/>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a:spLocks/>
          </p:cNvSpPr>
          <p:nvPr/>
        </p:nvSpPr>
        <p:spPr>
          <a:xfrm>
            <a:off x="8119872" y="2258568"/>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AFTER</a:t>
            </a:r>
          </a:p>
        </p:txBody>
      </p:sp>
      <p:sp>
        <p:nvSpPr>
          <p:cNvPr id="30" name="TextBox 29"/>
          <p:cNvSpPr txBox="1">
            <a:spLocks/>
          </p:cNvSpPr>
          <p:nvPr/>
        </p:nvSpPr>
        <p:spPr>
          <a:xfrm>
            <a:off x="7699248" y="2587752"/>
            <a:ext cx="39319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“Decide better, faster”</a:t>
            </a:r>
          </a:p>
        </p:txBody>
      </p:sp>
      <p:sp>
        <p:nvSpPr>
          <p:cNvPr id="31" name="TextBox 30"/>
          <p:cNvSpPr txBox="1">
            <a:spLocks/>
          </p:cNvSpPr>
          <p:nvPr/>
        </p:nvSpPr>
        <p:spPr>
          <a:xfrm>
            <a:off x="7699248" y="3099816"/>
            <a:ext cx="35661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Research, compare and decide with confidence at the point of choice.</a:t>
            </a:r>
          </a:p>
        </p:txBody>
      </p:sp>
      <p:cxnSp>
        <p:nvCxnSpPr>
          <p:cNvPr id="32" name="Connector 31"/>
          <p:cNvCxnSpPr/>
          <p:nvPr/>
        </p:nvCxnSpPr>
        <p:spPr>
          <a:xfrm>
            <a:off x="658368" y="4160520"/>
            <a:ext cx="1088136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3" name="TextBox 32"/>
          <p:cNvSpPr txBox="1">
            <a:spLocks/>
          </p:cNvSpPr>
          <p:nvPr/>
        </p:nvSpPr>
        <p:spPr>
          <a:xfrm>
            <a:off x="658368"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25%</a:t>
            </a:r>
          </a:p>
        </p:txBody>
      </p:sp>
      <p:sp>
        <p:nvSpPr>
          <p:cNvPr id="34" name="TextBox 33"/>
          <p:cNvSpPr txBox="1">
            <a:spLocks/>
          </p:cNvSpPr>
          <p:nvPr/>
        </p:nvSpPr>
        <p:spPr>
          <a:xfrm>
            <a:off x="658368"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35" name="TextBox 34"/>
          <p:cNvSpPr txBox="1">
            <a:spLocks/>
          </p:cNvSpPr>
          <p:nvPr/>
        </p:nvSpPr>
        <p:spPr>
          <a:xfrm>
            <a:off x="658368"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eligible users engaged</a:t>
            </a:r>
          </a:p>
        </p:txBody>
      </p:sp>
      <p:cxnSp>
        <p:nvCxnSpPr>
          <p:cNvPr id="36" name="Connector 35"/>
          <p:cNvCxnSpPr/>
          <p:nvPr/>
        </p:nvCxnSpPr>
        <p:spPr>
          <a:xfrm>
            <a:off x="261518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281635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55→70%</a:t>
            </a:r>
          </a:p>
        </p:txBody>
      </p:sp>
      <p:sp>
        <p:nvSpPr>
          <p:cNvPr id="38" name="TextBox 37"/>
          <p:cNvSpPr txBox="1">
            <a:spLocks/>
          </p:cNvSpPr>
          <p:nvPr/>
        </p:nvSpPr>
        <p:spPr>
          <a:xfrm>
            <a:off x="281635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FAVORABILITY</a:t>
            </a:r>
          </a:p>
        </p:txBody>
      </p:sp>
      <p:sp>
        <p:nvSpPr>
          <p:cNvPr id="39" name="TextBox 38"/>
          <p:cNvSpPr txBox="1">
            <a:spLocks/>
          </p:cNvSpPr>
          <p:nvPr/>
        </p:nvSpPr>
        <p:spPr>
          <a:xfrm>
            <a:off x="281635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among exposed users</a:t>
            </a:r>
          </a:p>
        </p:txBody>
      </p:sp>
      <p:cxnSp>
        <p:nvCxnSpPr>
          <p:cNvPr id="40" name="Connector 39"/>
          <p:cNvCxnSpPr/>
          <p:nvPr/>
        </p:nvCxnSpPr>
        <p:spPr>
          <a:xfrm>
            <a:off x="480974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501091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+15%</a:t>
            </a:r>
          </a:p>
        </p:txBody>
      </p:sp>
      <p:sp>
        <p:nvSpPr>
          <p:cNvPr id="42" name="TextBox 41"/>
          <p:cNvSpPr txBox="1">
            <a:spLocks/>
          </p:cNvSpPr>
          <p:nvPr/>
        </p:nvSpPr>
        <p:spPr>
          <a:xfrm>
            <a:off x="501091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SESSION DEPTH</a:t>
            </a:r>
          </a:p>
        </p:txBody>
      </p:sp>
      <p:sp>
        <p:nvSpPr>
          <p:cNvPr id="43" name="TextBox 42"/>
          <p:cNvSpPr txBox="1">
            <a:spLocks/>
          </p:cNvSpPr>
          <p:nvPr/>
        </p:nvSpPr>
        <p:spPr>
          <a:xfrm>
            <a:off x="501091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deeper engagement</a:t>
            </a:r>
          </a:p>
        </p:txBody>
      </p:sp>
      <p:cxnSp>
        <p:nvCxnSpPr>
          <p:cNvPr id="44" name="Connector 43"/>
          <p:cNvCxnSpPr/>
          <p:nvPr/>
        </p:nvCxnSpPr>
        <p:spPr>
          <a:xfrm>
            <a:off x="700430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720547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2.8%</a:t>
            </a:r>
          </a:p>
        </p:txBody>
      </p:sp>
      <p:sp>
        <p:nvSpPr>
          <p:cNvPr id="46" name="TextBox 45"/>
          <p:cNvSpPr txBox="1">
            <a:spLocks/>
          </p:cNvSpPr>
          <p:nvPr/>
        </p:nvSpPr>
        <p:spPr>
          <a:xfrm>
            <a:off x="720547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HALLUCINATION</a:t>
            </a:r>
          </a:p>
        </p:txBody>
      </p:sp>
      <p:sp>
        <p:nvSpPr>
          <p:cNvPr id="47" name="TextBox 46"/>
          <p:cNvSpPr txBox="1">
            <a:spLocks/>
          </p:cNvSpPr>
          <p:nvPr/>
        </p:nvSpPr>
        <p:spPr>
          <a:xfrm>
            <a:off x="720547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evaluated failure rate</a:t>
            </a:r>
          </a:p>
        </p:txBody>
      </p:sp>
      <p:cxnSp>
        <p:nvCxnSpPr>
          <p:cNvPr id="48" name="Connector 47"/>
          <p:cNvCxnSpPr/>
          <p:nvPr/>
        </p:nvCxnSpPr>
        <p:spPr>
          <a:xfrm>
            <a:off x="9198863"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940003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JP</a:t>
            </a:r>
          </a:p>
        </p:txBody>
      </p:sp>
      <p:sp>
        <p:nvSpPr>
          <p:cNvPr id="50" name="TextBox 49"/>
          <p:cNvSpPr txBox="1">
            <a:spLocks/>
          </p:cNvSpPr>
          <p:nvPr/>
        </p:nvSpPr>
        <p:spPr>
          <a:xfrm>
            <a:off x="940003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LOCALIZATION</a:t>
            </a:r>
          </a:p>
        </p:txBody>
      </p:sp>
      <p:sp>
        <p:nvSpPr>
          <p:cNvPr id="51" name="TextBox 50"/>
          <p:cNvSpPr txBox="1">
            <a:spLocks/>
          </p:cNvSpPr>
          <p:nvPr/>
        </p:nvSpPr>
        <p:spPr>
          <a:xfrm>
            <a:off x="940003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tone, tokenization + UX</a:t>
            </a:r>
          </a:p>
        </p:txBody>
      </p:sp>
      <p:sp>
        <p:nvSpPr>
          <p:cNvPr id="90" name="Icon Before"/>
          <p:cNvSpPr/>
          <p:nvPr/>
        </p:nvSpPr>
        <p:spPr>
          <a:xfrm>
            <a:off x="658368" y="2203704"/>
            <a:ext cx="310896" cy="310896"/>
          </a:xfrm>
          <a:prstGeom prst="wedgeEllipseCallout">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1" name="Icon Trust"/>
          <p:cNvSpPr/>
          <p:nvPr/>
        </p:nvSpPr>
        <p:spPr>
          <a:xfrm>
            <a:off x="4023360" y="2404872"/>
            <a:ext cx="310896" cy="310896"/>
          </a:xfrm>
          <a:prstGeom prst="flowChartDecision">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2" name="Icon After"/>
          <p:cNvSpPr/>
          <p:nvPr/>
        </p:nvSpPr>
        <p:spPr>
          <a:xfrm>
            <a:off x="7699248" y="2231136"/>
            <a:ext cx="310896" cy="310896"/>
          </a:xfrm>
          <a:prstGeom prst="right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https://www.aboutamazon.com/news/retail/amazon-agentic-ai-gen-ai-shopping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RAKUTEN MERCHANT GENAI PLATFORM · MARKET INTELLIGENCE &amp; MOAT STRATEGY</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dirty="0">
                <a:solidFill>
                  <a:srgbClr val="55504A"/>
                </a:solidFill>
                <a:latin typeface="Arial"/>
              </a:rPr>
              <a:t>3</a:t>
            </a:r>
            <a:endParaRPr kumimoji="0" lang="en-US" sz="1000" b="0" i="0" u="none" strike="noStrike" kern="1200" cap="none" spc="0" normalizeH="0" baseline="0" noProof="0" dirty="0">
              <a:ln>
                <a:noFill/>
              </a:ln>
              <a:solidFill>
                <a:srgbClr val="55504A"/>
              </a:solidFill>
              <a:effectLst/>
              <a:uLnTx/>
              <a:uFillTx/>
              <a:latin typeface="Arial"/>
              <a:ea typeface="+mn-ea"/>
              <a:cs typeface="+mn-cs"/>
            </a:endParaRP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2. Market intelligence: context + workflow won</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market intelligence, moat strategy and platform investment choice</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00784"/>
            <a:ext cx="11155680" cy="274320"/>
          </a:xfrm>
          <a:prstGeom prst="rect">
            <a:avLst/>
          </a:prstGeom>
          <a:noFill/>
        </p:spPr>
        <p:txBody>
          <a:bodyPr wrap="square" lIns="0" tIns="0" rIns="0" bIns="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The moat was not the model—it was proprietary context + workflow depth + economics + distribution.</a:t>
            </a:r>
          </a:p>
        </p:txBody>
      </p:sp>
      <p:sp>
        <p:nvSpPr>
          <p:cNvPr id="21" name="Rectangle 20"/>
          <p:cNvSpPr/>
          <p:nvPr/>
        </p:nvSpPr>
        <p:spPr>
          <a:xfrm>
            <a:off x="502920" y="2121408"/>
            <a:ext cx="2743200" cy="8686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676656" y="2258568"/>
            <a:ext cx="214884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DECISION</a:t>
            </a:r>
          </a:p>
        </p:txBody>
      </p:sp>
      <p:sp>
        <p:nvSpPr>
          <p:cNvPr id="23" name="TextBox 22"/>
          <p:cNvSpPr txBox="1">
            <a:spLocks/>
          </p:cNvSpPr>
          <p:nvPr/>
        </p:nvSpPr>
        <p:spPr>
          <a:xfrm>
            <a:off x="676656" y="2450592"/>
            <a:ext cx="23774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a:ea typeface="+mn-ea"/>
                <a:cs typeface="+mn-cs"/>
              </a:rPr>
              <a:t>Buy intelligence. Build context.</a:t>
            </a:r>
          </a:p>
        </p:txBody>
      </p:sp>
      <p:sp>
        <p:nvSpPr>
          <p:cNvPr id="24" name="TextBox 23"/>
          <p:cNvSpPr txBox="1">
            <a:spLocks/>
          </p:cNvSpPr>
          <p:nvPr/>
        </p:nvSpPr>
        <p:spPr>
          <a:xfrm>
            <a:off x="987552" y="3054096"/>
            <a:ext cx="210312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PROBLEM</a:t>
            </a:r>
          </a:p>
        </p:txBody>
      </p:sp>
      <p:sp>
        <p:nvSpPr>
          <p:cNvPr id="25" name="TextBox 24"/>
          <p:cNvSpPr txBox="1">
            <a:spLocks/>
          </p:cNvSpPr>
          <p:nvPr/>
        </p:nvSpPr>
        <p:spPr>
          <a:xfrm>
            <a:off x="566928" y="3364992"/>
            <a:ext cx="2496312" cy="86177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A standalone merchant chatbot promised more than users experienced, and adoption lagged.</a:t>
            </a:r>
          </a:p>
        </p:txBody>
      </p:sp>
      <p:sp>
        <p:nvSpPr>
          <p:cNvPr id="26" name="Rectangle 25"/>
          <p:cNvSpPr/>
          <p:nvPr/>
        </p:nvSpPr>
        <p:spPr>
          <a:xfrm>
            <a:off x="3493008" y="2212848"/>
            <a:ext cx="2468880" cy="1591056"/>
          </a:xfrm>
          <a:prstGeom prst="rect">
            <a:avLst/>
          </a:prstGeom>
          <a:solidFill>
            <a:srgbClr val="FBF7E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Rectangle 26"/>
          <p:cNvSpPr/>
          <p:nvPr/>
        </p:nvSpPr>
        <p:spPr>
          <a:xfrm>
            <a:off x="5961888" y="2212848"/>
            <a:ext cx="2468880" cy="1591056"/>
          </a:xfrm>
          <a:prstGeom prst="rect">
            <a:avLst/>
          </a:prstGeom>
          <a:solidFill>
            <a:srgbClr val="FFF0B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Rectangle 27"/>
          <p:cNvSpPr/>
          <p:nvPr/>
        </p:nvSpPr>
        <p:spPr>
          <a:xfrm>
            <a:off x="3493008" y="3803904"/>
            <a:ext cx="2468880" cy="1591056"/>
          </a:xfrm>
          <a:prstGeom prst="rect">
            <a:avLst/>
          </a:prstGeom>
          <a:solidFill>
            <a:srgbClr val="F0E8DA"/>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Rectangle 28"/>
          <p:cNvSpPr/>
          <p:nvPr/>
        </p:nvSpPr>
        <p:spPr>
          <a:xfrm>
            <a:off x="5961888" y="3803904"/>
            <a:ext cx="2468880" cy="1591056"/>
          </a:xfrm>
          <a:prstGeom prst="rect">
            <a:avLst/>
          </a:prstGeom>
          <a:solidFill>
            <a:srgbClr val="FFE3B3"/>
          </a:solidFill>
          <a:ln w="254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3712463" y="2432304"/>
            <a:ext cx="192024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CONTEXT
LOW WORKFLOW</a:t>
            </a:r>
          </a:p>
        </p:txBody>
      </p:sp>
      <p:sp>
        <p:nvSpPr>
          <p:cNvPr id="31" name="TextBox 30"/>
          <p:cNvSpPr txBox="1">
            <a:spLocks/>
          </p:cNvSpPr>
          <p:nvPr/>
        </p:nvSpPr>
        <p:spPr>
          <a:xfrm>
            <a:off x="3712463" y="4032504"/>
            <a:ext cx="19659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
LOW WORKFLOW</a:t>
            </a:r>
          </a:p>
        </p:txBody>
      </p:sp>
      <p:sp>
        <p:nvSpPr>
          <p:cNvPr id="32" name="TextBox 31"/>
          <p:cNvSpPr txBox="1"/>
          <p:nvPr/>
        </p:nvSpPr>
        <p:spPr>
          <a:xfrm>
            <a:off x="6181344" y="4032504"/>
            <a:ext cx="196596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WORKFLOW</a:t>
            </a:r>
          </a:p>
        </p:txBody>
      </p:sp>
      <p:sp>
        <p:nvSpPr>
          <p:cNvPr id="33" name="TextBox 32"/>
          <p:cNvSpPr txBox="1">
            <a:spLocks/>
          </p:cNvSpPr>
          <p:nvPr/>
        </p:nvSpPr>
        <p:spPr>
          <a:xfrm>
            <a:off x="6217920" y="2432304"/>
            <a:ext cx="1051560" cy="2103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CHOSEN</a:t>
            </a:r>
          </a:p>
        </p:txBody>
      </p:sp>
      <p:sp>
        <p:nvSpPr>
          <p:cNvPr id="34" name="TextBox 33"/>
          <p:cNvSpPr txBox="1">
            <a:spLocks/>
          </p:cNvSpPr>
          <p:nvPr/>
        </p:nvSpPr>
        <p:spPr>
          <a:xfrm>
            <a:off x="6217920" y="2715768"/>
            <a:ext cx="1874519" cy="53035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Merchant
workflows</a:t>
            </a:r>
          </a:p>
        </p:txBody>
      </p:sp>
      <p:sp>
        <p:nvSpPr>
          <p:cNvPr id="35" name="TextBox 34"/>
          <p:cNvSpPr txBox="1">
            <a:spLocks/>
          </p:cNvSpPr>
          <p:nvPr/>
        </p:nvSpPr>
        <p:spPr>
          <a:xfrm>
            <a:off x="6217920" y="3319272"/>
            <a:ext cx="1874519"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Listing, support and sales analysis</a:t>
            </a:r>
          </a:p>
        </p:txBody>
      </p:sp>
      <p:sp>
        <p:nvSpPr>
          <p:cNvPr id="36" name="Oval 35"/>
          <p:cNvSpPr/>
          <p:nvPr/>
        </p:nvSpPr>
        <p:spPr>
          <a:xfrm>
            <a:off x="3877056" y="4892040"/>
            <a:ext cx="210312" cy="210312"/>
          </a:xfrm>
          <a:prstGeom prst="ellipse">
            <a:avLst/>
          </a:prstGeom>
          <a:solidFill>
            <a:srgbClr val="E72500"/>
          </a:solidFill>
          <a:ln w="12700">
            <a:solidFill>
              <a:srgbClr val="E725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7" name="TextBox 36"/>
          <p:cNvSpPr txBox="1">
            <a:spLocks/>
          </p:cNvSpPr>
          <p:nvPr/>
        </p:nvSpPr>
        <p:spPr>
          <a:xfrm>
            <a:off x="4206240" y="4700016"/>
            <a:ext cx="1463040"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E72500"/>
                </a:solidFill>
                <a:effectLst/>
                <a:uLnTx/>
                <a:uFillTx/>
                <a:latin typeface="Arial"/>
                <a:ea typeface="+mn-ea"/>
                <a:cs typeface="+mn-cs"/>
              </a:rPr>
              <a:t>Standalone chatbot
visibly lost</a:t>
            </a:r>
          </a:p>
        </p:txBody>
      </p:sp>
      <p:sp>
        <p:nvSpPr>
          <p:cNvPr id="38" name="TextBox 37"/>
          <p:cNvSpPr txBox="1">
            <a:spLocks/>
          </p:cNvSpPr>
          <p:nvPr/>
        </p:nvSpPr>
        <p:spPr>
          <a:xfrm>
            <a:off x="3419856" y="2002536"/>
            <a:ext cx="2468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PROPRIETARY CONTEXT ↑</a:t>
            </a:r>
          </a:p>
        </p:txBody>
      </p:sp>
      <p:sp>
        <p:nvSpPr>
          <p:cNvPr id="39" name="TextBox 38"/>
          <p:cNvSpPr txBox="1">
            <a:spLocks/>
          </p:cNvSpPr>
          <p:nvPr/>
        </p:nvSpPr>
        <p:spPr>
          <a:xfrm>
            <a:off x="5358383" y="5468112"/>
            <a:ext cx="265176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WORKFLOW INTEGRATION →</a:t>
            </a:r>
          </a:p>
        </p:txBody>
      </p:sp>
      <p:sp>
        <p:nvSpPr>
          <p:cNvPr id="40" name="TextBox 39"/>
          <p:cNvSpPr txBox="1">
            <a:spLocks/>
          </p:cNvSpPr>
          <p:nvPr/>
        </p:nvSpPr>
        <p:spPr>
          <a:xfrm>
            <a:off x="9272016" y="2249424"/>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COMMERCIAL PROOF</a:t>
            </a:r>
          </a:p>
        </p:txBody>
      </p:sp>
      <p:sp>
        <p:nvSpPr>
          <p:cNvPr id="41" name="TextBox 40"/>
          <p:cNvSpPr txBox="1">
            <a:spLocks/>
          </p:cNvSpPr>
          <p:nvPr/>
        </p:nvSpPr>
        <p:spPr>
          <a:xfrm>
            <a:off x="8851392" y="2670048"/>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50K+</a:t>
            </a:r>
          </a:p>
        </p:txBody>
      </p:sp>
      <p:sp>
        <p:nvSpPr>
          <p:cNvPr id="42" name="TextBox 41"/>
          <p:cNvSpPr txBox="1">
            <a:spLocks/>
          </p:cNvSpPr>
          <p:nvPr/>
        </p:nvSpPr>
        <p:spPr>
          <a:xfrm>
            <a:off x="10104120" y="2697479"/>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MERCHANTS</a:t>
            </a:r>
          </a:p>
        </p:txBody>
      </p:sp>
      <p:sp>
        <p:nvSpPr>
          <p:cNvPr id="43" name="TextBox 42"/>
          <p:cNvSpPr txBox="1">
            <a:spLocks/>
          </p:cNvSpPr>
          <p:nvPr/>
        </p:nvSpPr>
        <p:spPr>
          <a:xfrm>
            <a:off x="10104120" y="2980943"/>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platform scale</a:t>
            </a:r>
          </a:p>
        </p:txBody>
      </p:sp>
      <p:cxnSp>
        <p:nvCxnSpPr>
          <p:cNvPr id="44" name="Connector 43"/>
          <p:cNvCxnSpPr/>
          <p:nvPr/>
        </p:nvCxnSpPr>
        <p:spPr>
          <a:xfrm>
            <a:off x="8851392" y="3273552"/>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8851392" y="3383280"/>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40%</a:t>
            </a:r>
          </a:p>
        </p:txBody>
      </p:sp>
      <p:sp>
        <p:nvSpPr>
          <p:cNvPr id="46" name="TextBox 45"/>
          <p:cNvSpPr txBox="1">
            <a:spLocks/>
          </p:cNvSpPr>
          <p:nvPr/>
        </p:nvSpPr>
        <p:spPr>
          <a:xfrm>
            <a:off x="10104120" y="3410712"/>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47" name="TextBox 46"/>
          <p:cNvSpPr txBox="1">
            <a:spLocks/>
          </p:cNvSpPr>
          <p:nvPr/>
        </p:nvSpPr>
        <p:spPr>
          <a:xfrm>
            <a:off x="10104120" y="3694176"/>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six months</a:t>
            </a:r>
          </a:p>
        </p:txBody>
      </p:sp>
      <p:cxnSp>
        <p:nvCxnSpPr>
          <p:cNvPr id="48" name="Connector 47"/>
          <p:cNvCxnSpPr/>
          <p:nvPr/>
        </p:nvCxnSpPr>
        <p:spPr>
          <a:xfrm>
            <a:off x="8851392" y="3986784"/>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851392" y="4096512"/>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+15%</a:t>
            </a:r>
          </a:p>
        </p:txBody>
      </p:sp>
      <p:sp>
        <p:nvSpPr>
          <p:cNvPr id="50" name="TextBox 49"/>
          <p:cNvSpPr txBox="1">
            <a:spLocks/>
          </p:cNvSpPr>
          <p:nvPr/>
        </p:nvSpPr>
        <p:spPr>
          <a:xfrm>
            <a:off x="10104120" y="4123944"/>
            <a:ext cx="11887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 CVR</a:t>
            </a:r>
          </a:p>
        </p:txBody>
      </p:sp>
      <p:sp>
        <p:nvSpPr>
          <p:cNvPr id="51" name="TextBox 50"/>
          <p:cNvSpPr txBox="1">
            <a:spLocks/>
          </p:cNvSpPr>
          <p:nvPr/>
        </p:nvSpPr>
        <p:spPr>
          <a:xfrm>
            <a:off x="10104120" y="4507992"/>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conversion lift</a:t>
            </a:r>
          </a:p>
        </p:txBody>
      </p:sp>
      <p:cxnSp>
        <p:nvCxnSpPr>
          <p:cNvPr id="52" name="Connector 51"/>
          <p:cNvCxnSpPr/>
          <p:nvPr/>
        </p:nvCxnSpPr>
        <p:spPr>
          <a:xfrm>
            <a:off x="8851392" y="4700016"/>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3" name="TextBox 52"/>
          <p:cNvSpPr txBox="1">
            <a:spLocks/>
          </p:cNvSpPr>
          <p:nvPr/>
        </p:nvSpPr>
        <p:spPr>
          <a:xfrm>
            <a:off x="8851392" y="4809744"/>
            <a:ext cx="1417320"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45→12m</a:t>
            </a:r>
          </a:p>
        </p:txBody>
      </p:sp>
      <p:sp>
        <p:nvSpPr>
          <p:cNvPr id="54" name="TextBox 53"/>
          <p:cNvSpPr txBox="1">
            <a:spLocks/>
          </p:cNvSpPr>
          <p:nvPr/>
        </p:nvSpPr>
        <p:spPr>
          <a:xfrm>
            <a:off x="10314432" y="4837176"/>
            <a:ext cx="102412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LISTING TIME</a:t>
            </a:r>
          </a:p>
        </p:txBody>
      </p:sp>
      <p:sp>
        <p:nvSpPr>
          <p:cNvPr id="55" name="TextBox 54"/>
          <p:cNvSpPr txBox="1">
            <a:spLocks/>
          </p:cNvSpPr>
          <p:nvPr/>
        </p:nvSpPr>
        <p:spPr>
          <a:xfrm>
            <a:off x="10314432" y="5120640"/>
            <a:ext cx="102412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manual time reduced</a:t>
            </a:r>
          </a:p>
        </p:txBody>
      </p:sp>
      <p:sp>
        <p:nvSpPr>
          <p:cNvPr id="56" name="TextBox 55"/>
          <p:cNvSpPr txBox="1"/>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Moat stack: model → proprietary context → workflow depth → economics → distribution.</a:t>
            </a:r>
          </a:p>
        </p:txBody>
      </p:sp>
      <p:sp>
        <p:nvSpPr>
          <p:cNvPr id="93" name="Icon Problem"/>
          <p:cNvSpPr/>
          <p:nvPr/>
        </p:nvSpPr>
        <p:spPr>
          <a:xfrm>
            <a:off x="566928" y="3035808"/>
            <a:ext cx="274320" cy="274320"/>
          </a:xfrm>
          <a:prstGeom prst="noSmoking">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4" name="Icon Proof"/>
          <p:cNvSpPr/>
          <p:nvPr/>
        </p:nvSpPr>
        <p:spPr>
          <a:xfrm>
            <a:off x="8851392" y="2194560"/>
            <a:ext cx="310896" cy="310896"/>
          </a:xfrm>
          <a:prstGeom prst="up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5"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https://global.rakuten.com/corp/news/press/2024/0430_01.html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DEVELOPER / BUSINESS AI PLATFORM · PLG</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4</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3. Self-service growth: product drives the funnel</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growth strategy, lifecycle design and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In self-service, marketing continues in-product: onboarding, first value, retention and expansion must prove the promise.</a:t>
            </a:r>
          </a:p>
        </p:txBody>
      </p:sp>
      <p:cxnSp>
        <p:nvCxnSpPr>
          <p:cNvPr id="21" name="Connector 20"/>
          <p:cNvCxnSpPr/>
          <p:nvPr/>
        </p:nvCxnSpPr>
        <p:spPr>
          <a:xfrm>
            <a:off x="960120" y="2788920"/>
            <a:ext cx="10149840" cy="0"/>
          </a:xfrm>
          <a:prstGeom prst="line">
            <a:avLst/>
          </a:prstGeom>
          <a:ln w="50800">
            <a:solidFill>
              <a:srgbClr val="E5DCCD"/>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40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3" name="TextBox 22"/>
          <p:cNvSpPr txBox="1">
            <a:spLocks/>
          </p:cNvSpPr>
          <p:nvPr/>
        </p:nvSpPr>
        <p:spPr>
          <a:xfrm>
            <a:off x="3200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DISCOVER</a:t>
            </a:r>
          </a:p>
        </p:txBody>
      </p:sp>
      <p:sp>
        <p:nvSpPr>
          <p:cNvPr id="24" name="TextBox 23"/>
          <p:cNvSpPr txBox="1">
            <a:spLocks/>
          </p:cNvSpPr>
          <p:nvPr/>
        </p:nvSpPr>
        <p:spPr>
          <a:xfrm>
            <a:off x="914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LinkedIn, Google, PR,
organic and ASO</a:t>
            </a:r>
          </a:p>
        </p:txBody>
      </p:sp>
      <p:cxnSp>
        <p:nvCxnSpPr>
          <p:cNvPr id="25" name="Connector 24"/>
          <p:cNvCxnSpPr/>
          <p:nvPr/>
        </p:nvCxnSpPr>
        <p:spPr>
          <a:xfrm>
            <a:off x="960120" y="3986784"/>
            <a:ext cx="0" cy="384048"/>
          </a:xfrm>
          <a:prstGeom prst="line">
            <a:avLst/>
          </a:prstGeom>
          <a:ln w="25400">
            <a:solidFill>
              <a:srgbClr val="E725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a:spLocks/>
          </p:cNvSpPr>
          <p:nvPr/>
        </p:nvSpPr>
        <p:spPr>
          <a:xfrm>
            <a:off x="45720" y="4507992"/>
            <a:ext cx="1828800" cy="5232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E72500"/>
                </a:solidFill>
                <a:effectLst/>
                <a:uLnTx/>
                <a:uFillTx/>
                <a:latin typeface="Arial"/>
                <a:ea typeface="+mn-ea"/>
                <a:cs typeface="+mn-cs"/>
              </a:rPr>
              <a:t>top-of-funnel demand</a:t>
            </a:r>
          </a:p>
        </p:txBody>
      </p:sp>
      <p:sp>
        <p:nvSpPr>
          <p:cNvPr id="27" name="Oval 26"/>
          <p:cNvSpPr/>
          <p:nvPr/>
        </p:nvSpPr>
        <p:spPr>
          <a:xfrm>
            <a:off x="3218687"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TextBox 27"/>
          <p:cNvSpPr txBox="1">
            <a:spLocks/>
          </p:cNvSpPr>
          <p:nvPr/>
        </p:nvSpPr>
        <p:spPr>
          <a:xfrm>
            <a:off x="2834639" y="2240280"/>
            <a:ext cx="1280160" cy="22860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EVALUATE</a:t>
            </a:r>
          </a:p>
        </p:txBody>
      </p:sp>
      <p:sp>
        <p:nvSpPr>
          <p:cNvPr id="29" name="TextBox 28"/>
          <p:cNvSpPr txBox="1">
            <a:spLocks/>
          </p:cNvSpPr>
          <p:nvPr/>
        </p:nvSpPr>
        <p:spPr>
          <a:xfrm>
            <a:off x="2606039"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run: time to</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value</a:t>
            </a:r>
          </a:p>
        </p:txBody>
      </p:sp>
      <p:cxnSp>
        <p:nvCxnSpPr>
          <p:cNvPr id="30" name="Connector 29"/>
          <p:cNvCxnSpPr/>
          <p:nvPr/>
        </p:nvCxnSpPr>
        <p:spPr>
          <a:xfrm>
            <a:off x="3474720" y="3986784"/>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a:spLocks/>
          </p:cNvSpPr>
          <p:nvPr/>
        </p:nvSpPr>
        <p:spPr>
          <a:xfrm>
            <a:off x="25603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4B00"/>
                </a:solidFill>
                <a:effectLst/>
                <a:uLnTx/>
                <a:uFillTx/>
                <a:latin typeface="Arial"/>
                <a:ea typeface="+mn-ea"/>
                <a:cs typeface="+mn-cs"/>
              </a:rPr>
              <a:t>first-run clarity</a:t>
            </a:r>
          </a:p>
        </p:txBody>
      </p:sp>
      <p:sp>
        <p:nvSpPr>
          <p:cNvPr id="32" name="Oval 31"/>
          <p:cNvSpPr/>
          <p:nvPr/>
        </p:nvSpPr>
        <p:spPr>
          <a:xfrm>
            <a:off x="5733288" y="2532888"/>
            <a:ext cx="512064" cy="512064"/>
          </a:xfrm>
          <a:prstGeom prst="ellipse">
            <a:avLst/>
          </a:prstGeom>
          <a:solidFill>
            <a:srgbClr val="FF6A00"/>
          </a:solidFill>
          <a:ln w="12700">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5349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ACTIVATE</a:t>
            </a:r>
          </a:p>
        </p:txBody>
      </p:sp>
      <p:sp>
        <p:nvSpPr>
          <p:cNvPr id="34" name="TextBox 33"/>
          <p:cNvSpPr txBox="1">
            <a:spLocks/>
          </p:cNvSpPr>
          <p:nvPr/>
        </p:nvSpPr>
        <p:spPr>
          <a:xfrm>
            <a:off x="51206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Deploy a meaningful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workload</a:t>
            </a:r>
          </a:p>
        </p:txBody>
      </p:sp>
      <p:cxnSp>
        <p:nvCxnSpPr>
          <p:cNvPr id="35" name="Connector 34"/>
          <p:cNvCxnSpPr/>
          <p:nvPr/>
        </p:nvCxnSpPr>
        <p:spPr>
          <a:xfrm>
            <a:off x="5989320" y="3986784"/>
            <a:ext cx="0" cy="384048"/>
          </a:xfrm>
          <a:prstGeom prst="line">
            <a:avLst/>
          </a:prstGeom>
          <a:ln w="25400">
            <a:solidFill>
              <a:srgbClr val="FF6A00"/>
            </a:solidFill>
          </a:ln>
        </p:spPr>
        <p:style>
          <a:lnRef idx="2">
            <a:schemeClr val="accent1"/>
          </a:lnRef>
          <a:fillRef idx="0">
            <a:schemeClr val="accent1"/>
          </a:fillRef>
          <a:effectRef idx="1">
            <a:schemeClr val="accent1"/>
          </a:effectRef>
          <a:fontRef idx="minor">
            <a:schemeClr val="tx1"/>
          </a:fontRef>
        </p:style>
      </p:cxnSp>
      <p:sp>
        <p:nvSpPr>
          <p:cNvPr id="36" name="TextBox 35"/>
          <p:cNvSpPr txBox="1">
            <a:spLocks/>
          </p:cNvSpPr>
          <p:nvPr/>
        </p:nvSpPr>
        <p:spPr>
          <a:xfrm>
            <a:off x="5074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6A00"/>
                </a:solidFill>
                <a:effectLst/>
                <a:uLnTx/>
                <a:uFillTx/>
                <a:latin typeface="Arial"/>
                <a:ea typeface="+mn-ea"/>
                <a:cs typeface="+mn-cs"/>
              </a:rPr>
              <a:t>activation +262%</a:t>
            </a:r>
          </a:p>
        </p:txBody>
      </p:sp>
      <p:sp>
        <p:nvSpPr>
          <p:cNvPr id="37" name="Oval 36"/>
          <p:cNvSpPr/>
          <p:nvPr/>
        </p:nvSpPr>
        <p:spPr>
          <a:xfrm>
            <a:off x="80192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8" name="TextBox 37"/>
          <p:cNvSpPr txBox="1">
            <a:spLocks/>
          </p:cNvSpPr>
          <p:nvPr/>
        </p:nvSpPr>
        <p:spPr>
          <a:xfrm>
            <a:off x="7635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RETAIN</a:t>
            </a:r>
          </a:p>
        </p:txBody>
      </p:sp>
      <p:sp>
        <p:nvSpPr>
          <p:cNvPr id="39" name="TextBox 38"/>
          <p:cNvSpPr txBox="1">
            <a:spLocks/>
          </p:cNvSpPr>
          <p:nvPr/>
        </p:nvSpPr>
        <p:spPr>
          <a:xfrm>
            <a:off x="74066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Cohort and lifecycle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interventions</a:t>
            </a:r>
          </a:p>
        </p:txBody>
      </p:sp>
      <p:cxnSp>
        <p:nvCxnSpPr>
          <p:cNvPr id="40" name="Connector 39"/>
          <p:cNvCxnSpPr/>
          <p:nvPr/>
        </p:nvCxnSpPr>
        <p:spPr>
          <a:xfrm>
            <a:off x="8275320" y="3986784"/>
            <a:ext cx="0" cy="384048"/>
          </a:xfrm>
          <a:prstGeom prst="line">
            <a:avLst/>
          </a:prstGeom>
          <a:ln w="25400">
            <a:solidFill>
              <a:srgbClr val="FFC4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7360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C400"/>
                </a:solidFill>
                <a:effectLst/>
                <a:uLnTx/>
                <a:uFillTx/>
                <a:latin typeface="Arial"/>
                <a:ea typeface="+mn-ea"/>
                <a:cs typeface="+mn-cs"/>
              </a:rPr>
              <a:t>churn 14→6.5%</a:t>
            </a:r>
          </a:p>
        </p:txBody>
      </p:sp>
      <p:sp>
        <p:nvSpPr>
          <p:cNvPr id="42" name="Oval 41"/>
          <p:cNvSpPr/>
          <p:nvPr/>
        </p:nvSpPr>
        <p:spPr>
          <a:xfrm>
            <a:off x="105338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3" name="TextBox 42"/>
          <p:cNvSpPr txBox="1">
            <a:spLocks/>
          </p:cNvSpPr>
          <p:nvPr/>
        </p:nvSpPr>
        <p:spPr>
          <a:xfrm>
            <a:off x="101498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EXPAND</a:t>
            </a:r>
          </a:p>
        </p:txBody>
      </p:sp>
      <p:sp>
        <p:nvSpPr>
          <p:cNvPr id="44" name="TextBox 43"/>
          <p:cNvSpPr txBox="1">
            <a:spLocks/>
          </p:cNvSpPr>
          <p:nvPr/>
        </p:nvSpPr>
        <p:spPr>
          <a:xfrm>
            <a:off x="99212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Propensity models +
win-back paths</a:t>
            </a:r>
          </a:p>
        </p:txBody>
      </p:sp>
      <p:cxnSp>
        <p:nvCxnSpPr>
          <p:cNvPr id="45" name="Connector 44"/>
          <p:cNvCxnSpPr/>
          <p:nvPr/>
        </p:nvCxnSpPr>
        <p:spPr>
          <a:xfrm>
            <a:off x="10789920" y="3986784"/>
            <a:ext cx="0" cy="384048"/>
          </a:xfrm>
          <a:prstGeom prst="line">
            <a:avLst/>
          </a:prstGeom>
          <a:ln w="25400">
            <a:solidFill>
              <a:srgbClr val="FFB5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875520" y="4389120"/>
            <a:ext cx="1828800" cy="932688"/>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B52E"/>
                </a:solidFill>
                <a:effectLst/>
                <a:uLnTx/>
                <a:uFillTx/>
                <a:latin typeface="Arial"/>
                <a:ea typeface="+mn-ea"/>
                <a:cs typeface="+mn-cs"/>
              </a:rPr>
              <a:t>NRR 102→128%
win-back 4→22%</a:t>
            </a:r>
          </a:p>
        </p:txBody>
      </p:sp>
      <p:sp>
        <p:nvSpPr>
          <p:cNvPr id="47" name="Rectangle 46"/>
          <p:cNvSpPr/>
          <p:nvPr/>
        </p:nvSpPr>
        <p:spPr>
          <a:xfrm>
            <a:off x="594360" y="5468112"/>
            <a:ext cx="10972800" cy="566928"/>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8" name="TextBox 47"/>
          <p:cNvSpPr txBox="1">
            <a:spLocks/>
          </p:cNvSpPr>
          <p:nvPr/>
        </p:nvSpPr>
        <p:spPr>
          <a:xfrm>
            <a:off x="868680" y="5611627"/>
            <a:ext cx="10424160" cy="26161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Acquisition is only the beginning: cut time-to-first-value, then earn retention and expansion.</a:t>
            </a:r>
          </a:p>
        </p:txBody>
      </p:sp>
      <p:sp>
        <p:nvSpPr>
          <p:cNvPr id="49" name="TextBox 4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NRR = net revenue retention; activation = meaningful first value; win-back = returning lost users; ASO = App Store Optimization</a:t>
            </a:r>
          </a:p>
        </p:txBody>
      </p:sp>
      <p:sp>
        <p:nvSpPr>
          <p:cNvPr id="95" name="Stage Glyph 0"/>
          <p:cNvSpPr/>
          <p:nvPr/>
        </p:nvSpPr>
        <p:spPr>
          <a:xfrm>
            <a:off x="841248" y="2670048"/>
            <a:ext cx="237744" cy="237744"/>
          </a:xfrm>
          <a:prstGeom prst="su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6" name="Stage Glyph 1"/>
          <p:cNvSpPr/>
          <p:nvPr/>
        </p:nvSpPr>
        <p:spPr>
          <a:xfrm>
            <a:off x="3355848" y="2670048"/>
            <a:ext cx="237744" cy="237744"/>
          </a:xfrm>
          <a:prstGeom prst="flowChartDecisio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7" name="Stage Glyph 2"/>
          <p:cNvSpPr/>
          <p:nvPr/>
        </p:nvSpPr>
        <p:spPr>
          <a:xfrm>
            <a:off x="5870448" y="2670048"/>
            <a:ext cx="237744" cy="237744"/>
          </a:xfrm>
          <a:prstGeom prst="lightningBolt">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8" name="Stage Glyph 3"/>
          <p:cNvSpPr/>
          <p:nvPr/>
        </p:nvSpPr>
        <p:spPr>
          <a:xfrm>
            <a:off x="8156448" y="2670048"/>
            <a:ext cx="237744" cy="237744"/>
          </a:xfrm>
          <a:prstGeom prst="circular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9" name="Stage Glyph 4"/>
          <p:cNvSpPr/>
          <p:nvPr/>
        </p:nvSpPr>
        <p:spPr>
          <a:xfrm>
            <a:off x="10671048" y="2670048"/>
            <a:ext cx="237744" cy="237744"/>
          </a:xfrm>
          <a:prstGeom prst="up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100"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10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https://azure.microsoft.com/en-us/blog/the-next-wave-of-azure-innovation-azure-ai-foundry-intelligent-data-and-more/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pic>
        <p:nvPicPr>
          <p:cNvPr id="8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8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85" name="Section Eyebrow"/>
          <p:cNvSpPr txBox="1"/>
          <p:nvPr/>
        </p:nvSpPr>
        <p:spPr>
          <a:xfrm>
            <a:off x="621792" y="201168"/>
            <a:ext cx="9326880" cy="256032"/>
          </a:xfrm>
          <a:prstGeom prst="rect">
            <a:avLst/>
          </a:prstGeom>
          <a:noFill/>
        </p:spPr>
        <p:txBody>
          <a:bodyPr wrap="square" lIns="0" tIns="0" rIns="0" bIns="0" anchor="ctr">
            <a:spAutoFit/>
          </a:bodyPr>
          <a:lstStyle/>
          <a:p>
            <a:pPr algn="l"/>
            <a:r>
              <a:rPr sz="1400" b="1">
                <a:solidFill>
                  <a:srgbClr val="FF4B00"/>
                </a:solidFill>
                <a:latin typeface="Arial"/>
              </a:rPr>
              <a:t>MICROSOFT REGULATED CLOUD / AI PLATFORM · INDUSTRY GTM</a:t>
            </a:r>
          </a:p>
        </p:txBody>
      </p:sp>
      <p:sp>
        <p:nvSpPr>
          <p:cNvPr id="86" name="Page Number"/>
          <p:cNvSpPr txBox="1"/>
          <p:nvPr/>
        </p:nvSpPr>
        <p:spPr>
          <a:xfrm>
            <a:off x="11137392" y="6400800"/>
            <a:ext cx="292608" cy="153619"/>
          </a:xfrm>
          <a:prstGeom prst="rect">
            <a:avLst/>
          </a:prstGeom>
          <a:noFill/>
        </p:spPr>
        <p:txBody>
          <a:bodyPr wrap="square" lIns="0" tIns="0" rIns="0" bIns="0" anchor="ctr">
            <a:spAutoFit/>
          </a:bodyPr>
          <a:lstStyle/>
          <a:p>
            <a:pPr algn="r"/>
            <a:r>
              <a:rPr sz="1000" b="0">
                <a:solidFill>
                  <a:srgbClr val="55504A"/>
                </a:solidFill>
                <a:latin typeface="Arial"/>
              </a:rPr>
              <a:t>5</a:t>
            </a:r>
          </a:p>
        </p:txBody>
      </p:sp>
      <p:sp>
        <p:nvSpPr>
          <p:cNvPr id="87" name="Slide Title"/>
          <p:cNvSpPr txBox="1"/>
          <p:nvPr/>
        </p:nvSpPr>
        <p:spPr>
          <a:xfrm>
            <a:off x="502920" y="576072"/>
            <a:ext cx="11155680" cy="538581"/>
          </a:xfrm>
          <a:prstGeom prst="rect">
            <a:avLst/>
          </a:prstGeom>
          <a:noFill/>
        </p:spPr>
        <p:txBody>
          <a:bodyPr wrap="square" lIns="0" tIns="0" rIns="0" bIns="0" anchor="ctr">
            <a:spAutoFit/>
          </a:bodyPr>
          <a:lstStyle/>
          <a:p>
            <a:pPr algn="l"/>
            <a:r>
              <a:rPr sz="3500" b="1">
                <a:solidFill>
                  <a:srgbClr val="121212"/>
                </a:solidFill>
                <a:latin typeface="Arial"/>
              </a:rPr>
              <a:t>4. Enterprise GTM: solve once, scale what repeats</a:t>
            </a:r>
          </a:p>
        </p:txBody>
      </p:sp>
      <p:sp>
        <p:nvSpPr>
          <p:cNvPr id="88" name="Role Accent"/>
          <p:cNvSpPr/>
          <p:nvPr/>
        </p:nvSpPr>
        <p:spPr>
          <a:xfrm>
            <a:off x="502920" y="1207008"/>
            <a:ext cx="68580" cy="34747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ole Line"/>
          <p:cNvSpPr txBox="1"/>
          <p:nvPr/>
        </p:nvSpPr>
        <p:spPr>
          <a:xfrm>
            <a:off x="658368" y="1273022"/>
            <a:ext cx="10881360" cy="215444"/>
          </a:xfrm>
          <a:prstGeom prst="rect">
            <a:avLst/>
          </a:prstGeom>
          <a:noFill/>
        </p:spPr>
        <p:txBody>
          <a:bodyPr wrap="square" lIns="0" tIns="0" rIns="0" bIns="0" anchor="ctr">
            <a:spAutoFit/>
          </a:bodyPr>
          <a:lstStyle/>
          <a:p>
            <a:pPr algn="l"/>
            <a:r>
              <a:rPr sz="1400" b="1">
                <a:solidFill>
                  <a:srgbClr val="FF4B00"/>
                </a:solidFill>
                <a:latin typeface="Arial"/>
              </a:rPr>
              <a:t>MY ROLE  </a:t>
            </a:r>
            <a:r>
              <a:rPr lang="en-US" sz="1400" b="0">
                <a:solidFill>
                  <a:srgbClr val="121212"/>
                </a:solidFill>
                <a:latin typeface="Arial"/>
              </a:rPr>
              <a:t>customer signal </a:t>
            </a:r>
            <a:r>
              <a:rPr sz="1400" b="0">
                <a:solidFill>
                  <a:srgbClr val="121212"/>
                </a:solidFill>
                <a:latin typeface="Arial"/>
              </a:rPr>
              <a:t>→ technical pattern → </a:t>
            </a:r>
            <a:r>
              <a:rPr lang="en-US" sz="1400" b="0">
                <a:solidFill>
                  <a:srgbClr val="121212"/>
                </a:solidFill>
                <a:latin typeface="Arial"/>
              </a:rPr>
              <a:t>repeatable industry</a:t>
            </a:r>
            <a:r>
              <a:rPr sz="1400" b="0">
                <a:solidFill>
                  <a:srgbClr val="121212"/>
                </a:solidFill>
                <a:latin typeface="Arial"/>
              </a:rPr>
              <a:t> solution</a:t>
            </a:r>
          </a:p>
        </p:txBody>
      </p:sp>
      <p:cxnSp>
        <p:nvCxnSpPr>
          <p:cNvPr id="90" name="Header Divider"/>
          <p:cNvCxnSpPr/>
          <p:nvPr/>
        </p:nvCxnSpPr>
        <p:spPr>
          <a:xfrm>
            <a:off x="502920" y="1627632"/>
            <a:ext cx="11155680" cy="0"/>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91" name="Takeaway"/>
          <p:cNvSpPr txBox="1"/>
          <p:nvPr/>
        </p:nvSpPr>
        <p:spPr>
          <a:xfrm>
            <a:off x="502920" y="1784628"/>
            <a:ext cx="11155680" cy="215444"/>
          </a:xfrm>
          <a:prstGeom prst="rect">
            <a:avLst/>
          </a:prstGeom>
          <a:noFill/>
        </p:spPr>
        <p:txBody>
          <a:bodyPr wrap="square" lIns="0" tIns="0" rIns="0" bIns="0" anchor="ctr">
            <a:spAutoFit/>
          </a:bodyPr>
          <a:lstStyle/>
          <a:p>
            <a:pPr algn="l"/>
            <a:r>
              <a:rPr sz="1400" b="1">
                <a:solidFill>
                  <a:srgbClr val="FFC400"/>
                </a:solidFill>
                <a:latin typeface="Arial"/>
              </a:rPr>
              <a:t>TAKEAWAY  </a:t>
            </a:r>
            <a:r>
              <a:rPr lang="en-US" sz="1400" b="1">
                <a:solidFill>
                  <a:srgbClr val="121212"/>
                </a:solidFill>
                <a:latin typeface="Arial"/>
              </a:rPr>
              <a:t>Winning </a:t>
            </a:r>
            <a:r>
              <a:rPr sz="1400" b="1">
                <a:solidFill>
                  <a:srgbClr val="121212"/>
                </a:solidFill>
                <a:latin typeface="Arial"/>
              </a:rPr>
              <a:t>one </a:t>
            </a:r>
            <a:r>
              <a:rPr lang="en-US" sz="1400" b="1">
                <a:solidFill>
                  <a:srgbClr val="121212"/>
                </a:solidFill>
                <a:latin typeface="Arial"/>
              </a:rPr>
              <a:t>difficult </a:t>
            </a:r>
            <a:r>
              <a:rPr sz="1400" b="1">
                <a:solidFill>
                  <a:srgbClr val="121212"/>
                </a:solidFill>
                <a:latin typeface="Arial"/>
              </a:rPr>
              <a:t>deal</a:t>
            </a:r>
            <a:r>
              <a:rPr lang="en-US" sz="1400" b="1">
                <a:solidFill>
                  <a:srgbClr val="121212"/>
                </a:solidFill>
                <a:latin typeface="Arial"/>
              </a:rPr>
              <a:t> is execution; </a:t>
            </a:r>
            <a:r>
              <a:rPr sz="1400" b="1">
                <a:solidFill>
                  <a:srgbClr val="121212"/>
                </a:solidFill>
                <a:latin typeface="Arial"/>
              </a:rPr>
              <a:t>making the next </a:t>
            </a:r>
            <a:r>
              <a:rPr lang="en-US" sz="1400" b="1">
                <a:solidFill>
                  <a:srgbClr val="121212"/>
                </a:solidFill>
                <a:latin typeface="Arial"/>
              </a:rPr>
              <a:t>ten </a:t>
            </a:r>
            <a:r>
              <a:rPr sz="1400" b="1">
                <a:solidFill>
                  <a:srgbClr val="121212"/>
                </a:solidFill>
                <a:latin typeface="Arial"/>
              </a:rPr>
              <a:t>easier</a:t>
            </a:r>
            <a:r>
              <a:rPr lang="en-US" sz="1400" b="1">
                <a:solidFill>
                  <a:srgbClr val="121212"/>
                </a:solidFill>
                <a:latin typeface="Arial"/>
              </a:rPr>
              <a:t> is product marketing</a:t>
            </a:r>
            <a:r>
              <a:rPr sz="1400" b="1">
                <a:solidFill>
                  <a:srgbClr val="121212"/>
                </a:solidFill>
                <a:latin typeface="Arial"/>
              </a:rPr>
              <a:t>.</a:t>
            </a:r>
          </a:p>
        </p:txBody>
      </p:sp>
      <p:cxnSp>
        <p:nvCxnSpPr>
          <p:cNvPr id="92" name="Column Divider 1"/>
          <p:cNvCxnSpPr/>
          <p:nvPr/>
        </p:nvCxnSpPr>
        <p:spPr>
          <a:xfrm>
            <a:off x="3419856" y="2212848"/>
            <a:ext cx="0" cy="2798064"/>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cxnSp>
        <p:nvCxnSpPr>
          <p:cNvPr id="93" name="Column Divider 2"/>
          <p:cNvCxnSpPr/>
          <p:nvPr/>
        </p:nvCxnSpPr>
        <p:spPr>
          <a:xfrm>
            <a:off x="7589520" y="2212848"/>
            <a:ext cx="0" cy="2798064"/>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94" name="Section 01 Number"/>
          <p:cNvSpPr txBox="1"/>
          <p:nvPr/>
        </p:nvSpPr>
        <p:spPr>
          <a:xfrm>
            <a:off x="640080" y="2221992"/>
            <a:ext cx="384048" cy="201168"/>
          </a:xfrm>
          <a:prstGeom prst="rect">
            <a:avLst/>
          </a:prstGeom>
          <a:noFill/>
        </p:spPr>
        <p:txBody>
          <a:bodyPr wrap="square" lIns="0" tIns="0" rIns="0" bIns="0" anchor="ctr">
            <a:spAutoFit/>
          </a:bodyPr>
          <a:lstStyle/>
          <a:p>
            <a:pPr algn="l"/>
            <a:r>
              <a:rPr sz="1200" b="1">
                <a:solidFill>
                  <a:srgbClr val="FF4B00"/>
                </a:solidFill>
                <a:latin typeface="Arial"/>
              </a:rPr>
              <a:t>01</a:t>
            </a:r>
          </a:p>
        </p:txBody>
      </p:sp>
      <p:sp>
        <p:nvSpPr>
          <p:cNvPr id="95" name="Section 01 Label"/>
          <p:cNvSpPr txBox="1"/>
          <p:nvPr/>
        </p:nvSpPr>
        <p:spPr>
          <a:xfrm>
            <a:off x="1051560" y="2212848"/>
            <a:ext cx="2258568" cy="274320"/>
          </a:xfrm>
          <a:prstGeom prst="rect">
            <a:avLst/>
          </a:prstGeom>
          <a:noFill/>
        </p:spPr>
        <p:txBody>
          <a:bodyPr wrap="square" lIns="0" tIns="0" rIns="0" bIns="0" anchor="ctr">
            <a:spAutoFit/>
          </a:bodyPr>
          <a:lstStyle/>
          <a:p>
            <a:pPr algn="l"/>
            <a:r>
              <a:rPr sz="1400" b="1">
                <a:solidFill>
                  <a:srgbClr val="FF4B00"/>
                </a:solidFill>
                <a:latin typeface="Arial"/>
              </a:rPr>
              <a:t>FIND THE INVARIANT</a:t>
            </a:r>
          </a:p>
        </p:txBody>
      </p:sp>
      <p:sp>
        <p:nvSpPr>
          <p:cNvPr id="96" name="Constraint Thesis"/>
          <p:cNvSpPr txBox="1"/>
          <p:nvPr/>
        </p:nvSpPr>
        <p:spPr>
          <a:xfrm>
            <a:off x="640080" y="2770632"/>
            <a:ext cx="2487168" cy="738664"/>
          </a:xfrm>
          <a:prstGeom prst="rect">
            <a:avLst/>
          </a:prstGeom>
          <a:noFill/>
        </p:spPr>
        <p:txBody>
          <a:bodyPr wrap="square" lIns="0" tIns="0" rIns="0" bIns="0" anchor="t">
            <a:spAutoFit/>
          </a:bodyPr>
          <a:lstStyle/>
          <a:p>
            <a:pPr algn="l"/>
            <a:r>
              <a:rPr lang="en-US" sz="1600" b="1">
                <a:solidFill>
                  <a:srgbClr val="121212"/>
                </a:solidFill>
                <a:latin typeface="Arial"/>
              </a:rPr>
              <a:t>Find what stays invariant when customer requirements vary</a:t>
            </a:r>
            <a:r>
              <a:rPr sz="1600" b="1">
                <a:solidFill>
                  <a:srgbClr val="121212"/>
                </a:solidFill>
                <a:latin typeface="Arial"/>
              </a:rPr>
              <a:t>.</a:t>
            </a:r>
          </a:p>
        </p:txBody>
      </p:sp>
      <p:sp>
        <p:nvSpPr>
          <p:cNvPr id="97" name="Constraint Marker 1"/>
          <p:cNvSpPr/>
          <p:nvPr/>
        </p:nvSpPr>
        <p:spPr>
          <a:xfrm>
            <a:off x="658368" y="3547872"/>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Constraint 1"/>
          <p:cNvSpPr txBox="1"/>
          <p:nvPr/>
        </p:nvSpPr>
        <p:spPr>
          <a:xfrm>
            <a:off x="859536" y="3502152"/>
            <a:ext cx="2286000" cy="182880"/>
          </a:xfrm>
          <a:prstGeom prst="rect">
            <a:avLst/>
          </a:prstGeom>
          <a:noFill/>
        </p:spPr>
        <p:txBody>
          <a:bodyPr wrap="square" lIns="0" tIns="0" rIns="0" bIns="0" anchor="t">
            <a:spAutoFit/>
          </a:bodyPr>
          <a:lstStyle/>
          <a:p>
            <a:pPr algn="l"/>
            <a:r>
              <a:rPr sz="1200" b="1">
                <a:solidFill>
                  <a:srgbClr val="121212"/>
                </a:solidFill>
                <a:latin typeface="Arial"/>
              </a:rPr>
              <a:t>DATA LOCATION</a:t>
            </a:r>
          </a:p>
        </p:txBody>
      </p:sp>
      <p:sp>
        <p:nvSpPr>
          <p:cNvPr id="99" name="Constraint Marker 2"/>
          <p:cNvSpPr/>
          <p:nvPr/>
        </p:nvSpPr>
        <p:spPr>
          <a:xfrm>
            <a:off x="658368" y="3867911"/>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Constraint 2"/>
          <p:cNvSpPr txBox="1"/>
          <p:nvPr/>
        </p:nvSpPr>
        <p:spPr>
          <a:xfrm>
            <a:off x="859536" y="3822191"/>
            <a:ext cx="2286000" cy="182880"/>
          </a:xfrm>
          <a:prstGeom prst="rect">
            <a:avLst/>
          </a:prstGeom>
          <a:noFill/>
        </p:spPr>
        <p:txBody>
          <a:bodyPr wrap="square" lIns="0" tIns="0" rIns="0" bIns="0" anchor="t">
            <a:spAutoFit/>
          </a:bodyPr>
          <a:lstStyle/>
          <a:p>
            <a:pPr algn="l"/>
            <a:r>
              <a:rPr sz="1200" b="1">
                <a:solidFill>
                  <a:srgbClr val="121212"/>
                </a:solidFill>
                <a:latin typeface="Arial"/>
              </a:rPr>
              <a:t>KEY CONTROL</a:t>
            </a:r>
          </a:p>
        </p:txBody>
      </p:sp>
      <p:sp>
        <p:nvSpPr>
          <p:cNvPr id="101" name="Constraint Marker 3"/>
          <p:cNvSpPr/>
          <p:nvPr/>
        </p:nvSpPr>
        <p:spPr>
          <a:xfrm>
            <a:off x="658368" y="4187952"/>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onstraint 3"/>
          <p:cNvSpPr txBox="1"/>
          <p:nvPr/>
        </p:nvSpPr>
        <p:spPr>
          <a:xfrm>
            <a:off x="859536" y="4142232"/>
            <a:ext cx="2286000" cy="182880"/>
          </a:xfrm>
          <a:prstGeom prst="rect">
            <a:avLst/>
          </a:prstGeom>
          <a:noFill/>
        </p:spPr>
        <p:txBody>
          <a:bodyPr wrap="square" lIns="0" tIns="0" rIns="0" bIns="0" anchor="t">
            <a:spAutoFit/>
          </a:bodyPr>
          <a:lstStyle/>
          <a:p>
            <a:pPr algn="l"/>
            <a:r>
              <a:rPr lang="en-US" sz="1200" b="1">
                <a:solidFill>
                  <a:srgbClr val="121212"/>
                </a:solidFill>
                <a:latin typeface="Arial"/>
              </a:rPr>
              <a:t>SECURITY VALIDATION</a:t>
            </a:r>
            <a:endParaRPr sz="1200" b="1">
              <a:solidFill>
                <a:srgbClr val="121212"/>
              </a:solidFill>
              <a:latin typeface="Arial"/>
            </a:endParaRPr>
          </a:p>
        </p:txBody>
      </p:sp>
      <p:sp>
        <p:nvSpPr>
          <p:cNvPr id="103" name="Constraint Marker 4"/>
          <p:cNvSpPr/>
          <p:nvPr/>
        </p:nvSpPr>
        <p:spPr>
          <a:xfrm>
            <a:off x="658368" y="4507992"/>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Constraint 4"/>
          <p:cNvSpPr txBox="1"/>
          <p:nvPr/>
        </p:nvSpPr>
        <p:spPr>
          <a:xfrm>
            <a:off x="859536" y="4462272"/>
            <a:ext cx="2286000" cy="182880"/>
          </a:xfrm>
          <a:prstGeom prst="rect">
            <a:avLst/>
          </a:prstGeom>
          <a:noFill/>
        </p:spPr>
        <p:txBody>
          <a:bodyPr wrap="square" lIns="0" tIns="0" rIns="0" bIns="0" anchor="t">
            <a:spAutoFit/>
          </a:bodyPr>
          <a:lstStyle/>
          <a:p>
            <a:pPr algn="l"/>
            <a:r>
              <a:rPr lang="en-US" sz="1200" b="1">
                <a:solidFill>
                  <a:srgbClr val="121212"/>
                </a:solidFill>
                <a:latin typeface="Arial"/>
              </a:rPr>
              <a:t>POLICY ENFORCEMENT</a:t>
            </a:r>
            <a:endParaRPr sz="1200" b="1">
              <a:solidFill>
                <a:srgbClr val="121212"/>
              </a:solidFill>
              <a:latin typeface="Arial"/>
            </a:endParaRPr>
          </a:p>
        </p:txBody>
      </p:sp>
      <p:sp>
        <p:nvSpPr>
          <p:cNvPr id="105" name="Constraint Principle"/>
          <p:cNvSpPr txBox="1"/>
          <p:nvPr/>
        </p:nvSpPr>
        <p:spPr>
          <a:xfrm>
            <a:off x="640080" y="4828032"/>
            <a:ext cx="2514600" cy="323165"/>
          </a:xfrm>
          <a:prstGeom prst="rect">
            <a:avLst/>
          </a:prstGeom>
          <a:noFill/>
        </p:spPr>
        <p:txBody>
          <a:bodyPr wrap="square" lIns="0" tIns="0" rIns="0" bIns="0" anchor="t">
            <a:spAutoFit/>
          </a:bodyPr>
          <a:lstStyle/>
          <a:p>
            <a:pPr algn="l"/>
            <a:r>
              <a:rPr lang="en-US" sz="1050" b="1">
                <a:solidFill>
                  <a:srgbClr val="55504A"/>
                </a:solidFill>
                <a:latin typeface="Arial"/>
              </a:rPr>
              <a:t>Customize the edge; standardize </a:t>
            </a:r>
            <a:r>
              <a:rPr sz="1050" b="1">
                <a:solidFill>
                  <a:srgbClr val="55504A"/>
                </a:solidFill>
                <a:latin typeface="Arial"/>
              </a:rPr>
              <a:t>the </a:t>
            </a:r>
            <a:r>
              <a:rPr lang="en-US" sz="1050" b="1">
                <a:solidFill>
                  <a:srgbClr val="55504A"/>
                </a:solidFill>
                <a:latin typeface="Arial"/>
              </a:rPr>
              <a:t>pattern</a:t>
            </a:r>
            <a:r>
              <a:rPr sz="1050" b="1">
                <a:solidFill>
                  <a:srgbClr val="55504A"/>
                </a:solidFill>
                <a:latin typeface="Arial"/>
              </a:rPr>
              <a:t>.</a:t>
            </a:r>
          </a:p>
        </p:txBody>
      </p:sp>
      <p:sp>
        <p:nvSpPr>
          <p:cNvPr id="106" name="Section 02 Number"/>
          <p:cNvSpPr txBox="1"/>
          <p:nvPr/>
        </p:nvSpPr>
        <p:spPr>
          <a:xfrm>
            <a:off x="3794760" y="2221992"/>
            <a:ext cx="384048" cy="201168"/>
          </a:xfrm>
          <a:prstGeom prst="rect">
            <a:avLst/>
          </a:prstGeom>
          <a:noFill/>
        </p:spPr>
        <p:txBody>
          <a:bodyPr wrap="square" lIns="0" tIns="0" rIns="0" bIns="0" anchor="ctr">
            <a:spAutoFit/>
          </a:bodyPr>
          <a:lstStyle/>
          <a:p>
            <a:pPr algn="l"/>
            <a:r>
              <a:rPr sz="1200" b="1">
                <a:solidFill>
                  <a:srgbClr val="FF4B00"/>
                </a:solidFill>
                <a:latin typeface="Arial"/>
              </a:rPr>
              <a:t>02</a:t>
            </a:r>
          </a:p>
        </p:txBody>
      </p:sp>
      <p:sp>
        <p:nvSpPr>
          <p:cNvPr id="107" name="Section 02 Label"/>
          <p:cNvSpPr txBox="1"/>
          <p:nvPr/>
        </p:nvSpPr>
        <p:spPr>
          <a:xfrm>
            <a:off x="4206240" y="2212848"/>
            <a:ext cx="3081527" cy="274320"/>
          </a:xfrm>
          <a:prstGeom prst="rect">
            <a:avLst/>
          </a:prstGeom>
          <a:noFill/>
        </p:spPr>
        <p:txBody>
          <a:bodyPr wrap="square" lIns="0" tIns="0" rIns="0" bIns="0" anchor="ctr">
            <a:spAutoFit/>
          </a:bodyPr>
          <a:lstStyle/>
          <a:p>
            <a:pPr algn="l"/>
            <a:r>
              <a:rPr sz="1400" b="1">
                <a:solidFill>
                  <a:srgbClr val="FF4B00"/>
                </a:solidFill>
                <a:latin typeface="Arial"/>
              </a:rPr>
              <a:t>MATCH THE THREAT MODEL</a:t>
            </a:r>
          </a:p>
        </p:txBody>
      </p:sp>
      <p:sp>
        <p:nvSpPr>
          <p:cNvPr id="108" name="Architecture Thesis"/>
          <p:cNvSpPr txBox="1"/>
          <p:nvPr/>
        </p:nvSpPr>
        <p:spPr>
          <a:xfrm>
            <a:off x="3794760" y="2770632"/>
            <a:ext cx="3429000" cy="692497"/>
          </a:xfrm>
          <a:prstGeom prst="rect">
            <a:avLst/>
          </a:prstGeom>
          <a:noFill/>
        </p:spPr>
        <p:txBody>
          <a:bodyPr wrap="square" lIns="0" tIns="0" rIns="0" bIns="0" anchor="t">
            <a:spAutoFit/>
          </a:bodyPr>
          <a:lstStyle/>
          <a:p>
            <a:pPr algn="l"/>
            <a:r>
              <a:rPr lang="en-US" sz="1500" b="1">
                <a:solidFill>
                  <a:srgbClr val="121212"/>
                </a:solidFill>
                <a:latin typeface="Arial"/>
              </a:rPr>
              <a:t>Choose architecture against the actual threat model and production SLA.</a:t>
            </a:r>
          </a:p>
        </p:txBody>
      </p:sp>
      <p:sp>
        <p:nvSpPr>
          <p:cNvPr id="109" name="FHE Metric"/>
          <p:cNvSpPr txBox="1"/>
          <p:nvPr/>
        </p:nvSpPr>
        <p:spPr>
          <a:xfrm>
            <a:off x="3794760" y="3401568"/>
            <a:ext cx="1097280" cy="365760"/>
          </a:xfrm>
          <a:prstGeom prst="rect">
            <a:avLst/>
          </a:prstGeom>
          <a:noFill/>
        </p:spPr>
        <p:txBody>
          <a:bodyPr wrap="square" lIns="0" tIns="0" rIns="0" bIns="0" anchor="ctr">
            <a:spAutoFit/>
          </a:bodyPr>
          <a:lstStyle/>
          <a:p>
            <a:pPr algn="l"/>
            <a:r>
              <a:rPr sz="2700" b="1">
                <a:solidFill>
                  <a:srgbClr val="FF4B00"/>
                </a:solidFill>
                <a:latin typeface="Arial"/>
              </a:rPr>
              <a:t>~14s</a:t>
            </a:r>
          </a:p>
        </p:txBody>
      </p:sp>
      <p:sp>
        <p:nvSpPr>
          <p:cNvPr id="110" name="FHE Label"/>
          <p:cNvSpPr txBox="1"/>
          <p:nvPr/>
        </p:nvSpPr>
        <p:spPr>
          <a:xfrm>
            <a:off x="4800600" y="3438144"/>
            <a:ext cx="2267712" cy="353943"/>
          </a:xfrm>
          <a:prstGeom prst="rect">
            <a:avLst/>
          </a:prstGeom>
          <a:noFill/>
        </p:spPr>
        <p:txBody>
          <a:bodyPr wrap="square" lIns="0" tIns="0" rIns="0" bIns="0" anchor="t">
            <a:spAutoFit/>
          </a:bodyPr>
          <a:lstStyle/>
          <a:p>
            <a:pPr algn="l"/>
            <a:r>
              <a:rPr sz="1150" b="1">
                <a:solidFill>
                  <a:srgbClr val="55504A"/>
                </a:solidFill>
                <a:latin typeface="Arial"/>
              </a:rPr>
              <a:t>FHE-based </a:t>
            </a:r>
            <a:r>
              <a:rPr lang="en-US" sz="1150" b="1">
                <a:solidFill>
                  <a:srgbClr val="55504A"/>
                </a:solidFill>
                <a:latin typeface="Arial"/>
              </a:rPr>
              <a:t>architecture · inference latency</a:t>
            </a:r>
            <a:endParaRPr sz="1150" b="1">
              <a:solidFill>
                <a:srgbClr val="55504A"/>
              </a:solidFill>
              <a:latin typeface="Arial"/>
            </a:endParaRPr>
          </a:p>
        </p:txBody>
      </p:sp>
      <p:sp>
        <p:nvSpPr>
          <p:cNvPr id="111" name="Architecture Reframe"/>
          <p:cNvSpPr txBox="1"/>
          <p:nvPr/>
        </p:nvSpPr>
        <p:spPr>
          <a:xfrm>
            <a:off x="3794760" y="3812155"/>
            <a:ext cx="3429000" cy="184666"/>
          </a:xfrm>
          <a:prstGeom prst="rect">
            <a:avLst/>
          </a:prstGeom>
          <a:noFill/>
        </p:spPr>
        <p:txBody>
          <a:bodyPr wrap="square" lIns="0" tIns="0" rIns="0" bIns="0" anchor="ctr">
            <a:spAutoFit/>
          </a:bodyPr>
          <a:lstStyle/>
          <a:p>
            <a:pPr algn="ctr"/>
            <a:r>
              <a:rPr sz="1200" b="1">
                <a:solidFill>
                  <a:srgbClr val="FF4B00"/>
                </a:solidFill>
                <a:latin typeface="Arial"/>
              </a:rPr>
              <a:t>↓  </a:t>
            </a:r>
            <a:r>
              <a:rPr lang="en-US" sz="1200" b="1">
                <a:solidFill>
                  <a:srgbClr val="FF4B00"/>
                </a:solidFill>
                <a:latin typeface="Arial"/>
              </a:rPr>
              <a:t>re-check </a:t>
            </a:r>
            <a:r>
              <a:rPr sz="1200" b="1">
                <a:solidFill>
                  <a:srgbClr val="FF4B00"/>
                </a:solidFill>
                <a:latin typeface="Arial"/>
              </a:rPr>
              <a:t>threat model</a:t>
            </a:r>
            <a:r>
              <a:rPr lang="en-US" sz="1200" b="1">
                <a:solidFill>
                  <a:srgbClr val="FF4B00"/>
                </a:solidFill>
                <a:latin typeface="Arial"/>
              </a:rPr>
              <a:t> + required controls</a:t>
            </a:r>
            <a:endParaRPr sz="1200" b="1">
              <a:solidFill>
                <a:srgbClr val="FF4B00"/>
              </a:solidFill>
              <a:latin typeface="Arial"/>
            </a:endParaRPr>
          </a:p>
        </p:txBody>
      </p:sp>
      <p:sp>
        <p:nvSpPr>
          <p:cNvPr id="112" name="CC Metric"/>
          <p:cNvSpPr txBox="1"/>
          <p:nvPr/>
        </p:nvSpPr>
        <p:spPr>
          <a:xfrm>
            <a:off x="3794760" y="4078224"/>
            <a:ext cx="1481328" cy="365760"/>
          </a:xfrm>
          <a:prstGeom prst="rect">
            <a:avLst/>
          </a:prstGeom>
          <a:noFill/>
        </p:spPr>
        <p:txBody>
          <a:bodyPr wrap="square" lIns="0" tIns="0" rIns="0" bIns="0" anchor="ctr">
            <a:spAutoFit/>
          </a:bodyPr>
          <a:lstStyle/>
          <a:p>
            <a:pPr algn="l"/>
            <a:r>
              <a:rPr sz="2400" b="1">
                <a:solidFill>
                  <a:srgbClr val="FF4B00"/>
                </a:solidFill>
                <a:latin typeface="Arial"/>
              </a:rPr>
              <a:t>~220ms</a:t>
            </a:r>
          </a:p>
        </p:txBody>
      </p:sp>
      <p:sp>
        <p:nvSpPr>
          <p:cNvPr id="113" name="CC Label"/>
          <p:cNvSpPr txBox="1"/>
          <p:nvPr/>
        </p:nvSpPr>
        <p:spPr>
          <a:xfrm>
            <a:off x="5230368" y="4114800"/>
            <a:ext cx="1883664" cy="353943"/>
          </a:xfrm>
          <a:prstGeom prst="rect">
            <a:avLst/>
          </a:prstGeom>
          <a:noFill/>
        </p:spPr>
        <p:txBody>
          <a:bodyPr wrap="square" lIns="0" tIns="0" rIns="0" bIns="0" anchor="t">
            <a:spAutoFit/>
          </a:bodyPr>
          <a:lstStyle/>
          <a:p>
            <a:pPr algn="l"/>
            <a:r>
              <a:rPr sz="1150" b="1">
                <a:solidFill>
                  <a:srgbClr val="55504A"/>
                </a:solidFill>
                <a:latin typeface="Arial"/>
              </a:rPr>
              <a:t>confidential computing </a:t>
            </a:r>
            <a:r>
              <a:rPr lang="en-US" sz="1150" b="1">
                <a:solidFill>
                  <a:srgbClr val="55504A"/>
                </a:solidFill>
                <a:latin typeface="Arial"/>
              </a:rPr>
              <a:t>· controls met</a:t>
            </a:r>
            <a:endParaRPr sz="1150" b="1">
              <a:solidFill>
                <a:srgbClr val="55504A"/>
              </a:solidFill>
              <a:latin typeface="Arial"/>
            </a:endParaRPr>
          </a:p>
        </p:txBody>
      </p:sp>
      <p:cxnSp>
        <p:nvCxnSpPr>
          <p:cNvPr id="114" name="Architecture Divider"/>
          <p:cNvCxnSpPr/>
          <p:nvPr/>
        </p:nvCxnSpPr>
        <p:spPr>
          <a:xfrm>
            <a:off x="3794760" y="4572000"/>
            <a:ext cx="3429000" cy="0"/>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115" name="Technical Nuance"/>
          <p:cNvSpPr txBox="1"/>
          <p:nvPr/>
        </p:nvSpPr>
        <p:spPr>
          <a:xfrm>
            <a:off x="3794760" y="4663440"/>
            <a:ext cx="3429000" cy="323165"/>
          </a:xfrm>
          <a:prstGeom prst="rect">
            <a:avLst/>
          </a:prstGeom>
          <a:noFill/>
        </p:spPr>
        <p:txBody>
          <a:bodyPr wrap="square" lIns="0" tIns="0" rIns="0" bIns="0" anchor="t">
            <a:spAutoFit/>
          </a:bodyPr>
          <a:lstStyle/>
          <a:p>
            <a:pPr algn="l"/>
            <a:r>
              <a:rPr sz="1050" b="0">
                <a:solidFill>
                  <a:srgbClr val="55504A"/>
                </a:solidFill>
                <a:latin typeface="Arial"/>
              </a:rPr>
              <a:t>Different </a:t>
            </a:r>
            <a:r>
              <a:rPr lang="en-US" sz="1050" b="0">
                <a:solidFill>
                  <a:srgbClr val="55504A"/>
                </a:solidFill>
                <a:latin typeface="Arial"/>
              </a:rPr>
              <a:t>security </a:t>
            </a:r>
            <a:r>
              <a:rPr sz="1050" b="0">
                <a:solidFill>
                  <a:srgbClr val="55504A"/>
                </a:solidFill>
                <a:latin typeface="Arial"/>
              </a:rPr>
              <a:t>models—not </a:t>
            </a:r>
            <a:r>
              <a:rPr lang="en-US" sz="1050" b="0">
                <a:solidFill>
                  <a:srgbClr val="55504A"/>
                </a:solidFill>
                <a:latin typeface="Arial"/>
              </a:rPr>
              <a:t>slow vs. fast versions of the same design</a:t>
            </a:r>
            <a:r>
              <a:rPr sz="1050" b="0">
                <a:solidFill>
                  <a:srgbClr val="55504A"/>
                </a:solidFill>
                <a:latin typeface="Arial"/>
              </a:rPr>
              <a:t>.</a:t>
            </a:r>
          </a:p>
        </p:txBody>
      </p:sp>
      <p:sp>
        <p:nvSpPr>
          <p:cNvPr id="116" name="Section 03 Number"/>
          <p:cNvSpPr txBox="1"/>
          <p:nvPr/>
        </p:nvSpPr>
        <p:spPr>
          <a:xfrm>
            <a:off x="7973568" y="2221992"/>
            <a:ext cx="384048" cy="201168"/>
          </a:xfrm>
          <a:prstGeom prst="rect">
            <a:avLst/>
          </a:prstGeom>
          <a:noFill/>
        </p:spPr>
        <p:txBody>
          <a:bodyPr wrap="square" lIns="0" tIns="0" rIns="0" bIns="0" anchor="ctr">
            <a:spAutoFit/>
          </a:bodyPr>
          <a:lstStyle/>
          <a:p>
            <a:pPr algn="l"/>
            <a:r>
              <a:rPr sz="1200" b="1">
                <a:solidFill>
                  <a:srgbClr val="FF4B00"/>
                </a:solidFill>
                <a:latin typeface="Arial"/>
              </a:rPr>
              <a:t>03</a:t>
            </a:r>
          </a:p>
        </p:txBody>
      </p:sp>
      <p:sp>
        <p:nvSpPr>
          <p:cNvPr id="117" name="Section 03 Label"/>
          <p:cNvSpPr txBox="1"/>
          <p:nvPr/>
        </p:nvSpPr>
        <p:spPr>
          <a:xfrm>
            <a:off x="8385048" y="2242286"/>
            <a:ext cx="2971800" cy="215444"/>
          </a:xfrm>
          <a:prstGeom prst="rect">
            <a:avLst/>
          </a:prstGeom>
          <a:noFill/>
        </p:spPr>
        <p:txBody>
          <a:bodyPr wrap="square" lIns="0" tIns="0" rIns="0" bIns="0" anchor="ctr">
            <a:spAutoFit/>
          </a:bodyPr>
          <a:lstStyle/>
          <a:p>
            <a:pPr algn="l"/>
            <a:r>
              <a:rPr lang="en-US" sz="1400" b="1">
                <a:solidFill>
                  <a:srgbClr val="FF4B00"/>
                </a:solidFill>
                <a:latin typeface="Arial"/>
              </a:rPr>
              <a:t>FDE → PMM → SCALE</a:t>
            </a:r>
            <a:endParaRPr sz="1400" b="1">
              <a:solidFill>
                <a:srgbClr val="FF4B00"/>
              </a:solidFill>
              <a:latin typeface="Arial"/>
            </a:endParaRPr>
          </a:p>
        </p:txBody>
      </p:sp>
      <p:sp>
        <p:nvSpPr>
          <p:cNvPr id="118" name="Scale Thesis"/>
          <p:cNvSpPr txBox="1"/>
          <p:nvPr/>
        </p:nvSpPr>
        <p:spPr>
          <a:xfrm>
            <a:off x="7973568" y="2761488"/>
            <a:ext cx="3246120" cy="492443"/>
          </a:xfrm>
          <a:prstGeom prst="rect">
            <a:avLst/>
          </a:prstGeom>
          <a:noFill/>
        </p:spPr>
        <p:txBody>
          <a:bodyPr wrap="square" lIns="0" tIns="0" rIns="0" bIns="0" anchor="t">
            <a:spAutoFit/>
          </a:bodyPr>
          <a:lstStyle/>
          <a:p>
            <a:pPr algn="l"/>
            <a:r>
              <a:rPr lang="en-US" sz="1600" b="1">
                <a:solidFill>
                  <a:srgbClr val="121212"/>
                </a:solidFill>
                <a:latin typeface="Arial"/>
              </a:rPr>
              <a:t>Turn one working deployment </a:t>
            </a:r>
            <a:r>
              <a:rPr sz="1600" b="1">
                <a:solidFill>
                  <a:srgbClr val="121212"/>
                </a:solidFill>
                <a:latin typeface="Arial"/>
              </a:rPr>
              <a:t>into a </a:t>
            </a:r>
            <a:r>
              <a:rPr lang="en-US" sz="1600" b="1">
                <a:solidFill>
                  <a:srgbClr val="121212"/>
                </a:solidFill>
                <a:latin typeface="Arial"/>
              </a:rPr>
              <a:t>reusable market asset</a:t>
            </a:r>
            <a:r>
              <a:rPr sz="1600" b="1">
                <a:solidFill>
                  <a:srgbClr val="121212"/>
                </a:solidFill>
                <a:latin typeface="Arial"/>
              </a:rPr>
              <a:t>.</a:t>
            </a:r>
          </a:p>
        </p:txBody>
      </p:sp>
      <p:sp>
        <p:nvSpPr>
          <p:cNvPr id="119" name="Step Number 1"/>
          <p:cNvSpPr txBox="1"/>
          <p:nvPr/>
        </p:nvSpPr>
        <p:spPr>
          <a:xfrm>
            <a:off x="7973568" y="3291840"/>
            <a:ext cx="256032" cy="201168"/>
          </a:xfrm>
          <a:prstGeom prst="rect">
            <a:avLst/>
          </a:prstGeom>
          <a:noFill/>
        </p:spPr>
        <p:txBody>
          <a:bodyPr wrap="square" lIns="0" tIns="0" rIns="0" bIns="0" anchor="t">
            <a:spAutoFit/>
          </a:bodyPr>
          <a:lstStyle/>
          <a:p>
            <a:pPr algn="l"/>
            <a:r>
              <a:rPr sz="1200" b="1">
                <a:solidFill>
                  <a:srgbClr val="FF4B00"/>
                </a:solidFill>
                <a:latin typeface="Arial"/>
              </a:rPr>
              <a:t>1</a:t>
            </a:r>
          </a:p>
        </p:txBody>
      </p:sp>
      <p:sp>
        <p:nvSpPr>
          <p:cNvPr id="120" name="Step Label 1"/>
          <p:cNvSpPr txBox="1"/>
          <p:nvPr/>
        </p:nvSpPr>
        <p:spPr>
          <a:xfrm>
            <a:off x="8275320" y="3291840"/>
            <a:ext cx="1005840" cy="182880"/>
          </a:xfrm>
          <a:prstGeom prst="rect">
            <a:avLst/>
          </a:prstGeom>
          <a:noFill/>
        </p:spPr>
        <p:txBody>
          <a:bodyPr wrap="square" lIns="0" tIns="0" rIns="0" bIns="0" anchor="t">
            <a:spAutoFit/>
          </a:bodyPr>
          <a:lstStyle/>
          <a:p>
            <a:pPr algn="l"/>
            <a:r>
              <a:rPr lang="en-US" sz="1150" b="1">
                <a:solidFill>
                  <a:srgbClr val="121212"/>
                </a:solidFill>
                <a:latin typeface="Arial"/>
              </a:rPr>
              <a:t>FDE</a:t>
            </a:r>
            <a:endParaRPr sz="1150" b="1">
              <a:solidFill>
                <a:srgbClr val="121212"/>
              </a:solidFill>
              <a:latin typeface="Arial"/>
            </a:endParaRPr>
          </a:p>
        </p:txBody>
      </p:sp>
      <p:sp>
        <p:nvSpPr>
          <p:cNvPr id="121" name="Step Description 1"/>
          <p:cNvSpPr txBox="1"/>
          <p:nvPr/>
        </p:nvSpPr>
        <p:spPr>
          <a:xfrm>
            <a:off x="9299448" y="3291840"/>
            <a:ext cx="2039112" cy="161583"/>
          </a:xfrm>
          <a:prstGeom prst="rect">
            <a:avLst/>
          </a:prstGeom>
          <a:noFill/>
        </p:spPr>
        <p:txBody>
          <a:bodyPr wrap="square" lIns="0" tIns="0" rIns="0" bIns="0" anchor="t">
            <a:spAutoFit/>
          </a:bodyPr>
          <a:lstStyle/>
          <a:p>
            <a:pPr algn="l"/>
            <a:r>
              <a:rPr lang="en-US" sz="1050" b="0">
                <a:solidFill>
                  <a:srgbClr val="55504A"/>
                </a:solidFill>
                <a:latin typeface="Arial"/>
              </a:rPr>
              <a:t>prove one deployment</a:t>
            </a:r>
            <a:endParaRPr sz="1050" b="0">
              <a:solidFill>
                <a:srgbClr val="55504A"/>
              </a:solidFill>
              <a:latin typeface="Arial"/>
            </a:endParaRPr>
          </a:p>
        </p:txBody>
      </p:sp>
      <p:sp>
        <p:nvSpPr>
          <p:cNvPr id="122" name="Step Number 2"/>
          <p:cNvSpPr txBox="1"/>
          <p:nvPr/>
        </p:nvSpPr>
        <p:spPr>
          <a:xfrm>
            <a:off x="7973568" y="3712464"/>
            <a:ext cx="256032" cy="201168"/>
          </a:xfrm>
          <a:prstGeom prst="rect">
            <a:avLst/>
          </a:prstGeom>
          <a:noFill/>
        </p:spPr>
        <p:txBody>
          <a:bodyPr wrap="square" lIns="0" tIns="0" rIns="0" bIns="0" anchor="t">
            <a:spAutoFit/>
          </a:bodyPr>
          <a:lstStyle/>
          <a:p>
            <a:pPr algn="l"/>
            <a:r>
              <a:rPr sz="1200" b="1">
                <a:solidFill>
                  <a:srgbClr val="FF4B00"/>
                </a:solidFill>
                <a:latin typeface="Arial"/>
              </a:rPr>
              <a:t>2</a:t>
            </a:r>
          </a:p>
        </p:txBody>
      </p:sp>
      <p:sp>
        <p:nvSpPr>
          <p:cNvPr id="123" name="Step Label 2"/>
          <p:cNvSpPr txBox="1"/>
          <p:nvPr/>
        </p:nvSpPr>
        <p:spPr>
          <a:xfrm>
            <a:off x="8275320" y="3712463"/>
            <a:ext cx="1005840" cy="182880"/>
          </a:xfrm>
          <a:prstGeom prst="rect">
            <a:avLst/>
          </a:prstGeom>
          <a:noFill/>
        </p:spPr>
        <p:txBody>
          <a:bodyPr wrap="square" lIns="0" tIns="0" rIns="0" bIns="0" anchor="t">
            <a:spAutoFit/>
          </a:bodyPr>
          <a:lstStyle/>
          <a:p>
            <a:pPr algn="l"/>
            <a:r>
              <a:rPr lang="en-US" sz="1150" b="1">
                <a:solidFill>
                  <a:srgbClr val="121212"/>
                </a:solidFill>
                <a:latin typeface="Arial"/>
              </a:rPr>
              <a:t>PMM</a:t>
            </a:r>
            <a:endParaRPr sz="1150" b="1">
              <a:solidFill>
                <a:srgbClr val="121212"/>
              </a:solidFill>
              <a:latin typeface="Arial"/>
            </a:endParaRPr>
          </a:p>
        </p:txBody>
      </p:sp>
      <p:sp>
        <p:nvSpPr>
          <p:cNvPr id="124" name="Step Description 2"/>
          <p:cNvSpPr txBox="1"/>
          <p:nvPr/>
        </p:nvSpPr>
        <p:spPr>
          <a:xfrm>
            <a:off x="9299448" y="3712463"/>
            <a:ext cx="2039112" cy="323165"/>
          </a:xfrm>
          <a:prstGeom prst="rect">
            <a:avLst/>
          </a:prstGeom>
          <a:noFill/>
        </p:spPr>
        <p:txBody>
          <a:bodyPr wrap="square" lIns="0" tIns="0" rIns="0" bIns="0" anchor="t">
            <a:spAutoFit/>
          </a:bodyPr>
          <a:lstStyle/>
          <a:p>
            <a:pPr algn="l"/>
            <a:r>
              <a:rPr lang="en-US" sz="1050" b="0">
                <a:solidFill>
                  <a:srgbClr val="55504A"/>
                </a:solidFill>
                <a:latin typeface="Arial"/>
              </a:rPr>
              <a:t>identify the invariant + package proof</a:t>
            </a:r>
            <a:endParaRPr sz="1050" b="0">
              <a:solidFill>
                <a:srgbClr val="55504A"/>
              </a:solidFill>
              <a:latin typeface="Arial"/>
            </a:endParaRPr>
          </a:p>
        </p:txBody>
      </p:sp>
      <p:sp>
        <p:nvSpPr>
          <p:cNvPr id="125" name="Step Number 3"/>
          <p:cNvSpPr txBox="1"/>
          <p:nvPr/>
        </p:nvSpPr>
        <p:spPr>
          <a:xfrm>
            <a:off x="7973568" y="4133088"/>
            <a:ext cx="256032" cy="201168"/>
          </a:xfrm>
          <a:prstGeom prst="rect">
            <a:avLst/>
          </a:prstGeom>
          <a:noFill/>
        </p:spPr>
        <p:txBody>
          <a:bodyPr wrap="square" lIns="0" tIns="0" rIns="0" bIns="0" anchor="t">
            <a:spAutoFit/>
          </a:bodyPr>
          <a:lstStyle/>
          <a:p>
            <a:pPr algn="l"/>
            <a:r>
              <a:rPr sz="1200" b="1">
                <a:solidFill>
                  <a:srgbClr val="FF4B00"/>
                </a:solidFill>
                <a:latin typeface="Arial"/>
              </a:rPr>
              <a:t>3</a:t>
            </a:r>
          </a:p>
        </p:txBody>
      </p:sp>
      <p:sp>
        <p:nvSpPr>
          <p:cNvPr id="126" name="Step Label 3"/>
          <p:cNvSpPr txBox="1"/>
          <p:nvPr/>
        </p:nvSpPr>
        <p:spPr>
          <a:xfrm>
            <a:off x="8275320" y="4133087"/>
            <a:ext cx="1005840" cy="182880"/>
          </a:xfrm>
          <a:prstGeom prst="rect">
            <a:avLst/>
          </a:prstGeom>
          <a:noFill/>
        </p:spPr>
        <p:txBody>
          <a:bodyPr wrap="square" lIns="0" tIns="0" rIns="0" bIns="0" anchor="t">
            <a:spAutoFit/>
          </a:bodyPr>
          <a:lstStyle/>
          <a:p>
            <a:pPr algn="l"/>
            <a:r>
              <a:rPr lang="en-US" sz="1150" b="1">
                <a:solidFill>
                  <a:srgbClr val="121212"/>
                </a:solidFill>
                <a:latin typeface="Arial"/>
              </a:rPr>
              <a:t>PRODUCT</a:t>
            </a:r>
            <a:endParaRPr sz="1150" b="1">
              <a:solidFill>
                <a:srgbClr val="121212"/>
              </a:solidFill>
              <a:latin typeface="Arial"/>
            </a:endParaRPr>
          </a:p>
        </p:txBody>
      </p:sp>
      <p:sp>
        <p:nvSpPr>
          <p:cNvPr id="127" name="Step Description 3"/>
          <p:cNvSpPr txBox="1"/>
          <p:nvPr/>
        </p:nvSpPr>
        <p:spPr>
          <a:xfrm>
            <a:off x="9299448" y="4133087"/>
            <a:ext cx="2039112" cy="161583"/>
          </a:xfrm>
          <a:prstGeom prst="rect">
            <a:avLst/>
          </a:prstGeom>
          <a:noFill/>
        </p:spPr>
        <p:txBody>
          <a:bodyPr wrap="square" lIns="0" tIns="0" rIns="0" bIns="0" anchor="t">
            <a:spAutoFit/>
          </a:bodyPr>
          <a:lstStyle/>
          <a:p>
            <a:pPr algn="l"/>
            <a:r>
              <a:rPr lang="en-US" sz="1050" b="0">
                <a:solidFill>
                  <a:srgbClr val="55504A"/>
                </a:solidFill>
                <a:latin typeface="Arial"/>
              </a:rPr>
              <a:t>fix recurring structural gaps</a:t>
            </a:r>
            <a:endParaRPr sz="1050" b="0">
              <a:solidFill>
                <a:srgbClr val="55504A"/>
              </a:solidFill>
              <a:latin typeface="Arial"/>
            </a:endParaRPr>
          </a:p>
        </p:txBody>
      </p:sp>
      <p:sp>
        <p:nvSpPr>
          <p:cNvPr id="128" name="Step Number 4"/>
          <p:cNvSpPr txBox="1"/>
          <p:nvPr/>
        </p:nvSpPr>
        <p:spPr>
          <a:xfrm>
            <a:off x="7973568" y="4553712"/>
            <a:ext cx="256032" cy="201168"/>
          </a:xfrm>
          <a:prstGeom prst="rect">
            <a:avLst/>
          </a:prstGeom>
          <a:noFill/>
        </p:spPr>
        <p:txBody>
          <a:bodyPr wrap="square" lIns="0" tIns="0" rIns="0" bIns="0" anchor="t">
            <a:spAutoFit/>
          </a:bodyPr>
          <a:lstStyle/>
          <a:p>
            <a:pPr algn="l"/>
            <a:r>
              <a:rPr sz="1200" b="1">
                <a:solidFill>
                  <a:srgbClr val="FF4B00"/>
                </a:solidFill>
                <a:latin typeface="Arial"/>
              </a:rPr>
              <a:t>4</a:t>
            </a:r>
          </a:p>
        </p:txBody>
      </p:sp>
      <p:sp>
        <p:nvSpPr>
          <p:cNvPr id="129" name="Step Label 4"/>
          <p:cNvSpPr txBox="1"/>
          <p:nvPr/>
        </p:nvSpPr>
        <p:spPr>
          <a:xfrm>
            <a:off x="8275320" y="4553712"/>
            <a:ext cx="1005840" cy="182880"/>
          </a:xfrm>
          <a:prstGeom prst="rect">
            <a:avLst/>
          </a:prstGeom>
          <a:noFill/>
        </p:spPr>
        <p:txBody>
          <a:bodyPr wrap="square" lIns="0" tIns="0" rIns="0" bIns="0" anchor="t">
            <a:spAutoFit/>
          </a:bodyPr>
          <a:lstStyle/>
          <a:p>
            <a:pPr algn="l"/>
            <a:r>
              <a:rPr lang="en-US" sz="1150" b="1">
                <a:solidFill>
                  <a:srgbClr val="121212"/>
                </a:solidFill>
                <a:latin typeface="Arial"/>
              </a:rPr>
              <a:t>FIELD</a:t>
            </a:r>
            <a:endParaRPr sz="1150" b="1">
              <a:solidFill>
                <a:srgbClr val="121212"/>
              </a:solidFill>
              <a:latin typeface="Arial"/>
            </a:endParaRPr>
          </a:p>
        </p:txBody>
      </p:sp>
      <p:sp>
        <p:nvSpPr>
          <p:cNvPr id="130" name="Step Description 4"/>
          <p:cNvSpPr txBox="1"/>
          <p:nvPr/>
        </p:nvSpPr>
        <p:spPr>
          <a:xfrm>
            <a:off x="9299448" y="4553712"/>
            <a:ext cx="2039112" cy="323165"/>
          </a:xfrm>
          <a:prstGeom prst="rect">
            <a:avLst/>
          </a:prstGeom>
          <a:noFill/>
        </p:spPr>
        <p:txBody>
          <a:bodyPr wrap="square" lIns="0" tIns="0" rIns="0" bIns="0" anchor="t">
            <a:spAutoFit/>
          </a:bodyPr>
          <a:lstStyle/>
          <a:p>
            <a:pPr algn="l"/>
            <a:r>
              <a:rPr sz="1050" b="0">
                <a:solidFill>
                  <a:srgbClr val="55504A"/>
                </a:solidFill>
                <a:latin typeface="Arial"/>
              </a:rPr>
              <a:t>reuse</a:t>
            </a:r>
            <a:r>
              <a:rPr lang="en-US" sz="1050" b="0">
                <a:solidFill>
                  <a:srgbClr val="55504A"/>
                </a:solidFill>
                <a:latin typeface="Arial"/>
              </a:rPr>
              <a:t> the play; measure </a:t>
            </a:r>
            <a:r>
              <a:rPr sz="1050" b="0">
                <a:solidFill>
                  <a:srgbClr val="55504A"/>
                </a:solidFill>
                <a:latin typeface="Arial"/>
              </a:rPr>
              <a:t>velocity + </a:t>
            </a:r>
            <a:r>
              <a:rPr lang="en-US" sz="1050" b="0">
                <a:solidFill>
                  <a:srgbClr val="55504A"/>
                </a:solidFill>
                <a:latin typeface="Arial"/>
              </a:rPr>
              <a:t>growth</a:t>
            </a:r>
            <a:endParaRPr sz="1050" b="0">
              <a:solidFill>
                <a:srgbClr val="55504A"/>
              </a:solidFill>
              <a:latin typeface="Arial"/>
            </a:endParaRPr>
          </a:p>
        </p:txBody>
      </p:sp>
      <p:sp>
        <p:nvSpPr>
          <p:cNvPr id="131" name="Commercial Proof Band"/>
          <p:cNvSpPr/>
          <p:nvPr/>
        </p:nvSpPr>
        <p:spPr>
          <a:xfrm>
            <a:off x="594360" y="5193792"/>
            <a:ext cx="10972800" cy="713232"/>
          </a:xfrm>
          <a:prstGeom prst="rect">
            <a:avLst/>
          </a:prstGeom>
          <a:solidFill>
            <a:srgbClr val="121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roof Band Label"/>
          <p:cNvSpPr txBox="1"/>
          <p:nvPr/>
        </p:nvSpPr>
        <p:spPr>
          <a:xfrm>
            <a:off x="804672" y="5276088"/>
            <a:ext cx="1645920" cy="292388"/>
          </a:xfrm>
          <a:prstGeom prst="rect">
            <a:avLst/>
          </a:prstGeom>
          <a:noFill/>
        </p:spPr>
        <p:txBody>
          <a:bodyPr wrap="square" lIns="0" tIns="0" rIns="0" bIns="0" anchor="t">
            <a:spAutoFit/>
          </a:bodyPr>
          <a:lstStyle/>
          <a:p>
            <a:pPr algn="l"/>
            <a:r>
              <a:rPr lang="en-US" sz="950" b="1">
                <a:solidFill>
                  <a:srgbClr val="FFC400"/>
                </a:solidFill>
                <a:latin typeface="Arial"/>
              </a:rPr>
              <a:t>REUSE → VELOCITY → GROWTH</a:t>
            </a:r>
          </a:p>
        </p:txBody>
      </p:sp>
      <p:sp>
        <p:nvSpPr>
          <p:cNvPr id="133" name="Proof Metric 1"/>
          <p:cNvSpPr txBox="1"/>
          <p:nvPr/>
        </p:nvSpPr>
        <p:spPr>
          <a:xfrm>
            <a:off x="2423160" y="5257800"/>
            <a:ext cx="1600200" cy="301752"/>
          </a:xfrm>
          <a:prstGeom prst="rect">
            <a:avLst/>
          </a:prstGeom>
          <a:noFill/>
        </p:spPr>
        <p:txBody>
          <a:bodyPr wrap="square" lIns="0" tIns="0" rIns="0" bIns="0" anchor="ctr">
            <a:spAutoFit/>
          </a:bodyPr>
          <a:lstStyle/>
          <a:p>
            <a:pPr algn="l"/>
            <a:r>
              <a:rPr sz="2300" b="1">
                <a:solidFill>
                  <a:srgbClr val="FF4B00"/>
                </a:solidFill>
                <a:latin typeface="Arial"/>
              </a:rPr>
              <a:t>10+</a:t>
            </a:r>
          </a:p>
        </p:txBody>
      </p:sp>
      <p:sp>
        <p:nvSpPr>
          <p:cNvPr id="134" name="Proof Metric Label 1"/>
          <p:cNvSpPr txBox="1"/>
          <p:nvPr/>
        </p:nvSpPr>
        <p:spPr>
          <a:xfrm>
            <a:off x="2423160" y="5577840"/>
            <a:ext cx="1600200" cy="146194"/>
          </a:xfrm>
          <a:prstGeom prst="rect">
            <a:avLst/>
          </a:prstGeom>
          <a:noFill/>
        </p:spPr>
        <p:txBody>
          <a:bodyPr wrap="square" lIns="0" tIns="0" rIns="0" bIns="0" anchor="t">
            <a:spAutoFit/>
          </a:bodyPr>
          <a:lstStyle/>
          <a:p>
            <a:pPr algn="l"/>
            <a:r>
              <a:rPr lang="en-US" sz="950" b="1">
                <a:solidFill>
                  <a:srgbClr val="FFFFFF"/>
                </a:solidFill>
                <a:latin typeface="Arial"/>
              </a:rPr>
              <a:t>REUSE · ENGAGEMENTS</a:t>
            </a:r>
          </a:p>
        </p:txBody>
      </p:sp>
      <p:sp>
        <p:nvSpPr>
          <p:cNvPr id="135" name="Proof Metric 2"/>
          <p:cNvSpPr txBox="1"/>
          <p:nvPr/>
        </p:nvSpPr>
        <p:spPr>
          <a:xfrm>
            <a:off x="4709160" y="5257800"/>
            <a:ext cx="1691640" cy="301752"/>
          </a:xfrm>
          <a:prstGeom prst="rect">
            <a:avLst/>
          </a:prstGeom>
          <a:noFill/>
        </p:spPr>
        <p:txBody>
          <a:bodyPr wrap="square" lIns="0" tIns="0" rIns="0" bIns="0" anchor="ctr">
            <a:spAutoFit/>
          </a:bodyPr>
          <a:lstStyle/>
          <a:p>
            <a:pPr algn="l"/>
            <a:r>
              <a:rPr sz="2300" b="1">
                <a:solidFill>
                  <a:srgbClr val="FF4B00"/>
                </a:solidFill>
                <a:latin typeface="Arial"/>
              </a:rPr>
              <a:t>9→3 mo</a:t>
            </a:r>
          </a:p>
        </p:txBody>
      </p:sp>
      <p:sp>
        <p:nvSpPr>
          <p:cNvPr id="136" name="Proof Metric Label 2"/>
          <p:cNvSpPr txBox="1"/>
          <p:nvPr/>
        </p:nvSpPr>
        <p:spPr>
          <a:xfrm>
            <a:off x="4709160" y="5577840"/>
            <a:ext cx="1691640" cy="146194"/>
          </a:xfrm>
          <a:prstGeom prst="rect">
            <a:avLst/>
          </a:prstGeom>
          <a:noFill/>
        </p:spPr>
        <p:txBody>
          <a:bodyPr wrap="square" lIns="0" tIns="0" rIns="0" bIns="0" anchor="t">
            <a:spAutoFit/>
          </a:bodyPr>
          <a:lstStyle/>
          <a:p>
            <a:pPr algn="l"/>
            <a:r>
              <a:rPr lang="en-US" sz="950" b="1">
                <a:solidFill>
                  <a:srgbClr val="FFFFFF"/>
                </a:solidFill>
                <a:latin typeface="Arial"/>
              </a:rPr>
              <a:t>VELOCITY · COMPLIANCE</a:t>
            </a:r>
          </a:p>
        </p:txBody>
      </p:sp>
      <p:sp>
        <p:nvSpPr>
          <p:cNvPr id="137" name="Proof Metric 3"/>
          <p:cNvSpPr txBox="1"/>
          <p:nvPr/>
        </p:nvSpPr>
        <p:spPr>
          <a:xfrm>
            <a:off x="7086600" y="5257800"/>
            <a:ext cx="1600200" cy="301752"/>
          </a:xfrm>
          <a:prstGeom prst="rect">
            <a:avLst/>
          </a:prstGeom>
          <a:noFill/>
        </p:spPr>
        <p:txBody>
          <a:bodyPr wrap="square" lIns="0" tIns="0" rIns="0" bIns="0" anchor="ctr">
            <a:spAutoFit/>
          </a:bodyPr>
          <a:lstStyle/>
          <a:p>
            <a:pPr algn="l"/>
            <a:r>
              <a:rPr sz="2300" b="1">
                <a:solidFill>
                  <a:srgbClr val="FF4B00"/>
                </a:solidFill>
                <a:latin typeface="Arial"/>
              </a:rPr>
              <a:t>$5M</a:t>
            </a:r>
          </a:p>
        </p:txBody>
      </p:sp>
      <p:sp>
        <p:nvSpPr>
          <p:cNvPr id="138" name="Proof Metric Label 3"/>
          <p:cNvSpPr txBox="1"/>
          <p:nvPr/>
        </p:nvSpPr>
        <p:spPr>
          <a:xfrm>
            <a:off x="7086600" y="5577840"/>
            <a:ext cx="1600200" cy="146194"/>
          </a:xfrm>
          <a:prstGeom prst="rect">
            <a:avLst/>
          </a:prstGeom>
          <a:noFill/>
        </p:spPr>
        <p:txBody>
          <a:bodyPr wrap="square" lIns="0" tIns="0" rIns="0" bIns="0" anchor="t">
            <a:spAutoFit/>
          </a:bodyPr>
          <a:lstStyle/>
          <a:p>
            <a:pPr algn="l"/>
            <a:r>
              <a:rPr lang="en-US" sz="950" b="1">
                <a:solidFill>
                  <a:srgbClr val="FFFFFF"/>
                </a:solidFill>
                <a:latin typeface="Arial"/>
              </a:rPr>
              <a:t>GROWTH · RETAINED</a:t>
            </a:r>
          </a:p>
        </p:txBody>
      </p:sp>
      <p:sp>
        <p:nvSpPr>
          <p:cNvPr id="139" name="Proof Metric 4"/>
          <p:cNvSpPr txBox="1"/>
          <p:nvPr/>
        </p:nvSpPr>
        <p:spPr>
          <a:xfrm>
            <a:off x="9418320" y="5257800"/>
            <a:ext cx="1508760" cy="301752"/>
          </a:xfrm>
          <a:prstGeom prst="rect">
            <a:avLst/>
          </a:prstGeom>
          <a:noFill/>
        </p:spPr>
        <p:txBody>
          <a:bodyPr wrap="square" lIns="0" tIns="0" rIns="0" bIns="0" anchor="ctr">
            <a:spAutoFit/>
          </a:bodyPr>
          <a:lstStyle/>
          <a:p>
            <a:pPr algn="l"/>
            <a:r>
              <a:rPr sz="2300" b="1">
                <a:solidFill>
                  <a:srgbClr val="FF4B00"/>
                </a:solidFill>
                <a:latin typeface="Arial"/>
              </a:rPr>
              <a:t>$2M</a:t>
            </a:r>
          </a:p>
        </p:txBody>
      </p:sp>
      <p:sp>
        <p:nvSpPr>
          <p:cNvPr id="140" name="Proof Metric Label 4"/>
          <p:cNvSpPr txBox="1"/>
          <p:nvPr/>
        </p:nvSpPr>
        <p:spPr>
          <a:xfrm>
            <a:off x="9418320" y="5577840"/>
            <a:ext cx="1508760" cy="146194"/>
          </a:xfrm>
          <a:prstGeom prst="rect">
            <a:avLst/>
          </a:prstGeom>
          <a:noFill/>
        </p:spPr>
        <p:txBody>
          <a:bodyPr wrap="square" lIns="0" tIns="0" rIns="0" bIns="0" anchor="t">
            <a:spAutoFit/>
          </a:bodyPr>
          <a:lstStyle/>
          <a:p>
            <a:pPr algn="l"/>
            <a:r>
              <a:rPr lang="en-US" sz="950" b="1">
                <a:solidFill>
                  <a:srgbClr val="FFFFFF"/>
                </a:solidFill>
                <a:latin typeface="Arial"/>
              </a:rPr>
              <a:t>GROWTH · EXPANSION</a:t>
            </a:r>
          </a:p>
        </p:txBody>
      </p:sp>
      <p:sp>
        <p:nvSpPr>
          <p:cNvPr id="141" name="Source Footnote 1"/>
          <p:cNvSpPr txBox="1"/>
          <p:nvPr/>
        </p:nvSpPr>
        <p:spPr>
          <a:xfrm>
            <a:off x="566928" y="6071616"/>
            <a:ext cx="10469880" cy="104644"/>
          </a:xfrm>
          <a:prstGeom prst="rect">
            <a:avLst/>
          </a:prstGeom>
          <a:noFill/>
        </p:spPr>
        <p:txBody>
          <a:bodyPr wrap="square" lIns="0" tIns="0" rIns="0" bIns="0" anchor="t">
            <a:spAutoFit/>
          </a:bodyPr>
          <a:lstStyle/>
          <a:p>
            <a:pPr algn="l"/>
            <a:r>
              <a:rPr lang="en-US" sz="680" b="0">
                <a:solidFill>
                  <a:srgbClr val="8A857E"/>
                </a:solidFill>
                <a:latin typeface="Arial"/>
              </a:rPr>
              <a:t>Public architecture: https://learn.microsoft.com/en-us/azure/azure-sovereign-clouds/microsoft-sovereign-cloud | https://learn.microsoft.com/en-us/azure/azure-sovereign-clouds/public/confidential-computing</a:t>
            </a:r>
          </a:p>
        </p:txBody>
      </p:sp>
      <p:sp>
        <p:nvSpPr>
          <p:cNvPr id="142" name="Source Footnote 2"/>
          <p:cNvSpPr txBox="1"/>
          <p:nvPr/>
        </p:nvSpPr>
        <p:spPr>
          <a:xfrm>
            <a:off x="566928" y="6227064"/>
            <a:ext cx="10469880" cy="109728"/>
          </a:xfrm>
          <a:prstGeom prst="rect">
            <a:avLst/>
          </a:prstGeom>
          <a:noFill/>
        </p:spPr>
        <p:txBody>
          <a:bodyPr wrap="square" lIns="0" tIns="0" rIns="0" bIns="0" anchor="t">
            <a:spAutoFit/>
          </a:bodyPr>
          <a:lstStyle/>
          <a:p>
            <a:pPr algn="l"/>
            <a:r>
              <a:rPr lang="en-US" sz="720" b="0">
                <a:solidFill>
                  <a:srgbClr val="8A857E"/>
                </a:solidFill>
                <a:latin typeface="Arial"/>
              </a:rPr>
              <a:t>FHE context: https://www.microsoft.com/en-us/research/publication/can-homomorphic-encryption-be-practical-2/</a:t>
            </a:r>
          </a:p>
        </p:txBody>
      </p:sp>
      <p:sp>
        <p:nvSpPr>
          <p:cNvPr id="143" name="Source Footnote 3"/>
          <p:cNvSpPr txBox="1"/>
          <p:nvPr/>
        </p:nvSpPr>
        <p:spPr>
          <a:xfrm>
            <a:off x="566928" y="6382512"/>
            <a:ext cx="10469880" cy="115416"/>
          </a:xfrm>
          <a:prstGeom prst="rect">
            <a:avLst/>
          </a:prstGeom>
          <a:noFill/>
        </p:spPr>
        <p:txBody>
          <a:bodyPr wrap="square" lIns="0" tIns="0" rIns="0" bIns="0" anchor="t">
            <a:spAutoFit/>
          </a:bodyPr>
          <a:lstStyle/>
          <a:p>
            <a:pPr algn="l"/>
            <a:r>
              <a:rPr lang="en-US" sz="750" b="0">
                <a:solidFill>
                  <a:srgbClr val="8A857E"/>
                </a:solidFill>
                <a:latin typeface="Arial"/>
              </a:rPr>
              <a:t>Outcome metrics are candidate-resume figures; public sources corroborate the architecture, not the internal results</a:t>
            </a:r>
            <a:r>
              <a:rPr sz="750" b="0">
                <a:solidFill>
                  <a:srgbClr val="8A857E"/>
                </a:solidFill>
                <a:latin typeface="Aria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3" name="Official Mistral header symbol" descr="image.png"/>
          <p:cNvPicPr>
            <a:picLocks noChangeAspect="1"/>
          </p:cNvPicPr>
          <p:nvPr/>
        </p:nvPicPr>
        <p:blipFill>
          <a:blip r:embed="rId3"/>
          <a:srcRect/>
          <a:stretch>
            <a:fillRect/>
          </a:stretch>
        </p:blipFill>
        <p:spPr>
          <a:xfrm>
            <a:off x="182880" y="182880"/>
            <a:ext cx="228600" cy="163413"/>
          </a:xfrm>
          <a:prstGeom prst="rect">
            <a:avLst/>
          </a:prstGeom>
        </p:spPr>
      </p:pic>
      <p:sp>
        <p:nvSpPr>
          <p:cNvPr id="4" name="Section Eyebrow"/>
          <p:cNvSpPr txBox="1"/>
          <p:nvPr/>
        </p:nvSpPr>
        <p:spPr>
          <a:xfrm>
            <a:off x="621792" y="201168"/>
            <a:ext cx="9326880" cy="256032"/>
          </a:xfrm>
          <a:prstGeom prst="rect">
            <a:avLst/>
          </a:prstGeom>
          <a:noFill/>
        </p:spPr>
        <p:txBody>
          <a:bodyPr wrap="square" lIns="0" tIns="0" rIns="0" bIns="0" anchor="ctr">
            <a:spAutoFit/>
          </a:bodyPr>
          <a:lstStyle/>
          <a:p>
            <a:pPr algn="l"/>
            <a:r>
              <a:rPr sz="1400" b="1">
                <a:solidFill>
                  <a:srgbClr val="FF4B00"/>
                </a:solidFill>
                <a:latin typeface="Arial"/>
              </a:rPr>
              <a:t>D. E. SHAW · REAL-TIME RISK &amp; CAPITAL DECISIONING</a:t>
            </a:r>
          </a:p>
        </p:txBody>
      </p:sp>
      <p:sp>
        <p:nvSpPr>
          <p:cNvPr id="5" name="Page Number"/>
          <p:cNvSpPr txBox="1"/>
          <p:nvPr/>
        </p:nvSpPr>
        <p:spPr>
          <a:xfrm>
            <a:off x="11137392" y="6400800"/>
            <a:ext cx="292608" cy="153619"/>
          </a:xfrm>
          <a:prstGeom prst="rect">
            <a:avLst/>
          </a:prstGeom>
          <a:noFill/>
        </p:spPr>
        <p:txBody>
          <a:bodyPr wrap="square" lIns="0" tIns="0" rIns="0" bIns="0" anchor="ctr">
            <a:spAutoFit/>
          </a:bodyPr>
          <a:lstStyle/>
          <a:p>
            <a:pPr algn="r"/>
            <a:r>
              <a:rPr sz="1000" b="0">
                <a:solidFill>
                  <a:srgbClr val="55504A"/>
                </a:solidFill>
                <a:latin typeface="Arial"/>
              </a:rPr>
              <a:t>6</a:t>
            </a:r>
          </a:p>
        </p:txBody>
      </p:sp>
      <p:sp>
        <p:nvSpPr>
          <p:cNvPr id="6" name="Slide Title"/>
          <p:cNvSpPr txBox="1"/>
          <p:nvPr/>
        </p:nvSpPr>
        <p:spPr>
          <a:xfrm>
            <a:off x="502920" y="576072"/>
            <a:ext cx="11155680" cy="538581"/>
          </a:xfrm>
          <a:prstGeom prst="rect">
            <a:avLst/>
          </a:prstGeom>
          <a:noFill/>
        </p:spPr>
        <p:txBody>
          <a:bodyPr wrap="square" lIns="0" tIns="0" rIns="0" bIns="0" anchor="ctr">
            <a:spAutoFit/>
          </a:bodyPr>
          <a:lstStyle/>
          <a:p>
            <a:pPr algn="l"/>
            <a:r>
              <a:rPr sz="3500" b="1">
                <a:solidFill>
                  <a:srgbClr val="121212"/>
                </a:solidFill>
                <a:latin typeface="Arial"/>
              </a:rPr>
              <a:t>5. Production </a:t>
            </a:r>
            <a:r>
              <a:rPr lang="en-US" sz="3500" b="1">
                <a:solidFill>
                  <a:srgbClr val="121212"/>
                </a:solidFill>
                <a:latin typeface="Arial"/>
              </a:rPr>
              <a:t>adoption</a:t>
            </a:r>
            <a:r>
              <a:rPr sz="3500" b="1">
                <a:solidFill>
                  <a:srgbClr val="121212"/>
                </a:solidFill>
                <a:latin typeface="Arial"/>
              </a:rPr>
              <a:t>: prove</a:t>
            </a:r>
            <a:r>
              <a:rPr lang="en-US" sz="3500" b="1">
                <a:solidFill>
                  <a:srgbClr val="121212"/>
                </a:solidFill>
                <a:latin typeface="Arial"/>
              </a:rPr>
              <a:t> trust</a:t>
            </a:r>
            <a:r>
              <a:rPr sz="3500" b="1">
                <a:solidFill>
                  <a:srgbClr val="121212"/>
                </a:solidFill>
                <a:latin typeface="Arial"/>
              </a:rPr>
              <a:t> before cutover</a:t>
            </a:r>
          </a:p>
        </p:txBody>
      </p:sp>
      <p:sp>
        <p:nvSpPr>
          <p:cNvPr id="7" name="Role Accent"/>
          <p:cNvSpPr/>
          <p:nvPr/>
        </p:nvSpPr>
        <p:spPr>
          <a:xfrm>
            <a:off x="502920" y="1207008"/>
            <a:ext cx="68580" cy="34747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le Line"/>
          <p:cNvSpPr txBox="1"/>
          <p:nvPr/>
        </p:nvSpPr>
        <p:spPr>
          <a:xfrm>
            <a:off x="658368" y="1273022"/>
            <a:ext cx="10881360" cy="215444"/>
          </a:xfrm>
          <a:prstGeom prst="rect">
            <a:avLst/>
          </a:prstGeom>
          <a:noFill/>
        </p:spPr>
        <p:txBody>
          <a:bodyPr wrap="square" lIns="0" tIns="0" rIns="0" bIns="0" anchor="ctr">
            <a:spAutoFit/>
          </a:bodyPr>
          <a:lstStyle/>
          <a:p>
            <a:pPr algn="l"/>
            <a:r>
              <a:rPr sz="1400" b="1">
                <a:solidFill>
                  <a:srgbClr val="FF4B00"/>
                </a:solidFill>
                <a:latin typeface="Arial"/>
              </a:rPr>
              <a:t>MY ROLE  </a:t>
            </a:r>
            <a:r>
              <a:rPr lang="en-US" sz="1400" b="0">
                <a:solidFill>
                  <a:srgbClr val="121212"/>
                </a:solidFill>
                <a:latin typeface="Arial"/>
              </a:rPr>
              <a:t>aligned </a:t>
            </a:r>
            <a:r>
              <a:rPr sz="1400" b="0">
                <a:solidFill>
                  <a:srgbClr val="121212"/>
                </a:solidFill>
                <a:latin typeface="Arial"/>
              </a:rPr>
              <a:t>a 15+ person program </a:t>
            </a:r>
            <a:r>
              <a:rPr lang="en-US" sz="1400" b="0">
                <a:solidFill>
                  <a:srgbClr val="121212"/>
                </a:solidFill>
                <a:latin typeface="Arial"/>
              </a:rPr>
              <a:t>around one measurable product contract</a:t>
            </a:r>
            <a:endParaRPr sz="1400" b="0">
              <a:solidFill>
                <a:srgbClr val="121212"/>
              </a:solidFill>
              <a:latin typeface="Arial"/>
            </a:endParaRPr>
          </a:p>
        </p:txBody>
      </p:sp>
      <p:cxnSp>
        <p:nvCxnSpPr>
          <p:cNvPr id="9" name="Header Divider"/>
          <p:cNvCxnSpPr/>
          <p:nvPr/>
        </p:nvCxnSpPr>
        <p:spPr>
          <a:xfrm>
            <a:off x="502920" y="1627632"/>
            <a:ext cx="11155680" cy="0"/>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10" name="Takeaway"/>
          <p:cNvSpPr txBox="1"/>
          <p:nvPr/>
        </p:nvSpPr>
        <p:spPr>
          <a:xfrm>
            <a:off x="502920" y="1784628"/>
            <a:ext cx="11155680" cy="215444"/>
          </a:xfrm>
          <a:prstGeom prst="rect">
            <a:avLst/>
          </a:prstGeom>
          <a:noFill/>
        </p:spPr>
        <p:txBody>
          <a:bodyPr wrap="square" lIns="0" tIns="0" rIns="0" bIns="0" anchor="ctr">
            <a:spAutoFit/>
          </a:bodyPr>
          <a:lstStyle/>
          <a:p>
            <a:pPr algn="l"/>
            <a:r>
              <a:rPr sz="1400" b="1">
                <a:solidFill>
                  <a:srgbClr val="FFC400"/>
                </a:solidFill>
                <a:latin typeface="Arial"/>
              </a:rPr>
              <a:t>TAKEAWAY  </a:t>
            </a:r>
            <a:r>
              <a:rPr lang="en-US" sz="1400" b="1">
                <a:solidFill>
                  <a:srgbClr val="121212"/>
                </a:solidFill>
                <a:latin typeface="Arial"/>
              </a:rPr>
              <a:t>Performance earned attention. Shadow </a:t>
            </a:r>
            <a:r>
              <a:rPr sz="1400" b="1">
                <a:solidFill>
                  <a:srgbClr val="121212"/>
                </a:solidFill>
                <a:latin typeface="Arial"/>
              </a:rPr>
              <a:t>proof </a:t>
            </a:r>
            <a:r>
              <a:rPr lang="en-US" sz="1400" b="1">
                <a:solidFill>
                  <a:srgbClr val="121212"/>
                </a:solidFill>
                <a:latin typeface="Arial"/>
              </a:rPr>
              <a:t>earned production trust</a:t>
            </a:r>
            <a:r>
              <a:rPr sz="1400" b="1">
                <a:solidFill>
                  <a:srgbClr val="121212"/>
                </a:solidFill>
                <a:latin typeface="Arial"/>
              </a:rPr>
              <a:t>.</a:t>
            </a:r>
          </a:p>
        </p:txBody>
      </p:sp>
      <p:cxnSp>
        <p:nvCxnSpPr>
          <p:cNvPr id="11" name="Body Divider"/>
          <p:cNvCxnSpPr/>
          <p:nvPr/>
        </p:nvCxnSpPr>
        <p:spPr>
          <a:xfrm>
            <a:off x="3584448" y="2221992"/>
            <a:ext cx="0" cy="3721608"/>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12" name="Insight Number"/>
          <p:cNvSpPr txBox="1"/>
          <p:nvPr/>
        </p:nvSpPr>
        <p:spPr>
          <a:xfrm>
            <a:off x="640080" y="2221992"/>
            <a:ext cx="384048" cy="201168"/>
          </a:xfrm>
          <a:prstGeom prst="rect">
            <a:avLst/>
          </a:prstGeom>
          <a:noFill/>
        </p:spPr>
        <p:txBody>
          <a:bodyPr wrap="square" lIns="0" tIns="0" rIns="0" bIns="0" anchor="ctr">
            <a:spAutoFit/>
          </a:bodyPr>
          <a:lstStyle/>
          <a:p>
            <a:pPr algn="l"/>
            <a:r>
              <a:rPr sz="1200" b="1">
                <a:solidFill>
                  <a:srgbClr val="FF4B00"/>
                </a:solidFill>
                <a:latin typeface="Arial"/>
              </a:rPr>
              <a:t>01</a:t>
            </a:r>
          </a:p>
        </p:txBody>
      </p:sp>
      <p:sp>
        <p:nvSpPr>
          <p:cNvPr id="13" name="Insight Label"/>
          <p:cNvSpPr txBox="1"/>
          <p:nvPr/>
        </p:nvSpPr>
        <p:spPr>
          <a:xfrm>
            <a:off x="1051560" y="2242286"/>
            <a:ext cx="2194560" cy="215444"/>
          </a:xfrm>
          <a:prstGeom prst="rect">
            <a:avLst/>
          </a:prstGeom>
          <a:noFill/>
        </p:spPr>
        <p:txBody>
          <a:bodyPr wrap="square" lIns="0" tIns="0" rIns="0" bIns="0" anchor="ctr">
            <a:spAutoFit/>
          </a:bodyPr>
          <a:lstStyle/>
          <a:p>
            <a:pPr algn="l"/>
            <a:r>
              <a:rPr lang="en-US" sz="1400" b="1">
                <a:solidFill>
                  <a:srgbClr val="FF4B00"/>
                </a:solidFill>
                <a:latin typeface="Arial"/>
              </a:rPr>
              <a:t>USER INSIGHT</a:t>
            </a:r>
          </a:p>
        </p:txBody>
      </p:sp>
      <p:sp>
        <p:nvSpPr>
          <p:cNvPr id="14" name="Insight Quote"/>
          <p:cNvSpPr txBox="1"/>
          <p:nvPr/>
        </p:nvSpPr>
        <p:spPr>
          <a:xfrm>
            <a:off x="640080" y="2770632"/>
            <a:ext cx="2670048" cy="969496"/>
          </a:xfrm>
          <a:prstGeom prst="rect">
            <a:avLst/>
          </a:prstGeom>
          <a:noFill/>
        </p:spPr>
        <p:txBody>
          <a:bodyPr wrap="square" lIns="0" tIns="0" rIns="0" bIns="0" anchor="t">
            <a:spAutoFit/>
          </a:bodyPr>
          <a:lstStyle/>
          <a:p>
            <a:pPr algn="l"/>
            <a:r>
              <a:rPr lang="en-US" sz="2100" b="1">
                <a:solidFill>
                  <a:srgbClr val="121212"/>
                </a:solidFill>
                <a:latin typeface="Arial"/>
              </a:rPr>
              <a:t>“Speed alone would not change behavior.”</a:t>
            </a:r>
          </a:p>
        </p:txBody>
      </p:sp>
      <p:sp>
        <p:nvSpPr>
          <p:cNvPr id="15" name="Product Pivot Label"/>
          <p:cNvSpPr txBox="1">
            <a:spLocks/>
          </p:cNvSpPr>
          <p:nvPr/>
        </p:nvSpPr>
        <p:spPr>
          <a:xfrm>
            <a:off x="640080" y="3749039"/>
            <a:ext cx="2670048" cy="210312"/>
          </a:xfrm>
          <a:prstGeom prst="rect">
            <a:avLst/>
          </a:prstGeom>
          <a:noFill/>
        </p:spPr>
        <p:txBody>
          <a:bodyPr wrap="square" lIns="0" tIns="0" rIns="0" bIns="0" anchor="t">
            <a:spAutoFit/>
          </a:bodyPr>
          <a:lstStyle/>
          <a:p>
            <a:pPr algn="l"/>
            <a:r>
              <a:rPr lang="en-US" sz="1150" b="1">
                <a:solidFill>
                  <a:srgbClr val="55504A"/>
                </a:solidFill>
                <a:latin typeface="Arial"/>
              </a:rPr>
              <a:t>THE PRODUCT BECAME</a:t>
            </a:r>
          </a:p>
        </p:txBody>
      </p:sp>
      <p:sp>
        <p:nvSpPr>
          <p:cNvPr id="16" name="Product Pivot"/>
          <p:cNvSpPr txBox="1"/>
          <p:nvPr/>
        </p:nvSpPr>
        <p:spPr>
          <a:xfrm>
            <a:off x="640080" y="4023360"/>
            <a:ext cx="2688336" cy="553998"/>
          </a:xfrm>
          <a:prstGeom prst="rect">
            <a:avLst/>
          </a:prstGeom>
          <a:noFill/>
        </p:spPr>
        <p:txBody>
          <a:bodyPr wrap="square" lIns="0" tIns="0" rIns="0" bIns="0" anchor="t">
            <a:spAutoFit/>
          </a:bodyPr>
          <a:lstStyle/>
          <a:p>
            <a:pPr algn="l"/>
            <a:r>
              <a:rPr lang="en-US" sz="1800" b="1">
                <a:solidFill>
                  <a:srgbClr val="FF4B00"/>
                </a:solidFill>
                <a:latin typeface="Arial"/>
              </a:rPr>
              <a:t>Make decisions faster—without reducing trust.</a:t>
            </a:r>
          </a:p>
        </p:txBody>
      </p:sp>
      <p:cxnSp>
        <p:nvCxnSpPr>
          <p:cNvPr id="17" name="Contract Divider"/>
          <p:cNvCxnSpPr/>
          <p:nvPr/>
        </p:nvCxnSpPr>
        <p:spPr>
          <a:xfrm>
            <a:off x="640080" y="4937760"/>
            <a:ext cx="2670048" cy="0"/>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18" name="Contract Label"/>
          <p:cNvSpPr txBox="1">
            <a:spLocks/>
          </p:cNvSpPr>
          <p:nvPr/>
        </p:nvSpPr>
        <p:spPr>
          <a:xfrm>
            <a:off x="640080" y="5102352"/>
            <a:ext cx="2670048" cy="201168"/>
          </a:xfrm>
          <a:prstGeom prst="rect">
            <a:avLst/>
          </a:prstGeom>
          <a:noFill/>
        </p:spPr>
        <p:txBody>
          <a:bodyPr wrap="square" lIns="0" tIns="0" rIns="0" bIns="0" anchor="t">
            <a:spAutoFit/>
          </a:bodyPr>
          <a:lstStyle/>
          <a:p>
            <a:pPr algn="l"/>
            <a:r>
              <a:rPr lang="en-US" sz="1150" b="1">
                <a:solidFill>
                  <a:srgbClr val="55504A"/>
                </a:solidFill>
                <a:latin typeface="Arial"/>
              </a:rPr>
              <a:t>ONE PRODUCT CONTRACT</a:t>
            </a:r>
          </a:p>
        </p:txBody>
      </p:sp>
      <p:sp>
        <p:nvSpPr>
          <p:cNvPr id="19" name="Contract Marker 1"/>
          <p:cNvSpPr>
            <a:spLocks/>
          </p:cNvSpPr>
          <p:nvPr/>
        </p:nvSpPr>
        <p:spPr>
          <a:xfrm>
            <a:off x="640080" y="5522976"/>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Contract 1"/>
          <p:cNvSpPr txBox="1"/>
          <p:nvPr/>
        </p:nvSpPr>
        <p:spPr>
          <a:xfrm>
            <a:off x="786384" y="5486400"/>
            <a:ext cx="1161288" cy="164592"/>
          </a:xfrm>
          <a:prstGeom prst="rect">
            <a:avLst/>
          </a:prstGeom>
          <a:noFill/>
        </p:spPr>
        <p:txBody>
          <a:bodyPr wrap="square" lIns="0" tIns="0" rIns="0" bIns="0" anchor="t">
            <a:spAutoFit/>
          </a:bodyPr>
          <a:lstStyle/>
          <a:p>
            <a:pPr algn="l"/>
            <a:r>
              <a:rPr lang="en-US" sz="1050" b="1">
                <a:solidFill>
                  <a:srgbClr val="121212"/>
                </a:solidFill>
                <a:latin typeface="Arial"/>
              </a:rPr>
              <a:t>PERFORMANCE</a:t>
            </a:r>
          </a:p>
        </p:txBody>
      </p:sp>
      <p:sp>
        <p:nvSpPr>
          <p:cNvPr id="21" name="Contract Marker 2"/>
          <p:cNvSpPr/>
          <p:nvPr/>
        </p:nvSpPr>
        <p:spPr>
          <a:xfrm>
            <a:off x="1965960" y="5522976"/>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ontract 2"/>
          <p:cNvSpPr txBox="1"/>
          <p:nvPr/>
        </p:nvSpPr>
        <p:spPr>
          <a:xfrm>
            <a:off x="2112264" y="5486400"/>
            <a:ext cx="1161288" cy="164592"/>
          </a:xfrm>
          <a:prstGeom prst="rect">
            <a:avLst/>
          </a:prstGeom>
          <a:noFill/>
        </p:spPr>
        <p:txBody>
          <a:bodyPr wrap="square" lIns="0" tIns="0" rIns="0" bIns="0" anchor="t">
            <a:spAutoFit/>
          </a:bodyPr>
          <a:lstStyle/>
          <a:p>
            <a:pPr algn="l"/>
            <a:r>
              <a:rPr lang="en-US" sz="1050" b="1">
                <a:solidFill>
                  <a:srgbClr val="121212"/>
                </a:solidFill>
                <a:latin typeface="Arial"/>
              </a:rPr>
              <a:t>ACCURACY</a:t>
            </a:r>
          </a:p>
        </p:txBody>
      </p:sp>
      <p:sp>
        <p:nvSpPr>
          <p:cNvPr id="23" name="Contract Marker 3"/>
          <p:cNvSpPr>
            <a:spLocks/>
          </p:cNvSpPr>
          <p:nvPr/>
        </p:nvSpPr>
        <p:spPr>
          <a:xfrm>
            <a:off x="640080" y="5788152"/>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Contract 3"/>
          <p:cNvSpPr txBox="1">
            <a:spLocks/>
          </p:cNvSpPr>
          <p:nvPr/>
        </p:nvSpPr>
        <p:spPr>
          <a:xfrm>
            <a:off x="786384" y="5751576"/>
            <a:ext cx="1161288" cy="164592"/>
          </a:xfrm>
          <a:prstGeom prst="rect">
            <a:avLst/>
          </a:prstGeom>
          <a:noFill/>
        </p:spPr>
        <p:txBody>
          <a:bodyPr wrap="square" lIns="0" tIns="0" rIns="0" bIns="0" anchor="t">
            <a:spAutoFit/>
          </a:bodyPr>
          <a:lstStyle/>
          <a:p>
            <a:pPr algn="l"/>
            <a:r>
              <a:rPr lang="en-US" sz="1050" b="1">
                <a:solidFill>
                  <a:srgbClr val="121212"/>
                </a:solidFill>
                <a:latin typeface="Arial"/>
              </a:rPr>
              <a:t>CONTROLS</a:t>
            </a:r>
          </a:p>
        </p:txBody>
      </p:sp>
      <p:sp>
        <p:nvSpPr>
          <p:cNvPr id="25" name="Contract Marker 4"/>
          <p:cNvSpPr>
            <a:spLocks/>
          </p:cNvSpPr>
          <p:nvPr/>
        </p:nvSpPr>
        <p:spPr>
          <a:xfrm>
            <a:off x="1965960" y="5788152"/>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 name="Contract 4"/>
          <p:cNvSpPr txBox="1"/>
          <p:nvPr/>
        </p:nvSpPr>
        <p:spPr>
          <a:xfrm>
            <a:off x="2112264" y="5751576"/>
            <a:ext cx="1161288" cy="164592"/>
          </a:xfrm>
          <a:prstGeom prst="rect">
            <a:avLst/>
          </a:prstGeom>
          <a:noFill/>
        </p:spPr>
        <p:txBody>
          <a:bodyPr wrap="square" lIns="0" tIns="0" rIns="0" bIns="0" anchor="t">
            <a:spAutoFit/>
          </a:bodyPr>
          <a:lstStyle/>
          <a:p>
            <a:pPr algn="l"/>
            <a:r>
              <a:rPr lang="en-US" sz="1050" b="1">
                <a:solidFill>
                  <a:srgbClr val="121212"/>
                </a:solidFill>
                <a:latin typeface="Arial"/>
              </a:rPr>
              <a:t>ECONOMICS</a:t>
            </a:r>
          </a:p>
        </p:txBody>
      </p:sp>
      <p:sp>
        <p:nvSpPr>
          <p:cNvPr id="27" name="Gate Number"/>
          <p:cNvSpPr txBox="1"/>
          <p:nvPr/>
        </p:nvSpPr>
        <p:spPr>
          <a:xfrm>
            <a:off x="3968496" y="2221992"/>
            <a:ext cx="384048" cy="201168"/>
          </a:xfrm>
          <a:prstGeom prst="rect">
            <a:avLst/>
          </a:prstGeom>
          <a:noFill/>
        </p:spPr>
        <p:txBody>
          <a:bodyPr wrap="square" lIns="0" tIns="0" rIns="0" bIns="0" anchor="ctr">
            <a:spAutoFit/>
          </a:bodyPr>
          <a:lstStyle/>
          <a:p>
            <a:pPr algn="l"/>
            <a:r>
              <a:rPr sz="1200" b="1">
                <a:solidFill>
                  <a:srgbClr val="FF4B00"/>
                </a:solidFill>
                <a:latin typeface="Arial"/>
              </a:rPr>
              <a:t>02</a:t>
            </a:r>
          </a:p>
        </p:txBody>
      </p:sp>
      <p:sp>
        <p:nvSpPr>
          <p:cNvPr id="28" name="Gate Label"/>
          <p:cNvSpPr txBox="1"/>
          <p:nvPr/>
        </p:nvSpPr>
        <p:spPr>
          <a:xfrm>
            <a:off x="4379976" y="2242286"/>
            <a:ext cx="2743200" cy="215444"/>
          </a:xfrm>
          <a:prstGeom prst="rect">
            <a:avLst/>
          </a:prstGeom>
          <a:noFill/>
        </p:spPr>
        <p:txBody>
          <a:bodyPr wrap="square" lIns="0" tIns="0" rIns="0" bIns="0" anchor="ctr">
            <a:spAutoFit/>
          </a:bodyPr>
          <a:lstStyle/>
          <a:p>
            <a:pPr algn="l"/>
            <a:r>
              <a:rPr lang="en-US" sz="1400" b="1">
                <a:solidFill>
                  <a:srgbClr val="FF4B00"/>
                </a:solidFill>
                <a:latin typeface="Arial"/>
              </a:rPr>
              <a:t>THE </a:t>
            </a:r>
            <a:r>
              <a:rPr sz="1400" b="1">
                <a:solidFill>
                  <a:srgbClr val="FF4B00"/>
                </a:solidFill>
                <a:latin typeface="Arial"/>
              </a:rPr>
              <a:t>ADOPTION </a:t>
            </a:r>
            <a:r>
              <a:rPr lang="en-US" sz="1400" b="1">
                <a:solidFill>
                  <a:srgbClr val="FF4B00"/>
                </a:solidFill>
                <a:latin typeface="Arial"/>
              </a:rPr>
              <a:t>GATE</a:t>
            </a:r>
            <a:endParaRPr sz="1400" b="1">
              <a:solidFill>
                <a:srgbClr val="FF4B00"/>
              </a:solidFill>
              <a:latin typeface="Arial"/>
            </a:endParaRPr>
          </a:p>
        </p:txBody>
      </p:sp>
      <p:sp>
        <p:nvSpPr>
          <p:cNvPr id="29" name="Shadow Hero"/>
          <p:cNvSpPr txBox="1"/>
          <p:nvPr/>
        </p:nvSpPr>
        <p:spPr>
          <a:xfrm>
            <a:off x="3968496" y="2651760"/>
            <a:ext cx="3063240" cy="530352"/>
          </a:xfrm>
          <a:prstGeom prst="rect">
            <a:avLst/>
          </a:prstGeom>
          <a:noFill/>
        </p:spPr>
        <p:txBody>
          <a:bodyPr wrap="square" lIns="0" tIns="0" rIns="0" bIns="0" anchor="ctr">
            <a:spAutoFit/>
          </a:bodyPr>
          <a:lstStyle/>
          <a:p>
            <a:pPr algn="l"/>
            <a:r>
              <a:rPr lang="en-US" sz="3400" b="1">
                <a:solidFill>
                  <a:srgbClr val="FF4B00"/>
                </a:solidFill>
                <a:latin typeface="Arial"/>
              </a:rPr>
              <a:t>90 DAYS</a:t>
            </a:r>
          </a:p>
        </p:txBody>
      </p:sp>
      <p:sp>
        <p:nvSpPr>
          <p:cNvPr id="30" name="Shadow Caption"/>
          <p:cNvSpPr txBox="1"/>
          <p:nvPr/>
        </p:nvSpPr>
        <p:spPr>
          <a:xfrm>
            <a:off x="3968496" y="3154680"/>
            <a:ext cx="3063240" cy="201168"/>
          </a:xfrm>
          <a:prstGeom prst="rect">
            <a:avLst/>
          </a:prstGeom>
          <a:noFill/>
        </p:spPr>
        <p:txBody>
          <a:bodyPr wrap="square" lIns="0" tIns="0" rIns="0" bIns="0" anchor="t">
            <a:spAutoFit/>
          </a:bodyPr>
          <a:lstStyle/>
          <a:p>
            <a:pPr algn="l"/>
            <a:r>
              <a:rPr sz="1200" b="1">
                <a:solidFill>
                  <a:srgbClr val="55504A"/>
                </a:solidFill>
                <a:latin typeface="Arial"/>
              </a:rPr>
              <a:t>parallel shadow operation</a:t>
            </a:r>
          </a:p>
        </p:txBody>
      </p:sp>
      <p:sp>
        <p:nvSpPr>
          <p:cNvPr id="31" name="Agreement Hero"/>
          <p:cNvSpPr txBox="1"/>
          <p:nvPr/>
        </p:nvSpPr>
        <p:spPr>
          <a:xfrm>
            <a:off x="7991856" y="2651760"/>
            <a:ext cx="3063240" cy="530352"/>
          </a:xfrm>
          <a:prstGeom prst="rect">
            <a:avLst/>
          </a:prstGeom>
          <a:noFill/>
        </p:spPr>
        <p:txBody>
          <a:bodyPr wrap="square" lIns="0" tIns="0" rIns="0" bIns="0" anchor="ctr">
            <a:spAutoFit/>
          </a:bodyPr>
          <a:lstStyle/>
          <a:p>
            <a:pPr algn="l"/>
            <a:r>
              <a:rPr lang="en-US" sz="3400" b="1">
                <a:solidFill>
                  <a:srgbClr val="FF4B00"/>
                </a:solidFill>
                <a:latin typeface="Arial"/>
              </a:rPr>
              <a:t>~98%</a:t>
            </a:r>
          </a:p>
        </p:txBody>
      </p:sp>
      <p:sp>
        <p:nvSpPr>
          <p:cNvPr id="32" name="Agreement Caption"/>
          <p:cNvSpPr txBox="1"/>
          <p:nvPr/>
        </p:nvSpPr>
        <p:spPr>
          <a:xfrm>
            <a:off x="7991856" y="3154680"/>
            <a:ext cx="3063240" cy="184666"/>
          </a:xfrm>
          <a:prstGeom prst="rect">
            <a:avLst/>
          </a:prstGeom>
          <a:noFill/>
        </p:spPr>
        <p:txBody>
          <a:bodyPr wrap="square" lIns="0" tIns="0" rIns="0" bIns="0" anchor="t">
            <a:spAutoFit/>
          </a:bodyPr>
          <a:lstStyle/>
          <a:p>
            <a:pPr algn="l"/>
            <a:r>
              <a:rPr lang="en-US" sz="1200" b="1">
                <a:solidFill>
                  <a:srgbClr val="55504A"/>
                </a:solidFill>
                <a:latin typeface="Arial"/>
              </a:rPr>
              <a:t>output agreement before cutover</a:t>
            </a:r>
          </a:p>
        </p:txBody>
      </p:sp>
      <p:cxnSp>
        <p:nvCxnSpPr>
          <p:cNvPr id="33" name="Validation Timeline"/>
          <p:cNvCxnSpPr/>
          <p:nvPr/>
        </p:nvCxnSpPr>
        <p:spPr>
          <a:xfrm>
            <a:off x="4169663" y="3822191"/>
            <a:ext cx="6967729" cy="0"/>
          </a:xfrm>
          <a:prstGeom prst="line">
            <a:avLst/>
          </a:prstGeom>
          <a:ln w="19050">
            <a:solidFill>
              <a:srgbClr val="FF4B00"/>
            </a:solidFill>
          </a:ln>
        </p:spPr>
        <p:style>
          <a:lnRef idx="2">
            <a:schemeClr val="accent1"/>
          </a:lnRef>
          <a:fillRef idx="0">
            <a:schemeClr val="accent1"/>
          </a:fillRef>
          <a:effectRef idx="1">
            <a:schemeClr val="accent1"/>
          </a:effectRef>
          <a:fontRef idx="minor">
            <a:schemeClr val="tx1"/>
          </a:fontRef>
        </p:style>
      </p:cxnSp>
      <p:sp>
        <p:nvSpPr>
          <p:cNvPr id="34" name="Timeline Node 1"/>
          <p:cNvSpPr>
            <a:spLocks/>
          </p:cNvSpPr>
          <p:nvPr/>
        </p:nvSpPr>
        <p:spPr>
          <a:xfrm>
            <a:off x="4187952" y="3712463"/>
            <a:ext cx="219456" cy="219456"/>
          </a:xfrm>
          <a:prstGeom prst="ellipse">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Timeline Label 1"/>
          <p:cNvSpPr txBox="1"/>
          <p:nvPr/>
        </p:nvSpPr>
        <p:spPr>
          <a:xfrm>
            <a:off x="3694176" y="4041648"/>
            <a:ext cx="1207008" cy="184666"/>
          </a:xfrm>
          <a:prstGeom prst="rect">
            <a:avLst/>
          </a:prstGeom>
          <a:noFill/>
        </p:spPr>
        <p:txBody>
          <a:bodyPr wrap="square" lIns="0" tIns="0" rIns="0" bIns="0" anchor="t">
            <a:spAutoFit/>
          </a:bodyPr>
          <a:lstStyle/>
          <a:p>
            <a:pPr algn="ctr"/>
            <a:r>
              <a:rPr lang="en-US" sz="1200" b="1">
                <a:solidFill>
                  <a:srgbClr val="121212"/>
                </a:solidFill>
                <a:latin typeface="Arial"/>
              </a:rPr>
              <a:t>SHADOW</a:t>
            </a:r>
          </a:p>
        </p:txBody>
      </p:sp>
      <p:sp>
        <p:nvSpPr>
          <p:cNvPr id="36" name="Timeline Node 2"/>
          <p:cNvSpPr>
            <a:spLocks/>
          </p:cNvSpPr>
          <p:nvPr/>
        </p:nvSpPr>
        <p:spPr>
          <a:xfrm>
            <a:off x="6446520" y="3712463"/>
            <a:ext cx="219456" cy="219456"/>
          </a:xfrm>
          <a:prstGeom prst="ellipse">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Timeline Label 2"/>
          <p:cNvSpPr txBox="1"/>
          <p:nvPr/>
        </p:nvSpPr>
        <p:spPr>
          <a:xfrm>
            <a:off x="5952744" y="4041648"/>
            <a:ext cx="1207008" cy="184666"/>
          </a:xfrm>
          <a:prstGeom prst="rect">
            <a:avLst/>
          </a:prstGeom>
          <a:noFill/>
        </p:spPr>
        <p:txBody>
          <a:bodyPr wrap="square" lIns="0" tIns="0" rIns="0" bIns="0" anchor="t">
            <a:spAutoFit/>
          </a:bodyPr>
          <a:lstStyle/>
          <a:p>
            <a:pPr algn="ctr"/>
            <a:r>
              <a:rPr lang="en-US" sz="1200" b="1">
                <a:solidFill>
                  <a:srgbClr val="121212"/>
                </a:solidFill>
                <a:latin typeface="Arial"/>
              </a:rPr>
              <a:t>COMPARE</a:t>
            </a:r>
          </a:p>
        </p:txBody>
      </p:sp>
      <p:sp>
        <p:nvSpPr>
          <p:cNvPr id="38" name="Timeline Node 3"/>
          <p:cNvSpPr>
            <a:spLocks/>
          </p:cNvSpPr>
          <p:nvPr/>
        </p:nvSpPr>
        <p:spPr>
          <a:xfrm>
            <a:off x="8732520" y="3712463"/>
            <a:ext cx="219456" cy="219456"/>
          </a:xfrm>
          <a:prstGeom prst="ellipse">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 name="Timeline Label 3"/>
          <p:cNvSpPr txBox="1"/>
          <p:nvPr/>
        </p:nvSpPr>
        <p:spPr>
          <a:xfrm>
            <a:off x="8238744" y="4041648"/>
            <a:ext cx="1207008" cy="184666"/>
          </a:xfrm>
          <a:prstGeom prst="rect">
            <a:avLst/>
          </a:prstGeom>
          <a:noFill/>
        </p:spPr>
        <p:txBody>
          <a:bodyPr wrap="square" lIns="0" tIns="0" rIns="0" bIns="0" anchor="t">
            <a:spAutoFit/>
          </a:bodyPr>
          <a:lstStyle/>
          <a:p>
            <a:pPr algn="ctr"/>
            <a:r>
              <a:rPr lang="en-US" sz="1200" b="1">
                <a:solidFill>
                  <a:srgbClr val="121212"/>
                </a:solidFill>
                <a:latin typeface="Arial"/>
              </a:rPr>
              <a:t>SIGN-OFF</a:t>
            </a:r>
          </a:p>
        </p:txBody>
      </p:sp>
      <p:sp>
        <p:nvSpPr>
          <p:cNvPr id="40" name="Timeline Node 4"/>
          <p:cNvSpPr>
            <a:spLocks/>
          </p:cNvSpPr>
          <p:nvPr/>
        </p:nvSpPr>
        <p:spPr>
          <a:xfrm>
            <a:off x="10863072" y="3712463"/>
            <a:ext cx="219456" cy="219456"/>
          </a:xfrm>
          <a:prstGeom prst="ellipse">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Timeline Label 4"/>
          <p:cNvSpPr txBox="1"/>
          <p:nvPr/>
        </p:nvSpPr>
        <p:spPr>
          <a:xfrm>
            <a:off x="10369296" y="4041648"/>
            <a:ext cx="1207008" cy="184666"/>
          </a:xfrm>
          <a:prstGeom prst="rect">
            <a:avLst/>
          </a:prstGeom>
          <a:noFill/>
        </p:spPr>
        <p:txBody>
          <a:bodyPr wrap="square" lIns="0" tIns="0" rIns="0" bIns="0" anchor="t">
            <a:spAutoFit/>
          </a:bodyPr>
          <a:lstStyle/>
          <a:p>
            <a:pPr algn="ctr"/>
            <a:r>
              <a:rPr lang="en-US" sz="1200" b="1">
                <a:solidFill>
                  <a:srgbClr val="121212"/>
                </a:solidFill>
                <a:latin typeface="Arial"/>
              </a:rPr>
              <a:t>CUTOVER</a:t>
            </a:r>
          </a:p>
        </p:txBody>
      </p:sp>
      <p:sp>
        <p:nvSpPr>
          <p:cNvPr id="42" name="Trust Mechanism"/>
          <p:cNvSpPr txBox="1"/>
          <p:nvPr/>
        </p:nvSpPr>
        <p:spPr>
          <a:xfrm>
            <a:off x="3968496" y="4370832"/>
            <a:ext cx="7269480" cy="237744"/>
          </a:xfrm>
          <a:prstGeom prst="rect">
            <a:avLst/>
          </a:prstGeom>
          <a:noFill/>
        </p:spPr>
        <p:txBody>
          <a:bodyPr wrap="square" lIns="0" tIns="0" rIns="0" bIns="0" anchor="ctr">
            <a:spAutoFit/>
          </a:bodyPr>
          <a:lstStyle/>
          <a:p>
            <a:pPr algn="ctr"/>
            <a:r>
              <a:rPr sz="1400" b="0">
                <a:solidFill>
                  <a:srgbClr val="121212"/>
                </a:solidFill>
                <a:latin typeface="Arial"/>
              </a:rPr>
              <a:t>Discrepancies stayed visible; domain users owned the go / no-go threshold.</a:t>
            </a:r>
          </a:p>
        </p:txBody>
      </p:sp>
      <p:cxnSp>
        <p:nvCxnSpPr>
          <p:cNvPr id="43" name="Proof Divider"/>
          <p:cNvCxnSpPr/>
          <p:nvPr/>
        </p:nvCxnSpPr>
        <p:spPr>
          <a:xfrm>
            <a:off x="3968496" y="4791456"/>
            <a:ext cx="7388352" cy="0"/>
          </a:xfrm>
          <a:prstGeom prst="line">
            <a:avLst/>
          </a:prstGeom>
          <a:ln w="10160">
            <a:solidFill>
              <a:srgbClr val="D9D5CE"/>
            </a:solidFill>
          </a:ln>
        </p:spPr>
        <p:style>
          <a:lnRef idx="2">
            <a:schemeClr val="accent1"/>
          </a:lnRef>
          <a:fillRef idx="0">
            <a:schemeClr val="accent1"/>
          </a:fillRef>
          <a:effectRef idx="1">
            <a:schemeClr val="accent1"/>
          </a:effectRef>
          <a:fontRef idx="minor">
            <a:schemeClr val="tx1"/>
          </a:fontRef>
        </p:style>
      </p:cxnSp>
      <p:sp>
        <p:nvSpPr>
          <p:cNvPr id="44" name="Proof Number"/>
          <p:cNvSpPr txBox="1"/>
          <p:nvPr/>
        </p:nvSpPr>
        <p:spPr>
          <a:xfrm>
            <a:off x="3968496" y="4973443"/>
            <a:ext cx="384048" cy="184666"/>
          </a:xfrm>
          <a:prstGeom prst="rect">
            <a:avLst/>
          </a:prstGeom>
          <a:noFill/>
        </p:spPr>
        <p:txBody>
          <a:bodyPr wrap="square" lIns="0" tIns="0" rIns="0" bIns="0" anchor="ctr">
            <a:spAutoFit/>
          </a:bodyPr>
          <a:lstStyle/>
          <a:p>
            <a:pPr algn="l"/>
            <a:r>
              <a:rPr lang="en-US" sz="1200" b="1">
                <a:solidFill>
                  <a:srgbClr val="FF4B00"/>
                </a:solidFill>
                <a:latin typeface="Arial"/>
              </a:rPr>
              <a:t>03</a:t>
            </a:r>
          </a:p>
        </p:txBody>
      </p:sp>
      <p:sp>
        <p:nvSpPr>
          <p:cNvPr id="45" name="Proof Label"/>
          <p:cNvSpPr txBox="1"/>
          <p:nvPr/>
        </p:nvSpPr>
        <p:spPr>
          <a:xfrm>
            <a:off x="4379976" y="4985486"/>
            <a:ext cx="2743200" cy="215444"/>
          </a:xfrm>
          <a:prstGeom prst="rect">
            <a:avLst/>
          </a:prstGeom>
          <a:noFill/>
        </p:spPr>
        <p:txBody>
          <a:bodyPr wrap="square" lIns="0" tIns="0" rIns="0" bIns="0" anchor="ctr">
            <a:spAutoFit/>
          </a:bodyPr>
          <a:lstStyle/>
          <a:p>
            <a:pPr algn="l"/>
            <a:r>
              <a:rPr lang="en-US" sz="1400" b="1">
                <a:solidFill>
                  <a:srgbClr val="FF4B00"/>
                </a:solidFill>
                <a:latin typeface="Arial"/>
              </a:rPr>
              <a:t>PROOF → ECONOMIC VALUE</a:t>
            </a:r>
          </a:p>
        </p:txBody>
      </p:sp>
      <p:sp>
        <p:nvSpPr>
          <p:cNvPr id="46" name="Metric 1"/>
          <p:cNvSpPr txBox="1"/>
          <p:nvPr/>
        </p:nvSpPr>
        <p:spPr>
          <a:xfrm>
            <a:off x="3968496" y="5352249"/>
            <a:ext cx="1627632" cy="323165"/>
          </a:xfrm>
          <a:prstGeom prst="rect">
            <a:avLst/>
          </a:prstGeom>
          <a:noFill/>
        </p:spPr>
        <p:txBody>
          <a:bodyPr wrap="square" lIns="0" tIns="0" rIns="0" bIns="0" anchor="ctr">
            <a:spAutoFit/>
          </a:bodyPr>
          <a:lstStyle/>
          <a:p>
            <a:pPr algn="l"/>
            <a:r>
              <a:rPr lang="en-US" sz="2100" b="1">
                <a:solidFill>
                  <a:srgbClr val="FF4B00"/>
                </a:solidFill>
                <a:latin typeface="Arial"/>
              </a:rPr>
              <a:t>90→4.2ms</a:t>
            </a:r>
          </a:p>
        </p:txBody>
      </p:sp>
      <p:sp>
        <p:nvSpPr>
          <p:cNvPr id="47" name="Metric Label 1"/>
          <p:cNvSpPr txBox="1"/>
          <p:nvPr/>
        </p:nvSpPr>
        <p:spPr>
          <a:xfrm>
            <a:off x="3968496" y="5715000"/>
            <a:ext cx="1627632" cy="164592"/>
          </a:xfrm>
          <a:prstGeom prst="rect">
            <a:avLst/>
          </a:prstGeom>
          <a:noFill/>
        </p:spPr>
        <p:txBody>
          <a:bodyPr wrap="square" lIns="0" tIns="0" rIns="0" bIns="0" anchor="t">
            <a:spAutoFit/>
          </a:bodyPr>
          <a:lstStyle/>
          <a:p>
            <a:pPr algn="l"/>
            <a:r>
              <a:rPr lang="en-US" sz="1050" b="1">
                <a:solidFill>
                  <a:srgbClr val="55504A"/>
                </a:solidFill>
                <a:latin typeface="Arial"/>
              </a:rPr>
              <a:t>LATENCY</a:t>
            </a:r>
          </a:p>
        </p:txBody>
      </p:sp>
      <p:sp>
        <p:nvSpPr>
          <p:cNvPr id="48" name="Metric 2"/>
          <p:cNvSpPr txBox="1"/>
          <p:nvPr/>
        </p:nvSpPr>
        <p:spPr>
          <a:xfrm>
            <a:off x="5870448" y="5330952"/>
            <a:ext cx="1673352" cy="365760"/>
          </a:xfrm>
          <a:prstGeom prst="rect">
            <a:avLst/>
          </a:prstGeom>
          <a:noFill/>
        </p:spPr>
        <p:txBody>
          <a:bodyPr wrap="square" lIns="0" tIns="0" rIns="0" bIns="0" anchor="ctr">
            <a:spAutoFit/>
          </a:bodyPr>
          <a:lstStyle/>
          <a:p>
            <a:pPr algn="l"/>
            <a:r>
              <a:rPr sz="2100" b="1">
                <a:solidFill>
                  <a:srgbClr val="FF4B00"/>
                </a:solidFill>
                <a:latin typeface="Arial"/>
              </a:rPr>
              <a:t>15→1.8%</a:t>
            </a:r>
          </a:p>
        </p:txBody>
      </p:sp>
      <p:sp>
        <p:nvSpPr>
          <p:cNvPr id="49" name="Metric Label 2"/>
          <p:cNvSpPr txBox="1"/>
          <p:nvPr/>
        </p:nvSpPr>
        <p:spPr>
          <a:xfrm>
            <a:off x="5870448" y="5715000"/>
            <a:ext cx="1673352" cy="164592"/>
          </a:xfrm>
          <a:prstGeom prst="rect">
            <a:avLst/>
          </a:prstGeom>
          <a:noFill/>
        </p:spPr>
        <p:txBody>
          <a:bodyPr wrap="square" lIns="0" tIns="0" rIns="0" bIns="0" anchor="t">
            <a:spAutoFit/>
          </a:bodyPr>
          <a:lstStyle/>
          <a:p>
            <a:pPr algn="l"/>
            <a:r>
              <a:rPr sz="1050" b="1">
                <a:solidFill>
                  <a:srgbClr val="55504A"/>
                </a:solidFill>
                <a:latin typeface="Arial"/>
              </a:rPr>
              <a:t>FALSE POSITIVES</a:t>
            </a:r>
          </a:p>
        </p:txBody>
      </p:sp>
      <p:sp>
        <p:nvSpPr>
          <p:cNvPr id="50" name="Metric 3"/>
          <p:cNvSpPr txBox="1"/>
          <p:nvPr/>
        </p:nvSpPr>
        <p:spPr>
          <a:xfrm>
            <a:off x="7808975" y="5352249"/>
            <a:ext cx="1709928" cy="323165"/>
          </a:xfrm>
          <a:prstGeom prst="rect">
            <a:avLst/>
          </a:prstGeom>
          <a:noFill/>
        </p:spPr>
        <p:txBody>
          <a:bodyPr wrap="square" lIns="0" tIns="0" rIns="0" bIns="0" anchor="ctr">
            <a:spAutoFit/>
          </a:bodyPr>
          <a:lstStyle/>
          <a:p>
            <a:pPr algn="l"/>
            <a:r>
              <a:rPr lang="en-US" sz="2100" b="1">
                <a:solidFill>
                  <a:srgbClr val="FF4B00"/>
                </a:solidFill>
                <a:latin typeface="Arial"/>
              </a:rPr>
              <a:t>~$400K/mo</a:t>
            </a:r>
          </a:p>
        </p:txBody>
      </p:sp>
      <p:sp>
        <p:nvSpPr>
          <p:cNvPr id="51" name="Metric Label 3"/>
          <p:cNvSpPr txBox="1"/>
          <p:nvPr/>
        </p:nvSpPr>
        <p:spPr>
          <a:xfrm>
            <a:off x="7808975" y="5715000"/>
            <a:ext cx="1709928" cy="164592"/>
          </a:xfrm>
          <a:prstGeom prst="rect">
            <a:avLst/>
          </a:prstGeom>
          <a:noFill/>
        </p:spPr>
        <p:txBody>
          <a:bodyPr wrap="square" lIns="0" tIns="0" rIns="0" bIns="0" anchor="t">
            <a:spAutoFit/>
          </a:bodyPr>
          <a:lstStyle/>
          <a:p>
            <a:pPr algn="l"/>
            <a:r>
              <a:rPr lang="en-US" sz="1050" b="1">
                <a:solidFill>
                  <a:srgbClr val="55504A"/>
                </a:solidFill>
                <a:latin typeface="Arial"/>
              </a:rPr>
              <a:t>OPERATING SAVINGS</a:t>
            </a:r>
          </a:p>
        </p:txBody>
      </p:sp>
      <p:sp>
        <p:nvSpPr>
          <p:cNvPr id="52" name="Metric 4"/>
          <p:cNvSpPr txBox="1"/>
          <p:nvPr/>
        </p:nvSpPr>
        <p:spPr>
          <a:xfrm>
            <a:off x="9756648" y="5352249"/>
            <a:ext cx="1554480" cy="323165"/>
          </a:xfrm>
          <a:prstGeom prst="rect">
            <a:avLst/>
          </a:prstGeom>
          <a:noFill/>
        </p:spPr>
        <p:txBody>
          <a:bodyPr wrap="square" lIns="0" tIns="0" rIns="0" bIns="0" anchor="ctr">
            <a:spAutoFit/>
          </a:bodyPr>
          <a:lstStyle/>
          <a:p>
            <a:pPr algn="l"/>
            <a:r>
              <a:rPr lang="en-US" sz="2100" b="1">
                <a:solidFill>
                  <a:srgbClr val="FF4B00"/>
                </a:solidFill>
                <a:latin typeface="Arial"/>
              </a:rPr>
              <a:t>~$85M</a:t>
            </a:r>
          </a:p>
        </p:txBody>
      </p:sp>
      <p:sp>
        <p:nvSpPr>
          <p:cNvPr id="53" name="Metric Label 4"/>
          <p:cNvSpPr txBox="1"/>
          <p:nvPr/>
        </p:nvSpPr>
        <p:spPr>
          <a:xfrm>
            <a:off x="9756648" y="5715000"/>
            <a:ext cx="1554480" cy="164592"/>
          </a:xfrm>
          <a:prstGeom prst="rect">
            <a:avLst/>
          </a:prstGeom>
          <a:noFill/>
        </p:spPr>
        <p:txBody>
          <a:bodyPr wrap="square" lIns="0" tIns="0" rIns="0" bIns="0" anchor="t">
            <a:spAutoFit/>
          </a:bodyPr>
          <a:lstStyle/>
          <a:p>
            <a:pPr algn="l"/>
            <a:r>
              <a:rPr lang="en-US" sz="1050" b="1">
                <a:solidFill>
                  <a:srgbClr val="55504A"/>
                </a:solidFill>
                <a:latin typeface="Arial"/>
              </a:rPr>
              <a:t>CAPITAL CAPACITY</a:t>
            </a:r>
          </a:p>
        </p:txBody>
      </p:sp>
      <p:sp>
        <p:nvSpPr>
          <p:cNvPr id="54" name="Scale Note"/>
          <p:cNvSpPr txBox="1"/>
          <p:nvPr/>
        </p:nvSpPr>
        <p:spPr>
          <a:xfrm>
            <a:off x="3968496" y="5925312"/>
            <a:ext cx="7388352" cy="137160"/>
          </a:xfrm>
          <a:prstGeom prst="rect">
            <a:avLst/>
          </a:prstGeom>
          <a:noFill/>
        </p:spPr>
        <p:txBody>
          <a:bodyPr wrap="square" lIns="0" tIns="0" rIns="0" bIns="0" anchor="t">
            <a:spAutoFit/>
          </a:bodyPr>
          <a:lstStyle/>
          <a:p>
            <a:pPr algn="l"/>
            <a:r>
              <a:rPr sz="850" b="0">
                <a:solidFill>
                  <a:srgbClr val="8A857E"/>
                </a:solidFill>
                <a:latin typeface="Arial"/>
              </a:rPr>
              <a:t>Scale: ~5.4M events/sec · Capital capacity came from faster, more precise risk visibility.</a:t>
            </a:r>
          </a:p>
        </p:txBody>
      </p:sp>
      <p:sp>
        <p:nvSpPr>
          <p:cNvPr id="55" name="Source Footnote"/>
          <p:cNvSpPr txBox="1"/>
          <p:nvPr/>
        </p:nvSpPr>
        <p:spPr>
          <a:xfrm>
            <a:off x="566928" y="6172200"/>
            <a:ext cx="10469880" cy="123444"/>
          </a:xfrm>
          <a:prstGeom prst="rect">
            <a:avLst/>
          </a:prstGeom>
          <a:noFill/>
        </p:spPr>
        <p:txBody>
          <a:bodyPr wrap="square" lIns="0" tIns="0" rIns="0" bIns="0" anchor="ctr">
            <a:spAutoFit/>
          </a:bodyPr>
          <a:lstStyle/>
          <a:p>
            <a:pPr algn="l"/>
            <a:r>
              <a:rPr sz="800" b="0">
                <a:solidFill>
                  <a:srgbClr val="8A857E"/>
                </a:solidFill>
                <a:latin typeface="Arial"/>
              </a:rPr>
              <a:t>Source: Candidate-provided D. E. Shaw project metrics and defensible assumptions; validate exact figures before interview.</a:t>
            </a:r>
          </a:p>
        </p:txBody>
      </p:sp>
      <p:sp>
        <p:nvSpPr>
          <p:cNvPr id="56" name="Narrative Footnote"/>
          <p:cNvSpPr txBox="1"/>
          <p:nvPr/>
        </p:nvSpPr>
        <p:spPr>
          <a:xfrm>
            <a:off x="566928" y="6400800"/>
            <a:ext cx="10469880" cy="153619"/>
          </a:xfrm>
          <a:prstGeom prst="rect">
            <a:avLst/>
          </a:prstGeom>
          <a:noFill/>
        </p:spPr>
        <p:txBody>
          <a:bodyPr wrap="square" lIns="0" tIns="0" rIns="0" bIns="0" anchor="ctr">
            <a:spAutoFit/>
          </a:bodyPr>
          <a:lstStyle/>
          <a:p>
            <a:pPr algn="l"/>
            <a:r>
              <a:rPr sz="1000" b="0">
                <a:solidFill>
                  <a:srgbClr val="55504A"/>
                </a:solidFill>
                <a:latin typeface="Arial"/>
              </a:rPr>
              <a:t>D. E. Shaw: internal Financial Services product — workflow → technology → production trust → economic value.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BEDROCK AGENTCORE · ENTERPRISE AGENT PLATFORM POSITIONING</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7</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6. AgentCore: prototype to secure production</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positioning, launch and adoption for Amazon Bedrock AgentCore at AWS</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“Get an agent into production without rebuilding the enterprise security and operational layer yourself.”</a:t>
            </a:r>
          </a:p>
        </p:txBody>
      </p:sp>
      <p:sp>
        <p:nvSpPr>
          <p:cNvPr id="200" name="Icon Stage Flow"/>
          <p:cNvSpPr/>
          <p:nvPr/>
        </p:nvSpPr>
        <p:spPr>
          <a:xfrm>
            <a:off x="502920" y="2135000"/>
            <a:ext cx="228600" cy="228600"/>
          </a:xfrm>
          <a:prstGeom prst="chevron">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3" name="TextBox 22"/>
          <p:cNvSpPr txBox="1">
            <a:spLocks/>
          </p:cNvSpPr>
          <p:nvPr/>
        </p:nvSpPr>
        <p:spPr>
          <a:xfrm>
            <a:off x="502920" y="240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01</a:t>
            </a:r>
          </a:p>
        </p:txBody>
      </p:sp>
      <p:sp>
        <p:nvSpPr>
          <p:cNvPr id="24" name="TextBox 23"/>
          <p:cNvSpPr txBox="1">
            <a:spLocks/>
          </p:cNvSpPr>
          <p:nvPr/>
        </p:nvSpPr>
        <p:spPr>
          <a:xfrm>
            <a:off x="502920" y="2620000"/>
            <a:ext cx="32004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STAGE FLOW</a:t>
            </a:r>
          </a:p>
        </p:txBody>
      </p:sp>
      <p:sp>
        <p:nvSpPr>
          <p:cNvPr id="100" name="Stage Marker 1"/>
          <p:cNvSpPr/>
          <p:nvPr/>
        </p:nvSpPr>
        <p:spPr>
          <a:xfrm>
            <a:off x="50292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1" name="Stage Label 1"/>
          <p:cNvSpPr txBox="1">
            <a:spLocks/>
          </p:cNvSpPr>
          <p:nvPr/>
        </p:nvSpPr>
        <p:spPr>
          <a:xfrm>
            <a:off x="50292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Prototype</a:t>
            </a:r>
          </a:p>
        </p:txBody>
      </p:sp>
      <p:sp>
        <p:nvSpPr>
          <p:cNvPr id="102" name="Flow Arrow 1"/>
          <p:cNvSpPr txBox="1">
            <a:spLocks/>
          </p:cNvSpPr>
          <p:nvPr/>
        </p:nvSpPr>
        <p:spPr>
          <a:xfrm>
            <a:off x="245292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3" name="Stage Marker 2"/>
          <p:cNvSpPr/>
          <p:nvPr/>
        </p:nvSpPr>
        <p:spPr>
          <a:xfrm>
            <a:off x="280434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4" name="Stage Label 2"/>
          <p:cNvSpPr txBox="1">
            <a:spLocks/>
          </p:cNvSpPr>
          <p:nvPr/>
        </p:nvSpPr>
        <p:spPr>
          <a:xfrm>
            <a:off x="280434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Connect</a:t>
            </a:r>
          </a:p>
        </p:txBody>
      </p:sp>
      <p:sp>
        <p:nvSpPr>
          <p:cNvPr id="105" name="Flow Arrow 2"/>
          <p:cNvSpPr txBox="1">
            <a:spLocks/>
          </p:cNvSpPr>
          <p:nvPr/>
        </p:nvSpPr>
        <p:spPr>
          <a:xfrm>
            <a:off x="475434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6" name="Stage Marker 3"/>
          <p:cNvSpPr/>
          <p:nvPr/>
        </p:nvSpPr>
        <p:spPr>
          <a:xfrm>
            <a:off x="510576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7" name="Stage Label 3"/>
          <p:cNvSpPr txBox="1">
            <a:spLocks/>
          </p:cNvSpPr>
          <p:nvPr/>
        </p:nvSpPr>
        <p:spPr>
          <a:xfrm>
            <a:off x="510576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Secure</a:t>
            </a:r>
          </a:p>
        </p:txBody>
      </p:sp>
      <p:sp>
        <p:nvSpPr>
          <p:cNvPr id="108" name="Flow Arrow 3"/>
          <p:cNvSpPr txBox="1">
            <a:spLocks/>
          </p:cNvSpPr>
          <p:nvPr/>
        </p:nvSpPr>
        <p:spPr>
          <a:xfrm>
            <a:off x="705576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9" name="Stage Marker 4"/>
          <p:cNvSpPr/>
          <p:nvPr/>
        </p:nvSpPr>
        <p:spPr>
          <a:xfrm>
            <a:off x="740718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Stage Label 4"/>
          <p:cNvSpPr txBox="1">
            <a:spLocks/>
          </p:cNvSpPr>
          <p:nvPr/>
        </p:nvSpPr>
        <p:spPr>
          <a:xfrm>
            <a:off x="740718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Govern</a:t>
            </a:r>
          </a:p>
        </p:txBody>
      </p:sp>
      <p:sp>
        <p:nvSpPr>
          <p:cNvPr id="111" name="Flow Arrow 4"/>
          <p:cNvSpPr txBox="1">
            <a:spLocks/>
          </p:cNvSpPr>
          <p:nvPr/>
        </p:nvSpPr>
        <p:spPr>
          <a:xfrm>
            <a:off x="935718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12" name="Stage Marker 5"/>
          <p:cNvSpPr/>
          <p:nvPr/>
        </p:nvSpPr>
        <p:spPr>
          <a:xfrm>
            <a:off x="970860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3" name="Stage Label 5"/>
          <p:cNvSpPr txBox="1">
            <a:spLocks/>
          </p:cNvSpPr>
          <p:nvPr/>
        </p:nvSpPr>
        <p:spPr>
          <a:xfrm>
            <a:off x="970860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Production</a:t>
            </a:r>
          </a:p>
        </p:txBody>
      </p:sp>
      <p:cxnSp>
        <p:nvCxnSpPr>
          <p:cNvPr id="21" name="Connector 20"/>
          <p:cNvCxnSpPr/>
          <p:nvPr/>
        </p:nvCxnSpPr>
        <p:spPr>
          <a:xfrm>
            <a:off x="502920" y="345000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67328" y="3560000"/>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18120" y="3560000"/>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1" name="Icon Capabilities"/>
          <p:cNvSpPr/>
          <p:nvPr/>
        </p:nvSpPr>
        <p:spPr>
          <a:xfrm>
            <a:off x="502920" y="3500000"/>
            <a:ext cx="228600" cy="228600"/>
          </a:xfrm>
          <a:prstGeom prst="gear6">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1" name="TextBox 30"/>
          <p:cNvSpPr txBox="1">
            <a:spLocks/>
          </p:cNvSpPr>
          <p:nvPr/>
        </p:nvSpPr>
        <p:spPr>
          <a:xfrm>
            <a:off x="502920"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02</a:t>
            </a:r>
          </a:p>
        </p:txBody>
      </p:sp>
      <p:sp>
        <p:nvSpPr>
          <p:cNvPr id="32" name="TextBox 31"/>
          <p:cNvSpPr txBox="1">
            <a:spLocks/>
          </p:cNvSpPr>
          <p:nvPr/>
        </p:nvSpPr>
        <p:spPr>
          <a:xfrm>
            <a:off x="502920" y="4010000"/>
            <a:ext cx="29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CAPABILITIES</a:t>
            </a:r>
          </a:p>
        </p:txBody>
      </p:sp>
      <p:sp>
        <p:nvSpPr>
          <p:cNvPr id="114" name="Cap Marker 1"/>
          <p:cNvSpPr/>
          <p:nvPr/>
        </p:nvSpPr>
        <p:spPr>
          <a:xfrm>
            <a:off x="502920" y="43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5" name="Cap Label 1"/>
          <p:cNvSpPr txBox="1">
            <a:spLocks/>
          </p:cNvSpPr>
          <p:nvPr/>
        </p:nvSpPr>
        <p:spPr>
          <a:xfrm>
            <a:off x="658368" y="43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Enterprise connectivity</a:t>
            </a:r>
          </a:p>
        </p:txBody>
      </p:sp>
      <p:sp>
        <p:nvSpPr>
          <p:cNvPr id="116" name="Cap Marker 2"/>
          <p:cNvSpPr/>
          <p:nvPr/>
        </p:nvSpPr>
        <p:spPr>
          <a:xfrm>
            <a:off x="502920" y="46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7" name="Cap Label 2"/>
          <p:cNvSpPr txBox="1">
            <a:spLocks/>
          </p:cNvSpPr>
          <p:nvPr/>
        </p:nvSpPr>
        <p:spPr>
          <a:xfrm>
            <a:off x="658368" y="46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Identity &amp; access controls</a:t>
            </a:r>
          </a:p>
        </p:txBody>
      </p:sp>
      <p:sp>
        <p:nvSpPr>
          <p:cNvPr id="118" name="Cap Marker 3"/>
          <p:cNvSpPr/>
          <p:nvPr/>
        </p:nvSpPr>
        <p:spPr>
          <a:xfrm>
            <a:off x="502920" y="4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9" name="Cap Label 3"/>
          <p:cNvSpPr txBox="1">
            <a:spLocks/>
          </p:cNvSpPr>
          <p:nvPr/>
        </p:nvSpPr>
        <p:spPr>
          <a:xfrm>
            <a:off x="658368" y="49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Execution traces</a:t>
            </a:r>
          </a:p>
        </p:txBody>
      </p:sp>
      <p:sp>
        <p:nvSpPr>
          <p:cNvPr id="120" name="Cap Marker 4"/>
          <p:cNvSpPr/>
          <p:nvPr/>
        </p:nvSpPr>
        <p:spPr>
          <a:xfrm>
            <a:off x="502920" y="52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1" name="Cap Label 4"/>
          <p:cNvSpPr txBox="1">
            <a:spLocks/>
          </p:cNvSpPr>
          <p:nvPr/>
        </p:nvSpPr>
        <p:spPr>
          <a:xfrm>
            <a:off x="658368" y="52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Policy enforcement</a:t>
            </a:r>
          </a:p>
        </p:txBody>
      </p:sp>
      <p:sp>
        <p:nvSpPr>
          <p:cNvPr id="122" name="Cap Marker 5"/>
          <p:cNvSpPr/>
          <p:nvPr/>
        </p:nvSpPr>
        <p:spPr>
          <a:xfrm>
            <a:off x="502920" y="55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3" name="Cap Label 5"/>
          <p:cNvSpPr txBox="1">
            <a:spLocks/>
          </p:cNvSpPr>
          <p:nvPr/>
        </p:nvSpPr>
        <p:spPr>
          <a:xfrm>
            <a:off x="658368" y="55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Managed runtime</a:t>
            </a:r>
          </a:p>
        </p:txBody>
      </p:sp>
      <p:sp>
        <p:nvSpPr>
          <p:cNvPr id="202" name="Icon Paired"/>
          <p:cNvSpPr/>
          <p:nvPr/>
        </p:nvSpPr>
        <p:spPr>
          <a:xfrm>
            <a:off x="4114800" y="3500000"/>
            <a:ext cx="228600" cy="228600"/>
          </a:xfrm>
          <a:prstGeom prst="mathPlus">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3" name="TextBox 32"/>
          <p:cNvSpPr txBox="1">
            <a:spLocks/>
          </p:cNvSpPr>
          <p:nvPr/>
        </p:nvSpPr>
        <p:spPr>
          <a:xfrm>
            <a:off x="4114800"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03</a:t>
            </a:r>
          </a:p>
        </p:txBody>
      </p:sp>
      <p:sp>
        <p:nvSpPr>
          <p:cNvPr id="34" name="TextBox 33"/>
          <p:cNvSpPr txBox="1">
            <a:spLocks/>
          </p:cNvSpPr>
          <p:nvPr/>
        </p:nvSpPr>
        <p:spPr>
          <a:xfrm>
            <a:off x="4114800" y="4010000"/>
            <a:ext cx="31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PAIRED WITH BEDROCK</a:t>
            </a:r>
          </a:p>
        </p:txBody>
      </p:sp>
      <p:sp>
        <p:nvSpPr>
          <p:cNvPr id="124" name="Pair Marker 1"/>
          <p:cNvSpPr/>
          <p:nvPr/>
        </p:nvSpPr>
        <p:spPr>
          <a:xfrm>
            <a:off x="4114800" y="43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5" name="Pair Label 1"/>
          <p:cNvSpPr txBox="1">
            <a:spLocks/>
          </p:cNvSpPr>
          <p:nvPr/>
        </p:nvSpPr>
        <p:spPr>
          <a:xfrm>
            <a:off x="4270248" y="43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Retrieval</a:t>
            </a:r>
          </a:p>
        </p:txBody>
      </p:sp>
      <p:sp>
        <p:nvSpPr>
          <p:cNvPr id="126" name="Pair Marker 2"/>
          <p:cNvSpPr/>
          <p:nvPr/>
        </p:nvSpPr>
        <p:spPr>
          <a:xfrm>
            <a:off x="4114800" y="46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7" name="Pair Label 2"/>
          <p:cNvSpPr txBox="1">
            <a:spLocks/>
          </p:cNvSpPr>
          <p:nvPr/>
        </p:nvSpPr>
        <p:spPr>
          <a:xfrm>
            <a:off x="4270248" y="46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Guardrails</a:t>
            </a:r>
          </a:p>
        </p:txBody>
      </p:sp>
      <p:sp>
        <p:nvSpPr>
          <p:cNvPr id="128" name="Pair Marker 3"/>
          <p:cNvSpPr/>
          <p:nvPr/>
        </p:nvSpPr>
        <p:spPr>
          <a:xfrm>
            <a:off x="4114800" y="4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9" name="Pair Label 3"/>
          <p:cNvSpPr txBox="1">
            <a:spLocks/>
          </p:cNvSpPr>
          <p:nvPr/>
        </p:nvSpPr>
        <p:spPr>
          <a:xfrm>
            <a:off x="4270248" y="49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Evaluations</a:t>
            </a:r>
          </a:p>
        </p:txBody>
      </p:sp>
      <p:sp>
        <p:nvSpPr>
          <p:cNvPr id="130" name="Pair Marker 4"/>
          <p:cNvSpPr/>
          <p:nvPr/>
        </p:nvSpPr>
        <p:spPr>
          <a:xfrm>
            <a:off x="4114800" y="52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31" name="Pair Label 4"/>
          <p:cNvSpPr txBox="1">
            <a:spLocks/>
          </p:cNvSpPr>
          <p:nvPr/>
        </p:nvSpPr>
        <p:spPr>
          <a:xfrm>
            <a:off x="4270248" y="52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Cost-quality routing</a:t>
            </a:r>
          </a:p>
        </p:txBody>
      </p:sp>
      <p:sp>
        <p:nvSpPr>
          <p:cNvPr id="35" name="TextBox 34"/>
          <p:cNvSpPr txBox="1">
            <a:spLocks/>
          </p:cNvSpPr>
          <p:nvPr/>
        </p:nvSpPr>
        <p:spPr>
          <a:xfrm>
            <a:off x="4114800" y="5620000"/>
            <a:ext cx="325500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Ship agents without rebuilding the enterprise security and operational layer yourself.</a:t>
            </a:r>
          </a:p>
        </p:txBody>
      </p:sp>
      <p:sp>
        <p:nvSpPr>
          <p:cNvPr id="203" name="Icon Evidence"/>
          <p:cNvSpPr/>
          <p:nvPr/>
        </p:nvSpPr>
        <p:spPr>
          <a:xfrm>
            <a:off x="8156448" y="3500000"/>
            <a:ext cx="228600" cy="228600"/>
          </a:xfrm>
          <a:prstGeom prst="upArrow">
            <a:avLst/>
          </a:prstGeom>
          <a:solidFill>
            <a:srgbClr val="FFC4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6" name="TextBox 35"/>
          <p:cNvSpPr txBox="1">
            <a:spLocks/>
          </p:cNvSpPr>
          <p:nvPr/>
        </p:nvSpPr>
        <p:spPr>
          <a:xfrm>
            <a:off x="8156448"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04</a:t>
            </a:r>
          </a:p>
        </p:txBody>
      </p:sp>
      <p:sp>
        <p:nvSpPr>
          <p:cNvPr id="37" name="TextBox 36"/>
          <p:cNvSpPr txBox="1">
            <a:spLocks/>
          </p:cNvSpPr>
          <p:nvPr/>
        </p:nvSpPr>
        <p:spPr>
          <a:xfrm>
            <a:off x="8156448" y="4010000"/>
            <a:ext cx="33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EVIDENCE</a:t>
            </a:r>
          </a:p>
        </p:txBody>
      </p:sp>
      <p:sp>
        <p:nvSpPr>
          <p:cNvPr id="38" name="TextBox 37"/>
          <p:cNvSpPr txBox="1">
            <a:spLocks/>
          </p:cNvSpPr>
          <p:nvPr/>
        </p:nvSpPr>
        <p:spPr>
          <a:xfrm>
            <a:off x="8156448" y="4270000"/>
            <a:ext cx="3502152" cy="49244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srgbClr val="FF4B00"/>
                </a:solidFill>
                <a:effectLst/>
                <a:uLnTx/>
                <a:uFillTx/>
                <a:latin typeface="Arial"/>
                <a:ea typeface="+mn-ea"/>
                <a:cs typeface="+mn-cs"/>
              </a:rPr>
              <a:t>2M+</a:t>
            </a:r>
          </a:p>
        </p:txBody>
      </p:sp>
      <p:sp>
        <p:nvSpPr>
          <p:cNvPr id="39" name="TextBox 38"/>
          <p:cNvSpPr txBox="1">
            <a:spLocks/>
          </p:cNvSpPr>
          <p:nvPr/>
        </p:nvSpPr>
        <p:spPr>
          <a:xfrm>
            <a:off x="8156448" y="4830000"/>
            <a:ext cx="350215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SDK downloads in 5 months of preview</a:t>
            </a:r>
          </a:p>
        </p:txBody>
      </p:sp>
      <p:cxnSp>
        <p:nvCxnSpPr>
          <p:cNvPr id="40" name="Connector 39"/>
          <p:cNvCxnSpPr/>
          <p:nvPr/>
        </p:nvCxnSpPr>
        <p:spPr>
          <a:xfrm>
            <a:off x="8156448" y="5300000"/>
            <a:ext cx="350215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8156448" y="5420000"/>
            <a:ext cx="350215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Customer research and product telemetry sharpened positioning, launch and adoption.</a:t>
            </a:r>
          </a:p>
        </p:txBody>
      </p:sp>
      <p:sp>
        <p:nvSpPr>
          <p:cNvPr id="59" name="TextBox 5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Amazon Bedrock AgentCore is an AWS managed platform for enterprise agents; SDK figure covers the preview period.</a:t>
            </a:r>
          </a:p>
        </p:txBody>
      </p:sp>
      <p:pic>
        <p:nvPicPr>
          <p:cNvPr id="83" name="Official Mistral footer symbol" descr="Mistral symbol mark in the slide footer"/>
          <p:cNvPicPr>
            <a:picLocks noChangeAspect="1"/>
          </p:cNvPicPr>
          <p:nvPr/>
        </p:nvPicPr>
        <p:blipFill>
          <a:blip r:embed="rId3"/>
          <a:stretch>
            <a:fillRect/>
          </a:stretch>
        </p:blipFill>
        <p:spPr>
          <a:xfrm>
            <a:off x="11594592" y="6400800"/>
            <a:ext cx="228600" cy="163413"/>
          </a:xfrm>
          <a:prstGeom prst="rect">
            <a:avLst/>
          </a:prstGeom>
        </p:spPr>
      </p:pic>
      <p:pic>
        <p:nvPicPr>
          <p:cNvPr id="84" name="Official Mistral header symbol" descr="Mistral symbol mark in the slide header"/>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https://aws.amazon.com/blogs/aws/introducing-amazon-bedrock-agentcore-securely-deploy-and-operate-ai-agents-at-any-scale/</a:t>
            </a:r>
          </a:p>
        </p:txBody>
      </p:sp>
    </p:spTree>
    <p:extLst>
      <p:ext uri="{BB962C8B-B14F-4D97-AF65-F5344CB8AC3E}">
        <p14:creationId xmlns:p14="http://schemas.microsoft.com/office/powerpoint/2010/main" val="1143945509"/>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283</TotalTime>
  <Words>4066</Words>
  <Application>Microsoft Office PowerPoint</Application>
  <PresentationFormat>Widescreen</PresentationFormat>
  <Paragraphs>409</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Mistral AI - Author Profile &amp; Team Background</dc:title>
  <dc:subject>Author profile background and team bios</dc:subject>
  <dc:creator>Shiv, Prospective PMM, Mistral Studio</dc:creator>
  <cp:keywords>mistral-ai, author-profile, team, background</cp:keywords>
  <cp:lastModifiedBy>Shivam Singh</cp:lastModifiedBy>
  <cp:revision>122</cp:revision>
  <dcterms:created xsi:type="dcterms:W3CDTF">2026-08-16T20:55:47Z</dcterms:created>
  <dcterms:modified xsi:type="dcterms:W3CDTF">2026-08-18T17:05:20Z</dcterms:modified>
</cp:coreProperties>
</file>