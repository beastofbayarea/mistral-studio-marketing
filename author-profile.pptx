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
  </p:notesMasterIdLst>
  <p:sldIdLst>
    <p:sldId id="257" r:id="rId2"/>
    <p:sldId id="258" r:id="rId3"/>
    <p:sldId id="259" r:id="rId4"/>
    <p:sldId id="260" r:id="rId5"/>
    <p:sldId id="261"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45884" autoAdjust="0"/>
  </p:normalViewPr>
  <p:slideViewPr>
    <p:cSldViewPr snapToGrid="0">
      <p:cViewPr varScale="1">
        <p:scale>
          <a:sx n="50" d="100"/>
          <a:sy n="50" d="100"/>
        </p:scale>
        <p:origin x="291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E07796B-6E7C-4F10-9803-11935AD4BC11}"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7E2B38-EC44-4B44-8575-CA30B2FCCCF1}" type="slidenum">
              <a:rPr lang="en-US" smtClean="0"/>
              <a:t>‹#›</a:t>
            </a:fld>
            <a:endParaRPr lang="en-US"/>
          </a:p>
        </p:txBody>
      </p:sp>
    </p:spTree>
    <p:extLst>
      <p:ext uri="{BB962C8B-B14F-4D97-AF65-F5344CB8AC3E}">
        <p14:creationId xmlns:p14="http://schemas.microsoft.com/office/powerpoint/2010/main" val="41120166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Tell me about yourself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My background sits at the intersection of AI, product and go-to-market. I've spent ten years making complex, regulated technology (AI and cloud capabilities) buyable(into products customers can understand, adopt and buy).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Mistral Studio is exactly that problem — the models are good; the job is making enterprise builders trust them enough to ship to production. Studio's opportunity is to turn Mistral from a model developers experiment with into the AI platform enterprises build and operate on.</a:t>
            </a:r>
            <a:endParaRPr lang="en-US" b="1" dirty="0"/>
          </a:p>
          <a:p>
            <a:endParaRPr lang="en-US" b="1" dirty="0"/>
          </a:p>
          <a:p>
            <a:r>
              <a:rPr lang="en-US" b="1" dirty="0"/>
              <a:t>Why Mistral?</a:t>
            </a:r>
          </a:p>
          <a:p>
            <a:r>
              <a:rPr lang="en-US" dirty="0"/>
              <a:t>AWS has given me tremendous exposure to scaling enterprise AI, but Mistral offers something different: the opportunity to shape the category narrative, at a company where product marketing can materially influence how the market understands the product.</a:t>
            </a:r>
            <a:endParaRPr lang="en-US" b="1"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One:</a:t>
            </a:r>
            <a:r>
              <a:rPr lang="en-US" dirty="0"/>
              <a:t> I've spent four years watching regulated buyers want frontier AI and be unable to legally deploy it. Mistral is the only credible answer for that buyer in Europe, and I've sold to that buyer at Microsoft and AWS.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Two:</a:t>
            </a:r>
            <a:r>
              <a:rPr lang="en-US" dirty="0"/>
              <a:t> the open-weight bet is about to be decided — the next 18 months determine whether enterprises standardize on rented APIs or owned models. </a:t>
            </a:r>
            <a:r>
              <a:rPr lang="en-US" b="1" dirty="0"/>
              <a:t>I'd rather be the person arguing the second case than the tenth PMM at a company arguing the first.</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Mistral’s differentiation is bigger than model benchmarks. Mistral can offer enterprises much more control over how they build and deploy AI — particularly around sovereignty, deployment choice and open models. The PMM opportunity is to turn those technical advantages into a much simpler customer story: </a:t>
            </a:r>
            <a:r>
              <a:rPr lang="en-US" b="1" dirty="0"/>
              <a:t>why should an enterprise build and run production AI on Mistral rather than just consume another model API? </a:t>
            </a:r>
            <a:r>
              <a:rPr lang="en-US" dirty="0"/>
              <a:t>The interesting challenge with Studio is connecting the entire journey from developer experimentation to enterprise production. </a:t>
            </a:r>
          </a:p>
          <a:p>
            <a:endParaRPr lang="en-US" dirty="0"/>
          </a:p>
          <a:p>
            <a:r>
              <a:rPr lang="en-US" b="1" dirty="0"/>
              <a:t>Questions</a:t>
            </a:r>
          </a:p>
          <a:p>
            <a:r>
              <a:rPr lang="en-US" dirty="0"/>
              <a:t>How is ownership divided between Studio product marketing, Developer Relations, solutions PMM and the GTM organization?</a:t>
            </a:r>
          </a:p>
          <a:p>
            <a:r>
              <a:rPr lang="en-US" dirty="0"/>
              <a:t>What is the biggest outcome Mistral wants this person to change — Studio's positioning, developer adoption, enterprise pipeline, or competitive win rate?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Developer/platform PMM</a:t>
            </a:r>
            <a:r>
              <a:rPr lang="en-US" dirty="0"/>
              <a:t> — I ran positioning for a managed agent platform at AWS connecting foundation models to private enterprise data (access controls, audit traces, approvals, cost-quality routing). Where I use customer research and product telemetry to sharpen the positioning, build the launch and adoption strategy, and helped drive adoption while improving brand favorability.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How do you market a technical product without hype?</a:t>
            </a:r>
            <a:br>
              <a:rPr lang="en-US" dirty="0"/>
            </a:br>
            <a:r>
              <a:rPr lang="en-US" dirty="0"/>
              <a:t>At AWS I repositioned an AI shopping experience away from open-ended conversation toward decision support — that came from behavioral telemetry, not a brand workshop. I replace claims with </a:t>
            </a:r>
            <a:r>
              <a:rPr lang="en-US" b="1" dirty="0"/>
              <a:t>evidence artifacts</a:t>
            </a:r>
            <a:r>
              <a:rPr lang="en-US" dirty="0"/>
              <a:t>.</a:t>
            </a: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rtl="0"/>
            <a:r>
              <a:rPr lang="en-US" b="1" dirty="0"/>
              <a:t>How do you measure PMM success?</a:t>
            </a:r>
            <a:br>
              <a:rPr lang="en-US" dirty="0"/>
            </a:br>
            <a:r>
              <a:rPr lang="en-US" dirty="0"/>
              <a:t>Not MQLs. Three tiers:</a:t>
            </a:r>
          </a:p>
          <a:p>
            <a:pPr lvl="0" rtl="0"/>
            <a:r>
              <a:rPr lang="en-US" b="1" dirty="0"/>
              <a:t>Leading:</a:t>
            </a:r>
            <a:r>
              <a:rPr lang="en-US" dirty="0"/>
              <a:t> message resonance in win/loss, docs-to-first-call conversion, sales objection frequency.</a:t>
            </a:r>
          </a:p>
          <a:p>
            <a:pPr lvl="0" rtl="0"/>
            <a:r>
              <a:rPr lang="en-US" b="1" dirty="0"/>
              <a:t>Activation:</a:t>
            </a:r>
            <a:r>
              <a:rPr lang="en-US" dirty="0"/>
              <a:t> signup → </a:t>
            </a:r>
            <a:r>
              <a:rPr lang="en-US" b="1" dirty="0"/>
              <a:t>first production workload</a:t>
            </a:r>
            <a:r>
              <a:rPr lang="en-US" dirty="0"/>
              <a:t> (the number that actually matters for a dev platform).</a:t>
            </a:r>
          </a:p>
          <a:p>
            <a:pPr lvl="0" rtl="0"/>
            <a:r>
              <a:rPr lang="en-US" b="1" dirty="0"/>
              <a:t>Commercial:</a:t>
            </a:r>
            <a:r>
              <a:rPr lang="en-US" dirty="0"/>
              <a:t> win rate vs named competitors, ACV mix, gross margin.</a:t>
            </a:r>
          </a:p>
          <a:p>
            <a:pPr lvl="0" rtl="0"/>
            <a:br>
              <a:rPr lang="en-US" dirty="0"/>
            </a:br>
            <a:r>
              <a:rPr lang="en-US" dirty="0"/>
              <a:t>At AWS I tied launch funding to milestone gates on adoption, trust, and unit economics — same discipline. </a:t>
            </a:r>
            <a:r>
              <a:rPr lang="en-US" b="1" dirty="0"/>
              <a:t>If I can't name the gate, I don't ship the launch.</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How do you work with engineering/DevRel?</a:t>
            </a:r>
            <a:br>
              <a:rPr lang="en-US" dirty="0"/>
            </a:br>
            <a:r>
              <a:rPr lang="en-US" dirty="0"/>
              <a:t>I bring the </a:t>
            </a:r>
            <a:r>
              <a:rPr lang="en-US" b="1" dirty="0"/>
              <a:t>launch-readiness bar</a:t>
            </a:r>
            <a:r>
              <a:rPr lang="en-US" dirty="0"/>
              <a:t>, they bring capability. I define gates — eval thresholds, guardrails, docs quality — so "launch" is a decision, not a vibe. That's how I got hallucinations to 2.8% before shipping.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I'd carry over: </a:t>
            </a:r>
            <a:r>
              <a:rPr lang="en-US" b="1" dirty="0"/>
              <a:t>the launch-gate discipline.</a:t>
            </a:r>
            <a:r>
              <a:rPr lang="en-US" dirty="0"/>
              <a:t> Startups under-invest in it and it's the cheapest quality mechanism there 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Hardest launch you've run.</a:t>
            </a:r>
            <a:br>
              <a:rPr lang="en-US" dirty="0"/>
            </a:br>
            <a:r>
              <a:rPr lang="en-US" dirty="0"/>
              <a:t>Japan localization at AWS. Not translation — tone, tokenization, honorifics, interaction design. I turned it into a </a:t>
            </a:r>
            <a:r>
              <a:rPr lang="en-US" b="1" dirty="0"/>
              <a:t>reusable internationalization template</a:t>
            </a:r>
            <a:r>
              <a:rPr lang="en-US" dirty="0"/>
              <a:t>, which is what Mistral needs going market by market across the EU and beyond.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Customer problem → insight → positioning/GTM decision → measurable result.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that, at Rakuten I worked on an AI platform serving 50,000 merchants, where I increased conversion by Driving adoption and PMF</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Walk me through a piece of messaging you wrote that failed.</a:t>
            </a:r>
            <a:br>
              <a:rPr lang="en-US" dirty="0"/>
            </a:br>
            <a:r>
              <a:rPr lang="en-US" dirty="0"/>
              <a:t>Framework: </a:t>
            </a:r>
            <a:r>
              <a:rPr lang="en-US" b="1" dirty="0"/>
              <a:t>Claim → Evidence gap → Rewrite.</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Rakuten I launched a standalone merchant chatbot positioned on "AI assistant for your store." Adoption stalled — the message promised a companion, the product solved one task.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killed it, re-anchored on </a:t>
            </a:r>
            <a:r>
              <a:rPr lang="en-US" b="1" dirty="0"/>
              <a:t>"list a product in 12 minutes instead of 45,"</a:t>
            </a:r>
            <a:r>
              <a:rPr lang="en-US" dirty="0"/>
              <a:t> and embedded AI into the existing workflow. Hit </a:t>
            </a:r>
            <a:r>
              <a:rPr lang="en-US" b="1" dirty="0"/>
              <a:t>40% adoption in six months, +15% conversion</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Lesson: </a:t>
            </a:r>
            <a:r>
              <a:rPr lang="en-US" b="1" dirty="0"/>
              <a:t>positioning fails when the promise is broader than the </a:t>
            </a:r>
            <a:r>
              <a:rPr lang="en-US" b="1"/>
              <a:t>proof.</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at Microsoft, I worked on enterprise GTM and segmentation along with lifecycle growth.</a:t>
            </a:r>
          </a:p>
          <a:p>
            <a:endParaRPr lang="en-US" dirty="0"/>
          </a:p>
          <a:p>
            <a:r>
              <a:rPr lang="en-US" dirty="0"/>
              <a:t>Customer problem → insight → positioning/GTM decision → measurable result.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Sovereignty is my wedge</a:t>
            </a:r>
            <a:r>
              <a:rPr lang="en-US" dirty="0"/>
              <a:t> — Mistral's differentiator is EU/on-prem control. I've sold that exact story: regulated-cloud deployment patterns across 10 markets, data residency, in-country key management, compliance-as-a-feature.</a:t>
            </a:r>
          </a:p>
          <a:p>
            <a:endParaRPr lang="en-US" dirty="0"/>
          </a:p>
          <a:p>
            <a:r>
              <a:rPr lang="en-US" b="1" dirty="0"/>
              <a:t>How do you enable a sales team you don't manage?</a:t>
            </a:r>
            <a:endParaRPr lang="en-US" dirty="0"/>
          </a:p>
          <a:p>
            <a:r>
              <a:rPr lang="en-US" b="1" dirty="0"/>
              <a:t>Three artifacts, in this order:</a:t>
            </a:r>
            <a:r>
              <a:rPr lang="en-US" dirty="0"/>
              <a:t> (a) the </a:t>
            </a:r>
            <a:r>
              <a:rPr lang="en-US" b="1" dirty="0"/>
              <a:t>objection map</a:t>
            </a:r>
            <a:r>
              <a:rPr lang="en-US" dirty="0"/>
              <a:t> — top 10 real objections from call recordings, each with a one-line answer and a proof link; (b) the </a:t>
            </a:r>
            <a:r>
              <a:rPr lang="en-US" b="1" dirty="0"/>
              <a:t>discovery question set</a:t>
            </a:r>
            <a:r>
              <a:rPr lang="en-US" dirty="0"/>
              <a:t> that qualifies for sovereignty need in the first call; (c) </a:t>
            </a:r>
            <a:r>
              <a:rPr lang="en-US" b="1" dirty="0"/>
              <a:t>one demo narrative</a:t>
            </a:r>
            <a:r>
              <a:rPr lang="en-US" dirty="0"/>
              <a:t>, not five. Then I measure </a:t>
            </a:r>
            <a:r>
              <a:rPr lang="en-US" b="1" dirty="0"/>
              <a:t>objection frequency over time</a:t>
            </a:r>
            <a:r>
              <a:rPr lang="en-US" dirty="0"/>
              <a:t> — if the same blocker keeps surfacing, my enablement failed, not the rep. </a:t>
            </a:r>
          </a:p>
          <a:p>
            <a:endParaRPr lang="en-US" dirty="0"/>
          </a:p>
          <a:p>
            <a:r>
              <a:rPr lang="en-US" dirty="0"/>
              <a:t>At Microsoft this is how compliance-as-a-feature went from a blocker to the reason we </a:t>
            </a:r>
            <a:r>
              <a:rPr lang="en-US" b="1" dirty="0"/>
              <a:t>recovered a $5M account and won a $2M upsell.</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17001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2264765"/>
      </p:ext>
    </p:extLst>
  </p:cSld>
  <p:clrMap bg1="lt1" tx1="dk1" bg2="lt2" tx2="dk2" accent1="accent1" accent2="accent2" accent3="accent3" accent4="accent4" accent5="accent5" accent6="accent6" hlink="hlink" folHlink="folHlink"/>
  <p:sldLayoutIdLst>
    <p:sldLayoutId id="214748366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4B00"/>
                </a:solidFill>
                <a:effectLst/>
                <a:uLnTx/>
                <a:uFillTx/>
                <a:latin typeface="Arial"/>
                <a:ea typeface="+mn-ea"/>
                <a:cs typeface="+mn-cs"/>
              </a:rPr>
              <a:t>SHIV | AUTHOR PROFILE</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1</a:t>
            </a:r>
          </a:p>
        </p:txBody>
      </p:sp>
      <p:sp>
        <p:nvSpPr>
          <p:cNvPr id="16" name="Rectangle 15"/>
          <p:cNvSpPr/>
          <p:nvPr/>
        </p:nvSpPr>
        <p:spPr>
          <a:xfrm>
            <a:off x="502920" y="758952"/>
            <a:ext cx="100584" cy="132588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7" name="TextBox 16"/>
          <p:cNvSpPr txBox="1">
            <a:spLocks/>
          </p:cNvSpPr>
          <p:nvPr/>
        </p:nvSpPr>
        <p:spPr>
          <a:xfrm>
            <a:off x="786384" y="722376"/>
            <a:ext cx="996696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Why I fit Mistral Studio PMM</a:t>
            </a:r>
          </a:p>
        </p:txBody>
      </p:sp>
      <p:sp>
        <p:nvSpPr>
          <p:cNvPr id="18" name="TextBox 17"/>
          <p:cNvSpPr txBox="1">
            <a:spLocks/>
          </p:cNvSpPr>
          <p:nvPr/>
        </p:nvSpPr>
        <p:spPr>
          <a:xfrm>
            <a:off x="804672" y="1719072"/>
            <a:ext cx="886968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Translate complex AI platforms into clear customer value.</a:t>
            </a:r>
          </a:p>
        </p:txBody>
      </p:sp>
      <p:sp>
        <p:nvSpPr>
          <p:cNvPr id="19" name="TextBox 18"/>
          <p:cNvSpPr txBox="1">
            <a:spLocks/>
          </p:cNvSpPr>
          <p:nvPr/>
        </p:nvSpPr>
        <p:spPr>
          <a:xfrm>
            <a:off x="804672" y="2395728"/>
            <a:ext cx="2011680" cy="21945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CAREER THREAD</a:t>
            </a:r>
          </a:p>
        </p:txBody>
      </p:sp>
      <p:cxnSp>
        <p:nvCxnSpPr>
          <p:cNvPr id="20" name="Connector 19"/>
          <p:cNvCxnSpPr/>
          <p:nvPr/>
        </p:nvCxnSpPr>
        <p:spPr>
          <a:xfrm>
            <a:off x="841248" y="2953512"/>
            <a:ext cx="10268712" cy="0"/>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960120" y="2761488"/>
            <a:ext cx="384048" cy="384048"/>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2" name="TextBox 21"/>
          <p:cNvSpPr txBox="1">
            <a:spLocks/>
          </p:cNvSpPr>
          <p:nvPr/>
        </p:nvSpPr>
        <p:spPr>
          <a:xfrm>
            <a:off x="960120" y="2825496"/>
            <a:ext cx="384048" cy="14630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a:ea typeface="+mn-ea"/>
                <a:cs typeface="+mn-cs"/>
              </a:rPr>
              <a:t>01</a:t>
            </a:r>
          </a:p>
        </p:txBody>
      </p:sp>
      <p:sp>
        <p:nvSpPr>
          <p:cNvPr id="23" name="TextBox 22"/>
          <p:cNvSpPr txBox="1">
            <a:spLocks/>
          </p:cNvSpPr>
          <p:nvPr/>
        </p:nvSpPr>
        <p:spPr>
          <a:xfrm>
            <a:off x="960120" y="3264408"/>
            <a:ext cx="315468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STRATEGY → SYSTEMS</a:t>
            </a:r>
          </a:p>
        </p:txBody>
      </p:sp>
      <p:sp>
        <p:nvSpPr>
          <p:cNvPr id="24" name="TextBox 23"/>
          <p:cNvSpPr txBox="1">
            <a:spLocks/>
          </p:cNvSpPr>
          <p:nvPr/>
        </p:nvSpPr>
        <p:spPr>
          <a:xfrm>
            <a:off x="960120" y="3584448"/>
            <a:ext cx="3063240" cy="6583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Regulated systems and lifecycle growth</a:t>
            </a:r>
          </a:p>
        </p:txBody>
      </p:sp>
      <p:sp>
        <p:nvSpPr>
          <p:cNvPr id="25" name="Oval 24"/>
          <p:cNvSpPr/>
          <p:nvPr/>
        </p:nvSpPr>
        <p:spPr>
          <a:xfrm>
            <a:off x="4617720" y="2761488"/>
            <a:ext cx="384048" cy="384048"/>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6" name="TextBox 25"/>
          <p:cNvSpPr txBox="1">
            <a:spLocks/>
          </p:cNvSpPr>
          <p:nvPr/>
        </p:nvSpPr>
        <p:spPr>
          <a:xfrm>
            <a:off x="4617720" y="2825496"/>
            <a:ext cx="384048" cy="14630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a:ea typeface="+mn-ea"/>
                <a:cs typeface="+mn-cs"/>
              </a:rPr>
              <a:t>02</a:t>
            </a:r>
          </a:p>
        </p:txBody>
      </p:sp>
      <p:sp>
        <p:nvSpPr>
          <p:cNvPr id="27" name="TextBox 26"/>
          <p:cNvSpPr txBox="1">
            <a:spLocks/>
          </p:cNvSpPr>
          <p:nvPr/>
        </p:nvSpPr>
        <p:spPr>
          <a:xfrm>
            <a:off x="4617720" y="3264408"/>
            <a:ext cx="315468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GENAI PRODUCT–MARKET FIT</a:t>
            </a:r>
          </a:p>
        </p:txBody>
      </p:sp>
      <p:sp>
        <p:nvSpPr>
          <p:cNvPr id="28" name="TextBox 27"/>
          <p:cNvSpPr txBox="1"/>
          <p:nvPr/>
        </p:nvSpPr>
        <p:spPr>
          <a:xfrm>
            <a:off x="4617720" y="3584448"/>
            <a:ext cx="3063240" cy="6583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700" b="1" i="0" u="none" strike="noStrike" kern="1200" cap="none" spc="0" normalizeH="0" baseline="0" noProof="0">
                <a:ln>
                  <a:noFill/>
                </a:ln>
                <a:solidFill>
                  <a:srgbClr val="121212"/>
                </a:solidFill>
                <a:effectLst/>
                <a:uLnTx/>
                <a:uFillTx/>
                <a:latin typeface="Arial"/>
                <a:ea typeface="+mn-ea"/>
                <a:cs typeface="+mn-cs"/>
              </a:rPr>
              <a:t>Positioning, launch readiness and localization at AWS</a:t>
            </a:r>
          </a:p>
        </p:txBody>
      </p:sp>
      <p:sp>
        <p:nvSpPr>
          <p:cNvPr id="29" name="Oval 28"/>
          <p:cNvSpPr/>
          <p:nvPr/>
        </p:nvSpPr>
        <p:spPr>
          <a:xfrm>
            <a:off x="8458200" y="2761488"/>
            <a:ext cx="384048" cy="384048"/>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0" name="TextBox 29"/>
          <p:cNvSpPr txBox="1">
            <a:spLocks/>
          </p:cNvSpPr>
          <p:nvPr/>
        </p:nvSpPr>
        <p:spPr>
          <a:xfrm>
            <a:off x="8458200" y="2825496"/>
            <a:ext cx="384048" cy="14630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a:ea typeface="+mn-ea"/>
                <a:cs typeface="+mn-cs"/>
              </a:rPr>
              <a:t>03</a:t>
            </a:r>
          </a:p>
        </p:txBody>
      </p:sp>
      <p:sp>
        <p:nvSpPr>
          <p:cNvPr id="31" name="TextBox 30"/>
          <p:cNvSpPr txBox="1">
            <a:spLocks/>
          </p:cNvSpPr>
          <p:nvPr/>
        </p:nvSpPr>
        <p:spPr>
          <a:xfrm>
            <a:off x="8458200" y="3264408"/>
            <a:ext cx="315468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COMMERCIALIZATION</a:t>
            </a:r>
          </a:p>
        </p:txBody>
      </p:sp>
      <p:sp>
        <p:nvSpPr>
          <p:cNvPr id="32" name="TextBox 31"/>
          <p:cNvSpPr txBox="1">
            <a:spLocks/>
          </p:cNvSpPr>
          <p:nvPr/>
        </p:nvSpPr>
        <p:spPr>
          <a:xfrm>
            <a:off x="8458200" y="3584448"/>
            <a:ext cx="3063240" cy="6583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From builder clarity to enterprise adoption at scale</a:t>
            </a:r>
          </a:p>
        </p:txBody>
      </p:sp>
      <p:sp>
        <p:nvSpPr>
          <p:cNvPr id="33" name="Rectangle 32"/>
          <p:cNvSpPr/>
          <p:nvPr/>
        </p:nvSpPr>
        <p:spPr>
          <a:xfrm>
            <a:off x="0" y="4809744"/>
            <a:ext cx="12191695" cy="1490472"/>
          </a:xfrm>
          <a:prstGeom prst="rect">
            <a:avLst/>
          </a:prstGeom>
          <a:solidFill>
            <a:srgbClr val="121212"/>
          </a:solidFill>
          <a:ln w="1270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4" name="TextBox 33"/>
          <p:cNvSpPr txBox="1">
            <a:spLocks/>
          </p:cNvSpPr>
          <p:nvPr/>
        </p:nvSpPr>
        <p:spPr>
          <a:xfrm>
            <a:off x="640080" y="5010912"/>
            <a:ext cx="242316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THE PRODUCT GAP</a:t>
            </a:r>
          </a:p>
        </p:txBody>
      </p:sp>
      <p:sp>
        <p:nvSpPr>
          <p:cNvPr id="35" name="TextBox 34"/>
          <p:cNvSpPr txBox="1">
            <a:spLocks/>
          </p:cNvSpPr>
          <p:nvPr/>
        </p:nvSpPr>
        <p:spPr>
          <a:xfrm>
            <a:off x="640080" y="5376672"/>
            <a:ext cx="489204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FFFFFF"/>
                </a:solidFill>
                <a:effectLst/>
                <a:uLnTx/>
                <a:uFillTx/>
                <a:latin typeface="Arial"/>
                <a:ea typeface="+mn-ea"/>
                <a:cs typeface="+mn-cs"/>
              </a:rPr>
              <a:t>Teams prototype quickly, but struggle to turn demos into governed workflows users adopt and enterprises trust.</a:t>
            </a:r>
          </a:p>
        </p:txBody>
      </p:sp>
      <p:cxnSp>
        <p:nvCxnSpPr>
          <p:cNvPr id="36" name="Connector 35"/>
          <p:cNvCxnSpPr/>
          <p:nvPr/>
        </p:nvCxnSpPr>
        <p:spPr>
          <a:xfrm>
            <a:off x="5852160" y="5047488"/>
            <a:ext cx="0" cy="941832"/>
          </a:xfrm>
          <a:prstGeom prst="line">
            <a:avLst/>
          </a:prstGeom>
          <a:ln w="12700">
            <a:solidFill>
              <a:srgbClr val="55504A"/>
            </a:solidFill>
          </a:ln>
        </p:spPr>
        <p:style>
          <a:lnRef idx="2">
            <a:schemeClr val="accent1"/>
          </a:lnRef>
          <a:fillRef idx="0">
            <a:schemeClr val="accent1"/>
          </a:fillRef>
          <a:effectRef idx="1">
            <a:schemeClr val="accent1"/>
          </a:effectRef>
          <a:fontRef idx="minor">
            <a:schemeClr val="tx1"/>
          </a:fontRef>
        </p:style>
      </p:cxnSp>
      <p:sp>
        <p:nvSpPr>
          <p:cNvPr id="37" name="TextBox 36"/>
          <p:cNvSpPr txBox="1">
            <a:spLocks/>
          </p:cNvSpPr>
          <p:nvPr/>
        </p:nvSpPr>
        <p:spPr>
          <a:xfrm>
            <a:off x="6199632" y="5010912"/>
            <a:ext cx="29718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WHY MISTRAL / STUDIO</a:t>
            </a:r>
          </a:p>
        </p:txBody>
      </p:sp>
      <p:sp>
        <p:nvSpPr>
          <p:cNvPr id="38" name="TextBox 37"/>
          <p:cNvSpPr txBox="1">
            <a:spLocks/>
          </p:cNvSpPr>
          <p:nvPr/>
        </p:nvSpPr>
        <p:spPr>
          <a:xfrm>
            <a:off x="6199632" y="5376672"/>
            <a:ext cx="5166360" cy="69249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FFFF"/>
                </a:solidFill>
                <a:effectLst/>
                <a:uLnTx/>
                <a:uFillTx/>
                <a:latin typeface="Arial"/>
                <a:ea typeface="+mn-ea"/>
                <a:cs typeface="+mn-cs"/>
              </a:rPr>
              <a:t>Frontier open models on a production platform. </a:t>
            </a:r>
            <a:r>
              <a:rPr kumimoji="0" lang="en-US" sz="1400" b="0" i="0" u="none" strike="noStrike" kern="1200" cap="none" spc="0" normalizeH="0" baseline="0" noProof="0">
                <a:ln>
                  <a:noFill/>
                </a:ln>
                <a:solidFill>
                  <a:srgbClr val="FFFFFF"/>
                </a:solidFill>
                <a:effectLst/>
                <a:uLnTx/>
                <a:uFillTx/>
                <a:latin typeface="Arial"/>
                <a:ea typeface="+mn-ea"/>
                <a:cs typeface="+mn-cs"/>
              </a:rPr>
              <a:t>My contribution: make Studio easier to understand, evaluate and adopt.</a:t>
            </a:r>
          </a:p>
        </p:txBody>
      </p:sp>
      <p:pic>
        <p:nvPicPr>
          <p:cNvPr id="39"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40"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AWS GENAI SHOPPING ASSISTANT · PRODUCT-MARKET FIT &amp; USER TRUST</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2</a:t>
            </a: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1. Positioning: from “chat” to decision support</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research-led positioning, trust proof and adoption measurement</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730222"/>
            <a:ext cx="111556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Define the job users can trust, then prove the promise in the experience.</a:t>
            </a:r>
          </a:p>
        </p:txBody>
      </p:sp>
      <p:sp>
        <p:nvSpPr>
          <p:cNvPr id="21" name="TextBox 20"/>
          <p:cNvSpPr txBox="1">
            <a:spLocks/>
          </p:cNvSpPr>
          <p:nvPr/>
        </p:nvSpPr>
        <p:spPr>
          <a:xfrm>
            <a:off x="1078992" y="2258568"/>
            <a:ext cx="201168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BEFORE</a:t>
            </a:r>
          </a:p>
        </p:txBody>
      </p:sp>
      <p:sp>
        <p:nvSpPr>
          <p:cNvPr id="22" name="TextBox 21"/>
          <p:cNvSpPr txBox="1">
            <a:spLocks/>
          </p:cNvSpPr>
          <p:nvPr/>
        </p:nvSpPr>
        <p:spPr>
          <a:xfrm>
            <a:off x="658368" y="2587752"/>
            <a:ext cx="283464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121212"/>
                </a:solidFill>
                <a:effectLst/>
                <a:uLnTx/>
                <a:uFillTx/>
                <a:latin typeface="Arial"/>
                <a:ea typeface="+mn-ea"/>
                <a:cs typeface="+mn-cs"/>
              </a:rPr>
              <a:t>“Chat with AI”</a:t>
            </a:r>
          </a:p>
        </p:txBody>
      </p:sp>
      <p:sp>
        <p:nvSpPr>
          <p:cNvPr id="23" name="TextBox 22"/>
          <p:cNvSpPr txBox="1">
            <a:spLocks/>
          </p:cNvSpPr>
          <p:nvPr/>
        </p:nvSpPr>
        <p:spPr>
          <a:xfrm>
            <a:off x="658368" y="3099816"/>
            <a:ext cx="265176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55504A"/>
                </a:solidFill>
                <a:effectLst/>
                <a:uLnTx/>
                <a:uFillTx/>
                <a:latin typeface="Arial"/>
                <a:ea typeface="+mn-ea"/>
                <a:cs typeface="+mn-cs"/>
              </a:rPr>
              <a:t>Broad and hard to trust at purchase.</a:t>
            </a:r>
          </a:p>
        </p:txBody>
      </p:sp>
      <p:cxnSp>
        <p:nvCxnSpPr>
          <p:cNvPr id="24" name="Connector 23"/>
          <p:cNvCxnSpPr/>
          <p:nvPr/>
        </p:nvCxnSpPr>
        <p:spPr>
          <a:xfrm>
            <a:off x="3438144" y="2212848"/>
            <a:ext cx="0" cy="158191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776472" y="2221992"/>
            <a:ext cx="3246120" cy="1554480"/>
          </a:xfrm>
          <a:prstGeom prst="rect">
            <a:avLst/>
          </a:prstGeom>
          <a:solidFill>
            <a:srgbClr val="121212"/>
          </a:solidFill>
          <a:ln w="1270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6" name="TextBox 25"/>
          <p:cNvSpPr txBox="1">
            <a:spLocks/>
          </p:cNvSpPr>
          <p:nvPr/>
        </p:nvSpPr>
        <p:spPr>
          <a:xfrm>
            <a:off x="4443984" y="2459736"/>
            <a:ext cx="2286000" cy="2286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USER TRUST LOGIC</a:t>
            </a:r>
          </a:p>
        </p:txBody>
      </p:sp>
      <p:sp>
        <p:nvSpPr>
          <p:cNvPr id="27" name="TextBox 26"/>
          <p:cNvSpPr txBox="1">
            <a:spLocks/>
          </p:cNvSpPr>
          <p:nvPr/>
        </p:nvSpPr>
        <p:spPr>
          <a:xfrm>
            <a:off x="4023360" y="2852928"/>
            <a:ext cx="2697480" cy="78483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FFFF"/>
                </a:solidFill>
                <a:effectLst/>
                <a:uLnTx/>
                <a:uFillTx/>
                <a:latin typeface="Arial"/>
                <a:ea typeface="+mn-ea"/>
                <a:cs typeface="+mn-cs"/>
              </a:rPr>
              <a:t>Retrieval quality + task evaluations + human review + guardrails</a:t>
            </a:r>
          </a:p>
        </p:txBody>
      </p:sp>
      <p:cxnSp>
        <p:nvCxnSpPr>
          <p:cNvPr id="28" name="Connector 27"/>
          <p:cNvCxnSpPr/>
          <p:nvPr/>
        </p:nvCxnSpPr>
        <p:spPr>
          <a:xfrm>
            <a:off x="7370064" y="2212848"/>
            <a:ext cx="0" cy="1581912"/>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a:spLocks/>
          </p:cNvSpPr>
          <p:nvPr/>
        </p:nvSpPr>
        <p:spPr>
          <a:xfrm>
            <a:off x="8119872" y="2258568"/>
            <a:ext cx="2011680" cy="2286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AFTER</a:t>
            </a:r>
          </a:p>
        </p:txBody>
      </p:sp>
      <p:sp>
        <p:nvSpPr>
          <p:cNvPr id="30" name="TextBox 29"/>
          <p:cNvSpPr txBox="1">
            <a:spLocks/>
          </p:cNvSpPr>
          <p:nvPr/>
        </p:nvSpPr>
        <p:spPr>
          <a:xfrm>
            <a:off x="7699248" y="2587752"/>
            <a:ext cx="393192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“Decide better, faster”</a:t>
            </a:r>
          </a:p>
        </p:txBody>
      </p:sp>
      <p:sp>
        <p:nvSpPr>
          <p:cNvPr id="31" name="TextBox 30"/>
          <p:cNvSpPr txBox="1">
            <a:spLocks/>
          </p:cNvSpPr>
          <p:nvPr/>
        </p:nvSpPr>
        <p:spPr>
          <a:xfrm>
            <a:off x="7699248" y="3099816"/>
            <a:ext cx="356616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Focused and actionable at the point of choice.</a:t>
            </a:r>
          </a:p>
        </p:txBody>
      </p:sp>
      <p:cxnSp>
        <p:nvCxnSpPr>
          <p:cNvPr id="32" name="Connector 31"/>
          <p:cNvCxnSpPr/>
          <p:nvPr/>
        </p:nvCxnSpPr>
        <p:spPr>
          <a:xfrm>
            <a:off x="658368" y="4160520"/>
            <a:ext cx="1088136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33" name="TextBox 32"/>
          <p:cNvSpPr txBox="1">
            <a:spLocks/>
          </p:cNvSpPr>
          <p:nvPr/>
        </p:nvSpPr>
        <p:spPr>
          <a:xfrm>
            <a:off x="658368"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25%</a:t>
            </a:r>
          </a:p>
        </p:txBody>
      </p:sp>
      <p:sp>
        <p:nvSpPr>
          <p:cNvPr id="34" name="TextBox 33"/>
          <p:cNvSpPr txBox="1">
            <a:spLocks/>
          </p:cNvSpPr>
          <p:nvPr/>
        </p:nvSpPr>
        <p:spPr>
          <a:xfrm>
            <a:off x="658368"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ADOPTION</a:t>
            </a:r>
          </a:p>
        </p:txBody>
      </p:sp>
      <p:sp>
        <p:nvSpPr>
          <p:cNvPr id="35" name="TextBox 34"/>
          <p:cNvSpPr txBox="1">
            <a:spLocks/>
          </p:cNvSpPr>
          <p:nvPr/>
        </p:nvSpPr>
        <p:spPr>
          <a:xfrm>
            <a:off x="658368"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eligible users engaged</a:t>
            </a:r>
          </a:p>
        </p:txBody>
      </p:sp>
      <p:cxnSp>
        <p:nvCxnSpPr>
          <p:cNvPr id="36" name="Connector 35"/>
          <p:cNvCxnSpPr/>
          <p:nvPr/>
        </p:nvCxnSpPr>
        <p:spPr>
          <a:xfrm>
            <a:off x="2615184"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37" name="TextBox 36"/>
          <p:cNvSpPr txBox="1">
            <a:spLocks/>
          </p:cNvSpPr>
          <p:nvPr/>
        </p:nvSpPr>
        <p:spPr>
          <a:xfrm>
            <a:off x="281635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55→70%</a:t>
            </a:r>
          </a:p>
        </p:txBody>
      </p:sp>
      <p:sp>
        <p:nvSpPr>
          <p:cNvPr id="38" name="TextBox 37"/>
          <p:cNvSpPr txBox="1">
            <a:spLocks/>
          </p:cNvSpPr>
          <p:nvPr/>
        </p:nvSpPr>
        <p:spPr>
          <a:xfrm>
            <a:off x="281635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FAVORABILITY</a:t>
            </a:r>
          </a:p>
        </p:txBody>
      </p:sp>
      <p:sp>
        <p:nvSpPr>
          <p:cNvPr id="39" name="TextBox 38"/>
          <p:cNvSpPr txBox="1">
            <a:spLocks/>
          </p:cNvSpPr>
          <p:nvPr/>
        </p:nvSpPr>
        <p:spPr>
          <a:xfrm>
            <a:off x="281635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among exposed users</a:t>
            </a:r>
          </a:p>
        </p:txBody>
      </p:sp>
      <p:cxnSp>
        <p:nvCxnSpPr>
          <p:cNvPr id="40" name="Connector 39"/>
          <p:cNvCxnSpPr/>
          <p:nvPr/>
        </p:nvCxnSpPr>
        <p:spPr>
          <a:xfrm>
            <a:off x="4809744"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1" name="TextBox 40"/>
          <p:cNvSpPr txBox="1">
            <a:spLocks/>
          </p:cNvSpPr>
          <p:nvPr/>
        </p:nvSpPr>
        <p:spPr>
          <a:xfrm>
            <a:off x="501091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+15%</a:t>
            </a:r>
          </a:p>
        </p:txBody>
      </p:sp>
      <p:sp>
        <p:nvSpPr>
          <p:cNvPr id="42" name="TextBox 41"/>
          <p:cNvSpPr txBox="1">
            <a:spLocks/>
          </p:cNvSpPr>
          <p:nvPr/>
        </p:nvSpPr>
        <p:spPr>
          <a:xfrm>
            <a:off x="501091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SESSION DEPTH</a:t>
            </a:r>
          </a:p>
        </p:txBody>
      </p:sp>
      <p:sp>
        <p:nvSpPr>
          <p:cNvPr id="43" name="TextBox 42"/>
          <p:cNvSpPr txBox="1">
            <a:spLocks/>
          </p:cNvSpPr>
          <p:nvPr/>
        </p:nvSpPr>
        <p:spPr>
          <a:xfrm>
            <a:off x="501091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deeper engagement</a:t>
            </a:r>
          </a:p>
        </p:txBody>
      </p:sp>
      <p:cxnSp>
        <p:nvCxnSpPr>
          <p:cNvPr id="44" name="Connector 43"/>
          <p:cNvCxnSpPr/>
          <p:nvPr/>
        </p:nvCxnSpPr>
        <p:spPr>
          <a:xfrm>
            <a:off x="7004304"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5" name="TextBox 44"/>
          <p:cNvSpPr txBox="1">
            <a:spLocks/>
          </p:cNvSpPr>
          <p:nvPr/>
        </p:nvSpPr>
        <p:spPr>
          <a:xfrm>
            <a:off x="720547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2.8%</a:t>
            </a:r>
          </a:p>
        </p:txBody>
      </p:sp>
      <p:sp>
        <p:nvSpPr>
          <p:cNvPr id="46" name="TextBox 45"/>
          <p:cNvSpPr txBox="1">
            <a:spLocks/>
          </p:cNvSpPr>
          <p:nvPr/>
        </p:nvSpPr>
        <p:spPr>
          <a:xfrm>
            <a:off x="720547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HALLUCINATION</a:t>
            </a:r>
          </a:p>
        </p:txBody>
      </p:sp>
      <p:sp>
        <p:nvSpPr>
          <p:cNvPr id="47" name="TextBox 46"/>
          <p:cNvSpPr txBox="1">
            <a:spLocks/>
          </p:cNvSpPr>
          <p:nvPr/>
        </p:nvSpPr>
        <p:spPr>
          <a:xfrm>
            <a:off x="720547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evaluated failure rate</a:t>
            </a:r>
          </a:p>
        </p:txBody>
      </p:sp>
      <p:cxnSp>
        <p:nvCxnSpPr>
          <p:cNvPr id="48" name="Connector 47"/>
          <p:cNvCxnSpPr/>
          <p:nvPr/>
        </p:nvCxnSpPr>
        <p:spPr>
          <a:xfrm>
            <a:off x="9198863"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9" name="TextBox 48"/>
          <p:cNvSpPr txBox="1">
            <a:spLocks/>
          </p:cNvSpPr>
          <p:nvPr/>
        </p:nvSpPr>
        <p:spPr>
          <a:xfrm>
            <a:off x="940003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JP</a:t>
            </a:r>
          </a:p>
        </p:txBody>
      </p:sp>
      <p:sp>
        <p:nvSpPr>
          <p:cNvPr id="50" name="TextBox 49"/>
          <p:cNvSpPr txBox="1">
            <a:spLocks/>
          </p:cNvSpPr>
          <p:nvPr/>
        </p:nvSpPr>
        <p:spPr>
          <a:xfrm>
            <a:off x="940003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LOCALIZATION</a:t>
            </a:r>
          </a:p>
        </p:txBody>
      </p:sp>
      <p:sp>
        <p:nvSpPr>
          <p:cNvPr id="51" name="TextBox 50"/>
          <p:cNvSpPr txBox="1">
            <a:spLocks/>
          </p:cNvSpPr>
          <p:nvPr/>
        </p:nvSpPr>
        <p:spPr>
          <a:xfrm>
            <a:off x="940003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tone, tokenization + UX</a:t>
            </a:r>
          </a:p>
        </p:txBody>
      </p:sp>
      <p:sp>
        <p:nvSpPr>
          <p:cNvPr id="90" name="Icon Before"/>
          <p:cNvSpPr/>
          <p:nvPr/>
        </p:nvSpPr>
        <p:spPr>
          <a:xfrm>
            <a:off x="658368" y="2203704"/>
            <a:ext cx="310896" cy="310896"/>
          </a:xfrm>
          <a:prstGeom prst="wedgeEllipseCallout">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1" name="Icon Trust"/>
          <p:cNvSpPr/>
          <p:nvPr/>
        </p:nvSpPr>
        <p:spPr>
          <a:xfrm>
            <a:off x="4023360" y="2404872"/>
            <a:ext cx="310896" cy="310896"/>
          </a:xfrm>
          <a:prstGeom prst="flowChartDecision">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2" name="Icon After"/>
          <p:cNvSpPr/>
          <p:nvPr/>
        </p:nvSpPr>
        <p:spPr>
          <a:xfrm>
            <a:off x="7699248" y="2231136"/>
            <a:ext cx="310896" cy="310896"/>
          </a:xfrm>
          <a:prstGeom prst="rightArrow">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93"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9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RAKUTEN MERCHANT GENAI PLATFORM · MARKET INTELLIGENCE &amp; MOAT STRATEGY</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dirty="0">
                <a:solidFill>
                  <a:srgbClr val="55504A"/>
                </a:solidFill>
                <a:latin typeface="Arial"/>
              </a:rPr>
              <a:t>3</a:t>
            </a:r>
            <a:endParaRPr kumimoji="0" lang="en-US" sz="1000" b="0" i="0" u="none" strike="noStrike" kern="1200" cap="none" spc="0" normalizeH="0" baseline="0" noProof="0" dirty="0">
              <a:ln>
                <a:noFill/>
              </a:ln>
              <a:solidFill>
                <a:srgbClr val="55504A"/>
              </a:solidFill>
              <a:effectLst/>
              <a:uLnTx/>
              <a:uFillTx/>
              <a:latin typeface="Arial"/>
              <a:ea typeface="+mn-ea"/>
              <a:cs typeface="+mn-cs"/>
            </a:endParaRP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2. Market intelligence: context + workflow won</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market intelligence, moat strategy and platform investment choice</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700784"/>
            <a:ext cx="11155680" cy="274320"/>
          </a:xfrm>
          <a:prstGeom prst="rect">
            <a:avLst/>
          </a:prstGeom>
          <a:noFill/>
        </p:spPr>
        <p:txBody>
          <a:bodyPr wrap="square" lIns="0" tIns="0" rIns="0" bIns="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The moat was not the model—it was proprietary context + workflow depth + economics + distribution.</a:t>
            </a:r>
          </a:p>
        </p:txBody>
      </p:sp>
      <p:sp>
        <p:nvSpPr>
          <p:cNvPr id="21" name="Rectangle 20"/>
          <p:cNvSpPr/>
          <p:nvPr/>
        </p:nvSpPr>
        <p:spPr>
          <a:xfrm>
            <a:off x="502920" y="2121408"/>
            <a:ext cx="2743200" cy="86868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2" name="TextBox 21"/>
          <p:cNvSpPr txBox="1">
            <a:spLocks/>
          </p:cNvSpPr>
          <p:nvPr/>
        </p:nvSpPr>
        <p:spPr>
          <a:xfrm>
            <a:off x="676656" y="2258568"/>
            <a:ext cx="214884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FFFF"/>
                </a:solidFill>
                <a:effectLst/>
                <a:uLnTx/>
                <a:uFillTx/>
                <a:latin typeface="Arial"/>
                <a:ea typeface="+mn-ea"/>
                <a:cs typeface="+mn-cs"/>
              </a:rPr>
              <a:t>DECISION</a:t>
            </a:r>
          </a:p>
        </p:txBody>
      </p:sp>
      <p:sp>
        <p:nvSpPr>
          <p:cNvPr id="23" name="TextBox 22"/>
          <p:cNvSpPr txBox="1">
            <a:spLocks/>
          </p:cNvSpPr>
          <p:nvPr/>
        </p:nvSpPr>
        <p:spPr>
          <a:xfrm>
            <a:off x="676656" y="2450592"/>
            <a:ext cx="2377440" cy="4572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a:ea typeface="+mn-ea"/>
                <a:cs typeface="+mn-cs"/>
              </a:rPr>
              <a:t>Buy the model. Build the workflow.</a:t>
            </a:r>
          </a:p>
        </p:txBody>
      </p:sp>
      <p:sp>
        <p:nvSpPr>
          <p:cNvPr id="24" name="TextBox 23"/>
          <p:cNvSpPr txBox="1">
            <a:spLocks/>
          </p:cNvSpPr>
          <p:nvPr/>
        </p:nvSpPr>
        <p:spPr>
          <a:xfrm>
            <a:off x="987552" y="3054096"/>
            <a:ext cx="2103120" cy="21945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PROBLEM</a:t>
            </a:r>
          </a:p>
        </p:txBody>
      </p:sp>
      <p:sp>
        <p:nvSpPr>
          <p:cNvPr id="25" name="TextBox 24"/>
          <p:cNvSpPr txBox="1">
            <a:spLocks/>
          </p:cNvSpPr>
          <p:nvPr/>
        </p:nvSpPr>
        <p:spPr>
          <a:xfrm>
            <a:off x="566928" y="3364992"/>
            <a:ext cx="2496312" cy="6463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Easy to launch, but weakly differentiated as model capability became buyable.</a:t>
            </a:r>
          </a:p>
        </p:txBody>
      </p:sp>
      <p:sp>
        <p:nvSpPr>
          <p:cNvPr id="26" name="Rectangle 25"/>
          <p:cNvSpPr/>
          <p:nvPr/>
        </p:nvSpPr>
        <p:spPr>
          <a:xfrm>
            <a:off x="3493008" y="2212848"/>
            <a:ext cx="2468880" cy="1591056"/>
          </a:xfrm>
          <a:prstGeom prst="rect">
            <a:avLst/>
          </a:prstGeom>
          <a:solidFill>
            <a:srgbClr val="FBF7EF"/>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7" name="Rectangle 26"/>
          <p:cNvSpPr/>
          <p:nvPr/>
        </p:nvSpPr>
        <p:spPr>
          <a:xfrm>
            <a:off x="5961888" y="2212848"/>
            <a:ext cx="2468880" cy="1591056"/>
          </a:xfrm>
          <a:prstGeom prst="rect">
            <a:avLst/>
          </a:prstGeom>
          <a:solidFill>
            <a:srgbClr val="FFF0BF"/>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8" name="Rectangle 27"/>
          <p:cNvSpPr/>
          <p:nvPr/>
        </p:nvSpPr>
        <p:spPr>
          <a:xfrm>
            <a:off x="3493008" y="3803904"/>
            <a:ext cx="2468880" cy="1591056"/>
          </a:xfrm>
          <a:prstGeom prst="rect">
            <a:avLst/>
          </a:prstGeom>
          <a:solidFill>
            <a:srgbClr val="F0E8DA"/>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9" name="Rectangle 28"/>
          <p:cNvSpPr/>
          <p:nvPr/>
        </p:nvSpPr>
        <p:spPr>
          <a:xfrm>
            <a:off x="5961888" y="3803904"/>
            <a:ext cx="2468880" cy="1591056"/>
          </a:xfrm>
          <a:prstGeom prst="rect">
            <a:avLst/>
          </a:prstGeom>
          <a:solidFill>
            <a:srgbClr val="FFE3B3"/>
          </a:solidFill>
          <a:ln w="254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0" name="TextBox 29"/>
          <p:cNvSpPr txBox="1">
            <a:spLocks/>
          </p:cNvSpPr>
          <p:nvPr/>
        </p:nvSpPr>
        <p:spPr>
          <a:xfrm>
            <a:off x="3712463" y="2432304"/>
            <a:ext cx="1920240" cy="4389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HIGH CONTEXT
LOW WORKFLOW</a:t>
            </a:r>
          </a:p>
        </p:txBody>
      </p:sp>
      <p:sp>
        <p:nvSpPr>
          <p:cNvPr id="31" name="TextBox 30"/>
          <p:cNvSpPr txBox="1">
            <a:spLocks/>
          </p:cNvSpPr>
          <p:nvPr/>
        </p:nvSpPr>
        <p:spPr>
          <a:xfrm>
            <a:off x="3712463" y="4032504"/>
            <a:ext cx="196596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LOW CONTEXT
LOW WORKFLOW</a:t>
            </a:r>
          </a:p>
        </p:txBody>
      </p:sp>
      <p:sp>
        <p:nvSpPr>
          <p:cNvPr id="32" name="TextBox 31"/>
          <p:cNvSpPr txBox="1"/>
          <p:nvPr/>
        </p:nvSpPr>
        <p:spPr>
          <a:xfrm>
            <a:off x="6181344" y="2432304"/>
            <a:ext cx="1965960" cy="4389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HIGH CONTEXT
LOW WORKFLOW</a:t>
            </a:r>
          </a:p>
        </p:txBody>
      </p:sp>
      <p:sp>
        <p:nvSpPr>
          <p:cNvPr id="33" name="TextBox 32"/>
          <p:cNvSpPr txBox="1">
            <a:spLocks/>
          </p:cNvSpPr>
          <p:nvPr/>
        </p:nvSpPr>
        <p:spPr>
          <a:xfrm>
            <a:off x="6217920" y="4032504"/>
            <a:ext cx="1051560" cy="2103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CHOSEN</a:t>
            </a:r>
          </a:p>
        </p:txBody>
      </p:sp>
      <p:sp>
        <p:nvSpPr>
          <p:cNvPr id="34" name="TextBox 33"/>
          <p:cNvSpPr txBox="1">
            <a:spLocks/>
          </p:cNvSpPr>
          <p:nvPr/>
        </p:nvSpPr>
        <p:spPr>
          <a:xfrm>
            <a:off x="6217920" y="4315968"/>
            <a:ext cx="1874519" cy="53035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Merchant
workflows</a:t>
            </a:r>
          </a:p>
        </p:txBody>
      </p:sp>
      <p:sp>
        <p:nvSpPr>
          <p:cNvPr id="35" name="TextBox 34"/>
          <p:cNvSpPr txBox="1">
            <a:spLocks/>
          </p:cNvSpPr>
          <p:nvPr/>
        </p:nvSpPr>
        <p:spPr>
          <a:xfrm>
            <a:off x="6217920" y="4919472"/>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Recurring merchant tasks</a:t>
            </a:r>
          </a:p>
        </p:txBody>
      </p:sp>
      <p:sp>
        <p:nvSpPr>
          <p:cNvPr id="36" name="Oval 35"/>
          <p:cNvSpPr/>
          <p:nvPr/>
        </p:nvSpPr>
        <p:spPr>
          <a:xfrm>
            <a:off x="3877056" y="4892040"/>
            <a:ext cx="210312" cy="210312"/>
          </a:xfrm>
          <a:prstGeom prst="ellipse">
            <a:avLst/>
          </a:prstGeom>
          <a:solidFill>
            <a:srgbClr val="E72500"/>
          </a:solidFill>
          <a:ln w="12700">
            <a:solidFill>
              <a:srgbClr val="E725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7" name="TextBox 36"/>
          <p:cNvSpPr txBox="1">
            <a:spLocks/>
          </p:cNvSpPr>
          <p:nvPr/>
        </p:nvSpPr>
        <p:spPr>
          <a:xfrm>
            <a:off x="4206240" y="4700016"/>
            <a:ext cx="1463040"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E72500"/>
                </a:solidFill>
                <a:effectLst/>
                <a:uLnTx/>
                <a:uFillTx/>
                <a:latin typeface="Arial"/>
                <a:ea typeface="+mn-ea"/>
                <a:cs typeface="+mn-cs"/>
              </a:rPr>
              <a:t>Standalone chatbot
visibly lost</a:t>
            </a:r>
          </a:p>
        </p:txBody>
      </p:sp>
      <p:sp>
        <p:nvSpPr>
          <p:cNvPr id="38" name="TextBox 37"/>
          <p:cNvSpPr txBox="1">
            <a:spLocks/>
          </p:cNvSpPr>
          <p:nvPr/>
        </p:nvSpPr>
        <p:spPr>
          <a:xfrm>
            <a:off x="3419856" y="2002536"/>
            <a:ext cx="246888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PROPRIETARY CONTEXT ↑</a:t>
            </a:r>
          </a:p>
        </p:txBody>
      </p:sp>
      <p:sp>
        <p:nvSpPr>
          <p:cNvPr id="39" name="TextBox 38"/>
          <p:cNvSpPr txBox="1">
            <a:spLocks/>
          </p:cNvSpPr>
          <p:nvPr/>
        </p:nvSpPr>
        <p:spPr>
          <a:xfrm>
            <a:off x="5358383" y="5468112"/>
            <a:ext cx="2651760"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WORKFLOW INTEGRATION →</a:t>
            </a:r>
          </a:p>
        </p:txBody>
      </p:sp>
      <p:sp>
        <p:nvSpPr>
          <p:cNvPr id="40" name="TextBox 39"/>
          <p:cNvSpPr txBox="1">
            <a:spLocks/>
          </p:cNvSpPr>
          <p:nvPr/>
        </p:nvSpPr>
        <p:spPr>
          <a:xfrm>
            <a:off x="9272016" y="2249424"/>
            <a:ext cx="2011680" cy="2286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COMMERCIAL PROOF</a:t>
            </a:r>
          </a:p>
        </p:txBody>
      </p:sp>
      <p:sp>
        <p:nvSpPr>
          <p:cNvPr id="41" name="TextBox 40"/>
          <p:cNvSpPr txBox="1">
            <a:spLocks/>
          </p:cNvSpPr>
          <p:nvPr/>
        </p:nvSpPr>
        <p:spPr>
          <a:xfrm>
            <a:off x="8851392" y="2670048"/>
            <a:ext cx="1225296"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50K+</a:t>
            </a:r>
          </a:p>
        </p:txBody>
      </p:sp>
      <p:sp>
        <p:nvSpPr>
          <p:cNvPr id="42" name="TextBox 41"/>
          <p:cNvSpPr txBox="1">
            <a:spLocks/>
          </p:cNvSpPr>
          <p:nvPr/>
        </p:nvSpPr>
        <p:spPr>
          <a:xfrm>
            <a:off x="10104120" y="2697479"/>
            <a:ext cx="118872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MERCHANTS</a:t>
            </a:r>
          </a:p>
        </p:txBody>
      </p:sp>
      <p:sp>
        <p:nvSpPr>
          <p:cNvPr id="43" name="TextBox 42"/>
          <p:cNvSpPr txBox="1">
            <a:spLocks/>
          </p:cNvSpPr>
          <p:nvPr/>
        </p:nvSpPr>
        <p:spPr>
          <a:xfrm>
            <a:off x="10104120" y="2980943"/>
            <a:ext cx="118872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platform scale</a:t>
            </a:r>
          </a:p>
        </p:txBody>
      </p:sp>
      <p:cxnSp>
        <p:nvCxnSpPr>
          <p:cNvPr id="44" name="Connector 43"/>
          <p:cNvCxnSpPr/>
          <p:nvPr/>
        </p:nvCxnSpPr>
        <p:spPr>
          <a:xfrm>
            <a:off x="8851392" y="3273552"/>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5" name="TextBox 44"/>
          <p:cNvSpPr txBox="1">
            <a:spLocks/>
          </p:cNvSpPr>
          <p:nvPr/>
        </p:nvSpPr>
        <p:spPr>
          <a:xfrm>
            <a:off x="8851392" y="3383280"/>
            <a:ext cx="1225296"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40%</a:t>
            </a:r>
          </a:p>
        </p:txBody>
      </p:sp>
      <p:sp>
        <p:nvSpPr>
          <p:cNvPr id="46" name="TextBox 45"/>
          <p:cNvSpPr txBox="1">
            <a:spLocks/>
          </p:cNvSpPr>
          <p:nvPr/>
        </p:nvSpPr>
        <p:spPr>
          <a:xfrm>
            <a:off x="10104120" y="3410712"/>
            <a:ext cx="118872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ADOPTION</a:t>
            </a:r>
          </a:p>
        </p:txBody>
      </p:sp>
      <p:sp>
        <p:nvSpPr>
          <p:cNvPr id="47" name="TextBox 46"/>
          <p:cNvSpPr txBox="1">
            <a:spLocks/>
          </p:cNvSpPr>
          <p:nvPr/>
        </p:nvSpPr>
        <p:spPr>
          <a:xfrm>
            <a:off x="10104120" y="3694176"/>
            <a:ext cx="118872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six months</a:t>
            </a:r>
          </a:p>
        </p:txBody>
      </p:sp>
      <p:cxnSp>
        <p:nvCxnSpPr>
          <p:cNvPr id="48" name="Connector 47"/>
          <p:cNvCxnSpPr/>
          <p:nvPr/>
        </p:nvCxnSpPr>
        <p:spPr>
          <a:xfrm>
            <a:off x="8851392" y="3986784"/>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9" name="TextBox 48"/>
          <p:cNvSpPr txBox="1">
            <a:spLocks/>
          </p:cNvSpPr>
          <p:nvPr/>
        </p:nvSpPr>
        <p:spPr>
          <a:xfrm>
            <a:off x="8851392" y="4096512"/>
            <a:ext cx="1225296"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+15%</a:t>
            </a:r>
          </a:p>
        </p:txBody>
      </p:sp>
      <p:sp>
        <p:nvSpPr>
          <p:cNvPr id="50" name="TextBox 49"/>
          <p:cNvSpPr txBox="1">
            <a:spLocks/>
          </p:cNvSpPr>
          <p:nvPr/>
        </p:nvSpPr>
        <p:spPr>
          <a:xfrm>
            <a:off x="10104120" y="4123944"/>
            <a:ext cx="118872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MERCHANT CVR</a:t>
            </a:r>
          </a:p>
        </p:txBody>
      </p:sp>
      <p:sp>
        <p:nvSpPr>
          <p:cNvPr id="51" name="TextBox 50"/>
          <p:cNvSpPr txBox="1">
            <a:spLocks/>
          </p:cNvSpPr>
          <p:nvPr/>
        </p:nvSpPr>
        <p:spPr>
          <a:xfrm>
            <a:off x="10104120" y="4507992"/>
            <a:ext cx="118872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conversion lift</a:t>
            </a:r>
          </a:p>
        </p:txBody>
      </p:sp>
      <p:cxnSp>
        <p:nvCxnSpPr>
          <p:cNvPr id="52" name="Connector 51"/>
          <p:cNvCxnSpPr/>
          <p:nvPr/>
        </p:nvCxnSpPr>
        <p:spPr>
          <a:xfrm>
            <a:off x="8851392" y="4700016"/>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53" name="TextBox 52"/>
          <p:cNvSpPr txBox="1">
            <a:spLocks/>
          </p:cNvSpPr>
          <p:nvPr/>
        </p:nvSpPr>
        <p:spPr>
          <a:xfrm>
            <a:off x="8851392" y="4809744"/>
            <a:ext cx="1417320"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45→12m</a:t>
            </a:r>
          </a:p>
        </p:txBody>
      </p:sp>
      <p:sp>
        <p:nvSpPr>
          <p:cNvPr id="54" name="TextBox 53"/>
          <p:cNvSpPr txBox="1">
            <a:spLocks/>
          </p:cNvSpPr>
          <p:nvPr/>
        </p:nvSpPr>
        <p:spPr>
          <a:xfrm>
            <a:off x="10314432" y="4837176"/>
            <a:ext cx="102412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LISTING TIME</a:t>
            </a:r>
          </a:p>
        </p:txBody>
      </p:sp>
      <p:sp>
        <p:nvSpPr>
          <p:cNvPr id="55" name="TextBox 54"/>
          <p:cNvSpPr txBox="1">
            <a:spLocks/>
          </p:cNvSpPr>
          <p:nvPr/>
        </p:nvSpPr>
        <p:spPr>
          <a:xfrm>
            <a:off x="10314432" y="5120640"/>
            <a:ext cx="1024128"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manual time reduced</a:t>
            </a:r>
          </a:p>
        </p:txBody>
      </p:sp>
      <p:sp>
        <p:nvSpPr>
          <p:cNvPr id="56" name="TextBox 55"/>
          <p:cNvSpPr txBox="1"/>
          <p:nvPr/>
        </p:nvSpPr>
        <p:spPr>
          <a:xfrm>
            <a:off x="566928" y="6400800"/>
            <a:ext cx="10469880" cy="15361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Architecture: external model + PII protection + hybrid retrieval + unified knowledge graph.</a:t>
            </a:r>
          </a:p>
        </p:txBody>
      </p:sp>
      <p:sp>
        <p:nvSpPr>
          <p:cNvPr id="93" name="Icon Problem"/>
          <p:cNvSpPr/>
          <p:nvPr/>
        </p:nvSpPr>
        <p:spPr>
          <a:xfrm>
            <a:off x="566928" y="3035808"/>
            <a:ext cx="274320" cy="274320"/>
          </a:xfrm>
          <a:prstGeom prst="noSmoking">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4" name="Icon Proof"/>
          <p:cNvSpPr/>
          <p:nvPr/>
        </p:nvSpPr>
        <p:spPr>
          <a:xfrm>
            <a:off x="8851392" y="2194560"/>
            <a:ext cx="310896" cy="310896"/>
          </a:xfrm>
          <a:prstGeom prst="upArrow">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95"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96"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MICROSOFT DEVELOPER / BUSINESS AI PLATFORM · PLG</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4</a:t>
            </a: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3. Self-service growth: product drives the funnel</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growth strategy, lifecycle design and measurement</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677365"/>
            <a:ext cx="11155680" cy="43088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In self-service, marketing continues in-product: onboarding, first value, retention and expansion must prove the promise.</a:t>
            </a:r>
          </a:p>
        </p:txBody>
      </p:sp>
      <p:cxnSp>
        <p:nvCxnSpPr>
          <p:cNvPr id="21" name="Connector 20"/>
          <p:cNvCxnSpPr/>
          <p:nvPr/>
        </p:nvCxnSpPr>
        <p:spPr>
          <a:xfrm>
            <a:off x="960120" y="2788920"/>
            <a:ext cx="10149840" cy="0"/>
          </a:xfrm>
          <a:prstGeom prst="line">
            <a:avLst/>
          </a:prstGeom>
          <a:ln w="50800">
            <a:solidFill>
              <a:srgbClr val="E5DCCD"/>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04088"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3" name="TextBox 22"/>
          <p:cNvSpPr txBox="1">
            <a:spLocks/>
          </p:cNvSpPr>
          <p:nvPr/>
        </p:nvSpPr>
        <p:spPr>
          <a:xfrm>
            <a:off x="3200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DISCOVER</a:t>
            </a:r>
          </a:p>
        </p:txBody>
      </p:sp>
      <p:sp>
        <p:nvSpPr>
          <p:cNvPr id="24" name="TextBox 23"/>
          <p:cNvSpPr txBox="1">
            <a:spLocks/>
          </p:cNvSpPr>
          <p:nvPr/>
        </p:nvSpPr>
        <p:spPr>
          <a:xfrm>
            <a:off x="91440"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LinkedIn, Google, PR,
organic and ASO</a:t>
            </a:r>
          </a:p>
        </p:txBody>
      </p:sp>
      <p:cxnSp>
        <p:nvCxnSpPr>
          <p:cNvPr id="25" name="Connector 24"/>
          <p:cNvCxnSpPr/>
          <p:nvPr/>
        </p:nvCxnSpPr>
        <p:spPr>
          <a:xfrm>
            <a:off x="960120" y="3986784"/>
            <a:ext cx="0" cy="384048"/>
          </a:xfrm>
          <a:prstGeom prst="line">
            <a:avLst/>
          </a:prstGeom>
          <a:ln w="25400">
            <a:solidFill>
              <a:srgbClr val="E725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a:spLocks/>
          </p:cNvSpPr>
          <p:nvPr/>
        </p:nvSpPr>
        <p:spPr>
          <a:xfrm>
            <a:off x="45720" y="4507992"/>
            <a:ext cx="1828800" cy="5232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E72500"/>
                </a:solidFill>
                <a:effectLst/>
                <a:uLnTx/>
                <a:uFillTx/>
                <a:latin typeface="Arial"/>
                <a:ea typeface="+mn-ea"/>
                <a:cs typeface="+mn-cs"/>
              </a:rPr>
              <a:t>top-of-funnel demand</a:t>
            </a:r>
          </a:p>
        </p:txBody>
      </p:sp>
      <p:sp>
        <p:nvSpPr>
          <p:cNvPr id="27" name="Oval 26"/>
          <p:cNvSpPr/>
          <p:nvPr/>
        </p:nvSpPr>
        <p:spPr>
          <a:xfrm>
            <a:off x="3218687"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8" name="TextBox 27"/>
          <p:cNvSpPr txBox="1">
            <a:spLocks/>
          </p:cNvSpPr>
          <p:nvPr/>
        </p:nvSpPr>
        <p:spPr>
          <a:xfrm>
            <a:off x="2834639" y="2240280"/>
            <a:ext cx="1280160" cy="22860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EVALUATE</a:t>
            </a:r>
          </a:p>
        </p:txBody>
      </p:sp>
      <p:sp>
        <p:nvSpPr>
          <p:cNvPr id="29" name="TextBox 28"/>
          <p:cNvSpPr txBox="1">
            <a:spLocks/>
          </p:cNvSpPr>
          <p:nvPr/>
        </p:nvSpPr>
        <p:spPr>
          <a:xfrm>
            <a:off x="2606039"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First run: understand
the promise</a:t>
            </a:r>
          </a:p>
        </p:txBody>
      </p:sp>
      <p:cxnSp>
        <p:nvCxnSpPr>
          <p:cNvPr id="30" name="Connector 29"/>
          <p:cNvCxnSpPr/>
          <p:nvPr/>
        </p:nvCxnSpPr>
        <p:spPr>
          <a:xfrm>
            <a:off x="3474720" y="3986784"/>
            <a:ext cx="0" cy="384048"/>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31" name="TextBox 30"/>
          <p:cNvSpPr txBox="1">
            <a:spLocks/>
          </p:cNvSpPr>
          <p:nvPr/>
        </p:nvSpPr>
        <p:spPr>
          <a:xfrm>
            <a:off x="2560320" y="4507992"/>
            <a:ext cx="1828800" cy="26161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4B00"/>
                </a:solidFill>
                <a:effectLst/>
                <a:uLnTx/>
                <a:uFillTx/>
                <a:latin typeface="Arial"/>
                <a:ea typeface="+mn-ea"/>
                <a:cs typeface="+mn-cs"/>
              </a:rPr>
              <a:t>first-run clarity</a:t>
            </a:r>
          </a:p>
        </p:txBody>
      </p:sp>
      <p:sp>
        <p:nvSpPr>
          <p:cNvPr id="32" name="Oval 31"/>
          <p:cNvSpPr/>
          <p:nvPr/>
        </p:nvSpPr>
        <p:spPr>
          <a:xfrm>
            <a:off x="5733288" y="2532888"/>
            <a:ext cx="512064" cy="512064"/>
          </a:xfrm>
          <a:prstGeom prst="ellipse">
            <a:avLst/>
          </a:prstGeom>
          <a:solidFill>
            <a:srgbClr val="FF6A00"/>
          </a:solidFill>
          <a:ln w="12700">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3" name="TextBox 32"/>
          <p:cNvSpPr txBox="1">
            <a:spLocks/>
          </p:cNvSpPr>
          <p:nvPr/>
        </p:nvSpPr>
        <p:spPr>
          <a:xfrm>
            <a:off x="53492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ACTIVATE</a:t>
            </a:r>
          </a:p>
        </p:txBody>
      </p:sp>
      <p:sp>
        <p:nvSpPr>
          <p:cNvPr id="34" name="TextBox 33"/>
          <p:cNvSpPr txBox="1">
            <a:spLocks/>
          </p:cNvSpPr>
          <p:nvPr/>
        </p:nvSpPr>
        <p:spPr>
          <a:xfrm>
            <a:off x="5120640"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Complete a
meaningful task</a:t>
            </a:r>
          </a:p>
        </p:txBody>
      </p:sp>
      <p:cxnSp>
        <p:nvCxnSpPr>
          <p:cNvPr id="35" name="Connector 34"/>
          <p:cNvCxnSpPr/>
          <p:nvPr/>
        </p:nvCxnSpPr>
        <p:spPr>
          <a:xfrm>
            <a:off x="5989320" y="3986784"/>
            <a:ext cx="0" cy="384048"/>
          </a:xfrm>
          <a:prstGeom prst="line">
            <a:avLst/>
          </a:prstGeom>
          <a:ln w="25400">
            <a:solidFill>
              <a:srgbClr val="FF6A00"/>
            </a:solidFill>
          </a:ln>
        </p:spPr>
        <p:style>
          <a:lnRef idx="2">
            <a:schemeClr val="accent1"/>
          </a:lnRef>
          <a:fillRef idx="0">
            <a:schemeClr val="accent1"/>
          </a:fillRef>
          <a:effectRef idx="1">
            <a:schemeClr val="accent1"/>
          </a:effectRef>
          <a:fontRef idx="minor">
            <a:schemeClr val="tx1"/>
          </a:fontRef>
        </p:style>
      </p:cxnSp>
      <p:sp>
        <p:nvSpPr>
          <p:cNvPr id="36" name="TextBox 35"/>
          <p:cNvSpPr txBox="1">
            <a:spLocks/>
          </p:cNvSpPr>
          <p:nvPr/>
        </p:nvSpPr>
        <p:spPr>
          <a:xfrm>
            <a:off x="5074920" y="4507992"/>
            <a:ext cx="1828800" cy="26161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6A00"/>
                </a:solidFill>
                <a:effectLst/>
                <a:uLnTx/>
                <a:uFillTx/>
                <a:latin typeface="Arial"/>
                <a:ea typeface="+mn-ea"/>
                <a:cs typeface="+mn-cs"/>
              </a:rPr>
              <a:t>activation +262%</a:t>
            </a:r>
          </a:p>
        </p:txBody>
      </p:sp>
      <p:sp>
        <p:nvSpPr>
          <p:cNvPr id="37" name="Oval 36"/>
          <p:cNvSpPr/>
          <p:nvPr/>
        </p:nvSpPr>
        <p:spPr>
          <a:xfrm>
            <a:off x="8019288"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8" name="TextBox 37"/>
          <p:cNvSpPr txBox="1">
            <a:spLocks/>
          </p:cNvSpPr>
          <p:nvPr/>
        </p:nvSpPr>
        <p:spPr>
          <a:xfrm>
            <a:off x="76352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RETAIN</a:t>
            </a:r>
          </a:p>
        </p:txBody>
      </p:sp>
      <p:sp>
        <p:nvSpPr>
          <p:cNvPr id="39" name="TextBox 38"/>
          <p:cNvSpPr txBox="1">
            <a:spLocks/>
          </p:cNvSpPr>
          <p:nvPr/>
        </p:nvSpPr>
        <p:spPr>
          <a:xfrm>
            <a:off x="7406640" y="3246120"/>
            <a:ext cx="1737360" cy="646331"/>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Cohort loops + lifecycle
interventions</a:t>
            </a:r>
          </a:p>
        </p:txBody>
      </p:sp>
      <p:cxnSp>
        <p:nvCxnSpPr>
          <p:cNvPr id="40" name="Connector 39"/>
          <p:cNvCxnSpPr/>
          <p:nvPr/>
        </p:nvCxnSpPr>
        <p:spPr>
          <a:xfrm>
            <a:off x="8275320" y="3986784"/>
            <a:ext cx="0" cy="384048"/>
          </a:xfrm>
          <a:prstGeom prst="line">
            <a:avLst/>
          </a:prstGeom>
          <a:ln w="25400">
            <a:solidFill>
              <a:srgbClr val="FFC400"/>
            </a:solidFill>
          </a:ln>
        </p:spPr>
        <p:style>
          <a:lnRef idx="2">
            <a:schemeClr val="accent1"/>
          </a:lnRef>
          <a:fillRef idx="0">
            <a:schemeClr val="accent1"/>
          </a:fillRef>
          <a:effectRef idx="1">
            <a:schemeClr val="accent1"/>
          </a:effectRef>
          <a:fontRef idx="minor">
            <a:schemeClr val="tx1"/>
          </a:fontRef>
        </p:style>
      </p:cxnSp>
      <p:sp>
        <p:nvSpPr>
          <p:cNvPr id="41" name="TextBox 40"/>
          <p:cNvSpPr txBox="1">
            <a:spLocks/>
          </p:cNvSpPr>
          <p:nvPr/>
        </p:nvSpPr>
        <p:spPr>
          <a:xfrm>
            <a:off x="7360920" y="4507992"/>
            <a:ext cx="1828800" cy="26161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C400"/>
                </a:solidFill>
                <a:effectLst/>
                <a:uLnTx/>
                <a:uFillTx/>
                <a:latin typeface="Arial"/>
                <a:ea typeface="+mn-ea"/>
                <a:cs typeface="+mn-cs"/>
              </a:rPr>
              <a:t>churn 14→6.5%</a:t>
            </a:r>
          </a:p>
        </p:txBody>
      </p:sp>
      <p:sp>
        <p:nvSpPr>
          <p:cNvPr id="42" name="Oval 41"/>
          <p:cNvSpPr/>
          <p:nvPr/>
        </p:nvSpPr>
        <p:spPr>
          <a:xfrm>
            <a:off x="10533888"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43" name="TextBox 42"/>
          <p:cNvSpPr txBox="1">
            <a:spLocks/>
          </p:cNvSpPr>
          <p:nvPr/>
        </p:nvSpPr>
        <p:spPr>
          <a:xfrm>
            <a:off x="101498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EXPAND</a:t>
            </a:r>
          </a:p>
        </p:txBody>
      </p:sp>
      <p:sp>
        <p:nvSpPr>
          <p:cNvPr id="44" name="TextBox 43"/>
          <p:cNvSpPr txBox="1">
            <a:spLocks/>
          </p:cNvSpPr>
          <p:nvPr/>
        </p:nvSpPr>
        <p:spPr>
          <a:xfrm>
            <a:off x="9921240"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Propensity models +
win-back paths</a:t>
            </a:r>
          </a:p>
        </p:txBody>
      </p:sp>
      <p:cxnSp>
        <p:nvCxnSpPr>
          <p:cNvPr id="45" name="Connector 44"/>
          <p:cNvCxnSpPr/>
          <p:nvPr/>
        </p:nvCxnSpPr>
        <p:spPr>
          <a:xfrm>
            <a:off x="10789920" y="3986784"/>
            <a:ext cx="0" cy="384048"/>
          </a:xfrm>
          <a:prstGeom prst="line">
            <a:avLst/>
          </a:prstGeom>
          <a:ln w="25400">
            <a:solidFill>
              <a:srgbClr val="FFB52E"/>
            </a:solidFill>
          </a:ln>
        </p:spPr>
        <p:style>
          <a:lnRef idx="2">
            <a:schemeClr val="accent1"/>
          </a:lnRef>
          <a:fillRef idx="0">
            <a:schemeClr val="accent1"/>
          </a:fillRef>
          <a:effectRef idx="1">
            <a:schemeClr val="accent1"/>
          </a:effectRef>
          <a:fontRef idx="minor">
            <a:schemeClr val="tx1"/>
          </a:fontRef>
        </p:style>
      </p:cxnSp>
      <p:sp>
        <p:nvSpPr>
          <p:cNvPr id="46" name="TextBox 45"/>
          <p:cNvSpPr txBox="1">
            <a:spLocks/>
          </p:cNvSpPr>
          <p:nvPr/>
        </p:nvSpPr>
        <p:spPr>
          <a:xfrm>
            <a:off x="9875520" y="4389120"/>
            <a:ext cx="1828800" cy="932688"/>
          </a:xfrm>
          <a:prstGeom prst="rect">
            <a:avLst/>
          </a:prstGeom>
          <a:noFill/>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B52E"/>
                </a:solidFill>
                <a:effectLst/>
                <a:uLnTx/>
                <a:uFillTx/>
                <a:latin typeface="Arial"/>
                <a:ea typeface="+mn-ea"/>
                <a:cs typeface="+mn-cs"/>
              </a:rPr>
              <a:t>NRR 102→128%
win-back 4→22%</a:t>
            </a:r>
          </a:p>
        </p:txBody>
      </p:sp>
      <p:sp>
        <p:nvSpPr>
          <p:cNvPr id="47" name="Rectangle 46"/>
          <p:cNvSpPr/>
          <p:nvPr/>
        </p:nvSpPr>
        <p:spPr>
          <a:xfrm>
            <a:off x="594360" y="5468112"/>
            <a:ext cx="10972800" cy="566928"/>
          </a:xfrm>
          <a:prstGeom prst="rect">
            <a:avLst/>
          </a:prstGeom>
          <a:solidFill>
            <a:srgbClr val="121212"/>
          </a:solidFill>
          <a:ln w="1270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48" name="TextBox 47"/>
          <p:cNvSpPr txBox="1">
            <a:spLocks/>
          </p:cNvSpPr>
          <p:nvPr/>
        </p:nvSpPr>
        <p:spPr>
          <a:xfrm>
            <a:off x="868680" y="5611627"/>
            <a:ext cx="10424160" cy="26161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FFFF"/>
                </a:solidFill>
                <a:effectLst/>
                <a:uLnTx/>
                <a:uFillTx/>
                <a:latin typeface="Arial"/>
                <a:ea typeface="+mn-ea"/>
                <a:cs typeface="+mn-cs"/>
              </a:rPr>
              <a:t>Demand creates the visit. Product experience earns activation, retention and expansion.</a:t>
            </a:r>
          </a:p>
        </p:txBody>
      </p:sp>
      <p:sp>
        <p:nvSpPr>
          <p:cNvPr id="49" name="TextBox 48"/>
          <p:cNvSpPr txBox="1">
            <a:spLocks/>
          </p:cNvSpPr>
          <p:nvPr/>
        </p:nvSpPr>
        <p:spPr>
          <a:xfrm>
            <a:off x="566928" y="6400800"/>
            <a:ext cx="10469880" cy="15361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NRR = net revenue retention; activation = meaningful first value; win-back = returning lost users; ASO = App Store Optimization</a:t>
            </a:r>
          </a:p>
        </p:txBody>
      </p:sp>
      <p:sp>
        <p:nvSpPr>
          <p:cNvPr id="95" name="Stage Glyph 0"/>
          <p:cNvSpPr/>
          <p:nvPr/>
        </p:nvSpPr>
        <p:spPr>
          <a:xfrm>
            <a:off x="841248" y="2670048"/>
            <a:ext cx="237744" cy="237744"/>
          </a:xfrm>
          <a:prstGeom prst="sun">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6" name="Stage Glyph 1"/>
          <p:cNvSpPr/>
          <p:nvPr/>
        </p:nvSpPr>
        <p:spPr>
          <a:xfrm>
            <a:off x="3355848" y="2670048"/>
            <a:ext cx="237744" cy="237744"/>
          </a:xfrm>
          <a:prstGeom prst="flowChartDecision">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7" name="Stage Glyph 2"/>
          <p:cNvSpPr/>
          <p:nvPr/>
        </p:nvSpPr>
        <p:spPr>
          <a:xfrm>
            <a:off x="5870448" y="2670048"/>
            <a:ext cx="237744" cy="237744"/>
          </a:xfrm>
          <a:prstGeom prst="lightningBolt">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8" name="Stage Glyph 3"/>
          <p:cNvSpPr/>
          <p:nvPr/>
        </p:nvSpPr>
        <p:spPr>
          <a:xfrm>
            <a:off x="8156448" y="2670048"/>
            <a:ext cx="237744" cy="237744"/>
          </a:xfrm>
          <a:prstGeom prst="circularArrow">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9" name="Stage Glyph 4"/>
          <p:cNvSpPr/>
          <p:nvPr/>
        </p:nvSpPr>
        <p:spPr>
          <a:xfrm>
            <a:off x="10671048" y="2670048"/>
            <a:ext cx="237744" cy="237744"/>
          </a:xfrm>
          <a:prstGeom prst="upArrow">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100"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101"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MICROSOFT REGULATED CLOUD / AI PLATFORM · FIELD ENABLEMENT &amp; ENTERPRISE GTM</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5</a:t>
            </a: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4. Field enablement: turn blockers into field plays</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cross-functional GTM for regulated financial-services deployments</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677365"/>
            <a:ext cx="11155680" cy="43088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When one objection blocks many deals, solve it with product and engineering, then give the field a repeatable response.</a:t>
            </a:r>
          </a:p>
        </p:txBody>
      </p:sp>
      <p:cxnSp>
        <p:nvCxnSpPr>
          <p:cNvPr id="21" name="Connector 20"/>
          <p:cNvCxnSpPr/>
          <p:nvPr/>
        </p:nvCxnSpPr>
        <p:spPr>
          <a:xfrm>
            <a:off x="3767328" y="2194559"/>
            <a:ext cx="0" cy="388620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818120" y="2194559"/>
            <a:ext cx="0" cy="388620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3" name="TextBox 22"/>
          <p:cNvSpPr txBox="1">
            <a:spLocks/>
          </p:cNvSpPr>
          <p:nvPr/>
        </p:nvSpPr>
        <p:spPr>
          <a:xfrm>
            <a:off x="1225296" y="2221992"/>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01</a:t>
            </a:r>
          </a:p>
        </p:txBody>
      </p:sp>
      <p:sp>
        <p:nvSpPr>
          <p:cNvPr id="24" name="TextBox 23"/>
          <p:cNvSpPr txBox="1">
            <a:spLocks/>
          </p:cNvSpPr>
          <p:nvPr/>
        </p:nvSpPr>
        <p:spPr>
          <a:xfrm>
            <a:off x="1225296" y="2441448"/>
            <a:ext cx="219456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CUSTOMER BLOCKERS</a:t>
            </a:r>
          </a:p>
        </p:txBody>
      </p:sp>
      <p:sp>
        <p:nvSpPr>
          <p:cNvPr id="25" name="TextBox 24"/>
          <p:cNvSpPr txBox="1">
            <a:spLocks/>
          </p:cNvSpPr>
          <p:nvPr/>
        </p:nvSpPr>
        <p:spPr>
          <a:xfrm>
            <a:off x="640080" y="3127248"/>
            <a:ext cx="2788920" cy="63093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Regulated financial-services buyers asked:</a:t>
            </a:r>
          </a:p>
        </p:txBody>
      </p:sp>
      <p:sp>
        <p:nvSpPr>
          <p:cNvPr id="26" name="Rectangle 25"/>
          <p:cNvSpPr/>
          <p:nvPr/>
        </p:nvSpPr>
        <p:spPr>
          <a:xfrm>
            <a:off x="667512" y="3858768"/>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7" name="TextBox 26"/>
          <p:cNvSpPr txBox="1">
            <a:spLocks/>
          </p:cNvSpPr>
          <p:nvPr/>
        </p:nvSpPr>
        <p:spPr>
          <a:xfrm>
            <a:off x="896112" y="3785616"/>
            <a:ext cx="260604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Where does data live?</a:t>
            </a:r>
          </a:p>
        </p:txBody>
      </p:sp>
      <p:sp>
        <p:nvSpPr>
          <p:cNvPr id="28" name="Rectangle 27"/>
          <p:cNvSpPr/>
          <p:nvPr/>
        </p:nvSpPr>
        <p:spPr>
          <a:xfrm>
            <a:off x="667512" y="4425696"/>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9" name="TextBox 28"/>
          <p:cNvSpPr txBox="1">
            <a:spLocks/>
          </p:cNvSpPr>
          <p:nvPr/>
        </p:nvSpPr>
        <p:spPr>
          <a:xfrm>
            <a:off x="896112" y="4352544"/>
            <a:ext cx="260604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Who controls access?</a:t>
            </a:r>
          </a:p>
        </p:txBody>
      </p:sp>
      <p:sp>
        <p:nvSpPr>
          <p:cNvPr id="30" name="Rectangle 29"/>
          <p:cNvSpPr/>
          <p:nvPr/>
        </p:nvSpPr>
        <p:spPr>
          <a:xfrm>
            <a:off x="667512" y="4992624"/>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1" name="TextBox 30"/>
          <p:cNvSpPr txBox="1">
            <a:spLocks/>
          </p:cNvSpPr>
          <p:nvPr/>
        </p:nvSpPr>
        <p:spPr>
          <a:xfrm>
            <a:off x="896112" y="4919472"/>
            <a:ext cx="260604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Can this satisfy local rules?</a:t>
            </a:r>
          </a:p>
        </p:txBody>
      </p:sp>
      <p:sp>
        <p:nvSpPr>
          <p:cNvPr id="32" name="Rectangle 31"/>
          <p:cNvSpPr/>
          <p:nvPr/>
        </p:nvSpPr>
        <p:spPr>
          <a:xfrm>
            <a:off x="667512" y="555955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rial"/>
              <a:ea typeface="+mn-ea"/>
              <a:cs typeface="+mn-cs"/>
            </a:endParaRPr>
          </a:p>
        </p:txBody>
      </p:sp>
      <p:sp>
        <p:nvSpPr>
          <p:cNvPr id="33" name="TextBox 32"/>
          <p:cNvSpPr txBox="1">
            <a:spLocks/>
          </p:cNvSpPr>
          <p:nvPr/>
        </p:nvSpPr>
        <p:spPr>
          <a:xfrm>
            <a:off x="896112" y="5486400"/>
            <a:ext cx="260604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Will latency work in production?</a:t>
            </a:r>
          </a:p>
        </p:txBody>
      </p:sp>
      <p:sp>
        <p:nvSpPr>
          <p:cNvPr id="34" name="TextBox 33"/>
          <p:cNvSpPr txBox="1">
            <a:spLocks/>
          </p:cNvSpPr>
          <p:nvPr/>
        </p:nvSpPr>
        <p:spPr>
          <a:xfrm>
            <a:off x="4700016" y="2221992"/>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02</a:t>
            </a:r>
          </a:p>
        </p:txBody>
      </p:sp>
      <p:sp>
        <p:nvSpPr>
          <p:cNvPr id="35" name="TextBox 34"/>
          <p:cNvSpPr txBox="1">
            <a:spLocks/>
          </p:cNvSpPr>
          <p:nvPr/>
        </p:nvSpPr>
        <p:spPr>
          <a:xfrm>
            <a:off x="4700016" y="2441448"/>
            <a:ext cx="246888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PRODUCTIZED ANSWER</a:t>
            </a:r>
          </a:p>
        </p:txBody>
      </p:sp>
      <p:sp>
        <p:nvSpPr>
          <p:cNvPr id="36" name="TextBox 35"/>
          <p:cNvSpPr txBox="1">
            <a:spLocks/>
          </p:cNvSpPr>
          <p:nvPr/>
        </p:nvSpPr>
        <p:spPr>
          <a:xfrm>
            <a:off x="4114800" y="3127248"/>
            <a:ext cx="3291840" cy="86177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Cross-functional playbook: deployment patterns, partner requirements, technical gates and SOPs aligned product, engineering, legal and field.</a:t>
            </a:r>
          </a:p>
        </p:txBody>
      </p:sp>
      <p:sp>
        <p:nvSpPr>
          <p:cNvPr id="37" name="TextBox 36"/>
          <p:cNvSpPr txBox="1">
            <a:spLocks/>
          </p:cNvSpPr>
          <p:nvPr/>
        </p:nvSpPr>
        <p:spPr>
          <a:xfrm>
            <a:off x="4114800" y="4151376"/>
            <a:ext cx="3291840" cy="6463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Technical unlock: replaced FHE with confidential computing to run secure architecture at production latency.</a:t>
            </a:r>
          </a:p>
        </p:txBody>
      </p:sp>
      <p:cxnSp>
        <p:nvCxnSpPr>
          <p:cNvPr id="38" name="Connector 37"/>
          <p:cNvCxnSpPr/>
          <p:nvPr/>
        </p:nvCxnSpPr>
        <p:spPr>
          <a:xfrm>
            <a:off x="4114800" y="4956048"/>
            <a:ext cx="3337560" cy="0"/>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39" name="TextBox 38"/>
          <p:cNvSpPr txBox="1">
            <a:spLocks/>
          </p:cNvSpPr>
          <p:nvPr/>
        </p:nvSpPr>
        <p:spPr>
          <a:xfrm>
            <a:off x="4114800" y="5157216"/>
            <a:ext cx="3337560" cy="492443"/>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a:ln>
                  <a:noFill/>
                </a:ln>
                <a:solidFill>
                  <a:srgbClr val="FF4B00"/>
                </a:solidFill>
                <a:effectLst/>
                <a:uLnTx/>
                <a:uFillTx/>
                <a:latin typeface="Arial"/>
                <a:ea typeface="+mn-ea"/>
                <a:cs typeface="+mn-cs"/>
              </a:rPr>
              <a:t>14s → 220ms</a:t>
            </a:r>
          </a:p>
        </p:txBody>
      </p:sp>
      <p:sp>
        <p:nvSpPr>
          <p:cNvPr id="40" name="TextBox 39"/>
          <p:cNvSpPr txBox="1">
            <a:spLocks/>
          </p:cNvSpPr>
          <p:nvPr/>
        </p:nvSpPr>
        <p:spPr>
          <a:xfrm>
            <a:off x="4114800" y="5742432"/>
            <a:ext cx="3337560"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secure production latency</a:t>
            </a:r>
          </a:p>
        </p:txBody>
      </p:sp>
      <p:sp>
        <p:nvSpPr>
          <p:cNvPr id="41" name="TextBox 40"/>
          <p:cNvSpPr txBox="1">
            <a:spLocks/>
          </p:cNvSpPr>
          <p:nvPr/>
        </p:nvSpPr>
        <p:spPr>
          <a:xfrm>
            <a:off x="8759952" y="2221992"/>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03</a:t>
            </a:r>
          </a:p>
        </p:txBody>
      </p:sp>
      <p:sp>
        <p:nvSpPr>
          <p:cNvPr id="42" name="TextBox 41"/>
          <p:cNvSpPr txBox="1">
            <a:spLocks/>
          </p:cNvSpPr>
          <p:nvPr/>
        </p:nvSpPr>
        <p:spPr>
          <a:xfrm>
            <a:off x="8759952" y="2441448"/>
            <a:ext cx="22860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FIELD PROOF</a:t>
            </a:r>
          </a:p>
        </p:txBody>
      </p:sp>
      <p:sp>
        <p:nvSpPr>
          <p:cNvPr id="43" name="TextBox 42"/>
          <p:cNvSpPr txBox="1">
            <a:spLocks/>
          </p:cNvSpPr>
          <p:nvPr/>
        </p:nvSpPr>
        <p:spPr>
          <a:xfrm>
            <a:off x="8156448" y="316382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10+</a:t>
            </a:r>
          </a:p>
        </p:txBody>
      </p:sp>
      <p:sp>
        <p:nvSpPr>
          <p:cNvPr id="44" name="TextBox 43"/>
          <p:cNvSpPr txBox="1">
            <a:spLocks/>
          </p:cNvSpPr>
          <p:nvPr/>
        </p:nvSpPr>
        <p:spPr>
          <a:xfrm>
            <a:off x="8156448" y="356616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engagements</a:t>
            </a:r>
          </a:p>
        </p:txBody>
      </p:sp>
      <p:cxnSp>
        <p:nvCxnSpPr>
          <p:cNvPr id="45" name="Connector 44"/>
          <p:cNvCxnSpPr/>
          <p:nvPr/>
        </p:nvCxnSpPr>
        <p:spPr>
          <a:xfrm>
            <a:off x="8156448" y="3913632"/>
            <a:ext cx="15544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6" name="TextBox 45"/>
          <p:cNvSpPr txBox="1">
            <a:spLocks/>
          </p:cNvSpPr>
          <p:nvPr/>
        </p:nvSpPr>
        <p:spPr>
          <a:xfrm>
            <a:off x="9966960" y="316382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9→3 mo</a:t>
            </a:r>
          </a:p>
        </p:txBody>
      </p:sp>
      <p:sp>
        <p:nvSpPr>
          <p:cNvPr id="47" name="TextBox 46"/>
          <p:cNvSpPr txBox="1">
            <a:spLocks/>
          </p:cNvSpPr>
          <p:nvPr/>
        </p:nvSpPr>
        <p:spPr>
          <a:xfrm>
            <a:off x="9966960" y="356616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time-to-compliance</a:t>
            </a:r>
          </a:p>
        </p:txBody>
      </p:sp>
      <p:cxnSp>
        <p:nvCxnSpPr>
          <p:cNvPr id="48" name="Connector 47"/>
          <p:cNvCxnSpPr/>
          <p:nvPr/>
        </p:nvCxnSpPr>
        <p:spPr>
          <a:xfrm>
            <a:off x="9966960" y="3913632"/>
            <a:ext cx="15544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9" name="TextBox 48"/>
          <p:cNvSpPr txBox="1">
            <a:spLocks/>
          </p:cNvSpPr>
          <p:nvPr/>
        </p:nvSpPr>
        <p:spPr>
          <a:xfrm>
            <a:off x="8156448" y="416966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$5M</a:t>
            </a:r>
          </a:p>
        </p:txBody>
      </p:sp>
      <p:sp>
        <p:nvSpPr>
          <p:cNvPr id="50" name="TextBox 49"/>
          <p:cNvSpPr txBox="1">
            <a:spLocks/>
          </p:cNvSpPr>
          <p:nvPr/>
        </p:nvSpPr>
        <p:spPr>
          <a:xfrm>
            <a:off x="8156448" y="457200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account rescued</a:t>
            </a:r>
          </a:p>
        </p:txBody>
      </p:sp>
      <p:cxnSp>
        <p:nvCxnSpPr>
          <p:cNvPr id="51" name="Connector 50"/>
          <p:cNvCxnSpPr/>
          <p:nvPr/>
        </p:nvCxnSpPr>
        <p:spPr>
          <a:xfrm>
            <a:off x="8156448" y="4919472"/>
            <a:ext cx="15544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52" name="TextBox 51"/>
          <p:cNvSpPr txBox="1">
            <a:spLocks/>
          </p:cNvSpPr>
          <p:nvPr/>
        </p:nvSpPr>
        <p:spPr>
          <a:xfrm>
            <a:off x="9966960" y="416966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$2M</a:t>
            </a:r>
          </a:p>
        </p:txBody>
      </p:sp>
      <p:sp>
        <p:nvSpPr>
          <p:cNvPr id="53" name="TextBox 52"/>
          <p:cNvSpPr txBox="1">
            <a:spLocks/>
          </p:cNvSpPr>
          <p:nvPr/>
        </p:nvSpPr>
        <p:spPr>
          <a:xfrm>
            <a:off x="9966960" y="457200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expansion won</a:t>
            </a:r>
          </a:p>
        </p:txBody>
      </p:sp>
      <p:cxnSp>
        <p:nvCxnSpPr>
          <p:cNvPr id="54" name="Connector 53"/>
          <p:cNvCxnSpPr/>
          <p:nvPr/>
        </p:nvCxnSpPr>
        <p:spPr>
          <a:xfrm>
            <a:off x="9966960" y="4919472"/>
            <a:ext cx="15544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55" name="TextBox 54"/>
          <p:cNvSpPr txBox="1">
            <a:spLocks/>
          </p:cNvSpPr>
          <p:nvPr/>
        </p:nvSpPr>
        <p:spPr>
          <a:xfrm>
            <a:off x="8156448" y="517550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121212"/>
                </a:solidFill>
                <a:effectLst/>
                <a:uLnTx/>
                <a:uFillTx/>
                <a:latin typeface="Arial"/>
                <a:ea typeface="+mn-ea"/>
                <a:cs typeface="+mn-cs"/>
              </a:rPr>
              <a:t>0</a:t>
            </a:r>
          </a:p>
        </p:txBody>
      </p:sp>
      <p:sp>
        <p:nvSpPr>
          <p:cNvPr id="56" name="TextBox 55"/>
          <p:cNvSpPr txBox="1">
            <a:spLocks/>
          </p:cNvSpPr>
          <p:nvPr/>
        </p:nvSpPr>
        <p:spPr>
          <a:xfrm>
            <a:off x="8156448" y="557784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breaches</a:t>
            </a:r>
          </a:p>
        </p:txBody>
      </p:sp>
      <p:sp>
        <p:nvSpPr>
          <p:cNvPr id="57" name="TextBox 56"/>
          <p:cNvSpPr txBox="1">
            <a:spLocks/>
          </p:cNvSpPr>
          <p:nvPr/>
        </p:nvSpPr>
        <p:spPr>
          <a:xfrm>
            <a:off x="9966960" y="517550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+61%</a:t>
            </a:r>
          </a:p>
        </p:txBody>
      </p:sp>
      <p:sp>
        <p:nvSpPr>
          <p:cNvPr id="58" name="TextBox 57"/>
          <p:cNvSpPr txBox="1">
            <a:spLocks/>
          </p:cNvSpPr>
          <p:nvPr/>
        </p:nvSpPr>
        <p:spPr>
          <a:xfrm>
            <a:off x="9966960" y="557784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AI ROI</a:t>
            </a:r>
          </a:p>
        </p:txBody>
      </p:sp>
      <p:sp>
        <p:nvSpPr>
          <p:cNvPr id="59" name="TextBox 58"/>
          <p:cNvSpPr txBox="1">
            <a:spLocks/>
          </p:cNvSpPr>
          <p:nvPr/>
        </p:nvSpPr>
        <p:spPr>
          <a:xfrm>
            <a:off x="566928" y="6400800"/>
            <a:ext cx="10469880" cy="15361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Definitions: FHE = fully homomorphic encryption; AI ROI = benefit-to-cost improvement.</a:t>
            </a:r>
          </a:p>
        </p:txBody>
      </p:sp>
      <p:sp>
        <p:nvSpPr>
          <p:cNvPr id="80" name="Icon Blockers"/>
          <p:cNvSpPr/>
          <p:nvPr/>
        </p:nvSpPr>
        <p:spPr>
          <a:xfrm>
            <a:off x="621792" y="2212848"/>
            <a:ext cx="457200" cy="457200"/>
          </a:xfrm>
          <a:prstGeom prst="noSmoking">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81" name="Icon Answer"/>
          <p:cNvSpPr/>
          <p:nvPr/>
        </p:nvSpPr>
        <p:spPr>
          <a:xfrm>
            <a:off x="4078224" y="2194559"/>
            <a:ext cx="493776" cy="493776"/>
          </a:xfrm>
          <a:prstGeom prst="gear6">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82" name="Icon Proof"/>
          <p:cNvSpPr/>
          <p:nvPr/>
        </p:nvSpPr>
        <p:spPr>
          <a:xfrm>
            <a:off x="8174736" y="2212848"/>
            <a:ext cx="457200" cy="457200"/>
          </a:xfrm>
          <a:prstGeom prst="upArrow">
            <a:avLst/>
          </a:prstGeom>
          <a:solidFill>
            <a:srgbClr val="FFC4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83"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8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TotalTime>
  <Words>1708</Words>
  <Application>Microsoft Office PowerPoint</Application>
  <PresentationFormat>Widescreen</PresentationFormat>
  <Paragraphs>185</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Aptos</vt:lpstr>
      <vt:lpstr>Arial</vt:lpstr>
      <vt:lpstr>2_Office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Mistral AI - Author Profile &amp; Team Background</dc:title>
  <dc:subject>Author profile background and team bios</dc:subject>
  <dc:creator>Shiv, Prospective PMM, Mistral Studio</dc:creator>
  <cp:keywords>mistral-ai, author-profile, team, background</cp:keywords>
  <cp:lastModifiedBy>Shivam Singh</cp:lastModifiedBy>
  <cp:revision>68</cp:revision>
  <dcterms:created xsi:type="dcterms:W3CDTF">2026-08-16T20:55:47Z</dcterms:created>
  <dcterms:modified xsi:type="dcterms:W3CDTF">2026-08-17T13:47:43Z</dcterms:modified>
</cp:coreProperties>
</file>