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41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p.1: 2023 strategic memo frames generative AI as transformative and a new productivity industry.
- whitepaper.pdf p.1-p.3: European AI playbook frames Europe as having the assets to become a self-reliant AI powerhouse.
- Visuals use crops from the uploaded Mistral memo and European AI playbook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p.2-p.3: Mistral counter-positions against closed models with open models, accessible internals, and private deployment.
- whitepaper.pdf p.3-p.4: Playbook presents an actionable framework to make Europe a cohesive, self-reliant AI powerhouse.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p.1: Generative AI market projected at $110B by 2030 with estimated 35% annual growth.
- mistral-230622095835-813027ae.pdf p.2: Closed API models raise safety, legal, and integration concerns for businesses.
- whitepaper.pdf p.3: Europe has a single market of +450 million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p.3: Mistral proposed permissive open models, accessible model internals, high-quality data, and private/on-device deployment.
- mistral-230622095835-813027ae.pdf p.5-p.6: Memo describes infrastructure, model training, business exploration, and model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p.4-p.6: Memo connects rare team, infrastructure, business development, model training, and roadmap.
- whitepaper.pdf p.5-p.8: talent policies; p.14-p.17: adoption policies; p.18-p.22: compute, infrastructure, and data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whitepaper.pdf p.5-p.8: attract and retain talent measures including EU AI talent visa, PhD fund, mobility, and student compute.
- whitepaper.pdf p.9-p.13: scale measures covering regulatory simplification, single market operations, corporate banking, ESOP, capital, and prudential frameworks.
- whitepaper.pdf p.14-p.17: real-economy adoption measures including EU institutions, procurement gateway, European preference, and sustainability criteria.
- whitepaper.pdf p.18-p.22: infrastructure, compute, legal certainty for training, data commons, and AI-ready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mistral-230622095835-813027ae.pdf p.7: Memo frames safety, institutional trust, and later financing as steps toward European AI leadership.
- whitepaper.pdf p.23: Mistral describes itself as a generative AI pioneer democratizing AI through open-source models, products, solutions, and end-to-end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 NARRATIVE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pic>
        <p:nvPicPr>
          <p:cNvPr id="9" name="Image 1" descr="/mnt/data/mistral_merged_work/assets/cover_st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767" y="822960"/>
            <a:ext cx="3273347" cy="2697480"/>
          </a:xfrm>
          <a:prstGeom prst="rect">
            <a:avLst/>
          </a:prstGeom>
        </p:spPr>
      </p:pic>
      <p:pic>
        <p:nvPicPr>
          <p:cNvPr id="10" name="Image 2" descr="/mnt/data/mistral_merged_work/assets/star_clu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0418" y="4279392"/>
            <a:ext cx="748732" cy="8778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1188720"/>
            <a:ext cx="672084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wedge to European AI stack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731520" y="3767328"/>
            <a:ext cx="53949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thesis </a:t>
            </a: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</a:t>
            </a:r>
            <a:r>
              <a:rPr lang="en-US" sz="2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architecture.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731520" y="4498848"/>
            <a:ext cx="5303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synthesis of the 2023 strategic memo and European AI playbook.</a:t>
            </a:r>
            <a:endParaRPr lang="en-US" sz="1450" dirty="0"/>
          </a:p>
        </p:txBody>
      </p:sp>
      <p:pic>
        <p:nvPicPr>
          <p:cNvPr id="14" name="Image 3" descr="/mnt/data/mistral_ppt_work/memo_pages/page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3752221"/>
            <a:ext cx="914400" cy="1292087"/>
          </a:xfrm>
          <a:prstGeom prst="rect">
            <a:avLst/>
          </a:prstGeom>
        </p:spPr>
      </p:pic>
      <p:pic>
        <p:nvPicPr>
          <p:cNvPr id="15" name="Image 4" descr="/mnt/data/mistral_ppt_work/playbook_pages/page-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640750"/>
            <a:ext cx="1005840" cy="1423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05472" y="5413248"/>
            <a:ext cx="1965960" cy="301752"/>
          </a:xfrm>
          <a:prstGeom prst="rect">
            <a:avLst/>
          </a:prstGeom>
          <a:solidFill>
            <a:srgbClr val="001946"/>
          </a:solidFill>
          <a:ln w="10160">
            <a:solidFill>
              <a:srgbClr val="00194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Memo: win the model layer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9308592" y="5413248"/>
            <a:ext cx="1920240" cy="301752"/>
          </a:xfrm>
          <a:prstGeom prst="rect">
            <a:avLst/>
          </a:prstGeom>
          <a:solidFill>
            <a:srgbClr val="001946"/>
          </a:solidFill>
          <a:ln w="10160">
            <a:solidFill>
              <a:srgbClr val="00194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Playbook: make it durable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19" name="Text 12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SPINE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STORY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13232" y="1188720"/>
            <a:ext cx="640080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thesis, two layers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31520" y="2139696"/>
            <a:ext cx="85953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 explains </a:t>
            </a:r>
            <a:r>
              <a:rPr lang="en-US" sz="205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Mistral can win.</a:t>
            </a:r>
            <a:r>
              <a:rPr lang="en-US" sz="2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playbook explains </a:t>
            </a:r>
            <a:r>
              <a:rPr lang="en-US" sz="205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Europe makes that win compounding.</a:t>
            </a:r>
            <a:endParaRPr lang="en-US" sz="2050" dirty="0"/>
          </a:p>
        </p:txBody>
      </p:sp>
      <p:sp>
        <p:nvSpPr>
          <p:cNvPr id="12" name="Shape 9"/>
          <p:cNvSpPr/>
          <p:nvPr/>
        </p:nvSpPr>
        <p:spPr>
          <a:xfrm>
            <a:off x="2331720" y="3803904"/>
            <a:ext cx="1938528" cy="0"/>
          </a:xfrm>
          <a:prstGeom prst="line">
            <a:avLst/>
          </a:prstGeom>
          <a:noFill/>
          <a:ln w="2286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60720" y="3803904"/>
            <a:ext cx="1938528" cy="0"/>
          </a:xfrm>
          <a:prstGeom prst="line">
            <a:avLst/>
          </a:prstGeom>
          <a:noFill/>
          <a:ln w="2286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8952" y="3310128"/>
            <a:ext cx="1691640" cy="960120"/>
          </a:xfrm>
          <a:prstGeom prst="rect">
            <a:avLst/>
          </a:prstGeom>
          <a:solidFill>
            <a:srgbClr val="003B8F"/>
          </a:solidFill>
          <a:ln w="10160">
            <a:solidFill>
              <a:srgbClr val="003B8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wedge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8952" y="4498848"/>
            <a:ext cx="1691640" cy="493776"/>
          </a:xfrm>
          <a:prstGeom prst="rect">
            <a:avLst/>
          </a:prstGeom>
          <a:solidFill>
            <a:srgbClr val="EEF4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inspectable, deployable models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1648" y="3310128"/>
            <a:ext cx="1691640" cy="960120"/>
          </a:xfrm>
          <a:prstGeom prst="rect">
            <a:avLst/>
          </a:prstGeom>
          <a:solidFill>
            <a:srgbClr val="005CFF"/>
          </a:solidFill>
          <a:ln w="10160">
            <a:solidFill>
              <a:srgbClr val="005C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loop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041648" y="4498848"/>
            <a:ext cx="1691640" cy="493776"/>
          </a:xfrm>
          <a:prstGeom prst="rect">
            <a:avLst/>
          </a:prstGeom>
          <a:solidFill>
            <a:srgbClr val="EEF4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creates data and usage feedback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24344" y="3310128"/>
            <a:ext cx="1691640" cy="960120"/>
          </a:xfrm>
          <a:prstGeom prst="rect">
            <a:avLst/>
          </a:prstGeom>
          <a:solidFill>
            <a:srgbClr val="FF5A00"/>
          </a:solidFill>
          <a:ln w="10160">
            <a:solidFill>
              <a:srgbClr val="FF5A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stack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324344" y="4498848"/>
            <a:ext cx="1691640" cy="493776"/>
          </a:xfrm>
          <a:prstGeom prst="rect">
            <a:avLst/>
          </a:prstGeom>
          <a:solidFill>
            <a:srgbClr val="FFF2E8"/>
          </a:solidFill>
          <a:ln w="10160">
            <a:solidFill>
              <a:srgbClr val="FFD4B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talent, compute, demand, capital</a:t>
            </a:r>
            <a:endParaRPr lang="en-US" sz="1150" dirty="0"/>
          </a:p>
        </p:txBody>
      </p:sp>
      <p:pic>
        <p:nvPicPr>
          <p:cNvPr id="20" name="Image 1" descr="/mnt/data/mistral_ppt_work/playbook_pages/page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672" y="1920240"/>
            <a:ext cx="1292144" cy="1828800"/>
          </a:xfrm>
          <a:prstGeom prst="rect">
            <a:avLst/>
          </a:prstGeom>
        </p:spPr>
      </p:pic>
      <p:pic>
        <p:nvPicPr>
          <p:cNvPr id="21" name="Image 2" descr="/mnt/data/mistral_ppt_work/memo_pages/page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7630" y="4023360"/>
            <a:ext cx="1294228" cy="1828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" y="5650992"/>
            <a:ext cx="80467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Refactor: collapse the deck around one arc - model control becomes market architecture.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PROBLEM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WEDGE MATTERS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13232" y="1188720"/>
            <a:ext cx="653796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layer is the choke point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676656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2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trust, and autonomy shift to the layer that is hardest to replicate: </a:t>
            </a:r>
            <a:r>
              <a:rPr lang="en-US" sz="202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with scarce compute, data, and talent.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768096" y="3273552"/>
            <a:ext cx="82296" cy="82296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554126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APIs limit inspection and enterprise data control.</a:t>
            </a:r>
            <a:endParaRPr lang="en-US" sz="1480" dirty="0"/>
          </a:p>
        </p:txBody>
      </p:sp>
      <p:sp>
        <p:nvSpPr>
          <p:cNvPr id="14" name="Shape 11"/>
          <p:cNvSpPr/>
          <p:nvPr/>
        </p:nvSpPr>
        <p:spPr>
          <a:xfrm>
            <a:off x="768096" y="3767328"/>
            <a:ext cx="82296" cy="82296"/>
          </a:xfrm>
          <a:prstGeom prst="rect">
            <a:avLst/>
          </a:prstGeom>
          <a:solidFill>
            <a:srgbClr val="005CFF"/>
          </a:solidFill>
          <a:ln w="12700">
            <a:solidFill>
              <a:srgbClr val="00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7552" y="3694176"/>
            <a:ext cx="554126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is constrained when only text outputs are exposed.</a:t>
            </a:r>
            <a:endParaRPr lang="en-US" sz="1480" dirty="0"/>
          </a:p>
        </p:txBody>
      </p:sp>
      <p:sp>
        <p:nvSpPr>
          <p:cNvPr id="16" name="Shape 13"/>
          <p:cNvSpPr/>
          <p:nvPr/>
        </p:nvSpPr>
        <p:spPr>
          <a:xfrm>
            <a:off x="768096" y="4261104"/>
            <a:ext cx="82296" cy="82296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4187952"/>
            <a:ext cx="554126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AI stacks create strategic and legal dependency.</a:t>
            </a:r>
            <a:endParaRPr lang="en-US" sz="1480" dirty="0"/>
          </a:p>
        </p:txBody>
      </p:sp>
      <p:sp>
        <p:nvSpPr>
          <p:cNvPr id="18" name="Text 15"/>
          <p:cNvSpPr/>
          <p:nvPr/>
        </p:nvSpPr>
        <p:spPr>
          <a:xfrm>
            <a:off x="7543800" y="1298448"/>
            <a:ext cx="3493008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918704" y="1719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$110B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918704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2030 GenAI market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18704" y="2770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918704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growth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918704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450M+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918704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single-market population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918704" y="491947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p.1 / playbook p.3</a:t>
            </a:r>
            <a:endParaRPr lang="en-US" sz="580" dirty="0"/>
          </a:p>
        </p:txBody>
      </p:sp>
      <p:sp>
        <p:nvSpPr>
          <p:cNvPr id="26" name="Text 23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B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WEDGE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pic>
        <p:nvPicPr>
          <p:cNvPr id="9" name="Image 1" descr="/mnt/data/mistral_merged_work/assets/star_clu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07" y="4187952"/>
            <a:ext cx="857922" cy="1005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</a:t>
            </a:r>
            <a:endParaRPr lang="en-US" sz="720" dirty="0"/>
          </a:p>
        </p:txBody>
      </p:sp>
      <p:sp>
        <p:nvSpPr>
          <p:cNvPr id="11" name="Text 7"/>
          <p:cNvSpPr/>
          <p:nvPr/>
        </p:nvSpPr>
        <p:spPr>
          <a:xfrm>
            <a:off x="713232" y="1188720"/>
            <a:ext cx="649224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trust.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for value.</a:t>
            </a:r>
            <a:endParaRPr lang="en-US" sz="3500" dirty="0"/>
          </a:p>
        </p:txBody>
      </p:sp>
      <p:sp>
        <p:nvSpPr>
          <p:cNvPr id="12" name="Text 8"/>
          <p:cNvSpPr/>
          <p:nvPr/>
        </p:nvSpPr>
        <p:spPr>
          <a:xfrm>
            <a:off x="731520" y="2542032"/>
            <a:ext cx="66294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980" b="1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turns openness into an enterprise wedge: </a:t>
            </a:r>
            <a:r>
              <a:rPr lang="en-US" sz="198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inspectable, composable, privately deployable models.</a:t>
            </a:r>
            <a:endParaRPr lang="en-US" sz="1980" dirty="0"/>
          </a:p>
        </p:txBody>
      </p:sp>
      <p:sp>
        <p:nvSpPr>
          <p:cNvPr id="13" name="Text 9"/>
          <p:cNvSpPr/>
          <p:nvPr/>
        </p:nvSpPr>
        <p:spPr>
          <a:xfrm>
            <a:off x="749808" y="3675888"/>
            <a:ext cx="2331720" cy="384048"/>
          </a:xfrm>
          <a:prstGeom prst="rect">
            <a:avLst/>
          </a:prstGeom>
          <a:solidFill>
            <a:srgbClr val="00245E"/>
          </a:solidFill>
          <a:ln w="10160">
            <a:solidFill>
              <a:srgbClr val="00245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355848" y="37673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D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reach + hiring edge</a:t>
            </a:r>
            <a:endParaRPr lang="en-US" sz="1280" dirty="0"/>
          </a:p>
        </p:txBody>
      </p:sp>
      <p:sp>
        <p:nvSpPr>
          <p:cNvPr id="15" name="Text 11"/>
          <p:cNvSpPr/>
          <p:nvPr/>
        </p:nvSpPr>
        <p:spPr>
          <a:xfrm>
            <a:off x="1316736" y="4206240"/>
            <a:ext cx="2715768" cy="384048"/>
          </a:xfrm>
          <a:prstGeom prst="rect">
            <a:avLst/>
          </a:prstGeom>
          <a:solidFill>
            <a:srgbClr val="005CFF"/>
          </a:solidFill>
          <a:ln w="10160">
            <a:solidFill>
              <a:srgbClr val="005C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 access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306824" y="42976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D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inspectable internals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1883664" y="4736592"/>
            <a:ext cx="3099816" cy="384048"/>
          </a:xfrm>
          <a:prstGeom prst="rect">
            <a:avLst/>
          </a:prstGeom>
          <a:solidFill>
            <a:srgbClr val="FF5A00"/>
          </a:solidFill>
          <a:ln w="10160">
            <a:solidFill>
              <a:srgbClr val="FF5A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deployment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257800" y="4828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D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control</a:t>
            </a:r>
            <a:endParaRPr lang="en-US" sz="1280" dirty="0"/>
          </a:p>
        </p:txBody>
      </p:sp>
      <p:pic>
        <p:nvPicPr>
          <p:cNvPr id="19" name="Image 2" descr="/mnt/data/mistral_ppt_work/memo_pages/pag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12760"/>
            <a:ext cx="1170432" cy="1653871"/>
          </a:xfrm>
          <a:prstGeom prst="rect">
            <a:avLst/>
          </a:prstGeom>
        </p:spPr>
      </p:pic>
      <p:pic>
        <p:nvPicPr>
          <p:cNvPr id="20" name="Image 3" descr="/mnt/data/mistral_ppt_work/memo_pages/p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1312760"/>
            <a:ext cx="1170432" cy="16538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5266944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 is not open vs. closed. It is open where trust compounds and controlled where customers need value capture.</a:t>
            </a:r>
            <a:endParaRPr lang="en-US" sz="1420" dirty="0"/>
          </a:p>
        </p:txBody>
      </p:sp>
      <p:sp>
        <p:nvSpPr>
          <p:cNvPr id="22" name="Text 16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LOOP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13232" y="1188720"/>
            <a:ext cx="731520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sharper story is a flywheel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91440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2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execution proves the wedge; </a:t>
            </a:r>
            <a:r>
              <a:rPr lang="en-US" sz="202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compresses cycle time around it.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2048256" y="4041648"/>
            <a:ext cx="576072" cy="0"/>
          </a:xfrm>
          <a:prstGeom prst="line">
            <a:avLst/>
          </a:prstGeom>
          <a:noFill/>
          <a:ln w="2159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041648" y="4041648"/>
            <a:ext cx="576072" cy="0"/>
          </a:xfrm>
          <a:prstGeom prst="line">
            <a:avLst/>
          </a:prstGeom>
          <a:noFill/>
          <a:ln w="2159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35040" y="4041648"/>
            <a:ext cx="576072" cy="0"/>
          </a:xfrm>
          <a:prstGeom prst="line">
            <a:avLst/>
          </a:prstGeom>
          <a:noFill/>
          <a:ln w="2159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28432" y="4041648"/>
            <a:ext cx="576072" cy="0"/>
          </a:xfrm>
          <a:prstGeom prst="line">
            <a:avLst/>
          </a:prstGeom>
          <a:noFill/>
          <a:ln w="21590">
            <a:solidFill>
              <a:srgbClr val="B9C9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" y="3767328"/>
            <a:ext cx="1353312" cy="530352"/>
          </a:xfrm>
          <a:prstGeom prst="rect">
            <a:avLst/>
          </a:prstGeom>
          <a:solidFill>
            <a:srgbClr val="00245E"/>
          </a:solidFill>
          <a:ln w="10160">
            <a:solidFill>
              <a:srgbClr val="00245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94944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2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AI team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2743200" y="3767328"/>
            <a:ext cx="1353312" cy="530352"/>
          </a:xfrm>
          <a:prstGeom prst="rect">
            <a:avLst/>
          </a:prstGeom>
          <a:solidFill>
            <a:srgbClr val="005CFF"/>
          </a:solidFill>
          <a:ln w="10160">
            <a:solidFill>
              <a:srgbClr val="005C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2688336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2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+ efficiency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4736592" y="3767328"/>
            <a:ext cx="1353312" cy="530352"/>
          </a:xfrm>
          <a:prstGeom prst="rect">
            <a:avLst/>
          </a:prstGeom>
          <a:solidFill>
            <a:srgbClr val="FF5A00"/>
          </a:solidFill>
          <a:ln w="10160">
            <a:solidFill>
              <a:srgbClr val="FF5A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681728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2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+ controlled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729984" y="3767328"/>
            <a:ext cx="1353312" cy="530352"/>
          </a:xfrm>
          <a:prstGeom prst="rect">
            <a:avLst/>
          </a:prstGeom>
          <a:solidFill>
            <a:srgbClr val="005CFF"/>
          </a:solidFill>
          <a:ln w="10160">
            <a:solidFill>
              <a:srgbClr val="005C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675120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2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+ enterprise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8723376" y="3767328"/>
            <a:ext cx="1353312" cy="530352"/>
          </a:xfrm>
          <a:prstGeom prst="rect">
            <a:avLst/>
          </a:prstGeom>
          <a:solidFill>
            <a:srgbClr val="00245E"/>
          </a:solidFill>
          <a:ln w="10160">
            <a:solidFill>
              <a:srgbClr val="00245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668512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2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usage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2057400" y="5376672"/>
            <a:ext cx="6172200" cy="411480"/>
          </a:xfrm>
          <a:prstGeom prst="rect">
            <a:avLst/>
          </a:prstGeom>
          <a:solidFill>
            <a:srgbClr val="EEF4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job: remove friction at every turn of the loop.</a:t>
            </a:r>
            <a:endParaRPr lang="en-US" sz="1540" dirty="0"/>
          </a:p>
        </p:txBody>
      </p:sp>
      <p:pic>
        <p:nvPicPr>
          <p:cNvPr id="27" name="Image 1" descr="/mnt/data/mistral_ppt_work/playbook_pages/page-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3293905"/>
            <a:ext cx="804672" cy="113887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D8E3F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ARCHITECTURE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DURABLE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13232" y="1188720"/>
            <a:ext cx="813816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levers turn the wedge into a stack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7772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2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playbook is not a policy appendix. It is </a:t>
            </a:r>
            <a:r>
              <a:rPr lang="en-US" sz="2080" b="1" dirty="0">
                <a:solidFill>
                  <a:srgbClr val="00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infrastructure</a:t>
            </a:r>
            <a:r>
              <a:rPr lang="en-US" sz="2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European AI.</a:t>
            </a:r>
            <a:endParaRPr lang="en-US" sz="2080" dirty="0"/>
          </a:p>
        </p:txBody>
      </p:sp>
      <p:sp>
        <p:nvSpPr>
          <p:cNvPr id="12" name="Text 9"/>
          <p:cNvSpPr/>
          <p:nvPr/>
        </p:nvSpPr>
        <p:spPr>
          <a:xfrm>
            <a:off x="1051560" y="5193792"/>
            <a:ext cx="10012680" cy="457200"/>
          </a:xfrm>
          <a:prstGeom prst="rect">
            <a:avLst/>
          </a:prstGeom>
          <a:solidFill>
            <a:srgbClr val="003B8F"/>
          </a:solidFill>
          <a:ln w="10160">
            <a:solidFill>
              <a:srgbClr val="003B8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EUROPEAN AI STACK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97280" y="3401568"/>
            <a:ext cx="1956816" cy="402336"/>
          </a:xfrm>
          <a:prstGeom prst="rect">
            <a:avLst/>
          </a:prstGeom>
          <a:solidFill>
            <a:srgbClr val="003B8F"/>
          </a:solidFill>
          <a:ln w="10160">
            <a:solidFill>
              <a:srgbClr val="003B8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97280" y="3895344"/>
            <a:ext cx="1956816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visa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fund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3639312" y="3401568"/>
            <a:ext cx="1956816" cy="402336"/>
          </a:xfrm>
          <a:prstGeom prst="rect">
            <a:avLst/>
          </a:prstGeom>
          <a:solidFill>
            <a:srgbClr val="FF5A00"/>
          </a:solidFill>
          <a:ln w="10160">
            <a:solidFill>
              <a:srgbClr val="FF5A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639312" y="3895344"/>
            <a:ext cx="1956816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market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access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 alignment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6181344" y="3401568"/>
            <a:ext cx="1956816" cy="402336"/>
          </a:xfrm>
          <a:prstGeom prst="rect">
            <a:avLst/>
          </a:prstGeom>
          <a:solidFill>
            <a:srgbClr val="003B8F"/>
          </a:solidFill>
          <a:ln w="10160">
            <a:solidFill>
              <a:srgbClr val="003B8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181344" y="3895344"/>
            <a:ext cx="1956816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adoption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 lead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8723376" y="3401568"/>
            <a:ext cx="1956816" cy="402336"/>
          </a:xfrm>
          <a:prstGeom prst="rect">
            <a:avLst/>
          </a:prstGeom>
          <a:solidFill>
            <a:srgbClr val="FF5A00"/>
          </a:solidFill>
          <a:ln w="10160">
            <a:solidFill>
              <a:srgbClr val="FF5A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723376" y="3895344"/>
            <a:ext cx="1956816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8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commons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1051560" y="596188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FF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levers: talent, scale, adoption, infrastructure</a:t>
            </a:r>
            <a:endParaRPr lang="en-US" sz="580" dirty="0"/>
          </a:p>
        </p:txBody>
      </p:sp>
      <p:sp>
        <p:nvSpPr>
          <p:cNvPr id="22" name="Text 19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77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B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310896"/>
            <a:ext cx="0" cy="6236208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345936"/>
            <a:ext cx="11475720" cy="0"/>
          </a:xfrm>
          <a:prstGeom prst="line">
            <a:avLst/>
          </a:prstGeom>
          <a:noFill/>
          <a:ln w="6985">
            <a:solidFill>
              <a:srgbClr val="2B61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mistral_merged_work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265176"/>
            <a:ext cx="11490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08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CARRY-FORWARD MESSAGE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11137392" y="292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pic>
        <p:nvPicPr>
          <p:cNvPr id="9" name="Image 1" descr="/mnt/data/mistral_merged_work/assets/cover_st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330" y="731520"/>
            <a:ext cx="2496620" cy="2057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9052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LINE</a:t>
            </a:r>
            <a:endParaRPr lang="en-US" sz="720" dirty="0"/>
          </a:p>
        </p:txBody>
      </p:sp>
      <p:sp>
        <p:nvSpPr>
          <p:cNvPr id="11" name="Text 7"/>
          <p:cNvSpPr/>
          <p:nvPr/>
        </p:nvSpPr>
        <p:spPr>
          <a:xfrm>
            <a:off x="713232" y="1188720"/>
            <a:ext cx="69951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is the product proof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European AI stack.</a:t>
            </a:r>
            <a:endParaRPr lang="en-US" sz="3500" dirty="0"/>
          </a:p>
        </p:txBody>
      </p:sp>
      <p:sp>
        <p:nvSpPr>
          <p:cNvPr id="12" name="Text 8"/>
          <p:cNvSpPr/>
          <p:nvPr/>
        </p:nvSpPr>
        <p:spPr>
          <a:xfrm>
            <a:off x="749808" y="3090672"/>
            <a:ext cx="1783080" cy="338328"/>
          </a:xfrm>
          <a:prstGeom prst="rect">
            <a:avLst/>
          </a:prstGeom>
          <a:solidFill>
            <a:srgbClr val="001946"/>
          </a:solidFill>
          <a:ln w="10160">
            <a:solidFill>
              <a:srgbClr val="00194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thesis</a:t>
            </a:r>
            <a:endParaRPr lang="en-US" sz="1280" dirty="0"/>
          </a:p>
        </p:txBody>
      </p:sp>
      <p:sp>
        <p:nvSpPr>
          <p:cNvPr id="13" name="Text 9"/>
          <p:cNvSpPr/>
          <p:nvPr/>
        </p:nvSpPr>
        <p:spPr>
          <a:xfrm>
            <a:off x="2788920" y="3163824"/>
            <a:ext cx="43891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controllable frontier models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49808" y="3749040"/>
            <a:ext cx="1783080" cy="338328"/>
          </a:xfrm>
          <a:prstGeom prst="rect">
            <a:avLst/>
          </a:prstGeom>
          <a:solidFill>
            <a:srgbClr val="001946"/>
          </a:solidFill>
          <a:ln w="10160">
            <a:solidFill>
              <a:srgbClr val="00194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thesis</a:t>
            </a:r>
            <a:endParaRPr lang="en-US" sz="1280" dirty="0"/>
          </a:p>
        </p:txBody>
      </p:sp>
      <p:sp>
        <p:nvSpPr>
          <p:cNvPr id="15" name="Text 11"/>
          <p:cNvSpPr/>
          <p:nvPr/>
        </p:nvSpPr>
        <p:spPr>
          <a:xfrm>
            <a:off x="2788920" y="3822192"/>
            <a:ext cx="4983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talent, demand, compute, data, and capital under European control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49808" y="4754880"/>
            <a:ext cx="6492240" cy="804672"/>
          </a:xfrm>
          <a:prstGeom prst="rect">
            <a:avLst/>
          </a:prstGeom>
          <a:solidFill>
            <a:srgbClr val="001946"/>
          </a:solidFill>
          <a:ln w="10160">
            <a:solidFill>
              <a:srgbClr val="2B61B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to carry forward: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 says why Mistral can win. The playbook says how Europe turns that win into an enduring category advantage.</a:t>
            </a:r>
            <a:endParaRPr lang="en-US" sz="1500" dirty="0"/>
          </a:p>
        </p:txBody>
      </p:sp>
      <p:pic>
        <p:nvPicPr>
          <p:cNvPr id="17" name="Image 2" descr="/mnt/data/mistral_ppt_work/playbook_pages/page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712501"/>
            <a:ext cx="1188720" cy="1682422"/>
          </a:xfrm>
          <a:prstGeom prst="rect">
            <a:avLst/>
          </a:prstGeom>
        </p:spPr>
      </p:pic>
      <p:pic>
        <p:nvPicPr>
          <p:cNvPr id="18" name="Image 3" descr="/mnt/data/mistral_ppt_work/memo_pages/page-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3990561"/>
            <a:ext cx="822960" cy="116287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56692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close / playbook close</a:t>
            </a:r>
            <a:endParaRPr lang="en-US" sz="580" dirty="0"/>
          </a:p>
        </p:txBody>
      </p:sp>
      <p:sp>
        <p:nvSpPr>
          <p:cNvPr id="20" name="Text 14"/>
          <p:cNvSpPr/>
          <p:nvPr/>
        </p:nvSpPr>
        <p:spPr>
          <a:xfrm>
            <a:off x="548640" y="65471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narrative synthesis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>
            <a:off x="11201400" y="654710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CD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AI: From model wedge to European AI stack</dc:title>
  <dc:subject>Refactored concise Mistral narrative deck</dc:subject>
  <dc:creator>OpenAI</dc:creator>
  <cp:lastModifiedBy>Shivam Singh</cp:lastModifiedBy>
  <cp:revision>1</cp:revision>
  <dcterms:created xsi:type="dcterms:W3CDTF">2026-08-16T22:52:20Z</dcterms:created>
  <dcterms:modified xsi:type="dcterms:W3CDTF">2026-08-17T06:32:50Z</dcterms:modified>
</cp:coreProperties>
</file>